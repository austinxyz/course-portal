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notesSlides/_rels/notesSlide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.xml"/>
</Relationships>
</file>

<file path=ppt/notesSlides/_rels/notesSlide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.xml"/>
</Relationships>
</file>

<file path=ppt/notesSlides/_rels/notesSlide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.xml"/>
</Relationships>
</file>

<file path=ppt/notesSlides/_rels/notesSlide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4.xml"/>
</Relationships>
</file>

<file path=ppt/notesSlides/_rels/notesSlide5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5.xml"/>
</Relationships>
</file>

<file path=ppt/notesSlides/_rels/notesSlide6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6.xml"/>
</Relationships>
</file>

<file path=ppt/notesSlides/_rels/notesSlide7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7.xml"/>
</Relationships>
</file>

<file path=ppt/notesSlides/_rels/notesSlide8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8.xml"/>
</Relationships>
</file>

<file path=ppt/notesSlides/_rels/notesSlide9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9.xml"/>
</Relationships>
</file>

<file path=ppt/notesSlides/_rels/notesSlide10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0.xml"/>
</Relationships>
</file>

<file path=ppt/notesSlides/_rels/notesSlide1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1.xml"/>
</Relationships>
</file>

<file path=ppt/notesSlides/_rels/notesSlide1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2.xml"/>
</Relationships>
</file>

<file path=ppt/notesSlides/_rels/notesSlide1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3.xml"/>
</Relationships>
</file>

<file path=ppt/notesSlides/_rels/notesSlide1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4.xml"/>
</Relationships>
</file>

<file path=ppt/notesSlides/_rels/notesSlide15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5.xml"/>
</Relationships>
</file>

<file path=ppt/notesSlides/_rels/notesSlide16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6.xml"/>
</Relationships>
</file>

<file path=ppt/notesSlides/_rels/notesSlide17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7.xml"/>
</Relationships>
</file>

<file path=ppt/notesSlides/_rels/notesSlide18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8.xml"/>
</Relationships>
</file>

<file path=ppt/notesSlides/_rels/notesSlide19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9.xml"/>
</Relationships>
</file>

<file path=ppt/notesSlides/_rels/notesSlide20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0.xml"/>
</Relationships>
</file>

<file path=ppt/notesSlides/_rels/notesSlide2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1.xml"/>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今天我们要做一件很酷的事——把炒股分析这件事，变成一套可以重复使用的 AI 工具。我叫 Austin，这是我们 AI 超能力课程的第三节。今天的主角是这四个 Skill：/chen-scan、/stock-analyze、/stock-entry、/stock-exit——从找股票到离场，全流程 AI 辅助。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先给大家看一下今天的时间安排。我们会用 10 分钟做一个热身演示，然后用大约 45 分钟讲理论，核心是三个框架。接下来最重头的是 30 分钟的 Skill 工程——我会当场把一个 Skill 从零写出来，让大家看清楚每一行 prompt 的用意。最后 10 分钟 Q&amp;A。总共 110 分钟，我们节奏会比较紧，但内容很实用。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炒股这件事，痛点其实很明显。你每天要看多少信息？财报、新闻、技术图形、行业报告——光是收集数据就要几个小时。更大的问题是，就算你有方法论，执行的时候情绪会干扰你。今天我们要解决的就是这个问题：让 AI 帮你做信息收集和初步筛选，你只需要做最后的决策。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这是今天整个系统的架构图，四个 Skill 串成一条流水线。/chen-scan 先扫描，找出候选股；/stock-analyze 做深度分析；/stock-entry 帮你算入场点；/stock-exit 告诉你什么时候该走。每个 Skill 都有明确的输入和输出，可以单独用，也可以串起来用。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陈云新是一位在国内有影响力的投资人，他有一套非常系统的选股框架。我们今天要做的，就是把他的方法论转化成 AI Skill。他的核心是三个东西：七大赛道、九大翻倍股特征、还有一套完整的进出场逻辑。大家可以先有个整体印象，后面我们会逐一拆解。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陈云新方法的第一步是选对赛道。他认为翻倍股不是随机出现的，它们集中在七个结构性机会赛道里。AI 和半导体、医疗创新、清洁能源、消费升级等等。选对赛道，就是把自己放在顺风位置上。我们的 /chen-scan 会扫描所有七大赛道，帮你找到处于上升期的候选股。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光选对赛道还不够，赛道里也有好股和坏股。陈云新总结了九个翻倍股的共同特征——从财务加速、机构资金流入，到技术图形突破。你不需要每个都记住，因为 AI 帮你检查。但理解背后的逻辑很重要，这样你才知道 Skill 在做什么判断。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SEPA 是 Mark Minervini 的框架，解决的是"什么时候买"这个问题。核心是五个条件必须同时满足：Stage 2 上升期、EPS 加速增长、价格强势、机构资金流入、还有轴心点突破。最关键的是第五步——在突破轴心点的时候才入场，这是降低风险、提高胜率的核心逻辑。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BAIT 是我们自己整理的基本面评分框架，四个维度：商业质量、增长加速、行业顺风、时机。每个维度打 1 到 10 分，总分超过 28 分才值得写分析报告。这个框架解决的是"这家公司基本面够不够强"的问题，它在 /stock-analyze 里面是核心评分逻辑。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Moneyball 讲的是非对称风险。简单说就是：上涨空间 vs 下跌风险，至少要有 2:1 的比例，才值得入场。左边是上涨目标，右边是止损位，中间这个 R/R 就是风险回报比。赢家多赚、输家少亏，这就是为什么少数几笔大赢能弥补多次小亏的原因。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刚才讲了三个框架，现在我们把它们和 Skill 对应起来。这张表很重要——它告诉你每个 Skill 背后依赖的是什么方法论。/chen-scan 用的是陈云新框架，/stock-entry 用的是 SEPA 加 Moneyball，/stock-analyze 用的是 BAIT。不是 AI 在乱猜，是把专家逻辑系统化了。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我们的系统有三层。最底层是 Python 数据层，负责从 API 拉取真实数据。中间是 LLM 分析层，.md 文件里写的 prompt 就是分析框架。最上面是用户调用层，就是你在 Claude 里打 /chen-scan 的那一刻。三层分离的好处我们下一页马上讲。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这个两层分离的架构是今天最重要的工程原则之一。Python 层稳定、可测试、不依赖 AI；LLM 层灵活、自然语言定义逻辑。最直接的好处是：你想换一个分析框架，只改 .md 文件，Python 不动；你想接一个新的数据源，只改 Python，prompt 不动。这个思路不只适用于炒股，任何专家方法都能这么做。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好，理论讲完了。现在我们来做最重要的部分——我把 /chen-scan 删掉，当场重新写一个。大家跟着看，不用自己敲，但要注意观察几件事：为什么要先写角色定义？输出格式是怎么决定的？第一次运行结果不对的时候怎么 debug？这 30 分钟是今天含金量最高的部分。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Skill 写完不等于写对。我们用三步验证法来确认它真的能用。第一步先跑 Python 脚本，不开 AI，确认数据是准确的。第二步才运行 Skill，检查格式对不对、逻辑对不对、结论能不能用。第三步喂坏数据，看它怎么处理边界情况。这三步按顺序走，能帮你快速定位问题在哪一层。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演示结束，我们来做个总结。写 Skill 有五个核心原则：先搞清楚需求、数据层和分析层分离、三步验证法、prompt 当代码用 git 管理、这套架构适用于任何领域。今天你学到的不只是炒股 AI，你学到的是把任何专业知识系统化为 AI 工具的方法。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最后来看一眼整个系统的全貌。三层模块：扫描层找候选股，分析层做评分和报告，决策层给出入场和离场建议。整条流水线走下来，手动做要 3 到 5 小时的事，用这套系统不超过 30 分钟。这就是 AI 超能力的意思——不是替代你思考，是帮你把重复的部分自动化。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今天的作业是写一个 /market-daily Skill，给你选的一个赛道做每日市场速报。三步走：先想清楚需求，再写 prompt 文件，然后运行截图发到群里。难度是入门级，预计 60 分钟。哪怕结果不完美，能跑起来就算完成。有问题随时问助教，截止时间是下次课前 48 小时。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所有资料都整理好了。代码在 GitHub：stock-analysis-lite，课程群置顶有下载链接。Lite-Kit 里面有四个 Skill 模板和数据脚本，跟我做·提示词.md 有逐步导读。方法论出处：SEPA 来自 Minervini，Moneyball 逻辑来自 O'Neil，陈云新方法课程里有整理版。有问题先查文档，文档里找不到再问群。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好，现在是大家的时间。有什么问题？关于框架、关于 Skill 工程、关于作业怎么做都可以问。没有蠢问题，问出来才是真的学到了。我们有 10 分钟 Q&amp;A，之后还可以在群里继续讨论。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【讲师现场揭晓——内容保密】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2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3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4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5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6.xml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7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8.xml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9.xml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0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2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3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4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5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6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7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8.xml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19.xml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20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notesSlide" Target="../notesSlides/notesSlide21.xml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F0EDE8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4572000" cy="7620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5" name="Rectangle 5"/>
          <p:cNvSpPr/>
          <p:nvPr/>
        </p:nvSpPr>
        <p:spPr>
          <a:xfrm>
            <a:off x="4343400" y="0"/>
            <a:ext cx="38100" cy="6858000"/>
          </a:xfrm>
          <a:prstGeom prst="rect">
            <a:avLst/>
          </a:prstGeom>
          <a:solidFill>
            <a:srgbClr val="E0D8D0"/>
          </a:solidFill>
          <a:ln>
            <a:noFill/>
          </a:ln>
        </p:spPr>
      </p:sp>
      <p:sp>
        <p:nvSpPr>
          <p:cNvPr id="6" name="Ellipse 6"/>
          <p:cNvSpPr/>
          <p:nvPr/>
        </p:nvSpPr>
        <p:spPr>
          <a:xfrm>
            <a:off x="190500" y="1333500"/>
            <a:ext cx="4191000" cy="4191000"/>
          </a:xfrm>
          <a:prstGeom prst="ellipse">
            <a:avLst/>
          </a:prstGeom>
          <a:solidFill>
            <a:srgbClr val="C96133">
              <a:alpha val="8000"/>
            </a:srgbClr>
          </a:solidFill>
          <a:ln>
            <a:noFill/>
          </a:ln>
        </p:spPr>
      </p:sp>
      <p:sp>
        <p:nvSpPr>
          <p:cNvPr id="7" name="Ellipse 7"/>
          <p:cNvSpPr/>
          <p:nvPr/>
        </p:nvSpPr>
        <p:spPr>
          <a:xfrm>
            <a:off x="762000" y="1905000"/>
            <a:ext cx="3048000" cy="3048000"/>
          </a:xfrm>
          <a:prstGeom prst="ellipse">
            <a:avLst/>
          </a:prstGeom>
          <a:solidFill>
            <a:srgbClr val="C96133">
              <a:alpha val="7000"/>
            </a:srgbClr>
          </a:solidFill>
          <a:ln>
            <a:noFill/>
          </a:ln>
        </p:spPr>
      </p:sp>
      <p:sp>
        <p:nvSpPr>
          <p:cNvPr id="8" name="Ellipse 8"/>
          <p:cNvSpPr/>
          <p:nvPr/>
        </p:nvSpPr>
        <p:spPr>
          <a:xfrm>
            <a:off x="1333500" y="2476500"/>
            <a:ext cx="1905000" cy="1905000"/>
          </a:xfrm>
          <a:prstGeom prst="ellipse">
            <a:avLst/>
          </a:prstGeom>
          <a:solidFill>
            <a:srgbClr val="C96133">
              <a:alpha val="10000"/>
            </a:srgbClr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1898293" y="2172652"/>
            <a:ext cx="77541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SESSION 3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272435" y="2727960"/>
            <a:ext cx="202713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Claude Code 超能力课程</a:t>
            </a:r>
          </a:p>
        </p:txBody>
      </p:sp>
      <p:sp>
        <p:nvSpPr>
          <p:cNvPr id="11" name="Polygon 11"/>
          <p:cNvSpPr/>
          <p:nvPr/>
        </p:nvSpPr>
        <p:spPr>
          <a:xfrm>
            <a:off x="2171700" y="2762250"/>
            <a:ext cx="381000" cy="762000"/>
          </a:xfrm>
          <a:custGeom>
            <a:avLst/>
            <a:gdLst/>
            <a:ahLst/>
            <a:cxnLst/>
            <a:rect l="l" t="t" r="r" b="b"/>
            <a:pathLst>
              <a:path w="381000" h="762000">
                <a:moveTo>
                  <a:pt x="228600" y="0"/>
                </a:moveTo>
                <a:lnTo>
                  <a:pt x="0" y="381000"/>
                </a:lnTo>
                <a:lnTo>
                  <a:pt x="190500" y="381000"/>
                </a:lnTo>
                <a:lnTo>
                  <a:pt x="152400" y="762000"/>
                </a:lnTo>
                <a:lnTo>
                  <a:pt x="381000" y="381000"/>
                </a:lnTo>
                <a:lnTo>
                  <a:pt x="190500" y="381000"/>
                </a:lnTo>
                <a:close/>
              </a:path>
            </a:pathLst>
          </a:custGeom>
          <a:solidFill>
            <a:srgbClr val="C96133">
              <a:alpha val="60000"/>
            </a:srgbClr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1524000" y="4000500"/>
            <a:ext cx="1524000" cy="3429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2012930" y="4107656"/>
            <a:ext cx="54614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第三节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425535" y="4736306"/>
            <a:ext cx="172092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Austin · austinxyz.ai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116979" y="5019199"/>
            <a:ext cx="33804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2026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313045" y="1917382"/>
            <a:ext cx="231919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用 AI 把专家方法变成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280660" y="2308860"/>
            <a:ext cx="2135534" cy="8534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2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AI 炒股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280660" y="3070860"/>
            <a:ext cx="2683002" cy="8534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2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分析系统</a:t>
            </a:r>
          </a:p>
        </p:txBody>
      </p:sp>
      <p:sp>
        <p:nvSpPr>
          <p:cNvPr id="19" name="Rectangle 19"/>
          <p:cNvSpPr/>
          <p:nvPr/>
        </p:nvSpPr>
        <p:spPr>
          <a:xfrm>
            <a:off x="5334000" y="3810000"/>
            <a:ext cx="762000" cy="381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5313045" y="4108132"/>
            <a:ext cx="424705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专家方法 → AI Skill → 你的日常买卖工具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320665" y="4839652"/>
            <a:ext cx="104646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/ ticker-scan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463665" y="4839652"/>
            <a:ext cx="121515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/ stock-analyze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892415" y="4839652"/>
            <a:ext cx="108480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/ stock-entry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130665" y="4839652"/>
            <a:ext cx="96212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/ stock-exit</a:t>
            </a:r>
          </a:p>
        </p:txBody>
      </p:sp>
      <p:sp>
        <p:nvSpPr>
          <p:cNvPr id="25" name="Rectangle 25"/>
          <p:cNvSpPr/>
          <p:nvPr/>
        </p:nvSpPr>
        <p:spPr>
          <a:xfrm>
            <a:off x="5334000" y="5219700"/>
            <a:ext cx="6477000" cy="571500"/>
          </a:xfrm>
          <a:prstGeom prst="roundRect">
            <a:avLst>
              <a:gd name="adj" fmla="val 13333"/>
            </a:avLst>
          </a:prstGeom>
          <a:solidFill>
            <a:srgbClr val="F5F5F0"/>
          </a:solidFill>
          <a:ln w="9525">
            <a:solidFill>
              <a:srgbClr val="E0D8D0"/>
            </a:solidFill>
          </a:ln>
        </p:spPr>
      </p:sp>
      <p:sp>
        <p:nvSpPr>
          <p:cNvPr id="26" name="TextBox 26"/>
          <p:cNvSpPr txBox="1"/>
          <p:nvPr/>
        </p:nvSpPr>
        <p:spPr>
          <a:xfrm>
            <a:off x="5514022" y="5321141"/>
            <a:ext cx="634557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b="1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⚠ 免责声明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5514022" y="5473541"/>
            <a:ext cx="4051387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本课程将炒股理论与 AI 分析结合，提升研究效率。所有分析仅为辅助参考，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5514022" y="5616416"/>
            <a:ext cx="4117657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不构成具体操作指导。投资有风险，入市须谨慎，请结合自身情况独立判断。</a:t>
            </a:r>
          </a:p>
        </p:txBody>
      </p:sp>
      <p:sp>
        <p:nvSpPr>
          <p:cNvPr id="29" name="Rectangle 29"/>
          <p:cNvSpPr/>
          <p:nvPr/>
        </p:nvSpPr>
        <p:spPr>
          <a:xfrm>
            <a:off x="4572000" y="6819900"/>
            <a:ext cx="7620000" cy="38100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342900"/>
            <a:ext cx="57150" cy="3810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46760" y="337185"/>
            <a:ext cx="2552890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今天的路线图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5810" y="765810"/>
            <a:ext cx="333413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SESSION 3 · 约 110 分钟 · 控制在 2 小时内</a:t>
            </a:r>
          </a:p>
        </p:txBody>
      </p:sp>
      <p:sp>
        <p:nvSpPr>
          <p:cNvPr id="7" name="Line 7"/>
          <p:cNvSpPr/>
          <p:nvPr/>
        </p:nvSpPr>
        <p:spPr>
          <a:xfrm>
            <a:off x="1066800" y="1238250"/>
            <a:ext cx="9525" cy="5048250"/>
          </a:xfrm>
          <a:custGeom>
            <a:avLst/>
            <a:gdLst/>
            <a:ahLst/>
            <a:cxnLst/>
            <a:rect l="l" t="t" r="r" b="b"/>
            <a:pathLst>
              <a:path w="9525" h="5048250">
                <a:moveTo>
                  <a:pt x="0" y="0"/>
                </a:moveTo>
                <a:lnTo>
                  <a:pt x="0" y="5048250"/>
                </a:lnTo>
              </a:path>
            </a:pathLst>
          </a:custGeom>
          <a:noFill/>
          <a:ln w="19050">
            <a:solidFill>
              <a:srgbClr val="E0D8D0"/>
            </a:solidFill>
          </a:ln>
        </p:spPr>
      </p:sp>
      <p:sp>
        <p:nvSpPr>
          <p:cNvPr id="8" name="Rectangle 8"/>
          <p:cNvSpPr/>
          <p:nvPr/>
        </p:nvSpPr>
        <p:spPr>
          <a:xfrm>
            <a:off x="9906000" y="1238250"/>
            <a:ext cx="1905000" cy="1905000"/>
          </a:xfrm>
          <a:prstGeom prst="roundRect">
            <a:avLst>
              <a:gd name="adj" fmla="val 8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10434814" y="1546860"/>
            <a:ext cx="847373" cy="8534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110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644188" y="2235518"/>
            <a:ext cx="428625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dirty="0">
                <a:solidFill>
                  <a:srgbClr val="FFFFFF">
                    <a:alphaMod val="85000"/>
                  </a:srgbClr>
                </a:solidFill>
                <a:latin typeface="Arial"/>
                <a:ea typeface="Microsoft YaHei"/>
                <a:cs typeface="Arial"/>
              </a:rPr>
              <a:t>分钟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618970" y="2601278"/>
            <a:ext cx="47906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FFFFFF">
                    <a:alphaMod val="70000"/>
                  </a:srgbClr>
                </a:solidFill>
                <a:latin typeface="Arial"/>
                <a:ea typeface="Microsoft YaHei"/>
                <a:cs typeface="Arial"/>
              </a:rPr>
              <a:t>TOTAL</a:t>
            </a:r>
          </a:p>
        </p:txBody>
      </p:sp>
      <p:sp>
        <p:nvSpPr>
          <p:cNvPr id="12" name="Ellipse 12"/>
          <p:cNvSpPr/>
          <p:nvPr/>
        </p:nvSpPr>
        <p:spPr>
          <a:xfrm>
            <a:off x="876300" y="1314450"/>
            <a:ext cx="381000" cy="3810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979191" y="1450181"/>
            <a:ext cx="17521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01</a:t>
            </a:r>
          </a:p>
        </p:txBody>
      </p:sp>
      <p:sp>
        <p:nvSpPr>
          <p:cNvPr id="14" name="Rectangle 14"/>
          <p:cNvSpPr/>
          <p:nvPr/>
        </p:nvSpPr>
        <p:spPr>
          <a:xfrm>
            <a:off x="1409700" y="1219200"/>
            <a:ext cx="8191500" cy="55245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15" name="Rectangle 15"/>
          <p:cNvSpPr/>
          <p:nvPr/>
        </p:nvSpPr>
        <p:spPr>
          <a:xfrm>
            <a:off x="1409700" y="1219200"/>
            <a:ext cx="57150" cy="55245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1583055" y="1321118"/>
            <a:ext cx="86239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现场演示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586865" y="1553528"/>
            <a:ext cx="416718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先看结果：4 Skill 跑完整炒股分析，开场10分钟看懂整个系统</a:t>
            </a:r>
          </a:p>
        </p:txBody>
      </p:sp>
      <p:sp>
        <p:nvSpPr>
          <p:cNvPr id="18" name="Rectangle 18"/>
          <p:cNvSpPr/>
          <p:nvPr/>
        </p:nvSpPr>
        <p:spPr>
          <a:xfrm>
            <a:off x="8763000" y="1314450"/>
            <a:ext cx="723900" cy="285750"/>
          </a:xfrm>
          <a:prstGeom prst="roundRect">
            <a:avLst>
              <a:gd name="adj" fmla="val 50000"/>
            </a:avLst>
          </a:prstGeom>
          <a:solidFill>
            <a:srgbClr val="C96133">
              <a:alpha val="12000"/>
            </a:srgbClr>
          </a:solidFill>
          <a:ln>
            <a:noFill/>
          </a:ln>
        </p:spPr>
      </p:sp>
      <p:sp>
        <p:nvSpPr>
          <p:cNvPr id="19" name="TextBox 19"/>
          <p:cNvSpPr txBox="1"/>
          <p:nvPr/>
        </p:nvSpPr>
        <p:spPr>
          <a:xfrm>
            <a:off x="8890212" y="1391602"/>
            <a:ext cx="46947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10 min</a:t>
            </a:r>
          </a:p>
        </p:txBody>
      </p:sp>
      <p:sp>
        <p:nvSpPr>
          <p:cNvPr id="20" name="Ellipse 20"/>
          <p:cNvSpPr/>
          <p:nvPr/>
        </p:nvSpPr>
        <p:spPr>
          <a:xfrm>
            <a:off x="876300" y="2266950"/>
            <a:ext cx="381000" cy="3810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21" name="TextBox 21"/>
          <p:cNvSpPr txBox="1"/>
          <p:nvPr/>
        </p:nvSpPr>
        <p:spPr>
          <a:xfrm>
            <a:off x="957626" y="2402681"/>
            <a:ext cx="21834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22" name="Rectangle 22"/>
          <p:cNvSpPr/>
          <p:nvPr/>
        </p:nvSpPr>
        <p:spPr>
          <a:xfrm>
            <a:off x="1409700" y="2171700"/>
            <a:ext cx="8191500" cy="647700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23" name="Rectangle 23"/>
          <p:cNvSpPr/>
          <p:nvPr/>
        </p:nvSpPr>
        <p:spPr>
          <a:xfrm>
            <a:off x="1409700" y="2171700"/>
            <a:ext cx="57150" cy="647700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1583055" y="2292668"/>
            <a:ext cx="1483471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第一幕：方法论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586865" y="2534602"/>
            <a:ext cx="557803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热门赛道选股核心体系 + SEPA / BAIT / Moneyball 三大框架——4个Skill背后的逻辑</a:t>
            </a:r>
          </a:p>
        </p:txBody>
      </p:sp>
      <p:sp>
        <p:nvSpPr>
          <p:cNvPr id="26" name="Rectangle 26"/>
          <p:cNvSpPr/>
          <p:nvPr/>
        </p:nvSpPr>
        <p:spPr>
          <a:xfrm>
            <a:off x="8763000" y="2266950"/>
            <a:ext cx="723900" cy="285750"/>
          </a:xfrm>
          <a:prstGeom prst="roundRect">
            <a:avLst>
              <a:gd name="adj" fmla="val 50000"/>
            </a:avLst>
          </a:prstGeom>
          <a:solidFill>
            <a:srgbClr val="3D7DE4">
              <a:alpha val="12000"/>
            </a:srgbClr>
          </a:solidFill>
          <a:ln>
            <a:noFill/>
          </a:ln>
        </p:spPr>
      </p:sp>
      <p:sp>
        <p:nvSpPr>
          <p:cNvPr id="27" name="TextBox 27"/>
          <p:cNvSpPr txBox="1"/>
          <p:nvPr/>
        </p:nvSpPr>
        <p:spPr>
          <a:xfrm>
            <a:off x="8870085" y="2344102"/>
            <a:ext cx="50973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45 min</a:t>
            </a:r>
          </a:p>
        </p:txBody>
      </p:sp>
      <p:sp>
        <p:nvSpPr>
          <p:cNvPr id="28" name="Ellipse 28"/>
          <p:cNvSpPr/>
          <p:nvPr/>
        </p:nvSpPr>
        <p:spPr>
          <a:xfrm>
            <a:off x="876300" y="3314700"/>
            <a:ext cx="381000" cy="3810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29" name="TextBox 29"/>
          <p:cNvSpPr txBox="1"/>
          <p:nvPr/>
        </p:nvSpPr>
        <p:spPr>
          <a:xfrm>
            <a:off x="957626" y="3450431"/>
            <a:ext cx="21834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30" name="Rectangle 30"/>
          <p:cNvSpPr/>
          <p:nvPr/>
        </p:nvSpPr>
        <p:spPr>
          <a:xfrm>
            <a:off x="1409700" y="3219450"/>
            <a:ext cx="8191500" cy="647700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31" name="Rectangle 31"/>
          <p:cNvSpPr/>
          <p:nvPr/>
        </p:nvSpPr>
        <p:spPr>
          <a:xfrm>
            <a:off x="1409700" y="3219450"/>
            <a:ext cx="57150" cy="647700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32" name="TextBox 32"/>
          <p:cNvSpPr txBox="1"/>
          <p:nvPr/>
        </p:nvSpPr>
        <p:spPr>
          <a:xfrm>
            <a:off x="1583055" y="3340418"/>
            <a:ext cx="1752605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第二幕：Skill 工程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586865" y="3582352"/>
            <a:ext cx="501829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Python 数据层 + LLM 分析层架构；怎么测试；现场从零写 /ticker-scan</a:t>
            </a:r>
          </a:p>
        </p:txBody>
      </p:sp>
      <p:sp>
        <p:nvSpPr>
          <p:cNvPr id="34" name="Rectangle 34"/>
          <p:cNvSpPr/>
          <p:nvPr/>
        </p:nvSpPr>
        <p:spPr>
          <a:xfrm>
            <a:off x="8763000" y="3314700"/>
            <a:ext cx="723900" cy="285750"/>
          </a:xfrm>
          <a:prstGeom prst="roundRect">
            <a:avLst>
              <a:gd name="adj" fmla="val 50000"/>
            </a:avLst>
          </a:prstGeom>
          <a:solidFill>
            <a:srgbClr val="3D7DE4">
              <a:alpha val="12000"/>
            </a:srgbClr>
          </a:solidFill>
          <a:ln>
            <a:noFill/>
          </a:ln>
        </p:spPr>
      </p:sp>
      <p:sp>
        <p:nvSpPr>
          <p:cNvPr id="35" name="TextBox 35"/>
          <p:cNvSpPr txBox="1"/>
          <p:nvPr/>
        </p:nvSpPr>
        <p:spPr>
          <a:xfrm>
            <a:off x="8870085" y="3391852"/>
            <a:ext cx="50973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30 min</a:t>
            </a:r>
          </a:p>
        </p:txBody>
      </p:sp>
      <p:sp>
        <p:nvSpPr>
          <p:cNvPr id="36" name="Ellipse 36"/>
          <p:cNvSpPr/>
          <p:nvPr/>
        </p:nvSpPr>
        <p:spPr>
          <a:xfrm>
            <a:off x="876300" y="4362450"/>
            <a:ext cx="381000" cy="3810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37" name="TextBox 37"/>
          <p:cNvSpPr txBox="1"/>
          <p:nvPr/>
        </p:nvSpPr>
        <p:spPr>
          <a:xfrm>
            <a:off x="957626" y="4498181"/>
            <a:ext cx="21834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38" name="Rectangle 38"/>
          <p:cNvSpPr/>
          <p:nvPr/>
        </p:nvSpPr>
        <p:spPr>
          <a:xfrm>
            <a:off x="1409700" y="4267200"/>
            <a:ext cx="8191500" cy="55245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39" name="Rectangle 39"/>
          <p:cNvSpPr/>
          <p:nvPr/>
        </p:nvSpPr>
        <p:spPr>
          <a:xfrm>
            <a:off x="1409700" y="4267200"/>
            <a:ext cx="57150" cy="55245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40" name="TextBox 40"/>
          <p:cNvSpPr txBox="1"/>
          <p:nvPr/>
        </p:nvSpPr>
        <p:spPr>
          <a:xfrm>
            <a:off x="1583055" y="4369118"/>
            <a:ext cx="1514525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系统预览 + 作业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586865" y="4601528"/>
            <a:ext cx="386048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展示完整 15+ Skills 系统，发布作业：写 /market-daily</a:t>
            </a:r>
          </a:p>
        </p:txBody>
      </p:sp>
      <p:sp>
        <p:nvSpPr>
          <p:cNvPr id="42" name="Rectangle 42"/>
          <p:cNvSpPr/>
          <p:nvPr/>
        </p:nvSpPr>
        <p:spPr>
          <a:xfrm>
            <a:off x="8763000" y="4362450"/>
            <a:ext cx="723900" cy="285750"/>
          </a:xfrm>
          <a:prstGeom prst="roundRect">
            <a:avLst>
              <a:gd name="adj" fmla="val 50000"/>
            </a:avLst>
          </a:prstGeom>
          <a:solidFill>
            <a:srgbClr val="C96133">
              <a:alpha val="12000"/>
            </a:srgbClr>
          </a:solidFill>
          <a:ln>
            <a:noFill/>
          </a:ln>
        </p:spPr>
      </p:sp>
      <p:sp>
        <p:nvSpPr>
          <p:cNvPr id="43" name="TextBox 43"/>
          <p:cNvSpPr txBox="1"/>
          <p:nvPr/>
        </p:nvSpPr>
        <p:spPr>
          <a:xfrm>
            <a:off x="8890212" y="4439602"/>
            <a:ext cx="46947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10 min</a:t>
            </a:r>
          </a:p>
        </p:txBody>
      </p:sp>
      <p:sp>
        <p:nvSpPr>
          <p:cNvPr id="44" name="Ellipse 44"/>
          <p:cNvSpPr/>
          <p:nvPr/>
        </p:nvSpPr>
        <p:spPr>
          <a:xfrm>
            <a:off x="876300" y="5314950"/>
            <a:ext cx="381000" cy="381000"/>
          </a:xfrm>
          <a:prstGeom prst="ellipse">
            <a:avLst/>
          </a:prstGeom>
          <a:solidFill>
            <a:srgbClr val="9E9E9E"/>
          </a:solidFill>
          <a:ln>
            <a:noFill/>
          </a:ln>
        </p:spPr>
      </p:sp>
      <p:sp>
        <p:nvSpPr>
          <p:cNvPr id="45" name="TextBox 45"/>
          <p:cNvSpPr txBox="1"/>
          <p:nvPr/>
        </p:nvSpPr>
        <p:spPr>
          <a:xfrm>
            <a:off x="957626" y="5450681"/>
            <a:ext cx="21834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46" name="Rectangle 46"/>
          <p:cNvSpPr/>
          <p:nvPr/>
        </p:nvSpPr>
        <p:spPr>
          <a:xfrm>
            <a:off x="1409700" y="5219700"/>
            <a:ext cx="8191500" cy="552450"/>
          </a:xfrm>
          <a:prstGeom prst="roundRect">
            <a:avLst>
              <a:gd name="adj" fmla="val 17241"/>
            </a:avLst>
          </a:prstGeom>
          <a:solidFill>
            <a:srgbClr val="F0EDE8"/>
          </a:solidFill>
          <a:ln w="9525">
            <a:solidFill>
              <a:srgbClr val="E0D8D0"/>
            </a:solidFill>
          </a:ln>
        </p:spPr>
      </p:sp>
      <p:sp>
        <p:nvSpPr>
          <p:cNvPr id="47" name="Rectangle 47"/>
          <p:cNvSpPr/>
          <p:nvPr/>
        </p:nvSpPr>
        <p:spPr>
          <a:xfrm>
            <a:off x="1409700" y="5219700"/>
            <a:ext cx="57150" cy="552450"/>
          </a:xfrm>
          <a:prstGeom prst="roundRect">
            <a:avLst>
              <a:gd name="adj" fmla="val 50000"/>
            </a:avLst>
          </a:prstGeom>
          <a:solidFill>
            <a:srgbClr val="9E9E9E"/>
          </a:solidFill>
          <a:ln>
            <a:noFill/>
          </a:ln>
        </p:spPr>
      </p:sp>
      <p:sp>
        <p:nvSpPr>
          <p:cNvPr id="48" name="TextBox 48"/>
          <p:cNvSpPr txBox="1"/>
          <p:nvPr/>
        </p:nvSpPr>
        <p:spPr>
          <a:xfrm>
            <a:off x="1583055" y="5321618"/>
            <a:ext cx="54150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Q &amp; A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586865" y="5554028"/>
            <a:ext cx="6400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答疑时间</a:t>
            </a:r>
          </a:p>
        </p:txBody>
      </p:sp>
      <p:sp>
        <p:nvSpPr>
          <p:cNvPr id="50" name="Rectangle 50"/>
          <p:cNvSpPr/>
          <p:nvPr/>
        </p:nvSpPr>
        <p:spPr>
          <a:xfrm>
            <a:off x="8763000" y="5314950"/>
            <a:ext cx="723900" cy="285750"/>
          </a:xfrm>
          <a:prstGeom prst="roundRect">
            <a:avLst>
              <a:gd name="adj" fmla="val 50000"/>
            </a:avLst>
          </a:prstGeom>
          <a:solidFill>
            <a:srgbClr val="9E9E9E">
              <a:alpha val="15000"/>
            </a:srgbClr>
          </a:solidFill>
          <a:ln>
            <a:noFill/>
          </a:ln>
        </p:spPr>
      </p:sp>
      <p:sp>
        <p:nvSpPr>
          <p:cNvPr id="51" name="TextBox 51"/>
          <p:cNvSpPr txBox="1"/>
          <p:nvPr/>
        </p:nvSpPr>
        <p:spPr>
          <a:xfrm>
            <a:off x="8890212" y="5392102"/>
            <a:ext cx="46947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15 min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1283934" y="6554152"/>
            <a:ext cx="54040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02 / 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342900"/>
            <a:ext cx="57150" cy="3810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46760" y="337185"/>
            <a:ext cx="4809473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为什么炒股需要 AI 系统？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5810" y="784860"/>
            <a:ext cx="4306824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上了炒股课，但还是不知道 "什么时候买、什么时候卖"</a:t>
            </a:r>
          </a:p>
        </p:txBody>
      </p:sp>
      <p:sp>
        <p:nvSpPr>
          <p:cNvPr id="7" name="Rectangle 7"/>
          <p:cNvSpPr/>
          <p:nvPr/>
        </p:nvSpPr>
        <p:spPr>
          <a:xfrm>
            <a:off x="571500" y="1238250"/>
            <a:ext cx="3448050" cy="323850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8" name="Rectangle 8"/>
          <p:cNvSpPr/>
          <p:nvPr/>
        </p:nvSpPr>
        <p:spPr>
          <a:xfrm>
            <a:off x="571500" y="1238250"/>
            <a:ext cx="3448050" cy="57150"/>
          </a:xfrm>
          <a:prstGeom prst="roundRect">
            <a:avLst>
              <a:gd name="adj" fmla="val 50000"/>
            </a:avLst>
          </a:prstGeom>
          <a:solidFill>
            <a:srgbClr val="D44545"/>
          </a:solidFill>
          <a:ln>
            <a:noFill/>
          </a:ln>
        </p:spPr>
      </p:sp>
      <p:sp>
        <p:nvSpPr>
          <p:cNvPr id="9" name="Ellipse 9"/>
          <p:cNvSpPr/>
          <p:nvPr/>
        </p:nvSpPr>
        <p:spPr>
          <a:xfrm>
            <a:off x="1819275" y="1619250"/>
            <a:ext cx="952500" cy="952500"/>
          </a:xfrm>
          <a:prstGeom prst="ellipse">
            <a:avLst/>
          </a:prstGeom>
          <a:solidFill>
            <a:srgbClr val="D44545">
              <a:alpha val="10000"/>
            </a:srgbClr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2105216" y="1840230"/>
            <a:ext cx="380619" cy="731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600" dirty="0">
                <a:solidFill>
                  <a:srgbClr val="D44545"/>
                </a:solidFill>
                <a:latin typeface="Arial"/>
                <a:ea typeface="Microsoft YaHei"/>
                <a:cs typeface="Arial"/>
              </a:rPr>
              <a:t>?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62444" y="2869882"/>
            <a:ext cx="2066163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方法知道，判断难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541859" y="3231356"/>
            <a:ext cx="150733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有框架，但每次都要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624012" y="3440906"/>
            <a:ext cx="134302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花几小时手动分析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706166" y="3650456"/>
            <a:ext cx="117871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还容易看漏细节</a:t>
            </a:r>
          </a:p>
        </p:txBody>
      </p:sp>
      <p:sp>
        <p:nvSpPr>
          <p:cNvPr id="15" name="Rectangle 15"/>
          <p:cNvSpPr/>
          <p:nvPr/>
        </p:nvSpPr>
        <p:spPr>
          <a:xfrm>
            <a:off x="4371975" y="1238250"/>
            <a:ext cx="3448050" cy="323850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16" name="Rectangle 16"/>
          <p:cNvSpPr/>
          <p:nvPr/>
        </p:nvSpPr>
        <p:spPr>
          <a:xfrm>
            <a:off x="4371975" y="1238250"/>
            <a:ext cx="3448050" cy="57150"/>
          </a:xfrm>
          <a:prstGeom prst="roundRect">
            <a:avLst>
              <a:gd name="adj" fmla="val 50000"/>
            </a:avLst>
          </a:prstGeom>
          <a:solidFill>
            <a:srgbClr val="D44545"/>
          </a:solidFill>
          <a:ln>
            <a:noFill/>
          </a:ln>
        </p:spPr>
      </p:sp>
      <p:sp>
        <p:nvSpPr>
          <p:cNvPr id="17" name="Ellipse 17"/>
          <p:cNvSpPr/>
          <p:nvPr/>
        </p:nvSpPr>
        <p:spPr>
          <a:xfrm>
            <a:off x="5619750" y="1619250"/>
            <a:ext cx="952500" cy="952500"/>
          </a:xfrm>
          <a:prstGeom prst="ellipse">
            <a:avLst/>
          </a:prstGeom>
          <a:solidFill>
            <a:srgbClr val="D44545">
              <a:alpha val="10000"/>
            </a:srgbClr>
          </a:solidFill>
          <a:ln>
            <a:noFill/>
          </a:ln>
        </p:spPr>
      </p:sp>
      <p:sp>
        <p:nvSpPr>
          <p:cNvPr id="18" name="Rectangle 18"/>
          <p:cNvSpPr/>
          <p:nvPr/>
        </p:nvSpPr>
        <p:spPr>
          <a:xfrm>
            <a:off x="5848350" y="2190750"/>
            <a:ext cx="152400" cy="285750"/>
          </a:xfrm>
          <a:prstGeom prst="roundRect">
            <a:avLst>
              <a:gd name="adj" fmla="val 18750"/>
            </a:avLst>
          </a:prstGeom>
          <a:solidFill>
            <a:srgbClr val="D44545">
              <a:alpha val="50000"/>
            </a:srgbClr>
          </a:solidFill>
          <a:ln>
            <a:noFill/>
          </a:ln>
        </p:spPr>
      </p:sp>
      <p:sp>
        <p:nvSpPr>
          <p:cNvPr id="19" name="Rectangle 19"/>
          <p:cNvSpPr/>
          <p:nvPr/>
        </p:nvSpPr>
        <p:spPr>
          <a:xfrm>
            <a:off x="6038850" y="2000250"/>
            <a:ext cx="152400" cy="476250"/>
          </a:xfrm>
          <a:prstGeom prst="roundRect">
            <a:avLst>
              <a:gd name="adj" fmla="val 18750"/>
            </a:avLst>
          </a:prstGeom>
          <a:solidFill>
            <a:srgbClr val="D44545">
              <a:alpha val="70000"/>
            </a:srgbClr>
          </a:solidFill>
          <a:ln>
            <a:noFill/>
          </a:ln>
        </p:spPr>
      </p:sp>
      <p:sp>
        <p:nvSpPr>
          <p:cNvPr id="20" name="Rectangle 20"/>
          <p:cNvSpPr/>
          <p:nvPr/>
        </p:nvSpPr>
        <p:spPr>
          <a:xfrm>
            <a:off x="6229350" y="2095500"/>
            <a:ext cx="152400" cy="381000"/>
          </a:xfrm>
          <a:prstGeom prst="roundRect">
            <a:avLst>
              <a:gd name="adj" fmla="val 18750"/>
            </a:avLst>
          </a:prstGeom>
          <a:solidFill>
            <a:srgbClr val="D44545"/>
          </a:solidFill>
          <a:ln>
            <a:noFill/>
          </a:ln>
        </p:spPr>
      </p:sp>
      <p:sp>
        <p:nvSpPr>
          <p:cNvPr id="21" name="TextBox 21"/>
          <p:cNvSpPr txBox="1"/>
          <p:nvPr/>
        </p:nvSpPr>
        <p:spPr>
          <a:xfrm>
            <a:off x="5062918" y="2869882"/>
            <a:ext cx="2066163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信息太多，筛选累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079444" y="3231356"/>
            <a:ext cx="203311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A 股 5000+ 只，美股数万只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095875" y="3440906"/>
            <a:ext cx="200025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每天新闻、财报、技术信号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5588794" y="3650456"/>
            <a:ext cx="101441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根本看不过来</a:t>
            </a:r>
          </a:p>
        </p:txBody>
      </p:sp>
      <p:sp>
        <p:nvSpPr>
          <p:cNvPr id="25" name="Rectangle 25"/>
          <p:cNvSpPr/>
          <p:nvPr/>
        </p:nvSpPr>
        <p:spPr>
          <a:xfrm>
            <a:off x="8172450" y="1238250"/>
            <a:ext cx="3448050" cy="323850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26" name="Rectangle 26"/>
          <p:cNvSpPr/>
          <p:nvPr/>
        </p:nvSpPr>
        <p:spPr>
          <a:xfrm>
            <a:off x="8172450" y="1238250"/>
            <a:ext cx="3448050" cy="57150"/>
          </a:xfrm>
          <a:prstGeom prst="roundRect">
            <a:avLst>
              <a:gd name="adj" fmla="val 50000"/>
            </a:avLst>
          </a:prstGeom>
          <a:solidFill>
            <a:srgbClr val="D44545"/>
          </a:solidFill>
          <a:ln>
            <a:noFill/>
          </a:ln>
        </p:spPr>
      </p:sp>
      <p:sp>
        <p:nvSpPr>
          <p:cNvPr id="27" name="Ellipse 27"/>
          <p:cNvSpPr/>
          <p:nvPr/>
        </p:nvSpPr>
        <p:spPr>
          <a:xfrm>
            <a:off x="9420225" y="1619250"/>
            <a:ext cx="952500" cy="952500"/>
          </a:xfrm>
          <a:prstGeom prst="ellipse">
            <a:avLst/>
          </a:prstGeom>
          <a:solidFill>
            <a:srgbClr val="D44545">
              <a:alpha val="10000"/>
            </a:srgbClr>
          </a:solidFill>
          <a:ln>
            <a:noFill/>
          </a:ln>
        </p:spPr>
      </p:sp>
      <p:sp>
        <p:nvSpPr>
          <p:cNvPr id="28" name="Line 28"/>
          <p:cNvSpPr/>
          <p:nvPr/>
        </p:nvSpPr>
        <p:spPr>
          <a:xfrm>
            <a:off x="9896475" y="1762125"/>
            <a:ext cx="9525" cy="666750"/>
          </a:xfrm>
          <a:custGeom>
            <a:avLst/>
            <a:gdLst/>
            <a:ahLst/>
            <a:cxnLst/>
            <a:rect l="l" t="t" r="r" b="b"/>
            <a:pathLst>
              <a:path w="9525" h="666750">
                <a:moveTo>
                  <a:pt x="0" y="0"/>
                </a:moveTo>
                <a:lnTo>
                  <a:pt x="0" y="666750"/>
                </a:lnTo>
              </a:path>
            </a:pathLst>
          </a:custGeom>
          <a:noFill/>
          <a:ln w="28575" cap="rnd">
            <a:solidFill>
              <a:srgbClr val="D44545"/>
            </a:solidFill>
          </a:ln>
        </p:spPr>
      </p:sp>
      <p:sp>
        <p:nvSpPr>
          <p:cNvPr id="29" name="Line 29"/>
          <p:cNvSpPr/>
          <p:nvPr/>
        </p:nvSpPr>
        <p:spPr>
          <a:xfrm>
            <a:off x="9620250" y="1952625"/>
            <a:ext cx="552450" cy="9525"/>
          </a:xfrm>
          <a:custGeom>
            <a:avLst/>
            <a:gdLst/>
            <a:ahLst/>
            <a:cxnLst/>
            <a:rect l="l" t="t" r="r" b="b"/>
            <a:pathLst>
              <a:path w="552450" h="9525">
                <a:moveTo>
                  <a:pt x="0" y="0"/>
                </a:moveTo>
                <a:lnTo>
                  <a:pt x="552450" y="0"/>
                </a:lnTo>
              </a:path>
            </a:pathLst>
          </a:custGeom>
          <a:noFill/>
          <a:ln w="28575" cap="rnd">
            <a:solidFill>
              <a:srgbClr val="D44545"/>
            </a:solidFill>
          </a:ln>
        </p:spPr>
      </p:sp>
      <p:sp>
        <p:nvSpPr>
          <p:cNvPr id="30" name="Ellipse 30"/>
          <p:cNvSpPr/>
          <p:nvPr/>
        </p:nvSpPr>
        <p:spPr>
          <a:xfrm>
            <a:off x="9505950" y="2076450"/>
            <a:ext cx="228600" cy="228600"/>
          </a:xfrm>
          <a:prstGeom prst="ellipse">
            <a:avLst/>
          </a:prstGeom>
          <a:noFill/>
          <a:ln w="23812">
            <a:solidFill>
              <a:srgbClr val="D44545"/>
            </a:solidFill>
          </a:ln>
        </p:spPr>
      </p:sp>
      <p:sp>
        <p:nvSpPr>
          <p:cNvPr id="31" name="Ellipse 31"/>
          <p:cNvSpPr/>
          <p:nvPr/>
        </p:nvSpPr>
        <p:spPr>
          <a:xfrm>
            <a:off x="10058400" y="2000250"/>
            <a:ext cx="228600" cy="228600"/>
          </a:xfrm>
          <a:prstGeom prst="ellipse">
            <a:avLst/>
          </a:prstGeom>
          <a:noFill/>
          <a:ln w="23812">
            <a:solidFill>
              <a:srgbClr val="D44545"/>
            </a:solidFill>
          </a:ln>
        </p:spPr>
      </p:sp>
      <p:sp>
        <p:nvSpPr>
          <p:cNvPr id="32" name="TextBox 32"/>
          <p:cNvSpPr txBox="1"/>
          <p:nvPr/>
        </p:nvSpPr>
        <p:spPr>
          <a:xfrm>
            <a:off x="8863394" y="2869882"/>
            <a:ext cx="2066163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情绪干扰，纪律差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8978503" y="3231356"/>
            <a:ext cx="183594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贪心时追高，恐惧时割肉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8978503" y="3440906"/>
            <a:ext cx="183594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止损是规则，但总忍不住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8945642" y="3650456"/>
            <a:ext cx="190166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"再等一下" 往往代价惨重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5984986" y="4631055"/>
            <a:ext cx="222028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100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↓</a:t>
            </a:r>
          </a:p>
        </p:txBody>
      </p:sp>
      <p:sp>
        <p:nvSpPr>
          <p:cNvPr id="37" name="Rectangle 37"/>
          <p:cNvSpPr/>
          <p:nvPr/>
        </p:nvSpPr>
        <p:spPr>
          <a:xfrm>
            <a:off x="571500" y="4953000"/>
            <a:ext cx="11049000" cy="762000"/>
          </a:xfrm>
          <a:prstGeom prst="roundRect">
            <a:avLst>
              <a:gd name="adj" fmla="val 15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38" name="TextBox 38"/>
          <p:cNvSpPr txBox="1"/>
          <p:nvPr/>
        </p:nvSpPr>
        <p:spPr>
          <a:xfrm>
            <a:off x="5905500" y="5128260"/>
            <a:ext cx="38100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FFFFFF">
                    <a:alphaMod val="85000"/>
                  </a:srgbClr>
                </a:solidFill>
                <a:latin typeface="Arial"/>
                <a:ea typeface="Microsoft YaHei"/>
                <a:cs typeface="Arial"/>
              </a:rPr>
              <a:t>解法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2583209" y="5384482"/>
            <a:ext cx="7025583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把专家方法封装进 AI Skill — 系统化判断、自动筛选、规则执行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1283934" y="6554152"/>
            <a:ext cx="54040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03 / 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4870132" y="507682"/>
            <a:ext cx="245173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先看结果，再理解原理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3908641" y="832485"/>
            <a:ext cx="4374718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7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4-Skill 完整买卖流水线</a:t>
            </a:r>
          </a:p>
        </p:txBody>
      </p:sp>
      <p:sp>
        <p:nvSpPr>
          <p:cNvPr id="6" name="Rectangle 6"/>
          <p:cNvSpPr/>
          <p:nvPr/>
        </p:nvSpPr>
        <p:spPr>
          <a:xfrm>
            <a:off x="514350" y="1905000"/>
            <a:ext cx="2438400" cy="3238500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514350" y="1905000"/>
            <a:ext cx="2438400" cy="533400"/>
          </a:xfrm>
          <a:prstGeom prst="roundRect">
            <a:avLst>
              <a:gd name="adj" fmla="val 25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514350" y="2209800"/>
            <a:ext cx="2438400" cy="22860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9" name="Ellipse 9"/>
          <p:cNvSpPr/>
          <p:nvPr/>
        </p:nvSpPr>
        <p:spPr>
          <a:xfrm>
            <a:off x="685800" y="2000250"/>
            <a:ext cx="342900" cy="342900"/>
          </a:xfrm>
          <a:prstGeom prst="ellipse">
            <a:avLst/>
          </a:prstGeom>
          <a:solidFill>
            <a:srgbClr val="FFFFFF">
              <a:alpha val="25000"/>
            </a:srgbClr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775481" y="2115502"/>
            <a:ext cx="16353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01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96567" y="2091214"/>
            <a:ext cx="127396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/ticker-scan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74219" y="265985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赛道扫描</a:t>
            </a:r>
          </a:p>
        </p:txBody>
      </p:sp>
      <p:sp>
        <p:nvSpPr>
          <p:cNvPr id="13" name="Line 13"/>
          <p:cNvSpPr/>
          <p:nvPr/>
        </p:nvSpPr>
        <p:spPr>
          <a:xfrm>
            <a:off x="819150" y="2952750"/>
            <a:ext cx="1828800" cy="9525"/>
          </a:xfrm>
          <a:custGeom>
            <a:avLst/>
            <a:gdLst/>
            <a:ahLst/>
            <a:cxnLst/>
            <a:rect l="l" t="t" r="r" b="b"/>
            <a:pathLst>
              <a:path w="1828800" h="9525">
                <a:moveTo>
                  <a:pt x="0" y="0"/>
                </a:moveTo>
                <a:lnTo>
                  <a:pt x="18288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14" name="TextBox 14"/>
          <p:cNvSpPr txBox="1"/>
          <p:nvPr/>
        </p:nvSpPr>
        <p:spPr>
          <a:xfrm>
            <a:off x="805815" y="3106102"/>
            <a:ext cx="127649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扫 七大热门赛道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05815" y="3334702"/>
            <a:ext cx="140684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价格 / 成交量筛选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05815" y="3563302"/>
            <a:ext cx="123048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输出候选股清单</a:t>
            </a:r>
          </a:p>
        </p:txBody>
      </p:sp>
      <p:sp>
        <p:nvSpPr>
          <p:cNvPr id="17" name="Rectangle 17"/>
          <p:cNvSpPr/>
          <p:nvPr/>
        </p:nvSpPr>
        <p:spPr>
          <a:xfrm>
            <a:off x="666750" y="4362450"/>
            <a:ext cx="2133600" cy="609600"/>
          </a:xfrm>
          <a:prstGeom prst="roundRect">
            <a:avLst>
              <a:gd name="adj" fmla="val 12500"/>
            </a:avLst>
          </a:prstGeom>
          <a:solidFill>
            <a:srgbClr val="F0EDE8"/>
          </a:solidFill>
          <a:ln w="9525">
            <a:solidFill>
              <a:srgbClr val="E0D8D0"/>
            </a:solidFill>
          </a:ln>
        </p:spPr>
      </p:sp>
      <p:sp>
        <p:nvSpPr>
          <p:cNvPr id="18" name="TextBox 18"/>
          <p:cNvSpPr txBox="1"/>
          <p:nvPr/>
        </p:nvSpPr>
        <p:spPr>
          <a:xfrm>
            <a:off x="1492091" y="4512945"/>
            <a:ext cx="48291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OUTPUT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18502" y="4725352"/>
            <a:ext cx="183009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候选股清单 (Markdown)</a:t>
            </a:r>
          </a:p>
        </p:txBody>
      </p:sp>
      <p:sp>
        <p:nvSpPr>
          <p:cNvPr id="20" name="Polygon 20"/>
          <p:cNvSpPr/>
          <p:nvPr/>
        </p:nvSpPr>
        <p:spPr>
          <a:xfrm>
            <a:off x="3143250" y="340995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114300"/>
                </a:moveTo>
                <a:lnTo>
                  <a:pt x="228600" y="0"/>
                </a:lnTo>
                <a:lnTo>
                  <a:pt x="228600" y="228600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21" name="Line 21"/>
          <p:cNvSpPr/>
          <p:nvPr/>
        </p:nvSpPr>
        <p:spPr>
          <a:xfrm>
            <a:off x="2952750" y="3524250"/>
            <a:ext cx="400050" cy="9525"/>
          </a:xfrm>
          <a:custGeom>
            <a:avLst/>
            <a:gdLst/>
            <a:ahLst/>
            <a:cxnLst/>
            <a:rect l="l" t="t" r="r" b="b"/>
            <a:pathLst>
              <a:path w="400050" h="9525">
                <a:moveTo>
                  <a:pt x="0" y="0"/>
                </a:moveTo>
                <a:lnTo>
                  <a:pt x="400050" y="0"/>
                </a:lnTo>
              </a:path>
            </a:pathLst>
          </a:custGeom>
          <a:noFill/>
          <a:ln w="23812">
            <a:solidFill>
              <a:srgbClr val="C96133"/>
            </a:solidFill>
          </a:ln>
        </p:spPr>
      </p:sp>
      <p:sp>
        <p:nvSpPr>
          <p:cNvPr id="22" name="Rectangle 22"/>
          <p:cNvSpPr/>
          <p:nvPr/>
        </p:nvSpPr>
        <p:spPr>
          <a:xfrm>
            <a:off x="3390900" y="1905000"/>
            <a:ext cx="2438400" cy="3238500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23" name="Rectangle 23"/>
          <p:cNvSpPr/>
          <p:nvPr/>
        </p:nvSpPr>
        <p:spPr>
          <a:xfrm>
            <a:off x="3390900" y="1905000"/>
            <a:ext cx="2438400" cy="533400"/>
          </a:xfrm>
          <a:prstGeom prst="roundRect">
            <a:avLst>
              <a:gd name="adj" fmla="val 25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24" name="Rectangle 24"/>
          <p:cNvSpPr/>
          <p:nvPr/>
        </p:nvSpPr>
        <p:spPr>
          <a:xfrm>
            <a:off x="3390900" y="2209800"/>
            <a:ext cx="2438400" cy="228600"/>
          </a:xfrm>
          <a:prstGeom prst="rect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25" name="Ellipse 25"/>
          <p:cNvSpPr/>
          <p:nvPr/>
        </p:nvSpPr>
        <p:spPr>
          <a:xfrm>
            <a:off x="3562350" y="2000250"/>
            <a:ext cx="342900" cy="342900"/>
          </a:xfrm>
          <a:prstGeom prst="ellipse">
            <a:avLst/>
          </a:prstGeom>
          <a:solidFill>
            <a:srgbClr val="FFFFFF">
              <a:alpha val="25000"/>
            </a:srgbClr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3631904" y="2115502"/>
            <a:ext cx="20379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3865579" y="2091214"/>
            <a:ext cx="1489042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/stock-analyze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4250769" y="265985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深度分析</a:t>
            </a:r>
          </a:p>
        </p:txBody>
      </p:sp>
      <p:sp>
        <p:nvSpPr>
          <p:cNvPr id="29" name="Line 29"/>
          <p:cNvSpPr/>
          <p:nvPr/>
        </p:nvSpPr>
        <p:spPr>
          <a:xfrm>
            <a:off x="3581400" y="2952750"/>
            <a:ext cx="2076450" cy="9525"/>
          </a:xfrm>
          <a:custGeom>
            <a:avLst/>
            <a:gdLst/>
            <a:ahLst/>
            <a:cxnLst/>
            <a:rect l="l" t="t" r="r" b="b"/>
            <a:pathLst>
              <a:path w="2076450" h="9525">
                <a:moveTo>
                  <a:pt x="0" y="0"/>
                </a:moveTo>
                <a:lnTo>
                  <a:pt x="207645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30" name="TextBox 30"/>
          <p:cNvSpPr txBox="1"/>
          <p:nvPr/>
        </p:nvSpPr>
        <p:spPr>
          <a:xfrm>
            <a:off x="3568065" y="3106102"/>
            <a:ext cx="126882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BAIT 基本面评分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3568065" y="3334702"/>
            <a:ext cx="13071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SEPA 技术面确认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3568065" y="3563302"/>
            <a:ext cx="107713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综合研究报告</a:t>
            </a:r>
          </a:p>
        </p:txBody>
      </p:sp>
      <p:sp>
        <p:nvSpPr>
          <p:cNvPr id="33" name="Rectangle 33"/>
          <p:cNvSpPr/>
          <p:nvPr/>
        </p:nvSpPr>
        <p:spPr>
          <a:xfrm>
            <a:off x="3543300" y="4362450"/>
            <a:ext cx="2133600" cy="609600"/>
          </a:xfrm>
          <a:prstGeom prst="roundRect">
            <a:avLst>
              <a:gd name="adj" fmla="val 12500"/>
            </a:avLst>
          </a:prstGeom>
          <a:solidFill>
            <a:srgbClr val="F0EDE8"/>
          </a:solidFill>
          <a:ln w="9525">
            <a:solidFill>
              <a:srgbClr val="E0D8D0"/>
            </a:solidFill>
          </a:ln>
        </p:spPr>
      </p:sp>
      <p:sp>
        <p:nvSpPr>
          <p:cNvPr id="34" name="TextBox 34"/>
          <p:cNvSpPr txBox="1"/>
          <p:nvPr/>
        </p:nvSpPr>
        <p:spPr>
          <a:xfrm>
            <a:off x="4368641" y="4512945"/>
            <a:ext cx="48291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OUTPUT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3614542" y="4725352"/>
            <a:ext cx="199111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个股分析报告 (Markdown)</a:t>
            </a:r>
          </a:p>
        </p:txBody>
      </p:sp>
      <p:sp>
        <p:nvSpPr>
          <p:cNvPr id="36" name="Polygon 36"/>
          <p:cNvSpPr/>
          <p:nvPr/>
        </p:nvSpPr>
        <p:spPr>
          <a:xfrm>
            <a:off x="6019800" y="340995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114300"/>
                </a:moveTo>
                <a:lnTo>
                  <a:pt x="228600" y="0"/>
                </a:lnTo>
                <a:lnTo>
                  <a:pt x="228600" y="228600"/>
                </a:lnTo>
                <a:close/>
              </a:path>
            </a:pathLst>
          </a:custGeom>
          <a:solidFill>
            <a:srgbClr val="3D7DE4"/>
          </a:solidFill>
          <a:ln>
            <a:noFill/>
          </a:ln>
        </p:spPr>
      </p:sp>
      <p:sp>
        <p:nvSpPr>
          <p:cNvPr id="37" name="Line 37"/>
          <p:cNvSpPr/>
          <p:nvPr/>
        </p:nvSpPr>
        <p:spPr>
          <a:xfrm>
            <a:off x="5829300" y="3524250"/>
            <a:ext cx="400050" cy="9525"/>
          </a:xfrm>
          <a:custGeom>
            <a:avLst/>
            <a:gdLst/>
            <a:ahLst/>
            <a:cxnLst/>
            <a:rect l="l" t="t" r="r" b="b"/>
            <a:pathLst>
              <a:path w="400050" h="9525">
                <a:moveTo>
                  <a:pt x="0" y="0"/>
                </a:moveTo>
                <a:lnTo>
                  <a:pt x="400050" y="0"/>
                </a:lnTo>
              </a:path>
            </a:pathLst>
          </a:custGeom>
          <a:noFill/>
          <a:ln w="23812">
            <a:solidFill>
              <a:srgbClr val="3D7DE4"/>
            </a:solidFill>
          </a:ln>
        </p:spPr>
      </p:sp>
      <p:sp>
        <p:nvSpPr>
          <p:cNvPr id="38" name="Rectangle 38"/>
          <p:cNvSpPr/>
          <p:nvPr/>
        </p:nvSpPr>
        <p:spPr>
          <a:xfrm>
            <a:off x="6267450" y="1905000"/>
            <a:ext cx="2438400" cy="3238500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39" name="Rectangle 39"/>
          <p:cNvSpPr/>
          <p:nvPr/>
        </p:nvSpPr>
        <p:spPr>
          <a:xfrm>
            <a:off x="6267450" y="1905000"/>
            <a:ext cx="2438400" cy="533400"/>
          </a:xfrm>
          <a:prstGeom prst="roundRect">
            <a:avLst>
              <a:gd name="adj" fmla="val 25000"/>
            </a:avLst>
          </a:prstGeom>
          <a:solidFill>
            <a:srgbClr val="3A9E6A"/>
          </a:solidFill>
          <a:ln>
            <a:noFill/>
          </a:ln>
        </p:spPr>
      </p:sp>
      <p:sp>
        <p:nvSpPr>
          <p:cNvPr id="40" name="Rectangle 40"/>
          <p:cNvSpPr/>
          <p:nvPr/>
        </p:nvSpPr>
        <p:spPr>
          <a:xfrm>
            <a:off x="6267450" y="2209800"/>
            <a:ext cx="2438400" cy="228600"/>
          </a:xfrm>
          <a:prstGeom prst="rect">
            <a:avLst/>
          </a:prstGeom>
          <a:solidFill>
            <a:srgbClr val="3A9E6A"/>
          </a:solidFill>
          <a:ln>
            <a:noFill/>
          </a:ln>
        </p:spPr>
      </p:sp>
      <p:sp>
        <p:nvSpPr>
          <p:cNvPr id="41" name="Ellipse 41"/>
          <p:cNvSpPr/>
          <p:nvPr/>
        </p:nvSpPr>
        <p:spPr>
          <a:xfrm>
            <a:off x="6438900" y="2000250"/>
            <a:ext cx="342900" cy="342900"/>
          </a:xfrm>
          <a:prstGeom prst="ellipse">
            <a:avLst/>
          </a:prstGeom>
          <a:solidFill>
            <a:srgbClr val="FFFFFF">
              <a:alpha val="25000"/>
            </a:srgbClr>
          </a:solidFill>
          <a:ln>
            <a:noFill/>
          </a:ln>
        </p:spPr>
      </p:sp>
      <p:sp>
        <p:nvSpPr>
          <p:cNvPr id="42" name="TextBox 42"/>
          <p:cNvSpPr txBox="1"/>
          <p:nvPr/>
        </p:nvSpPr>
        <p:spPr>
          <a:xfrm>
            <a:off x="6508454" y="2115502"/>
            <a:ext cx="20379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6825227" y="2091214"/>
            <a:ext cx="1322846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/stock-entry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7127319" y="265985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入场决策</a:t>
            </a:r>
          </a:p>
        </p:txBody>
      </p:sp>
      <p:sp>
        <p:nvSpPr>
          <p:cNvPr id="45" name="Line 45"/>
          <p:cNvSpPr/>
          <p:nvPr/>
        </p:nvSpPr>
        <p:spPr>
          <a:xfrm>
            <a:off x="6457950" y="2952750"/>
            <a:ext cx="2076450" cy="9525"/>
          </a:xfrm>
          <a:custGeom>
            <a:avLst/>
            <a:gdLst/>
            <a:ahLst/>
            <a:cxnLst/>
            <a:rect l="l" t="t" r="r" b="b"/>
            <a:pathLst>
              <a:path w="2076450" h="9525">
                <a:moveTo>
                  <a:pt x="0" y="0"/>
                </a:moveTo>
                <a:lnTo>
                  <a:pt x="207645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46" name="TextBox 46"/>
          <p:cNvSpPr txBox="1"/>
          <p:nvPr/>
        </p:nvSpPr>
        <p:spPr>
          <a:xfrm>
            <a:off x="6444615" y="3106102"/>
            <a:ext cx="146051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SEPA 入场时机确认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444615" y="3334702"/>
            <a:ext cx="152185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Moneyball R/R 计算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6444615" y="3563302"/>
            <a:ext cx="140684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仓位 + 止损位建议</a:t>
            </a:r>
          </a:p>
        </p:txBody>
      </p:sp>
      <p:sp>
        <p:nvSpPr>
          <p:cNvPr id="49" name="Rectangle 49"/>
          <p:cNvSpPr/>
          <p:nvPr/>
        </p:nvSpPr>
        <p:spPr>
          <a:xfrm>
            <a:off x="6419850" y="4362450"/>
            <a:ext cx="2133600" cy="609600"/>
          </a:xfrm>
          <a:prstGeom prst="roundRect">
            <a:avLst>
              <a:gd name="adj" fmla="val 12500"/>
            </a:avLst>
          </a:prstGeom>
          <a:solidFill>
            <a:srgbClr val="F0EDE8"/>
          </a:solidFill>
          <a:ln w="9525">
            <a:solidFill>
              <a:srgbClr val="E0D8D0"/>
            </a:solidFill>
          </a:ln>
        </p:spPr>
      </p:sp>
      <p:sp>
        <p:nvSpPr>
          <p:cNvPr id="50" name="TextBox 50"/>
          <p:cNvSpPr txBox="1"/>
          <p:nvPr/>
        </p:nvSpPr>
        <p:spPr>
          <a:xfrm>
            <a:off x="7245191" y="4512945"/>
            <a:ext cx="48291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OUTPUT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6652112" y="4725352"/>
            <a:ext cx="166907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入场方案 (Markdown)</a:t>
            </a:r>
          </a:p>
        </p:txBody>
      </p:sp>
      <p:sp>
        <p:nvSpPr>
          <p:cNvPr id="52" name="Polygon 52"/>
          <p:cNvSpPr/>
          <p:nvPr/>
        </p:nvSpPr>
        <p:spPr>
          <a:xfrm>
            <a:off x="8896350" y="340995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114300"/>
                </a:moveTo>
                <a:lnTo>
                  <a:pt x="228600" y="0"/>
                </a:lnTo>
                <a:lnTo>
                  <a:pt x="228600" y="228600"/>
                </a:lnTo>
                <a:close/>
              </a:path>
            </a:pathLst>
          </a:custGeom>
          <a:solidFill>
            <a:srgbClr val="3A9E6A"/>
          </a:solidFill>
          <a:ln>
            <a:noFill/>
          </a:ln>
        </p:spPr>
      </p:sp>
      <p:sp>
        <p:nvSpPr>
          <p:cNvPr id="53" name="Line 53"/>
          <p:cNvSpPr/>
          <p:nvPr/>
        </p:nvSpPr>
        <p:spPr>
          <a:xfrm>
            <a:off x="8705850" y="3524250"/>
            <a:ext cx="400050" cy="9525"/>
          </a:xfrm>
          <a:custGeom>
            <a:avLst/>
            <a:gdLst/>
            <a:ahLst/>
            <a:cxnLst/>
            <a:rect l="l" t="t" r="r" b="b"/>
            <a:pathLst>
              <a:path w="400050" h="9525">
                <a:moveTo>
                  <a:pt x="0" y="0"/>
                </a:moveTo>
                <a:lnTo>
                  <a:pt x="400050" y="0"/>
                </a:lnTo>
              </a:path>
            </a:pathLst>
          </a:custGeom>
          <a:noFill/>
          <a:ln w="23812">
            <a:solidFill>
              <a:srgbClr val="3A9E6A"/>
            </a:solidFill>
          </a:ln>
        </p:spPr>
      </p:sp>
      <p:sp>
        <p:nvSpPr>
          <p:cNvPr id="54" name="Rectangle 54"/>
          <p:cNvSpPr/>
          <p:nvPr/>
        </p:nvSpPr>
        <p:spPr>
          <a:xfrm>
            <a:off x="9144000" y="1905000"/>
            <a:ext cx="2438400" cy="3238500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55" name="Rectangle 55"/>
          <p:cNvSpPr/>
          <p:nvPr/>
        </p:nvSpPr>
        <p:spPr>
          <a:xfrm>
            <a:off x="9144000" y="1905000"/>
            <a:ext cx="2438400" cy="533400"/>
          </a:xfrm>
          <a:prstGeom prst="roundRect">
            <a:avLst>
              <a:gd name="adj" fmla="val 25000"/>
            </a:avLst>
          </a:prstGeom>
          <a:solidFill>
            <a:srgbClr val="5A5A5A"/>
          </a:solidFill>
          <a:ln>
            <a:noFill/>
          </a:ln>
        </p:spPr>
      </p:sp>
      <p:sp>
        <p:nvSpPr>
          <p:cNvPr id="56" name="Rectangle 56"/>
          <p:cNvSpPr/>
          <p:nvPr/>
        </p:nvSpPr>
        <p:spPr>
          <a:xfrm>
            <a:off x="9144000" y="2209800"/>
            <a:ext cx="2438400" cy="228600"/>
          </a:xfrm>
          <a:prstGeom prst="rect">
            <a:avLst/>
          </a:prstGeom>
          <a:solidFill>
            <a:srgbClr val="5A5A5A"/>
          </a:solidFill>
          <a:ln>
            <a:noFill/>
          </a:ln>
        </p:spPr>
      </p:sp>
      <p:sp>
        <p:nvSpPr>
          <p:cNvPr id="57" name="Ellipse 57"/>
          <p:cNvSpPr/>
          <p:nvPr/>
        </p:nvSpPr>
        <p:spPr>
          <a:xfrm>
            <a:off x="9315450" y="2000250"/>
            <a:ext cx="342900" cy="342900"/>
          </a:xfrm>
          <a:prstGeom prst="ellipse">
            <a:avLst/>
          </a:prstGeom>
          <a:solidFill>
            <a:srgbClr val="FFFFFF">
              <a:alpha val="25000"/>
            </a:srgbClr>
          </a:solidFill>
          <a:ln>
            <a:noFill/>
          </a:ln>
        </p:spPr>
      </p:sp>
      <p:sp>
        <p:nvSpPr>
          <p:cNvPr id="58" name="TextBox 58"/>
          <p:cNvSpPr txBox="1"/>
          <p:nvPr/>
        </p:nvSpPr>
        <p:spPr>
          <a:xfrm>
            <a:off x="9385004" y="2115502"/>
            <a:ext cx="20379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9779987" y="2091214"/>
            <a:ext cx="116642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/stock-exit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10003869" y="265985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退出管理</a:t>
            </a:r>
          </a:p>
        </p:txBody>
      </p:sp>
      <p:sp>
        <p:nvSpPr>
          <p:cNvPr id="61" name="Line 61"/>
          <p:cNvSpPr/>
          <p:nvPr/>
        </p:nvSpPr>
        <p:spPr>
          <a:xfrm>
            <a:off x="9334500" y="2952750"/>
            <a:ext cx="2076450" cy="9525"/>
          </a:xfrm>
          <a:custGeom>
            <a:avLst/>
            <a:gdLst/>
            <a:ahLst/>
            <a:cxnLst/>
            <a:rect l="l" t="t" r="r" b="b"/>
            <a:pathLst>
              <a:path w="2076450" h="9525">
                <a:moveTo>
                  <a:pt x="0" y="0"/>
                </a:moveTo>
                <a:lnTo>
                  <a:pt x="207645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62" name="TextBox 62"/>
          <p:cNvSpPr txBox="1"/>
          <p:nvPr/>
        </p:nvSpPr>
        <p:spPr>
          <a:xfrm>
            <a:off x="9321165" y="3106102"/>
            <a:ext cx="107713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止损触发检查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9321165" y="3334702"/>
            <a:ext cx="107713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止盈节奏计划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9321165" y="3563302"/>
            <a:ext cx="153719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Stage 3/4 清仓信号</a:t>
            </a:r>
          </a:p>
        </p:txBody>
      </p:sp>
      <p:sp>
        <p:nvSpPr>
          <p:cNvPr id="65" name="Rectangle 65"/>
          <p:cNvSpPr/>
          <p:nvPr/>
        </p:nvSpPr>
        <p:spPr>
          <a:xfrm>
            <a:off x="9296400" y="4362450"/>
            <a:ext cx="2133600" cy="609600"/>
          </a:xfrm>
          <a:prstGeom prst="roundRect">
            <a:avLst>
              <a:gd name="adj" fmla="val 12500"/>
            </a:avLst>
          </a:prstGeom>
          <a:solidFill>
            <a:srgbClr val="F0EDE8"/>
          </a:solidFill>
          <a:ln w="9525">
            <a:solidFill>
              <a:srgbClr val="E0D8D0"/>
            </a:solidFill>
          </a:ln>
        </p:spPr>
      </p:sp>
      <p:sp>
        <p:nvSpPr>
          <p:cNvPr id="66" name="TextBox 66"/>
          <p:cNvSpPr txBox="1"/>
          <p:nvPr/>
        </p:nvSpPr>
        <p:spPr>
          <a:xfrm>
            <a:off x="10121741" y="4512945"/>
            <a:ext cx="48291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OUTPUT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9367642" y="4725352"/>
            <a:ext cx="199111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退出分析报告 (Markdown)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4463986" y="6042660"/>
            <a:ext cx="326402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数据来源：yfinance · 无需配置复杂 MCP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11283934" y="6554152"/>
            <a:ext cx="54040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04 / 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342900"/>
            <a:ext cx="57150" cy="3810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46760" y="337185"/>
            <a:ext cx="4209098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热门赛道选股体系总览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5810" y="784860"/>
            <a:ext cx="368465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基金经理视角 · 解决 "在哪里找股" 的系统方法</a:t>
            </a:r>
          </a:p>
        </p:txBody>
      </p:sp>
      <p:sp>
        <p:nvSpPr>
          <p:cNvPr id="7" name="Rectangle 7"/>
          <p:cNvSpPr/>
          <p:nvPr/>
        </p:nvSpPr>
        <p:spPr>
          <a:xfrm>
            <a:off x="571500" y="1238250"/>
            <a:ext cx="2647950" cy="5143500"/>
          </a:xfrm>
          <a:prstGeom prst="roundRect">
            <a:avLst>
              <a:gd name="adj" fmla="val 5036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8" name="Rectangle 8"/>
          <p:cNvSpPr/>
          <p:nvPr/>
        </p:nvSpPr>
        <p:spPr>
          <a:xfrm>
            <a:off x="571500" y="1238250"/>
            <a:ext cx="2647950" cy="762000"/>
          </a:xfrm>
          <a:prstGeom prst="roundRect">
            <a:avLst>
              <a:gd name="adj" fmla="val 175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571500" y="1695450"/>
            <a:ext cx="2647950" cy="30480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1591763" y="1312545"/>
            <a:ext cx="607424" cy="792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900" b="1" dirty="0">
                <a:solidFill>
                  <a:srgbClr val="FFFFFF">
                    <a:alphaMod val="25000"/>
                  </a:srgbClr>
                </a:solidFill>
                <a:latin typeface="Arial"/>
                <a:ea typeface="Microsoft YaHei"/>
                <a:cs typeface="Arial"/>
              </a:rPr>
              <a:t>01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92709" y="1767364"/>
            <a:ext cx="1205532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基金经理思维</a:t>
            </a:r>
          </a:p>
        </p:txBody>
      </p:sp>
      <p:sp>
        <p:nvSpPr>
          <p:cNvPr id="12" name="Rectangle 12"/>
          <p:cNvSpPr/>
          <p:nvPr/>
        </p:nvSpPr>
        <p:spPr>
          <a:xfrm>
            <a:off x="723900" y="2171700"/>
            <a:ext cx="2343150" cy="762000"/>
          </a:xfrm>
          <a:prstGeom prst="roundRect">
            <a:avLst>
              <a:gd name="adj" fmla="val 10000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1584055" y="2304574"/>
            <a:ext cx="62284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核心原则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498759" y="2496502"/>
            <a:ext cx="79343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基本面为主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45406" y="2706052"/>
            <a:ext cx="110013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技术面辅助确认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48665" y="3163252"/>
            <a:ext cx="107713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先看公司质地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48665" y="3410902"/>
            <a:ext cx="107713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再看技术时机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48665" y="3658552"/>
            <a:ext cx="92378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不炒消息股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48665" y="3906202"/>
            <a:ext cx="107713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不追热点题材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48665" y="4153852"/>
            <a:ext cx="107713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仓位管理严格</a:t>
            </a:r>
          </a:p>
        </p:txBody>
      </p:sp>
      <p:sp>
        <p:nvSpPr>
          <p:cNvPr id="21" name="Rectangle 21"/>
          <p:cNvSpPr/>
          <p:nvPr/>
        </p:nvSpPr>
        <p:spPr>
          <a:xfrm>
            <a:off x="723900" y="5810250"/>
            <a:ext cx="2343150" cy="438150"/>
          </a:xfrm>
          <a:prstGeom prst="roundRect">
            <a:avLst>
              <a:gd name="adj" fmla="val 17391"/>
            </a:avLst>
          </a:prstGeom>
          <a:solidFill>
            <a:srgbClr val="C96133">
              <a:alpha val="10000"/>
            </a:srgbClr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1399080" y="5963602"/>
            <a:ext cx="99279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思维框架基础</a:t>
            </a:r>
          </a:p>
        </p:txBody>
      </p:sp>
      <p:sp>
        <p:nvSpPr>
          <p:cNvPr id="23" name="Rectangle 23"/>
          <p:cNvSpPr/>
          <p:nvPr/>
        </p:nvSpPr>
        <p:spPr>
          <a:xfrm>
            <a:off x="3505200" y="1238250"/>
            <a:ext cx="2647950" cy="5143500"/>
          </a:xfrm>
          <a:prstGeom prst="roundRect">
            <a:avLst>
              <a:gd name="adj" fmla="val 5036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24" name="Rectangle 24"/>
          <p:cNvSpPr/>
          <p:nvPr/>
        </p:nvSpPr>
        <p:spPr>
          <a:xfrm>
            <a:off x="3505200" y="1238250"/>
            <a:ext cx="2647950" cy="762000"/>
          </a:xfrm>
          <a:prstGeom prst="roundRect">
            <a:avLst>
              <a:gd name="adj" fmla="val 175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25" name="Rectangle 25"/>
          <p:cNvSpPr/>
          <p:nvPr/>
        </p:nvSpPr>
        <p:spPr>
          <a:xfrm>
            <a:off x="3505200" y="1695450"/>
            <a:ext cx="2647950" cy="304800"/>
          </a:xfrm>
          <a:prstGeom prst="rect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4450704" y="1312545"/>
            <a:ext cx="756942" cy="792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900" b="1" dirty="0">
                <a:solidFill>
                  <a:srgbClr val="FFFFFF">
                    <a:alphaMod val="25000"/>
                  </a:srgbClr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4128647" y="1767364"/>
            <a:ext cx="1401056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七大结构性赛道</a:t>
            </a:r>
          </a:p>
        </p:txBody>
      </p:sp>
      <p:sp>
        <p:nvSpPr>
          <p:cNvPr id="28" name="Rectangle 28"/>
          <p:cNvSpPr/>
          <p:nvPr/>
        </p:nvSpPr>
        <p:spPr>
          <a:xfrm>
            <a:off x="3657600" y="2171700"/>
            <a:ext cx="2343150" cy="762000"/>
          </a:xfrm>
          <a:prstGeom prst="roundRect">
            <a:avLst>
              <a:gd name="adj" fmla="val 10000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29" name="TextBox 29"/>
          <p:cNvSpPr txBox="1"/>
          <p:nvPr/>
        </p:nvSpPr>
        <p:spPr>
          <a:xfrm>
            <a:off x="4442996" y="2304574"/>
            <a:ext cx="77235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结构性机会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4279106" y="2496502"/>
            <a:ext cx="110013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长周期主题驱动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4432459" y="2706052"/>
            <a:ext cx="79343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非短期炒作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3682365" y="3163252"/>
            <a:ext cx="124582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存储 HBM/DRAM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3682365" y="3410902"/>
            <a:ext cx="61707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光互连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3682365" y="3658552"/>
            <a:ext cx="77043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卫星通信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3682365" y="3906202"/>
            <a:ext cx="77043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电网升级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3682365" y="4153852"/>
            <a:ext cx="158319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封测 · 矿产 · 房地产</a:t>
            </a:r>
          </a:p>
        </p:txBody>
      </p:sp>
      <p:sp>
        <p:nvSpPr>
          <p:cNvPr id="37" name="Rectangle 37"/>
          <p:cNvSpPr/>
          <p:nvPr/>
        </p:nvSpPr>
        <p:spPr>
          <a:xfrm>
            <a:off x="3657600" y="5810250"/>
            <a:ext cx="2343150" cy="438150"/>
          </a:xfrm>
          <a:prstGeom prst="roundRect">
            <a:avLst>
              <a:gd name="adj" fmla="val 17391"/>
            </a:avLst>
          </a:prstGeom>
          <a:solidFill>
            <a:srgbClr val="3D7DE4">
              <a:alpha val="10000"/>
            </a:srgbClr>
          </a:solidFill>
          <a:ln>
            <a:noFill/>
          </a:ln>
        </p:spPr>
      </p:sp>
      <p:sp>
        <p:nvSpPr>
          <p:cNvPr id="38" name="TextBox 38"/>
          <p:cNvSpPr txBox="1"/>
          <p:nvPr/>
        </p:nvSpPr>
        <p:spPr>
          <a:xfrm>
            <a:off x="4413290" y="5963602"/>
            <a:ext cx="83177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在哪里找股</a:t>
            </a:r>
          </a:p>
        </p:txBody>
      </p:sp>
      <p:sp>
        <p:nvSpPr>
          <p:cNvPr id="39" name="Rectangle 39"/>
          <p:cNvSpPr/>
          <p:nvPr/>
        </p:nvSpPr>
        <p:spPr>
          <a:xfrm>
            <a:off x="6438900" y="1238250"/>
            <a:ext cx="2647950" cy="5143500"/>
          </a:xfrm>
          <a:prstGeom prst="roundRect">
            <a:avLst>
              <a:gd name="adj" fmla="val 5036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40" name="Rectangle 40"/>
          <p:cNvSpPr/>
          <p:nvPr/>
        </p:nvSpPr>
        <p:spPr>
          <a:xfrm>
            <a:off x="6438900" y="1238250"/>
            <a:ext cx="2647950" cy="762000"/>
          </a:xfrm>
          <a:prstGeom prst="roundRect">
            <a:avLst>
              <a:gd name="adj" fmla="val 17500"/>
            </a:avLst>
          </a:prstGeom>
          <a:solidFill>
            <a:srgbClr val="3A9E6A"/>
          </a:solidFill>
          <a:ln>
            <a:noFill/>
          </a:ln>
        </p:spPr>
      </p:sp>
      <p:sp>
        <p:nvSpPr>
          <p:cNvPr id="41" name="Rectangle 41"/>
          <p:cNvSpPr/>
          <p:nvPr/>
        </p:nvSpPr>
        <p:spPr>
          <a:xfrm>
            <a:off x="6438900" y="1695450"/>
            <a:ext cx="2647950" cy="304800"/>
          </a:xfrm>
          <a:prstGeom prst="rect">
            <a:avLst/>
          </a:prstGeom>
          <a:solidFill>
            <a:srgbClr val="3A9E6A"/>
          </a:solidFill>
          <a:ln>
            <a:noFill/>
          </a:ln>
        </p:spPr>
      </p:sp>
      <p:sp>
        <p:nvSpPr>
          <p:cNvPr id="42" name="TextBox 42"/>
          <p:cNvSpPr txBox="1"/>
          <p:nvPr/>
        </p:nvSpPr>
        <p:spPr>
          <a:xfrm>
            <a:off x="7384404" y="1312545"/>
            <a:ext cx="756942" cy="792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900" b="1" dirty="0">
                <a:solidFill>
                  <a:srgbClr val="FFFFFF">
                    <a:alphaMod val="25000"/>
                  </a:srgbClr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7062347" y="1767364"/>
            <a:ext cx="1401056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九大翻倍股特征</a:t>
            </a:r>
          </a:p>
        </p:txBody>
      </p:sp>
      <p:sp>
        <p:nvSpPr>
          <p:cNvPr id="44" name="Rectangle 44"/>
          <p:cNvSpPr/>
          <p:nvPr/>
        </p:nvSpPr>
        <p:spPr>
          <a:xfrm>
            <a:off x="6591300" y="2171700"/>
            <a:ext cx="2343150" cy="762000"/>
          </a:xfrm>
          <a:prstGeom prst="roundRect">
            <a:avLst>
              <a:gd name="adj" fmla="val 10000"/>
            </a:avLst>
          </a:prstGeom>
          <a:solidFill>
            <a:srgbClr val="EBF7F1"/>
          </a:solidFill>
          <a:ln>
            <a:noFill/>
          </a:ln>
        </p:spPr>
      </p:sp>
      <p:sp>
        <p:nvSpPr>
          <p:cNvPr id="45" name="TextBox 45"/>
          <p:cNvSpPr txBox="1"/>
          <p:nvPr/>
        </p:nvSpPr>
        <p:spPr>
          <a:xfrm>
            <a:off x="7451455" y="2304574"/>
            <a:ext cx="62284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特征组合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7247311" y="2496502"/>
            <a:ext cx="103112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基本面+催化剂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7289483" y="2706052"/>
            <a:ext cx="94678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赛道底层逻辑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6616065" y="3163252"/>
            <a:ext cx="146818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基本面高增长/拐点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6616065" y="3410902"/>
            <a:ext cx="107713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大量订单储备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6616065" y="3658552"/>
            <a:ext cx="107713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热门赛道底层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6616065" y="3906202"/>
            <a:ext cx="123048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供应链回流美国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6616065" y="4153852"/>
            <a:ext cx="132249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• 财报断层 Gap-Up</a:t>
            </a:r>
          </a:p>
        </p:txBody>
      </p:sp>
      <p:sp>
        <p:nvSpPr>
          <p:cNvPr id="53" name="Rectangle 53"/>
          <p:cNvSpPr/>
          <p:nvPr/>
        </p:nvSpPr>
        <p:spPr>
          <a:xfrm>
            <a:off x="6591300" y="5810250"/>
            <a:ext cx="2343150" cy="438150"/>
          </a:xfrm>
          <a:prstGeom prst="roundRect">
            <a:avLst>
              <a:gd name="adj" fmla="val 17391"/>
            </a:avLst>
          </a:prstGeom>
          <a:solidFill>
            <a:srgbClr val="3A9E6A">
              <a:alpha val="10000"/>
            </a:srgbClr>
          </a:solidFill>
          <a:ln>
            <a:noFill/>
          </a:ln>
        </p:spPr>
      </p:sp>
      <p:sp>
        <p:nvSpPr>
          <p:cNvPr id="54" name="TextBox 54"/>
          <p:cNvSpPr txBox="1"/>
          <p:nvPr/>
        </p:nvSpPr>
        <p:spPr>
          <a:xfrm>
            <a:off x="7427500" y="5963602"/>
            <a:ext cx="67075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选哪只股</a:t>
            </a:r>
          </a:p>
        </p:txBody>
      </p:sp>
      <p:sp>
        <p:nvSpPr>
          <p:cNvPr id="55" name="Rectangle 55"/>
          <p:cNvSpPr/>
          <p:nvPr/>
        </p:nvSpPr>
        <p:spPr>
          <a:xfrm>
            <a:off x="9372600" y="1238250"/>
            <a:ext cx="2438400" cy="5143500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56" name="Rectangle 56"/>
          <p:cNvSpPr/>
          <p:nvPr/>
        </p:nvSpPr>
        <p:spPr>
          <a:xfrm>
            <a:off x="9372600" y="1238250"/>
            <a:ext cx="2438400" cy="762000"/>
          </a:xfrm>
          <a:prstGeom prst="roundRect">
            <a:avLst>
              <a:gd name="adj" fmla="val 17500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57" name="Rectangle 57"/>
          <p:cNvSpPr/>
          <p:nvPr/>
        </p:nvSpPr>
        <p:spPr>
          <a:xfrm>
            <a:off x="9372600" y="1695450"/>
            <a:ext cx="2438400" cy="304800"/>
          </a:xfrm>
          <a:prstGeom prst="rect">
            <a:avLst/>
          </a:prstGeom>
          <a:solidFill>
            <a:srgbClr val="1E1E1E"/>
          </a:solidFill>
          <a:ln>
            <a:noFill/>
          </a:ln>
        </p:spPr>
      </p:sp>
      <p:sp>
        <p:nvSpPr>
          <p:cNvPr id="58" name="TextBox 58"/>
          <p:cNvSpPr txBox="1"/>
          <p:nvPr/>
        </p:nvSpPr>
        <p:spPr>
          <a:xfrm>
            <a:off x="10213329" y="1312545"/>
            <a:ext cx="756942" cy="792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900" b="1" dirty="0">
                <a:solidFill>
                  <a:srgbClr val="FFFFFF">
                    <a:alphaMod val="2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10086796" y="1767364"/>
            <a:ext cx="101000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一句话定位</a:t>
            </a:r>
          </a:p>
        </p:txBody>
      </p:sp>
      <p:sp>
        <p:nvSpPr>
          <p:cNvPr id="60" name="Rectangle 60"/>
          <p:cNvSpPr/>
          <p:nvPr/>
        </p:nvSpPr>
        <p:spPr>
          <a:xfrm>
            <a:off x="9525000" y="2171700"/>
            <a:ext cx="2133600" cy="1143000"/>
          </a:xfrm>
          <a:prstGeom prst="roundRect">
            <a:avLst>
              <a:gd name="adj" fmla="val 6667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61" name="TextBox 61"/>
          <p:cNvSpPr txBox="1"/>
          <p:nvPr/>
        </p:nvSpPr>
        <p:spPr>
          <a:xfrm>
            <a:off x="10501261" y="2279332"/>
            <a:ext cx="18107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"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9953577" y="2578418"/>
            <a:ext cx="1276445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在正确的赛道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10057090" y="2807018"/>
            <a:ext cx="1069419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找对的股票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9511665" y="3506152"/>
            <a:ext cx="140684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热门赛道方法论解决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9511665" y="3734752"/>
            <a:ext cx="126882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"在哪里找"的问题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9511665" y="4077652"/>
            <a:ext cx="125349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三大工具辅助决策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9511665" y="4306252"/>
            <a:ext cx="110013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进出场时机判断</a:t>
            </a:r>
          </a:p>
        </p:txBody>
      </p:sp>
      <p:sp>
        <p:nvSpPr>
          <p:cNvPr id="68" name="Rectangle 68"/>
          <p:cNvSpPr/>
          <p:nvPr/>
        </p:nvSpPr>
        <p:spPr>
          <a:xfrm>
            <a:off x="9525000" y="5810250"/>
            <a:ext cx="2133600" cy="438150"/>
          </a:xfrm>
          <a:prstGeom prst="roundRect">
            <a:avLst>
              <a:gd name="adj" fmla="val 17391"/>
            </a:avLst>
          </a:prstGeom>
          <a:solidFill>
            <a:srgbClr val="C96133">
              <a:alpha val="10000"/>
            </a:srgbClr>
          </a:solidFill>
          <a:ln>
            <a:noFill/>
          </a:ln>
        </p:spPr>
      </p:sp>
      <p:sp>
        <p:nvSpPr>
          <p:cNvPr id="69" name="TextBox 69"/>
          <p:cNvSpPr txBox="1"/>
          <p:nvPr/>
        </p:nvSpPr>
        <p:spPr>
          <a:xfrm>
            <a:off x="10256425" y="5963602"/>
            <a:ext cx="67075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系统定位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11283934" y="6554152"/>
            <a:ext cx="54040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05 / 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285750"/>
            <a:ext cx="57150" cy="342900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50570" y="293370"/>
            <a:ext cx="2637282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七大结构性赛道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6762" y="697706"/>
            <a:ext cx="445662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长周期主题驱动 · 非短期炒作 · /ticker-scan 覆盖所有赛道</a:t>
            </a:r>
          </a:p>
        </p:txBody>
      </p:sp>
      <p:sp>
        <p:nvSpPr>
          <p:cNvPr id="7" name="Rectangle 7"/>
          <p:cNvSpPr/>
          <p:nvPr/>
        </p:nvSpPr>
        <p:spPr>
          <a:xfrm>
            <a:off x="571500" y="1047750"/>
            <a:ext cx="2647950" cy="2476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8" name="Rectangle 8"/>
          <p:cNvSpPr/>
          <p:nvPr/>
        </p:nvSpPr>
        <p:spPr>
          <a:xfrm>
            <a:off x="571500" y="1047750"/>
            <a:ext cx="2647950" cy="5715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1419225" y="1314450"/>
            <a:ext cx="952500" cy="762000"/>
          </a:xfrm>
          <a:prstGeom prst="roundRect">
            <a:avLst>
              <a:gd name="adj" fmla="val 10000"/>
            </a:avLst>
          </a:prstGeom>
          <a:solidFill>
            <a:srgbClr val="C96133">
              <a:alpha val="10000"/>
            </a:srgbClr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1571625" y="1447800"/>
            <a:ext cx="647700" cy="495300"/>
          </a:xfrm>
          <a:prstGeom prst="roundRect">
            <a:avLst>
              <a:gd name="adj" fmla="val 7692"/>
            </a:avLst>
          </a:prstGeom>
          <a:solidFill>
            <a:srgbClr val="C96133">
              <a:alpha val="20000"/>
            </a:srgbClr>
          </a:solidFill>
          <a:ln>
            <a:noFill/>
          </a:ln>
        </p:spPr>
      </p:sp>
      <p:sp>
        <p:nvSpPr>
          <p:cNvPr id="11" name="Line 11"/>
          <p:cNvSpPr/>
          <p:nvPr/>
        </p:nvSpPr>
        <p:spPr>
          <a:xfrm>
            <a:off x="1285875" y="1543050"/>
            <a:ext cx="133350" cy="9525"/>
          </a:xfrm>
          <a:custGeom>
            <a:avLst/>
            <a:gdLst/>
            <a:ahLst/>
            <a:cxnLst/>
            <a:rect l="l" t="t" r="r" b="b"/>
            <a:pathLst>
              <a:path w="133350" h="9525">
                <a:moveTo>
                  <a:pt x="133350" y="0"/>
                </a:moveTo>
                <a:lnTo>
                  <a:pt x="0" y="0"/>
                </a:lnTo>
              </a:path>
            </a:pathLst>
          </a:custGeom>
          <a:noFill/>
          <a:ln w="28575" cap="rnd">
            <a:solidFill>
              <a:srgbClr val="C96133"/>
            </a:solidFill>
          </a:ln>
        </p:spPr>
      </p:sp>
      <p:sp>
        <p:nvSpPr>
          <p:cNvPr id="12" name="Line 12"/>
          <p:cNvSpPr/>
          <p:nvPr/>
        </p:nvSpPr>
        <p:spPr>
          <a:xfrm>
            <a:off x="1285875" y="1657350"/>
            <a:ext cx="133350" cy="9525"/>
          </a:xfrm>
          <a:custGeom>
            <a:avLst/>
            <a:gdLst/>
            <a:ahLst/>
            <a:cxnLst/>
            <a:rect l="l" t="t" r="r" b="b"/>
            <a:pathLst>
              <a:path w="133350" h="9525">
                <a:moveTo>
                  <a:pt x="133350" y="0"/>
                </a:moveTo>
                <a:lnTo>
                  <a:pt x="0" y="0"/>
                </a:lnTo>
              </a:path>
            </a:pathLst>
          </a:custGeom>
          <a:noFill/>
          <a:ln w="28575" cap="rnd">
            <a:solidFill>
              <a:srgbClr val="C96133"/>
            </a:solidFill>
          </a:ln>
        </p:spPr>
      </p:sp>
      <p:sp>
        <p:nvSpPr>
          <p:cNvPr id="13" name="Line 13"/>
          <p:cNvSpPr/>
          <p:nvPr/>
        </p:nvSpPr>
        <p:spPr>
          <a:xfrm>
            <a:off x="2162175" y="1543050"/>
            <a:ext cx="133350" cy="9525"/>
          </a:xfrm>
          <a:custGeom>
            <a:avLst/>
            <a:gdLst/>
            <a:ahLst/>
            <a:cxnLst/>
            <a:rect l="l" t="t" r="r" b="b"/>
            <a:pathLst>
              <a:path w="133350" h="9525">
                <a:moveTo>
                  <a:pt x="0" y="0"/>
                </a:moveTo>
                <a:lnTo>
                  <a:pt x="133350" y="0"/>
                </a:lnTo>
              </a:path>
            </a:pathLst>
          </a:custGeom>
          <a:noFill/>
          <a:ln w="28575" cap="rnd">
            <a:solidFill>
              <a:srgbClr val="C96133"/>
            </a:solidFill>
          </a:ln>
        </p:spPr>
      </p:sp>
      <p:sp>
        <p:nvSpPr>
          <p:cNvPr id="14" name="Line 14"/>
          <p:cNvSpPr/>
          <p:nvPr/>
        </p:nvSpPr>
        <p:spPr>
          <a:xfrm>
            <a:off x="2162175" y="1657350"/>
            <a:ext cx="133350" cy="9525"/>
          </a:xfrm>
          <a:custGeom>
            <a:avLst/>
            <a:gdLst/>
            <a:ahLst/>
            <a:cxnLst/>
            <a:rect l="l" t="t" r="r" b="b"/>
            <a:pathLst>
              <a:path w="133350" h="9525">
                <a:moveTo>
                  <a:pt x="0" y="0"/>
                </a:moveTo>
                <a:lnTo>
                  <a:pt x="133350" y="0"/>
                </a:lnTo>
              </a:path>
            </a:pathLst>
          </a:custGeom>
          <a:noFill/>
          <a:ln w="28575" cap="rnd">
            <a:solidFill>
              <a:srgbClr val="C96133"/>
            </a:solidFill>
          </a:ln>
        </p:spPr>
      </p:sp>
      <p:sp>
        <p:nvSpPr>
          <p:cNvPr id="15" name="TextBox 15"/>
          <p:cNvSpPr txBox="1"/>
          <p:nvPr/>
        </p:nvSpPr>
        <p:spPr>
          <a:xfrm>
            <a:off x="1756379" y="1769745"/>
            <a:ext cx="27819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HBM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420178" y="2175510"/>
            <a:ext cx="95059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存储记忆体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17987" y="2417445"/>
            <a:ext cx="175497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AI 驱动 DRAM/HBM 需求周期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101947" y="2626995"/>
            <a:ext cx="158705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MU · MRVL · QMCO · GSIT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446990" y="2836545"/>
            <a:ext cx="89696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SOXX ETF 覆盖</a:t>
            </a:r>
          </a:p>
        </p:txBody>
      </p:sp>
      <p:sp>
        <p:nvSpPr>
          <p:cNvPr id="20" name="Rectangle 20"/>
          <p:cNvSpPr/>
          <p:nvPr/>
        </p:nvSpPr>
        <p:spPr>
          <a:xfrm>
            <a:off x="3409950" y="1047750"/>
            <a:ext cx="2647950" cy="2476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21" name="Rectangle 21"/>
          <p:cNvSpPr/>
          <p:nvPr/>
        </p:nvSpPr>
        <p:spPr>
          <a:xfrm>
            <a:off x="3409950" y="1047750"/>
            <a:ext cx="2647950" cy="57150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22" name="Rectangle 22"/>
          <p:cNvSpPr/>
          <p:nvPr/>
        </p:nvSpPr>
        <p:spPr>
          <a:xfrm>
            <a:off x="4257675" y="1314450"/>
            <a:ext cx="952500" cy="762000"/>
          </a:xfrm>
          <a:prstGeom prst="roundRect">
            <a:avLst>
              <a:gd name="adj" fmla="val 10000"/>
            </a:avLst>
          </a:prstGeom>
          <a:solidFill>
            <a:srgbClr val="3D7DE4">
              <a:alpha val="10000"/>
            </a:srgbClr>
          </a:solidFill>
          <a:ln>
            <a:noFill/>
          </a:ln>
        </p:spPr>
      </p:sp>
      <p:sp>
        <p:nvSpPr>
          <p:cNvPr id="23" name="Polyline 23"/>
          <p:cNvSpPr/>
          <p:nvPr/>
        </p:nvSpPr>
        <p:spPr>
          <a:xfrm>
            <a:off x="4381500" y="1447800"/>
            <a:ext cx="762000" cy="342900"/>
          </a:xfrm>
          <a:custGeom>
            <a:avLst/>
            <a:gdLst/>
            <a:ahLst/>
            <a:cxnLst/>
            <a:rect l="l" t="t" r="r" b="b"/>
            <a:pathLst>
              <a:path w="762000" h="342900">
                <a:moveTo>
                  <a:pt x="0" y="342900"/>
                </a:moveTo>
                <a:lnTo>
                  <a:pt x="190500" y="0"/>
                </a:lnTo>
                <a:lnTo>
                  <a:pt x="381000" y="247650"/>
                </a:lnTo>
                <a:lnTo>
                  <a:pt x="571500" y="0"/>
                </a:lnTo>
                <a:lnTo>
                  <a:pt x="762000" y="247650"/>
                </a:lnTo>
              </a:path>
            </a:pathLst>
          </a:custGeom>
          <a:noFill/>
          <a:ln w="28575" cap="rnd">
            <a:solidFill>
              <a:srgbClr val="3D7DE4"/>
            </a:solidFill>
            <a:round/>
          </a:ln>
        </p:spPr>
      </p:sp>
      <p:sp>
        <p:nvSpPr>
          <p:cNvPr id="24" name="TextBox 24"/>
          <p:cNvSpPr txBox="1"/>
          <p:nvPr/>
        </p:nvSpPr>
        <p:spPr>
          <a:xfrm>
            <a:off x="4244826" y="2175510"/>
            <a:ext cx="978198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AI 光电互连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3804680" y="2417445"/>
            <a:ext cx="185848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AI 数据中心带宽瓶颈 = 光子学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3910822" y="2626995"/>
            <a:ext cx="164620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COHR · CRDO · AAOI · AXTI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4134279" y="2836545"/>
            <a:ext cx="119929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无纯 ETF，个股策略</a:t>
            </a:r>
          </a:p>
        </p:txBody>
      </p:sp>
      <p:sp>
        <p:nvSpPr>
          <p:cNvPr id="28" name="Rectangle 28"/>
          <p:cNvSpPr/>
          <p:nvPr/>
        </p:nvSpPr>
        <p:spPr>
          <a:xfrm>
            <a:off x="6248400" y="1047750"/>
            <a:ext cx="2647950" cy="2476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29" name="Rectangle 29"/>
          <p:cNvSpPr/>
          <p:nvPr/>
        </p:nvSpPr>
        <p:spPr>
          <a:xfrm>
            <a:off x="6248400" y="1047750"/>
            <a:ext cx="2647950" cy="57150"/>
          </a:xfrm>
          <a:prstGeom prst="roundRect">
            <a:avLst>
              <a:gd name="adj" fmla="val 50000"/>
            </a:avLst>
          </a:prstGeom>
          <a:solidFill>
            <a:srgbClr val="3A9E6A"/>
          </a:solidFill>
          <a:ln>
            <a:noFill/>
          </a:ln>
        </p:spPr>
      </p:sp>
      <p:sp>
        <p:nvSpPr>
          <p:cNvPr id="30" name="Rectangle 30"/>
          <p:cNvSpPr/>
          <p:nvPr/>
        </p:nvSpPr>
        <p:spPr>
          <a:xfrm>
            <a:off x="7096125" y="1314450"/>
            <a:ext cx="952500" cy="762000"/>
          </a:xfrm>
          <a:prstGeom prst="roundRect">
            <a:avLst>
              <a:gd name="adj" fmla="val 10000"/>
            </a:avLst>
          </a:prstGeom>
          <a:solidFill>
            <a:srgbClr val="3A9E6A">
              <a:alpha val="10000"/>
            </a:srgbClr>
          </a:solidFill>
          <a:ln>
            <a:noFill/>
          </a:ln>
        </p:spPr>
      </p:sp>
      <p:sp>
        <p:nvSpPr>
          <p:cNvPr id="31" name="Ellipse 31"/>
          <p:cNvSpPr/>
          <p:nvPr/>
        </p:nvSpPr>
        <p:spPr>
          <a:xfrm>
            <a:off x="7381875" y="1409700"/>
            <a:ext cx="381000" cy="381000"/>
          </a:xfrm>
          <a:prstGeom prst="ellipse">
            <a:avLst/>
          </a:prstGeom>
          <a:noFill/>
          <a:ln w="23812">
            <a:solidFill>
              <a:srgbClr val="3A9E6A"/>
            </a:solidFill>
          </a:ln>
        </p:spPr>
      </p:sp>
      <p:sp>
        <p:nvSpPr>
          <p:cNvPr id="32" name="Ellipse 32"/>
          <p:cNvSpPr/>
          <p:nvPr/>
        </p:nvSpPr>
        <p:spPr>
          <a:xfrm>
            <a:off x="7458075" y="1485900"/>
            <a:ext cx="228600" cy="228600"/>
          </a:xfrm>
          <a:prstGeom prst="ellipse">
            <a:avLst/>
          </a:prstGeom>
          <a:noFill/>
          <a:ln w="19050">
            <a:solidFill>
              <a:srgbClr val="3A9E6A"/>
            </a:solidFill>
          </a:ln>
        </p:spPr>
      </p:sp>
      <p:sp>
        <p:nvSpPr>
          <p:cNvPr id="33" name="Line 33"/>
          <p:cNvSpPr/>
          <p:nvPr/>
        </p:nvSpPr>
        <p:spPr>
          <a:xfrm>
            <a:off x="7572375" y="1790700"/>
            <a:ext cx="9525" cy="209550"/>
          </a:xfrm>
          <a:custGeom>
            <a:avLst/>
            <a:gdLst/>
            <a:ahLst/>
            <a:cxnLst/>
            <a:rect l="l" t="t" r="r" b="b"/>
            <a:pathLst>
              <a:path w="952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/>
          <a:ln w="23812" cap="rnd">
            <a:solidFill>
              <a:srgbClr val="3A9E6A"/>
            </a:solidFill>
          </a:ln>
        </p:spPr>
      </p:sp>
      <p:sp>
        <p:nvSpPr>
          <p:cNvPr id="34" name="TextBox 34"/>
          <p:cNvSpPr txBox="1"/>
          <p:nvPr/>
        </p:nvSpPr>
        <p:spPr>
          <a:xfrm>
            <a:off x="7005066" y="2175510"/>
            <a:ext cx="1134618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低轨卫星通讯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615527" y="2417445"/>
            <a:ext cx="191369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星链经济 + 国防/商业双轮驱动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6864286" y="2626995"/>
            <a:ext cx="14161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RKBL · YSS · PL · ASTS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7094315" y="2836545"/>
            <a:ext cx="95612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UFO ETF 可配置</a:t>
            </a:r>
          </a:p>
        </p:txBody>
      </p:sp>
      <p:sp>
        <p:nvSpPr>
          <p:cNvPr id="38" name="Rectangle 38"/>
          <p:cNvSpPr/>
          <p:nvPr/>
        </p:nvSpPr>
        <p:spPr>
          <a:xfrm>
            <a:off x="9086850" y="1047750"/>
            <a:ext cx="2647950" cy="2476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39" name="Rectangle 39"/>
          <p:cNvSpPr/>
          <p:nvPr/>
        </p:nvSpPr>
        <p:spPr>
          <a:xfrm>
            <a:off x="9086850" y="1047750"/>
            <a:ext cx="2647950" cy="5715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40" name="Rectangle 40"/>
          <p:cNvSpPr/>
          <p:nvPr/>
        </p:nvSpPr>
        <p:spPr>
          <a:xfrm>
            <a:off x="9934575" y="1314450"/>
            <a:ext cx="952500" cy="762000"/>
          </a:xfrm>
          <a:prstGeom prst="roundRect">
            <a:avLst>
              <a:gd name="adj" fmla="val 10000"/>
            </a:avLst>
          </a:prstGeom>
          <a:solidFill>
            <a:srgbClr val="C96133">
              <a:alpha val="10000"/>
            </a:srgbClr>
          </a:solidFill>
          <a:ln>
            <a:noFill/>
          </a:ln>
        </p:spPr>
      </p:sp>
      <p:sp>
        <p:nvSpPr>
          <p:cNvPr id="41" name="Polygon 41"/>
          <p:cNvSpPr/>
          <p:nvPr/>
        </p:nvSpPr>
        <p:spPr>
          <a:xfrm>
            <a:off x="10334625" y="1409700"/>
            <a:ext cx="285750" cy="666750"/>
          </a:xfrm>
          <a:custGeom>
            <a:avLst/>
            <a:gdLst/>
            <a:ahLst/>
            <a:cxnLst/>
            <a:rect l="l" t="t" r="r" b="b"/>
            <a:pathLst>
              <a:path w="285750" h="666750">
                <a:moveTo>
                  <a:pt x="219075" y="0"/>
                </a:moveTo>
                <a:lnTo>
                  <a:pt x="0" y="333375"/>
                </a:lnTo>
                <a:lnTo>
                  <a:pt x="123825" y="333375"/>
                </a:lnTo>
                <a:lnTo>
                  <a:pt x="28575" y="666750"/>
                </a:lnTo>
                <a:lnTo>
                  <a:pt x="285750" y="285750"/>
                </a:lnTo>
                <a:lnTo>
                  <a:pt x="142875" y="285750"/>
                </a:lnTo>
                <a:close/>
              </a:path>
            </a:pathLst>
          </a:custGeom>
          <a:solidFill>
            <a:srgbClr val="C96133">
              <a:alpha val="70000"/>
            </a:srgbClr>
          </a:solidFill>
          <a:ln>
            <a:noFill/>
          </a:ln>
        </p:spPr>
      </p:sp>
      <p:sp>
        <p:nvSpPr>
          <p:cNvPr id="42" name="TextBox 42"/>
          <p:cNvSpPr txBox="1"/>
          <p:nvPr/>
        </p:nvSpPr>
        <p:spPr>
          <a:xfrm>
            <a:off x="9572747" y="2183606"/>
            <a:ext cx="167615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功率半导体/电网储能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9447076" y="2417445"/>
            <a:ext cx="192749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SiC/超导/储能 = AI 耗电物理层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9591008" y="2626995"/>
            <a:ext cx="163963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NVTS · WOLF · VSH · AMSC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9926193" y="2836545"/>
            <a:ext cx="96926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GRID ETF 最贴合</a:t>
            </a:r>
          </a:p>
        </p:txBody>
      </p:sp>
      <p:sp>
        <p:nvSpPr>
          <p:cNvPr id="46" name="Rectangle 46"/>
          <p:cNvSpPr/>
          <p:nvPr/>
        </p:nvSpPr>
        <p:spPr>
          <a:xfrm>
            <a:off x="1514475" y="3714750"/>
            <a:ext cx="2838450" cy="2476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47" name="Rectangle 47"/>
          <p:cNvSpPr/>
          <p:nvPr/>
        </p:nvSpPr>
        <p:spPr>
          <a:xfrm>
            <a:off x="1514475" y="3714750"/>
            <a:ext cx="2838450" cy="57150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48" name="Rectangle 48"/>
          <p:cNvSpPr/>
          <p:nvPr/>
        </p:nvSpPr>
        <p:spPr>
          <a:xfrm>
            <a:off x="2362200" y="3981450"/>
            <a:ext cx="952500" cy="762000"/>
          </a:xfrm>
          <a:prstGeom prst="roundRect">
            <a:avLst>
              <a:gd name="adj" fmla="val 10000"/>
            </a:avLst>
          </a:prstGeom>
          <a:solidFill>
            <a:srgbClr val="3D7DE4">
              <a:alpha val="10000"/>
            </a:srgbClr>
          </a:solidFill>
          <a:ln>
            <a:noFill/>
          </a:ln>
        </p:spPr>
      </p:sp>
      <p:sp>
        <p:nvSpPr>
          <p:cNvPr id="49" name="Rectangle 49"/>
          <p:cNvSpPr/>
          <p:nvPr/>
        </p:nvSpPr>
        <p:spPr>
          <a:xfrm>
            <a:off x="2514600" y="4114800"/>
            <a:ext cx="647700" cy="495300"/>
          </a:xfrm>
          <a:prstGeom prst="roundRect">
            <a:avLst>
              <a:gd name="adj" fmla="val 7692"/>
            </a:avLst>
          </a:prstGeom>
          <a:noFill/>
          <a:ln w="19050">
            <a:solidFill>
              <a:srgbClr val="3D7DE4"/>
            </a:solidFill>
          </a:ln>
        </p:spPr>
      </p:sp>
      <p:sp>
        <p:nvSpPr>
          <p:cNvPr id="50" name="Line 50"/>
          <p:cNvSpPr/>
          <p:nvPr/>
        </p:nvSpPr>
        <p:spPr>
          <a:xfrm>
            <a:off x="2590800" y="4248150"/>
            <a:ext cx="152400" cy="9525"/>
          </a:xfrm>
          <a:custGeom>
            <a:avLst/>
            <a:gdLst/>
            <a:ahLst/>
            <a:cxnLst/>
            <a:rect l="l" t="t" r="r" b="b"/>
            <a:pathLst>
              <a:path w="152400" h="9525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w="19050">
            <a:solidFill>
              <a:srgbClr val="3D7DE4"/>
            </a:solidFill>
          </a:ln>
        </p:spPr>
      </p:sp>
      <p:sp>
        <p:nvSpPr>
          <p:cNvPr id="51" name="Line 51"/>
          <p:cNvSpPr/>
          <p:nvPr/>
        </p:nvSpPr>
        <p:spPr>
          <a:xfrm>
            <a:off x="2590800" y="4362450"/>
            <a:ext cx="152400" cy="9525"/>
          </a:xfrm>
          <a:custGeom>
            <a:avLst/>
            <a:gdLst/>
            <a:ahLst/>
            <a:cxnLst/>
            <a:rect l="l" t="t" r="r" b="b"/>
            <a:pathLst>
              <a:path w="152400" h="9525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w="19050">
            <a:solidFill>
              <a:srgbClr val="3D7DE4"/>
            </a:solidFill>
          </a:ln>
        </p:spPr>
      </p:sp>
      <p:sp>
        <p:nvSpPr>
          <p:cNvPr id="52" name="Line 52"/>
          <p:cNvSpPr/>
          <p:nvPr/>
        </p:nvSpPr>
        <p:spPr>
          <a:xfrm>
            <a:off x="2590800" y="4476750"/>
            <a:ext cx="152400" cy="9525"/>
          </a:xfrm>
          <a:custGeom>
            <a:avLst/>
            <a:gdLst/>
            <a:ahLst/>
            <a:cxnLst/>
            <a:rect l="l" t="t" r="r" b="b"/>
            <a:pathLst>
              <a:path w="152400" h="9525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w="19050">
            <a:solidFill>
              <a:srgbClr val="3D7DE4"/>
            </a:solidFill>
          </a:ln>
        </p:spPr>
      </p:sp>
      <p:sp>
        <p:nvSpPr>
          <p:cNvPr id="53" name="TextBox 53"/>
          <p:cNvSpPr txBox="1"/>
          <p:nvPr/>
        </p:nvSpPr>
        <p:spPr>
          <a:xfrm>
            <a:off x="2315587" y="4850606"/>
            <a:ext cx="123622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半导体封装测试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2035509" y="5084445"/>
            <a:ext cx="179638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先进封装+测试 = AI 算力瓶颈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2107311" y="5293995"/>
            <a:ext cx="165277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AMKR · COHU · AEHR · INTC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2199323" y="5503545"/>
            <a:ext cx="146875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华为「韬定律」驱动需求</a:t>
            </a:r>
          </a:p>
        </p:txBody>
      </p:sp>
      <p:sp>
        <p:nvSpPr>
          <p:cNvPr id="57" name="Rectangle 57"/>
          <p:cNvSpPr/>
          <p:nvPr/>
        </p:nvSpPr>
        <p:spPr>
          <a:xfrm>
            <a:off x="4676775" y="3714750"/>
            <a:ext cx="2838450" cy="2476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58" name="Rectangle 58"/>
          <p:cNvSpPr/>
          <p:nvPr/>
        </p:nvSpPr>
        <p:spPr>
          <a:xfrm>
            <a:off x="4676775" y="3714750"/>
            <a:ext cx="2838450" cy="57150"/>
          </a:xfrm>
          <a:prstGeom prst="roundRect">
            <a:avLst>
              <a:gd name="adj" fmla="val 50000"/>
            </a:avLst>
          </a:prstGeom>
          <a:solidFill>
            <a:srgbClr val="3A9E6A"/>
          </a:solidFill>
          <a:ln>
            <a:noFill/>
          </a:ln>
        </p:spPr>
      </p:sp>
      <p:sp>
        <p:nvSpPr>
          <p:cNvPr id="59" name="Rectangle 59"/>
          <p:cNvSpPr/>
          <p:nvPr/>
        </p:nvSpPr>
        <p:spPr>
          <a:xfrm>
            <a:off x="5524500" y="3981450"/>
            <a:ext cx="952500" cy="762000"/>
          </a:xfrm>
          <a:prstGeom prst="roundRect">
            <a:avLst>
              <a:gd name="adj" fmla="val 10000"/>
            </a:avLst>
          </a:prstGeom>
          <a:solidFill>
            <a:srgbClr val="3A9E6A">
              <a:alpha val="10000"/>
            </a:srgbClr>
          </a:solidFill>
          <a:ln>
            <a:noFill/>
          </a:ln>
        </p:spPr>
      </p:sp>
      <p:sp>
        <p:nvSpPr>
          <p:cNvPr id="60" name="Polygon 60"/>
          <p:cNvSpPr/>
          <p:nvPr/>
        </p:nvSpPr>
        <p:spPr>
          <a:xfrm>
            <a:off x="5810250" y="407670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190500" y="0"/>
                </a:moveTo>
                <a:lnTo>
                  <a:pt x="381000" y="257175"/>
                </a:lnTo>
                <a:lnTo>
                  <a:pt x="190500" y="381000"/>
                </a:lnTo>
                <a:lnTo>
                  <a:pt x="0" y="257175"/>
                </a:lnTo>
                <a:close/>
              </a:path>
            </a:pathLst>
          </a:custGeom>
          <a:noFill/>
          <a:ln w="23812">
            <a:solidFill>
              <a:srgbClr val="3A9E6A"/>
            </a:solidFill>
          </a:ln>
        </p:spPr>
      </p:sp>
      <p:sp>
        <p:nvSpPr>
          <p:cNvPr id="61" name="Polygon 61"/>
          <p:cNvSpPr/>
          <p:nvPr/>
        </p:nvSpPr>
        <p:spPr>
          <a:xfrm>
            <a:off x="5857875" y="4191000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875" y="0"/>
                </a:moveTo>
                <a:lnTo>
                  <a:pt x="285750" y="190500"/>
                </a:lnTo>
                <a:lnTo>
                  <a:pt x="142875" y="285750"/>
                </a:lnTo>
                <a:lnTo>
                  <a:pt x="0" y="190500"/>
                </a:lnTo>
                <a:close/>
              </a:path>
            </a:pathLst>
          </a:custGeom>
          <a:solidFill>
            <a:srgbClr val="3A9E6A">
              <a:alpha val="30000"/>
            </a:srgbClr>
          </a:solidFill>
          <a:ln>
            <a:noFill/>
          </a:ln>
        </p:spPr>
      </p:sp>
      <p:sp>
        <p:nvSpPr>
          <p:cNvPr id="62" name="TextBox 62"/>
          <p:cNvSpPr txBox="1"/>
          <p:nvPr/>
        </p:nvSpPr>
        <p:spPr>
          <a:xfrm>
            <a:off x="5664803" y="4826318"/>
            <a:ext cx="86239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矿产资源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5111548" y="5084445"/>
            <a:ext cx="196890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关键矿产/稀土/铀（去中国化）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5289328" y="5293995"/>
            <a:ext cx="161334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ALOY · UUUU · ABAT · ALM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5414200" y="5503545"/>
            <a:ext cx="136359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REMX ETF 覆盖稀土/锂</a:t>
            </a:r>
          </a:p>
        </p:txBody>
      </p:sp>
      <p:sp>
        <p:nvSpPr>
          <p:cNvPr id="66" name="Rectangle 66"/>
          <p:cNvSpPr/>
          <p:nvPr/>
        </p:nvSpPr>
        <p:spPr>
          <a:xfrm>
            <a:off x="7839075" y="3714750"/>
            <a:ext cx="2838450" cy="2476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67" name="Rectangle 67"/>
          <p:cNvSpPr/>
          <p:nvPr/>
        </p:nvSpPr>
        <p:spPr>
          <a:xfrm>
            <a:off x="7839075" y="3714750"/>
            <a:ext cx="2838450" cy="57150"/>
          </a:xfrm>
          <a:prstGeom prst="roundRect">
            <a:avLst>
              <a:gd name="adj" fmla="val 50000"/>
            </a:avLst>
          </a:prstGeom>
          <a:solidFill>
            <a:srgbClr val="9E9E9E"/>
          </a:solidFill>
          <a:ln>
            <a:noFill/>
          </a:ln>
        </p:spPr>
      </p:sp>
      <p:sp>
        <p:nvSpPr>
          <p:cNvPr id="68" name="Rectangle 68"/>
          <p:cNvSpPr/>
          <p:nvPr/>
        </p:nvSpPr>
        <p:spPr>
          <a:xfrm>
            <a:off x="8686800" y="3981450"/>
            <a:ext cx="952500" cy="762000"/>
          </a:xfrm>
          <a:prstGeom prst="roundRect">
            <a:avLst>
              <a:gd name="adj" fmla="val 10000"/>
            </a:avLst>
          </a:prstGeom>
          <a:solidFill>
            <a:srgbClr val="9E9E9E">
              <a:alpha val="10000"/>
            </a:srgbClr>
          </a:solidFill>
          <a:ln>
            <a:noFill/>
          </a:ln>
        </p:spPr>
      </p:sp>
      <p:sp>
        <p:nvSpPr>
          <p:cNvPr id="69" name="Rectangle 69"/>
          <p:cNvSpPr/>
          <p:nvPr/>
        </p:nvSpPr>
        <p:spPr>
          <a:xfrm>
            <a:off x="8877300" y="4171950"/>
            <a:ext cx="571500" cy="476250"/>
          </a:xfrm>
          <a:prstGeom prst="roundRect">
            <a:avLst>
              <a:gd name="adj" fmla="val 6000"/>
            </a:avLst>
          </a:prstGeom>
          <a:noFill/>
          <a:ln w="23812">
            <a:solidFill>
              <a:srgbClr val="9E9E9E"/>
            </a:solidFill>
          </a:ln>
        </p:spPr>
      </p:sp>
      <p:sp>
        <p:nvSpPr>
          <p:cNvPr id="70" name="Rectangle 70"/>
          <p:cNvSpPr/>
          <p:nvPr/>
        </p:nvSpPr>
        <p:spPr>
          <a:xfrm>
            <a:off x="8943975" y="4229100"/>
            <a:ext cx="95250" cy="114300"/>
          </a:xfrm>
          <a:prstGeom prst="roundRect">
            <a:avLst>
              <a:gd name="adj" fmla="val 10000"/>
            </a:avLst>
          </a:prstGeom>
          <a:solidFill>
            <a:srgbClr val="9E9E9E">
              <a:alpha val="60000"/>
            </a:srgbClr>
          </a:solidFill>
          <a:ln>
            <a:noFill/>
          </a:ln>
        </p:spPr>
      </p:sp>
      <p:sp>
        <p:nvSpPr>
          <p:cNvPr id="71" name="Rectangle 71"/>
          <p:cNvSpPr/>
          <p:nvPr/>
        </p:nvSpPr>
        <p:spPr>
          <a:xfrm>
            <a:off x="9115425" y="4229100"/>
            <a:ext cx="95250" cy="114300"/>
          </a:xfrm>
          <a:prstGeom prst="roundRect">
            <a:avLst>
              <a:gd name="adj" fmla="val 10000"/>
            </a:avLst>
          </a:prstGeom>
          <a:solidFill>
            <a:srgbClr val="9E9E9E">
              <a:alpha val="60000"/>
            </a:srgbClr>
          </a:solidFill>
          <a:ln>
            <a:noFill/>
          </a:ln>
        </p:spPr>
      </p:sp>
      <p:sp>
        <p:nvSpPr>
          <p:cNvPr id="72" name="Rectangle 72"/>
          <p:cNvSpPr/>
          <p:nvPr/>
        </p:nvSpPr>
        <p:spPr>
          <a:xfrm>
            <a:off x="9029700" y="4457700"/>
            <a:ext cx="114300" cy="171450"/>
          </a:xfrm>
          <a:prstGeom prst="roundRect">
            <a:avLst>
              <a:gd name="adj" fmla="val 8333"/>
            </a:avLst>
          </a:prstGeom>
          <a:solidFill>
            <a:srgbClr val="9E9E9E">
              <a:alpha val="80000"/>
            </a:srgbClr>
          </a:solidFill>
          <a:ln>
            <a:noFill/>
          </a:ln>
        </p:spPr>
      </p:sp>
      <p:sp>
        <p:nvSpPr>
          <p:cNvPr id="73" name="TextBox 73"/>
          <p:cNvSpPr txBox="1"/>
          <p:nvPr/>
        </p:nvSpPr>
        <p:spPr>
          <a:xfrm>
            <a:off x="8967026" y="4842510"/>
            <a:ext cx="582549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房地产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8660297" y="5084445"/>
            <a:ext cx="119600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Chen 新增价值赛道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8691515" y="5293995"/>
            <a:ext cx="113357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OPEN · COMP 个股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8523922" y="5503545"/>
            <a:ext cx="146875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降息扭亏 PropTech 逻辑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11283934" y="6554152"/>
            <a:ext cx="54040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06 / 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285750"/>
            <a:ext cx="57150" cy="3429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50570" y="293370"/>
            <a:ext cx="2637282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九大翻倍股特征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6762" y="678656"/>
            <a:ext cx="437447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赛道景气 × 基本面拐点 × 催化剂 — 识别翻倍候选股九大信号</a:t>
            </a:r>
          </a:p>
        </p:txBody>
      </p:sp>
      <p:sp>
        <p:nvSpPr>
          <p:cNvPr id="7" name="Rectangle 7"/>
          <p:cNvSpPr/>
          <p:nvPr/>
        </p:nvSpPr>
        <p:spPr>
          <a:xfrm>
            <a:off x="571500" y="1009650"/>
            <a:ext cx="3581400" cy="1666875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8" name="Rectangle 8"/>
          <p:cNvSpPr/>
          <p:nvPr/>
        </p:nvSpPr>
        <p:spPr>
          <a:xfrm>
            <a:off x="571500" y="1009650"/>
            <a:ext cx="3581400" cy="47625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9" name="Ellipse 9"/>
          <p:cNvSpPr/>
          <p:nvPr/>
        </p:nvSpPr>
        <p:spPr>
          <a:xfrm>
            <a:off x="762000" y="1295400"/>
            <a:ext cx="533400" cy="533400"/>
          </a:xfrm>
          <a:prstGeom prst="ellipse">
            <a:avLst/>
          </a:prstGeom>
          <a:solidFill>
            <a:srgbClr val="C96133">
              <a:alpha val="12000"/>
            </a:srgbClr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938161" y="1450658"/>
            <a:ext cx="18107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▲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584008" y="1272064"/>
            <a:ext cx="1205532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基本面高增长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587818" y="1513999"/>
            <a:ext cx="107139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营收利润双高速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587818" y="1704499"/>
            <a:ext cx="176203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年增速&gt;50%，主营业务驱动</a:t>
            </a:r>
          </a:p>
        </p:txBody>
      </p:sp>
      <p:sp>
        <p:nvSpPr>
          <p:cNvPr id="14" name="Rectangle 14"/>
          <p:cNvSpPr/>
          <p:nvPr/>
        </p:nvSpPr>
        <p:spPr>
          <a:xfrm>
            <a:off x="723900" y="2228850"/>
            <a:ext cx="3276600" cy="304800"/>
          </a:xfrm>
          <a:prstGeom prst="roundRect">
            <a:avLst>
              <a:gd name="adj" fmla="val 18750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1976021" y="2323624"/>
            <a:ext cx="77235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核心硬指标</a:t>
            </a:r>
          </a:p>
        </p:txBody>
      </p:sp>
      <p:sp>
        <p:nvSpPr>
          <p:cNvPr id="16" name="Rectangle 16"/>
          <p:cNvSpPr/>
          <p:nvPr/>
        </p:nvSpPr>
        <p:spPr>
          <a:xfrm>
            <a:off x="4343400" y="1009650"/>
            <a:ext cx="3581400" cy="1666875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17" name="Rectangle 17"/>
          <p:cNvSpPr/>
          <p:nvPr/>
        </p:nvSpPr>
        <p:spPr>
          <a:xfrm>
            <a:off x="4343400" y="1009650"/>
            <a:ext cx="3581400" cy="47625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18" name="Ellipse 18"/>
          <p:cNvSpPr/>
          <p:nvPr/>
        </p:nvSpPr>
        <p:spPr>
          <a:xfrm>
            <a:off x="4533900" y="1295400"/>
            <a:ext cx="533400" cy="533400"/>
          </a:xfrm>
          <a:prstGeom prst="ellipse">
            <a:avLst/>
          </a:prstGeom>
          <a:solidFill>
            <a:srgbClr val="3D7DE4">
              <a:alpha val="12000"/>
            </a:srgbClr>
          </a:solidFill>
          <a:ln>
            <a:noFill/>
          </a:ln>
        </p:spPr>
      </p:sp>
      <p:sp>
        <p:nvSpPr>
          <p:cNvPr id="19" name="Polyline 19"/>
          <p:cNvSpPr/>
          <p:nvPr/>
        </p:nvSpPr>
        <p:spPr>
          <a:xfrm>
            <a:off x="4667250" y="1447800"/>
            <a:ext cx="285750" cy="247650"/>
          </a:xfrm>
          <a:custGeom>
            <a:avLst/>
            <a:gdLst/>
            <a:ahLst/>
            <a:cxnLst/>
            <a:rect l="l" t="t" r="r" b="b"/>
            <a:pathLst>
              <a:path w="285750" h="247650">
                <a:moveTo>
                  <a:pt x="0" y="247650"/>
                </a:moveTo>
                <a:lnTo>
                  <a:pt x="95250" y="152400"/>
                </a:lnTo>
                <a:lnTo>
                  <a:pt x="190500" y="190500"/>
                </a:lnTo>
                <a:lnTo>
                  <a:pt x="285750" y="0"/>
                </a:lnTo>
              </a:path>
            </a:pathLst>
          </a:custGeom>
          <a:noFill/>
          <a:ln w="23812" cap="rnd">
            <a:solidFill>
              <a:srgbClr val="3D7DE4"/>
            </a:solidFill>
            <a:round/>
          </a:ln>
        </p:spPr>
      </p:sp>
      <p:sp>
        <p:nvSpPr>
          <p:cNvPr id="20" name="Polygon 20"/>
          <p:cNvSpPr/>
          <p:nvPr/>
        </p:nvSpPr>
        <p:spPr>
          <a:xfrm>
            <a:off x="4914900" y="14097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76200" h="114300">
                <a:moveTo>
                  <a:pt x="0" y="0"/>
                </a:moveTo>
                <a:lnTo>
                  <a:pt x="76200" y="38100"/>
                </a:lnTo>
                <a:lnTo>
                  <a:pt x="19050" y="114300"/>
                </a:lnTo>
                <a:close/>
              </a:path>
            </a:pathLst>
          </a:custGeom>
          <a:solidFill>
            <a:srgbClr val="3D7DE4"/>
          </a:solidFill>
          <a:ln>
            <a:noFill/>
          </a:ln>
        </p:spPr>
      </p:sp>
      <p:sp>
        <p:nvSpPr>
          <p:cNvPr id="21" name="TextBox 21"/>
          <p:cNvSpPr txBox="1"/>
          <p:nvPr/>
        </p:nvSpPr>
        <p:spPr>
          <a:xfrm>
            <a:off x="5355908" y="1272064"/>
            <a:ext cx="1205532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扭亏转盈拐点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359718" y="1513999"/>
            <a:ext cx="160218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亏损→盈利的历史性拐点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359718" y="1704499"/>
            <a:ext cx="144875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业绩反转是最强催化剂</a:t>
            </a:r>
          </a:p>
        </p:txBody>
      </p:sp>
      <p:sp>
        <p:nvSpPr>
          <p:cNvPr id="24" name="Rectangle 24"/>
          <p:cNvSpPr/>
          <p:nvPr/>
        </p:nvSpPr>
        <p:spPr>
          <a:xfrm>
            <a:off x="4495800" y="2228850"/>
            <a:ext cx="3276600" cy="304800"/>
          </a:xfrm>
          <a:prstGeom prst="roundRect">
            <a:avLst>
              <a:gd name="adj" fmla="val 18750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25" name="TextBox 25"/>
          <p:cNvSpPr txBox="1"/>
          <p:nvPr/>
        </p:nvSpPr>
        <p:spPr>
          <a:xfrm>
            <a:off x="5288151" y="2323624"/>
            <a:ext cx="169189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机构情绪滞后 = 机会窗口</a:t>
            </a:r>
          </a:p>
        </p:txBody>
      </p:sp>
      <p:sp>
        <p:nvSpPr>
          <p:cNvPr id="26" name="Rectangle 26"/>
          <p:cNvSpPr/>
          <p:nvPr/>
        </p:nvSpPr>
        <p:spPr>
          <a:xfrm>
            <a:off x="8115300" y="1009650"/>
            <a:ext cx="3581400" cy="1666875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27" name="Rectangle 27"/>
          <p:cNvSpPr/>
          <p:nvPr/>
        </p:nvSpPr>
        <p:spPr>
          <a:xfrm>
            <a:off x="8115300" y="1009650"/>
            <a:ext cx="3581400" cy="47625"/>
          </a:xfrm>
          <a:prstGeom prst="roundRect">
            <a:avLst>
              <a:gd name="adj" fmla="val 50000"/>
            </a:avLst>
          </a:prstGeom>
          <a:solidFill>
            <a:srgbClr val="3A9E6A"/>
          </a:solidFill>
          <a:ln>
            <a:noFill/>
          </a:ln>
        </p:spPr>
      </p:sp>
      <p:sp>
        <p:nvSpPr>
          <p:cNvPr id="28" name="Ellipse 28"/>
          <p:cNvSpPr/>
          <p:nvPr/>
        </p:nvSpPr>
        <p:spPr>
          <a:xfrm>
            <a:off x="8305800" y="1295400"/>
            <a:ext cx="533400" cy="533400"/>
          </a:xfrm>
          <a:prstGeom prst="ellipse">
            <a:avLst/>
          </a:prstGeom>
          <a:solidFill>
            <a:srgbClr val="3A9E6A">
              <a:alpha val="12000"/>
            </a:srgbClr>
          </a:solidFill>
          <a:ln>
            <a:noFill/>
          </a:ln>
        </p:spPr>
      </p:sp>
      <p:sp>
        <p:nvSpPr>
          <p:cNvPr id="29" name="Freeform 29"/>
          <p:cNvSpPr/>
          <p:nvPr/>
        </p:nvSpPr>
        <p:spPr>
          <a:xfrm>
            <a:off x="8439150" y="1428750"/>
            <a:ext cx="266700" cy="266700"/>
          </a:xfrm>
          <a:custGeom>
            <a:avLst/>
            <a:gdLst/>
            <a:ahLst/>
            <a:cxnLst/>
            <a:rect l="l" t="t" r="r" b="b"/>
            <a:pathLst>
              <a:path w="266700" h="266700">
                <a:moveTo>
                  <a:pt x="0" y="133350"/>
                </a:moveTo>
                <a:cubicBezTo>
                  <a:pt x="0" y="59703"/>
                  <a:pt x="59703" y="0"/>
                  <a:pt x="133350" y="0"/>
                </a:cubicBezTo>
                <a:cubicBezTo>
                  <a:pt x="206997" y="0"/>
                  <a:pt x="266700" y="59703"/>
                  <a:pt x="266700" y="133350"/>
                </a:cubicBezTo>
                <a:cubicBezTo>
                  <a:pt x="266700" y="206997"/>
                  <a:pt x="206997" y="266700"/>
                  <a:pt x="133350" y="266700"/>
                </a:cubicBezTo>
              </a:path>
            </a:pathLst>
          </a:custGeom>
          <a:noFill/>
          <a:ln w="23812" cap="rnd">
            <a:solidFill>
              <a:srgbClr val="3A9E6A"/>
            </a:solidFill>
          </a:ln>
        </p:spPr>
      </p:sp>
      <p:sp>
        <p:nvSpPr>
          <p:cNvPr id="30" name="Polygon 30"/>
          <p:cNvSpPr/>
          <p:nvPr/>
        </p:nvSpPr>
        <p:spPr>
          <a:xfrm>
            <a:off x="8534400" y="1619250"/>
            <a:ext cx="95250" cy="76200"/>
          </a:xfrm>
          <a:custGeom>
            <a:avLst/>
            <a:gdLst/>
            <a:ahLst/>
            <a:cxnLst/>
            <a:rect l="l" t="t" r="r" b="b"/>
            <a:pathLst>
              <a:path w="95250" h="76200">
                <a:moveTo>
                  <a:pt x="38100" y="76200"/>
                </a:moveTo>
                <a:lnTo>
                  <a:pt x="95250" y="0"/>
                </a:lnTo>
                <a:lnTo>
                  <a:pt x="0" y="0"/>
                </a:lnTo>
                <a:close/>
              </a:path>
            </a:pathLst>
          </a:custGeom>
          <a:solidFill>
            <a:srgbClr val="3A9E6A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9127808" y="1272064"/>
            <a:ext cx="814483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企业转型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9131618" y="1513999"/>
            <a:ext cx="122091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战略方向重大转变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9131618" y="1704499"/>
            <a:ext cx="15911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新业务营收占比持续提升</a:t>
            </a:r>
          </a:p>
        </p:txBody>
      </p:sp>
      <p:sp>
        <p:nvSpPr>
          <p:cNvPr id="34" name="Rectangle 34"/>
          <p:cNvSpPr/>
          <p:nvPr/>
        </p:nvSpPr>
        <p:spPr>
          <a:xfrm>
            <a:off x="8267700" y="2228850"/>
            <a:ext cx="3276600" cy="304800"/>
          </a:xfrm>
          <a:prstGeom prst="roundRect">
            <a:avLst>
              <a:gd name="adj" fmla="val 18750"/>
            </a:avLst>
          </a:prstGeom>
          <a:solidFill>
            <a:srgbClr val="EBF7F1"/>
          </a:solidFill>
          <a:ln>
            <a:noFill/>
          </a:ln>
        </p:spPr>
      </p:sp>
      <p:sp>
        <p:nvSpPr>
          <p:cNvPr id="35" name="TextBox 35"/>
          <p:cNvSpPr txBox="1"/>
          <p:nvPr/>
        </p:nvSpPr>
        <p:spPr>
          <a:xfrm>
            <a:off x="8615233" y="2323624"/>
            <a:ext cx="258153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旧业务+新题材（案例：NOK 通信→AI）</a:t>
            </a:r>
          </a:p>
        </p:txBody>
      </p:sp>
      <p:sp>
        <p:nvSpPr>
          <p:cNvPr id="36" name="Rectangle 36"/>
          <p:cNvSpPr/>
          <p:nvPr/>
        </p:nvSpPr>
        <p:spPr>
          <a:xfrm>
            <a:off x="571500" y="2847975"/>
            <a:ext cx="3581400" cy="1666875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37" name="Rectangle 37"/>
          <p:cNvSpPr/>
          <p:nvPr/>
        </p:nvSpPr>
        <p:spPr>
          <a:xfrm>
            <a:off x="571500" y="2847975"/>
            <a:ext cx="3581400" cy="47625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38" name="Ellipse 38"/>
          <p:cNvSpPr/>
          <p:nvPr/>
        </p:nvSpPr>
        <p:spPr>
          <a:xfrm>
            <a:off x="762000" y="3133725"/>
            <a:ext cx="533400" cy="533400"/>
          </a:xfrm>
          <a:prstGeom prst="ellipse">
            <a:avLst/>
          </a:prstGeom>
          <a:solidFill>
            <a:srgbClr val="C96133">
              <a:alpha val="12000"/>
            </a:srgbClr>
          </a:solidFill>
          <a:ln>
            <a:noFill/>
          </a:ln>
        </p:spPr>
      </p:sp>
      <p:sp>
        <p:nvSpPr>
          <p:cNvPr id="39" name="Rectangle 39"/>
          <p:cNvSpPr/>
          <p:nvPr/>
        </p:nvSpPr>
        <p:spPr>
          <a:xfrm>
            <a:off x="885825" y="3267075"/>
            <a:ext cx="209550" cy="266700"/>
          </a:xfrm>
          <a:prstGeom prst="roundRect">
            <a:avLst>
              <a:gd name="adj" fmla="val 9091"/>
            </a:avLst>
          </a:prstGeom>
          <a:noFill/>
          <a:ln w="19050">
            <a:solidFill>
              <a:srgbClr val="C96133"/>
            </a:solidFill>
          </a:ln>
        </p:spPr>
      </p:sp>
      <p:sp>
        <p:nvSpPr>
          <p:cNvPr id="40" name="Line 40"/>
          <p:cNvSpPr/>
          <p:nvPr/>
        </p:nvSpPr>
        <p:spPr>
          <a:xfrm>
            <a:off x="923925" y="3352800"/>
            <a:ext cx="133350" cy="9525"/>
          </a:xfrm>
          <a:custGeom>
            <a:avLst/>
            <a:gdLst/>
            <a:ahLst/>
            <a:cxnLst/>
            <a:rect l="l" t="t" r="r" b="b"/>
            <a:pathLst>
              <a:path w="133350" h="9525">
                <a:moveTo>
                  <a:pt x="0" y="0"/>
                </a:moveTo>
                <a:lnTo>
                  <a:pt x="133350" y="0"/>
                </a:lnTo>
              </a:path>
            </a:pathLst>
          </a:custGeom>
          <a:noFill/>
          <a:ln w="14288">
            <a:solidFill>
              <a:srgbClr val="C96133"/>
            </a:solidFill>
          </a:ln>
        </p:spPr>
      </p:sp>
      <p:sp>
        <p:nvSpPr>
          <p:cNvPr id="41" name="Line 41"/>
          <p:cNvSpPr/>
          <p:nvPr/>
        </p:nvSpPr>
        <p:spPr>
          <a:xfrm>
            <a:off x="923925" y="3409950"/>
            <a:ext cx="133350" cy="9525"/>
          </a:xfrm>
          <a:custGeom>
            <a:avLst/>
            <a:gdLst/>
            <a:ahLst/>
            <a:cxnLst/>
            <a:rect l="l" t="t" r="r" b="b"/>
            <a:pathLst>
              <a:path w="133350" h="9525">
                <a:moveTo>
                  <a:pt x="0" y="0"/>
                </a:moveTo>
                <a:lnTo>
                  <a:pt x="133350" y="0"/>
                </a:lnTo>
              </a:path>
            </a:pathLst>
          </a:custGeom>
          <a:noFill/>
          <a:ln w="14288">
            <a:solidFill>
              <a:srgbClr val="C96133"/>
            </a:solidFill>
          </a:ln>
        </p:spPr>
      </p:sp>
      <p:sp>
        <p:nvSpPr>
          <p:cNvPr id="42" name="Line 42"/>
          <p:cNvSpPr/>
          <p:nvPr/>
        </p:nvSpPr>
        <p:spPr>
          <a:xfrm>
            <a:off x="923925" y="3467100"/>
            <a:ext cx="95250" cy="9525"/>
          </a:xfrm>
          <a:custGeom>
            <a:avLst/>
            <a:gdLst/>
            <a:ahLst/>
            <a:cxnLst/>
            <a:rect l="l" t="t" r="r" b="b"/>
            <a:pathLst>
              <a:path w="95250" h="9525">
                <a:moveTo>
                  <a:pt x="0" y="0"/>
                </a:moveTo>
                <a:lnTo>
                  <a:pt x="95250" y="0"/>
                </a:lnTo>
              </a:path>
            </a:pathLst>
          </a:custGeom>
          <a:noFill/>
          <a:ln w="14288">
            <a:solidFill>
              <a:srgbClr val="C96133"/>
            </a:solidFill>
          </a:ln>
        </p:spPr>
      </p:sp>
      <p:sp>
        <p:nvSpPr>
          <p:cNvPr id="43" name="TextBox 43"/>
          <p:cNvSpPr txBox="1"/>
          <p:nvPr/>
        </p:nvSpPr>
        <p:spPr>
          <a:xfrm>
            <a:off x="1584008" y="3110389"/>
            <a:ext cx="1205532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获得大量订单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587818" y="3352324"/>
            <a:ext cx="130315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订单储备&gt;当年营收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587818" y="3542824"/>
            <a:ext cx="173355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收入可见度高，业绩有保障</a:t>
            </a:r>
          </a:p>
        </p:txBody>
      </p:sp>
      <p:sp>
        <p:nvSpPr>
          <p:cNvPr id="46" name="Rectangle 46"/>
          <p:cNvSpPr/>
          <p:nvPr/>
        </p:nvSpPr>
        <p:spPr>
          <a:xfrm>
            <a:off x="723900" y="4067175"/>
            <a:ext cx="3276600" cy="304800"/>
          </a:xfrm>
          <a:prstGeom prst="roundRect">
            <a:avLst>
              <a:gd name="adj" fmla="val 18750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47" name="TextBox 47"/>
          <p:cNvSpPr txBox="1"/>
          <p:nvPr/>
        </p:nvSpPr>
        <p:spPr>
          <a:xfrm>
            <a:off x="1355518" y="4161949"/>
            <a:ext cx="201336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积压订单 &gt; 当年营收 = 强信号</a:t>
            </a:r>
          </a:p>
        </p:txBody>
      </p:sp>
      <p:sp>
        <p:nvSpPr>
          <p:cNvPr id="48" name="Rectangle 48"/>
          <p:cNvSpPr/>
          <p:nvPr/>
        </p:nvSpPr>
        <p:spPr>
          <a:xfrm>
            <a:off x="4343400" y="2847975"/>
            <a:ext cx="3581400" cy="1666875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49" name="Rectangle 49"/>
          <p:cNvSpPr/>
          <p:nvPr/>
        </p:nvSpPr>
        <p:spPr>
          <a:xfrm>
            <a:off x="4343400" y="2847975"/>
            <a:ext cx="3581400" cy="47625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50" name="Ellipse 50"/>
          <p:cNvSpPr/>
          <p:nvPr/>
        </p:nvSpPr>
        <p:spPr>
          <a:xfrm>
            <a:off x="4533900" y="3133725"/>
            <a:ext cx="533400" cy="533400"/>
          </a:xfrm>
          <a:prstGeom prst="ellipse">
            <a:avLst/>
          </a:prstGeom>
          <a:solidFill>
            <a:srgbClr val="3D7DE4">
              <a:alpha val="12000"/>
            </a:srgbClr>
          </a:solidFill>
          <a:ln>
            <a:noFill/>
          </a:ln>
        </p:spPr>
      </p:sp>
      <p:sp>
        <p:nvSpPr>
          <p:cNvPr id="51" name="Polygon 51"/>
          <p:cNvSpPr/>
          <p:nvPr/>
        </p:nvSpPr>
        <p:spPr>
          <a:xfrm>
            <a:off x="4686300" y="3171825"/>
            <a:ext cx="228600" cy="361950"/>
          </a:xfrm>
          <a:custGeom>
            <a:avLst/>
            <a:gdLst/>
            <a:ahLst/>
            <a:cxnLst/>
            <a:rect l="l" t="t" r="r" b="b"/>
            <a:pathLst>
              <a:path w="228600" h="361950">
                <a:moveTo>
                  <a:pt x="114300" y="0"/>
                </a:moveTo>
                <a:lnTo>
                  <a:pt x="228600" y="180975"/>
                </a:lnTo>
                <a:lnTo>
                  <a:pt x="114300" y="361950"/>
                </a:lnTo>
                <a:lnTo>
                  <a:pt x="0" y="180975"/>
                </a:lnTo>
                <a:close/>
              </a:path>
            </a:pathLst>
          </a:custGeom>
          <a:noFill/>
          <a:ln w="23812">
            <a:solidFill>
              <a:srgbClr val="3D7DE4"/>
            </a:solidFill>
            <a:round/>
          </a:ln>
        </p:spPr>
      </p:sp>
      <p:sp>
        <p:nvSpPr>
          <p:cNvPr id="52" name="TextBox 52"/>
          <p:cNvSpPr txBox="1"/>
          <p:nvPr/>
        </p:nvSpPr>
        <p:spPr>
          <a:xfrm>
            <a:off x="5355908" y="3110389"/>
            <a:ext cx="101000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高端新材料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5359718" y="3352324"/>
            <a:ext cx="130315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国产替代/全球稀缺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5359718" y="3542824"/>
            <a:ext cx="173355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定价权在供给端，护城河深</a:t>
            </a:r>
          </a:p>
        </p:txBody>
      </p:sp>
      <p:sp>
        <p:nvSpPr>
          <p:cNvPr id="55" name="Rectangle 55"/>
          <p:cNvSpPr/>
          <p:nvPr/>
        </p:nvSpPr>
        <p:spPr>
          <a:xfrm>
            <a:off x="4495800" y="4067175"/>
            <a:ext cx="3276600" cy="304800"/>
          </a:xfrm>
          <a:prstGeom prst="roundRect">
            <a:avLst>
              <a:gd name="adj" fmla="val 18750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56" name="TextBox 56"/>
          <p:cNvSpPr txBox="1"/>
          <p:nvPr/>
        </p:nvSpPr>
        <p:spPr>
          <a:xfrm>
            <a:off x="5747921" y="4161949"/>
            <a:ext cx="77235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技术壁垒型</a:t>
            </a:r>
          </a:p>
        </p:txBody>
      </p:sp>
      <p:sp>
        <p:nvSpPr>
          <p:cNvPr id="57" name="Rectangle 57"/>
          <p:cNvSpPr/>
          <p:nvPr/>
        </p:nvSpPr>
        <p:spPr>
          <a:xfrm>
            <a:off x="8115300" y="2847975"/>
            <a:ext cx="3581400" cy="1666875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58" name="Rectangle 58"/>
          <p:cNvSpPr/>
          <p:nvPr/>
        </p:nvSpPr>
        <p:spPr>
          <a:xfrm>
            <a:off x="8115300" y="2847975"/>
            <a:ext cx="3581400" cy="47625"/>
          </a:xfrm>
          <a:prstGeom prst="roundRect">
            <a:avLst>
              <a:gd name="adj" fmla="val 50000"/>
            </a:avLst>
          </a:prstGeom>
          <a:solidFill>
            <a:srgbClr val="3A9E6A"/>
          </a:solidFill>
          <a:ln>
            <a:noFill/>
          </a:ln>
        </p:spPr>
      </p:sp>
      <p:sp>
        <p:nvSpPr>
          <p:cNvPr id="59" name="Ellipse 59"/>
          <p:cNvSpPr/>
          <p:nvPr/>
        </p:nvSpPr>
        <p:spPr>
          <a:xfrm>
            <a:off x="8305800" y="3133725"/>
            <a:ext cx="533400" cy="533400"/>
          </a:xfrm>
          <a:prstGeom prst="ellipse">
            <a:avLst/>
          </a:prstGeom>
          <a:solidFill>
            <a:srgbClr val="3A9E6A">
              <a:alpha val="12000"/>
            </a:srgbClr>
          </a:solidFill>
          <a:ln>
            <a:noFill/>
          </a:ln>
        </p:spPr>
      </p:sp>
      <p:sp>
        <p:nvSpPr>
          <p:cNvPr id="60" name="Rectangle 60"/>
          <p:cNvSpPr/>
          <p:nvPr/>
        </p:nvSpPr>
        <p:spPr>
          <a:xfrm>
            <a:off x="8439150" y="3276600"/>
            <a:ext cx="266700" cy="76200"/>
          </a:xfrm>
          <a:prstGeom prst="roundRect">
            <a:avLst>
              <a:gd name="adj" fmla="val 25000"/>
            </a:avLst>
          </a:prstGeom>
          <a:solidFill>
            <a:srgbClr val="3A9E6A">
              <a:alpha val="70000"/>
            </a:srgbClr>
          </a:solidFill>
          <a:ln>
            <a:noFill/>
          </a:ln>
        </p:spPr>
      </p:sp>
      <p:sp>
        <p:nvSpPr>
          <p:cNvPr id="61" name="Rectangle 61"/>
          <p:cNvSpPr/>
          <p:nvPr/>
        </p:nvSpPr>
        <p:spPr>
          <a:xfrm>
            <a:off x="8439150" y="3381375"/>
            <a:ext cx="266700" cy="76200"/>
          </a:xfrm>
          <a:prstGeom prst="roundRect">
            <a:avLst>
              <a:gd name="adj" fmla="val 25000"/>
            </a:avLst>
          </a:prstGeom>
          <a:solidFill>
            <a:srgbClr val="3A9E6A">
              <a:alpha val="50000"/>
            </a:srgbClr>
          </a:solidFill>
          <a:ln>
            <a:noFill/>
          </a:ln>
        </p:spPr>
      </p:sp>
      <p:sp>
        <p:nvSpPr>
          <p:cNvPr id="62" name="Rectangle 62"/>
          <p:cNvSpPr/>
          <p:nvPr/>
        </p:nvSpPr>
        <p:spPr>
          <a:xfrm>
            <a:off x="8439150" y="3486150"/>
            <a:ext cx="266700" cy="76200"/>
          </a:xfrm>
          <a:prstGeom prst="roundRect">
            <a:avLst>
              <a:gd name="adj" fmla="val 25000"/>
            </a:avLst>
          </a:prstGeom>
          <a:solidFill>
            <a:srgbClr val="3A9E6A">
              <a:alpha val="30000"/>
            </a:srgbClr>
          </a:solidFill>
          <a:ln>
            <a:noFill/>
          </a:ln>
        </p:spPr>
      </p:sp>
      <p:sp>
        <p:nvSpPr>
          <p:cNvPr id="63" name="TextBox 63"/>
          <p:cNvSpPr txBox="1"/>
          <p:nvPr/>
        </p:nvSpPr>
        <p:spPr>
          <a:xfrm>
            <a:off x="9127808" y="3110389"/>
            <a:ext cx="1205532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热门赛道底层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9131618" y="3352324"/>
            <a:ext cx="166199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AI/卫星/储能底层供应商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9131618" y="3542824"/>
            <a:ext cx="173355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受益赛道爆发，非概念炒作</a:t>
            </a:r>
          </a:p>
        </p:txBody>
      </p:sp>
      <p:sp>
        <p:nvSpPr>
          <p:cNvPr id="66" name="Rectangle 66"/>
          <p:cNvSpPr/>
          <p:nvPr/>
        </p:nvSpPr>
        <p:spPr>
          <a:xfrm>
            <a:off x="8267700" y="4067175"/>
            <a:ext cx="3276600" cy="304800"/>
          </a:xfrm>
          <a:prstGeom prst="roundRect">
            <a:avLst>
              <a:gd name="adj" fmla="val 18750"/>
            </a:avLst>
          </a:prstGeom>
          <a:solidFill>
            <a:srgbClr val="EBF7F1"/>
          </a:solidFill>
          <a:ln>
            <a:noFill/>
          </a:ln>
        </p:spPr>
      </p:sp>
      <p:sp>
        <p:nvSpPr>
          <p:cNvPr id="67" name="TextBox 67"/>
          <p:cNvSpPr txBox="1"/>
          <p:nvPr/>
        </p:nvSpPr>
        <p:spPr>
          <a:xfrm>
            <a:off x="9295543" y="4161949"/>
            <a:ext cx="122091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赛道驱动，非龙头</a:t>
            </a:r>
          </a:p>
        </p:txBody>
      </p:sp>
      <p:sp>
        <p:nvSpPr>
          <p:cNvPr id="68" name="Rectangle 68"/>
          <p:cNvSpPr/>
          <p:nvPr/>
        </p:nvSpPr>
        <p:spPr>
          <a:xfrm>
            <a:off x="571500" y="4686300"/>
            <a:ext cx="3581400" cy="1666875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69" name="Rectangle 69"/>
          <p:cNvSpPr/>
          <p:nvPr/>
        </p:nvSpPr>
        <p:spPr>
          <a:xfrm>
            <a:off x="571500" y="4686300"/>
            <a:ext cx="3581400" cy="47625"/>
          </a:xfrm>
          <a:prstGeom prst="roundRect">
            <a:avLst>
              <a:gd name="adj" fmla="val 50000"/>
            </a:avLst>
          </a:prstGeom>
          <a:solidFill>
            <a:srgbClr val="9E9E9E"/>
          </a:solidFill>
          <a:ln>
            <a:noFill/>
          </a:ln>
        </p:spPr>
      </p:sp>
      <p:sp>
        <p:nvSpPr>
          <p:cNvPr id="70" name="Ellipse 70"/>
          <p:cNvSpPr/>
          <p:nvPr/>
        </p:nvSpPr>
        <p:spPr>
          <a:xfrm>
            <a:off x="762000" y="4972050"/>
            <a:ext cx="533400" cy="533400"/>
          </a:xfrm>
          <a:prstGeom prst="ellipse">
            <a:avLst/>
          </a:prstGeom>
          <a:solidFill>
            <a:srgbClr val="9E9E9E">
              <a:alpha val="12000"/>
            </a:srgbClr>
          </a:solidFill>
          <a:ln>
            <a:noFill/>
          </a:ln>
        </p:spPr>
      </p:sp>
      <p:sp>
        <p:nvSpPr>
          <p:cNvPr id="71" name="Polyline 71"/>
          <p:cNvSpPr/>
          <p:nvPr/>
        </p:nvSpPr>
        <p:spPr>
          <a:xfrm>
            <a:off x="990600" y="51625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52400" y="0"/>
                </a:moveTo>
                <a:lnTo>
                  <a:pt x="0" y="0"/>
                </a:lnTo>
                <a:lnTo>
                  <a:pt x="0" y="152400"/>
                </a:lnTo>
              </a:path>
            </a:pathLst>
          </a:custGeom>
          <a:noFill/>
          <a:ln w="23812" cap="rnd">
            <a:solidFill>
              <a:srgbClr val="9E9E9E"/>
            </a:solidFill>
            <a:round/>
          </a:ln>
        </p:spPr>
      </p:sp>
      <p:sp>
        <p:nvSpPr>
          <p:cNvPr id="72" name="Polygon 72"/>
          <p:cNvSpPr/>
          <p:nvPr/>
        </p:nvSpPr>
        <p:spPr>
          <a:xfrm>
            <a:off x="952500" y="5048250"/>
            <a:ext cx="152400" cy="76200"/>
          </a:xfrm>
          <a:custGeom>
            <a:avLst/>
            <a:gdLst/>
            <a:ahLst/>
            <a:cxnLst/>
            <a:rect l="l" t="t" r="r" b="b"/>
            <a:pathLst>
              <a:path w="152400" h="76200">
                <a:moveTo>
                  <a:pt x="0" y="76200"/>
                </a:moveTo>
                <a:lnTo>
                  <a:pt x="76200" y="0"/>
                </a:lnTo>
                <a:lnTo>
                  <a:pt x="152400" y="76200"/>
                </a:lnTo>
                <a:close/>
              </a:path>
            </a:pathLst>
          </a:custGeom>
          <a:solidFill>
            <a:srgbClr val="9E9E9E"/>
          </a:solidFill>
          <a:ln>
            <a:noFill/>
          </a:ln>
        </p:spPr>
      </p:sp>
      <p:sp>
        <p:nvSpPr>
          <p:cNvPr id="73" name="TextBox 73"/>
          <p:cNvSpPr txBox="1"/>
          <p:nvPr/>
        </p:nvSpPr>
        <p:spPr>
          <a:xfrm>
            <a:off x="1584008" y="4948714"/>
            <a:ext cx="1401056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供应链回归美国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1587818" y="5190649"/>
            <a:ext cx="137043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Reshoring 政策受益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1587818" y="5381149"/>
            <a:ext cx="15911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本土供应商直接获得订单</a:t>
            </a:r>
          </a:p>
        </p:txBody>
      </p:sp>
      <p:sp>
        <p:nvSpPr>
          <p:cNvPr id="76" name="Rectangle 76"/>
          <p:cNvSpPr/>
          <p:nvPr/>
        </p:nvSpPr>
        <p:spPr>
          <a:xfrm>
            <a:off x="723900" y="5905500"/>
            <a:ext cx="3276600" cy="304800"/>
          </a:xfrm>
          <a:prstGeom prst="roundRect">
            <a:avLst>
              <a:gd name="adj" fmla="val 18750"/>
            </a:avLst>
          </a:prstGeom>
          <a:solidFill>
            <a:srgbClr val="F5F5F5"/>
          </a:solidFill>
          <a:ln>
            <a:noFill/>
          </a:ln>
        </p:spPr>
      </p:sp>
      <p:sp>
        <p:nvSpPr>
          <p:cNvPr id="77" name="TextBox 77"/>
          <p:cNvSpPr txBox="1"/>
          <p:nvPr/>
        </p:nvSpPr>
        <p:spPr>
          <a:xfrm>
            <a:off x="2050780" y="6000274"/>
            <a:ext cx="62284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政策催化</a:t>
            </a:r>
          </a:p>
        </p:txBody>
      </p:sp>
      <p:sp>
        <p:nvSpPr>
          <p:cNvPr id="78" name="Rectangle 78"/>
          <p:cNvSpPr/>
          <p:nvPr/>
        </p:nvSpPr>
        <p:spPr>
          <a:xfrm>
            <a:off x="4343400" y="4686300"/>
            <a:ext cx="3581400" cy="1666875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79" name="Rectangle 79"/>
          <p:cNvSpPr/>
          <p:nvPr/>
        </p:nvSpPr>
        <p:spPr>
          <a:xfrm>
            <a:off x="4343400" y="4686300"/>
            <a:ext cx="3581400" cy="47625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80" name="Ellipse 80"/>
          <p:cNvSpPr/>
          <p:nvPr/>
        </p:nvSpPr>
        <p:spPr>
          <a:xfrm>
            <a:off x="4533900" y="4972050"/>
            <a:ext cx="533400" cy="533400"/>
          </a:xfrm>
          <a:prstGeom prst="ellipse">
            <a:avLst/>
          </a:prstGeom>
          <a:solidFill>
            <a:srgbClr val="C96133">
              <a:alpha val="12000"/>
            </a:srgbClr>
          </a:solidFill>
          <a:ln>
            <a:noFill/>
          </a:ln>
        </p:spPr>
      </p:sp>
      <p:sp>
        <p:nvSpPr>
          <p:cNvPr id="81" name="Rectangle 81"/>
          <p:cNvSpPr/>
          <p:nvPr/>
        </p:nvSpPr>
        <p:spPr>
          <a:xfrm>
            <a:off x="4667250" y="5114925"/>
            <a:ext cx="114300" cy="114300"/>
          </a:xfrm>
          <a:prstGeom prst="roundRect">
            <a:avLst>
              <a:gd name="adj" fmla="val 16667"/>
            </a:avLst>
          </a:prstGeom>
          <a:noFill/>
          <a:ln w="14288">
            <a:solidFill>
              <a:srgbClr val="C96133"/>
            </a:solidFill>
          </a:ln>
        </p:spPr>
      </p:sp>
      <p:sp>
        <p:nvSpPr>
          <p:cNvPr id="82" name="Rectangle 82"/>
          <p:cNvSpPr/>
          <p:nvPr/>
        </p:nvSpPr>
        <p:spPr>
          <a:xfrm>
            <a:off x="4819650" y="5114925"/>
            <a:ext cx="114300" cy="114300"/>
          </a:xfrm>
          <a:prstGeom prst="roundRect">
            <a:avLst>
              <a:gd name="adj" fmla="val 16667"/>
            </a:avLst>
          </a:prstGeom>
          <a:noFill/>
          <a:ln w="14288">
            <a:solidFill>
              <a:srgbClr val="C96133"/>
            </a:solidFill>
          </a:ln>
        </p:spPr>
      </p:sp>
      <p:sp>
        <p:nvSpPr>
          <p:cNvPr id="83" name="Rectangle 83"/>
          <p:cNvSpPr/>
          <p:nvPr/>
        </p:nvSpPr>
        <p:spPr>
          <a:xfrm>
            <a:off x="4667250" y="5267325"/>
            <a:ext cx="114300" cy="114300"/>
          </a:xfrm>
          <a:prstGeom prst="roundRect">
            <a:avLst>
              <a:gd name="adj" fmla="val 16667"/>
            </a:avLst>
          </a:prstGeom>
          <a:noFill/>
          <a:ln w="14288">
            <a:solidFill>
              <a:srgbClr val="C96133"/>
            </a:solidFill>
          </a:ln>
        </p:spPr>
      </p:sp>
      <p:sp>
        <p:nvSpPr>
          <p:cNvPr id="84" name="Rectangle 84"/>
          <p:cNvSpPr/>
          <p:nvPr/>
        </p:nvSpPr>
        <p:spPr>
          <a:xfrm>
            <a:off x="4819650" y="5267325"/>
            <a:ext cx="114300" cy="114300"/>
          </a:xfrm>
          <a:prstGeom prst="roundRect">
            <a:avLst>
              <a:gd name="adj" fmla="val 16667"/>
            </a:avLst>
          </a:prstGeom>
          <a:noFill/>
          <a:ln w="14288">
            <a:solidFill>
              <a:srgbClr val="C96133"/>
            </a:solidFill>
          </a:ln>
        </p:spPr>
      </p:sp>
      <p:sp>
        <p:nvSpPr>
          <p:cNvPr id="85" name="TextBox 85"/>
          <p:cNvSpPr txBox="1"/>
          <p:nvPr/>
        </p:nvSpPr>
        <p:spPr>
          <a:xfrm>
            <a:off x="5355908" y="4948714"/>
            <a:ext cx="814483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早期验证</a:t>
            </a:r>
          </a:p>
        </p:txBody>
      </p:sp>
      <p:sp>
        <p:nvSpPr>
          <p:cNvPr id="86" name="TextBox 86"/>
          <p:cNvSpPr txBox="1"/>
          <p:nvPr/>
        </p:nvSpPr>
        <p:spPr>
          <a:xfrm>
            <a:off x="5359718" y="5190649"/>
            <a:ext cx="137043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头部客户已认可采购</a:t>
            </a:r>
          </a:p>
        </p:txBody>
      </p:sp>
      <p:sp>
        <p:nvSpPr>
          <p:cNvPr id="87" name="TextBox 87"/>
          <p:cNvSpPr txBox="1"/>
          <p:nvPr/>
        </p:nvSpPr>
        <p:spPr>
          <a:xfrm>
            <a:off x="5359718" y="5381149"/>
            <a:ext cx="166947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半导体/芯片进供应链极难</a:t>
            </a:r>
          </a:p>
        </p:txBody>
      </p:sp>
      <p:sp>
        <p:nvSpPr>
          <p:cNvPr id="88" name="Rectangle 88"/>
          <p:cNvSpPr/>
          <p:nvPr/>
        </p:nvSpPr>
        <p:spPr>
          <a:xfrm>
            <a:off x="4495800" y="5905500"/>
            <a:ext cx="3276600" cy="304800"/>
          </a:xfrm>
          <a:prstGeom prst="roundRect">
            <a:avLst>
              <a:gd name="adj" fmla="val 18750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89" name="TextBox 89"/>
          <p:cNvSpPr txBox="1"/>
          <p:nvPr/>
        </p:nvSpPr>
        <p:spPr>
          <a:xfrm>
            <a:off x="5333006" y="6000274"/>
            <a:ext cx="160218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产品进入测试/采购阶段</a:t>
            </a:r>
          </a:p>
        </p:txBody>
      </p:sp>
      <p:sp>
        <p:nvSpPr>
          <p:cNvPr id="90" name="Rectangle 90"/>
          <p:cNvSpPr/>
          <p:nvPr/>
        </p:nvSpPr>
        <p:spPr>
          <a:xfrm>
            <a:off x="8115300" y="4686300"/>
            <a:ext cx="3581400" cy="1666875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91" name="Rectangle 91"/>
          <p:cNvSpPr/>
          <p:nvPr/>
        </p:nvSpPr>
        <p:spPr>
          <a:xfrm>
            <a:off x="8115300" y="4686300"/>
            <a:ext cx="3581400" cy="47625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92" name="Ellipse 92"/>
          <p:cNvSpPr/>
          <p:nvPr/>
        </p:nvSpPr>
        <p:spPr>
          <a:xfrm>
            <a:off x="8305800" y="4972050"/>
            <a:ext cx="533400" cy="533400"/>
          </a:xfrm>
          <a:prstGeom prst="ellipse">
            <a:avLst/>
          </a:prstGeom>
          <a:solidFill>
            <a:srgbClr val="3D7DE4">
              <a:alpha val="12000"/>
            </a:srgbClr>
          </a:solidFill>
          <a:ln>
            <a:noFill/>
          </a:ln>
        </p:spPr>
      </p:sp>
      <p:sp>
        <p:nvSpPr>
          <p:cNvPr id="93" name="Rectangle 93"/>
          <p:cNvSpPr/>
          <p:nvPr/>
        </p:nvSpPr>
        <p:spPr>
          <a:xfrm>
            <a:off x="8410575" y="5353050"/>
            <a:ext cx="76200" cy="152400"/>
          </a:xfrm>
          <a:prstGeom prst="roundRect">
            <a:avLst>
              <a:gd name="adj" fmla="val 12500"/>
            </a:avLst>
          </a:prstGeom>
          <a:solidFill>
            <a:srgbClr val="3D7DE4">
              <a:alpha val="40000"/>
            </a:srgbClr>
          </a:solidFill>
          <a:ln>
            <a:noFill/>
          </a:ln>
        </p:spPr>
      </p:sp>
      <p:sp>
        <p:nvSpPr>
          <p:cNvPr id="94" name="Rectangle 94"/>
          <p:cNvSpPr/>
          <p:nvPr/>
        </p:nvSpPr>
        <p:spPr>
          <a:xfrm>
            <a:off x="8534400" y="5219700"/>
            <a:ext cx="76200" cy="285750"/>
          </a:xfrm>
          <a:prstGeom prst="roundRect">
            <a:avLst>
              <a:gd name="adj" fmla="val 12500"/>
            </a:avLst>
          </a:prstGeom>
          <a:solidFill>
            <a:srgbClr val="3D7DE4">
              <a:alpha val="60000"/>
            </a:srgbClr>
          </a:solidFill>
          <a:ln>
            <a:noFill/>
          </a:ln>
        </p:spPr>
      </p:sp>
      <p:sp>
        <p:nvSpPr>
          <p:cNvPr id="95" name="Rectangle 95"/>
          <p:cNvSpPr/>
          <p:nvPr/>
        </p:nvSpPr>
        <p:spPr>
          <a:xfrm>
            <a:off x="8658225" y="5095875"/>
            <a:ext cx="76200" cy="409575"/>
          </a:xfrm>
          <a:prstGeom prst="roundRect">
            <a:avLst>
              <a:gd name="adj" fmla="val 125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96" name="TextBox 96"/>
          <p:cNvSpPr txBox="1"/>
          <p:nvPr/>
        </p:nvSpPr>
        <p:spPr>
          <a:xfrm>
            <a:off x="9127808" y="4948714"/>
            <a:ext cx="814483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财报断层</a:t>
            </a:r>
          </a:p>
        </p:txBody>
      </p:sp>
      <p:sp>
        <p:nvSpPr>
          <p:cNvPr id="97" name="TextBox 97"/>
          <p:cNvSpPr txBox="1"/>
          <p:nvPr/>
        </p:nvSpPr>
        <p:spPr>
          <a:xfrm>
            <a:off x="9131618" y="5190649"/>
            <a:ext cx="118353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Earnings Gap-Up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9131618" y="5381149"/>
            <a:ext cx="166947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超预期财报→股价跳空上涨</a:t>
            </a:r>
          </a:p>
        </p:txBody>
      </p:sp>
      <p:sp>
        <p:nvSpPr>
          <p:cNvPr id="99" name="Rectangle 99"/>
          <p:cNvSpPr/>
          <p:nvPr/>
        </p:nvSpPr>
        <p:spPr>
          <a:xfrm>
            <a:off x="8267700" y="5905500"/>
            <a:ext cx="3276600" cy="304800"/>
          </a:xfrm>
          <a:prstGeom prst="roundRect">
            <a:avLst>
              <a:gd name="adj" fmla="val 18750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100" name="TextBox 100"/>
          <p:cNvSpPr txBox="1"/>
          <p:nvPr/>
        </p:nvSpPr>
        <p:spPr>
          <a:xfrm>
            <a:off x="9220783" y="6000274"/>
            <a:ext cx="137043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价格行为确认基本面</a:t>
            </a:r>
          </a:p>
        </p:txBody>
      </p:sp>
      <p:sp>
        <p:nvSpPr>
          <p:cNvPr id="101" name="TextBox 101"/>
          <p:cNvSpPr txBox="1"/>
          <p:nvPr/>
        </p:nvSpPr>
        <p:spPr>
          <a:xfrm>
            <a:off x="11283934" y="6554152"/>
            <a:ext cx="54040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07 / 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247650"/>
            <a:ext cx="57150" cy="3810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50570" y="274320"/>
            <a:ext cx="1901190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多倍股筛选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6762" y="659606"/>
            <a:ext cx="585323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六大类型识别潜在多倍股 — 六大类型 ≥3/6 且 五大公式 ≥3/5，方可晋级 2C 核查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59118" y="904399"/>
            <a:ext cx="62284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六大类型</a:t>
            </a:r>
          </a:p>
        </p:txBody>
      </p:sp>
      <p:sp>
        <p:nvSpPr>
          <p:cNvPr id="8" name="Rectangle 8"/>
          <p:cNvSpPr/>
          <p:nvPr/>
        </p:nvSpPr>
        <p:spPr>
          <a:xfrm>
            <a:off x="571500" y="1104900"/>
            <a:ext cx="5505450" cy="1009650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571500" y="1104900"/>
            <a:ext cx="5505450" cy="47625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10" name="Ellipse 10"/>
          <p:cNvSpPr/>
          <p:nvPr/>
        </p:nvSpPr>
        <p:spPr>
          <a:xfrm>
            <a:off x="762000" y="1419225"/>
            <a:ext cx="381000" cy="381000"/>
          </a:xfrm>
          <a:prstGeom prst="ellipse">
            <a:avLst/>
          </a:prstGeom>
          <a:solidFill>
            <a:srgbClr val="C96133">
              <a:alpha val="12000"/>
            </a:srgbClr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909657" y="1537335"/>
            <a:ext cx="8568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60158" y="1329214"/>
            <a:ext cx="1401056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行业赛道足够大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63968" y="1552099"/>
            <a:ext cx="238146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总市场空间&gt;百亿美元，增长趋势明确</a:t>
            </a:r>
          </a:p>
        </p:txBody>
      </p:sp>
      <p:sp>
        <p:nvSpPr>
          <p:cNvPr id="14" name="Rectangle 14"/>
          <p:cNvSpPr/>
          <p:nvPr/>
        </p:nvSpPr>
        <p:spPr>
          <a:xfrm>
            <a:off x="1276350" y="1771650"/>
            <a:ext cx="1752600" cy="247650"/>
          </a:xfrm>
          <a:prstGeom prst="roundRect">
            <a:avLst>
              <a:gd name="adj" fmla="val 19231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1233757" y="1836420"/>
            <a:ext cx="183778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TAM 是否多年期结构性需求？</a:t>
            </a:r>
          </a:p>
        </p:txBody>
      </p:sp>
      <p:sp>
        <p:nvSpPr>
          <p:cNvPr id="16" name="Rectangle 16"/>
          <p:cNvSpPr/>
          <p:nvPr/>
        </p:nvSpPr>
        <p:spPr>
          <a:xfrm>
            <a:off x="6115050" y="1104900"/>
            <a:ext cx="5505450" cy="1009650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17" name="Rectangle 17"/>
          <p:cNvSpPr/>
          <p:nvPr/>
        </p:nvSpPr>
        <p:spPr>
          <a:xfrm>
            <a:off x="6115050" y="1104900"/>
            <a:ext cx="5505450" cy="47625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18" name="Ellipse 18"/>
          <p:cNvSpPr/>
          <p:nvPr/>
        </p:nvSpPr>
        <p:spPr>
          <a:xfrm>
            <a:off x="6305550" y="1419225"/>
            <a:ext cx="381000" cy="381000"/>
          </a:xfrm>
          <a:prstGeom prst="ellipse">
            <a:avLst/>
          </a:prstGeom>
          <a:solidFill>
            <a:srgbClr val="3D7DE4">
              <a:alpha val="12000"/>
            </a:srgbClr>
          </a:solidFill>
          <a:ln>
            <a:noFill/>
          </a:ln>
        </p:spPr>
      </p:sp>
      <p:sp>
        <p:nvSpPr>
          <p:cNvPr id="19" name="TextBox 19"/>
          <p:cNvSpPr txBox="1"/>
          <p:nvPr/>
        </p:nvSpPr>
        <p:spPr>
          <a:xfrm>
            <a:off x="6430204" y="1537335"/>
            <a:ext cx="13169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803708" y="1329214"/>
            <a:ext cx="1401056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营收进入爆发期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807518" y="1552099"/>
            <a:ext cx="213938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YoY&gt;50%，持续两季以上且在加速</a:t>
            </a:r>
          </a:p>
        </p:txBody>
      </p:sp>
      <p:sp>
        <p:nvSpPr>
          <p:cNvPr id="22" name="Rectangle 22"/>
          <p:cNvSpPr/>
          <p:nvPr/>
        </p:nvSpPr>
        <p:spPr>
          <a:xfrm>
            <a:off x="6819900" y="1771650"/>
            <a:ext cx="1600200" cy="247650"/>
          </a:xfrm>
          <a:prstGeom prst="roundRect">
            <a:avLst>
              <a:gd name="adj" fmla="val 19231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23" name="TextBox 23"/>
          <p:cNvSpPr txBox="1"/>
          <p:nvPr/>
        </p:nvSpPr>
        <p:spPr>
          <a:xfrm>
            <a:off x="6887430" y="1836420"/>
            <a:ext cx="146514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YoY &gt;50% 或环比加速？</a:t>
            </a:r>
          </a:p>
        </p:txBody>
      </p:sp>
      <p:sp>
        <p:nvSpPr>
          <p:cNvPr id="24" name="Rectangle 24"/>
          <p:cNvSpPr/>
          <p:nvPr/>
        </p:nvSpPr>
        <p:spPr>
          <a:xfrm>
            <a:off x="571500" y="2228850"/>
            <a:ext cx="5505450" cy="1009650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25" name="Rectangle 25"/>
          <p:cNvSpPr/>
          <p:nvPr/>
        </p:nvSpPr>
        <p:spPr>
          <a:xfrm>
            <a:off x="571500" y="2228850"/>
            <a:ext cx="5505450" cy="47625"/>
          </a:xfrm>
          <a:prstGeom prst="roundRect">
            <a:avLst>
              <a:gd name="adj" fmla="val 50000"/>
            </a:avLst>
          </a:prstGeom>
          <a:solidFill>
            <a:srgbClr val="3A9E6A"/>
          </a:solidFill>
          <a:ln>
            <a:noFill/>
          </a:ln>
        </p:spPr>
      </p:sp>
      <p:sp>
        <p:nvSpPr>
          <p:cNvPr id="26" name="Ellipse 26"/>
          <p:cNvSpPr/>
          <p:nvPr/>
        </p:nvSpPr>
        <p:spPr>
          <a:xfrm>
            <a:off x="762000" y="2543175"/>
            <a:ext cx="381000" cy="381000"/>
          </a:xfrm>
          <a:prstGeom prst="ellipse">
            <a:avLst/>
          </a:prstGeom>
          <a:solidFill>
            <a:srgbClr val="3A9E6A">
              <a:alpha val="12000"/>
            </a:srgbClr>
          </a:solidFill>
          <a:ln>
            <a:noFill/>
          </a:ln>
        </p:spPr>
      </p:sp>
      <p:sp>
        <p:nvSpPr>
          <p:cNvPr id="27" name="TextBox 27"/>
          <p:cNvSpPr txBox="1"/>
          <p:nvPr/>
        </p:nvSpPr>
        <p:spPr>
          <a:xfrm>
            <a:off x="886654" y="2661285"/>
            <a:ext cx="13169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3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260158" y="2453164"/>
            <a:ext cx="179210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订单储备超当年营收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263968" y="2676049"/>
            <a:ext cx="166947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在手订单金额&gt;当年年营收</a:t>
            </a:r>
          </a:p>
        </p:txBody>
      </p:sp>
      <p:sp>
        <p:nvSpPr>
          <p:cNvPr id="30" name="Rectangle 30"/>
          <p:cNvSpPr/>
          <p:nvPr/>
        </p:nvSpPr>
        <p:spPr>
          <a:xfrm>
            <a:off x="1276350" y="2895600"/>
            <a:ext cx="1828800" cy="247650"/>
          </a:xfrm>
          <a:prstGeom prst="roundRect">
            <a:avLst>
              <a:gd name="adj" fmla="val 19231"/>
            </a:avLst>
          </a:prstGeom>
          <a:solidFill>
            <a:srgbClr val="EBF7F1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1330514" y="2960370"/>
            <a:ext cx="172047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Backlog/TTM Revenue &gt;1？</a:t>
            </a:r>
          </a:p>
        </p:txBody>
      </p:sp>
      <p:sp>
        <p:nvSpPr>
          <p:cNvPr id="32" name="Rectangle 32"/>
          <p:cNvSpPr/>
          <p:nvPr/>
        </p:nvSpPr>
        <p:spPr>
          <a:xfrm>
            <a:off x="6115050" y="2228850"/>
            <a:ext cx="5505450" cy="1009650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33" name="Rectangle 33"/>
          <p:cNvSpPr/>
          <p:nvPr/>
        </p:nvSpPr>
        <p:spPr>
          <a:xfrm>
            <a:off x="6115050" y="2228850"/>
            <a:ext cx="5505450" cy="47625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34" name="Ellipse 34"/>
          <p:cNvSpPr/>
          <p:nvPr/>
        </p:nvSpPr>
        <p:spPr>
          <a:xfrm>
            <a:off x="6305550" y="2543175"/>
            <a:ext cx="381000" cy="381000"/>
          </a:xfrm>
          <a:prstGeom prst="ellipse">
            <a:avLst/>
          </a:prstGeom>
          <a:solidFill>
            <a:srgbClr val="C96133">
              <a:alpha val="12000"/>
            </a:srgbClr>
          </a:solidFill>
          <a:ln>
            <a:noFill/>
          </a:ln>
        </p:spPr>
      </p:sp>
      <p:sp>
        <p:nvSpPr>
          <p:cNvPr id="35" name="TextBox 35"/>
          <p:cNvSpPr txBox="1"/>
          <p:nvPr/>
        </p:nvSpPr>
        <p:spPr>
          <a:xfrm>
            <a:off x="6430204" y="2661285"/>
            <a:ext cx="13169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4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6803708" y="2453164"/>
            <a:ext cx="179210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技术壁垒高护城河阔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6807518" y="2676049"/>
            <a:ext cx="203258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专利/认证/客户锁定，难以复制</a:t>
            </a:r>
          </a:p>
        </p:txBody>
      </p:sp>
      <p:sp>
        <p:nvSpPr>
          <p:cNvPr id="38" name="Rectangle 38"/>
          <p:cNvSpPr/>
          <p:nvPr/>
        </p:nvSpPr>
        <p:spPr>
          <a:xfrm>
            <a:off x="6819900" y="2895600"/>
            <a:ext cx="1905000" cy="247650"/>
          </a:xfrm>
          <a:prstGeom prst="roundRect">
            <a:avLst>
              <a:gd name="adj" fmla="val 19231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39" name="TextBox 39"/>
          <p:cNvSpPr txBox="1"/>
          <p:nvPr/>
        </p:nvSpPr>
        <p:spPr>
          <a:xfrm>
            <a:off x="6925966" y="2960370"/>
            <a:ext cx="169286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专利/独家合同/工艺门槛？</a:t>
            </a:r>
          </a:p>
        </p:txBody>
      </p:sp>
      <p:sp>
        <p:nvSpPr>
          <p:cNvPr id="40" name="Rectangle 40"/>
          <p:cNvSpPr/>
          <p:nvPr/>
        </p:nvSpPr>
        <p:spPr>
          <a:xfrm>
            <a:off x="571500" y="3352800"/>
            <a:ext cx="5505450" cy="1009650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41" name="Rectangle 41"/>
          <p:cNvSpPr/>
          <p:nvPr/>
        </p:nvSpPr>
        <p:spPr>
          <a:xfrm>
            <a:off x="571500" y="3352800"/>
            <a:ext cx="5505450" cy="47625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42" name="Ellipse 42"/>
          <p:cNvSpPr/>
          <p:nvPr/>
        </p:nvSpPr>
        <p:spPr>
          <a:xfrm>
            <a:off x="762000" y="3667125"/>
            <a:ext cx="381000" cy="381000"/>
          </a:xfrm>
          <a:prstGeom prst="ellipse">
            <a:avLst/>
          </a:prstGeom>
          <a:solidFill>
            <a:srgbClr val="3D7DE4">
              <a:alpha val="12000"/>
            </a:srgbClr>
          </a:solidFill>
          <a:ln>
            <a:noFill/>
          </a:ln>
        </p:spPr>
      </p:sp>
      <p:sp>
        <p:nvSpPr>
          <p:cNvPr id="43" name="TextBox 43"/>
          <p:cNvSpPr txBox="1"/>
          <p:nvPr/>
        </p:nvSpPr>
        <p:spPr>
          <a:xfrm>
            <a:off x="886654" y="3785235"/>
            <a:ext cx="13169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260158" y="3577114"/>
            <a:ext cx="1205532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机构开始建仓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263968" y="3799999"/>
            <a:ext cx="230314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持股比例季度环比上升，大单净流入</a:t>
            </a:r>
          </a:p>
        </p:txBody>
      </p:sp>
      <p:sp>
        <p:nvSpPr>
          <p:cNvPr id="46" name="Rectangle 46"/>
          <p:cNvSpPr/>
          <p:nvPr/>
        </p:nvSpPr>
        <p:spPr>
          <a:xfrm>
            <a:off x="1276350" y="4019550"/>
            <a:ext cx="1828800" cy="247650"/>
          </a:xfrm>
          <a:prstGeom prst="roundRect">
            <a:avLst>
              <a:gd name="adj" fmla="val 19231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47" name="TextBox 47"/>
          <p:cNvSpPr txBox="1"/>
          <p:nvPr/>
        </p:nvSpPr>
        <p:spPr>
          <a:xfrm>
            <a:off x="1440928" y="4084320"/>
            <a:ext cx="149964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13F 或成交量异常增加？</a:t>
            </a:r>
          </a:p>
        </p:txBody>
      </p:sp>
      <p:sp>
        <p:nvSpPr>
          <p:cNvPr id="48" name="Rectangle 48"/>
          <p:cNvSpPr/>
          <p:nvPr/>
        </p:nvSpPr>
        <p:spPr>
          <a:xfrm>
            <a:off x="6115050" y="3352800"/>
            <a:ext cx="5505450" cy="1009650"/>
          </a:xfrm>
          <a:prstGeom prst="roundRect">
            <a:avLst>
              <a:gd name="adj" fmla="val 9434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49" name="Rectangle 49"/>
          <p:cNvSpPr/>
          <p:nvPr/>
        </p:nvSpPr>
        <p:spPr>
          <a:xfrm>
            <a:off x="6115050" y="3352800"/>
            <a:ext cx="5505450" cy="47625"/>
          </a:xfrm>
          <a:prstGeom prst="roundRect">
            <a:avLst>
              <a:gd name="adj" fmla="val 50000"/>
            </a:avLst>
          </a:prstGeom>
          <a:solidFill>
            <a:srgbClr val="3A9E6A"/>
          </a:solidFill>
          <a:ln>
            <a:noFill/>
          </a:ln>
        </p:spPr>
      </p:sp>
      <p:sp>
        <p:nvSpPr>
          <p:cNvPr id="50" name="Ellipse 50"/>
          <p:cNvSpPr/>
          <p:nvPr/>
        </p:nvSpPr>
        <p:spPr>
          <a:xfrm>
            <a:off x="6305550" y="3667125"/>
            <a:ext cx="381000" cy="381000"/>
          </a:xfrm>
          <a:prstGeom prst="ellipse">
            <a:avLst/>
          </a:prstGeom>
          <a:solidFill>
            <a:srgbClr val="3A9E6A">
              <a:alpha val="12000"/>
            </a:srgbClr>
          </a:solidFill>
          <a:ln>
            <a:noFill/>
          </a:ln>
        </p:spPr>
      </p:sp>
      <p:sp>
        <p:nvSpPr>
          <p:cNvPr id="51" name="TextBox 51"/>
          <p:cNvSpPr txBox="1"/>
          <p:nvPr/>
        </p:nvSpPr>
        <p:spPr>
          <a:xfrm>
            <a:off x="6430204" y="3785235"/>
            <a:ext cx="13169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6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6803708" y="3577114"/>
            <a:ext cx="179210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市值小，上涨空间大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807518" y="3799999"/>
            <a:ext cx="280154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主板上市（必须），非OTC，&lt;20亿美元优先</a:t>
            </a:r>
          </a:p>
        </p:txBody>
      </p:sp>
      <p:sp>
        <p:nvSpPr>
          <p:cNvPr id="54" name="Rectangle 54"/>
          <p:cNvSpPr/>
          <p:nvPr/>
        </p:nvSpPr>
        <p:spPr>
          <a:xfrm>
            <a:off x="6819900" y="4019550"/>
            <a:ext cx="1676400" cy="247650"/>
          </a:xfrm>
          <a:prstGeom prst="roundRect">
            <a:avLst>
              <a:gd name="adj" fmla="val 19231"/>
            </a:avLst>
          </a:prstGeom>
          <a:solidFill>
            <a:srgbClr val="EBF7F1"/>
          </a:solidFill>
          <a:ln>
            <a:noFill/>
          </a:ln>
        </p:spPr>
      </p:sp>
      <p:sp>
        <p:nvSpPr>
          <p:cNvPr id="55" name="TextBox 55"/>
          <p:cNvSpPr txBox="1"/>
          <p:nvPr/>
        </p:nvSpPr>
        <p:spPr>
          <a:xfrm>
            <a:off x="6946232" y="4084320"/>
            <a:ext cx="142373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必须主板上市，非 OTC</a:t>
            </a:r>
          </a:p>
        </p:txBody>
      </p:sp>
      <p:sp>
        <p:nvSpPr>
          <p:cNvPr id="56" name="Rectangle 56"/>
          <p:cNvSpPr/>
          <p:nvPr/>
        </p:nvSpPr>
        <p:spPr>
          <a:xfrm>
            <a:off x="571500" y="4514850"/>
            <a:ext cx="11049000" cy="19050"/>
          </a:xfrm>
          <a:prstGeom prst="rect">
            <a:avLst/>
          </a:prstGeom>
          <a:solidFill>
            <a:srgbClr val="E0D8D0"/>
          </a:solidFill>
          <a:ln>
            <a:noFill/>
          </a:ln>
        </p:spPr>
      </p:sp>
      <p:sp>
        <p:nvSpPr>
          <p:cNvPr id="57" name="TextBox 57"/>
          <p:cNvSpPr txBox="1"/>
          <p:nvPr/>
        </p:nvSpPr>
        <p:spPr>
          <a:xfrm>
            <a:off x="556260" y="4632960"/>
            <a:ext cx="187071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五大公式（必要条件）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3245168" y="4657249"/>
            <a:ext cx="71539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— 缺一不可</a:t>
            </a:r>
          </a:p>
        </p:txBody>
      </p:sp>
      <p:sp>
        <p:nvSpPr>
          <p:cNvPr id="59" name="Rectangle 59"/>
          <p:cNvSpPr/>
          <p:nvPr/>
        </p:nvSpPr>
        <p:spPr>
          <a:xfrm>
            <a:off x="571500" y="4895850"/>
            <a:ext cx="1981200" cy="514350"/>
          </a:xfrm>
          <a:prstGeom prst="roundRect">
            <a:avLst>
              <a:gd name="adj" fmla="val 18519"/>
            </a:avLst>
          </a:prstGeom>
          <a:solidFill>
            <a:srgbClr val="C96133">
              <a:alpha val="10000"/>
            </a:srgbClr>
          </a:solidFill>
          <a:ln w="14288">
            <a:solidFill>
              <a:srgbClr val="C96133"/>
            </a:solidFill>
          </a:ln>
        </p:spPr>
      </p:sp>
      <p:sp>
        <p:nvSpPr>
          <p:cNvPr id="60" name="TextBox 60"/>
          <p:cNvSpPr txBox="1"/>
          <p:nvPr/>
        </p:nvSpPr>
        <p:spPr>
          <a:xfrm>
            <a:off x="1234416" y="4969192"/>
            <a:ext cx="65536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大赛道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1130046" y="5208270"/>
            <a:ext cx="86410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TAM&gt;百亿美元</a:t>
            </a:r>
          </a:p>
        </p:txBody>
      </p:sp>
      <p:sp>
        <p:nvSpPr>
          <p:cNvPr id="62" name="Rectangle 62"/>
          <p:cNvSpPr/>
          <p:nvPr/>
        </p:nvSpPr>
        <p:spPr>
          <a:xfrm>
            <a:off x="2705100" y="4895850"/>
            <a:ext cx="1981200" cy="514350"/>
          </a:xfrm>
          <a:prstGeom prst="roundRect">
            <a:avLst>
              <a:gd name="adj" fmla="val 18519"/>
            </a:avLst>
          </a:prstGeom>
          <a:solidFill>
            <a:srgbClr val="3D7DE4">
              <a:alpha val="10000"/>
            </a:srgbClr>
          </a:solidFill>
          <a:ln w="14288">
            <a:solidFill>
              <a:srgbClr val="3D7DE4"/>
            </a:solidFill>
          </a:ln>
        </p:spPr>
      </p:sp>
      <p:sp>
        <p:nvSpPr>
          <p:cNvPr id="63" name="TextBox 63"/>
          <p:cNvSpPr txBox="1"/>
          <p:nvPr/>
        </p:nvSpPr>
        <p:spPr>
          <a:xfrm>
            <a:off x="3160990" y="4969192"/>
            <a:ext cx="1069419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营收高增长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3431238" y="5208270"/>
            <a:ext cx="52892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YoY&gt;50%</a:t>
            </a:r>
          </a:p>
        </p:txBody>
      </p:sp>
      <p:sp>
        <p:nvSpPr>
          <p:cNvPr id="65" name="Rectangle 65"/>
          <p:cNvSpPr/>
          <p:nvPr/>
        </p:nvSpPr>
        <p:spPr>
          <a:xfrm>
            <a:off x="4838700" y="4895850"/>
            <a:ext cx="1981200" cy="514350"/>
          </a:xfrm>
          <a:prstGeom prst="roundRect">
            <a:avLst>
              <a:gd name="adj" fmla="val 18519"/>
            </a:avLst>
          </a:prstGeom>
          <a:solidFill>
            <a:srgbClr val="3A9E6A">
              <a:alpha val="10000"/>
            </a:srgbClr>
          </a:solidFill>
          <a:ln w="14288">
            <a:solidFill>
              <a:srgbClr val="3A9E6A"/>
            </a:solidFill>
          </a:ln>
        </p:spPr>
      </p:sp>
      <p:sp>
        <p:nvSpPr>
          <p:cNvPr id="66" name="TextBox 66"/>
          <p:cNvSpPr txBox="1"/>
          <p:nvPr/>
        </p:nvSpPr>
        <p:spPr>
          <a:xfrm>
            <a:off x="5211187" y="4964906"/>
            <a:ext cx="123622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订单大、订单多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5479399" y="5208270"/>
            <a:ext cx="69980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案例：SMCI</a:t>
            </a:r>
          </a:p>
        </p:txBody>
      </p:sp>
      <p:sp>
        <p:nvSpPr>
          <p:cNvPr id="68" name="Rectangle 68"/>
          <p:cNvSpPr/>
          <p:nvPr/>
        </p:nvSpPr>
        <p:spPr>
          <a:xfrm>
            <a:off x="6972300" y="4895850"/>
            <a:ext cx="1981200" cy="514350"/>
          </a:xfrm>
          <a:prstGeom prst="roundRect">
            <a:avLst>
              <a:gd name="adj" fmla="val 18519"/>
            </a:avLst>
          </a:prstGeom>
          <a:solidFill>
            <a:srgbClr val="C96133">
              <a:alpha val="10000"/>
            </a:srgbClr>
          </a:solidFill>
          <a:ln w="14288">
            <a:solidFill>
              <a:srgbClr val="C96133"/>
            </a:solidFill>
          </a:ln>
        </p:spPr>
      </p:sp>
      <p:sp>
        <p:nvSpPr>
          <p:cNvPr id="69" name="TextBox 69"/>
          <p:cNvSpPr txBox="1"/>
          <p:nvPr/>
        </p:nvSpPr>
        <p:spPr>
          <a:xfrm>
            <a:off x="7428190" y="4969192"/>
            <a:ext cx="1069419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技术壁垒高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7622858" y="5208270"/>
            <a:ext cx="68008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护城河宽阔</a:t>
            </a:r>
          </a:p>
        </p:txBody>
      </p:sp>
      <p:sp>
        <p:nvSpPr>
          <p:cNvPr id="71" name="Rectangle 71"/>
          <p:cNvSpPr/>
          <p:nvPr/>
        </p:nvSpPr>
        <p:spPr>
          <a:xfrm>
            <a:off x="9105900" y="4895850"/>
            <a:ext cx="2514600" cy="514350"/>
          </a:xfrm>
          <a:prstGeom prst="roundRect">
            <a:avLst>
              <a:gd name="adj" fmla="val 18519"/>
            </a:avLst>
          </a:prstGeom>
          <a:solidFill>
            <a:srgbClr val="3D7DE4">
              <a:alpha val="10000"/>
            </a:srgbClr>
          </a:solidFill>
          <a:ln w="14288">
            <a:solidFill>
              <a:srgbClr val="3D7DE4"/>
            </a:solidFill>
          </a:ln>
        </p:spPr>
      </p:sp>
      <p:sp>
        <p:nvSpPr>
          <p:cNvPr id="72" name="TextBox 72"/>
          <p:cNvSpPr txBox="1"/>
          <p:nvPr/>
        </p:nvSpPr>
        <p:spPr>
          <a:xfrm>
            <a:off x="9626640" y="4969192"/>
            <a:ext cx="1473120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市值小(非OTC)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9914715" y="5208270"/>
            <a:ext cx="89696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主板&lt;20亿美元</a:t>
            </a:r>
          </a:p>
        </p:txBody>
      </p:sp>
      <p:sp>
        <p:nvSpPr>
          <p:cNvPr id="74" name="Rectangle 74"/>
          <p:cNvSpPr/>
          <p:nvPr/>
        </p:nvSpPr>
        <p:spPr>
          <a:xfrm>
            <a:off x="571500" y="5562600"/>
            <a:ext cx="11049000" cy="457200"/>
          </a:xfrm>
          <a:prstGeom prst="roundRect">
            <a:avLst>
              <a:gd name="adj" fmla="val 16667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75" name="TextBox 75"/>
          <p:cNvSpPr txBox="1"/>
          <p:nvPr/>
        </p:nvSpPr>
        <p:spPr>
          <a:xfrm>
            <a:off x="5784580" y="5647849"/>
            <a:ext cx="62284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重要提醒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3509760" y="5819299"/>
            <a:ext cx="517248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五大公式均为必要条件，不满足任一条则排除 — 六大类型是加分项，满足越多越优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11283934" y="6554152"/>
            <a:ext cx="54040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08 / 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247650"/>
            <a:ext cx="57150" cy="3810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54380" y="306705"/>
            <a:ext cx="5431412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2C 个股确定性 · 建仓风格 · 风险纪律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7715" y="648652"/>
            <a:ext cx="524065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满足 2B 五公式后进 2C 核查 — 配合 /stock-entry · /stock-exit skill 使用</a:t>
            </a:r>
          </a:p>
        </p:txBody>
      </p:sp>
      <p:sp>
        <p:nvSpPr>
          <p:cNvPr id="7" name="Line 7"/>
          <p:cNvSpPr/>
          <p:nvPr/>
        </p:nvSpPr>
        <p:spPr>
          <a:xfrm>
            <a:off x="6038850" y="876300"/>
            <a:ext cx="9525" cy="5791200"/>
          </a:xfrm>
          <a:custGeom>
            <a:avLst/>
            <a:gdLst/>
            <a:ahLst/>
            <a:cxnLst/>
            <a:rect l="l" t="t" r="r" b="b"/>
            <a:pathLst>
              <a:path w="9525" h="5791200">
                <a:moveTo>
                  <a:pt x="0" y="0"/>
                </a:moveTo>
                <a:lnTo>
                  <a:pt x="0" y="579120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8" name="TextBox 8"/>
          <p:cNvSpPr txBox="1"/>
          <p:nvPr/>
        </p:nvSpPr>
        <p:spPr>
          <a:xfrm>
            <a:off x="560070" y="855345"/>
            <a:ext cx="145823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2C 个股确定性五大标准</a:t>
            </a:r>
          </a:p>
        </p:txBody>
      </p:sp>
      <p:sp>
        <p:nvSpPr>
          <p:cNvPr id="9" name="Rectangle 9"/>
          <p:cNvSpPr/>
          <p:nvPr/>
        </p:nvSpPr>
        <p:spPr>
          <a:xfrm>
            <a:off x="571500" y="1009650"/>
            <a:ext cx="5334000" cy="971550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10" name="Rectangle 10"/>
          <p:cNvSpPr/>
          <p:nvPr/>
        </p:nvSpPr>
        <p:spPr>
          <a:xfrm>
            <a:off x="571500" y="1009650"/>
            <a:ext cx="5334000" cy="381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11" name="Ellipse 11"/>
          <p:cNvSpPr/>
          <p:nvPr/>
        </p:nvSpPr>
        <p:spPr>
          <a:xfrm>
            <a:off x="723900" y="1362075"/>
            <a:ext cx="304800" cy="304800"/>
          </a:xfrm>
          <a:prstGeom prst="ellipse">
            <a:avLst/>
          </a:prstGeom>
          <a:solidFill>
            <a:srgbClr val="C96133">
              <a:alpha val="15000"/>
            </a:srgbClr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838812" y="1448752"/>
            <a:ext cx="7497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1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30618" y="1266349"/>
            <a:ext cx="130315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营收/盈利高速增长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130618" y="1418749"/>
            <a:ext cx="137043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（或亏损大幅收窄）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31570" y="1617345"/>
            <a:ext cx="226399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YoY增速&gt;20%？或亏损同比收窄&gt;50%？</a:t>
            </a:r>
          </a:p>
        </p:txBody>
      </p:sp>
      <p:sp>
        <p:nvSpPr>
          <p:cNvPr id="16" name="Rectangle 16"/>
          <p:cNvSpPr/>
          <p:nvPr/>
        </p:nvSpPr>
        <p:spPr>
          <a:xfrm>
            <a:off x="571500" y="2000250"/>
            <a:ext cx="5334000" cy="971550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17" name="Rectangle 17"/>
          <p:cNvSpPr/>
          <p:nvPr/>
        </p:nvSpPr>
        <p:spPr>
          <a:xfrm>
            <a:off x="571500" y="2000250"/>
            <a:ext cx="5334000" cy="38100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18" name="Ellipse 18"/>
          <p:cNvSpPr/>
          <p:nvPr/>
        </p:nvSpPr>
        <p:spPr>
          <a:xfrm>
            <a:off x="723900" y="2352675"/>
            <a:ext cx="304800" cy="304800"/>
          </a:xfrm>
          <a:prstGeom prst="ellipse">
            <a:avLst/>
          </a:prstGeom>
          <a:solidFill>
            <a:srgbClr val="3D7DE4">
              <a:alpha val="15000"/>
            </a:srgbClr>
          </a:solidFill>
          <a:ln>
            <a:noFill/>
          </a:ln>
        </p:spPr>
      </p:sp>
      <p:sp>
        <p:nvSpPr>
          <p:cNvPr id="19" name="TextBox 19"/>
          <p:cNvSpPr txBox="1"/>
          <p:nvPr/>
        </p:nvSpPr>
        <p:spPr>
          <a:xfrm>
            <a:off x="818684" y="2439352"/>
            <a:ext cx="11523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30618" y="2333149"/>
            <a:ext cx="122091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订单积压可见性高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31570" y="2550795"/>
            <a:ext cx="174478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积压订单覆盖≥2个季度收入？</a:t>
            </a:r>
          </a:p>
        </p:txBody>
      </p:sp>
      <p:sp>
        <p:nvSpPr>
          <p:cNvPr id="22" name="Rectangle 22"/>
          <p:cNvSpPr/>
          <p:nvPr/>
        </p:nvSpPr>
        <p:spPr>
          <a:xfrm>
            <a:off x="571500" y="2990850"/>
            <a:ext cx="5334000" cy="971550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23" name="Rectangle 23"/>
          <p:cNvSpPr/>
          <p:nvPr/>
        </p:nvSpPr>
        <p:spPr>
          <a:xfrm>
            <a:off x="571500" y="2990850"/>
            <a:ext cx="5334000" cy="38100"/>
          </a:xfrm>
          <a:prstGeom prst="roundRect">
            <a:avLst>
              <a:gd name="adj" fmla="val 50000"/>
            </a:avLst>
          </a:prstGeom>
          <a:solidFill>
            <a:srgbClr val="3A9E6A"/>
          </a:solidFill>
          <a:ln>
            <a:noFill/>
          </a:ln>
        </p:spPr>
      </p:sp>
      <p:sp>
        <p:nvSpPr>
          <p:cNvPr id="24" name="Ellipse 24"/>
          <p:cNvSpPr/>
          <p:nvPr/>
        </p:nvSpPr>
        <p:spPr>
          <a:xfrm>
            <a:off x="723900" y="3343275"/>
            <a:ext cx="304800" cy="304800"/>
          </a:xfrm>
          <a:prstGeom prst="ellipse">
            <a:avLst/>
          </a:prstGeom>
          <a:solidFill>
            <a:srgbClr val="3A9E6A">
              <a:alpha val="15000"/>
            </a:srgbClr>
          </a:solidFill>
          <a:ln>
            <a:noFill/>
          </a:ln>
        </p:spPr>
      </p:sp>
      <p:sp>
        <p:nvSpPr>
          <p:cNvPr id="25" name="TextBox 25"/>
          <p:cNvSpPr txBox="1"/>
          <p:nvPr/>
        </p:nvSpPr>
        <p:spPr>
          <a:xfrm>
            <a:off x="818684" y="3429952"/>
            <a:ext cx="11523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3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30618" y="3323749"/>
            <a:ext cx="107139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连续多季度增长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31570" y="3541395"/>
            <a:ext cx="232972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至少3个季度连续正向？加速还是减速？</a:t>
            </a:r>
          </a:p>
        </p:txBody>
      </p:sp>
      <p:sp>
        <p:nvSpPr>
          <p:cNvPr id="28" name="Rectangle 28"/>
          <p:cNvSpPr/>
          <p:nvPr/>
        </p:nvSpPr>
        <p:spPr>
          <a:xfrm>
            <a:off x="571500" y="3981450"/>
            <a:ext cx="5334000" cy="971550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29" name="Rectangle 29"/>
          <p:cNvSpPr/>
          <p:nvPr/>
        </p:nvSpPr>
        <p:spPr>
          <a:xfrm>
            <a:off x="571500" y="3981450"/>
            <a:ext cx="5334000" cy="381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30" name="Ellipse 30"/>
          <p:cNvSpPr/>
          <p:nvPr/>
        </p:nvSpPr>
        <p:spPr>
          <a:xfrm>
            <a:off x="723900" y="4333875"/>
            <a:ext cx="304800" cy="304800"/>
          </a:xfrm>
          <a:prstGeom prst="ellipse">
            <a:avLst/>
          </a:prstGeom>
          <a:solidFill>
            <a:srgbClr val="C96133">
              <a:alpha val="15000"/>
            </a:srgbClr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818684" y="4420552"/>
            <a:ext cx="11523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4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30618" y="4314349"/>
            <a:ext cx="166947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盈利拐点（中小盘重点）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31570" y="4531995"/>
            <a:ext cx="193538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从亏损→盈利的季度是否已出现？</a:t>
            </a:r>
          </a:p>
        </p:txBody>
      </p:sp>
      <p:sp>
        <p:nvSpPr>
          <p:cNvPr id="34" name="Rectangle 34"/>
          <p:cNvSpPr/>
          <p:nvPr/>
        </p:nvSpPr>
        <p:spPr>
          <a:xfrm>
            <a:off x="571500" y="4972050"/>
            <a:ext cx="5334000" cy="971550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35" name="Rectangle 35"/>
          <p:cNvSpPr/>
          <p:nvPr/>
        </p:nvSpPr>
        <p:spPr>
          <a:xfrm>
            <a:off x="571500" y="4972050"/>
            <a:ext cx="5334000" cy="38100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36" name="Ellipse 36"/>
          <p:cNvSpPr/>
          <p:nvPr/>
        </p:nvSpPr>
        <p:spPr>
          <a:xfrm>
            <a:off x="723900" y="5324475"/>
            <a:ext cx="304800" cy="304800"/>
          </a:xfrm>
          <a:prstGeom prst="ellipse">
            <a:avLst/>
          </a:prstGeom>
          <a:solidFill>
            <a:srgbClr val="3D7DE4">
              <a:alpha val="15000"/>
            </a:srgbClr>
          </a:solidFill>
          <a:ln>
            <a:noFill/>
          </a:ln>
        </p:spPr>
      </p:sp>
      <p:sp>
        <p:nvSpPr>
          <p:cNvPr id="37" name="TextBox 37"/>
          <p:cNvSpPr txBox="1"/>
          <p:nvPr/>
        </p:nvSpPr>
        <p:spPr>
          <a:xfrm>
            <a:off x="818684" y="5411152"/>
            <a:ext cx="11523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30618" y="5304949"/>
            <a:ext cx="130315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基本面+技术面配合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31570" y="5522595"/>
            <a:ext cx="292779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财报验证后，价格结构（周/月K）是否同步确认？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6160770" y="855345"/>
            <a:ext cx="227254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建仓风格（Section 3）— 金字塔加仓</a:t>
            </a:r>
          </a:p>
        </p:txBody>
      </p:sp>
      <p:sp>
        <p:nvSpPr>
          <p:cNvPr id="41" name="Rectangle 41"/>
          <p:cNvSpPr/>
          <p:nvPr/>
        </p:nvSpPr>
        <p:spPr>
          <a:xfrm>
            <a:off x="8039100" y="1009650"/>
            <a:ext cx="1714500" cy="438150"/>
          </a:xfrm>
          <a:prstGeom prst="roundRect">
            <a:avLst>
              <a:gd name="adj" fmla="val 13043"/>
            </a:avLst>
          </a:prstGeom>
          <a:solidFill>
            <a:srgbClr val="C96133">
              <a:alpha val="12000"/>
            </a:srgbClr>
          </a:solidFill>
          <a:ln w="9525">
            <a:solidFill>
              <a:srgbClr val="C96133"/>
            </a:solidFill>
          </a:ln>
        </p:spPr>
      </p:sp>
      <p:sp>
        <p:nvSpPr>
          <p:cNvPr id="42" name="TextBox 42"/>
          <p:cNvSpPr txBox="1"/>
          <p:nvPr/>
        </p:nvSpPr>
        <p:spPr>
          <a:xfrm>
            <a:off x="8721995" y="1105852"/>
            <a:ext cx="34871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试仓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8596694" y="1292066"/>
            <a:ext cx="599313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5–10% 仓位</a:t>
            </a:r>
          </a:p>
        </p:txBody>
      </p:sp>
      <p:sp>
        <p:nvSpPr>
          <p:cNvPr id="44" name="Line 44"/>
          <p:cNvSpPr/>
          <p:nvPr/>
        </p:nvSpPr>
        <p:spPr>
          <a:xfrm>
            <a:off x="8896350" y="1447800"/>
            <a:ext cx="9525" cy="76200"/>
          </a:xfrm>
          <a:custGeom>
            <a:avLst/>
            <a:gdLst/>
            <a:ahLst/>
            <a:cxnLst/>
            <a:rect l="l" t="t" r="r" b="b"/>
            <a:pathLst>
              <a:path w="9525" h="76200">
                <a:moveTo>
                  <a:pt x="0" y="0"/>
                </a:moveTo>
                <a:lnTo>
                  <a:pt x="0" y="76200"/>
                </a:lnTo>
              </a:path>
            </a:pathLst>
          </a:custGeom>
          <a:noFill/>
          <a:ln w="14288">
            <a:solidFill>
              <a:srgbClr val="C96133"/>
            </a:solidFill>
          </a:ln>
        </p:spPr>
      </p:sp>
      <p:sp>
        <p:nvSpPr>
          <p:cNvPr id="45" name="Polygon 45"/>
          <p:cNvSpPr/>
          <p:nvPr/>
        </p:nvSpPr>
        <p:spPr>
          <a:xfrm>
            <a:off x="8858250" y="1504950"/>
            <a:ext cx="76200" cy="57150"/>
          </a:xfrm>
          <a:custGeom>
            <a:avLst/>
            <a:gdLst/>
            <a:ahLst/>
            <a:cxnLst/>
            <a:rect l="l" t="t" r="r" b="b"/>
            <a:pathLst>
              <a:path w="76200" h="57150">
                <a:moveTo>
                  <a:pt x="0" y="0"/>
                </a:moveTo>
                <a:lnTo>
                  <a:pt x="38100" y="57150"/>
                </a:lnTo>
                <a:lnTo>
                  <a:pt x="76200" y="0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46" name="TextBox 46"/>
          <p:cNvSpPr txBox="1"/>
          <p:nvPr/>
        </p:nvSpPr>
        <p:spPr>
          <a:xfrm>
            <a:off x="9020175" y="1443038"/>
            <a:ext cx="676275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价格确认上涨</a:t>
            </a:r>
          </a:p>
        </p:txBody>
      </p:sp>
      <p:sp>
        <p:nvSpPr>
          <p:cNvPr id="47" name="Rectangle 47"/>
          <p:cNvSpPr/>
          <p:nvPr/>
        </p:nvSpPr>
        <p:spPr>
          <a:xfrm>
            <a:off x="7467600" y="1562100"/>
            <a:ext cx="2857500" cy="438150"/>
          </a:xfrm>
          <a:prstGeom prst="roundRect">
            <a:avLst>
              <a:gd name="adj" fmla="val 13043"/>
            </a:avLst>
          </a:prstGeom>
          <a:solidFill>
            <a:srgbClr val="C96133">
              <a:alpha val="22000"/>
            </a:srgbClr>
          </a:solidFill>
          <a:ln w="9525">
            <a:solidFill>
              <a:srgbClr val="C96133"/>
            </a:solidFill>
          </a:ln>
        </p:spPr>
      </p:sp>
      <p:sp>
        <p:nvSpPr>
          <p:cNvPr id="48" name="TextBox 48"/>
          <p:cNvSpPr txBox="1"/>
          <p:nvPr/>
        </p:nvSpPr>
        <p:spPr>
          <a:xfrm>
            <a:off x="8721995" y="1658302"/>
            <a:ext cx="34871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加仓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8343662" y="1844516"/>
            <a:ext cx="110537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趋势确认，扩大仓位</a:t>
            </a:r>
          </a:p>
        </p:txBody>
      </p:sp>
      <p:sp>
        <p:nvSpPr>
          <p:cNvPr id="50" name="Line 50"/>
          <p:cNvSpPr/>
          <p:nvPr/>
        </p:nvSpPr>
        <p:spPr>
          <a:xfrm>
            <a:off x="8896350" y="2000250"/>
            <a:ext cx="9525" cy="76200"/>
          </a:xfrm>
          <a:custGeom>
            <a:avLst/>
            <a:gdLst/>
            <a:ahLst/>
            <a:cxnLst/>
            <a:rect l="l" t="t" r="r" b="b"/>
            <a:pathLst>
              <a:path w="9525" h="76200">
                <a:moveTo>
                  <a:pt x="0" y="0"/>
                </a:moveTo>
                <a:lnTo>
                  <a:pt x="0" y="76200"/>
                </a:lnTo>
              </a:path>
            </a:pathLst>
          </a:custGeom>
          <a:noFill/>
          <a:ln w="14288">
            <a:solidFill>
              <a:srgbClr val="C96133"/>
            </a:solidFill>
          </a:ln>
        </p:spPr>
      </p:sp>
      <p:sp>
        <p:nvSpPr>
          <p:cNvPr id="51" name="Polygon 51"/>
          <p:cNvSpPr/>
          <p:nvPr/>
        </p:nvSpPr>
        <p:spPr>
          <a:xfrm>
            <a:off x="8858250" y="2057400"/>
            <a:ext cx="76200" cy="57150"/>
          </a:xfrm>
          <a:custGeom>
            <a:avLst/>
            <a:gdLst/>
            <a:ahLst/>
            <a:cxnLst/>
            <a:rect l="l" t="t" r="r" b="b"/>
            <a:pathLst>
              <a:path w="76200" h="57150">
                <a:moveTo>
                  <a:pt x="0" y="0"/>
                </a:moveTo>
                <a:lnTo>
                  <a:pt x="38100" y="57150"/>
                </a:lnTo>
                <a:lnTo>
                  <a:pt x="76200" y="0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52" name="TextBox 52"/>
          <p:cNvSpPr txBox="1"/>
          <p:nvPr/>
        </p:nvSpPr>
        <p:spPr>
          <a:xfrm>
            <a:off x="9020175" y="1995488"/>
            <a:ext cx="4572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再次确认</a:t>
            </a:r>
          </a:p>
        </p:txBody>
      </p:sp>
      <p:sp>
        <p:nvSpPr>
          <p:cNvPr id="53" name="Rectangle 53"/>
          <p:cNvSpPr/>
          <p:nvPr/>
        </p:nvSpPr>
        <p:spPr>
          <a:xfrm>
            <a:off x="6896100" y="2114550"/>
            <a:ext cx="4000500" cy="438150"/>
          </a:xfrm>
          <a:prstGeom prst="roundRect">
            <a:avLst>
              <a:gd name="adj" fmla="val 13043"/>
            </a:avLst>
          </a:prstGeom>
          <a:solidFill>
            <a:srgbClr val="C96133">
              <a:alpha val="35000"/>
            </a:srgbClr>
          </a:solidFill>
          <a:ln w="14288">
            <a:solidFill>
              <a:srgbClr val="C96133"/>
            </a:solidFill>
          </a:ln>
        </p:spPr>
      </p:sp>
      <p:sp>
        <p:nvSpPr>
          <p:cNvPr id="54" name="TextBox 54"/>
          <p:cNvSpPr txBox="1"/>
          <p:nvPr/>
        </p:nvSpPr>
        <p:spPr>
          <a:xfrm>
            <a:off x="8721995" y="2210752"/>
            <a:ext cx="34871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加码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8343662" y="2396966"/>
            <a:ext cx="110537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满仓持有，趋势主升</a:t>
            </a:r>
          </a:p>
        </p:txBody>
      </p:sp>
      <p:sp>
        <p:nvSpPr>
          <p:cNvPr id="56" name="Rectangle 56"/>
          <p:cNvSpPr/>
          <p:nvPr/>
        </p:nvSpPr>
        <p:spPr>
          <a:xfrm>
            <a:off x="6172200" y="2647950"/>
            <a:ext cx="5448300" cy="457200"/>
          </a:xfrm>
          <a:prstGeom prst="roundRect">
            <a:avLst>
              <a:gd name="adj" fmla="val 12500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57" name="TextBox 57"/>
          <p:cNvSpPr txBox="1"/>
          <p:nvPr/>
        </p:nvSpPr>
        <p:spPr>
          <a:xfrm>
            <a:off x="6969931" y="2741295"/>
            <a:ext cx="385283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核心原则："不怕追高" — 入场精度低于 SEPA，注重趋势持续性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7129713" y="2920841"/>
            <a:ext cx="353327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Chen Yun：趋势持续优先 | SEPA：精确突破优先 | 小盘需更宽止损</a:t>
            </a:r>
          </a:p>
        </p:txBody>
      </p:sp>
      <p:sp>
        <p:nvSpPr>
          <p:cNvPr id="59" name="Line 59"/>
          <p:cNvSpPr/>
          <p:nvPr/>
        </p:nvSpPr>
        <p:spPr>
          <a:xfrm>
            <a:off x="6172200" y="3200400"/>
            <a:ext cx="5448300" cy="9525"/>
          </a:xfrm>
          <a:custGeom>
            <a:avLst/>
            <a:gdLst/>
            <a:ahLst/>
            <a:cxnLst/>
            <a:rect l="l" t="t" r="r" b="b"/>
            <a:pathLst>
              <a:path w="5448300" h="9525">
                <a:moveTo>
                  <a:pt x="0" y="0"/>
                </a:moveTo>
                <a:lnTo>
                  <a:pt x="5448300" y="0"/>
                </a:lnTo>
              </a:path>
            </a:pathLst>
          </a:custGeom>
          <a:noFill/>
          <a:ln w="14288">
            <a:solidFill>
              <a:srgbClr val="E0D8D0"/>
            </a:solidFill>
          </a:ln>
        </p:spPr>
      </p:sp>
      <p:sp>
        <p:nvSpPr>
          <p:cNvPr id="60" name="TextBox 60"/>
          <p:cNvSpPr txBox="1"/>
          <p:nvPr/>
        </p:nvSpPr>
        <p:spPr>
          <a:xfrm>
            <a:off x="6160770" y="3255645"/>
            <a:ext cx="213452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风险纪律（Section 4）— 五大铁律</a:t>
            </a:r>
          </a:p>
        </p:txBody>
      </p:sp>
      <p:sp>
        <p:nvSpPr>
          <p:cNvPr id="61" name="Rectangle 61"/>
          <p:cNvSpPr/>
          <p:nvPr/>
        </p:nvSpPr>
        <p:spPr>
          <a:xfrm>
            <a:off x="6172200" y="3429000"/>
            <a:ext cx="54483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62" name="Rectangle 62"/>
          <p:cNvSpPr/>
          <p:nvPr/>
        </p:nvSpPr>
        <p:spPr>
          <a:xfrm>
            <a:off x="6172200" y="3429000"/>
            <a:ext cx="38100" cy="514350"/>
          </a:xfrm>
          <a:prstGeom prst="roundRect">
            <a:avLst>
              <a:gd name="adj" fmla="val 50000"/>
            </a:avLst>
          </a:prstGeom>
          <a:solidFill>
            <a:srgbClr val="3A9E6A"/>
          </a:solidFill>
          <a:ln>
            <a:noFill/>
          </a:ln>
        </p:spPr>
      </p:sp>
      <p:sp>
        <p:nvSpPr>
          <p:cNvPr id="63" name="TextBox 63"/>
          <p:cNvSpPr txBox="1"/>
          <p:nvPr/>
        </p:nvSpPr>
        <p:spPr>
          <a:xfrm>
            <a:off x="6331268" y="3504724"/>
            <a:ext cx="77235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免费股策略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6332220" y="3703320"/>
            <a:ext cx="343385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仓位上涨100%后卖出一半，收回成本基础，剩余零成本持有</a:t>
            </a:r>
          </a:p>
        </p:txBody>
      </p:sp>
      <p:sp>
        <p:nvSpPr>
          <p:cNvPr id="65" name="Rectangle 65"/>
          <p:cNvSpPr/>
          <p:nvPr/>
        </p:nvSpPr>
        <p:spPr>
          <a:xfrm>
            <a:off x="6172200" y="3962400"/>
            <a:ext cx="54483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66" name="Rectangle 66"/>
          <p:cNvSpPr/>
          <p:nvPr/>
        </p:nvSpPr>
        <p:spPr>
          <a:xfrm>
            <a:off x="6172200" y="3962400"/>
            <a:ext cx="38100" cy="514350"/>
          </a:xfrm>
          <a:prstGeom prst="roundRect">
            <a:avLst>
              <a:gd name="adj" fmla="val 50000"/>
            </a:avLst>
          </a:prstGeom>
          <a:solidFill>
            <a:srgbClr val="D44545"/>
          </a:solidFill>
          <a:ln>
            <a:noFill/>
          </a:ln>
        </p:spPr>
      </p:sp>
      <p:sp>
        <p:nvSpPr>
          <p:cNvPr id="67" name="TextBox 67"/>
          <p:cNvSpPr txBox="1"/>
          <p:nvPr/>
        </p:nvSpPr>
        <p:spPr>
          <a:xfrm>
            <a:off x="6331268" y="4038124"/>
            <a:ext cx="77235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无杠杆铁律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6332220" y="4236720"/>
            <a:ext cx="321040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"股市有风险，切记不要贷款" — 无论多确定不借钱炒股</a:t>
            </a:r>
          </a:p>
        </p:txBody>
      </p:sp>
      <p:sp>
        <p:nvSpPr>
          <p:cNvPr id="69" name="Rectangle 69"/>
          <p:cNvSpPr/>
          <p:nvPr/>
        </p:nvSpPr>
        <p:spPr>
          <a:xfrm>
            <a:off x="6172200" y="4495800"/>
            <a:ext cx="54483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70" name="Rectangle 70"/>
          <p:cNvSpPr/>
          <p:nvPr/>
        </p:nvSpPr>
        <p:spPr>
          <a:xfrm>
            <a:off x="6172200" y="4495800"/>
            <a:ext cx="38100" cy="51435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71" name="TextBox 71"/>
          <p:cNvSpPr txBox="1"/>
          <p:nvPr/>
        </p:nvSpPr>
        <p:spPr>
          <a:xfrm>
            <a:off x="6331268" y="4571524"/>
            <a:ext cx="64526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OTC 排除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6332220" y="4770120"/>
            <a:ext cx="343385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小市值必须 NYSE/Nasdaq 主板 — OTC 流动性差，直接排除</a:t>
            </a:r>
          </a:p>
        </p:txBody>
      </p:sp>
      <p:sp>
        <p:nvSpPr>
          <p:cNvPr id="73" name="Rectangle 73"/>
          <p:cNvSpPr/>
          <p:nvPr/>
        </p:nvSpPr>
        <p:spPr>
          <a:xfrm>
            <a:off x="6172200" y="5029200"/>
            <a:ext cx="54483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74" name="Rectangle 74"/>
          <p:cNvSpPr/>
          <p:nvPr/>
        </p:nvSpPr>
        <p:spPr>
          <a:xfrm>
            <a:off x="6172200" y="5029200"/>
            <a:ext cx="38100" cy="514350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75" name="TextBox 75"/>
          <p:cNvSpPr txBox="1"/>
          <p:nvPr/>
        </p:nvSpPr>
        <p:spPr>
          <a:xfrm>
            <a:off x="6331268" y="5104924"/>
            <a:ext cx="62284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动态观望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6332220" y="5303520"/>
            <a:ext cx="321040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全球动荡期"多看少动手" — 现金也是仓位，不强行入场</a:t>
            </a:r>
          </a:p>
        </p:txBody>
      </p:sp>
      <p:sp>
        <p:nvSpPr>
          <p:cNvPr id="77" name="Rectangle 77"/>
          <p:cNvSpPr/>
          <p:nvPr/>
        </p:nvSpPr>
        <p:spPr>
          <a:xfrm>
            <a:off x="6172200" y="5562600"/>
            <a:ext cx="54483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78" name="Rectangle 78"/>
          <p:cNvSpPr/>
          <p:nvPr/>
        </p:nvSpPr>
        <p:spPr>
          <a:xfrm>
            <a:off x="6172200" y="5562600"/>
            <a:ext cx="38100" cy="514350"/>
          </a:xfrm>
          <a:prstGeom prst="roundRect">
            <a:avLst>
              <a:gd name="adj" fmla="val 50000"/>
            </a:avLst>
          </a:prstGeom>
          <a:solidFill>
            <a:srgbClr val="9E9E9E"/>
          </a:solidFill>
          <a:ln>
            <a:noFill/>
          </a:ln>
        </p:spPr>
      </p:sp>
      <p:sp>
        <p:nvSpPr>
          <p:cNvPr id="79" name="TextBox 79"/>
          <p:cNvSpPr txBox="1"/>
          <p:nvPr/>
        </p:nvSpPr>
        <p:spPr>
          <a:xfrm>
            <a:off x="6331268" y="5638324"/>
            <a:ext cx="92187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忽略跳空补缺</a:t>
            </a:r>
          </a:p>
        </p:txBody>
      </p:sp>
      <p:sp>
        <p:nvSpPr>
          <p:cNvPr id="80" name="TextBox 80"/>
          <p:cNvSpPr txBox="1"/>
          <p:nvPr/>
        </p:nvSpPr>
        <p:spPr>
          <a:xfrm>
            <a:off x="6332220" y="5836920"/>
            <a:ext cx="280292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明确不按跳空补缺逻辑操作 — 追势不等缺口回补</a:t>
            </a:r>
          </a:p>
        </p:txBody>
      </p:sp>
      <p:sp>
        <p:nvSpPr>
          <p:cNvPr id="81" name="Rectangle 81"/>
          <p:cNvSpPr/>
          <p:nvPr/>
        </p:nvSpPr>
        <p:spPr>
          <a:xfrm>
            <a:off x="6172200" y="6172200"/>
            <a:ext cx="5448300" cy="304800"/>
          </a:xfrm>
          <a:prstGeom prst="roundRect">
            <a:avLst>
              <a:gd name="adj" fmla="val 18750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82" name="TextBox 82"/>
          <p:cNvSpPr txBox="1"/>
          <p:nvPr/>
        </p:nvSpPr>
        <p:spPr>
          <a:xfrm>
            <a:off x="6735301" y="6275070"/>
            <a:ext cx="432209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与 /stock-entry（入场评估） · /stock-exit（出场纪律）skill 联动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11283934" y="6554152"/>
            <a:ext cx="54040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09 / 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247650"/>
            <a:ext cx="57150" cy="3810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50570" y="274320"/>
            <a:ext cx="2729293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各赛道 ETF 映射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6762" y="659606"/>
            <a:ext cx="496597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热门题材赛道对应的 ETF 及个股替代方案 — 无纯ETF赛道用个股代替</a:t>
            </a:r>
          </a:p>
        </p:txBody>
      </p:sp>
      <p:sp>
        <p:nvSpPr>
          <p:cNvPr id="7" name="Rectangle 7"/>
          <p:cNvSpPr/>
          <p:nvPr/>
        </p:nvSpPr>
        <p:spPr>
          <a:xfrm>
            <a:off x="571500" y="914400"/>
            <a:ext cx="11049000" cy="323850"/>
          </a:xfrm>
          <a:prstGeom prst="rect">
            <a:avLst/>
          </a:prstGeom>
          <a:solidFill>
            <a:srgbClr val="1E1E1E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749618" y="1018699"/>
            <a:ext cx="62284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热门赛道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807018" y="1018699"/>
            <a:ext cx="74245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ETF / 标的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636068" y="1018699"/>
            <a:ext cx="62284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FAFAF8"/>
                </a:solidFill>
                <a:latin typeface="Arial"/>
                <a:ea typeface="Microsoft YaHei"/>
                <a:cs typeface="Arial"/>
              </a:rPr>
              <a:t>策略说明</a:t>
            </a:r>
          </a:p>
        </p:txBody>
      </p:sp>
      <p:sp>
        <p:nvSpPr>
          <p:cNvPr id="11" name="Line 11"/>
          <p:cNvSpPr/>
          <p:nvPr/>
        </p:nvSpPr>
        <p:spPr>
          <a:xfrm>
            <a:off x="2667000" y="914400"/>
            <a:ext cx="9525" cy="323850"/>
          </a:xfrm>
          <a:custGeom>
            <a:avLst/>
            <a:gdLst/>
            <a:ahLst/>
            <a:cxnLst/>
            <a:rect l="l" t="t" r="r" b="b"/>
            <a:pathLst>
              <a:path w="9525" h="323850">
                <a:moveTo>
                  <a:pt x="0" y="0"/>
                </a:moveTo>
                <a:lnTo>
                  <a:pt x="0" y="323850"/>
                </a:lnTo>
              </a:path>
            </a:pathLst>
          </a:custGeom>
          <a:noFill/>
          <a:ln w="9525">
            <a:solidFill>
              <a:srgbClr val="FAFAF8">
                <a:alpha val="30000"/>
              </a:srgbClr>
            </a:solidFill>
          </a:ln>
        </p:spPr>
      </p:sp>
      <p:sp>
        <p:nvSpPr>
          <p:cNvPr id="12" name="Line 12"/>
          <p:cNvSpPr/>
          <p:nvPr/>
        </p:nvSpPr>
        <p:spPr>
          <a:xfrm>
            <a:off x="6477000" y="914400"/>
            <a:ext cx="9525" cy="323850"/>
          </a:xfrm>
          <a:custGeom>
            <a:avLst/>
            <a:gdLst/>
            <a:ahLst/>
            <a:cxnLst/>
            <a:rect l="l" t="t" r="r" b="b"/>
            <a:pathLst>
              <a:path w="9525" h="323850">
                <a:moveTo>
                  <a:pt x="0" y="0"/>
                </a:moveTo>
                <a:lnTo>
                  <a:pt x="0" y="323850"/>
                </a:lnTo>
              </a:path>
            </a:pathLst>
          </a:custGeom>
          <a:noFill/>
          <a:ln w="9525">
            <a:solidFill>
              <a:srgbClr val="FAFAF8">
                <a:alpha val="30000"/>
              </a:srgbClr>
            </a:solidFill>
          </a:ln>
        </p:spPr>
      </p:sp>
      <p:sp>
        <p:nvSpPr>
          <p:cNvPr id="13" name="Rectangle 13"/>
          <p:cNvSpPr/>
          <p:nvPr/>
        </p:nvSpPr>
        <p:spPr>
          <a:xfrm>
            <a:off x="571500" y="1238250"/>
            <a:ext cx="1104900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4" name="Line 14"/>
          <p:cNvSpPr/>
          <p:nvPr/>
        </p:nvSpPr>
        <p:spPr>
          <a:xfrm>
            <a:off x="571500" y="19240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15" name="Line 15"/>
          <p:cNvSpPr/>
          <p:nvPr/>
        </p:nvSpPr>
        <p:spPr>
          <a:xfrm>
            <a:off x="2667000" y="1238250"/>
            <a:ext cx="9525" cy="685800"/>
          </a:xfrm>
          <a:custGeom>
            <a:avLst/>
            <a:gdLst/>
            <a:ahLst/>
            <a:cxnLst/>
            <a:rect l="l" t="t" r="r" b="b"/>
            <a:pathLst>
              <a:path w="9525" h="685800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16" name="Line 16"/>
          <p:cNvSpPr/>
          <p:nvPr/>
        </p:nvSpPr>
        <p:spPr>
          <a:xfrm>
            <a:off x="6477000" y="1238250"/>
            <a:ext cx="9525" cy="685800"/>
          </a:xfrm>
          <a:custGeom>
            <a:avLst/>
            <a:gdLst/>
            <a:ahLst/>
            <a:cxnLst/>
            <a:rect l="l" t="t" r="r" b="b"/>
            <a:pathLst>
              <a:path w="9525" h="685800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17" name="TextBox 17"/>
          <p:cNvSpPr txBox="1"/>
          <p:nvPr/>
        </p:nvSpPr>
        <p:spPr>
          <a:xfrm>
            <a:off x="746760" y="1375410"/>
            <a:ext cx="1051808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存储/半导体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49618" y="1590199"/>
            <a:ext cx="100019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AI底层存储赛道</a:t>
            </a:r>
          </a:p>
        </p:txBody>
      </p:sp>
      <p:sp>
        <p:nvSpPr>
          <p:cNvPr id="19" name="Ellipse 19"/>
          <p:cNvSpPr/>
          <p:nvPr/>
        </p:nvSpPr>
        <p:spPr>
          <a:xfrm>
            <a:off x="2819400" y="1524000"/>
            <a:ext cx="114300" cy="11430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3012758" y="1367314"/>
            <a:ext cx="501644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SOXX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3017520" y="1598295"/>
            <a:ext cx="207340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首选SOXX，更分散不过度集中NVDA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635115" y="1391602"/>
            <a:ext cx="363812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SOXX含50只半导体股，更分散；SMH权重过集中NVDA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636068" y="1590199"/>
            <a:ext cx="253810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首选SOXX参与AI存储/HBM赛道整体上涨</a:t>
            </a:r>
          </a:p>
        </p:txBody>
      </p:sp>
      <p:sp>
        <p:nvSpPr>
          <p:cNvPr id="24" name="Rectangle 24"/>
          <p:cNvSpPr/>
          <p:nvPr/>
        </p:nvSpPr>
        <p:spPr>
          <a:xfrm>
            <a:off x="571500" y="1924050"/>
            <a:ext cx="11049000" cy="685800"/>
          </a:xfrm>
          <a:prstGeom prst="rect">
            <a:avLst/>
          </a:prstGeom>
          <a:solidFill>
            <a:srgbClr val="F8F6F4"/>
          </a:solidFill>
          <a:ln>
            <a:noFill/>
          </a:ln>
        </p:spPr>
      </p:sp>
      <p:sp>
        <p:nvSpPr>
          <p:cNvPr id="25" name="Line 25"/>
          <p:cNvSpPr/>
          <p:nvPr/>
        </p:nvSpPr>
        <p:spPr>
          <a:xfrm>
            <a:off x="571500" y="26098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26" name="Line 26"/>
          <p:cNvSpPr/>
          <p:nvPr/>
        </p:nvSpPr>
        <p:spPr>
          <a:xfrm>
            <a:off x="2667000" y="1924050"/>
            <a:ext cx="9525" cy="685800"/>
          </a:xfrm>
          <a:custGeom>
            <a:avLst/>
            <a:gdLst/>
            <a:ahLst/>
            <a:cxnLst/>
            <a:rect l="l" t="t" r="r" b="b"/>
            <a:pathLst>
              <a:path w="9525" h="685800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27" name="Line 27"/>
          <p:cNvSpPr/>
          <p:nvPr/>
        </p:nvSpPr>
        <p:spPr>
          <a:xfrm>
            <a:off x="6477000" y="1924050"/>
            <a:ext cx="9525" cy="685800"/>
          </a:xfrm>
          <a:custGeom>
            <a:avLst/>
            <a:gdLst/>
            <a:ahLst/>
            <a:cxnLst/>
            <a:rect l="l" t="t" r="r" b="b"/>
            <a:pathLst>
              <a:path w="9525" h="685800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28" name="TextBox 28"/>
          <p:cNvSpPr txBox="1"/>
          <p:nvPr/>
        </p:nvSpPr>
        <p:spPr>
          <a:xfrm>
            <a:off x="746760" y="2061210"/>
            <a:ext cx="582549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光互连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49618" y="2275999"/>
            <a:ext cx="102155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数据中心光传输</a:t>
            </a:r>
          </a:p>
        </p:txBody>
      </p:sp>
      <p:sp>
        <p:nvSpPr>
          <p:cNvPr id="30" name="Ellipse 30"/>
          <p:cNvSpPr/>
          <p:nvPr/>
        </p:nvSpPr>
        <p:spPr>
          <a:xfrm>
            <a:off x="2819400" y="2209800"/>
            <a:ext cx="114300" cy="1143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3015615" y="2077402"/>
            <a:ext cx="61439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无纯ETF</a:t>
            </a:r>
          </a:p>
        </p:txBody>
      </p:sp>
      <p:sp>
        <p:nvSpPr>
          <p:cNvPr id="32" name="Rectangle 32"/>
          <p:cNvSpPr/>
          <p:nvPr/>
        </p:nvSpPr>
        <p:spPr>
          <a:xfrm>
            <a:off x="3028950" y="2286000"/>
            <a:ext cx="609600" cy="209550"/>
          </a:xfrm>
          <a:prstGeom prst="roundRect">
            <a:avLst>
              <a:gd name="adj" fmla="val 18182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33" name="TextBox 33"/>
          <p:cNvSpPr txBox="1"/>
          <p:nvPr/>
        </p:nvSpPr>
        <p:spPr>
          <a:xfrm>
            <a:off x="3115294" y="2331720"/>
            <a:ext cx="43691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用个股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6635115" y="2077402"/>
            <a:ext cx="292503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个股篮子：NVTS + COHR — 光互连核心标的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636068" y="2275999"/>
            <a:ext cx="298665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待合适ETF出现；当前NVTS+COHR作为标准篮子</a:t>
            </a:r>
          </a:p>
        </p:txBody>
      </p:sp>
      <p:sp>
        <p:nvSpPr>
          <p:cNvPr id="36" name="Rectangle 36"/>
          <p:cNvSpPr/>
          <p:nvPr/>
        </p:nvSpPr>
        <p:spPr>
          <a:xfrm>
            <a:off x="571500" y="2609850"/>
            <a:ext cx="1104900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7" name="Line 37"/>
          <p:cNvSpPr/>
          <p:nvPr/>
        </p:nvSpPr>
        <p:spPr>
          <a:xfrm>
            <a:off x="571500" y="32956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38" name="Line 38"/>
          <p:cNvSpPr/>
          <p:nvPr/>
        </p:nvSpPr>
        <p:spPr>
          <a:xfrm>
            <a:off x="2667000" y="2609850"/>
            <a:ext cx="9525" cy="685800"/>
          </a:xfrm>
          <a:custGeom>
            <a:avLst/>
            <a:gdLst/>
            <a:ahLst/>
            <a:cxnLst/>
            <a:rect l="l" t="t" r="r" b="b"/>
            <a:pathLst>
              <a:path w="9525" h="685800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39" name="Line 39"/>
          <p:cNvSpPr/>
          <p:nvPr/>
        </p:nvSpPr>
        <p:spPr>
          <a:xfrm>
            <a:off x="6477000" y="2609850"/>
            <a:ext cx="9525" cy="685800"/>
          </a:xfrm>
          <a:custGeom>
            <a:avLst/>
            <a:gdLst/>
            <a:ahLst/>
            <a:cxnLst/>
            <a:rect l="l" t="t" r="r" b="b"/>
            <a:pathLst>
              <a:path w="9525" h="685800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40" name="TextBox 40"/>
          <p:cNvSpPr txBox="1"/>
          <p:nvPr/>
        </p:nvSpPr>
        <p:spPr>
          <a:xfrm>
            <a:off x="746760" y="2747010"/>
            <a:ext cx="76657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卫星通信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749618" y="2961799"/>
            <a:ext cx="142739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低轨卫星/SpaceX概念</a:t>
            </a:r>
          </a:p>
        </p:txBody>
      </p:sp>
      <p:sp>
        <p:nvSpPr>
          <p:cNvPr id="42" name="Ellipse 42"/>
          <p:cNvSpPr/>
          <p:nvPr/>
        </p:nvSpPr>
        <p:spPr>
          <a:xfrm>
            <a:off x="2819400" y="2895600"/>
            <a:ext cx="114300" cy="11430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</p:sp>
      <p:sp>
        <p:nvSpPr>
          <p:cNvPr id="43" name="TextBox 43"/>
          <p:cNvSpPr txBox="1"/>
          <p:nvPr/>
        </p:nvSpPr>
        <p:spPr>
          <a:xfrm>
            <a:off x="3012758" y="2738914"/>
            <a:ext cx="39410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UFO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3017520" y="2969895"/>
            <a:ext cx="242830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流动性优于ARKX；等SPCX IPO后回调入场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6635115" y="2763202"/>
            <a:ext cx="264133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UFO流动性最佳；ARKX为主动管理基金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6636068" y="2961799"/>
            <a:ext cx="201122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SPCX IPO后回调入场可替代UFO</a:t>
            </a:r>
          </a:p>
        </p:txBody>
      </p:sp>
      <p:sp>
        <p:nvSpPr>
          <p:cNvPr id="47" name="Rectangle 47"/>
          <p:cNvSpPr/>
          <p:nvPr/>
        </p:nvSpPr>
        <p:spPr>
          <a:xfrm>
            <a:off x="571500" y="3295650"/>
            <a:ext cx="11049000" cy="685800"/>
          </a:xfrm>
          <a:prstGeom prst="rect">
            <a:avLst/>
          </a:prstGeom>
          <a:solidFill>
            <a:srgbClr val="F8F6F4"/>
          </a:solidFill>
          <a:ln>
            <a:noFill/>
          </a:ln>
        </p:spPr>
      </p:sp>
      <p:sp>
        <p:nvSpPr>
          <p:cNvPr id="48" name="Line 48"/>
          <p:cNvSpPr/>
          <p:nvPr/>
        </p:nvSpPr>
        <p:spPr>
          <a:xfrm>
            <a:off x="571500" y="39814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49" name="Line 49"/>
          <p:cNvSpPr/>
          <p:nvPr/>
        </p:nvSpPr>
        <p:spPr>
          <a:xfrm>
            <a:off x="2667000" y="3295650"/>
            <a:ext cx="9525" cy="685800"/>
          </a:xfrm>
          <a:custGeom>
            <a:avLst/>
            <a:gdLst/>
            <a:ahLst/>
            <a:cxnLst/>
            <a:rect l="l" t="t" r="r" b="b"/>
            <a:pathLst>
              <a:path w="9525" h="685800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50" name="Line 50"/>
          <p:cNvSpPr/>
          <p:nvPr/>
        </p:nvSpPr>
        <p:spPr>
          <a:xfrm>
            <a:off x="6477000" y="3295650"/>
            <a:ext cx="9525" cy="685800"/>
          </a:xfrm>
          <a:custGeom>
            <a:avLst/>
            <a:gdLst/>
            <a:ahLst/>
            <a:cxnLst/>
            <a:rect l="l" t="t" r="r" b="b"/>
            <a:pathLst>
              <a:path w="9525" h="685800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51" name="TextBox 51"/>
          <p:cNvSpPr txBox="1"/>
          <p:nvPr/>
        </p:nvSpPr>
        <p:spPr>
          <a:xfrm>
            <a:off x="746760" y="3432810"/>
            <a:ext cx="76657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电网储能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749618" y="3647599"/>
            <a:ext cx="124227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清洁能源/储能基建</a:t>
            </a:r>
          </a:p>
        </p:txBody>
      </p:sp>
      <p:sp>
        <p:nvSpPr>
          <p:cNvPr id="53" name="Ellipse 53"/>
          <p:cNvSpPr/>
          <p:nvPr/>
        </p:nvSpPr>
        <p:spPr>
          <a:xfrm>
            <a:off x="2819400" y="3581400"/>
            <a:ext cx="114300" cy="11430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</p:sp>
      <p:sp>
        <p:nvSpPr>
          <p:cNvPr id="54" name="TextBox 54"/>
          <p:cNvSpPr txBox="1"/>
          <p:nvPr/>
        </p:nvSpPr>
        <p:spPr>
          <a:xfrm>
            <a:off x="3012758" y="3424714"/>
            <a:ext cx="41365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GRID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3017520" y="3655695"/>
            <a:ext cx="153447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最贴合SiC/储能/电网基建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6635115" y="3449002"/>
            <a:ext cx="278701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GRID最贴合SiC/超导/储能/电网基建主题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6636068" y="3647599"/>
            <a:ext cx="246690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ICLN/TAN偏清洁能源发电端，方向略偏</a:t>
            </a:r>
          </a:p>
        </p:txBody>
      </p:sp>
      <p:sp>
        <p:nvSpPr>
          <p:cNvPr id="58" name="Rectangle 58"/>
          <p:cNvSpPr/>
          <p:nvPr/>
        </p:nvSpPr>
        <p:spPr>
          <a:xfrm>
            <a:off x="571500" y="3981450"/>
            <a:ext cx="1104900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59" name="Line 59"/>
          <p:cNvSpPr/>
          <p:nvPr/>
        </p:nvSpPr>
        <p:spPr>
          <a:xfrm>
            <a:off x="571500" y="46672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60" name="Line 60"/>
          <p:cNvSpPr/>
          <p:nvPr/>
        </p:nvSpPr>
        <p:spPr>
          <a:xfrm>
            <a:off x="2667000" y="3981450"/>
            <a:ext cx="9525" cy="685800"/>
          </a:xfrm>
          <a:custGeom>
            <a:avLst/>
            <a:gdLst/>
            <a:ahLst/>
            <a:cxnLst/>
            <a:rect l="l" t="t" r="r" b="b"/>
            <a:pathLst>
              <a:path w="9525" h="685800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61" name="Line 61"/>
          <p:cNvSpPr/>
          <p:nvPr/>
        </p:nvSpPr>
        <p:spPr>
          <a:xfrm>
            <a:off x="6477000" y="3981450"/>
            <a:ext cx="9525" cy="685800"/>
          </a:xfrm>
          <a:custGeom>
            <a:avLst/>
            <a:gdLst/>
            <a:ahLst/>
            <a:cxnLst/>
            <a:rect l="l" t="t" r="r" b="b"/>
            <a:pathLst>
              <a:path w="9525" h="685800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62" name="TextBox 62"/>
          <p:cNvSpPr txBox="1"/>
          <p:nvPr/>
        </p:nvSpPr>
        <p:spPr>
          <a:xfrm>
            <a:off x="746760" y="4118610"/>
            <a:ext cx="76657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先进封装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749618" y="4333399"/>
            <a:ext cx="137043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CoWoS/SoIC封装技术</a:t>
            </a:r>
          </a:p>
        </p:txBody>
      </p:sp>
      <p:sp>
        <p:nvSpPr>
          <p:cNvPr id="64" name="Ellipse 64"/>
          <p:cNvSpPr/>
          <p:nvPr/>
        </p:nvSpPr>
        <p:spPr>
          <a:xfrm>
            <a:off x="2819400" y="4267200"/>
            <a:ext cx="114300" cy="1143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65" name="TextBox 65"/>
          <p:cNvSpPr txBox="1"/>
          <p:nvPr/>
        </p:nvSpPr>
        <p:spPr>
          <a:xfrm>
            <a:off x="3015615" y="4134802"/>
            <a:ext cx="61439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无纯ETF</a:t>
            </a:r>
          </a:p>
        </p:txBody>
      </p:sp>
      <p:sp>
        <p:nvSpPr>
          <p:cNvPr id="66" name="Rectangle 66"/>
          <p:cNvSpPr/>
          <p:nvPr/>
        </p:nvSpPr>
        <p:spPr>
          <a:xfrm>
            <a:off x="3028950" y="4343400"/>
            <a:ext cx="609600" cy="209550"/>
          </a:xfrm>
          <a:prstGeom prst="roundRect">
            <a:avLst>
              <a:gd name="adj" fmla="val 18182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67" name="TextBox 67"/>
          <p:cNvSpPr txBox="1"/>
          <p:nvPr/>
        </p:nvSpPr>
        <p:spPr>
          <a:xfrm>
            <a:off x="3115294" y="4389120"/>
            <a:ext cx="43691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用个股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6635115" y="4134802"/>
            <a:ext cx="386048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AMKR个股或暂缓 — 无纯封装ETF（SOXX/SMH部分重叠）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6636068" y="4333399"/>
            <a:ext cx="242418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先进封装为AI算力爆发的关键瓶颈赛道</a:t>
            </a:r>
          </a:p>
        </p:txBody>
      </p:sp>
      <p:sp>
        <p:nvSpPr>
          <p:cNvPr id="70" name="Rectangle 70"/>
          <p:cNvSpPr/>
          <p:nvPr/>
        </p:nvSpPr>
        <p:spPr>
          <a:xfrm>
            <a:off x="571500" y="4667250"/>
            <a:ext cx="11049000" cy="685800"/>
          </a:xfrm>
          <a:prstGeom prst="rect">
            <a:avLst/>
          </a:prstGeom>
          <a:solidFill>
            <a:srgbClr val="F8F6F4"/>
          </a:solidFill>
          <a:ln>
            <a:noFill/>
          </a:ln>
        </p:spPr>
      </p:sp>
      <p:sp>
        <p:nvSpPr>
          <p:cNvPr id="71" name="Line 71"/>
          <p:cNvSpPr/>
          <p:nvPr/>
        </p:nvSpPr>
        <p:spPr>
          <a:xfrm>
            <a:off x="571500" y="53530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72" name="Line 72"/>
          <p:cNvSpPr/>
          <p:nvPr/>
        </p:nvSpPr>
        <p:spPr>
          <a:xfrm>
            <a:off x="2667000" y="4667250"/>
            <a:ext cx="9525" cy="685800"/>
          </a:xfrm>
          <a:custGeom>
            <a:avLst/>
            <a:gdLst/>
            <a:ahLst/>
            <a:cxnLst/>
            <a:rect l="l" t="t" r="r" b="b"/>
            <a:pathLst>
              <a:path w="9525" h="685800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73" name="Line 73"/>
          <p:cNvSpPr/>
          <p:nvPr/>
        </p:nvSpPr>
        <p:spPr>
          <a:xfrm>
            <a:off x="6477000" y="4667250"/>
            <a:ext cx="9525" cy="685800"/>
          </a:xfrm>
          <a:custGeom>
            <a:avLst/>
            <a:gdLst/>
            <a:ahLst/>
            <a:cxnLst/>
            <a:rect l="l" t="t" r="r" b="b"/>
            <a:pathLst>
              <a:path w="9525" h="685800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74" name="TextBox 74"/>
          <p:cNvSpPr txBox="1"/>
          <p:nvPr/>
        </p:nvSpPr>
        <p:spPr>
          <a:xfrm>
            <a:off x="746760" y="4804410"/>
            <a:ext cx="76657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关键矿产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749618" y="5019199"/>
            <a:ext cx="117819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稀土/锂/战略矿产</a:t>
            </a:r>
          </a:p>
        </p:txBody>
      </p:sp>
      <p:sp>
        <p:nvSpPr>
          <p:cNvPr id="76" name="Ellipse 76"/>
          <p:cNvSpPr/>
          <p:nvPr/>
        </p:nvSpPr>
        <p:spPr>
          <a:xfrm>
            <a:off x="2819400" y="4953000"/>
            <a:ext cx="114300" cy="11430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</p:sp>
      <p:sp>
        <p:nvSpPr>
          <p:cNvPr id="77" name="TextBox 77"/>
          <p:cNvSpPr txBox="1"/>
          <p:nvPr/>
        </p:nvSpPr>
        <p:spPr>
          <a:xfrm>
            <a:off x="3012758" y="4796314"/>
            <a:ext cx="501644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REMX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3017520" y="5027295"/>
            <a:ext cx="159362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首选REMX，稀土/关键矿产</a:t>
            </a:r>
          </a:p>
        </p:txBody>
      </p:sp>
      <p:sp>
        <p:nvSpPr>
          <p:cNvPr id="79" name="TextBox 79"/>
          <p:cNvSpPr txBox="1"/>
          <p:nvPr/>
        </p:nvSpPr>
        <p:spPr>
          <a:xfrm>
            <a:off x="6635115" y="4820602"/>
            <a:ext cx="293270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REMX专注稀土/关键矿产（去中国化主题）</a:t>
            </a:r>
          </a:p>
        </p:txBody>
      </p:sp>
      <p:sp>
        <p:nvSpPr>
          <p:cNvPr id="80" name="TextBox 80"/>
          <p:cNvSpPr txBox="1"/>
          <p:nvPr/>
        </p:nvSpPr>
        <p:spPr>
          <a:xfrm>
            <a:off x="6636068" y="5019199"/>
            <a:ext cx="240994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LIT偏锂电、PICK过于宽泛，首选REMX</a:t>
            </a:r>
          </a:p>
        </p:txBody>
      </p:sp>
      <p:sp>
        <p:nvSpPr>
          <p:cNvPr id="81" name="Rectangle 81"/>
          <p:cNvSpPr/>
          <p:nvPr/>
        </p:nvSpPr>
        <p:spPr>
          <a:xfrm>
            <a:off x="571500" y="5353050"/>
            <a:ext cx="1104900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82" name="Line 82"/>
          <p:cNvSpPr/>
          <p:nvPr/>
        </p:nvSpPr>
        <p:spPr>
          <a:xfrm>
            <a:off x="571500" y="60388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83" name="Line 83"/>
          <p:cNvSpPr/>
          <p:nvPr/>
        </p:nvSpPr>
        <p:spPr>
          <a:xfrm>
            <a:off x="2667000" y="5353050"/>
            <a:ext cx="9525" cy="685800"/>
          </a:xfrm>
          <a:custGeom>
            <a:avLst/>
            <a:gdLst/>
            <a:ahLst/>
            <a:cxnLst/>
            <a:rect l="l" t="t" r="r" b="b"/>
            <a:pathLst>
              <a:path w="9525" h="685800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84" name="Line 84"/>
          <p:cNvSpPr/>
          <p:nvPr/>
        </p:nvSpPr>
        <p:spPr>
          <a:xfrm>
            <a:off x="6477000" y="5353050"/>
            <a:ext cx="9525" cy="685800"/>
          </a:xfrm>
          <a:custGeom>
            <a:avLst/>
            <a:gdLst/>
            <a:ahLst/>
            <a:cxnLst/>
            <a:rect l="l" t="t" r="r" b="b"/>
            <a:pathLst>
              <a:path w="9525" h="685800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85" name="TextBox 85"/>
          <p:cNvSpPr txBox="1"/>
          <p:nvPr/>
        </p:nvSpPr>
        <p:spPr>
          <a:xfrm>
            <a:off x="746760" y="5490210"/>
            <a:ext cx="84018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PropTech</a:t>
            </a:r>
          </a:p>
        </p:txBody>
      </p:sp>
      <p:sp>
        <p:nvSpPr>
          <p:cNvPr id="86" name="TextBox 86"/>
          <p:cNvSpPr txBox="1"/>
          <p:nvPr/>
        </p:nvSpPr>
        <p:spPr>
          <a:xfrm>
            <a:off x="749618" y="5704999"/>
            <a:ext cx="102155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房地产科技平台</a:t>
            </a:r>
          </a:p>
        </p:txBody>
      </p:sp>
      <p:sp>
        <p:nvSpPr>
          <p:cNvPr id="87" name="Ellipse 87"/>
          <p:cNvSpPr/>
          <p:nvPr/>
        </p:nvSpPr>
        <p:spPr>
          <a:xfrm>
            <a:off x="2819400" y="5638800"/>
            <a:ext cx="114300" cy="1143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88" name="TextBox 88"/>
          <p:cNvSpPr txBox="1"/>
          <p:nvPr/>
        </p:nvSpPr>
        <p:spPr>
          <a:xfrm>
            <a:off x="3015615" y="5506402"/>
            <a:ext cx="61439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无纯ETF</a:t>
            </a:r>
          </a:p>
        </p:txBody>
      </p:sp>
      <p:sp>
        <p:nvSpPr>
          <p:cNvPr id="89" name="Rectangle 89"/>
          <p:cNvSpPr/>
          <p:nvPr/>
        </p:nvSpPr>
        <p:spPr>
          <a:xfrm>
            <a:off x="3028950" y="5715000"/>
            <a:ext cx="609600" cy="209550"/>
          </a:xfrm>
          <a:prstGeom prst="roundRect">
            <a:avLst>
              <a:gd name="adj" fmla="val 18182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90" name="TextBox 90"/>
          <p:cNvSpPr txBox="1"/>
          <p:nvPr/>
        </p:nvSpPr>
        <p:spPr>
          <a:xfrm>
            <a:off x="3115294" y="5760720"/>
            <a:ext cx="43691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用个股</a:t>
            </a:r>
          </a:p>
        </p:txBody>
      </p:sp>
      <p:sp>
        <p:nvSpPr>
          <p:cNvPr id="91" name="TextBox 91"/>
          <p:cNvSpPr txBox="1"/>
          <p:nvPr/>
        </p:nvSpPr>
        <p:spPr>
          <a:xfrm>
            <a:off x="6635115" y="5506402"/>
            <a:ext cx="309372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OPEN · COMP 个股 — PropTech降息扭亏逻辑</a:t>
            </a:r>
          </a:p>
        </p:txBody>
      </p:sp>
      <p:sp>
        <p:nvSpPr>
          <p:cNvPr id="92" name="TextBox 92"/>
          <p:cNvSpPr txBox="1"/>
          <p:nvPr/>
        </p:nvSpPr>
        <p:spPr>
          <a:xfrm>
            <a:off x="6636068" y="5704999"/>
            <a:ext cx="255946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IYR/VNQ偏传统REIT，PropTech无纯ETF</a:t>
            </a:r>
          </a:p>
        </p:txBody>
      </p:sp>
      <p:sp>
        <p:nvSpPr>
          <p:cNvPr id="93" name="Rectangle 93"/>
          <p:cNvSpPr/>
          <p:nvPr/>
        </p:nvSpPr>
        <p:spPr>
          <a:xfrm>
            <a:off x="571500" y="914400"/>
            <a:ext cx="11049000" cy="5124450"/>
          </a:xfrm>
          <a:prstGeom prst="rect">
            <a:avLst/>
          </a:prstGeom>
          <a:noFill/>
          <a:ln w="14288">
            <a:solidFill>
              <a:srgbClr val="E0D8D0"/>
            </a:solidFill>
          </a:ln>
        </p:spPr>
      </p:sp>
      <p:sp>
        <p:nvSpPr>
          <p:cNvPr id="94" name="Ellipse 94"/>
          <p:cNvSpPr/>
          <p:nvPr/>
        </p:nvSpPr>
        <p:spPr>
          <a:xfrm>
            <a:off x="704850" y="6172200"/>
            <a:ext cx="114300" cy="11430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</p:sp>
      <p:sp>
        <p:nvSpPr>
          <p:cNvPr id="95" name="TextBox 95"/>
          <p:cNvSpPr txBox="1"/>
          <p:nvPr/>
        </p:nvSpPr>
        <p:spPr>
          <a:xfrm>
            <a:off x="863918" y="6162199"/>
            <a:ext cx="68691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有对应ETF</a:t>
            </a:r>
          </a:p>
        </p:txBody>
      </p:sp>
      <p:sp>
        <p:nvSpPr>
          <p:cNvPr id="96" name="Ellipse 96"/>
          <p:cNvSpPr/>
          <p:nvPr/>
        </p:nvSpPr>
        <p:spPr>
          <a:xfrm>
            <a:off x="1809750" y="6172200"/>
            <a:ext cx="114300" cy="1143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97" name="TextBox 97"/>
          <p:cNvSpPr txBox="1"/>
          <p:nvPr/>
        </p:nvSpPr>
        <p:spPr>
          <a:xfrm>
            <a:off x="1968818" y="6162199"/>
            <a:ext cx="139891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无纯ETF，用个股替代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11322272" y="6554152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10 / 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247650"/>
            <a:ext cx="57150" cy="361950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52475" y="271462"/>
            <a:ext cx="5422571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SEPA 趋势模板 — Stage 2 唯一入场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7715" y="629602"/>
            <a:ext cx="520231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Minervini 方法 · 8大条件全通过 · VCP 形态 · ATR 自适应止损 · 翻倍股调整</a:t>
            </a:r>
          </a:p>
        </p:txBody>
      </p:sp>
      <p:sp>
        <p:nvSpPr>
          <p:cNvPr id="7" name="Rectangle 7"/>
          <p:cNvSpPr/>
          <p:nvPr/>
        </p:nvSpPr>
        <p:spPr>
          <a:xfrm>
            <a:off x="571500" y="819150"/>
            <a:ext cx="2667000" cy="571500"/>
          </a:xfrm>
          <a:prstGeom prst="roundRect">
            <a:avLst>
              <a:gd name="adj" fmla="val 13333"/>
            </a:avLst>
          </a:prstGeom>
          <a:solidFill>
            <a:srgbClr val="F5F4F2"/>
          </a:solidFill>
          <a:ln w="14288">
            <a:solidFill>
              <a:srgbClr val="E0D8D0"/>
            </a:solidFill>
          </a:ln>
        </p:spPr>
      </p:sp>
      <p:sp>
        <p:nvSpPr>
          <p:cNvPr id="8" name="TextBox 8"/>
          <p:cNvSpPr txBox="1"/>
          <p:nvPr/>
        </p:nvSpPr>
        <p:spPr>
          <a:xfrm>
            <a:off x="1368350" y="943928"/>
            <a:ext cx="107330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Stage 1 · 蓄势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302068" y="1160145"/>
            <a:ext cx="120586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底部整理，观望不买</a:t>
            </a:r>
          </a:p>
        </p:txBody>
      </p:sp>
      <p:sp>
        <p:nvSpPr>
          <p:cNvPr id="10" name="Rectangle 10"/>
          <p:cNvSpPr/>
          <p:nvPr/>
        </p:nvSpPr>
        <p:spPr>
          <a:xfrm>
            <a:off x="3314700" y="819150"/>
            <a:ext cx="2667000" cy="571500"/>
          </a:xfrm>
          <a:prstGeom prst="roundRect">
            <a:avLst>
              <a:gd name="adj" fmla="val 13333"/>
            </a:avLst>
          </a:prstGeom>
          <a:solidFill>
            <a:srgbClr val="3A9E6A">
              <a:alpha val="12000"/>
            </a:srgbClr>
          </a:solidFill>
          <a:ln w="19050">
            <a:solidFill>
              <a:srgbClr val="3A9E6A"/>
            </a:solidFill>
          </a:ln>
        </p:spPr>
      </p:sp>
      <p:sp>
        <p:nvSpPr>
          <p:cNvPr id="11" name="TextBox 11"/>
          <p:cNvSpPr txBox="1"/>
          <p:nvPr/>
        </p:nvSpPr>
        <p:spPr>
          <a:xfrm>
            <a:off x="4091422" y="943928"/>
            <a:ext cx="111355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Stage 2 · 上涨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222718" y="1160145"/>
            <a:ext cx="85096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唯一买入阶段</a:t>
            </a:r>
          </a:p>
        </p:txBody>
      </p:sp>
      <p:sp>
        <p:nvSpPr>
          <p:cNvPr id="13" name="Rectangle 13"/>
          <p:cNvSpPr/>
          <p:nvPr/>
        </p:nvSpPr>
        <p:spPr>
          <a:xfrm>
            <a:off x="6057900" y="819150"/>
            <a:ext cx="2667000" cy="571500"/>
          </a:xfrm>
          <a:prstGeom prst="roundRect">
            <a:avLst>
              <a:gd name="adj" fmla="val 13333"/>
            </a:avLst>
          </a:prstGeom>
          <a:solidFill>
            <a:srgbClr val="D44545">
              <a:alpha val="8000"/>
            </a:srgbClr>
          </a:solidFill>
          <a:ln w="14288">
            <a:solidFill>
              <a:srgbClr val="D44545"/>
            </a:solidFill>
          </a:ln>
        </p:spPr>
      </p:sp>
      <p:sp>
        <p:nvSpPr>
          <p:cNvPr id="14" name="TextBox 14"/>
          <p:cNvSpPr txBox="1"/>
          <p:nvPr/>
        </p:nvSpPr>
        <p:spPr>
          <a:xfrm>
            <a:off x="6834622" y="943928"/>
            <a:ext cx="111355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D44545"/>
                </a:solidFill>
                <a:latin typeface="Arial"/>
                <a:ea typeface="Microsoft YaHei"/>
                <a:cs typeface="Arial"/>
              </a:rPr>
              <a:t>Stage 3 · 顶部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788467" y="1160145"/>
            <a:ext cx="120586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D44545"/>
                </a:solidFill>
                <a:latin typeface="Arial"/>
                <a:ea typeface="Microsoft YaHei"/>
                <a:cs typeface="Arial"/>
              </a:rPr>
              <a:t>高位震荡，开始减仓</a:t>
            </a:r>
          </a:p>
        </p:txBody>
      </p:sp>
      <p:sp>
        <p:nvSpPr>
          <p:cNvPr id="16" name="Rectangle 16"/>
          <p:cNvSpPr/>
          <p:nvPr/>
        </p:nvSpPr>
        <p:spPr>
          <a:xfrm>
            <a:off x="8801100" y="819150"/>
            <a:ext cx="2667000" cy="571500"/>
          </a:xfrm>
          <a:prstGeom prst="roundRect">
            <a:avLst>
              <a:gd name="adj" fmla="val 13333"/>
            </a:avLst>
          </a:prstGeom>
          <a:solidFill>
            <a:srgbClr val="1E1E1E">
              <a:alpha val="6000"/>
            </a:srgbClr>
          </a:solidFill>
          <a:ln w="14288">
            <a:solidFill>
              <a:srgbClr val="1E1E1E">
                <a:alpha val="30000"/>
              </a:srgbClr>
            </a:solidFill>
          </a:ln>
        </p:spPr>
      </p:sp>
      <p:sp>
        <p:nvSpPr>
          <p:cNvPr id="17" name="TextBox 17"/>
          <p:cNvSpPr txBox="1"/>
          <p:nvPr/>
        </p:nvSpPr>
        <p:spPr>
          <a:xfrm>
            <a:off x="9577822" y="943928"/>
            <a:ext cx="111355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Stage 4 · 下跌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794558" y="1160145"/>
            <a:ext cx="68008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持币，远离</a:t>
            </a:r>
          </a:p>
        </p:txBody>
      </p:sp>
      <p:sp>
        <p:nvSpPr>
          <p:cNvPr id="19" name="Line 19"/>
          <p:cNvSpPr/>
          <p:nvPr/>
        </p:nvSpPr>
        <p:spPr>
          <a:xfrm>
            <a:off x="6038850" y="1466850"/>
            <a:ext cx="9525" cy="5257800"/>
          </a:xfrm>
          <a:custGeom>
            <a:avLst/>
            <a:gdLst/>
            <a:ahLst/>
            <a:cxnLst/>
            <a:rect l="l" t="t" r="r" b="b"/>
            <a:pathLst>
              <a:path w="9525" h="5257800">
                <a:moveTo>
                  <a:pt x="0" y="0"/>
                </a:moveTo>
                <a:lnTo>
                  <a:pt x="0" y="525780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20" name="TextBox 20"/>
          <p:cNvSpPr txBox="1"/>
          <p:nvPr/>
        </p:nvSpPr>
        <p:spPr>
          <a:xfrm>
            <a:off x="560070" y="1464945"/>
            <a:ext cx="248646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趋势模板 8大条件（全部通过方可买入）</a:t>
            </a:r>
          </a:p>
        </p:txBody>
      </p:sp>
      <p:sp>
        <p:nvSpPr>
          <p:cNvPr id="21" name="Rectangle 21"/>
          <p:cNvSpPr/>
          <p:nvPr/>
        </p:nvSpPr>
        <p:spPr>
          <a:xfrm>
            <a:off x="571500" y="1619250"/>
            <a:ext cx="5334000" cy="5029200"/>
          </a:xfrm>
          <a:prstGeom prst="roundRect">
            <a:avLst>
              <a:gd name="adj" fmla="val 1515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22" name="Line 22"/>
          <p:cNvSpPr/>
          <p:nvPr/>
        </p:nvSpPr>
        <p:spPr>
          <a:xfrm>
            <a:off x="571500" y="22479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w="9525">
            <a:solidFill>
              <a:srgbClr val="F0EDE8"/>
            </a:solidFill>
          </a:ln>
        </p:spPr>
      </p:sp>
      <p:sp>
        <p:nvSpPr>
          <p:cNvPr id="23" name="Line 23"/>
          <p:cNvSpPr/>
          <p:nvPr/>
        </p:nvSpPr>
        <p:spPr>
          <a:xfrm>
            <a:off x="571500" y="287655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w="9525">
            <a:solidFill>
              <a:srgbClr val="F0EDE8"/>
            </a:solidFill>
          </a:ln>
        </p:spPr>
      </p:sp>
      <p:sp>
        <p:nvSpPr>
          <p:cNvPr id="24" name="Line 24"/>
          <p:cNvSpPr/>
          <p:nvPr/>
        </p:nvSpPr>
        <p:spPr>
          <a:xfrm>
            <a:off x="571500" y="35052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w="9525">
            <a:solidFill>
              <a:srgbClr val="F0EDE8"/>
            </a:solidFill>
          </a:ln>
        </p:spPr>
      </p:sp>
      <p:sp>
        <p:nvSpPr>
          <p:cNvPr id="25" name="Line 25"/>
          <p:cNvSpPr/>
          <p:nvPr/>
        </p:nvSpPr>
        <p:spPr>
          <a:xfrm>
            <a:off x="571500" y="413385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w="9525">
            <a:solidFill>
              <a:srgbClr val="F0EDE8"/>
            </a:solidFill>
          </a:ln>
        </p:spPr>
      </p:sp>
      <p:sp>
        <p:nvSpPr>
          <p:cNvPr id="26" name="Line 26"/>
          <p:cNvSpPr/>
          <p:nvPr/>
        </p:nvSpPr>
        <p:spPr>
          <a:xfrm>
            <a:off x="571500" y="47625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w="9525">
            <a:solidFill>
              <a:srgbClr val="F0EDE8"/>
            </a:solidFill>
          </a:ln>
        </p:spPr>
      </p:sp>
      <p:sp>
        <p:nvSpPr>
          <p:cNvPr id="27" name="Line 27"/>
          <p:cNvSpPr/>
          <p:nvPr/>
        </p:nvSpPr>
        <p:spPr>
          <a:xfrm>
            <a:off x="571500" y="539115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w="9525">
            <a:solidFill>
              <a:srgbClr val="F0EDE8"/>
            </a:solidFill>
          </a:ln>
        </p:spPr>
      </p:sp>
      <p:sp>
        <p:nvSpPr>
          <p:cNvPr id="28" name="Line 28"/>
          <p:cNvSpPr/>
          <p:nvPr/>
        </p:nvSpPr>
        <p:spPr>
          <a:xfrm>
            <a:off x="571500" y="60198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w="9525">
            <a:solidFill>
              <a:srgbClr val="F0EDE8"/>
            </a:solidFill>
          </a:ln>
        </p:spPr>
      </p:sp>
      <p:sp>
        <p:nvSpPr>
          <p:cNvPr id="29" name="Ellipse 29"/>
          <p:cNvSpPr/>
          <p:nvPr/>
        </p:nvSpPr>
        <p:spPr>
          <a:xfrm>
            <a:off x="723900" y="1819275"/>
            <a:ext cx="228600" cy="228600"/>
          </a:xfrm>
          <a:prstGeom prst="ellipse">
            <a:avLst/>
          </a:prstGeom>
          <a:solidFill>
            <a:srgbClr val="3D7DE4">
              <a:alpha val="15000"/>
            </a:srgbClr>
          </a:solidFill>
          <a:ln>
            <a:noFill/>
          </a:ln>
        </p:spPr>
      </p:sp>
      <p:sp>
        <p:nvSpPr>
          <p:cNvPr id="30" name="TextBox 30"/>
          <p:cNvSpPr txBox="1"/>
          <p:nvPr/>
        </p:nvSpPr>
        <p:spPr>
          <a:xfrm>
            <a:off x="808745" y="1892141"/>
            <a:ext cx="58910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1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054418" y="1761649"/>
            <a:ext cx="220026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Price &gt; MA150 且 Price &gt; MA200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056322" y="1968341"/>
            <a:ext cx="228016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股价在中期和长期均线上方 — MA 阶梯基础</a:t>
            </a:r>
          </a:p>
        </p:txBody>
      </p:sp>
      <p:sp>
        <p:nvSpPr>
          <p:cNvPr id="33" name="Ellipse 33"/>
          <p:cNvSpPr/>
          <p:nvPr/>
        </p:nvSpPr>
        <p:spPr>
          <a:xfrm>
            <a:off x="723900" y="2447925"/>
            <a:ext cx="228600" cy="228600"/>
          </a:xfrm>
          <a:prstGeom prst="ellipse">
            <a:avLst/>
          </a:prstGeom>
          <a:solidFill>
            <a:srgbClr val="3D7DE4">
              <a:alpha val="15000"/>
            </a:srgbClr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792931" y="2520791"/>
            <a:ext cx="90539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54418" y="2390299"/>
            <a:ext cx="104149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MA150 &gt; MA200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056322" y="2596991"/>
            <a:ext cx="2207871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中期均线在长期均线上方 — 牛市结构确认</a:t>
            </a:r>
          </a:p>
        </p:txBody>
      </p:sp>
      <p:sp>
        <p:nvSpPr>
          <p:cNvPr id="37" name="Ellipse 37"/>
          <p:cNvSpPr/>
          <p:nvPr/>
        </p:nvSpPr>
        <p:spPr>
          <a:xfrm>
            <a:off x="723900" y="3076575"/>
            <a:ext cx="228600" cy="228600"/>
          </a:xfrm>
          <a:prstGeom prst="ellipse">
            <a:avLst/>
          </a:prstGeom>
          <a:solidFill>
            <a:srgbClr val="3D7DE4">
              <a:alpha val="15000"/>
            </a:srgbClr>
          </a:solidFill>
          <a:ln>
            <a:noFill/>
          </a:ln>
        </p:spPr>
      </p:sp>
      <p:sp>
        <p:nvSpPr>
          <p:cNvPr id="38" name="TextBox 38"/>
          <p:cNvSpPr txBox="1"/>
          <p:nvPr/>
        </p:nvSpPr>
        <p:spPr>
          <a:xfrm>
            <a:off x="792931" y="3149441"/>
            <a:ext cx="90539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3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054418" y="3018949"/>
            <a:ext cx="162461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MA200 上升趋势 ≥ 1个月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056322" y="3225641"/>
            <a:ext cx="1876520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理想 4-5 个月上升 — 长期方向朝上</a:t>
            </a:r>
          </a:p>
        </p:txBody>
      </p:sp>
      <p:sp>
        <p:nvSpPr>
          <p:cNvPr id="41" name="Ellipse 41"/>
          <p:cNvSpPr/>
          <p:nvPr/>
        </p:nvSpPr>
        <p:spPr>
          <a:xfrm>
            <a:off x="723900" y="3705225"/>
            <a:ext cx="228600" cy="228600"/>
          </a:xfrm>
          <a:prstGeom prst="ellipse">
            <a:avLst/>
          </a:prstGeom>
          <a:solidFill>
            <a:srgbClr val="3D7DE4">
              <a:alpha val="15000"/>
            </a:srgbClr>
          </a:solidFill>
          <a:ln>
            <a:noFill/>
          </a:ln>
        </p:spPr>
      </p:sp>
      <p:sp>
        <p:nvSpPr>
          <p:cNvPr id="42" name="TextBox 42"/>
          <p:cNvSpPr txBox="1"/>
          <p:nvPr/>
        </p:nvSpPr>
        <p:spPr>
          <a:xfrm>
            <a:off x="792931" y="3778091"/>
            <a:ext cx="90539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4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054418" y="3647599"/>
            <a:ext cx="217035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MA50 &gt; MA150 且 MA50 &gt; MA200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056322" y="3854291"/>
            <a:ext cx="1346359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短中长均线完整牛市排列</a:t>
            </a:r>
          </a:p>
        </p:txBody>
      </p:sp>
      <p:sp>
        <p:nvSpPr>
          <p:cNvPr id="45" name="Ellipse 45"/>
          <p:cNvSpPr/>
          <p:nvPr/>
        </p:nvSpPr>
        <p:spPr>
          <a:xfrm>
            <a:off x="723900" y="4333875"/>
            <a:ext cx="228600" cy="228600"/>
          </a:xfrm>
          <a:prstGeom prst="ellipse">
            <a:avLst/>
          </a:prstGeom>
          <a:solidFill>
            <a:srgbClr val="3D7DE4">
              <a:alpha val="15000"/>
            </a:srgbClr>
          </a:solidFill>
          <a:ln>
            <a:noFill/>
          </a:ln>
        </p:spPr>
      </p:sp>
      <p:sp>
        <p:nvSpPr>
          <p:cNvPr id="46" name="TextBox 46"/>
          <p:cNvSpPr txBox="1"/>
          <p:nvPr/>
        </p:nvSpPr>
        <p:spPr>
          <a:xfrm>
            <a:off x="792931" y="4406741"/>
            <a:ext cx="90539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054418" y="4276249"/>
            <a:ext cx="92935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Price &gt; MA50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056322" y="4482941"/>
            <a:ext cx="170783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股价在短期均线上方，趋势健康</a:t>
            </a:r>
          </a:p>
        </p:txBody>
      </p:sp>
      <p:sp>
        <p:nvSpPr>
          <p:cNvPr id="49" name="Ellipse 49"/>
          <p:cNvSpPr/>
          <p:nvPr/>
        </p:nvSpPr>
        <p:spPr>
          <a:xfrm>
            <a:off x="723900" y="4962525"/>
            <a:ext cx="228600" cy="228600"/>
          </a:xfrm>
          <a:prstGeom prst="ellipse">
            <a:avLst/>
          </a:prstGeom>
          <a:solidFill>
            <a:srgbClr val="3A9E6A">
              <a:alpha val="15000"/>
            </a:srgbClr>
          </a:solidFill>
          <a:ln>
            <a:noFill/>
          </a:ln>
        </p:spPr>
      </p:sp>
      <p:sp>
        <p:nvSpPr>
          <p:cNvPr id="50" name="TextBox 50"/>
          <p:cNvSpPr txBox="1"/>
          <p:nvPr/>
        </p:nvSpPr>
        <p:spPr>
          <a:xfrm>
            <a:off x="792931" y="5035391"/>
            <a:ext cx="90539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6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054418" y="4904899"/>
            <a:ext cx="148257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价格 ≥ 52周低点 +30%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056322" y="5111591"/>
            <a:ext cx="1466850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远离低谷，已证明趋势反转</a:t>
            </a:r>
          </a:p>
        </p:txBody>
      </p:sp>
      <p:sp>
        <p:nvSpPr>
          <p:cNvPr id="53" name="Ellipse 53"/>
          <p:cNvSpPr/>
          <p:nvPr/>
        </p:nvSpPr>
        <p:spPr>
          <a:xfrm>
            <a:off x="723900" y="5591175"/>
            <a:ext cx="228600" cy="228600"/>
          </a:xfrm>
          <a:prstGeom prst="ellipse">
            <a:avLst/>
          </a:prstGeom>
          <a:solidFill>
            <a:srgbClr val="3A9E6A">
              <a:alpha val="15000"/>
            </a:srgbClr>
          </a:solidFill>
          <a:ln>
            <a:noFill/>
          </a:ln>
        </p:spPr>
      </p:sp>
      <p:sp>
        <p:nvSpPr>
          <p:cNvPr id="54" name="TextBox 54"/>
          <p:cNvSpPr txBox="1"/>
          <p:nvPr/>
        </p:nvSpPr>
        <p:spPr>
          <a:xfrm>
            <a:off x="792931" y="5664041"/>
            <a:ext cx="90539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7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054418" y="5533549"/>
            <a:ext cx="176665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价格在 52周高点 25% 以内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1056322" y="5740241"/>
            <a:ext cx="1346359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接近高点，上涨动能充足</a:t>
            </a:r>
          </a:p>
        </p:txBody>
      </p:sp>
      <p:sp>
        <p:nvSpPr>
          <p:cNvPr id="57" name="Ellipse 57"/>
          <p:cNvSpPr/>
          <p:nvPr/>
        </p:nvSpPr>
        <p:spPr>
          <a:xfrm>
            <a:off x="723900" y="6219825"/>
            <a:ext cx="228600" cy="228600"/>
          </a:xfrm>
          <a:prstGeom prst="ellipse">
            <a:avLst/>
          </a:prstGeom>
          <a:solidFill>
            <a:srgbClr val="C96133">
              <a:alpha val="15000"/>
            </a:srgbClr>
          </a:solidFill>
          <a:ln>
            <a:noFill/>
          </a:ln>
        </p:spPr>
      </p:sp>
      <p:sp>
        <p:nvSpPr>
          <p:cNvPr id="58" name="TextBox 58"/>
          <p:cNvSpPr txBox="1"/>
          <p:nvPr/>
        </p:nvSpPr>
        <p:spPr>
          <a:xfrm>
            <a:off x="792931" y="6292691"/>
            <a:ext cx="90539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8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1054418" y="6162199"/>
            <a:ext cx="21105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RS &gt; 70百分位（最好 85-90+）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1056322" y="6368891"/>
            <a:ext cx="1466850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相对大盘强势，领涨股特征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6160770" y="1464945"/>
            <a:ext cx="155485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VCP 形态 — 核心入场信号</a:t>
            </a:r>
          </a:p>
        </p:txBody>
      </p:sp>
      <p:sp>
        <p:nvSpPr>
          <p:cNvPr id="62" name="Rectangle 62"/>
          <p:cNvSpPr/>
          <p:nvPr/>
        </p:nvSpPr>
        <p:spPr>
          <a:xfrm>
            <a:off x="6172200" y="1619250"/>
            <a:ext cx="5448300" cy="135255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63" name="TextBox 63"/>
          <p:cNvSpPr txBox="1"/>
          <p:nvPr/>
        </p:nvSpPr>
        <p:spPr>
          <a:xfrm>
            <a:off x="6351270" y="1731645"/>
            <a:ext cx="205861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Volatility Contraction Pattern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6351270" y="1922145"/>
            <a:ext cx="234943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回调深度依次收窄：20% → 12% → 6% → 3%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6351270" y="2112645"/>
            <a:ext cx="234286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量能干涸（VDU）：每次整理成交量递减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6351270" y="2303145"/>
            <a:ext cx="199453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更高低点：每次回调底部高于前次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6351270" y="2493645"/>
            <a:ext cx="332870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轴心突破买入：突破量 ≥ 1.5× 均量；买入区间 Pivot +5%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6352222" y="2768441"/>
            <a:ext cx="215967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财报前2周不入场 · 超过 Pivot +5% 不追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6160770" y="3046095"/>
            <a:ext cx="264518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止损规则（铁律：止损只上移，永不下移）</a:t>
            </a:r>
          </a:p>
        </p:txBody>
      </p:sp>
      <p:sp>
        <p:nvSpPr>
          <p:cNvPr id="70" name="Rectangle 70"/>
          <p:cNvSpPr/>
          <p:nvPr/>
        </p:nvSpPr>
        <p:spPr>
          <a:xfrm>
            <a:off x="6172200" y="3219450"/>
            <a:ext cx="5448300" cy="5334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44545"/>
            </a:solidFill>
          </a:ln>
        </p:spPr>
      </p:sp>
      <p:sp>
        <p:nvSpPr>
          <p:cNvPr id="71" name="Rectangle 71"/>
          <p:cNvSpPr/>
          <p:nvPr/>
        </p:nvSpPr>
        <p:spPr>
          <a:xfrm>
            <a:off x="6172200" y="3219450"/>
            <a:ext cx="38100" cy="533400"/>
          </a:xfrm>
          <a:prstGeom prst="roundRect">
            <a:avLst>
              <a:gd name="adj" fmla="val 50000"/>
            </a:avLst>
          </a:prstGeom>
          <a:solidFill>
            <a:srgbClr val="D44545"/>
          </a:solidFill>
          <a:ln>
            <a:noFill/>
          </a:ln>
        </p:spPr>
      </p:sp>
      <p:sp>
        <p:nvSpPr>
          <p:cNvPr id="72" name="TextBox 72"/>
          <p:cNvSpPr txBox="1"/>
          <p:nvPr/>
        </p:nvSpPr>
        <p:spPr>
          <a:xfrm>
            <a:off x="6332220" y="3312795"/>
            <a:ext cx="153414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rgbClr val="D44545"/>
                </a:solidFill>
                <a:latin typeface="Arial"/>
                <a:ea typeface="Microsoft YaHei"/>
                <a:cs typeface="Arial"/>
              </a:rPr>
              <a:t>初始止损（ATR 自适应）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6332220" y="3503295"/>
            <a:ext cx="403850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max(2xATR14, 入场价x10%)，上限20% | ATR适应波动，避免噪音止损</a:t>
            </a:r>
          </a:p>
        </p:txBody>
      </p:sp>
      <p:sp>
        <p:nvSpPr>
          <p:cNvPr id="74" name="Rectangle 74"/>
          <p:cNvSpPr/>
          <p:nvPr/>
        </p:nvSpPr>
        <p:spPr>
          <a:xfrm>
            <a:off x="6172200" y="3771900"/>
            <a:ext cx="5448300" cy="5334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3A9E6A"/>
            </a:solidFill>
          </a:ln>
        </p:spPr>
      </p:sp>
      <p:sp>
        <p:nvSpPr>
          <p:cNvPr id="75" name="Rectangle 75"/>
          <p:cNvSpPr/>
          <p:nvPr/>
        </p:nvSpPr>
        <p:spPr>
          <a:xfrm>
            <a:off x="6172200" y="3771900"/>
            <a:ext cx="38100" cy="533400"/>
          </a:xfrm>
          <a:prstGeom prst="roundRect">
            <a:avLst>
              <a:gd name="adj" fmla="val 50000"/>
            </a:avLst>
          </a:prstGeom>
          <a:solidFill>
            <a:srgbClr val="3A9E6A"/>
          </a:solidFill>
          <a:ln>
            <a:noFill/>
          </a:ln>
        </p:spPr>
      </p:sp>
      <p:sp>
        <p:nvSpPr>
          <p:cNvPr id="76" name="TextBox 76"/>
          <p:cNvSpPr txBox="1"/>
          <p:nvPr/>
        </p:nvSpPr>
        <p:spPr>
          <a:xfrm>
            <a:off x="6332220" y="3865245"/>
            <a:ext cx="57492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价格止损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6332220" y="4055745"/>
            <a:ext cx="305923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连续2日收盘低于止损位→出场（单日不算，防噪音）</a:t>
            </a:r>
          </a:p>
        </p:txBody>
      </p:sp>
      <p:sp>
        <p:nvSpPr>
          <p:cNvPr id="78" name="Rectangle 78"/>
          <p:cNvSpPr/>
          <p:nvPr/>
        </p:nvSpPr>
        <p:spPr>
          <a:xfrm>
            <a:off x="6172200" y="4324350"/>
            <a:ext cx="5448300" cy="5334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3D7DE4"/>
            </a:solidFill>
          </a:ln>
        </p:spPr>
      </p:sp>
      <p:sp>
        <p:nvSpPr>
          <p:cNvPr id="79" name="Rectangle 79"/>
          <p:cNvSpPr/>
          <p:nvPr/>
        </p:nvSpPr>
        <p:spPr>
          <a:xfrm>
            <a:off x="6172200" y="4324350"/>
            <a:ext cx="38100" cy="533400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80" name="TextBox 80"/>
          <p:cNvSpPr txBox="1"/>
          <p:nvPr/>
        </p:nvSpPr>
        <p:spPr>
          <a:xfrm>
            <a:off x="6332220" y="4417695"/>
            <a:ext cx="118910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MA止损 / 跳空缺口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6332220" y="4608195"/>
            <a:ext cx="356530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连续3日跌破MA150→出场；gap-down触发止损→当日收盘价出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6160770" y="4951095"/>
            <a:ext cx="98898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翻倍股入场调整</a:t>
            </a:r>
          </a:p>
        </p:txBody>
      </p:sp>
      <p:sp>
        <p:nvSpPr>
          <p:cNvPr id="83" name="Rectangle 83"/>
          <p:cNvSpPr/>
          <p:nvPr/>
        </p:nvSpPr>
        <p:spPr>
          <a:xfrm>
            <a:off x="6172200" y="5124450"/>
            <a:ext cx="5448300" cy="1219200"/>
          </a:xfrm>
          <a:prstGeom prst="roundRect">
            <a:avLst>
              <a:gd name="adj" fmla="val 6250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84" name="TextBox 84"/>
          <p:cNvSpPr txBox="1"/>
          <p:nvPr/>
        </p:nvSpPr>
        <p:spPr>
          <a:xfrm>
            <a:off x="6351270" y="5236845"/>
            <a:ext cx="195510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精度要求略低，趋势持续性优先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6351270" y="5427345"/>
            <a:ext cx="292779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入场不强求完美 Pivot 突破，允许趋势中回调买入</a:t>
            </a:r>
          </a:p>
        </p:txBody>
      </p:sp>
      <p:sp>
        <p:nvSpPr>
          <p:cNvPr id="86" name="TextBox 86"/>
          <p:cNvSpPr txBox="1"/>
          <p:nvPr/>
        </p:nvSpPr>
        <p:spPr>
          <a:xfrm>
            <a:off x="6351270" y="5617845"/>
            <a:ext cx="286864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小盘股止损宽度 -10~15%（避免被日内噪音止损）</a:t>
            </a:r>
          </a:p>
        </p:txBody>
      </p:sp>
      <p:sp>
        <p:nvSpPr>
          <p:cNvPr id="87" name="TextBox 87"/>
          <p:cNvSpPr txBox="1"/>
          <p:nvPr/>
        </p:nvSpPr>
        <p:spPr>
          <a:xfrm>
            <a:off x="6351270" y="5808345"/>
            <a:ext cx="291465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仓位公式：(账户×单笔风险%) / (入场价-止损价)</a:t>
            </a:r>
          </a:p>
        </p:txBody>
      </p:sp>
      <p:sp>
        <p:nvSpPr>
          <p:cNvPr id="88" name="TextBox 88"/>
          <p:cNvSpPr txBox="1"/>
          <p:nvPr/>
        </p:nvSpPr>
        <p:spPr>
          <a:xfrm>
            <a:off x="6352222" y="6121241"/>
            <a:ext cx="3286268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翻倍候选：RS&gt;85+，Base 1-2，VCP 量能干涸，8/8 趋势模板</a:t>
            </a:r>
          </a:p>
        </p:txBody>
      </p:sp>
      <p:sp>
        <p:nvSpPr>
          <p:cNvPr id="89" name="TextBox 89"/>
          <p:cNvSpPr txBox="1"/>
          <p:nvPr/>
        </p:nvSpPr>
        <p:spPr>
          <a:xfrm>
            <a:off x="11360610" y="6554152"/>
            <a:ext cx="46372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11 / 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342900"/>
            <a:ext cx="57150" cy="381000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46760" y="337185"/>
            <a:ext cx="5596171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SEPA — 技术面：什么时候买？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5810" y="784860"/>
            <a:ext cx="7154799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Stage Analysis / EPS Acceleration / Price Action / Accumulation · /stock-entry 依据</a:t>
            </a:r>
          </a:p>
        </p:txBody>
      </p:sp>
      <p:sp>
        <p:nvSpPr>
          <p:cNvPr id="7" name="Line 7"/>
          <p:cNvSpPr/>
          <p:nvPr/>
        </p:nvSpPr>
        <p:spPr>
          <a:xfrm>
            <a:off x="1333500" y="1695450"/>
            <a:ext cx="9715500" cy="9525"/>
          </a:xfrm>
          <a:custGeom>
            <a:avLst/>
            <a:gdLst/>
            <a:ahLst/>
            <a:cxnLst/>
            <a:rect l="l" t="t" r="r" b="b"/>
            <a:pathLst>
              <a:path w="9715500" h="9525">
                <a:moveTo>
                  <a:pt x="0" y="0"/>
                </a:moveTo>
                <a:lnTo>
                  <a:pt x="9715500" y="0"/>
                </a:lnTo>
              </a:path>
            </a:pathLst>
          </a:custGeom>
          <a:noFill/>
          <a:ln w="19050">
            <a:solidFill>
              <a:srgbClr val="E0D8D0"/>
            </a:solidFill>
            <a:custDash>
              <a:ds d="400000" sp="300000"/>
            </a:custDash>
          </a:ln>
        </p:spPr>
      </p:sp>
      <p:sp>
        <p:nvSpPr>
          <p:cNvPr id="8" name="Ellipse 8"/>
          <p:cNvSpPr/>
          <p:nvPr/>
        </p:nvSpPr>
        <p:spPr>
          <a:xfrm>
            <a:off x="1390650" y="1371600"/>
            <a:ext cx="647700" cy="6477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1586007" y="1593532"/>
            <a:ext cx="25698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01</a:t>
            </a:r>
          </a:p>
        </p:txBody>
      </p:sp>
      <p:sp>
        <p:nvSpPr>
          <p:cNvPr id="10" name="Line 10"/>
          <p:cNvSpPr/>
          <p:nvPr/>
        </p:nvSpPr>
        <p:spPr>
          <a:xfrm>
            <a:off x="1714500" y="2019300"/>
            <a:ext cx="9525" cy="247650"/>
          </a:xfrm>
          <a:custGeom>
            <a:avLst/>
            <a:gdLst/>
            <a:ahLst/>
            <a:cxnLst/>
            <a:rect l="l" t="t" r="r" b="b"/>
            <a:pathLst>
              <a:path w="9525"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9050">
            <a:solidFill>
              <a:srgbClr val="3D7DE4"/>
            </a:solidFill>
            <a:custDash>
              <a:ds d="200000" sp="150000"/>
            </a:custDash>
          </a:ln>
        </p:spPr>
      </p:sp>
      <p:sp>
        <p:nvSpPr>
          <p:cNvPr id="11" name="Rectangle 11"/>
          <p:cNvSpPr/>
          <p:nvPr/>
        </p:nvSpPr>
        <p:spPr>
          <a:xfrm>
            <a:off x="571500" y="2266950"/>
            <a:ext cx="2286000" cy="381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12" name="Rectangle 12"/>
          <p:cNvSpPr/>
          <p:nvPr/>
        </p:nvSpPr>
        <p:spPr>
          <a:xfrm>
            <a:off x="571500" y="2266950"/>
            <a:ext cx="2286000" cy="47625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1121510" y="2567464"/>
            <a:ext cx="1185979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Stage 2 确认</a:t>
            </a:r>
          </a:p>
        </p:txBody>
      </p:sp>
      <p:sp>
        <p:nvSpPr>
          <p:cNvPr id="14" name="Line 14"/>
          <p:cNvSpPr/>
          <p:nvPr/>
        </p:nvSpPr>
        <p:spPr>
          <a:xfrm>
            <a:off x="723900" y="2838450"/>
            <a:ext cx="1981200" cy="9525"/>
          </a:xfrm>
          <a:custGeom>
            <a:avLst/>
            <a:gdLst/>
            <a:ahLst/>
            <a:cxnLst/>
            <a:rect l="l" t="t" r="r" b="b"/>
            <a:pathLst>
              <a:path w="1981200" h="9525">
                <a:moveTo>
                  <a:pt x="0" y="0"/>
                </a:moveTo>
                <a:lnTo>
                  <a:pt x="19812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15" name="TextBox 15"/>
          <p:cNvSpPr txBox="1"/>
          <p:nvPr/>
        </p:nvSpPr>
        <p:spPr>
          <a:xfrm>
            <a:off x="710565" y="3010852"/>
            <a:ext cx="110013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上升趋势确立：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10565" y="3258502"/>
            <a:ext cx="98512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50MA &gt; 150MA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10565" y="3487102"/>
            <a:ext cx="106946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150MA &gt; 200MA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10565" y="3715702"/>
            <a:ext cx="125349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价格在 50MA 上方</a:t>
            </a:r>
          </a:p>
        </p:txBody>
      </p:sp>
      <p:sp>
        <p:nvSpPr>
          <p:cNvPr id="19" name="Line 19"/>
          <p:cNvSpPr/>
          <p:nvPr/>
        </p:nvSpPr>
        <p:spPr>
          <a:xfrm>
            <a:off x="723900" y="4000500"/>
            <a:ext cx="1981200" cy="9525"/>
          </a:xfrm>
          <a:custGeom>
            <a:avLst/>
            <a:gdLst/>
            <a:ahLst/>
            <a:cxnLst/>
            <a:rect l="l" t="t" r="r" b="b"/>
            <a:pathLst>
              <a:path w="1981200" h="9525">
                <a:moveTo>
                  <a:pt x="0" y="0"/>
                </a:moveTo>
                <a:lnTo>
                  <a:pt x="1981200" y="0"/>
                </a:lnTo>
              </a:path>
            </a:pathLst>
          </a:custGeom>
          <a:noFill/>
          <a:ln w="9525">
            <a:solidFill>
              <a:srgbClr val="E0D8D0"/>
            </a:solidFill>
            <a:custDash>
              <a:ds d="400000" sp="300000"/>
            </a:custDash>
          </a:ln>
        </p:spPr>
      </p:sp>
      <p:sp>
        <p:nvSpPr>
          <p:cNvPr id="20" name="TextBox 20"/>
          <p:cNvSpPr txBox="1"/>
          <p:nvPr/>
        </p:nvSpPr>
        <p:spPr>
          <a:xfrm>
            <a:off x="712470" y="4189095"/>
            <a:ext cx="117300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Stage 1-4 完整条件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11518" y="4409599"/>
            <a:ext cx="193290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→ 见前页趋势模板（8大条件）</a:t>
            </a:r>
          </a:p>
        </p:txBody>
      </p:sp>
      <p:sp>
        <p:nvSpPr>
          <p:cNvPr id="22" name="Rectangle 22"/>
          <p:cNvSpPr/>
          <p:nvPr/>
        </p:nvSpPr>
        <p:spPr>
          <a:xfrm>
            <a:off x="723900" y="5391150"/>
            <a:ext cx="1981200" cy="533400"/>
          </a:xfrm>
          <a:prstGeom prst="roundRect">
            <a:avLst>
              <a:gd name="adj" fmla="val 14286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23" name="TextBox 23"/>
          <p:cNvSpPr txBox="1"/>
          <p:nvPr/>
        </p:nvSpPr>
        <p:spPr>
          <a:xfrm>
            <a:off x="1417320" y="5514499"/>
            <a:ext cx="5943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关键指标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218105" y="5696902"/>
            <a:ext cx="99279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趋势方向确认</a:t>
            </a:r>
          </a:p>
        </p:txBody>
      </p:sp>
      <p:sp>
        <p:nvSpPr>
          <p:cNvPr id="25" name="Ellipse 25"/>
          <p:cNvSpPr/>
          <p:nvPr/>
        </p:nvSpPr>
        <p:spPr>
          <a:xfrm>
            <a:off x="3829050" y="1371600"/>
            <a:ext cx="647700" cy="6477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3992778" y="159353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27" name="Line 27"/>
          <p:cNvSpPr/>
          <p:nvPr/>
        </p:nvSpPr>
        <p:spPr>
          <a:xfrm>
            <a:off x="4152900" y="2019300"/>
            <a:ext cx="9525" cy="247650"/>
          </a:xfrm>
          <a:custGeom>
            <a:avLst/>
            <a:gdLst/>
            <a:ahLst/>
            <a:cxnLst/>
            <a:rect l="l" t="t" r="r" b="b"/>
            <a:pathLst>
              <a:path w="9525"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9050">
            <a:solidFill>
              <a:srgbClr val="3D7DE4"/>
            </a:solidFill>
            <a:custDash>
              <a:ds d="200000" sp="150000"/>
            </a:custDash>
          </a:ln>
        </p:spPr>
      </p:sp>
      <p:sp>
        <p:nvSpPr>
          <p:cNvPr id="28" name="Rectangle 28"/>
          <p:cNvSpPr/>
          <p:nvPr/>
        </p:nvSpPr>
        <p:spPr>
          <a:xfrm>
            <a:off x="3009900" y="2266950"/>
            <a:ext cx="2286000" cy="381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29" name="Rectangle 29"/>
          <p:cNvSpPr/>
          <p:nvPr/>
        </p:nvSpPr>
        <p:spPr>
          <a:xfrm>
            <a:off x="3009900" y="2266950"/>
            <a:ext cx="2286000" cy="47625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30" name="TextBox 30"/>
          <p:cNvSpPr txBox="1"/>
          <p:nvPr/>
        </p:nvSpPr>
        <p:spPr>
          <a:xfrm>
            <a:off x="3750547" y="2567464"/>
            <a:ext cx="80470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EPS 增速</a:t>
            </a:r>
          </a:p>
        </p:txBody>
      </p:sp>
      <p:sp>
        <p:nvSpPr>
          <p:cNvPr id="31" name="Line 31"/>
          <p:cNvSpPr/>
          <p:nvPr/>
        </p:nvSpPr>
        <p:spPr>
          <a:xfrm>
            <a:off x="3162300" y="2838450"/>
            <a:ext cx="1981200" cy="9525"/>
          </a:xfrm>
          <a:custGeom>
            <a:avLst/>
            <a:gdLst/>
            <a:ahLst/>
            <a:cxnLst/>
            <a:rect l="l" t="t" r="r" b="b"/>
            <a:pathLst>
              <a:path w="1981200" h="9525">
                <a:moveTo>
                  <a:pt x="0" y="0"/>
                </a:moveTo>
                <a:lnTo>
                  <a:pt x="19812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32" name="TextBox 32"/>
          <p:cNvSpPr txBox="1"/>
          <p:nvPr/>
        </p:nvSpPr>
        <p:spPr>
          <a:xfrm>
            <a:off x="3148965" y="3010852"/>
            <a:ext cx="110013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盈利加速增长：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3148965" y="3258502"/>
            <a:ext cx="70908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YoY ≥ 20%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3148965" y="3487102"/>
            <a:ext cx="94678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连续季度加速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3148965" y="3715702"/>
            <a:ext cx="94678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机构预期上调</a:t>
            </a:r>
          </a:p>
        </p:txBody>
      </p:sp>
      <p:sp>
        <p:nvSpPr>
          <p:cNvPr id="36" name="Rectangle 36"/>
          <p:cNvSpPr/>
          <p:nvPr/>
        </p:nvSpPr>
        <p:spPr>
          <a:xfrm>
            <a:off x="3162300" y="5391150"/>
            <a:ext cx="1981200" cy="533400"/>
          </a:xfrm>
          <a:prstGeom prst="roundRect">
            <a:avLst>
              <a:gd name="adj" fmla="val 14286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37" name="TextBox 37"/>
          <p:cNvSpPr txBox="1"/>
          <p:nvPr/>
        </p:nvSpPr>
        <p:spPr>
          <a:xfrm>
            <a:off x="3855720" y="5514499"/>
            <a:ext cx="5943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关键指标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3737015" y="5696902"/>
            <a:ext cx="83177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基本面动能</a:t>
            </a:r>
          </a:p>
        </p:txBody>
      </p:sp>
      <p:sp>
        <p:nvSpPr>
          <p:cNvPr id="39" name="Ellipse 39"/>
          <p:cNvSpPr/>
          <p:nvPr/>
        </p:nvSpPr>
        <p:spPr>
          <a:xfrm>
            <a:off x="6267450" y="1371600"/>
            <a:ext cx="647700" cy="6477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40" name="TextBox 40"/>
          <p:cNvSpPr txBox="1"/>
          <p:nvPr/>
        </p:nvSpPr>
        <p:spPr>
          <a:xfrm>
            <a:off x="6431178" y="159353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41" name="Line 41"/>
          <p:cNvSpPr/>
          <p:nvPr/>
        </p:nvSpPr>
        <p:spPr>
          <a:xfrm>
            <a:off x="6591300" y="2019300"/>
            <a:ext cx="9525" cy="247650"/>
          </a:xfrm>
          <a:custGeom>
            <a:avLst/>
            <a:gdLst/>
            <a:ahLst/>
            <a:cxnLst/>
            <a:rect l="l" t="t" r="r" b="b"/>
            <a:pathLst>
              <a:path w="9525"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9050">
            <a:solidFill>
              <a:srgbClr val="3D7DE4"/>
            </a:solidFill>
            <a:custDash>
              <a:ds d="200000" sp="150000"/>
            </a:custDash>
          </a:ln>
        </p:spPr>
      </p:sp>
      <p:sp>
        <p:nvSpPr>
          <p:cNvPr id="42" name="Rectangle 42"/>
          <p:cNvSpPr/>
          <p:nvPr/>
        </p:nvSpPr>
        <p:spPr>
          <a:xfrm>
            <a:off x="5448300" y="2266950"/>
            <a:ext cx="2286000" cy="381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43" name="Rectangle 43"/>
          <p:cNvSpPr/>
          <p:nvPr/>
        </p:nvSpPr>
        <p:spPr>
          <a:xfrm>
            <a:off x="5448300" y="2266950"/>
            <a:ext cx="2286000" cy="47625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44" name="TextBox 44"/>
          <p:cNvSpPr txBox="1"/>
          <p:nvPr/>
        </p:nvSpPr>
        <p:spPr>
          <a:xfrm>
            <a:off x="6184059" y="2567464"/>
            <a:ext cx="814483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趋势模板</a:t>
            </a:r>
          </a:p>
        </p:txBody>
      </p:sp>
      <p:sp>
        <p:nvSpPr>
          <p:cNvPr id="45" name="Line 45"/>
          <p:cNvSpPr/>
          <p:nvPr/>
        </p:nvSpPr>
        <p:spPr>
          <a:xfrm>
            <a:off x="5600700" y="2838450"/>
            <a:ext cx="1981200" cy="9525"/>
          </a:xfrm>
          <a:custGeom>
            <a:avLst/>
            <a:gdLst/>
            <a:ahLst/>
            <a:cxnLst/>
            <a:rect l="l" t="t" r="r" b="b"/>
            <a:pathLst>
              <a:path w="1981200" h="9525">
                <a:moveTo>
                  <a:pt x="0" y="0"/>
                </a:moveTo>
                <a:lnTo>
                  <a:pt x="19812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46" name="TextBox 46"/>
          <p:cNvSpPr txBox="1"/>
          <p:nvPr/>
        </p:nvSpPr>
        <p:spPr>
          <a:xfrm>
            <a:off x="5587365" y="3010852"/>
            <a:ext cx="107713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8 项清单打分：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5587365" y="3258502"/>
            <a:ext cx="105413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≥ 5 项通过入场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5587365" y="3487102"/>
            <a:ext cx="105413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≥ 7 项强烈信号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5587365" y="3715702"/>
            <a:ext cx="105413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&lt; 5 项继续等待</a:t>
            </a:r>
          </a:p>
        </p:txBody>
      </p:sp>
      <p:sp>
        <p:nvSpPr>
          <p:cNvPr id="50" name="Rectangle 50"/>
          <p:cNvSpPr/>
          <p:nvPr/>
        </p:nvSpPr>
        <p:spPr>
          <a:xfrm>
            <a:off x="5600700" y="5391150"/>
            <a:ext cx="1981200" cy="533400"/>
          </a:xfrm>
          <a:prstGeom prst="roundRect">
            <a:avLst>
              <a:gd name="adj" fmla="val 14286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51" name="TextBox 51"/>
          <p:cNvSpPr txBox="1"/>
          <p:nvPr/>
        </p:nvSpPr>
        <p:spPr>
          <a:xfrm>
            <a:off x="6294120" y="5514499"/>
            <a:ext cx="5943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关键指标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6175415" y="5696902"/>
            <a:ext cx="83177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综合健康度</a:t>
            </a:r>
          </a:p>
        </p:txBody>
      </p:sp>
      <p:sp>
        <p:nvSpPr>
          <p:cNvPr id="53" name="Ellipse 53"/>
          <p:cNvSpPr/>
          <p:nvPr/>
        </p:nvSpPr>
        <p:spPr>
          <a:xfrm>
            <a:off x="8705850" y="1371600"/>
            <a:ext cx="647700" cy="6477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54" name="TextBox 54"/>
          <p:cNvSpPr txBox="1"/>
          <p:nvPr/>
        </p:nvSpPr>
        <p:spPr>
          <a:xfrm>
            <a:off x="8869578" y="159353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55" name="Line 55"/>
          <p:cNvSpPr/>
          <p:nvPr/>
        </p:nvSpPr>
        <p:spPr>
          <a:xfrm>
            <a:off x="9029700" y="2019300"/>
            <a:ext cx="9525" cy="247650"/>
          </a:xfrm>
          <a:custGeom>
            <a:avLst/>
            <a:gdLst/>
            <a:ahLst/>
            <a:cxnLst/>
            <a:rect l="l" t="t" r="r" b="b"/>
            <a:pathLst>
              <a:path w="9525"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9050">
            <a:solidFill>
              <a:srgbClr val="3D7DE4"/>
            </a:solidFill>
            <a:custDash>
              <a:ds d="200000" sp="150000"/>
            </a:custDash>
          </a:ln>
        </p:spPr>
      </p:sp>
      <p:sp>
        <p:nvSpPr>
          <p:cNvPr id="56" name="Rectangle 56"/>
          <p:cNvSpPr/>
          <p:nvPr/>
        </p:nvSpPr>
        <p:spPr>
          <a:xfrm>
            <a:off x="7886700" y="2266950"/>
            <a:ext cx="2286000" cy="381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57" name="Rectangle 57"/>
          <p:cNvSpPr/>
          <p:nvPr/>
        </p:nvSpPr>
        <p:spPr>
          <a:xfrm>
            <a:off x="7886700" y="2266950"/>
            <a:ext cx="2286000" cy="47625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58" name="TextBox 58"/>
          <p:cNvSpPr txBox="1"/>
          <p:nvPr/>
        </p:nvSpPr>
        <p:spPr>
          <a:xfrm>
            <a:off x="8524696" y="2567464"/>
            <a:ext cx="101000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轴心点识别</a:t>
            </a:r>
          </a:p>
        </p:txBody>
      </p:sp>
      <p:sp>
        <p:nvSpPr>
          <p:cNvPr id="59" name="Line 59"/>
          <p:cNvSpPr/>
          <p:nvPr/>
        </p:nvSpPr>
        <p:spPr>
          <a:xfrm>
            <a:off x="8039100" y="2838450"/>
            <a:ext cx="1981200" cy="9525"/>
          </a:xfrm>
          <a:custGeom>
            <a:avLst/>
            <a:gdLst/>
            <a:ahLst/>
            <a:cxnLst/>
            <a:rect l="l" t="t" r="r" b="b"/>
            <a:pathLst>
              <a:path w="1981200" h="9525">
                <a:moveTo>
                  <a:pt x="0" y="0"/>
                </a:moveTo>
                <a:lnTo>
                  <a:pt x="19812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60" name="TextBox 60"/>
          <p:cNvSpPr txBox="1"/>
          <p:nvPr/>
        </p:nvSpPr>
        <p:spPr>
          <a:xfrm>
            <a:off x="8025765" y="3010852"/>
            <a:ext cx="79343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形态选择：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8025765" y="3258502"/>
            <a:ext cx="93911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VCP 缩量整理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8025765" y="3487102"/>
            <a:ext cx="79343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杯柄突破点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8025765" y="3715702"/>
            <a:ext cx="110013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平台整理后突破</a:t>
            </a:r>
          </a:p>
        </p:txBody>
      </p:sp>
      <p:sp>
        <p:nvSpPr>
          <p:cNvPr id="64" name="Rectangle 64"/>
          <p:cNvSpPr/>
          <p:nvPr/>
        </p:nvSpPr>
        <p:spPr>
          <a:xfrm>
            <a:off x="8039100" y="5391150"/>
            <a:ext cx="1981200" cy="533400"/>
          </a:xfrm>
          <a:prstGeom prst="roundRect">
            <a:avLst>
              <a:gd name="adj" fmla="val 14286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65" name="TextBox 65"/>
          <p:cNvSpPr txBox="1"/>
          <p:nvPr/>
        </p:nvSpPr>
        <p:spPr>
          <a:xfrm>
            <a:off x="8732520" y="5514499"/>
            <a:ext cx="5943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关键指标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8613815" y="5696902"/>
            <a:ext cx="83177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精确入场点</a:t>
            </a:r>
          </a:p>
        </p:txBody>
      </p:sp>
      <p:sp>
        <p:nvSpPr>
          <p:cNvPr id="67" name="Ellipse 67"/>
          <p:cNvSpPr/>
          <p:nvPr/>
        </p:nvSpPr>
        <p:spPr>
          <a:xfrm>
            <a:off x="10725150" y="1371600"/>
            <a:ext cx="647700" cy="6477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68" name="TextBox 68"/>
          <p:cNvSpPr txBox="1"/>
          <p:nvPr/>
        </p:nvSpPr>
        <p:spPr>
          <a:xfrm>
            <a:off x="10888878" y="159353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9" name="Line 69"/>
          <p:cNvSpPr/>
          <p:nvPr/>
        </p:nvSpPr>
        <p:spPr>
          <a:xfrm>
            <a:off x="11049000" y="2019300"/>
            <a:ext cx="9525" cy="247650"/>
          </a:xfrm>
          <a:custGeom>
            <a:avLst/>
            <a:gdLst/>
            <a:ahLst/>
            <a:cxnLst/>
            <a:rect l="l" t="t" r="r" b="b"/>
            <a:pathLst>
              <a:path w="9525"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9050">
            <a:solidFill>
              <a:srgbClr val="C96133"/>
            </a:solidFill>
            <a:custDash>
              <a:ds d="200000" sp="150000"/>
            </a:custDash>
          </a:ln>
        </p:spPr>
      </p:sp>
      <p:sp>
        <p:nvSpPr>
          <p:cNvPr id="70" name="Rectangle 70"/>
          <p:cNvSpPr/>
          <p:nvPr/>
        </p:nvSpPr>
        <p:spPr>
          <a:xfrm>
            <a:off x="9944100" y="2266950"/>
            <a:ext cx="1905000" cy="3810000"/>
          </a:xfrm>
          <a:prstGeom prst="roundRect">
            <a:avLst>
              <a:gd name="adj" fmla="val 6000"/>
            </a:avLst>
          </a:prstGeom>
          <a:solidFill>
            <a:srgbClr val="FFF8F5"/>
          </a:solidFill>
          <a:ln w="14288">
            <a:solidFill>
              <a:srgbClr val="C96133"/>
            </a:solidFill>
          </a:ln>
        </p:spPr>
      </p:sp>
      <p:sp>
        <p:nvSpPr>
          <p:cNvPr id="71" name="Rectangle 71"/>
          <p:cNvSpPr/>
          <p:nvPr/>
        </p:nvSpPr>
        <p:spPr>
          <a:xfrm>
            <a:off x="9944100" y="2266950"/>
            <a:ext cx="1905000" cy="47625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72" name="TextBox 72"/>
          <p:cNvSpPr txBox="1"/>
          <p:nvPr/>
        </p:nvSpPr>
        <p:spPr>
          <a:xfrm>
            <a:off x="10489359" y="2567464"/>
            <a:ext cx="814483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突破确认</a:t>
            </a:r>
          </a:p>
        </p:txBody>
      </p:sp>
      <p:sp>
        <p:nvSpPr>
          <p:cNvPr id="73" name="Line 73"/>
          <p:cNvSpPr/>
          <p:nvPr/>
        </p:nvSpPr>
        <p:spPr>
          <a:xfrm>
            <a:off x="10096500" y="2838450"/>
            <a:ext cx="1600200" cy="9525"/>
          </a:xfrm>
          <a:custGeom>
            <a:avLst/>
            <a:gdLst/>
            <a:ahLst/>
            <a:cxnLst/>
            <a:rect l="l" t="t" r="r" b="b"/>
            <a:pathLst>
              <a:path w="1600200" h="9525">
                <a:moveTo>
                  <a:pt x="0" y="0"/>
                </a:moveTo>
                <a:lnTo>
                  <a:pt x="16002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74" name="TextBox 74"/>
          <p:cNvSpPr txBox="1"/>
          <p:nvPr/>
        </p:nvSpPr>
        <p:spPr>
          <a:xfrm>
            <a:off x="10083165" y="3010852"/>
            <a:ext cx="79343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入场触发：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10083165" y="3258502"/>
            <a:ext cx="100812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量 ≥ 1.5× 均量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10083165" y="3487102"/>
            <a:ext cx="117681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轴心点上方 0-3%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10083165" y="3715702"/>
            <a:ext cx="70295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R/R ≥ 2:1</a:t>
            </a:r>
          </a:p>
        </p:txBody>
      </p:sp>
      <p:sp>
        <p:nvSpPr>
          <p:cNvPr id="78" name="Rectangle 78"/>
          <p:cNvSpPr/>
          <p:nvPr/>
        </p:nvSpPr>
        <p:spPr>
          <a:xfrm>
            <a:off x="10096500" y="5391150"/>
            <a:ext cx="1600200" cy="533400"/>
          </a:xfrm>
          <a:prstGeom prst="roundRect">
            <a:avLst>
              <a:gd name="adj" fmla="val 14286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79" name="TextBox 79"/>
          <p:cNvSpPr txBox="1"/>
          <p:nvPr/>
        </p:nvSpPr>
        <p:spPr>
          <a:xfrm>
            <a:off x="10741819" y="5514499"/>
            <a:ext cx="30956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触发</a:t>
            </a:r>
          </a:p>
        </p:txBody>
      </p:sp>
      <p:sp>
        <p:nvSpPr>
          <p:cNvPr id="80" name="TextBox 80"/>
          <p:cNvSpPr txBox="1"/>
          <p:nvPr/>
        </p:nvSpPr>
        <p:spPr>
          <a:xfrm>
            <a:off x="10561225" y="5696902"/>
            <a:ext cx="67075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买入执行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11322272" y="6554152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12 / 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247650"/>
            <a:ext cx="57150" cy="3810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50570" y="274320"/>
            <a:ext cx="4771949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Moneyball — 期望值定价框架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6762" y="659606"/>
            <a:ext cx="365152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三情景加权 EV · 非对称比评估 · 安全边际 15-25%</a:t>
            </a:r>
          </a:p>
        </p:txBody>
      </p:sp>
      <p:sp>
        <p:nvSpPr>
          <p:cNvPr id="7" name="Rectangle 7"/>
          <p:cNvSpPr/>
          <p:nvPr/>
        </p:nvSpPr>
        <p:spPr>
          <a:xfrm>
            <a:off x="571500" y="952500"/>
            <a:ext cx="5619750" cy="1143000"/>
          </a:xfrm>
          <a:prstGeom prst="roundRect">
            <a:avLst>
              <a:gd name="adj" fmla="val 6667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750570" y="1083945"/>
            <a:ext cx="57492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核心公式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49618" y="1323499"/>
            <a:ext cx="37851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EV = (Bull × Bull%) + (Base × Base%) + (Bear × Bear%)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50570" y="1560195"/>
            <a:ext cx="397278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Expected Return = (EV − Current Price) / Current Price × 100%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50570" y="1769745"/>
            <a:ext cx="310524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Asymmetry Ratio = Bull Upside% / Bear Downside%</a:t>
            </a:r>
          </a:p>
        </p:txBody>
      </p:sp>
      <p:sp>
        <p:nvSpPr>
          <p:cNvPr id="12" name="Rectangle 12"/>
          <p:cNvSpPr/>
          <p:nvPr/>
        </p:nvSpPr>
        <p:spPr>
          <a:xfrm>
            <a:off x="571500" y="2228850"/>
            <a:ext cx="1714500" cy="9144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4288">
            <a:solidFill>
              <a:srgbClr val="3A9E6A"/>
            </a:solidFill>
          </a:ln>
        </p:spPr>
      </p:sp>
      <p:sp>
        <p:nvSpPr>
          <p:cNvPr id="13" name="Rectangle 13"/>
          <p:cNvSpPr/>
          <p:nvPr/>
        </p:nvSpPr>
        <p:spPr>
          <a:xfrm>
            <a:off x="571500" y="2228850"/>
            <a:ext cx="1714500" cy="57150"/>
          </a:xfrm>
          <a:prstGeom prst="roundRect">
            <a:avLst>
              <a:gd name="adj" fmla="val 50000"/>
            </a:avLst>
          </a:prstGeom>
          <a:solidFill>
            <a:srgbClr val="3A9E6A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1102378" y="2371249"/>
            <a:ext cx="65274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Bull Case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75573" y="2637949"/>
            <a:ext cx="130635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估算概率（依案例）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09792" y="2863691"/>
            <a:ext cx="1237917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增速+利润率+估值扩张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00150" y="3005138"/>
            <a:ext cx="4572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7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一切顺利</a:t>
            </a:r>
          </a:p>
        </p:txBody>
      </p:sp>
      <p:sp>
        <p:nvSpPr>
          <p:cNvPr id="18" name="Rectangle 18"/>
          <p:cNvSpPr/>
          <p:nvPr/>
        </p:nvSpPr>
        <p:spPr>
          <a:xfrm>
            <a:off x="2428875" y="2228850"/>
            <a:ext cx="1809750" cy="9144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4288">
            <a:solidFill>
              <a:srgbClr val="3D7DE4"/>
            </a:solidFill>
          </a:ln>
        </p:spPr>
      </p:sp>
      <p:sp>
        <p:nvSpPr>
          <p:cNvPr id="19" name="Rectangle 19"/>
          <p:cNvSpPr/>
          <p:nvPr/>
        </p:nvSpPr>
        <p:spPr>
          <a:xfrm>
            <a:off x="2428875" y="2228850"/>
            <a:ext cx="1809750" cy="57150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2969999" y="2371249"/>
            <a:ext cx="72750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Base Case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680573" y="2637949"/>
            <a:ext cx="130635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估算概率（依案例）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961799" y="2863691"/>
            <a:ext cx="74390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延续当前轨迹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776538" y="3005138"/>
            <a:ext cx="1114425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7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一致预期或小幅超预期</a:t>
            </a:r>
          </a:p>
        </p:txBody>
      </p:sp>
      <p:sp>
        <p:nvSpPr>
          <p:cNvPr id="24" name="Rectangle 24"/>
          <p:cNvSpPr/>
          <p:nvPr/>
        </p:nvSpPr>
        <p:spPr>
          <a:xfrm>
            <a:off x="4381500" y="2228850"/>
            <a:ext cx="1809750" cy="9144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4288">
            <a:solidFill>
              <a:srgbClr val="D44545"/>
            </a:solidFill>
          </a:ln>
        </p:spPr>
      </p:sp>
      <p:sp>
        <p:nvSpPr>
          <p:cNvPr id="25" name="Rectangle 25"/>
          <p:cNvSpPr/>
          <p:nvPr/>
        </p:nvSpPr>
        <p:spPr>
          <a:xfrm>
            <a:off x="4381500" y="2228850"/>
            <a:ext cx="1809750" cy="57150"/>
          </a:xfrm>
          <a:prstGeom prst="roundRect">
            <a:avLst>
              <a:gd name="adj" fmla="val 50000"/>
            </a:avLst>
          </a:prstGeom>
          <a:solidFill>
            <a:srgbClr val="D44545"/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4922624" y="2371249"/>
            <a:ext cx="72750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D44545"/>
                </a:solidFill>
                <a:latin typeface="Arial"/>
                <a:ea typeface="Microsoft YaHei"/>
                <a:cs typeface="Arial"/>
              </a:rPr>
              <a:t>Bear Case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4633198" y="2637949"/>
            <a:ext cx="130635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D44545"/>
                </a:solidFill>
                <a:latin typeface="Arial"/>
                <a:ea typeface="Microsoft YaHei"/>
                <a:cs typeface="Arial"/>
              </a:rPr>
              <a:t>估算概率（依案例）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4914424" y="2863691"/>
            <a:ext cx="74390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论点失效底线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4783931" y="3005138"/>
            <a:ext cx="1004887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7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须命名具体失效机制</a:t>
            </a:r>
          </a:p>
        </p:txBody>
      </p:sp>
      <p:sp>
        <p:nvSpPr>
          <p:cNvPr id="30" name="Rectangle 30"/>
          <p:cNvSpPr/>
          <p:nvPr/>
        </p:nvSpPr>
        <p:spPr>
          <a:xfrm>
            <a:off x="571500" y="3276600"/>
            <a:ext cx="5619750" cy="152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31" name="Rectangle 31"/>
          <p:cNvSpPr/>
          <p:nvPr/>
        </p:nvSpPr>
        <p:spPr>
          <a:xfrm>
            <a:off x="571500" y="3276600"/>
            <a:ext cx="5619750" cy="323850"/>
          </a:xfrm>
          <a:prstGeom prst="roundRect">
            <a:avLst>
              <a:gd name="adj" fmla="val 17647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32" name="Rectangle 32"/>
          <p:cNvSpPr/>
          <p:nvPr/>
        </p:nvSpPr>
        <p:spPr>
          <a:xfrm>
            <a:off x="571500" y="3448050"/>
            <a:ext cx="5619750" cy="152400"/>
          </a:xfrm>
          <a:prstGeom prst="rect">
            <a:avLst/>
          </a:prstGeom>
          <a:solidFill>
            <a:srgbClr val="F0EDE8"/>
          </a:solidFill>
          <a:ln>
            <a:noFill/>
          </a:ln>
        </p:spPr>
      </p:sp>
      <p:sp>
        <p:nvSpPr>
          <p:cNvPr id="33" name="TextBox 33"/>
          <p:cNvSpPr txBox="1"/>
          <p:nvPr/>
        </p:nvSpPr>
        <p:spPr>
          <a:xfrm>
            <a:off x="749618" y="3399949"/>
            <a:ext cx="230492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案例: BKNG @ $3,800 (Mar 2026)</a:t>
            </a:r>
          </a:p>
        </p:txBody>
      </p:sp>
      <p:sp>
        <p:nvSpPr>
          <p:cNvPr id="34" name="Line 34"/>
          <p:cNvSpPr/>
          <p:nvPr/>
        </p:nvSpPr>
        <p:spPr>
          <a:xfrm>
            <a:off x="571500" y="3600450"/>
            <a:ext cx="5619750" cy="9525"/>
          </a:xfrm>
          <a:custGeom>
            <a:avLst/>
            <a:gdLst/>
            <a:ahLst/>
            <a:cxnLst/>
            <a:rect l="l" t="t" r="r" b="b"/>
            <a:pathLst>
              <a:path w="5619750" h="9525">
                <a:moveTo>
                  <a:pt x="0" y="0"/>
                </a:moveTo>
                <a:lnTo>
                  <a:pt x="561975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35" name="TextBox 35"/>
          <p:cNvSpPr txBox="1"/>
          <p:nvPr/>
        </p:nvSpPr>
        <p:spPr>
          <a:xfrm>
            <a:off x="750570" y="3712845"/>
            <a:ext cx="25748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Bull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283970" y="3712845"/>
            <a:ext cx="137674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$6,200 × 30% = $1,860</a:t>
            </a:r>
          </a:p>
        </p:txBody>
      </p:sp>
      <p:sp>
        <p:nvSpPr>
          <p:cNvPr id="37" name="Line 37"/>
          <p:cNvSpPr/>
          <p:nvPr/>
        </p:nvSpPr>
        <p:spPr>
          <a:xfrm>
            <a:off x="571500" y="3924300"/>
            <a:ext cx="5619750" cy="9525"/>
          </a:xfrm>
          <a:custGeom>
            <a:avLst/>
            <a:gdLst/>
            <a:ahLst/>
            <a:cxnLst/>
            <a:rect l="l" t="t" r="r" b="b"/>
            <a:pathLst>
              <a:path w="5619750" h="9525">
                <a:moveTo>
                  <a:pt x="0" y="0"/>
                </a:moveTo>
                <a:lnTo>
                  <a:pt x="5619750" y="0"/>
                </a:lnTo>
              </a:path>
            </a:pathLst>
          </a:custGeom>
          <a:noFill/>
          <a:ln w="4762">
            <a:solidFill>
              <a:srgbClr val="E0D8D0"/>
            </a:solidFill>
          </a:ln>
        </p:spPr>
      </p:sp>
      <p:sp>
        <p:nvSpPr>
          <p:cNvPr id="38" name="TextBox 38"/>
          <p:cNvSpPr txBox="1"/>
          <p:nvPr/>
        </p:nvSpPr>
        <p:spPr>
          <a:xfrm>
            <a:off x="750570" y="4036695"/>
            <a:ext cx="32649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Base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283970" y="4036695"/>
            <a:ext cx="140960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$5,000 × 50% = $2,500</a:t>
            </a:r>
          </a:p>
        </p:txBody>
      </p:sp>
      <p:sp>
        <p:nvSpPr>
          <p:cNvPr id="40" name="Line 40"/>
          <p:cNvSpPr/>
          <p:nvPr/>
        </p:nvSpPr>
        <p:spPr>
          <a:xfrm>
            <a:off x="571500" y="4248150"/>
            <a:ext cx="5619750" cy="9525"/>
          </a:xfrm>
          <a:custGeom>
            <a:avLst/>
            <a:gdLst/>
            <a:ahLst/>
            <a:cxnLst/>
            <a:rect l="l" t="t" r="r" b="b"/>
            <a:pathLst>
              <a:path w="5619750" h="9525">
                <a:moveTo>
                  <a:pt x="0" y="0"/>
                </a:moveTo>
                <a:lnTo>
                  <a:pt x="5619750" y="0"/>
                </a:lnTo>
              </a:path>
            </a:pathLst>
          </a:custGeom>
          <a:noFill/>
          <a:ln w="4762">
            <a:solidFill>
              <a:srgbClr val="E0D8D0"/>
            </a:solidFill>
          </a:ln>
        </p:spPr>
      </p:sp>
      <p:sp>
        <p:nvSpPr>
          <p:cNvPr id="41" name="TextBox 41"/>
          <p:cNvSpPr txBox="1"/>
          <p:nvPr/>
        </p:nvSpPr>
        <p:spPr>
          <a:xfrm>
            <a:off x="750570" y="4360545"/>
            <a:ext cx="32649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rgbClr val="D44545"/>
                </a:solidFill>
                <a:latin typeface="Arial"/>
                <a:ea typeface="Microsoft YaHei"/>
                <a:cs typeface="Arial"/>
              </a:rPr>
              <a:t>Bear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283970" y="4360545"/>
            <a:ext cx="126501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$3,200 × 20% = $640</a:t>
            </a:r>
          </a:p>
        </p:txBody>
      </p:sp>
      <p:sp>
        <p:nvSpPr>
          <p:cNvPr id="43" name="Line 43"/>
          <p:cNvSpPr/>
          <p:nvPr/>
        </p:nvSpPr>
        <p:spPr>
          <a:xfrm>
            <a:off x="571500" y="4572000"/>
            <a:ext cx="5619750" cy="9525"/>
          </a:xfrm>
          <a:custGeom>
            <a:avLst/>
            <a:gdLst/>
            <a:ahLst/>
            <a:cxnLst/>
            <a:rect l="l" t="t" r="r" b="b"/>
            <a:pathLst>
              <a:path w="5619750" h="9525">
                <a:moveTo>
                  <a:pt x="0" y="0"/>
                </a:moveTo>
                <a:lnTo>
                  <a:pt x="5619750" y="0"/>
                </a:lnTo>
              </a:path>
            </a:pathLst>
          </a:custGeom>
          <a:noFill/>
          <a:ln w="14288">
            <a:solidFill>
              <a:srgbClr val="C96133"/>
            </a:solidFill>
          </a:ln>
        </p:spPr>
      </p:sp>
      <p:sp>
        <p:nvSpPr>
          <p:cNvPr id="44" name="TextBox 44"/>
          <p:cNvSpPr txBox="1"/>
          <p:nvPr/>
        </p:nvSpPr>
        <p:spPr>
          <a:xfrm>
            <a:off x="747712" y="4602956"/>
            <a:ext cx="98607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EV = $4,900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2464118" y="4619149"/>
            <a:ext cx="135619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Asymmetry = 3.1 : 1</a:t>
            </a:r>
          </a:p>
        </p:txBody>
      </p:sp>
      <p:sp>
        <p:nvSpPr>
          <p:cNvPr id="46" name="Rectangle 46"/>
          <p:cNvSpPr/>
          <p:nvPr/>
        </p:nvSpPr>
        <p:spPr>
          <a:xfrm>
            <a:off x="6381750" y="952500"/>
            <a:ext cx="5238750" cy="762000"/>
          </a:xfrm>
          <a:prstGeom prst="roundRect">
            <a:avLst>
              <a:gd name="adj" fmla="val 10000"/>
            </a:avLst>
          </a:prstGeom>
          <a:solidFill>
            <a:srgbClr val="3D7DE4">
              <a:alpha val="8000"/>
            </a:srgbClr>
          </a:solidFill>
          <a:ln w="14288">
            <a:solidFill>
              <a:srgbClr val="3D7DE4"/>
            </a:solidFill>
          </a:ln>
        </p:spPr>
      </p:sp>
      <p:sp>
        <p:nvSpPr>
          <p:cNvPr id="47" name="TextBox 47"/>
          <p:cNvSpPr txBox="1"/>
          <p:nvPr/>
        </p:nvSpPr>
        <p:spPr>
          <a:xfrm>
            <a:off x="7985440" y="1124902"/>
            <a:ext cx="203137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Asymmetry Ratio 非对称比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7255314" y="1359218"/>
            <a:ext cx="349162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Bull Upside% / Bear Downside% ≥ 2:1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6368415" y="1944052"/>
            <a:ext cx="179789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非对称评估三问（必答）</a:t>
            </a:r>
          </a:p>
        </p:txBody>
      </p:sp>
      <p:sp>
        <p:nvSpPr>
          <p:cNvPr id="50" name="Rectangle 50"/>
          <p:cNvSpPr/>
          <p:nvPr/>
        </p:nvSpPr>
        <p:spPr>
          <a:xfrm>
            <a:off x="6381750" y="2133600"/>
            <a:ext cx="5238750" cy="60960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51" name="Rectangle 51"/>
          <p:cNvSpPr/>
          <p:nvPr/>
        </p:nvSpPr>
        <p:spPr>
          <a:xfrm>
            <a:off x="6381750" y="2133600"/>
            <a:ext cx="38100" cy="6096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52" name="TextBox 52"/>
          <p:cNvSpPr txBox="1"/>
          <p:nvPr/>
        </p:nvSpPr>
        <p:spPr>
          <a:xfrm>
            <a:off x="6522720" y="2265045"/>
            <a:ext cx="16777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Q1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751320" y="2265045"/>
            <a:ext cx="238887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熊市如何发生？当前数据是否支持熊市？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6752272" y="2539841"/>
            <a:ext cx="208135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须命名具体失效机制，而非"宏观变差"</a:t>
            </a:r>
          </a:p>
        </p:txBody>
      </p:sp>
      <p:sp>
        <p:nvSpPr>
          <p:cNvPr id="55" name="Rectangle 55"/>
          <p:cNvSpPr/>
          <p:nvPr/>
        </p:nvSpPr>
        <p:spPr>
          <a:xfrm>
            <a:off x="6381750" y="2838450"/>
            <a:ext cx="5238750" cy="60960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56" name="Rectangle 56"/>
          <p:cNvSpPr/>
          <p:nvPr/>
        </p:nvSpPr>
        <p:spPr>
          <a:xfrm>
            <a:off x="6381750" y="2838450"/>
            <a:ext cx="38100" cy="609600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57" name="TextBox 57"/>
          <p:cNvSpPr txBox="1"/>
          <p:nvPr/>
        </p:nvSpPr>
        <p:spPr>
          <a:xfrm>
            <a:off x="6522720" y="2969895"/>
            <a:ext cx="20228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Q2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6751320" y="2969895"/>
            <a:ext cx="273719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熊市是否已被定价？（跌30%后熊市数学变了）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6752272" y="3244691"/>
            <a:ext cx="2189798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若已大幅下跌，当前价本身就是安全边际</a:t>
            </a:r>
          </a:p>
        </p:txBody>
      </p:sp>
      <p:sp>
        <p:nvSpPr>
          <p:cNvPr id="60" name="Rectangle 60"/>
          <p:cNvSpPr/>
          <p:nvPr/>
        </p:nvSpPr>
        <p:spPr>
          <a:xfrm>
            <a:off x="6381750" y="3543300"/>
            <a:ext cx="5238750" cy="60960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E0D8D0"/>
            </a:solidFill>
          </a:ln>
        </p:spPr>
      </p:sp>
      <p:sp>
        <p:nvSpPr>
          <p:cNvPr id="61" name="Rectangle 61"/>
          <p:cNvSpPr/>
          <p:nvPr/>
        </p:nvSpPr>
        <p:spPr>
          <a:xfrm>
            <a:off x="6381750" y="3543300"/>
            <a:ext cx="38100" cy="609600"/>
          </a:xfrm>
          <a:prstGeom prst="roundRect">
            <a:avLst>
              <a:gd name="adj" fmla="val 50000"/>
            </a:avLst>
          </a:prstGeom>
          <a:solidFill>
            <a:srgbClr val="3A9E6A"/>
          </a:solidFill>
          <a:ln>
            <a:noFill/>
          </a:ln>
        </p:spPr>
      </p:sp>
      <p:sp>
        <p:nvSpPr>
          <p:cNvPr id="62" name="TextBox 62"/>
          <p:cNvSpPr txBox="1"/>
          <p:nvPr/>
        </p:nvSpPr>
        <p:spPr>
          <a:xfrm>
            <a:off x="6522720" y="3674745"/>
            <a:ext cx="20228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Q3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6751320" y="3674745"/>
            <a:ext cx="199453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什么具体催化剂能解决不确定性？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6752272" y="3949541"/>
            <a:ext cx="2322338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财报 / FDA决定 / 合同落地 — 须有时间节点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11322272" y="6554152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13 / 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266700"/>
            <a:ext cx="57150" cy="3429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50570" y="255270"/>
            <a:ext cx="5931294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Moneyball — 非对称风险 · 两类参数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6762" y="621506"/>
            <a:ext cx="440733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R/R ≥ 2:1 是铁律 — 股票类型不同，止损宽度和目标区间不同</a:t>
            </a:r>
          </a:p>
        </p:txBody>
      </p:sp>
      <p:sp>
        <p:nvSpPr>
          <p:cNvPr id="7" name="Rectangle 7"/>
          <p:cNvSpPr/>
          <p:nvPr/>
        </p:nvSpPr>
        <p:spPr>
          <a:xfrm>
            <a:off x="571500" y="914400"/>
            <a:ext cx="5486400" cy="457200"/>
          </a:xfrm>
          <a:prstGeom prst="roundRect">
            <a:avLst>
              <a:gd name="adj" fmla="val 20833"/>
            </a:avLst>
          </a:prstGeom>
          <a:solidFill>
            <a:srgbClr val="5A5A5A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2987016" y="1054418"/>
            <a:ext cx="65536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标准股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156412" y="931545"/>
            <a:ext cx="231657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FFFFFF">
                    <a:alphaMod val="70000"/>
                  </a:srgbClr>
                </a:solidFill>
                <a:latin typeface="Arial"/>
                <a:ea typeface="Microsoft YaHei"/>
                <a:cs typeface="Arial"/>
              </a:rPr>
              <a:t>市值 ≥$2B · ATR% ≤4% · 趋势模板 ≥5/8</a:t>
            </a:r>
          </a:p>
        </p:txBody>
      </p:sp>
      <p:sp>
        <p:nvSpPr>
          <p:cNvPr id="10" name="Rectangle 10"/>
          <p:cNvSpPr/>
          <p:nvPr/>
        </p:nvSpPr>
        <p:spPr>
          <a:xfrm>
            <a:off x="6286500" y="914400"/>
            <a:ext cx="5334000" cy="457200"/>
          </a:xfrm>
          <a:prstGeom prst="roundRect">
            <a:avLst>
              <a:gd name="adj" fmla="val 20833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8196237" y="1054418"/>
            <a:ext cx="1514525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小盘 / 高波动股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736062" y="931545"/>
            <a:ext cx="243487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FFFFFF">
                    <a:alphaMod val="80000"/>
                  </a:srgbClr>
                </a:solidFill>
                <a:latin typeface="Arial"/>
                <a:ea typeface="Microsoft YaHei"/>
                <a:cs typeface="Arial"/>
              </a:rPr>
              <a:t>市值 &lt;$2B 或 ATR% &gt;4% 或 趋势模板 &lt;5/8</a:t>
            </a:r>
          </a:p>
        </p:txBody>
      </p:sp>
      <p:sp>
        <p:nvSpPr>
          <p:cNvPr id="13" name="Rectangle 13"/>
          <p:cNvSpPr/>
          <p:nvPr/>
        </p:nvSpPr>
        <p:spPr>
          <a:xfrm>
            <a:off x="571500" y="1504950"/>
            <a:ext cx="5486400" cy="99060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14" name="Rectangle 14"/>
          <p:cNvSpPr/>
          <p:nvPr/>
        </p:nvSpPr>
        <p:spPr>
          <a:xfrm>
            <a:off x="6286500" y="1504950"/>
            <a:ext cx="5334000" cy="99060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4288">
            <a:solidFill>
              <a:srgbClr val="C96133"/>
            </a:solidFill>
          </a:ln>
        </p:spPr>
      </p:sp>
      <p:sp>
        <p:nvSpPr>
          <p:cNvPr id="15" name="Rectangle 15"/>
          <p:cNvSpPr/>
          <p:nvPr/>
        </p:nvSpPr>
        <p:spPr>
          <a:xfrm>
            <a:off x="571500" y="1676400"/>
            <a:ext cx="38100" cy="647700"/>
          </a:xfrm>
          <a:prstGeom prst="rect">
            <a:avLst/>
          </a:prstGeom>
          <a:solidFill>
            <a:srgbClr val="D44545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767715" y="1810702"/>
            <a:ext cx="50973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D44545"/>
                </a:solidFill>
                <a:latin typeface="Arial"/>
                <a:ea typeface="Microsoft YaHei"/>
                <a:cs typeface="Arial"/>
              </a:rPr>
              <a:t>止损位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60095" y="1936432"/>
            <a:ext cx="226858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max(2×ATR14, 10%)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68668" y="2218849"/>
            <a:ext cx="230314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上限 20%（大盘ATR低，典型约10%）</a:t>
            </a:r>
          </a:p>
        </p:txBody>
      </p:sp>
      <p:sp>
        <p:nvSpPr>
          <p:cNvPr id="19" name="Rectangle 19"/>
          <p:cNvSpPr/>
          <p:nvPr/>
        </p:nvSpPr>
        <p:spPr>
          <a:xfrm>
            <a:off x="6286500" y="1676400"/>
            <a:ext cx="38100" cy="647700"/>
          </a:xfrm>
          <a:prstGeom prst="rect">
            <a:avLst/>
          </a:prstGeom>
          <a:solidFill>
            <a:srgbClr val="D44545"/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6482715" y="1810702"/>
            <a:ext cx="50973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D44545"/>
                </a:solidFill>
                <a:latin typeface="Arial"/>
                <a:ea typeface="Microsoft YaHei"/>
                <a:cs typeface="Arial"/>
              </a:rPr>
              <a:t>止损位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475095" y="1936432"/>
            <a:ext cx="2192679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max(2×ATR, -10%)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483668" y="2218849"/>
            <a:ext cx="265914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上限 -20%（日波幅大，不能被噪音止损）</a:t>
            </a:r>
          </a:p>
        </p:txBody>
      </p:sp>
      <p:sp>
        <p:nvSpPr>
          <p:cNvPr id="23" name="Rectangle 23"/>
          <p:cNvSpPr/>
          <p:nvPr/>
        </p:nvSpPr>
        <p:spPr>
          <a:xfrm>
            <a:off x="571500" y="2609850"/>
            <a:ext cx="5486400" cy="99060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24" name="Rectangle 24"/>
          <p:cNvSpPr/>
          <p:nvPr/>
        </p:nvSpPr>
        <p:spPr>
          <a:xfrm>
            <a:off x="6286500" y="2609850"/>
            <a:ext cx="5334000" cy="99060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4288">
            <a:solidFill>
              <a:srgbClr val="C96133"/>
            </a:solidFill>
          </a:ln>
        </p:spPr>
      </p:sp>
      <p:sp>
        <p:nvSpPr>
          <p:cNvPr id="25" name="Rectangle 25"/>
          <p:cNvSpPr/>
          <p:nvPr/>
        </p:nvSpPr>
        <p:spPr>
          <a:xfrm>
            <a:off x="571500" y="2781300"/>
            <a:ext cx="38100" cy="647700"/>
          </a:xfrm>
          <a:prstGeom prst="rect">
            <a:avLst/>
          </a:prstGeom>
          <a:solidFill>
            <a:srgbClr val="3A9E6A"/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767715" y="2896552"/>
            <a:ext cx="104109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目标1（减仓）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60095" y="3022282"/>
            <a:ext cx="1167901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+30 ~ 50%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768668" y="3304699"/>
            <a:ext cx="224618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到达后卖出 25-30%，锁定部分利润</a:t>
            </a:r>
          </a:p>
        </p:txBody>
      </p:sp>
      <p:sp>
        <p:nvSpPr>
          <p:cNvPr id="29" name="Rectangle 29"/>
          <p:cNvSpPr/>
          <p:nvPr/>
        </p:nvSpPr>
        <p:spPr>
          <a:xfrm>
            <a:off x="6286500" y="2781300"/>
            <a:ext cx="38100" cy="647700"/>
          </a:xfrm>
          <a:prstGeom prst="rect">
            <a:avLst/>
          </a:prstGeom>
          <a:solidFill>
            <a:srgbClr val="3A9E6A"/>
          </a:solidFill>
          <a:ln>
            <a:noFill/>
          </a:ln>
        </p:spPr>
      </p:sp>
      <p:sp>
        <p:nvSpPr>
          <p:cNvPr id="30" name="TextBox 30"/>
          <p:cNvSpPr txBox="1"/>
          <p:nvPr/>
        </p:nvSpPr>
        <p:spPr>
          <a:xfrm>
            <a:off x="6482715" y="2896552"/>
            <a:ext cx="136313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目标1（仅减一点）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6475095" y="3022282"/>
            <a:ext cx="1167901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+30 ~ 50%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6483668" y="3304699"/>
            <a:ext cx="181898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只减 25–30%，留大仓继续跑</a:t>
            </a:r>
          </a:p>
        </p:txBody>
      </p:sp>
      <p:sp>
        <p:nvSpPr>
          <p:cNvPr id="33" name="Rectangle 33"/>
          <p:cNvSpPr/>
          <p:nvPr/>
        </p:nvSpPr>
        <p:spPr>
          <a:xfrm>
            <a:off x="571500" y="3714750"/>
            <a:ext cx="5486400" cy="99060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34" name="Rectangle 34"/>
          <p:cNvSpPr/>
          <p:nvPr/>
        </p:nvSpPr>
        <p:spPr>
          <a:xfrm>
            <a:off x="6286500" y="3714750"/>
            <a:ext cx="5334000" cy="99060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4288">
            <a:solidFill>
              <a:srgbClr val="C96133"/>
            </a:solidFill>
          </a:ln>
        </p:spPr>
      </p:sp>
      <p:sp>
        <p:nvSpPr>
          <p:cNvPr id="35" name="Rectangle 35"/>
          <p:cNvSpPr/>
          <p:nvPr/>
        </p:nvSpPr>
        <p:spPr>
          <a:xfrm>
            <a:off x="571500" y="3886200"/>
            <a:ext cx="38100" cy="647700"/>
          </a:xfrm>
          <a:prstGeom prst="rect">
            <a:avLst/>
          </a:prstGeom>
          <a:solidFill>
            <a:srgbClr val="3A9E6A"/>
          </a:solidFill>
          <a:ln>
            <a:noFill/>
          </a:ln>
        </p:spPr>
      </p:sp>
      <p:sp>
        <p:nvSpPr>
          <p:cNvPr id="36" name="TextBox 36"/>
          <p:cNvSpPr txBox="1"/>
          <p:nvPr/>
        </p:nvSpPr>
        <p:spPr>
          <a:xfrm>
            <a:off x="767715" y="3982402"/>
            <a:ext cx="156441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目标2（剩余跟趋势）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760095" y="4127182"/>
            <a:ext cx="124381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+80 ~ 100%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768668" y="4409599"/>
            <a:ext cx="202546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再卖出 25%，进入"自由股"状态</a:t>
            </a:r>
          </a:p>
        </p:txBody>
      </p:sp>
      <p:sp>
        <p:nvSpPr>
          <p:cNvPr id="39" name="Rectangle 39"/>
          <p:cNvSpPr/>
          <p:nvPr/>
        </p:nvSpPr>
        <p:spPr>
          <a:xfrm>
            <a:off x="6286500" y="3886200"/>
            <a:ext cx="38100" cy="647700"/>
          </a:xfrm>
          <a:prstGeom prst="rect">
            <a:avLst/>
          </a:prstGeom>
          <a:solidFill>
            <a:srgbClr val="3A9E6A"/>
          </a:solidFill>
          <a:ln>
            <a:noFill/>
          </a:ln>
        </p:spPr>
      </p:sp>
      <p:sp>
        <p:nvSpPr>
          <p:cNvPr id="40" name="TextBox 40"/>
          <p:cNvSpPr txBox="1"/>
          <p:nvPr/>
        </p:nvSpPr>
        <p:spPr>
          <a:xfrm>
            <a:off x="6482715" y="3982402"/>
            <a:ext cx="140339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目标2（翻倍区间）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475095" y="4127182"/>
            <a:ext cx="124381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+80 ~ 150%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6483668" y="4409599"/>
            <a:ext cx="259506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再卖出 25%，进入"自由股"状态（同上）</a:t>
            </a:r>
          </a:p>
        </p:txBody>
      </p:sp>
      <p:sp>
        <p:nvSpPr>
          <p:cNvPr id="43" name="Rectangle 43"/>
          <p:cNvSpPr/>
          <p:nvPr/>
        </p:nvSpPr>
        <p:spPr>
          <a:xfrm>
            <a:off x="571500" y="4819650"/>
            <a:ext cx="5486400" cy="762000"/>
          </a:xfrm>
          <a:prstGeom prst="roundRect">
            <a:avLst>
              <a:gd name="adj" fmla="val 12500"/>
            </a:avLst>
          </a:prstGeom>
          <a:solidFill>
            <a:srgbClr val="FFF0F0"/>
          </a:solidFill>
          <a:ln w="14288">
            <a:solidFill>
              <a:srgbClr val="D44545"/>
            </a:solidFill>
          </a:ln>
        </p:spPr>
      </p:sp>
      <p:sp>
        <p:nvSpPr>
          <p:cNvPr id="44" name="Rectangle 44"/>
          <p:cNvSpPr/>
          <p:nvPr/>
        </p:nvSpPr>
        <p:spPr>
          <a:xfrm>
            <a:off x="6286500" y="4819650"/>
            <a:ext cx="5334000" cy="762000"/>
          </a:xfrm>
          <a:prstGeom prst="roundRect">
            <a:avLst>
              <a:gd name="adj" fmla="val 12500"/>
            </a:avLst>
          </a:prstGeom>
          <a:solidFill>
            <a:srgbClr val="FFF0F0"/>
          </a:solidFill>
          <a:ln w="14288">
            <a:solidFill>
              <a:srgbClr val="C96133"/>
            </a:solidFill>
          </a:ln>
        </p:spPr>
      </p:sp>
      <p:sp>
        <p:nvSpPr>
          <p:cNvPr id="45" name="TextBox 45"/>
          <p:cNvSpPr txBox="1"/>
          <p:nvPr/>
        </p:nvSpPr>
        <p:spPr>
          <a:xfrm>
            <a:off x="2325666" y="5003006"/>
            <a:ext cx="197806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D44545"/>
                </a:solidFill>
                <a:latin typeface="Arial"/>
                <a:ea typeface="Microsoft YaHei"/>
                <a:cs typeface="Arial"/>
              </a:rPr>
              <a:t>单笔最大亏损 = 总资金 1%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2059888" y="5228749"/>
            <a:ext cx="250962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股数 = (总资金x1%) / (入场价-止损价)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7964466" y="5003006"/>
            <a:ext cx="197806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单笔最大亏损 = 总资金 1%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7762768" y="5228749"/>
            <a:ext cx="238146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止损更宽+缺口风险高，仓位自动变轻</a:t>
            </a:r>
          </a:p>
        </p:txBody>
      </p:sp>
      <p:sp>
        <p:nvSpPr>
          <p:cNvPr id="49" name="Rectangle 49"/>
          <p:cNvSpPr/>
          <p:nvPr/>
        </p:nvSpPr>
        <p:spPr>
          <a:xfrm>
            <a:off x="571500" y="5734050"/>
            <a:ext cx="11049000" cy="914400"/>
          </a:xfrm>
          <a:prstGeom prst="roundRect">
            <a:avLst>
              <a:gd name="adj" fmla="val 12500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50" name="Ellipse 50"/>
          <p:cNvSpPr/>
          <p:nvPr/>
        </p:nvSpPr>
        <p:spPr>
          <a:xfrm>
            <a:off x="1028700" y="5867400"/>
            <a:ext cx="419100" cy="419100"/>
          </a:xfrm>
          <a:prstGeom prst="ellipse">
            <a:avLst/>
          </a:prstGeom>
          <a:noFill/>
          <a:ln w="23812">
            <a:solidFill>
              <a:srgbClr val="3A9E6A"/>
            </a:solidFill>
          </a:ln>
        </p:spPr>
      </p:sp>
      <p:sp>
        <p:nvSpPr>
          <p:cNvPr id="51" name="Ellipse 51"/>
          <p:cNvSpPr/>
          <p:nvPr/>
        </p:nvSpPr>
        <p:spPr>
          <a:xfrm>
            <a:off x="1114425" y="5953125"/>
            <a:ext cx="247650" cy="247650"/>
          </a:xfrm>
          <a:prstGeom prst="ellipse">
            <a:avLst/>
          </a:prstGeom>
          <a:noFill/>
          <a:ln w="19050">
            <a:solidFill>
              <a:srgbClr val="3A9E6A"/>
            </a:solidFill>
          </a:ln>
        </p:spPr>
      </p:sp>
      <p:sp>
        <p:nvSpPr>
          <p:cNvPr id="52" name="Ellipse 52"/>
          <p:cNvSpPr/>
          <p:nvPr/>
        </p:nvSpPr>
        <p:spPr>
          <a:xfrm>
            <a:off x="1200150" y="6038850"/>
            <a:ext cx="76200" cy="7620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</p:sp>
      <p:sp>
        <p:nvSpPr>
          <p:cNvPr id="53" name="TextBox 53"/>
          <p:cNvSpPr txBox="1"/>
          <p:nvPr/>
        </p:nvSpPr>
        <p:spPr>
          <a:xfrm>
            <a:off x="1584008" y="5863114"/>
            <a:ext cx="2642636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R/R ≥ 2:1 — 两类股票共同铁律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1586865" y="6096952"/>
            <a:ext cx="433587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FFFFFF">
                    <a:alphaMod val="75000"/>
                  </a:srgbClr>
                </a:solidFill>
                <a:latin typeface="Arial"/>
                <a:ea typeface="Microsoft YaHei"/>
                <a:cs typeface="Arial"/>
              </a:rPr>
              <a:t>计算：(目标1 - 入场价) / (入场价 - 止损位) ← 低于 2:1 不入场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587818" y="6409849"/>
            <a:ext cx="453880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赢家多赚（慢慢减仓）· 输家少亏（快速止损）· 几笔大赢弥补多次小亏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11322272" y="6554152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14 / 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342900"/>
            <a:ext cx="57150" cy="4191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46760" y="375285"/>
            <a:ext cx="4146990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Claude Code 是什么？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5810" y="822960"/>
            <a:ext cx="3561969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今天的工具 — 了解它做什么，不需要会写代码</a:t>
            </a:r>
          </a:p>
        </p:txBody>
      </p:sp>
      <p:sp>
        <p:nvSpPr>
          <p:cNvPr id="7" name="Rectangle 7"/>
          <p:cNvSpPr/>
          <p:nvPr/>
        </p:nvSpPr>
        <p:spPr>
          <a:xfrm>
            <a:off x="571500" y="1143000"/>
            <a:ext cx="5524500" cy="514350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8" name="Rectangle 8"/>
          <p:cNvSpPr/>
          <p:nvPr/>
        </p:nvSpPr>
        <p:spPr>
          <a:xfrm>
            <a:off x="571500" y="1143000"/>
            <a:ext cx="5524500" cy="762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762000" y="1447800"/>
            <a:ext cx="5143500" cy="1047750"/>
          </a:xfrm>
          <a:prstGeom prst="roundRect">
            <a:avLst>
              <a:gd name="adj" fmla="val 9091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2998375" y="1629728"/>
            <a:ext cx="67075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类比理解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981288" y="1854518"/>
            <a:ext cx="270492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Claude（网页版）= 智能对话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655222" y="2102168"/>
            <a:ext cx="3357055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Claude Code = 能动你电脑的 Claude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840563" y="2344102"/>
            <a:ext cx="298637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能读写文件 · 能执行命令 · 能记住你的项目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47712" y="275510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核心能力</a:t>
            </a:r>
          </a:p>
        </p:txBody>
      </p:sp>
      <p:sp>
        <p:nvSpPr>
          <p:cNvPr id="15" name="Ellipse 15"/>
          <p:cNvSpPr/>
          <p:nvPr/>
        </p:nvSpPr>
        <p:spPr>
          <a:xfrm>
            <a:off x="781050" y="2990850"/>
            <a:ext cx="342900" cy="342900"/>
          </a:xfrm>
          <a:prstGeom prst="ellipse">
            <a:avLst/>
          </a:prstGeom>
          <a:solidFill>
            <a:srgbClr val="C96133">
              <a:alpha val="12000"/>
            </a:srgbClr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915012" y="3106102"/>
            <a:ext cx="7497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1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23962" y="3012281"/>
            <a:ext cx="106370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读写你的文件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25868" y="3209449"/>
            <a:ext cx="315753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自动读取项目代码，修改文件，不需要你手动操作</a:t>
            </a:r>
          </a:p>
        </p:txBody>
      </p:sp>
      <p:sp>
        <p:nvSpPr>
          <p:cNvPr id="19" name="Ellipse 19"/>
          <p:cNvSpPr/>
          <p:nvPr/>
        </p:nvSpPr>
        <p:spPr>
          <a:xfrm>
            <a:off x="781050" y="3543300"/>
            <a:ext cx="342900" cy="342900"/>
          </a:xfrm>
          <a:prstGeom prst="ellipse">
            <a:avLst/>
          </a:prstGeom>
          <a:solidFill>
            <a:srgbClr val="3D7DE4">
              <a:alpha val="12000"/>
            </a:srgbClr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894884" y="3658552"/>
            <a:ext cx="11523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223962" y="3564731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执行命令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25868" y="3761899"/>
            <a:ext cx="289410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运行脚本、安装工具、操作终端 — 你说，它做</a:t>
            </a:r>
          </a:p>
        </p:txBody>
      </p:sp>
      <p:sp>
        <p:nvSpPr>
          <p:cNvPr id="23" name="Ellipse 23"/>
          <p:cNvSpPr/>
          <p:nvPr/>
        </p:nvSpPr>
        <p:spPr>
          <a:xfrm>
            <a:off x="781050" y="4095750"/>
            <a:ext cx="342900" cy="342900"/>
          </a:xfrm>
          <a:prstGeom prst="ellipse">
            <a:avLst/>
          </a:prstGeom>
          <a:solidFill>
            <a:srgbClr val="3A9E6A">
              <a:alpha val="12000"/>
            </a:srgbClr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894884" y="4211002"/>
            <a:ext cx="11523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3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223962" y="4117181"/>
            <a:ext cx="11154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记住你的 Skill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225868" y="4314349"/>
            <a:ext cx="431096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/ticker-scan、/stock-analyze 等自定义命令，一次写好永久可用</a:t>
            </a:r>
          </a:p>
        </p:txBody>
      </p:sp>
      <p:sp>
        <p:nvSpPr>
          <p:cNvPr id="27" name="Ellipse 27"/>
          <p:cNvSpPr/>
          <p:nvPr/>
        </p:nvSpPr>
        <p:spPr>
          <a:xfrm>
            <a:off x="781050" y="4648200"/>
            <a:ext cx="342900" cy="342900"/>
          </a:xfrm>
          <a:prstGeom prst="ellipse">
            <a:avLst/>
          </a:prstGeom>
          <a:solidFill>
            <a:srgbClr val="C96133">
              <a:alpha val="12000"/>
            </a:srgbClr>
          </a:solidFill>
          <a:ln>
            <a:noFill/>
          </a:ln>
        </p:spPr>
      </p:sp>
      <p:sp>
        <p:nvSpPr>
          <p:cNvPr id="28" name="TextBox 28"/>
          <p:cNvSpPr txBox="1"/>
          <p:nvPr/>
        </p:nvSpPr>
        <p:spPr>
          <a:xfrm>
            <a:off x="894884" y="4763452"/>
            <a:ext cx="11523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4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223962" y="4669631"/>
            <a:ext cx="123622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理解项目上下文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225868" y="4866799"/>
            <a:ext cx="244554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了解整个项目结构，跨文件一致地工作</a:t>
            </a:r>
          </a:p>
        </p:txBody>
      </p:sp>
      <p:sp>
        <p:nvSpPr>
          <p:cNvPr id="31" name="Rectangle 31"/>
          <p:cNvSpPr/>
          <p:nvPr/>
        </p:nvSpPr>
        <p:spPr>
          <a:xfrm>
            <a:off x="762000" y="5295900"/>
            <a:ext cx="5143500" cy="762000"/>
          </a:xfrm>
          <a:prstGeom prst="roundRect">
            <a:avLst>
              <a:gd name="adj" fmla="val 12500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32" name="TextBox 32"/>
          <p:cNvSpPr txBox="1"/>
          <p:nvPr/>
        </p:nvSpPr>
        <p:spPr>
          <a:xfrm>
            <a:off x="2434804" y="5439728"/>
            <a:ext cx="179789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今天你只需要记住一件事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031984" y="5653564"/>
            <a:ext cx="2603531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用自然语言告诉它 → 它帮你做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2110978" y="5876449"/>
            <a:ext cx="244554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FFFFFF">
                    <a:alphaMod val="60000"/>
                  </a:srgbClr>
                </a:solidFill>
                <a:latin typeface="Arial"/>
                <a:ea typeface="Microsoft YaHei"/>
                <a:cs typeface="Arial"/>
              </a:rPr>
              <a:t>不需要懂代码，只需要说清楚你要什么</a:t>
            </a:r>
          </a:p>
        </p:txBody>
      </p:sp>
      <p:sp>
        <p:nvSpPr>
          <p:cNvPr id="35" name="Rectangle 35"/>
          <p:cNvSpPr/>
          <p:nvPr/>
        </p:nvSpPr>
        <p:spPr>
          <a:xfrm>
            <a:off x="6477000" y="1143000"/>
            <a:ext cx="5334000" cy="514350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36" name="Rectangle 36"/>
          <p:cNvSpPr/>
          <p:nvPr/>
        </p:nvSpPr>
        <p:spPr>
          <a:xfrm>
            <a:off x="6477000" y="1143000"/>
            <a:ext cx="5334000" cy="76200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37" name="TextBox 37"/>
          <p:cNvSpPr txBox="1"/>
          <p:nvPr/>
        </p:nvSpPr>
        <p:spPr>
          <a:xfrm>
            <a:off x="8525887" y="1421606"/>
            <a:ext cx="123622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今天的使用方式</a:t>
            </a:r>
          </a:p>
        </p:txBody>
      </p:sp>
      <p:sp>
        <p:nvSpPr>
          <p:cNvPr id="38" name="Rectangle 38"/>
          <p:cNvSpPr/>
          <p:nvPr/>
        </p:nvSpPr>
        <p:spPr>
          <a:xfrm>
            <a:off x="6667500" y="1695450"/>
            <a:ext cx="4953000" cy="609600"/>
          </a:xfrm>
          <a:prstGeom prst="roundRect">
            <a:avLst>
              <a:gd name="adj" fmla="val 15625"/>
            </a:avLst>
          </a:prstGeom>
          <a:solidFill>
            <a:srgbClr val="F8F6F4"/>
          </a:solidFill>
          <a:ln w="9525">
            <a:solidFill>
              <a:srgbClr val="E0D8D0"/>
            </a:solidFill>
          </a:ln>
        </p:spPr>
      </p:sp>
      <p:sp>
        <p:nvSpPr>
          <p:cNvPr id="39" name="Ellipse 39"/>
          <p:cNvSpPr/>
          <p:nvPr/>
        </p:nvSpPr>
        <p:spPr>
          <a:xfrm>
            <a:off x="6800850" y="1847850"/>
            <a:ext cx="304800" cy="304800"/>
          </a:xfrm>
          <a:prstGeom prst="ellipse">
            <a:avLst/>
          </a:prstGeom>
          <a:solidFill>
            <a:srgbClr val="3D7DE4">
              <a:alpha val="15000"/>
            </a:srgbClr>
          </a:solidFill>
          <a:ln>
            <a:noFill/>
          </a:ln>
        </p:spPr>
      </p:sp>
      <p:sp>
        <p:nvSpPr>
          <p:cNvPr id="40" name="TextBox 40"/>
          <p:cNvSpPr txBox="1"/>
          <p:nvPr/>
        </p:nvSpPr>
        <p:spPr>
          <a:xfrm>
            <a:off x="6899750" y="1942624"/>
            <a:ext cx="10700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A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7225665" y="1820228"/>
            <a:ext cx="166102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打开 Claude Code 终端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7226618" y="2018824"/>
            <a:ext cx="187594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讲师提前配置好，学员直接用</a:t>
            </a:r>
          </a:p>
        </p:txBody>
      </p:sp>
      <p:sp>
        <p:nvSpPr>
          <p:cNvPr id="43" name="Line 43"/>
          <p:cNvSpPr/>
          <p:nvPr/>
        </p:nvSpPr>
        <p:spPr>
          <a:xfrm>
            <a:off x="9144000" y="2305050"/>
            <a:ext cx="9525" cy="133350"/>
          </a:xfrm>
          <a:custGeom>
            <a:avLst/>
            <a:gdLst/>
            <a:ahLst/>
            <a:cxnLst/>
            <a:rect l="l" t="t" r="r" b="b"/>
            <a:pathLst>
              <a:path w="952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/>
          <a:ln w="19050">
            <a:solidFill>
              <a:srgbClr val="E0D8D0"/>
            </a:solidFill>
          </a:ln>
        </p:spPr>
      </p:sp>
      <p:sp>
        <p:nvSpPr>
          <p:cNvPr id="44" name="Polygon 44"/>
          <p:cNvSpPr/>
          <p:nvPr/>
        </p:nvSpPr>
        <p:spPr>
          <a:xfrm>
            <a:off x="9096375" y="2419350"/>
            <a:ext cx="95250" cy="76200"/>
          </a:xfrm>
          <a:custGeom>
            <a:avLst/>
            <a:gdLst/>
            <a:ahLst/>
            <a:cxnLst/>
            <a:rect l="l" t="t" r="r" b="b"/>
            <a:pathLst>
              <a:path w="95250" h="76200">
                <a:moveTo>
                  <a:pt x="0" y="0"/>
                </a:moveTo>
                <a:lnTo>
                  <a:pt x="47625" y="76200"/>
                </a:lnTo>
                <a:lnTo>
                  <a:pt x="95250" y="0"/>
                </a:lnTo>
                <a:close/>
              </a:path>
            </a:pathLst>
          </a:custGeom>
          <a:solidFill>
            <a:srgbClr val="E0D8D0"/>
          </a:solidFill>
          <a:ln>
            <a:noFill/>
          </a:ln>
        </p:spPr>
      </p:sp>
      <p:sp>
        <p:nvSpPr>
          <p:cNvPr id="45" name="Rectangle 45"/>
          <p:cNvSpPr/>
          <p:nvPr/>
        </p:nvSpPr>
        <p:spPr>
          <a:xfrm>
            <a:off x="6667500" y="2495550"/>
            <a:ext cx="4953000" cy="952500"/>
          </a:xfrm>
          <a:prstGeom prst="roundRect">
            <a:avLst>
              <a:gd name="adj" fmla="val 10000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46" name="TextBox 46"/>
          <p:cNvSpPr txBox="1"/>
          <p:nvPr/>
        </p:nvSpPr>
        <p:spPr>
          <a:xfrm>
            <a:off x="6845618" y="2637949"/>
            <a:ext cx="163387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$ claude (在项目目录下)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843712" y="2869406"/>
            <a:ext cx="112408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/ticker-scan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6845618" y="3095149"/>
            <a:ext cx="189018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# 或者 /stock-analyze SPCX</a:t>
            </a:r>
          </a:p>
        </p:txBody>
      </p:sp>
      <p:sp>
        <p:nvSpPr>
          <p:cNvPr id="49" name="Line 49"/>
          <p:cNvSpPr/>
          <p:nvPr/>
        </p:nvSpPr>
        <p:spPr>
          <a:xfrm>
            <a:off x="9144000" y="3448050"/>
            <a:ext cx="9525" cy="133350"/>
          </a:xfrm>
          <a:custGeom>
            <a:avLst/>
            <a:gdLst/>
            <a:ahLst/>
            <a:cxnLst/>
            <a:rect l="l" t="t" r="r" b="b"/>
            <a:pathLst>
              <a:path w="9525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/>
          <a:ln w="19050">
            <a:solidFill>
              <a:srgbClr val="E0D8D0"/>
            </a:solidFill>
          </a:ln>
        </p:spPr>
      </p:sp>
      <p:sp>
        <p:nvSpPr>
          <p:cNvPr id="50" name="Polygon 50"/>
          <p:cNvSpPr/>
          <p:nvPr/>
        </p:nvSpPr>
        <p:spPr>
          <a:xfrm>
            <a:off x="9096375" y="3562350"/>
            <a:ext cx="95250" cy="76200"/>
          </a:xfrm>
          <a:custGeom>
            <a:avLst/>
            <a:gdLst/>
            <a:ahLst/>
            <a:cxnLst/>
            <a:rect l="l" t="t" r="r" b="b"/>
            <a:pathLst>
              <a:path w="95250" h="76200">
                <a:moveTo>
                  <a:pt x="0" y="0"/>
                </a:moveTo>
                <a:lnTo>
                  <a:pt x="47625" y="76200"/>
                </a:lnTo>
                <a:lnTo>
                  <a:pt x="95250" y="0"/>
                </a:lnTo>
                <a:close/>
              </a:path>
            </a:pathLst>
          </a:custGeom>
          <a:solidFill>
            <a:srgbClr val="E0D8D0"/>
          </a:solidFill>
          <a:ln>
            <a:noFill/>
          </a:ln>
        </p:spPr>
      </p:sp>
      <p:sp>
        <p:nvSpPr>
          <p:cNvPr id="51" name="Rectangle 51"/>
          <p:cNvSpPr/>
          <p:nvPr/>
        </p:nvSpPr>
        <p:spPr>
          <a:xfrm>
            <a:off x="6667500" y="3638550"/>
            <a:ext cx="4953000" cy="762000"/>
          </a:xfrm>
          <a:prstGeom prst="roundRect">
            <a:avLst>
              <a:gd name="adj" fmla="val 12500"/>
            </a:avLst>
          </a:prstGeom>
          <a:solidFill>
            <a:srgbClr val="EBF7F1"/>
          </a:solidFill>
          <a:ln w="14288">
            <a:solidFill>
              <a:srgbClr val="3A9E6A"/>
            </a:solidFill>
          </a:ln>
        </p:spPr>
      </p:sp>
      <p:sp>
        <p:nvSpPr>
          <p:cNvPr id="52" name="Ellipse 52"/>
          <p:cNvSpPr/>
          <p:nvPr/>
        </p:nvSpPr>
        <p:spPr>
          <a:xfrm>
            <a:off x="6800850" y="3867150"/>
            <a:ext cx="304800" cy="304800"/>
          </a:xfrm>
          <a:prstGeom prst="ellipse">
            <a:avLst/>
          </a:prstGeom>
          <a:solidFill>
            <a:srgbClr val="3A9E6A">
              <a:alpha val="20000"/>
            </a:srgbClr>
          </a:solidFill>
          <a:ln>
            <a:noFill/>
          </a:ln>
        </p:spPr>
      </p:sp>
      <p:sp>
        <p:nvSpPr>
          <p:cNvPr id="53" name="TextBox 53"/>
          <p:cNvSpPr txBox="1"/>
          <p:nvPr/>
        </p:nvSpPr>
        <p:spPr>
          <a:xfrm>
            <a:off x="6895634" y="3953828"/>
            <a:ext cx="11523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C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7225665" y="3839528"/>
            <a:ext cx="201526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Claude 完成分析，输出结果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7226618" y="4038124"/>
            <a:ext cx="215362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候选股列表 / 评分 / 入场区间...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7226618" y="4209574"/>
            <a:ext cx="144875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全程不需要写一行代码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8486584" y="4649152"/>
            <a:ext cx="131483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今天会用到的命令</a:t>
            </a:r>
          </a:p>
        </p:txBody>
      </p:sp>
      <p:sp>
        <p:nvSpPr>
          <p:cNvPr id="58" name="Rectangle 58"/>
          <p:cNvSpPr/>
          <p:nvPr/>
        </p:nvSpPr>
        <p:spPr>
          <a:xfrm>
            <a:off x="6667500" y="4876800"/>
            <a:ext cx="2247900" cy="342900"/>
          </a:xfrm>
          <a:prstGeom prst="roundRect">
            <a:avLst>
              <a:gd name="adj" fmla="val 22222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59" name="TextBox 59"/>
          <p:cNvSpPr txBox="1"/>
          <p:nvPr/>
        </p:nvSpPr>
        <p:spPr>
          <a:xfrm>
            <a:off x="7266876" y="4982528"/>
            <a:ext cx="104914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/ticker-scan</a:t>
            </a:r>
          </a:p>
        </p:txBody>
      </p:sp>
      <p:sp>
        <p:nvSpPr>
          <p:cNvPr id="60" name="Rectangle 60"/>
          <p:cNvSpPr/>
          <p:nvPr/>
        </p:nvSpPr>
        <p:spPr>
          <a:xfrm>
            <a:off x="9029700" y="4876800"/>
            <a:ext cx="2590800" cy="342900"/>
          </a:xfrm>
          <a:prstGeom prst="roundRect">
            <a:avLst>
              <a:gd name="adj" fmla="val 22222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61" name="TextBox 61"/>
          <p:cNvSpPr txBox="1"/>
          <p:nvPr/>
        </p:nvSpPr>
        <p:spPr>
          <a:xfrm>
            <a:off x="9353695" y="4982528"/>
            <a:ext cx="194280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/stock-analyze &lt;ticker&gt;</a:t>
            </a:r>
          </a:p>
        </p:txBody>
      </p:sp>
      <p:sp>
        <p:nvSpPr>
          <p:cNvPr id="62" name="Rectangle 62"/>
          <p:cNvSpPr/>
          <p:nvPr/>
        </p:nvSpPr>
        <p:spPr>
          <a:xfrm>
            <a:off x="6667500" y="5295900"/>
            <a:ext cx="2247900" cy="342900"/>
          </a:xfrm>
          <a:prstGeom prst="roundRect">
            <a:avLst>
              <a:gd name="adj" fmla="val 22222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63" name="TextBox 63"/>
          <p:cNvSpPr txBox="1"/>
          <p:nvPr/>
        </p:nvSpPr>
        <p:spPr>
          <a:xfrm>
            <a:off x="6888479" y="5401628"/>
            <a:ext cx="180594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/stock-entry &lt;ticker&gt;</a:t>
            </a:r>
          </a:p>
        </p:txBody>
      </p:sp>
      <p:sp>
        <p:nvSpPr>
          <p:cNvPr id="64" name="Rectangle 64"/>
          <p:cNvSpPr/>
          <p:nvPr/>
        </p:nvSpPr>
        <p:spPr>
          <a:xfrm>
            <a:off x="9029700" y="5295900"/>
            <a:ext cx="2590800" cy="342900"/>
          </a:xfrm>
          <a:prstGeom prst="roundRect">
            <a:avLst>
              <a:gd name="adj" fmla="val 22222"/>
            </a:avLst>
          </a:prstGeom>
          <a:solidFill>
            <a:srgbClr val="EBF7F1"/>
          </a:solidFill>
          <a:ln>
            <a:noFill/>
          </a:ln>
        </p:spPr>
      </p:sp>
      <p:sp>
        <p:nvSpPr>
          <p:cNvPr id="65" name="TextBox 65"/>
          <p:cNvSpPr txBox="1"/>
          <p:nvPr/>
        </p:nvSpPr>
        <p:spPr>
          <a:xfrm>
            <a:off x="9486537" y="5401628"/>
            <a:ext cx="167712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/stock-exit &lt;ticker&gt;</a:t>
            </a:r>
          </a:p>
        </p:txBody>
      </p:sp>
      <p:sp>
        <p:nvSpPr>
          <p:cNvPr id="66" name="Rectangle 66"/>
          <p:cNvSpPr/>
          <p:nvPr/>
        </p:nvSpPr>
        <p:spPr>
          <a:xfrm>
            <a:off x="6667500" y="5791200"/>
            <a:ext cx="4953000" cy="381000"/>
          </a:xfrm>
          <a:prstGeom prst="roundRect">
            <a:avLst>
              <a:gd name="adj" fmla="val 20000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67" name="TextBox 67"/>
          <p:cNvSpPr txBox="1"/>
          <p:nvPr/>
        </p:nvSpPr>
        <p:spPr>
          <a:xfrm>
            <a:off x="7588897" y="5915978"/>
            <a:ext cx="311020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这些命令都已经预装好 — 你只需要输入文字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11322272" y="6554152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15 / 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342900"/>
            <a:ext cx="57150" cy="3810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46760" y="337185"/>
            <a:ext cx="3567317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框架 × Skill 对应表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5810" y="784860"/>
            <a:ext cx="409651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每个 Skill 背后有明确的方法论依据 — 不是 AI 在乱猜</a:t>
            </a:r>
          </a:p>
        </p:txBody>
      </p:sp>
      <p:sp>
        <p:nvSpPr>
          <p:cNvPr id="7" name="Rectangle 7"/>
          <p:cNvSpPr/>
          <p:nvPr/>
        </p:nvSpPr>
        <p:spPr>
          <a:xfrm>
            <a:off x="571500" y="1143000"/>
            <a:ext cx="11049000" cy="4286250"/>
          </a:xfrm>
          <a:prstGeom prst="roundRect">
            <a:avLst>
              <a:gd name="adj" fmla="val 889"/>
            </a:avLst>
          </a:prstGeom>
          <a:noFill/>
          <a:ln w="19050">
            <a:solidFill>
              <a:srgbClr val="E0D8D0"/>
            </a:solidFill>
          </a:ln>
        </p:spPr>
      </p:sp>
      <p:sp>
        <p:nvSpPr>
          <p:cNvPr id="8" name="Rectangle 8"/>
          <p:cNvSpPr/>
          <p:nvPr/>
        </p:nvSpPr>
        <p:spPr>
          <a:xfrm>
            <a:off x="571500" y="1143000"/>
            <a:ext cx="11049000" cy="533400"/>
          </a:xfrm>
          <a:prstGeom prst="roundRect">
            <a:avLst>
              <a:gd name="adj" fmla="val 7143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571500" y="1447800"/>
            <a:ext cx="11049000" cy="228600"/>
          </a:xfrm>
          <a:prstGeom prst="rect">
            <a:avLst/>
          </a:prstGeom>
          <a:solidFill>
            <a:srgbClr val="1E1E1E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1337191" y="1345406"/>
            <a:ext cx="37361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框架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191887" y="1345406"/>
            <a:ext cx="123622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解决的核心问题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091791" y="1345406"/>
            <a:ext cx="77041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对应 Skill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689419" y="134540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使用时机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862191" y="1345406"/>
            <a:ext cx="37361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课上</a:t>
            </a:r>
          </a:p>
        </p:txBody>
      </p:sp>
      <p:sp>
        <p:nvSpPr>
          <p:cNvPr id="15" name="Line 15"/>
          <p:cNvSpPr/>
          <p:nvPr/>
        </p:nvSpPr>
        <p:spPr>
          <a:xfrm>
            <a:off x="2476500" y="1143000"/>
            <a:ext cx="9525" cy="4286250"/>
          </a:xfrm>
          <a:custGeom>
            <a:avLst/>
            <a:gdLst/>
            <a:ahLst/>
            <a:cxnLst/>
            <a:rect l="l" t="t" r="r" b="b"/>
            <a:pathLst>
              <a:path w="952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4288">
            <a:solidFill>
              <a:srgbClr val="E0D8D0"/>
            </a:solidFill>
          </a:ln>
        </p:spPr>
      </p:sp>
      <p:sp>
        <p:nvSpPr>
          <p:cNvPr id="16" name="Line 16"/>
          <p:cNvSpPr/>
          <p:nvPr/>
        </p:nvSpPr>
        <p:spPr>
          <a:xfrm>
            <a:off x="5143500" y="1143000"/>
            <a:ext cx="9525" cy="4286250"/>
          </a:xfrm>
          <a:custGeom>
            <a:avLst/>
            <a:gdLst/>
            <a:ahLst/>
            <a:cxnLst/>
            <a:rect l="l" t="t" r="r" b="b"/>
            <a:pathLst>
              <a:path w="952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4288">
            <a:solidFill>
              <a:srgbClr val="E0D8D0"/>
            </a:solidFill>
          </a:ln>
        </p:spPr>
      </p:sp>
      <p:sp>
        <p:nvSpPr>
          <p:cNvPr id="17" name="Line 17"/>
          <p:cNvSpPr/>
          <p:nvPr/>
        </p:nvSpPr>
        <p:spPr>
          <a:xfrm>
            <a:off x="7810500" y="1143000"/>
            <a:ext cx="9525" cy="4286250"/>
          </a:xfrm>
          <a:custGeom>
            <a:avLst/>
            <a:gdLst/>
            <a:ahLst/>
            <a:cxnLst/>
            <a:rect l="l" t="t" r="r" b="b"/>
            <a:pathLst>
              <a:path w="952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4288">
            <a:solidFill>
              <a:srgbClr val="E0D8D0"/>
            </a:solidFill>
          </a:ln>
        </p:spPr>
      </p:sp>
      <p:sp>
        <p:nvSpPr>
          <p:cNvPr id="18" name="Line 18"/>
          <p:cNvSpPr/>
          <p:nvPr/>
        </p:nvSpPr>
        <p:spPr>
          <a:xfrm>
            <a:off x="10287000" y="1143000"/>
            <a:ext cx="9525" cy="4286250"/>
          </a:xfrm>
          <a:custGeom>
            <a:avLst/>
            <a:gdLst/>
            <a:ahLst/>
            <a:cxnLst/>
            <a:rect l="l" t="t" r="r" b="b"/>
            <a:pathLst>
              <a:path w="9525" h="4286250">
                <a:moveTo>
                  <a:pt x="0" y="0"/>
                </a:moveTo>
                <a:lnTo>
                  <a:pt x="0" y="4286250"/>
                </a:lnTo>
              </a:path>
            </a:pathLst>
          </a:custGeom>
          <a:noFill/>
          <a:ln w="14288">
            <a:solidFill>
              <a:srgbClr val="E0D8D0"/>
            </a:solidFill>
          </a:ln>
        </p:spPr>
      </p:sp>
      <p:sp>
        <p:nvSpPr>
          <p:cNvPr id="19" name="Line 19"/>
          <p:cNvSpPr/>
          <p:nvPr/>
        </p:nvSpPr>
        <p:spPr>
          <a:xfrm>
            <a:off x="571500" y="22479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20" name="Rectangle 20"/>
          <p:cNvSpPr/>
          <p:nvPr/>
        </p:nvSpPr>
        <p:spPr>
          <a:xfrm>
            <a:off x="581025" y="1685925"/>
            <a:ext cx="11029950" cy="552450"/>
          </a:xfrm>
          <a:prstGeom prst="rect">
            <a:avLst/>
          </a:prstGeom>
          <a:solidFill>
            <a:srgbClr val="FFF8F5"/>
          </a:solidFill>
          <a:ln>
            <a:noFill/>
          </a:ln>
        </p:spPr>
      </p:sp>
      <p:sp>
        <p:nvSpPr>
          <p:cNvPr id="21" name="Rectangle 21"/>
          <p:cNvSpPr/>
          <p:nvPr/>
        </p:nvSpPr>
        <p:spPr>
          <a:xfrm>
            <a:off x="581025" y="1685925"/>
            <a:ext cx="38100" cy="5524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651510" y="1756410"/>
            <a:ext cx="131864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热门赛道方法论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54368" y="1990249"/>
            <a:ext cx="116395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热门赛道选股方法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556510" y="1899285"/>
            <a:ext cx="1134618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在哪里找股？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5224462" y="1840706"/>
            <a:ext cx="112408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/ticker-scan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226368" y="2047399"/>
            <a:ext cx="159115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扫七大赛道，输出候选股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892415" y="1915478"/>
            <a:ext cx="94678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每周定期扫描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0122119" y="1907381"/>
            <a:ext cx="5202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✓ 主讲</a:t>
            </a:r>
          </a:p>
        </p:txBody>
      </p:sp>
      <p:sp>
        <p:nvSpPr>
          <p:cNvPr id="29" name="Line 29"/>
          <p:cNvSpPr/>
          <p:nvPr/>
        </p:nvSpPr>
        <p:spPr>
          <a:xfrm>
            <a:off x="571500" y="29718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30" name="Rectangle 30"/>
          <p:cNvSpPr/>
          <p:nvPr/>
        </p:nvSpPr>
        <p:spPr>
          <a:xfrm>
            <a:off x="581025" y="2257425"/>
            <a:ext cx="11029950" cy="70485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651510" y="2346960"/>
            <a:ext cx="43533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SEPA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654368" y="2561749"/>
            <a:ext cx="181186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Stage + EPS + Price + Acc.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556510" y="2480310"/>
            <a:ext cx="1134618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什么时候买？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224462" y="2421731"/>
            <a:ext cx="116721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/stock-entry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5226368" y="2628424"/>
            <a:ext cx="147011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入场区间 · 轴心点确认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892415" y="2496502"/>
            <a:ext cx="79343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准备入场前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122119" y="2488406"/>
            <a:ext cx="5202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✓ 介绍</a:t>
            </a:r>
          </a:p>
        </p:txBody>
      </p:sp>
      <p:sp>
        <p:nvSpPr>
          <p:cNvPr id="38" name="Line 38"/>
          <p:cNvSpPr/>
          <p:nvPr/>
        </p:nvSpPr>
        <p:spPr>
          <a:xfrm>
            <a:off x="571500" y="36957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39" name="Rectangle 39"/>
          <p:cNvSpPr/>
          <p:nvPr/>
        </p:nvSpPr>
        <p:spPr>
          <a:xfrm>
            <a:off x="581025" y="2981325"/>
            <a:ext cx="11029950" cy="704850"/>
          </a:xfrm>
          <a:prstGeom prst="rect">
            <a:avLst/>
          </a:prstGeom>
          <a:solidFill>
            <a:srgbClr val="F9F9F9"/>
          </a:solidFill>
          <a:ln>
            <a:noFill/>
          </a:ln>
        </p:spPr>
      </p:sp>
      <p:sp>
        <p:nvSpPr>
          <p:cNvPr id="40" name="TextBox 40"/>
          <p:cNvSpPr txBox="1"/>
          <p:nvPr/>
        </p:nvSpPr>
        <p:spPr>
          <a:xfrm>
            <a:off x="651510" y="3070860"/>
            <a:ext cx="38932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BAIT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54368" y="3285649"/>
            <a:ext cx="243842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Business · Acc. · Industry · Timing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2556510" y="3204210"/>
            <a:ext cx="1502664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基本面够不够强？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5224462" y="3145631"/>
            <a:ext cx="13138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/stock-analyze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5226368" y="3352324"/>
            <a:ext cx="161251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综合评分 + 深度分析报告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7892415" y="3220402"/>
            <a:ext cx="94678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选出候选股后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0122119" y="3212306"/>
            <a:ext cx="5202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✓ 介绍</a:t>
            </a:r>
          </a:p>
        </p:txBody>
      </p:sp>
      <p:sp>
        <p:nvSpPr>
          <p:cNvPr id="47" name="Line 47"/>
          <p:cNvSpPr/>
          <p:nvPr/>
        </p:nvSpPr>
        <p:spPr>
          <a:xfrm>
            <a:off x="571500" y="44196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48" name="Rectangle 48"/>
          <p:cNvSpPr/>
          <p:nvPr/>
        </p:nvSpPr>
        <p:spPr>
          <a:xfrm>
            <a:off x="581025" y="3705225"/>
            <a:ext cx="11029950" cy="70485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49" name="TextBox 49"/>
          <p:cNvSpPr txBox="1"/>
          <p:nvPr/>
        </p:nvSpPr>
        <p:spPr>
          <a:xfrm>
            <a:off x="651510" y="3794760"/>
            <a:ext cx="88618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Moneyball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654368" y="4009549"/>
            <a:ext cx="102155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非对称风险评估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2556510" y="3928110"/>
            <a:ext cx="173269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上涨 vs 下跌 ≥ 2:1？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5224462" y="3831431"/>
            <a:ext cx="116721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/stock-entry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5224462" y="4021931"/>
            <a:ext cx="117584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+ /stock-exit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7892415" y="3944302"/>
            <a:ext cx="112314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入场前 + 持仓中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0122119" y="3936206"/>
            <a:ext cx="5202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✓ 介绍</a:t>
            </a:r>
          </a:p>
        </p:txBody>
      </p:sp>
      <p:sp>
        <p:nvSpPr>
          <p:cNvPr id="56" name="Rectangle 56"/>
          <p:cNvSpPr/>
          <p:nvPr/>
        </p:nvSpPr>
        <p:spPr>
          <a:xfrm>
            <a:off x="581025" y="4429125"/>
            <a:ext cx="11029950" cy="990600"/>
          </a:xfrm>
          <a:prstGeom prst="rect">
            <a:avLst/>
          </a:prstGeom>
          <a:solidFill>
            <a:srgbClr val="F0EDE8"/>
          </a:solidFill>
          <a:ln>
            <a:noFill/>
          </a:ln>
        </p:spPr>
      </p:sp>
      <p:sp>
        <p:nvSpPr>
          <p:cNvPr id="57" name="TextBox 57"/>
          <p:cNvSpPr txBox="1"/>
          <p:nvPr/>
        </p:nvSpPr>
        <p:spPr>
          <a:xfrm>
            <a:off x="651510" y="4537710"/>
            <a:ext cx="895388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Synthesis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654368" y="4752499"/>
            <a:ext cx="102155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五框架协作总览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2556510" y="4652010"/>
            <a:ext cx="168668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系统如何协作运转？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5224462" y="4593431"/>
            <a:ext cx="141696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全套 4 Skill 流水线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5225415" y="4801552"/>
            <a:ext cx="216593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scan → analyze → entry → exit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7892415" y="4668202"/>
            <a:ext cx="125349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收尾时一张图展示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10203656" y="4660106"/>
            <a:ext cx="35718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预告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2770556" y="5653564"/>
            <a:ext cx="665088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→ 4 个 Skill 背后各自依赖不同框架——不是 AI 在乱猜，是把专家逻辑系统化了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11322272" y="6554152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16 / 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285750"/>
            <a:ext cx="57150" cy="419100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48665" y="315278"/>
            <a:ext cx="5598112" cy="518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5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一切已就绪 — 你只需要描述逻辑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5810" y="727710"/>
            <a:ext cx="494652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Python 脚本预装好，Skill 文件你来写 — 用自然语言，不用代码</a:t>
            </a:r>
          </a:p>
        </p:txBody>
      </p:sp>
      <p:sp>
        <p:nvSpPr>
          <p:cNvPr id="7" name="Rectangle 7"/>
          <p:cNvSpPr/>
          <p:nvPr/>
        </p:nvSpPr>
        <p:spPr>
          <a:xfrm>
            <a:off x="571500" y="1066800"/>
            <a:ext cx="5143500" cy="49530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8" name="Rectangle 8"/>
          <p:cNvSpPr/>
          <p:nvPr/>
        </p:nvSpPr>
        <p:spPr>
          <a:xfrm>
            <a:off x="571500" y="1066800"/>
            <a:ext cx="5143500" cy="76200"/>
          </a:xfrm>
          <a:prstGeom prst="roundRect">
            <a:avLst>
              <a:gd name="adj" fmla="val 50000"/>
            </a:avLst>
          </a:prstGeom>
          <a:solidFill>
            <a:srgbClr val="9E9E9E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762000" y="1314450"/>
            <a:ext cx="4762500" cy="419100"/>
          </a:xfrm>
          <a:prstGeom prst="roundRect">
            <a:avLst>
              <a:gd name="adj" fmla="val 18182"/>
            </a:avLst>
          </a:prstGeom>
          <a:solidFill>
            <a:srgbClr val="F5F5F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2490073" y="1390174"/>
            <a:ext cx="130635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已预装，你不需要碰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520734" y="1527810"/>
            <a:ext cx="124503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Python 数据层</a:t>
            </a:r>
          </a:p>
        </p:txBody>
      </p:sp>
      <p:sp>
        <p:nvSpPr>
          <p:cNvPr id="12" name="Rectangle 12"/>
          <p:cNvSpPr/>
          <p:nvPr/>
        </p:nvSpPr>
        <p:spPr>
          <a:xfrm>
            <a:off x="762000" y="1866900"/>
            <a:ext cx="4762500" cy="990600"/>
          </a:xfrm>
          <a:prstGeom prst="roundRect">
            <a:avLst>
              <a:gd name="adj" fmla="val 9615"/>
            </a:avLst>
          </a:prstGeom>
          <a:solidFill>
            <a:srgbClr val="F8F6F4"/>
          </a:solidFill>
          <a:ln w="9525">
            <a:solidFill>
              <a:srgbClr val="E0D8D0"/>
            </a:solidFill>
          </a:ln>
        </p:spPr>
      </p:sp>
      <p:sp>
        <p:nvSpPr>
          <p:cNvPr id="13" name="Ellipse 13"/>
          <p:cNvSpPr/>
          <p:nvPr/>
        </p:nvSpPr>
        <p:spPr>
          <a:xfrm>
            <a:off x="914400" y="2228850"/>
            <a:ext cx="266700" cy="266700"/>
          </a:xfrm>
          <a:prstGeom prst="ellipse">
            <a:avLst/>
          </a:prstGeom>
          <a:solidFill>
            <a:srgbClr val="9E9E9E">
              <a:alpha val="15000"/>
            </a:srgbClr>
          </a:solidFill>
          <a:ln>
            <a:noFill/>
          </a:ln>
        </p:spPr>
      </p:sp>
      <p:sp>
        <p:nvSpPr>
          <p:cNvPr id="14" name="Polyline 14"/>
          <p:cNvSpPr/>
          <p:nvPr/>
        </p:nvSpPr>
        <p:spPr>
          <a:xfrm>
            <a:off x="981075" y="2295525"/>
            <a:ext cx="142875" cy="123825"/>
          </a:xfrm>
          <a:custGeom>
            <a:avLst/>
            <a:gdLst/>
            <a:ahLst/>
            <a:cxnLst/>
            <a:rect l="l" t="t" r="r" b="b"/>
            <a:pathLst>
              <a:path w="142875" h="123825">
                <a:moveTo>
                  <a:pt x="0" y="66675"/>
                </a:moveTo>
                <a:lnTo>
                  <a:pt x="57150" y="123825"/>
                </a:lnTo>
                <a:lnTo>
                  <a:pt x="142875" y="0"/>
                </a:lnTo>
              </a:path>
            </a:pathLst>
          </a:custGeom>
          <a:noFill/>
          <a:ln w="23812" cap="rnd">
            <a:solidFill>
              <a:srgbClr val="9E9E9E"/>
            </a:solidFill>
            <a:round/>
          </a:ln>
        </p:spPr>
      </p:sp>
      <p:sp>
        <p:nvSpPr>
          <p:cNvPr id="15" name="TextBox 15"/>
          <p:cNvSpPr txBox="1"/>
          <p:nvPr/>
        </p:nvSpPr>
        <p:spPr>
          <a:xfrm>
            <a:off x="1281112" y="2088356"/>
            <a:ext cx="13138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ticker_scan.py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83018" y="2314099"/>
            <a:ext cx="302225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拉取价格 · 计算8大SEPA条件 · 批量筛选候选股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83970" y="2531745"/>
            <a:ext cx="387419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输出结构化 JSON（ticker, stage, score, MA50/150/200, RS）</a:t>
            </a:r>
          </a:p>
        </p:txBody>
      </p:sp>
      <p:sp>
        <p:nvSpPr>
          <p:cNvPr id="18" name="Rectangle 18"/>
          <p:cNvSpPr/>
          <p:nvPr/>
        </p:nvSpPr>
        <p:spPr>
          <a:xfrm>
            <a:off x="762000" y="3009900"/>
            <a:ext cx="4762500" cy="800100"/>
          </a:xfrm>
          <a:prstGeom prst="roundRect">
            <a:avLst>
              <a:gd name="adj" fmla="val 11905"/>
            </a:avLst>
          </a:prstGeom>
          <a:solidFill>
            <a:srgbClr val="EBF2FF"/>
          </a:solidFill>
          <a:ln w="9525">
            <a:solidFill>
              <a:srgbClr val="3D7DE4"/>
            </a:solidFill>
          </a:ln>
        </p:spPr>
      </p:sp>
      <p:sp>
        <p:nvSpPr>
          <p:cNvPr id="19" name="TextBox 19"/>
          <p:cNvSpPr txBox="1"/>
          <p:nvPr/>
        </p:nvSpPr>
        <p:spPr>
          <a:xfrm>
            <a:off x="1033462" y="3174206"/>
            <a:ext cx="86530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📄 作业指南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35368" y="3418999"/>
            <a:ext cx="280866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跟我做-提示词.md — 每步操作都有导读说明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036320" y="3617595"/>
            <a:ext cx="225742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不知道下一步怎么做？打开它按步骤走</a:t>
            </a:r>
          </a:p>
        </p:txBody>
      </p:sp>
      <p:sp>
        <p:nvSpPr>
          <p:cNvPr id="22" name="Rectangle 22"/>
          <p:cNvSpPr/>
          <p:nvPr/>
        </p:nvSpPr>
        <p:spPr>
          <a:xfrm>
            <a:off x="762000" y="3962400"/>
            <a:ext cx="4762500" cy="609600"/>
          </a:xfrm>
          <a:prstGeom prst="roundRect">
            <a:avLst>
              <a:gd name="adj" fmla="val 15625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23" name="TextBox 23"/>
          <p:cNvSpPr txBox="1"/>
          <p:nvPr/>
        </p:nvSpPr>
        <p:spPr>
          <a:xfrm>
            <a:off x="2276508" y="4077652"/>
            <a:ext cx="173348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你不需要写任何 Python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706880" y="4295299"/>
            <a:ext cx="287274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pip install yfinance pandas — 装好后直接用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593181" y="5011102"/>
            <a:ext cx="110013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输出 JSON 数据</a:t>
            </a:r>
          </a:p>
        </p:txBody>
      </p:sp>
      <p:sp>
        <p:nvSpPr>
          <p:cNvPr id="26" name="Line 26"/>
          <p:cNvSpPr/>
          <p:nvPr/>
        </p:nvSpPr>
        <p:spPr>
          <a:xfrm>
            <a:off x="2476500" y="5219700"/>
            <a:ext cx="1333500" cy="9525"/>
          </a:xfrm>
          <a:custGeom>
            <a:avLst/>
            <a:gdLst/>
            <a:ahLst/>
            <a:cxnLst/>
            <a:rect l="l" t="t" r="r" b="b"/>
            <a:pathLst>
              <a:path w="1333500" h="9525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/>
          <a:ln w="14288">
            <a:solidFill>
              <a:srgbClr val="E0D8D0"/>
            </a:solidFill>
          </a:ln>
        </p:spPr>
      </p:sp>
      <p:sp>
        <p:nvSpPr>
          <p:cNvPr id="27" name="Polygon 27"/>
          <p:cNvSpPr/>
          <p:nvPr/>
        </p:nvSpPr>
        <p:spPr>
          <a:xfrm>
            <a:off x="3810000" y="51816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0" y="0"/>
                </a:moveTo>
                <a:lnTo>
                  <a:pt x="76200" y="38100"/>
                </a:lnTo>
                <a:lnTo>
                  <a:pt x="0" y="76200"/>
                </a:lnTo>
                <a:close/>
              </a:path>
            </a:pathLst>
          </a:custGeom>
          <a:solidFill>
            <a:srgbClr val="9E9E9E">
              <a:alpha val="50000"/>
            </a:srgbClr>
          </a:solidFill>
          <a:ln>
            <a:noFill/>
          </a:ln>
        </p:spPr>
      </p:sp>
      <p:sp>
        <p:nvSpPr>
          <p:cNvPr id="28" name="TextBox 28"/>
          <p:cNvSpPr txBox="1"/>
          <p:nvPr/>
        </p:nvSpPr>
        <p:spPr>
          <a:xfrm>
            <a:off x="2490073" y="5343049"/>
            <a:ext cx="130635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结果稳定，无随机性</a:t>
            </a:r>
          </a:p>
        </p:txBody>
      </p:sp>
      <p:sp>
        <p:nvSpPr>
          <p:cNvPr id="29" name="Rectangle 29"/>
          <p:cNvSpPr/>
          <p:nvPr/>
        </p:nvSpPr>
        <p:spPr>
          <a:xfrm>
            <a:off x="6477000" y="1066800"/>
            <a:ext cx="5143500" cy="49530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9050">
            <a:solidFill>
              <a:srgbClr val="C96133"/>
            </a:solidFill>
          </a:ln>
        </p:spPr>
      </p:sp>
      <p:sp>
        <p:nvSpPr>
          <p:cNvPr id="30" name="Rectangle 30"/>
          <p:cNvSpPr/>
          <p:nvPr/>
        </p:nvSpPr>
        <p:spPr>
          <a:xfrm>
            <a:off x="6477000" y="1066800"/>
            <a:ext cx="5143500" cy="762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31" name="Rectangle 31"/>
          <p:cNvSpPr/>
          <p:nvPr/>
        </p:nvSpPr>
        <p:spPr>
          <a:xfrm>
            <a:off x="6667500" y="1314450"/>
            <a:ext cx="4762500" cy="419100"/>
          </a:xfrm>
          <a:prstGeom prst="roundRect">
            <a:avLst>
              <a:gd name="adj" fmla="val 18182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32" name="TextBox 32"/>
          <p:cNvSpPr txBox="1"/>
          <p:nvPr/>
        </p:nvSpPr>
        <p:spPr>
          <a:xfrm>
            <a:off x="8587811" y="1390174"/>
            <a:ext cx="92187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你来做的部分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8283616" y="1527810"/>
            <a:ext cx="153026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Skill 文件（.md）</a:t>
            </a:r>
          </a:p>
        </p:txBody>
      </p:sp>
      <p:sp>
        <p:nvSpPr>
          <p:cNvPr id="34" name="Rectangle 34"/>
          <p:cNvSpPr/>
          <p:nvPr/>
        </p:nvSpPr>
        <p:spPr>
          <a:xfrm>
            <a:off x="6667500" y="1866900"/>
            <a:ext cx="4762500" cy="2952750"/>
          </a:xfrm>
          <a:prstGeom prst="roundRect">
            <a:avLst>
              <a:gd name="adj" fmla="val 3226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35" name="Rectangle 35"/>
          <p:cNvSpPr/>
          <p:nvPr/>
        </p:nvSpPr>
        <p:spPr>
          <a:xfrm>
            <a:off x="6667500" y="1866900"/>
            <a:ext cx="4762500" cy="304800"/>
          </a:xfrm>
          <a:prstGeom prst="roundRect">
            <a:avLst>
              <a:gd name="adj" fmla="val 31250"/>
            </a:avLst>
          </a:prstGeom>
          <a:solidFill>
            <a:srgbClr val="2A2A2A"/>
          </a:solidFill>
          <a:ln>
            <a:noFill/>
          </a:ln>
        </p:spPr>
      </p:sp>
      <p:sp>
        <p:nvSpPr>
          <p:cNvPr id="36" name="Ellipse 36"/>
          <p:cNvSpPr/>
          <p:nvPr/>
        </p:nvSpPr>
        <p:spPr>
          <a:xfrm>
            <a:off x="6838950" y="1962150"/>
            <a:ext cx="114300" cy="114300"/>
          </a:xfrm>
          <a:prstGeom prst="ellipse">
            <a:avLst/>
          </a:prstGeom>
          <a:solidFill>
            <a:srgbClr val="D44545">
              <a:alpha val="70000"/>
            </a:srgbClr>
          </a:solidFill>
          <a:ln>
            <a:noFill/>
          </a:ln>
        </p:spPr>
      </p:sp>
      <p:sp>
        <p:nvSpPr>
          <p:cNvPr id="37" name="Ellipse 37"/>
          <p:cNvSpPr/>
          <p:nvPr/>
        </p:nvSpPr>
        <p:spPr>
          <a:xfrm>
            <a:off x="7029450" y="1962150"/>
            <a:ext cx="114300" cy="114300"/>
          </a:xfrm>
          <a:prstGeom prst="ellipse">
            <a:avLst/>
          </a:prstGeom>
          <a:solidFill>
            <a:srgbClr val="D4A045">
              <a:alpha val="70000"/>
            </a:srgbClr>
          </a:solidFill>
          <a:ln>
            <a:noFill/>
          </a:ln>
        </p:spPr>
      </p:sp>
      <p:sp>
        <p:nvSpPr>
          <p:cNvPr id="38" name="Ellipse 38"/>
          <p:cNvSpPr/>
          <p:nvPr/>
        </p:nvSpPr>
        <p:spPr>
          <a:xfrm>
            <a:off x="7219950" y="1962150"/>
            <a:ext cx="114300" cy="114300"/>
          </a:xfrm>
          <a:prstGeom prst="ellipse">
            <a:avLst/>
          </a:prstGeom>
          <a:solidFill>
            <a:srgbClr val="3A9E6A">
              <a:alpha val="70000"/>
            </a:srgbClr>
          </a:solidFill>
          <a:ln>
            <a:noFill/>
          </a:ln>
        </p:spPr>
      </p:sp>
      <p:sp>
        <p:nvSpPr>
          <p:cNvPr id="39" name="TextBox 39"/>
          <p:cNvSpPr txBox="1"/>
          <p:nvPr/>
        </p:nvSpPr>
        <p:spPr>
          <a:xfrm>
            <a:off x="8534543" y="1950720"/>
            <a:ext cx="102841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ticker-scan.md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6845618" y="2256949"/>
            <a:ext cx="43060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# 角色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846570" y="2455545"/>
            <a:ext cx="218513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80000"/>
                  </a:srgbClr>
                </a:solidFill>
                <a:latin typeface="Arial"/>
                <a:ea typeface="Microsoft YaHei"/>
                <a:cs typeface="Arial"/>
              </a:rPr>
              <a:t>你是量化分析师，擅长 SEPA 框架...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6845618" y="2752249"/>
            <a:ext cx="156979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# 分析逻辑（你的框架）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6846570" y="2950845"/>
            <a:ext cx="138988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## 九大翻倍股特征筛选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6846570" y="3141345"/>
            <a:ext cx="188280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70000"/>
                  </a:srgbClr>
                </a:solidFill>
                <a:latin typeface="Arial"/>
                <a:ea typeface="Microsoft YaHei"/>
                <a:cs typeface="Arial"/>
              </a:rPr>
              <a:t>1. 基本面高增长 EPS/营收 &gt;20%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6846570" y="3312795"/>
            <a:ext cx="147532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70000"/>
                  </a:srgbClr>
                </a:solidFill>
                <a:latin typeface="Arial"/>
                <a:ea typeface="Microsoft YaHei"/>
                <a:cs typeface="Arial"/>
              </a:rPr>
              <a:t>2. 扭亏转盈拐点信号...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6846570" y="3484245"/>
            <a:ext cx="160677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70000"/>
                  </a:srgbClr>
                </a:solidFill>
                <a:latin typeface="Arial"/>
                <a:ea typeface="Microsoft YaHei"/>
                <a:cs typeface="Arial"/>
              </a:rPr>
              <a:t>3. 热门赛道底层供应商...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845618" y="3761899"/>
            <a:ext cx="71539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# 输出格式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6846570" y="3960495"/>
            <a:ext cx="154105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70000"/>
                  </a:srgbClr>
                </a:solidFill>
                <a:latin typeface="Arial"/>
                <a:ea typeface="Microsoft YaHei"/>
                <a:cs typeface="Arial"/>
              </a:rPr>
              <a:t>按 BAIT 评分从高到低排列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6846570" y="4131945"/>
            <a:ext cx="155419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70000"/>
                  </a:srgbClr>
                </a:solidFill>
                <a:latin typeface="Arial"/>
                <a:ea typeface="Microsoft YaHei"/>
                <a:cs typeface="Arial"/>
              </a:rPr>
              <a:t>每股给出入场区间建议...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6846570" y="4379595"/>
            <a:ext cx="9515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█</a:t>
            </a:r>
          </a:p>
        </p:txBody>
      </p:sp>
      <p:sp>
        <p:nvSpPr>
          <p:cNvPr id="51" name="Rectangle 51"/>
          <p:cNvSpPr/>
          <p:nvPr/>
        </p:nvSpPr>
        <p:spPr>
          <a:xfrm>
            <a:off x="6667500" y="4972050"/>
            <a:ext cx="4762500" cy="609600"/>
          </a:xfrm>
          <a:prstGeom prst="roundRect">
            <a:avLst>
              <a:gd name="adj" fmla="val 15625"/>
            </a:avLst>
          </a:prstGeom>
          <a:solidFill>
            <a:srgbClr val="F0EDE8"/>
          </a:solidFill>
          <a:ln w="14288">
            <a:solidFill>
              <a:srgbClr val="C96133"/>
            </a:solidFill>
          </a:ln>
        </p:spPr>
      </p:sp>
      <p:sp>
        <p:nvSpPr>
          <p:cNvPr id="52" name="TextBox 52"/>
          <p:cNvSpPr txBox="1"/>
          <p:nvPr/>
        </p:nvSpPr>
        <p:spPr>
          <a:xfrm>
            <a:off x="7775055" y="5079206"/>
            <a:ext cx="254739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你的知识 → 自然语言 → Skill 文件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7291983" y="5304949"/>
            <a:ext cx="351353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把 hot-sector-method 逻辑写进去，Claude 照着分析</a:t>
            </a:r>
          </a:p>
        </p:txBody>
      </p:sp>
      <p:sp>
        <p:nvSpPr>
          <p:cNvPr id="54" name="Line 54"/>
          <p:cNvSpPr/>
          <p:nvPr/>
        </p:nvSpPr>
        <p:spPr>
          <a:xfrm>
            <a:off x="5715000" y="5448300"/>
            <a:ext cx="762000" cy="9525"/>
          </a:xfrm>
          <a:custGeom>
            <a:avLst/>
            <a:gdLst/>
            <a:ahLst/>
            <a:cxnLst/>
            <a:rect l="l" t="t" r="r" b="b"/>
            <a:pathLst>
              <a:path w="762000" h="9525">
                <a:moveTo>
                  <a:pt x="0" y="0"/>
                </a:moveTo>
                <a:lnTo>
                  <a:pt x="762000" y="0"/>
                </a:lnTo>
              </a:path>
            </a:pathLst>
          </a:custGeom>
          <a:noFill/>
          <a:ln w="14288">
            <a:solidFill>
              <a:srgbClr val="E0D8D0"/>
            </a:solidFill>
            <a:custDash>
              <a:ds d="266666" sp="200000"/>
            </a:custDash>
          </a:ln>
        </p:spPr>
      </p:sp>
      <p:sp>
        <p:nvSpPr>
          <p:cNvPr id="55" name="Rectangle 55"/>
          <p:cNvSpPr/>
          <p:nvPr/>
        </p:nvSpPr>
        <p:spPr>
          <a:xfrm>
            <a:off x="571500" y="6153150"/>
            <a:ext cx="11049000" cy="495300"/>
          </a:xfrm>
          <a:prstGeom prst="roundRect">
            <a:avLst>
              <a:gd name="adj" fmla="val 19231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56" name="TextBox 56"/>
          <p:cNvSpPr txBox="1"/>
          <p:nvPr/>
        </p:nvSpPr>
        <p:spPr>
          <a:xfrm>
            <a:off x="1508760" y="6233160"/>
            <a:ext cx="119902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/ticker-scan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3034665" y="6249352"/>
            <a:ext cx="251864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Claude 读 Skill，调 Python，输出：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5796915" y="6249352"/>
            <a:ext cx="253053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候选股列表 + BAIT 评分 + 入场区间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1512570" y="6456045"/>
            <a:ext cx="229685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40000"/>
                  </a:srgbClr>
                </a:solidFill>
                <a:latin typeface="Arial"/>
                <a:ea typeface="Microsoft YaHei"/>
                <a:cs typeface="Arial"/>
              </a:rPr>
              <a:t>一行命令 · 不写代码 · 用你的框架分析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11322272" y="6611302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17 / 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342900"/>
            <a:ext cx="57150" cy="381000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46760" y="337185"/>
            <a:ext cx="3380994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为什么要分两层？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5810" y="784860"/>
            <a:ext cx="3675888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数据层 vs 分析层分离——造工具的核心架构原则</a:t>
            </a:r>
          </a:p>
        </p:txBody>
      </p:sp>
      <p:sp>
        <p:nvSpPr>
          <p:cNvPr id="7" name="Rectangle 7"/>
          <p:cNvSpPr/>
          <p:nvPr/>
        </p:nvSpPr>
        <p:spPr>
          <a:xfrm>
            <a:off x="571500" y="1123950"/>
            <a:ext cx="5143500" cy="409575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8" name="Rectangle 8"/>
          <p:cNvSpPr/>
          <p:nvPr/>
        </p:nvSpPr>
        <p:spPr>
          <a:xfrm>
            <a:off x="571500" y="1123950"/>
            <a:ext cx="5143500" cy="609600"/>
          </a:xfrm>
          <a:prstGeom prst="roundRect">
            <a:avLst>
              <a:gd name="adj" fmla="val 21875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571500" y="1543050"/>
            <a:ext cx="5143500" cy="19050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1213676" y="1213485"/>
            <a:ext cx="620649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700" dirty="0">
                <a:solidFill>
                  <a:srgbClr val="FFFFFF">
                    <a:alphaMod val="30000"/>
                  </a:srgbClr>
                </a:solidFill>
                <a:latin typeface="Arial"/>
                <a:ea typeface="Microsoft YaHei"/>
                <a:cs typeface="Arial"/>
              </a:rPr>
              <a:t>{ }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079355" y="1362075"/>
            <a:ext cx="155629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Python 数据层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029885" y="1580674"/>
            <a:ext cx="165523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FFFFFF">
                    <a:alphaMod val="80000"/>
                  </a:srgbClr>
                </a:solidFill>
                <a:latin typeface="Arial"/>
                <a:ea typeface="Microsoft YaHei"/>
                <a:cs typeface="Arial"/>
              </a:rPr>
              <a:t>稳定 · 可测试 · 不依赖 AI</a:t>
            </a:r>
          </a:p>
        </p:txBody>
      </p:sp>
      <p:sp>
        <p:nvSpPr>
          <p:cNvPr id="13" name="Rectangle 13"/>
          <p:cNvSpPr/>
          <p:nvPr/>
        </p:nvSpPr>
        <p:spPr>
          <a:xfrm>
            <a:off x="762000" y="1943100"/>
            <a:ext cx="4762500" cy="762000"/>
          </a:xfrm>
          <a:prstGeom prst="roundRect">
            <a:avLst>
              <a:gd name="adj" fmla="val 12500"/>
            </a:avLst>
          </a:prstGeom>
          <a:solidFill>
            <a:srgbClr val="FFF8F5"/>
          </a:solidFill>
          <a:ln>
            <a:noFill/>
          </a:ln>
        </p:spPr>
      </p:sp>
      <p:sp>
        <p:nvSpPr>
          <p:cNvPr id="14" name="Ellipse 14"/>
          <p:cNvSpPr/>
          <p:nvPr/>
        </p:nvSpPr>
        <p:spPr>
          <a:xfrm>
            <a:off x="914400" y="2133600"/>
            <a:ext cx="381000" cy="381000"/>
          </a:xfrm>
          <a:prstGeom prst="ellipse">
            <a:avLst/>
          </a:prstGeom>
          <a:solidFill>
            <a:srgbClr val="C96133">
              <a:alpha val="15000"/>
            </a:srgbClr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1051346" y="2219325"/>
            <a:ext cx="107109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1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432560" y="2080260"/>
            <a:ext cx="168668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结果稳定，无随机性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434465" y="2325052"/>
            <a:ext cx="217360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同样的输入永远得到同样的数据</a:t>
            </a:r>
          </a:p>
        </p:txBody>
      </p:sp>
      <p:sp>
        <p:nvSpPr>
          <p:cNvPr id="18" name="Rectangle 18"/>
          <p:cNvSpPr/>
          <p:nvPr/>
        </p:nvSpPr>
        <p:spPr>
          <a:xfrm>
            <a:off x="762000" y="2838450"/>
            <a:ext cx="4762500" cy="762000"/>
          </a:xfrm>
          <a:prstGeom prst="roundRect">
            <a:avLst>
              <a:gd name="adj" fmla="val 12500"/>
            </a:avLst>
          </a:prstGeom>
          <a:solidFill>
            <a:srgbClr val="FFF8F5"/>
          </a:solidFill>
          <a:ln>
            <a:noFill/>
          </a:ln>
        </p:spPr>
      </p:sp>
      <p:sp>
        <p:nvSpPr>
          <p:cNvPr id="19" name="Ellipse 19"/>
          <p:cNvSpPr/>
          <p:nvPr/>
        </p:nvSpPr>
        <p:spPr>
          <a:xfrm>
            <a:off x="914400" y="3028950"/>
            <a:ext cx="381000" cy="381000"/>
          </a:xfrm>
          <a:prstGeom prst="ellipse">
            <a:avLst/>
          </a:prstGeom>
          <a:solidFill>
            <a:srgbClr val="C96133">
              <a:alpha val="15000"/>
            </a:srgbClr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1022592" y="3114675"/>
            <a:ext cx="164616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432560" y="2975610"/>
            <a:ext cx="168668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独立测试，先验数据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434465" y="3220402"/>
            <a:ext cx="314739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python ticker_scan.py 先跑，确认数据正确</a:t>
            </a:r>
          </a:p>
        </p:txBody>
      </p:sp>
      <p:sp>
        <p:nvSpPr>
          <p:cNvPr id="23" name="Rectangle 23"/>
          <p:cNvSpPr/>
          <p:nvPr/>
        </p:nvSpPr>
        <p:spPr>
          <a:xfrm>
            <a:off x="762000" y="3733800"/>
            <a:ext cx="4762500" cy="762000"/>
          </a:xfrm>
          <a:prstGeom prst="roundRect">
            <a:avLst>
              <a:gd name="adj" fmla="val 12500"/>
            </a:avLst>
          </a:prstGeom>
          <a:solidFill>
            <a:srgbClr val="FFF8F5"/>
          </a:solidFill>
          <a:ln>
            <a:noFill/>
          </a:ln>
        </p:spPr>
      </p:sp>
      <p:sp>
        <p:nvSpPr>
          <p:cNvPr id="24" name="Ellipse 24"/>
          <p:cNvSpPr/>
          <p:nvPr/>
        </p:nvSpPr>
        <p:spPr>
          <a:xfrm>
            <a:off x="914400" y="3924300"/>
            <a:ext cx="381000" cy="381000"/>
          </a:xfrm>
          <a:prstGeom prst="ellipse">
            <a:avLst/>
          </a:prstGeom>
          <a:solidFill>
            <a:srgbClr val="C96133">
              <a:alpha val="15000"/>
            </a:srgbClr>
          </a:solidFill>
          <a:ln>
            <a:noFill/>
          </a:ln>
        </p:spPr>
      </p:sp>
      <p:sp>
        <p:nvSpPr>
          <p:cNvPr id="25" name="TextBox 25"/>
          <p:cNvSpPr txBox="1"/>
          <p:nvPr/>
        </p:nvSpPr>
        <p:spPr>
          <a:xfrm>
            <a:off x="1022592" y="4010025"/>
            <a:ext cx="164616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3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432560" y="3870960"/>
            <a:ext cx="1502664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加数据源只改这里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434465" y="4115752"/>
            <a:ext cx="264899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接新 API？只改 Python，prompt 不动</a:t>
            </a:r>
          </a:p>
        </p:txBody>
      </p:sp>
      <p:sp>
        <p:nvSpPr>
          <p:cNvPr id="28" name="Rectangle 28"/>
          <p:cNvSpPr/>
          <p:nvPr/>
        </p:nvSpPr>
        <p:spPr>
          <a:xfrm>
            <a:off x="762000" y="4629150"/>
            <a:ext cx="4762500" cy="438150"/>
          </a:xfrm>
          <a:prstGeom prst="roundRect">
            <a:avLst>
              <a:gd name="adj" fmla="val 21739"/>
            </a:avLst>
          </a:prstGeom>
          <a:solidFill>
            <a:srgbClr val="C96133">
              <a:alpha val="10000"/>
            </a:srgbClr>
          </a:solidFill>
          <a:ln>
            <a:noFill/>
          </a:ln>
        </p:spPr>
      </p:sp>
      <p:sp>
        <p:nvSpPr>
          <p:cNvPr id="29" name="TextBox 29"/>
          <p:cNvSpPr txBox="1"/>
          <p:nvPr/>
        </p:nvSpPr>
        <p:spPr>
          <a:xfrm>
            <a:off x="1560030" y="4782502"/>
            <a:ext cx="259494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✓ 数据层负责"取数"，答案唯一确定</a:t>
            </a:r>
          </a:p>
        </p:txBody>
      </p:sp>
      <p:sp>
        <p:nvSpPr>
          <p:cNvPr id="30" name="Ellipse 30"/>
          <p:cNvSpPr/>
          <p:nvPr/>
        </p:nvSpPr>
        <p:spPr>
          <a:xfrm>
            <a:off x="5753100" y="2828925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0D8D0"/>
            </a:solidFill>
          </a:ln>
        </p:spPr>
      </p:sp>
      <p:sp>
        <p:nvSpPr>
          <p:cNvPr id="31" name="TextBox 31"/>
          <p:cNvSpPr txBox="1"/>
          <p:nvPr/>
        </p:nvSpPr>
        <p:spPr>
          <a:xfrm>
            <a:off x="6008858" y="3018949"/>
            <a:ext cx="17428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分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6008858" y="3209449"/>
            <a:ext cx="17428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离</a:t>
            </a:r>
          </a:p>
        </p:txBody>
      </p:sp>
      <p:sp>
        <p:nvSpPr>
          <p:cNvPr id="33" name="Line 33"/>
          <p:cNvSpPr/>
          <p:nvPr/>
        </p:nvSpPr>
        <p:spPr>
          <a:xfrm>
            <a:off x="5314950" y="3171825"/>
            <a:ext cx="400050" cy="9525"/>
          </a:xfrm>
          <a:custGeom>
            <a:avLst/>
            <a:gdLst/>
            <a:ahLst/>
            <a:cxnLst/>
            <a:rect l="l" t="t" r="r" b="b"/>
            <a:pathLst>
              <a:path w="400050" h="9525">
                <a:moveTo>
                  <a:pt x="400050" y="0"/>
                </a:moveTo>
                <a:lnTo>
                  <a:pt x="0" y="0"/>
                </a:lnTo>
              </a:path>
            </a:pathLst>
          </a:custGeom>
          <a:noFill/>
          <a:ln w="14288">
            <a:solidFill>
              <a:srgbClr val="E0D8D0"/>
            </a:solidFill>
            <a:custDash>
              <a:ds d="266666" sp="200000"/>
            </a:custDash>
          </a:ln>
        </p:spPr>
      </p:sp>
      <p:sp>
        <p:nvSpPr>
          <p:cNvPr id="34" name="Line 34"/>
          <p:cNvSpPr/>
          <p:nvPr/>
        </p:nvSpPr>
        <p:spPr>
          <a:xfrm>
            <a:off x="6477000" y="3171825"/>
            <a:ext cx="400050" cy="9525"/>
          </a:xfrm>
          <a:custGeom>
            <a:avLst/>
            <a:gdLst/>
            <a:ahLst/>
            <a:cxnLst/>
            <a:rect l="l" t="t" r="r" b="b"/>
            <a:pathLst>
              <a:path w="400050" h="9525">
                <a:moveTo>
                  <a:pt x="0" y="0"/>
                </a:moveTo>
                <a:lnTo>
                  <a:pt x="400050" y="0"/>
                </a:lnTo>
              </a:path>
            </a:pathLst>
          </a:custGeom>
          <a:noFill/>
          <a:ln w="14288">
            <a:solidFill>
              <a:srgbClr val="E0D8D0"/>
            </a:solidFill>
            <a:custDash>
              <a:ds d="266666" sp="200000"/>
            </a:custDash>
          </a:ln>
        </p:spPr>
      </p:sp>
      <p:sp>
        <p:nvSpPr>
          <p:cNvPr id="35" name="Rectangle 35"/>
          <p:cNvSpPr/>
          <p:nvPr/>
        </p:nvSpPr>
        <p:spPr>
          <a:xfrm>
            <a:off x="6877050" y="1123950"/>
            <a:ext cx="4743450" cy="409575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36" name="Rectangle 36"/>
          <p:cNvSpPr/>
          <p:nvPr/>
        </p:nvSpPr>
        <p:spPr>
          <a:xfrm>
            <a:off x="6877050" y="1123950"/>
            <a:ext cx="4743450" cy="609600"/>
          </a:xfrm>
          <a:prstGeom prst="roundRect">
            <a:avLst>
              <a:gd name="adj" fmla="val 21875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37" name="Rectangle 37"/>
          <p:cNvSpPr/>
          <p:nvPr/>
        </p:nvSpPr>
        <p:spPr>
          <a:xfrm>
            <a:off x="6877050" y="1543050"/>
            <a:ext cx="4743450" cy="190500"/>
          </a:xfrm>
          <a:prstGeom prst="rect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38" name="TextBox 38"/>
          <p:cNvSpPr txBox="1"/>
          <p:nvPr/>
        </p:nvSpPr>
        <p:spPr>
          <a:xfrm>
            <a:off x="7722918" y="1213485"/>
            <a:ext cx="403765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700" dirty="0">
                <a:solidFill>
                  <a:srgbClr val="FFFFFF">
                    <a:alphaMod val="30000"/>
                  </a:srgbClr>
                </a:solidFill>
                <a:latin typeface="Arial"/>
                <a:ea typeface="Microsoft YaHei"/>
                <a:cs typeface="Arial"/>
              </a:rPr>
              <a:t>AI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8627876" y="1362075"/>
            <a:ext cx="1222748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LLM 分析层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8137517" y="1580674"/>
            <a:ext cx="220346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FFFFFF">
                    <a:alphaMod val="80000"/>
                  </a:srgbClr>
                </a:solidFill>
                <a:latin typeface="Arial"/>
                <a:ea typeface="Microsoft YaHei"/>
                <a:cs typeface="Arial"/>
              </a:rPr>
              <a:t>灵活 · 可调整 · 自然语言定义逻辑</a:t>
            </a:r>
          </a:p>
        </p:txBody>
      </p:sp>
      <p:sp>
        <p:nvSpPr>
          <p:cNvPr id="41" name="Rectangle 41"/>
          <p:cNvSpPr/>
          <p:nvPr/>
        </p:nvSpPr>
        <p:spPr>
          <a:xfrm>
            <a:off x="7067550" y="1943100"/>
            <a:ext cx="4362450" cy="762000"/>
          </a:xfrm>
          <a:prstGeom prst="roundRect">
            <a:avLst>
              <a:gd name="adj" fmla="val 12500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42" name="Ellipse 42"/>
          <p:cNvSpPr/>
          <p:nvPr/>
        </p:nvSpPr>
        <p:spPr>
          <a:xfrm>
            <a:off x="7219950" y="2133600"/>
            <a:ext cx="381000" cy="381000"/>
          </a:xfrm>
          <a:prstGeom prst="ellipse">
            <a:avLst/>
          </a:prstGeom>
          <a:solidFill>
            <a:srgbClr val="3D7DE4">
              <a:alpha val="20000"/>
            </a:srgbClr>
          </a:solidFill>
          <a:ln>
            <a:noFill/>
          </a:ln>
        </p:spPr>
      </p:sp>
      <p:sp>
        <p:nvSpPr>
          <p:cNvPr id="43" name="TextBox 43"/>
          <p:cNvSpPr txBox="1"/>
          <p:nvPr/>
        </p:nvSpPr>
        <p:spPr>
          <a:xfrm>
            <a:off x="7356896" y="2219325"/>
            <a:ext cx="107109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1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7738110" y="2080260"/>
            <a:ext cx="131864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改框架只改这里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7740015" y="2325052"/>
            <a:ext cx="262599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换框架？只改 .md prompt，不动代码</a:t>
            </a:r>
          </a:p>
        </p:txBody>
      </p:sp>
      <p:sp>
        <p:nvSpPr>
          <p:cNvPr id="46" name="Rectangle 46"/>
          <p:cNvSpPr/>
          <p:nvPr/>
        </p:nvSpPr>
        <p:spPr>
          <a:xfrm>
            <a:off x="7067550" y="2838450"/>
            <a:ext cx="4362450" cy="762000"/>
          </a:xfrm>
          <a:prstGeom prst="roundRect">
            <a:avLst>
              <a:gd name="adj" fmla="val 12500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47" name="Ellipse 47"/>
          <p:cNvSpPr/>
          <p:nvPr/>
        </p:nvSpPr>
        <p:spPr>
          <a:xfrm>
            <a:off x="7219950" y="3028950"/>
            <a:ext cx="381000" cy="381000"/>
          </a:xfrm>
          <a:prstGeom prst="ellipse">
            <a:avLst/>
          </a:prstGeom>
          <a:solidFill>
            <a:srgbClr val="3D7DE4">
              <a:alpha val="20000"/>
            </a:srgbClr>
          </a:solidFill>
          <a:ln>
            <a:noFill/>
          </a:ln>
        </p:spPr>
      </p:sp>
      <p:sp>
        <p:nvSpPr>
          <p:cNvPr id="48" name="TextBox 48"/>
          <p:cNvSpPr txBox="1"/>
          <p:nvPr/>
        </p:nvSpPr>
        <p:spPr>
          <a:xfrm>
            <a:off x="7328142" y="3114675"/>
            <a:ext cx="164616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7738110" y="2975610"/>
            <a:ext cx="187071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自然语言描述判断逻辑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7740015" y="3220402"/>
            <a:ext cx="202025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不需要写代码，说清标准即可</a:t>
            </a:r>
          </a:p>
        </p:txBody>
      </p:sp>
      <p:sp>
        <p:nvSpPr>
          <p:cNvPr id="51" name="Rectangle 51"/>
          <p:cNvSpPr/>
          <p:nvPr/>
        </p:nvSpPr>
        <p:spPr>
          <a:xfrm>
            <a:off x="7067550" y="3733800"/>
            <a:ext cx="4362450" cy="762000"/>
          </a:xfrm>
          <a:prstGeom prst="roundRect">
            <a:avLst>
              <a:gd name="adj" fmla="val 12500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52" name="Ellipse 52"/>
          <p:cNvSpPr/>
          <p:nvPr/>
        </p:nvSpPr>
        <p:spPr>
          <a:xfrm>
            <a:off x="7219950" y="3924300"/>
            <a:ext cx="381000" cy="381000"/>
          </a:xfrm>
          <a:prstGeom prst="ellipse">
            <a:avLst/>
          </a:prstGeom>
          <a:solidFill>
            <a:srgbClr val="3D7DE4">
              <a:alpha val="20000"/>
            </a:srgbClr>
          </a:solidFill>
          <a:ln>
            <a:noFill/>
          </a:ln>
        </p:spPr>
      </p:sp>
      <p:sp>
        <p:nvSpPr>
          <p:cNvPr id="53" name="TextBox 53"/>
          <p:cNvSpPr txBox="1"/>
          <p:nvPr/>
        </p:nvSpPr>
        <p:spPr>
          <a:xfrm>
            <a:off x="7328142" y="4010025"/>
            <a:ext cx="164616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3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7738110" y="3870960"/>
            <a:ext cx="131864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框架可快速迭代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7740015" y="4115752"/>
            <a:ext cx="249564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发现新方法论？改 prompt 即可测试</a:t>
            </a:r>
          </a:p>
        </p:txBody>
      </p:sp>
      <p:sp>
        <p:nvSpPr>
          <p:cNvPr id="56" name="Rectangle 56"/>
          <p:cNvSpPr/>
          <p:nvPr/>
        </p:nvSpPr>
        <p:spPr>
          <a:xfrm>
            <a:off x="7067550" y="4629150"/>
            <a:ext cx="4362450" cy="438150"/>
          </a:xfrm>
          <a:prstGeom prst="roundRect">
            <a:avLst>
              <a:gd name="adj" fmla="val 21739"/>
            </a:avLst>
          </a:prstGeom>
          <a:solidFill>
            <a:srgbClr val="3D7DE4">
              <a:alpha val="10000"/>
            </a:srgbClr>
          </a:solidFill>
          <a:ln>
            <a:noFill/>
          </a:ln>
        </p:spPr>
      </p:sp>
      <p:sp>
        <p:nvSpPr>
          <p:cNvPr id="57" name="TextBox 57"/>
          <p:cNvSpPr txBox="1"/>
          <p:nvPr/>
        </p:nvSpPr>
        <p:spPr>
          <a:xfrm>
            <a:off x="8022290" y="4782502"/>
            <a:ext cx="243392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✓ 分析层负责"判断"，灵活可调整</a:t>
            </a:r>
          </a:p>
        </p:txBody>
      </p:sp>
      <p:sp>
        <p:nvSpPr>
          <p:cNvPr id="58" name="Rectangle 58"/>
          <p:cNvSpPr/>
          <p:nvPr/>
        </p:nvSpPr>
        <p:spPr>
          <a:xfrm>
            <a:off x="571500" y="5448300"/>
            <a:ext cx="11049000" cy="762000"/>
          </a:xfrm>
          <a:prstGeom prst="roundRect">
            <a:avLst>
              <a:gd name="adj" fmla="val 15000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59" name="Ellipse 59"/>
          <p:cNvSpPr/>
          <p:nvPr/>
        </p:nvSpPr>
        <p:spPr>
          <a:xfrm>
            <a:off x="838200" y="5619750"/>
            <a:ext cx="419100" cy="419100"/>
          </a:xfrm>
          <a:prstGeom prst="ellipse">
            <a:avLst/>
          </a:prstGeom>
          <a:solidFill>
            <a:srgbClr val="C96133">
              <a:alpha val="20000"/>
            </a:srgbClr>
          </a:solidFill>
          <a:ln>
            <a:noFill/>
          </a:ln>
        </p:spPr>
      </p:sp>
      <p:sp>
        <p:nvSpPr>
          <p:cNvPr id="60" name="TextBox 60"/>
          <p:cNvSpPr txBox="1"/>
          <p:nvPr/>
        </p:nvSpPr>
        <p:spPr>
          <a:xfrm>
            <a:off x="960525" y="5727382"/>
            <a:ext cx="17445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⚡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1413510" y="5642610"/>
            <a:ext cx="76657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核心洞见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414462" y="5898356"/>
            <a:ext cx="652688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FFFFFF">
                    <a:alphaMod val="85000"/>
                  </a:srgbClr>
                </a:solidFill>
                <a:latin typeface="Arial"/>
                <a:ea typeface="Microsoft YaHei"/>
                <a:cs typeface="Arial"/>
              </a:rPr>
              <a:t>任何专家方法都能照这个路径转化为 Skill：数据层 + 分析层分离，是"造工具"的通用架构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11322272" y="6554152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18 / 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381000"/>
            <a:ext cx="57150" cy="4191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65810" y="394335"/>
            <a:ext cx="6134438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现场演示：从零写 /ticker-scan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83908" y="814864"/>
            <a:ext cx="6102953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需求分析 → 跑脚本验证 → 写Skill → 三步测试 — 两层架构工程实践全程直播</a:t>
            </a:r>
          </a:p>
        </p:txBody>
      </p:sp>
      <p:sp>
        <p:nvSpPr>
          <p:cNvPr id="7" name="Rectangle 7"/>
          <p:cNvSpPr/>
          <p:nvPr/>
        </p:nvSpPr>
        <p:spPr>
          <a:xfrm>
            <a:off x="10572750" y="419100"/>
            <a:ext cx="1047750" cy="457200"/>
          </a:xfrm>
          <a:prstGeom prst="roundRect">
            <a:avLst>
              <a:gd name="adj" fmla="val 20833"/>
            </a:avLst>
          </a:prstGeom>
          <a:solidFill>
            <a:srgbClr val="C96133">
              <a:alpha val="12000"/>
            </a:srgbClr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10721660" y="494824"/>
            <a:ext cx="74993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⏱ 演示时长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768941" y="635318"/>
            <a:ext cx="65536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25 min</a:t>
            </a:r>
          </a:p>
        </p:txBody>
      </p:sp>
      <p:sp>
        <p:nvSpPr>
          <p:cNvPr id="10" name="Line 10"/>
          <p:cNvSpPr/>
          <p:nvPr/>
        </p:nvSpPr>
        <p:spPr>
          <a:xfrm>
            <a:off x="1447800" y="2952750"/>
            <a:ext cx="9296400" cy="9525"/>
          </a:xfrm>
          <a:custGeom>
            <a:avLst/>
            <a:gdLst/>
            <a:ahLst/>
            <a:cxnLst/>
            <a:rect l="l" t="t" r="r" b="b"/>
            <a:pathLst>
              <a:path w="9296400" h="9525">
                <a:moveTo>
                  <a:pt x="0" y="0"/>
                </a:moveTo>
                <a:lnTo>
                  <a:pt x="9296400" y="0"/>
                </a:lnTo>
              </a:path>
            </a:pathLst>
          </a:custGeom>
          <a:noFill/>
          <a:ln w="19050">
            <a:solidFill>
              <a:srgbClr val="E0D8D0"/>
            </a:solidFill>
          </a:ln>
        </p:spPr>
      </p:sp>
      <p:sp>
        <p:nvSpPr>
          <p:cNvPr id="11" name="Ellipse 11"/>
          <p:cNvSpPr/>
          <p:nvPr/>
        </p:nvSpPr>
        <p:spPr>
          <a:xfrm>
            <a:off x="1600200" y="2647950"/>
            <a:ext cx="609600" cy="6096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C96133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1776507" y="2736532"/>
            <a:ext cx="25698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01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728847" y="2977991"/>
            <a:ext cx="35230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START</a:t>
            </a:r>
          </a:p>
        </p:txBody>
      </p:sp>
      <p:sp>
        <p:nvSpPr>
          <p:cNvPr id="14" name="Rectangle 14"/>
          <p:cNvSpPr/>
          <p:nvPr/>
        </p:nvSpPr>
        <p:spPr>
          <a:xfrm>
            <a:off x="1143000" y="3429000"/>
            <a:ext cx="1524000" cy="9525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15" name="TextBox 15"/>
          <p:cNvSpPr txBox="1"/>
          <p:nvPr/>
        </p:nvSpPr>
        <p:spPr>
          <a:xfrm>
            <a:off x="1545669" y="355520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需求分析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465421" y="3780949"/>
            <a:ext cx="87915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三步需求分析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87423" y="3952399"/>
            <a:ext cx="123515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分层/API/确认范围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696403" y="4170045"/>
            <a:ext cx="41719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~8 min</a:t>
            </a:r>
          </a:p>
        </p:txBody>
      </p:sp>
      <p:sp>
        <p:nvSpPr>
          <p:cNvPr id="19" name="Ellipse 19"/>
          <p:cNvSpPr/>
          <p:nvPr/>
        </p:nvSpPr>
        <p:spPr>
          <a:xfrm>
            <a:off x="3886200" y="2647950"/>
            <a:ext cx="609600" cy="6096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C96133"/>
            </a:solidFill>
          </a:ln>
        </p:spPr>
      </p:sp>
      <p:sp>
        <p:nvSpPr>
          <p:cNvPr id="20" name="TextBox 20"/>
          <p:cNvSpPr txBox="1"/>
          <p:nvPr/>
        </p:nvSpPr>
        <p:spPr>
          <a:xfrm>
            <a:off x="4030878" y="273653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081117" y="2977991"/>
            <a:ext cx="21976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RUN</a:t>
            </a:r>
          </a:p>
        </p:txBody>
      </p:sp>
      <p:sp>
        <p:nvSpPr>
          <p:cNvPr id="22" name="Rectangle 22"/>
          <p:cNvSpPr/>
          <p:nvPr/>
        </p:nvSpPr>
        <p:spPr>
          <a:xfrm>
            <a:off x="3429000" y="3429000"/>
            <a:ext cx="1524000" cy="9525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23" name="TextBox 23"/>
          <p:cNvSpPr txBox="1"/>
          <p:nvPr/>
        </p:nvSpPr>
        <p:spPr>
          <a:xfrm>
            <a:off x="3745409" y="3555206"/>
            <a:ext cx="89118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跑数据脚本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3751421" y="3780949"/>
            <a:ext cx="87915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运行预装脚本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3822621" y="3952399"/>
            <a:ext cx="73675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验证数据层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3998833" y="4170045"/>
            <a:ext cx="38433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~1 min</a:t>
            </a:r>
          </a:p>
        </p:txBody>
      </p:sp>
      <p:sp>
        <p:nvSpPr>
          <p:cNvPr id="27" name="Ellipse 27"/>
          <p:cNvSpPr/>
          <p:nvPr/>
        </p:nvSpPr>
        <p:spPr>
          <a:xfrm>
            <a:off x="6134100" y="2609850"/>
            <a:ext cx="685800" cy="6858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28" name="TextBox 28"/>
          <p:cNvSpPr txBox="1"/>
          <p:nvPr/>
        </p:nvSpPr>
        <p:spPr>
          <a:xfrm>
            <a:off x="6316878" y="273653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303859" y="2987516"/>
            <a:ext cx="346281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FFFFFF">
                    <a:alphaMod val="85000"/>
                  </a:srgbClr>
                </a:solidFill>
                <a:latin typeface="Arial"/>
                <a:ea typeface="Microsoft YaHei"/>
                <a:cs typeface="Arial"/>
              </a:rPr>
              <a:t>WRITE</a:t>
            </a:r>
          </a:p>
        </p:txBody>
      </p:sp>
      <p:sp>
        <p:nvSpPr>
          <p:cNvPr id="30" name="Rectangle 30"/>
          <p:cNvSpPr/>
          <p:nvPr/>
        </p:nvSpPr>
        <p:spPr>
          <a:xfrm>
            <a:off x="5619750" y="3429000"/>
            <a:ext cx="1714500" cy="952500"/>
          </a:xfrm>
          <a:prstGeom prst="roundRect">
            <a:avLst>
              <a:gd name="adj" fmla="val 10000"/>
            </a:avLst>
          </a:prstGeom>
          <a:solidFill>
            <a:srgbClr val="FFF8F5"/>
          </a:solidFill>
          <a:ln w="19050">
            <a:solidFill>
              <a:srgbClr val="C96133"/>
            </a:solidFill>
          </a:ln>
        </p:spPr>
      </p:sp>
      <p:sp>
        <p:nvSpPr>
          <p:cNvPr id="31" name="TextBox 31"/>
          <p:cNvSpPr txBox="1"/>
          <p:nvPr/>
        </p:nvSpPr>
        <p:spPr>
          <a:xfrm>
            <a:off x="6178052" y="3555206"/>
            <a:ext cx="59789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写 Skill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991142" y="3780949"/>
            <a:ext cx="97171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让 Claude 生成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6097941" y="3952399"/>
            <a:ext cx="75811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LLM 分析层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6199887" y="4170045"/>
            <a:ext cx="55422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~8 min ★</a:t>
            </a:r>
          </a:p>
        </p:txBody>
      </p:sp>
      <p:sp>
        <p:nvSpPr>
          <p:cNvPr id="35" name="Ellipse 35"/>
          <p:cNvSpPr/>
          <p:nvPr/>
        </p:nvSpPr>
        <p:spPr>
          <a:xfrm>
            <a:off x="8458200" y="2647950"/>
            <a:ext cx="609600" cy="6096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C96133"/>
            </a:solidFill>
          </a:ln>
        </p:spPr>
      </p:sp>
      <p:sp>
        <p:nvSpPr>
          <p:cNvPr id="36" name="TextBox 36"/>
          <p:cNvSpPr txBox="1"/>
          <p:nvPr/>
        </p:nvSpPr>
        <p:spPr>
          <a:xfrm>
            <a:off x="8602878" y="273653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8619982" y="2977991"/>
            <a:ext cx="28603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TEST</a:t>
            </a:r>
          </a:p>
        </p:txBody>
      </p:sp>
      <p:sp>
        <p:nvSpPr>
          <p:cNvPr id="38" name="Rectangle 38"/>
          <p:cNvSpPr/>
          <p:nvPr/>
        </p:nvSpPr>
        <p:spPr>
          <a:xfrm>
            <a:off x="8001000" y="3429000"/>
            <a:ext cx="1524000" cy="9525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39" name="TextBox 39"/>
          <p:cNvSpPr txBox="1"/>
          <p:nvPr/>
        </p:nvSpPr>
        <p:spPr>
          <a:xfrm>
            <a:off x="8304469" y="3555206"/>
            <a:ext cx="9170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测试 &amp; 验证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8394621" y="3780949"/>
            <a:ext cx="73675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三步验证法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8245102" y="3952399"/>
            <a:ext cx="103579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数据/输出/边界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8554402" y="4170045"/>
            <a:ext cx="41719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~5 min</a:t>
            </a:r>
          </a:p>
        </p:txBody>
      </p:sp>
      <p:sp>
        <p:nvSpPr>
          <p:cNvPr id="43" name="Ellipse 43"/>
          <p:cNvSpPr/>
          <p:nvPr/>
        </p:nvSpPr>
        <p:spPr>
          <a:xfrm>
            <a:off x="10458450" y="2647950"/>
            <a:ext cx="609600" cy="6096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3A9E6A"/>
            </a:solidFill>
          </a:ln>
        </p:spPr>
      </p:sp>
      <p:sp>
        <p:nvSpPr>
          <p:cNvPr id="44" name="TextBox 44"/>
          <p:cNvSpPr txBox="1"/>
          <p:nvPr/>
        </p:nvSpPr>
        <p:spPr>
          <a:xfrm>
            <a:off x="10603128" y="273653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0608183" y="2977991"/>
            <a:ext cx="310134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DONE</a:t>
            </a:r>
          </a:p>
        </p:txBody>
      </p:sp>
      <p:sp>
        <p:nvSpPr>
          <p:cNvPr id="46" name="Rectangle 46"/>
          <p:cNvSpPr/>
          <p:nvPr/>
        </p:nvSpPr>
        <p:spPr>
          <a:xfrm>
            <a:off x="10001250" y="3429000"/>
            <a:ext cx="1524000" cy="952500"/>
          </a:xfrm>
          <a:prstGeom prst="roundRect">
            <a:avLst>
              <a:gd name="adj" fmla="val 10000"/>
            </a:avLst>
          </a:prstGeom>
          <a:solidFill>
            <a:srgbClr val="EBF7F1"/>
          </a:solidFill>
          <a:ln w="14288">
            <a:solidFill>
              <a:srgbClr val="3A9E6A"/>
            </a:solidFill>
          </a:ln>
        </p:spPr>
      </p:sp>
      <p:sp>
        <p:nvSpPr>
          <p:cNvPr id="47" name="TextBox 47"/>
          <p:cNvSpPr txBox="1"/>
          <p:nvPr/>
        </p:nvSpPr>
        <p:spPr>
          <a:xfrm>
            <a:off x="10291780" y="3555206"/>
            <a:ext cx="94293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可运行 Skill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9992594" y="3780949"/>
            <a:ext cx="154131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一个完整 /ticker-scan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0252472" y="3952399"/>
            <a:ext cx="102155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从无到有产生了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0562046" y="4170045"/>
            <a:ext cx="40240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~1 min</a:t>
            </a:r>
          </a:p>
        </p:txBody>
      </p:sp>
      <p:sp>
        <p:nvSpPr>
          <p:cNvPr id="51" name="Rectangle 51"/>
          <p:cNvSpPr/>
          <p:nvPr/>
        </p:nvSpPr>
        <p:spPr>
          <a:xfrm>
            <a:off x="571500" y="1238250"/>
            <a:ext cx="11049000" cy="1181100"/>
          </a:xfrm>
          <a:prstGeom prst="roundRect">
            <a:avLst>
              <a:gd name="adj" fmla="val 11290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52" name="TextBox 52"/>
          <p:cNvSpPr txBox="1"/>
          <p:nvPr/>
        </p:nvSpPr>
        <p:spPr>
          <a:xfrm>
            <a:off x="857250" y="1304925"/>
            <a:ext cx="493847" cy="914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500" b="1" dirty="0">
                <a:solidFill>
                  <a:srgbClr val="C96133">
                    <a:alphaMod val="15000"/>
                  </a:srgbClr>
                </a:solidFill>
                <a:latin typeface="Arial"/>
                <a:ea typeface="Microsoft YaHei"/>
                <a:cs typeface="Arial"/>
              </a:rPr>
              <a:t>“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2988059" y="1488758"/>
            <a:ext cx="6215882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我现在把 ticker-scan 删掉，我们一起从头写一个新的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3443097" y="1842135"/>
            <a:ext cx="530580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你不用手敲——跟着看，理解每一步为什么这么写，比看成品更有收获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0840903" y="1781175"/>
            <a:ext cx="493847" cy="914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4500" b="1" dirty="0">
                <a:solidFill>
                  <a:srgbClr val="C96133">
                    <a:alphaMod val="15000"/>
                  </a:srgbClr>
                </a:solidFill>
                <a:latin typeface="Arial"/>
                <a:ea typeface="Microsoft YaHei"/>
                <a:cs typeface="Arial"/>
              </a:rPr>
              <a:t>”</a:t>
            </a:r>
          </a:p>
        </p:txBody>
      </p:sp>
      <p:sp>
        <p:nvSpPr>
          <p:cNvPr id="56" name="Rectangle 56"/>
          <p:cNvSpPr/>
          <p:nvPr/>
        </p:nvSpPr>
        <p:spPr>
          <a:xfrm>
            <a:off x="571500" y="4648200"/>
            <a:ext cx="5381625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57" name="Rectangle 57"/>
          <p:cNvSpPr/>
          <p:nvPr/>
        </p:nvSpPr>
        <p:spPr>
          <a:xfrm>
            <a:off x="571500" y="4648200"/>
            <a:ext cx="95250" cy="12573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58" name="TextBox 58"/>
          <p:cNvSpPr txBox="1"/>
          <p:nvPr/>
        </p:nvSpPr>
        <p:spPr>
          <a:xfrm>
            <a:off x="842962" y="477440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观察重点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843915" y="5030152"/>
            <a:ext cx="199725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▪ 需求为何要先分三步抽取？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843915" y="5239702"/>
            <a:ext cx="231162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▪ Python 层和 LLM 层如何分工？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843915" y="5449252"/>
            <a:ext cx="215060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▪ 测试三步法的顺序为何重要？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843915" y="5658802"/>
            <a:ext cx="245730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▪ 看到 JSON 输出要关注哪些字段？</a:t>
            </a:r>
          </a:p>
        </p:txBody>
      </p:sp>
      <p:sp>
        <p:nvSpPr>
          <p:cNvPr id="63" name="Rectangle 63"/>
          <p:cNvSpPr/>
          <p:nvPr/>
        </p:nvSpPr>
        <p:spPr>
          <a:xfrm>
            <a:off x="6238875" y="4648200"/>
            <a:ext cx="5381625" cy="1257300"/>
          </a:xfrm>
          <a:prstGeom prst="roundRect">
            <a:avLst>
              <a:gd name="adj" fmla="val 9091"/>
            </a:avLst>
          </a:prstGeom>
          <a:solidFill>
            <a:srgbClr val="3D7DE4">
              <a:alpha val="8000"/>
            </a:srgbClr>
          </a:solidFill>
          <a:ln w="14288">
            <a:solidFill>
              <a:srgbClr val="3D7DE4">
                <a:alpha val="30000"/>
              </a:srgbClr>
            </a:solidFill>
          </a:ln>
        </p:spPr>
      </p:sp>
      <p:sp>
        <p:nvSpPr>
          <p:cNvPr id="64" name="Rectangle 64"/>
          <p:cNvSpPr/>
          <p:nvPr/>
        </p:nvSpPr>
        <p:spPr>
          <a:xfrm>
            <a:off x="6238875" y="4648200"/>
            <a:ext cx="95250" cy="1257300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65" name="TextBox 65"/>
          <p:cNvSpPr txBox="1"/>
          <p:nvPr/>
        </p:nvSpPr>
        <p:spPr>
          <a:xfrm>
            <a:off x="6510338" y="4774406"/>
            <a:ext cx="54614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你来做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6511290" y="5030152"/>
            <a:ext cx="263366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演示后，跟着作业指南写你自己的版本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6511290" y="5239702"/>
            <a:ext cx="296337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选一个你感兴趣的赛道，写 /market-daily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6511290" y="5449252"/>
            <a:ext cx="186690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不需要完美，能跑就算成功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6511290" y="5677852"/>
            <a:ext cx="129067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→ 作业在最后几页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11322272" y="6554152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19 / 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342900"/>
            <a:ext cx="57150" cy="381000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46760" y="337185"/>
            <a:ext cx="5161417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怎么测试 Skill：三步验证法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5810" y="784860"/>
            <a:ext cx="418414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写完不等于写对——这三步帮你快速确认 Skill 真的能用</a:t>
            </a:r>
          </a:p>
        </p:txBody>
      </p:sp>
      <p:sp>
        <p:nvSpPr>
          <p:cNvPr id="7" name="Line 7"/>
          <p:cNvSpPr/>
          <p:nvPr/>
        </p:nvSpPr>
        <p:spPr>
          <a:xfrm>
            <a:off x="1333500" y="1333500"/>
            <a:ext cx="9525" cy="4667250"/>
          </a:xfrm>
          <a:custGeom>
            <a:avLst/>
            <a:gdLst/>
            <a:ahLst/>
            <a:cxnLst/>
            <a:rect l="l" t="t" r="r" b="b"/>
            <a:pathLst>
              <a:path w="9525" h="4667250">
                <a:moveTo>
                  <a:pt x="0" y="0"/>
                </a:moveTo>
                <a:lnTo>
                  <a:pt x="0" y="4667250"/>
                </a:lnTo>
              </a:path>
            </a:pathLst>
          </a:custGeom>
          <a:noFill/>
          <a:ln w="19050">
            <a:solidFill>
              <a:srgbClr val="E0D8D0"/>
            </a:solidFill>
            <a:custDash>
              <a:ds d="300000" sp="250000"/>
            </a:custDash>
          </a:ln>
        </p:spPr>
      </p:sp>
      <p:sp>
        <p:nvSpPr>
          <p:cNvPr id="8" name="Ellipse 8"/>
          <p:cNvSpPr/>
          <p:nvPr/>
        </p:nvSpPr>
        <p:spPr>
          <a:xfrm>
            <a:off x="952500" y="1381125"/>
            <a:ext cx="762000" cy="7620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1164479" y="1590199"/>
            <a:ext cx="33804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FFFFFF">
                    <a:alphaMod val="75000"/>
                  </a:srgbClr>
                </a:solidFill>
                <a:latin typeface="Arial"/>
                <a:ea typeface="Microsoft YaHei"/>
                <a:cs typeface="Arial"/>
              </a:rPr>
              <a:t>STEP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205007" y="1726882"/>
            <a:ext cx="25698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01</a:t>
            </a:r>
          </a:p>
        </p:txBody>
      </p:sp>
      <p:sp>
        <p:nvSpPr>
          <p:cNvPr id="11" name="Rectangle 11"/>
          <p:cNvSpPr/>
          <p:nvPr/>
        </p:nvSpPr>
        <p:spPr>
          <a:xfrm>
            <a:off x="1924050" y="1123950"/>
            <a:ext cx="9696450" cy="123825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12" name="Rectangle 12"/>
          <p:cNvSpPr/>
          <p:nvPr/>
        </p:nvSpPr>
        <p:spPr>
          <a:xfrm>
            <a:off x="1924050" y="1123950"/>
            <a:ext cx="47625" cy="1238250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2152650" y="1285875"/>
            <a:ext cx="1648301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数据层独立验证</a:t>
            </a:r>
          </a:p>
        </p:txBody>
      </p:sp>
      <p:sp>
        <p:nvSpPr>
          <p:cNvPr id="14" name="Rectangle 14"/>
          <p:cNvSpPr/>
          <p:nvPr/>
        </p:nvSpPr>
        <p:spPr>
          <a:xfrm>
            <a:off x="3695700" y="1276350"/>
            <a:ext cx="1295400" cy="266700"/>
          </a:xfrm>
          <a:prstGeom prst="roundRect">
            <a:avLst>
              <a:gd name="adj" fmla="val 21429"/>
            </a:avLst>
          </a:prstGeom>
          <a:solidFill>
            <a:srgbClr val="3D7DE4">
              <a:alpha val="12000"/>
            </a:srgbClr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02114" y="1352074"/>
            <a:ext cx="148257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先跑 Python，不开 AI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157412" y="1574006"/>
            <a:ext cx="435804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直接运行 Python 脚本，确认数据抓取正确，再接 LLM 分析</a:t>
            </a:r>
          </a:p>
        </p:txBody>
      </p:sp>
      <p:sp>
        <p:nvSpPr>
          <p:cNvPr id="17" name="Rectangle 17"/>
          <p:cNvSpPr/>
          <p:nvPr/>
        </p:nvSpPr>
        <p:spPr>
          <a:xfrm>
            <a:off x="2171700" y="1838325"/>
            <a:ext cx="9239250" cy="381000"/>
          </a:xfrm>
          <a:prstGeom prst="roundRect">
            <a:avLst>
              <a:gd name="adj" fmla="val 15000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2348865" y="1915478"/>
            <a:ext cx="11523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$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2501265" y="1915478"/>
            <a:ext cx="330074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python ticker_scan.py --sector ai --limit 5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655118" y="1923574"/>
            <a:ext cx="372713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→ 看输出：候选股列表 + 各项指标数值，检查是否符合预期</a:t>
            </a:r>
          </a:p>
        </p:txBody>
      </p:sp>
      <p:sp>
        <p:nvSpPr>
          <p:cNvPr id="21" name="Ellipse 21"/>
          <p:cNvSpPr/>
          <p:nvPr/>
        </p:nvSpPr>
        <p:spPr>
          <a:xfrm>
            <a:off x="952500" y="3286125"/>
            <a:ext cx="762000" cy="7620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1164479" y="3495199"/>
            <a:ext cx="33804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FFFFFF">
                    <a:alphaMod val="75000"/>
                  </a:srgbClr>
                </a:solidFill>
                <a:latin typeface="Arial"/>
                <a:ea typeface="Microsoft YaHei"/>
                <a:cs typeface="Arial"/>
              </a:rPr>
              <a:t>STEP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73378" y="363188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24" name="Rectangle 24"/>
          <p:cNvSpPr/>
          <p:nvPr/>
        </p:nvSpPr>
        <p:spPr>
          <a:xfrm>
            <a:off x="1924050" y="3028950"/>
            <a:ext cx="9696450" cy="123825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25" name="Rectangle 25"/>
          <p:cNvSpPr/>
          <p:nvPr/>
        </p:nvSpPr>
        <p:spPr>
          <a:xfrm>
            <a:off x="1924050" y="3028950"/>
            <a:ext cx="47625" cy="1238250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2152650" y="3190875"/>
            <a:ext cx="1487281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Skill 输出验证</a:t>
            </a:r>
          </a:p>
        </p:txBody>
      </p:sp>
      <p:sp>
        <p:nvSpPr>
          <p:cNvPr id="27" name="Rectangle 27"/>
          <p:cNvSpPr/>
          <p:nvPr/>
        </p:nvSpPr>
        <p:spPr>
          <a:xfrm>
            <a:off x="3695700" y="3181350"/>
            <a:ext cx="1295400" cy="266700"/>
          </a:xfrm>
          <a:prstGeom prst="roundRect">
            <a:avLst>
              <a:gd name="adj" fmla="val 21429"/>
            </a:avLst>
          </a:prstGeom>
          <a:solidFill>
            <a:srgbClr val="3D7DE4">
              <a:alpha val="12000"/>
            </a:srgbClr>
          </a:solidFill>
          <a:ln>
            <a:noFill/>
          </a:ln>
        </p:spPr>
      </p:sp>
      <p:sp>
        <p:nvSpPr>
          <p:cNvPr id="28" name="TextBox 28"/>
          <p:cNvSpPr txBox="1"/>
          <p:nvPr/>
        </p:nvSpPr>
        <p:spPr>
          <a:xfrm>
            <a:off x="3572210" y="3257074"/>
            <a:ext cx="154238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接 LLM，检查输出质量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157412" y="3479006"/>
            <a:ext cx="572178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运行 /ticker-scan，对照三个问题：格式对不对？逻辑对不对？结论能用吗？</a:t>
            </a:r>
          </a:p>
        </p:txBody>
      </p:sp>
      <p:sp>
        <p:nvSpPr>
          <p:cNvPr id="30" name="Rectangle 30"/>
          <p:cNvSpPr/>
          <p:nvPr/>
        </p:nvSpPr>
        <p:spPr>
          <a:xfrm>
            <a:off x="2171700" y="3743325"/>
            <a:ext cx="2857500" cy="381000"/>
          </a:xfrm>
          <a:prstGeom prst="roundRect">
            <a:avLst>
              <a:gd name="adj" fmla="val 15000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2348865" y="3868102"/>
            <a:ext cx="192824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✓ 格式：表格/列表如期输出</a:t>
            </a:r>
          </a:p>
        </p:txBody>
      </p:sp>
      <p:sp>
        <p:nvSpPr>
          <p:cNvPr id="32" name="Rectangle 32"/>
          <p:cNvSpPr/>
          <p:nvPr/>
        </p:nvSpPr>
        <p:spPr>
          <a:xfrm>
            <a:off x="5162550" y="3743325"/>
            <a:ext cx="2857500" cy="381000"/>
          </a:xfrm>
          <a:prstGeom prst="roundRect">
            <a:avLst>
              <a:gd name="adj" fmla="val 15000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33" name="TextBox 33"/>
          <p:cNvSpPr txBox="1"/>
          <p:nvPr/>
        </p:nvSpPr>
        <p:spPr>
          <a:xfrm>
            <a:off x="5339715" y="3868102"/>
            <a:ext cx="184389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✓ 逻辑：过滤条件执行正确</a:t>
            </a:r>
          </a:p>
        </p:txBody>
      </p:sp>
      <p:sp>
        <p:nvSpPr>
          <p:cNvPr id="34" name="Rectangle 34"/>
          <p:cNvSpPr/>
          <p:nvPr/>
        </p:nvSpPr>
        <p:spPr>
          <a:xfrm>
            <a:off x="8153400" y="3743325"/>
            <a:ext cx="3124200" cy="381000"/>
          </a:xfrm>
          <a:prstGeom prst="roundRect">
            <a:avLst>
              <a:gd name="adj" fmla="val 15000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35" name="TextBox 35"/>
          <p:cNvSpPr txBox="1"/>
          <p:nvPr/>
        </p:nvSpPr>
        <p:spPr>
          <a:xfrm>
            <a:off x="8330565" y="3868102"/>
            <a:ext cx="184389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✓ 结论：候选股有足够理由</a:t>
            </a:r>
          </a:p>
        </p:txBody>
      </p:sp>
      <p:sp>
        <p:nvSpPr>
          <p:cNvPr id="36" name="Ellipse 36"/>
          <p:cNvSpPr/>
          <p:nvPr/>
        </p:nvSpPr>
        <p:spPr>
          <a:xfrm>
            <a:off x="952500" y="5095875"/>
            <a:ext cx="762000" cy="76200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</p:sp>
      <p:sp>
        <p:nvSpPr>
          <p:cNvPr id="37" name="TextBox 37"/>
          <p:cNvSpPr txBox="1"/>
          <p:nvPr/>
        </p:nvSpPr>
        <p:spPr>
          <a:xfrm>
            <a:off x="1164479" y="5304949"/>
            <a:ext cx="33804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FFFFFF">
                    <a:alphaMod val="75000"/>
                  </a:srgbClr>
                </a:solidFill>
                <a:latin typeface="Arial"/>
                <a:ea typeface="Microsoft YaHei"/>
                <a:cs typeface="Arial"/>
              </a:rPr>
              <a:t>STEP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73378" y="5451158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39" name="Rectangle 39"/>
          <p:cNvSpPr/>
          <p:nvPr/>
        </p:nvSpPr>
        <p:spPr>
          <a:xfrm>
            <a:off x="1924050" y="4838700"/>
            <a:ext cx="9696450" cy="1238250"/>
          </a:xfrm>
          <a:prstGeom prst="roundRect">
            <a:avLst>
              <a:gd name="adj" fmla="val 9231"/>
            </a:avLst>
          </a:prstGeom>
          <a:solidFill>
            <a:srgbClr val="EBF7F1"/>
          </a:solidFill>
          <a:ln w="14288">
            <a:solidFill>
              <a:srgbClr val="3A9E6A"/>
            </a:solidFill>
          </a:ln>
        </p:spPr>
      </p:sp>
      <p:sp>
        <p:nvSpPr>
          <p:cNvPr id="40" name="Rectangle 40"/>
          <p:cNvSpPr/>
          <p:nvPr/>
        </p:nvSpPr>
        <p:spPr>
          <a:xfrm>
            <a:off x="1924050" y="4838700"/>
            <a:ext cx="47625" cy="1238250"/>
          </a:xfrm>
          <a:prstGeom prst="roundRect">
            <a:avLst>
              <a:gd name="adj" fmla="val 50000"/>
            </a:avLst>
          </a:prstGeom>
          <a:solidFill>
            <a:srgbClr val="3A9E6A"/>
          </a:solidFill>
          <a:ln>
            <a:noFill/>
          </a:ln>
        </p:spPr>
      </p:sp>
      <p:sp>
        <p:nvSpPr>
          <p:cNvPr id="41" name="TextBox 41"/>
          <p:cNvSpPr txBox="1"/>
          <p:nvPr/>
        </p:nvSpPr>
        <p:spPr>
          <a:xfrm>
            <a:off x="2152650" y="5000625"/>
            <a:ext cx="1682806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边界 &amp; 异常测试</a:t>
            </a:r>
          </a:p>
        </p:txBody>
      </p:sp>
      <p:sp>
        <p:nvSpPr>
          <p:cNvPr id="42" name="Rectangle 42"/>
          <p:cNvSpPr/>
          <p:nvPr/>
        </p:nvSpPr>
        <p:spPr>
          <a:xfrm>
            <a:off x="3695700" y="4991100"/>
            <a:ext cx="1295400" cy="266700"/>
          </a:xfrm>
          <a:prstGeom prst="roundRect">
            <a:avLst>
              <a:gd name="adj" fmla="val 21429"/>
            </a:avLst>
          </a:prstGeom>
          <a:solidFill>
            <a:srgbClr val="3A9E6A">
              <a:alpha val="15000"/>
            </a:srgbClr>
          </a:solidFill>
          <a:ln>
            <a:noFill/>
          </a:ln>
        </p:spPr>
      </p:sp>
      <p:sp>
        <p:nvSpPr>
          <p:cNvPr id="43" name="TextBox 43"/>
          <p:cNvSpPr txBox="1"/>
          <p:nvPr/>
        </p:nvSpPr>
        <p:spPr>
          <a:xfrm>
            <a:off x="3501189" y="5066824"/>
            <a:ext cx="168442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让它"出错"，看怎么处理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2157412" y="5288756"/>
            <a:ext cx="457985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喂给坏数据、空输入、不存在的股票——好的 Skill 应该优雅失败</a:t>
            </a:r>
          </a:p>
        </p:txBody>
      </p:sp>
      <p:sp>
        <p:nvSpPr>
          <p:cNvPr id="45" name="Rectangle 45"/>
          <p:cNvSpPr/>
          <p:nvPr/>
        </p:nvSpPr>
        <p:spPr>
          <a:xfrm>
            <a:off x="2171700" y="5553075"/>
            <a:ext cx="2809875" cy="381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3A9E6A"/>
            </a:solidFill>
          </a:ln>
        </p:spPr>
      </p:sp>
      <p:sp>
        <p:nvSpPr>
          <p:cNvPr id="46" name="TextBox 46"/>
          <p:cNvSpPr txBox="1"/>
          <p:nvPr/>
        </p:nvSpPr>
        <p:spPr>
          <a:xfrm>
            <a:off x="2348865" y="5677852"/>
            <a:ext cx="202025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空结果：没有候选股时怎么说</a:t>
            </a:r>
          </a:p>
        </p:txBody>
      </p:sp>
      <p:sp>
        <p:nvSpPr>
          <p:cNvPr id="47" name="Rectangle 47"/>
          <p:cNvSpPr/>
          <p:nvPr/>
        </p:nvSpPr>
        <p:spPr>
          <a:xfrm>
            <a:off x="5114925" y="5553075"/>
            <a:ext cx="2809875" cy="381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3A9E6A"/>
            </a:solidFill>
          </a:ln>
        </p:spPr>
      </p:sp>
      <p:sp>
        <p:nvSpPr>
          <p:cNvPr id="48" name="TextBox 48"/>
          <p:cNvSpPr txBox="1"/>
          <p:nvPr/>
        </p:nvSpPr>
        <p:spPr>
          <a:xfrm>
            <a:off x="5292090" y="5677852"/>
            <a:ext cx="182089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数据缺失：API 返回不完整</a:t>
            </a:r>
          </a:p>
        </p:txBody>
      </p:sp>
      <p:sp>
        <p:nvSpPr>
          <p:cNvPr id="49" name="Rectangle 49"/>
          <p:cNvSpPr/>
          <p:nvPr/>
        </p:nvSpPr>
        <p:spPr>
          <a:xfrm>
            <a:off x="8058150" y="5553075"/>
            <a:ext cx="3486150" cy="381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3A9E6A"/>
            </a:solidFill>
          </a:ln>
        </p:spPr>
      </p:sp>
      <p:sp>
        <p:nvSpPr>
          <p:cNvPr id="50" name="TextBox 50"/>
          <p:cNvSpPr txBox="1"/>
          <p:nvPr/>
        </p:nvSpPr>
        <p:spPr>
          <a:xfrm>
            <a:off x="8235315" y="5677852"/>
            <a:ext cx="197424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极端输入：100 支股同时扫描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1283934" y="6554152"/>
            <a:ext cx="54040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20 / 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 rot="-1200000">
            <a:off x="8334610" y="3204338"/>
            <a:ext cx="3679031" cy="1828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0" b="1" dirty="0">
                <a:solidFill>
                  <a:srgbClr val="C96133">
                    <a:alphaMod val="4000"/>
                  </a:srgbClr>
                </a:solidFill>
                <a:latin typeface="Arial"/>
                <a:ea typeface="Microsoft YaHei"/>
                <a:cs typeface="Arial"/>
              </a:rPr>
              <a:t>SKILL</a:t>
            </a:r>
          </a:p>
        </p:txBody>
      </p:sp>
      <p:sp>
        <p:nvSpPr>
          <p:cNvPr id="5" name="Rectangle 5"/>
          <p:cNvSpPr/>
          <p:nvPr/>
        </p:nvSpPr>
        <p:spPr>
          <a:xfrm>
            <a:off x="571500" y="342900"/>
            <a:ext cx="57150" cy="3810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746760" y="337185"/>
            <a:ext cx="4747365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Skill 工程：五个核心原则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65810" y="784860"/>
            <a:ext cx="314134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把任何专家方法变成 AI Skill 的通用路径</a:t>
            </a:r>
          </a:p>
        </p:txBody>
      </p:sp>
      <p:sp>
        <p:nvSpPr>
          <p:cNvPr id="8" name="Line 8"/>
          <p:cNvSpPr/>
          <p:nvPr/>
        </p:nvSpPr>
        <p:spPr>
          <a:xfrm>
            <a:off x="1047750" y="1257300"/>
            <a:ext cx="9525" cy="4953000"/>
          </a:xfrm>
          <a:custGeom>
            <a:avLst/>
            <a:gdLst/>
            <a:ahLst/>
            <a:cxnLst/>
            <a:rect l="l" t="t" r="r" b="b"/>
            <a:pathLst>
              <a:path w="9525" h="4953000">
                <a:moveTo>
                  <a:pt x="0" y="0"/>
                </a:moveTo>
                <a:lnTo>
                  <a:pt x="0" y="4953000"/>
                </a:lnTo>
              </a:path>
            </a:pathLst>
          </a:custGeom>
          <a:noFill/>
          <a:ln w="28575">
            <a:gradFill>
              <a:gsLst>
                <a:gs pos="0">
                  <a:srgbClr val="C96133"/>
                </a:gs>
                <a:gs pos="100000">
                  <a:srgbClr val="3A9E6A"/>
                </a:gs>
              </a:gsLst>
              <a:lin ang="5400000" scaled="1"/>
            </a:gradFill>
          </a:ln>
        </p:spPr>
      </p:sp>
      <p:sp>
        <p:nvSpPr>
          <p:cNvPr id="9" name="Ellipse 9"/>
          <p:cNvSpPr/>
          <p:nvPr/>
        </p:nvSpPr>
        <p:spPr>
          <a:xfrm>
            <a:off x="838200" y="1238250"/>
            <a:ext cx="419100" cy="4191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1004907" y="1375410"/>
            <a:ext cx="8568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1</a:t>
            </a:r>
          </a:p>
        </p:txBody>
      </p:sp>
      <p:sp>
        <p:nvSpPr>
          <p:cNvPr id="11" name="Line 11"/>
          <p:cNvSpPr/>
          <p:nvPr/>
        </p:nvSpPr>
        <p:spPr>
          <a:xfrm>
            <a:off x="1257300" y="1447800"/>
            <a:ext cx="457200" cy="9525"/>
          </a:xfrm>
          <a:custGeom>
            <a:avLst/>
            <a:gdLst/>
            <a:ahLst/>
            <a:cxnLst/>
            <a:rect l="l" t="t" r="r" b="b"/>
            <a:pathLst>
              <a:path w="457200" h="9525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w="14288">
            <a:solidFill>
              <a:srgbClr val="C96133"/>
            </a:solidFill>
            <a:custDash>
              <a:ds d="266666" sp="200000"/>
            </a:custDash>
          </a:ln>
        </p:spPr>
      </p:sp>
      <p:sp>
        <p:nvSpPr>
          <p:cNvPr id="12" name="Rectangle 12"/>
          <p:cNvSpPr/>
          <p:nvPr/>
        </p:nvSpPr>
        <p:spPr>
          <a:xfrm>
            <a:off x="1714500" y="1123950"/>
            <a:ext cx="9906000" cy="6667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13" name="TextBox 13"/>
          <p:cNvSpPr txBox="1"/>
          <p:nvPr/>
        </p:nvSpPr>
        <p:spPr>
          <a:xfrm>
            <a:off x="1984058" y="1262539"/>
            <a:ext cx="3923321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先搞清楚"需要解决什么问题"，再写 prompt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986915" y="1524952"/>
            <a:ext cx="508730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问三个问题：用户输入什么？期待什么输出？在什么场景下用？答完再动笔</a:t>
            </a:r>
          </a:p>
        </p:txBody>
      </p:sp>
      <p:sp>
        <p:nvSpPr>
          <p:cNvPr id="15" name="Ellipse 15"/>
          <p:cNvSpPr/>
          <p:nvPr/>
        </p:nvSpPr>
        <p:spPr>
          <a:xfrm>
            <a:off x="838200" y="2152650"/>
            <a:ext cx="419100" cy="419100"/>
          </a:xfrm>
          <a:prstGeom prst="ellipse">
            <a:avLst/>
          </a:prstGeom>
          <a:solidFill>
            <a:srgbClr val="D44545">
              <a:alpha val="85000"/>
            </a:srgbClr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981904" y="2289810"/>
            <a:ext cx="13169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  <p:sp>
        <p:nvSpPr>
          <p:cNvPr id="17" name="Line 17"/>
          <p:cNvSpPr/>
          <p:nvPr/>
        </p:nvSpPr>
        <p:spPr>
          <a:xfrm>
            <a:off x="1257300" y="2362200"/>
            <a:ext cx="457200" cy="9525"/>
          </a:xfrm>
          <a:custGeom>
            <a:avLst/>
            <a:gdLst/>
            <a:ahLst/>
            <a:cxnLst/>
            <a:rect l="l" t="t" r="r" b="b"/>
            <a:pathLst>
              <a:path w="457200" h="9525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w="14288">
            <a:solidFill>
              <a:srgbClr val="D44545"/>
            </a:solidFill>
            <a:custDash>
              <a:ds d="266666" sp="200000"/>
            </a:custDash>
          </a:ln>
        </p:spPr>
      </p:sp>
      <p:sp>
        <p:nvSpPr>
          <p:cNvPr id="18" name="Rectangle 18"/>
          <p:cNvSpPr/>
          <p:nvPr/>
        </p:nvSpPr>
        <p:spPr>
          <a:xfrm>
            <a:off x="1714500" y="2038350"/>
            <a:ext cx="9906000" cy="6667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19" name="TextBox 19"/>
          <p:cNvSpPr txBox="1"/>
          <p:nvPr/>
        </p:nvSpPr>
        <p:spPr>
          <a:xfrm>
            <a:off x="1984058" y="2176939"/>
            <a:ext cx="431437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数据层 Python + 分析层 LLM，永远不要混在一起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986915" y="2439352"/>
            <a:ext cx="549368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改框架只改 .md prompt；加数据只改 Python——各自的边界越清晰，迭代越容易</a:t>
            </a:r>
          </a:p>
        </p:txBody>
      </p:sp>
      <p:sp>
        <p:nvSpPr>
          <p:cNvPr id="21" name="Ellipse 21"/>
          <p:cNvSpPr/>
          <p:nvPr/>
        </p:nvSpPr>
        <p:spPr>
          <a:xfrm>
            <a:off x="838200" y="3067050"/>
            <a:ext cx="419100" cy="4191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981904" y="3204210"/>
            <a:ext cx="13169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3</a:t>
            </a:r>
          </a:p>
        </p:txBody>
      </p:sp>
      <p:sp>
        <p:nvSpPr>
          <p:cNvPr id="23" name="Line 23"/>
          <p:cNvSpPr/>
          <p:nvPr/>
        </p:nvSpPr>
        <p:spPr>
          <a:xfrm>
            <a:off x="1257300" y="3276600"/>
            <a:ext cx="457200" cy="9525"/>
          </a:xfrm>
          <a:custGeom>
            <a:avLst/>
            <a:gdLst/>
            <a:ahLst/>
            <a:cxnLst/>
            <a:rect l="l" t="t" r="r" b="b"/>
            <a:pathLst>
              <a:path w="457200" h="9525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w="14288">
            <a:solidFill>
              <a:srgbClr val="3D7DE4"/>
            </a:solidFill>
            <a:custDash>
              <a:ds d="266666" sp="200000"/>
            </a:custDash>
          </a:ln>
        </p:spPr>
      </p:sp>
      <p:sp>
        <p:nvSpPr>
          <p:cNvPr id="24" name="Rectangle 24"/>
          <p:cNvSpPr/>
          <p:nvPr/>
        </p:nvSpPr>
        <p:spPr>
          <a:xfrm>
            <a:off x="1714500" y="2952750"/>
            <a:ext cx="9906000" cy="6667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25" name="TextBox 25"/>
          <p:cNvSpPr txBox="1"/>
          <p:nvPr/>
        </p:nvSpPr>
        <p:spPr>
          <a:xfrm>
            <a:off x="1984058" y="3091339"/>
            <a:ext cx="4197056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三步验证：数据正确 → 输出格式对 → 边界不崩溃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986915" y="3353752"/>
            <a:ext cx="480360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先 python 独立跑通，再接 LLM，最后喂坏数据——任何一步崩了都要修</a:t>
            </a:r>
          </a:p>
        </p:txBody>
      </p:sp>
      <p:sp>
        <p:nvSpPr>
          <p:cNvPr id="27" name="Ellipse 27"/>
          <p:cNvSpPr/>
          <p:nvPr/>
        </p:nvSpPr>
        <p:spPr>
          <a:xfrm>
            <a:off x="838200" y="3981450"/>
            <a:ext cx="419100" cy="419100"/>
          </a:xfrm>
          <a:prstGeom prst="ellipse">
            <a:avLst/>
          </a:prstGeom>
          <a:solidFill>
            <a:srgbClr val="5A5A5A"/>
          </a:solidFill>
          <a:ln>
            <a:noFill/>
          </a:ln>
        </p:spPr>
      </p:sp>
      <p:sp>
        <p:nvSpPr>
          <p:cNvPr id="28" name="TextBox 28"/>
          <p:cNvSpPr txBox="1"/>
          <p:nvPr/>
        </p:nvSpPr>
        <p:spPr>
          <a:xfrm>
            <a:off x="981904" y="4118610"/>
            <a:ext cx="13169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4</a:t>
            </a:r>
          </a:p>
        </p:txBody>
      </p:sp>
      <p:sp>
        <p:nvSpPr>
          <p:cNvPr id="29" name="Line 29"/>
          <p:cNvSpPr/>
          <p:nvPr/>
        </p:nvSpPr>
        <p:spPr>
          <a:xfrm>
            <a:off x="1257300" y="4191000"/>
            <a:ext cx="457200" cy="9525"/>
          </a:xfrm>
          <a:custGeom>
            <a:avLst/>
            <a:gdLst/>
            <a:ahLst/>
            <a:cxnLst/>
            <a:rect l="l" t="t" r="r" b="b"/>
            <a:pathLst>
              <a:path w="457200" h="9525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w="14288">
            <a:solidFill>
              <a:srgbClr val="5A5A5A"/>
            </a:solidFill>
            <a:custDash>
              <a:ds d="266666" sp="200000"/>
            </a:custDash>
          </a:ln>
        </p:spPr>
      </p:sp>
      <p:sp>
        <p:nvSpPr>
          <p:cNvPr id="30" name="Rectangle 30"/>
          <p:cNvSpPr/>
          <p:nvPr/>
        </p:nvSpPr>
        <p:spPr>
          <a:xfrm>
            <a:off x="1714500" y="3867150"/>
            <a:ext cx="9906000" cy="6667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31" name="TextBox 31"/>
          <p:cNvSpPr txBox="1"/>
          <p:nvPr/>
        </p:nvSpPr>
        <p:spPr>
          <a:xfrm>
            <a:off x="1984058" y="4005739"/>
            <a:ext cx="333674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Prompt 是代码——留下每次改动的理由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986915" y="4268152"/>
            <a:ext cx="574671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改了 prompt 要记录原因（注释/日记/便签都行）——出问题时才能找到是哪次改坏的</a:t>
            </a:r>
          </a:p>
        </p:txBody>
      </p:sp>
      <p:sp>
        <p:nvSpPr>
          <p:cNvPr id="33" name="Ellipse 33"/>
          <p:cNvSpPr/>
          <p:nvPr/>
        </p:nvSpPr>
        <p:spPr>
          <a:xfrm>
            <a:off x="838200" y="4895850"/>
            <a:ext cx="419100" cy="41910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981904" y="5033010"/>
            <a:ext cx="13169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  <p:sp>
        <p:nvSpPr>
          <p:cNvPr id="35" name="Line 35"/>
          <p:cNvSpPr/>
          <p:nvPr/>
        </p:nvSpPr>
        <p:spPr>
          <a:xfrm>
            <a:off x="1257300" y="5105400"/>
            <a:ext cx="457200" cy="9525"/>
          </a:xfrm>
          <a:custGeom>
            <a:avLst/>
            <a:gdLst/>
            <a:ahLst/>
            <a:cxnLst/>
            <a:rect l="l" t="t" r="r" b="b"/>
            <a:pathLst>
              <a:path w="457200" h="9525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w="14288">
            <a:solidFill>
              <a:srgbClr val="3A9E6A"/>
            </a:solidFill>
            <a:custDash>
              <a:ds d="266666" sp="200000"/>
            </a:custDash>
          </a:ln>
        </p:spPr>
      </p:sp>
      <p:sp>
        <p:nvSpPr>
          <p:cNvPr id="36" name="Rectangle 36"/>
          <p:cNvSpPr/>
          <p:nvPr/>
        </p:nvSpPr>
        <p:spPr>
          <a:xfrm>
            <a:off x="1714500" y="4781550"/>
            <a:ext cx="9906000" cy="666750"/>
          </a:xfrm>
          <a:prstGeom prst="roundRect">
            <a:avLst>
              <a:gd name="adj" fmla="val 14286"/>
            </a:avLst>
          </a:prstGeom>
          <a:solidFill>
            <a:srgbClr val="EBF7F1"/>
          </a:solidFill>
          <a:ln w="14288">
            <a:solidFill>
              <a:srgbClr val="3A9E6A"/>
            </a:solidFill>
          </a:ln>
        </p:spPr>
      </p:sp>
      <p:sp>
        <p:nvSpPr>
          <p:cNvPr id="37" name="TextBox 37"/>
          <p:cNvSpPr txBox="1"/>
          <p:nvPr/>
        </p:nvSpPr>
        <p:spPr>
          <a:xfrm>
            <a:off x="1984058" y="4920139"/>
            <a:ext cx="3766902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这套架构适用于任何专家方法——不只是炒股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986915" y="5182552"/>
            <a:ext cx="501829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法律合同审查 / 医疗初诊 / 财务分析——数据层 + 分析层，换个领域就能跑</a:t>
            </a:r>
          </a:p>
        </p:txBody>
      </p:sp>
      <p:sp>
        <p:nvSpPr>
          <p:cNvPr id="39" name="Rectangle 39"/>
          <p:cNvSpPr/>
          <p:nvPr/>
        </p:nvSpPr>
        <p:spPr>
          <a:xfrm>
            <a:off x="571500" y="5715000"/>
            <a:ext cx="11049000" cy="628650"/>
          </a:xfrm>
          <a:prstGeom prst="roundRect">
            <a:avLst>
              <a:gd name="adj" fmla="val 18182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40" name="TextBox 40"/>
          <p:cNvSpPr txBox="1"/>
          <p:nvPr/>
        </p:nvSpPr>
        <p:spPr>
          <a:xfrm>
            <a:off x="2970771" y="5928360"/>
            <a:ext cx="625045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你学到的不是"炒股 AI"——你学到的是把任何专业知识系统化为 AI 工具的方法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322272" y="6554152"/>
            <a:ext cx="50206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21 / 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381000"/>
            <a:ext cx="57150" cy="4191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65810" y="394335"/>
            <a:ext cx="4685257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完整系统：4 Skill 流水线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83908" y="814864"/>
            <a:ext cx="439909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从候选股扫描到止盈离场，一条完整的 AI 辅助决策链</a:t>
            </a:r>
          </a:p>
        </p:txBody>
      </p:sp>
      <p:sp>
        <p:nvSpPr>
          <p:cNvPr id="7" name="Rectangle 7"/>
          <p:cNvSpPr/>
          <p:nvPr/>
        </p:nvSpPr>
        <p:spPr>
          <a:xfrm>
            <a:off x="571500" y="1162050"/>
            <a:ext cx="11049000" cy="4191000"/>
          </a:xfrm>
          <a:prstGeom prst="roundRect">
            <a:avLst>
              <a:gd name="adj" fmla="val 3636"/>
            </a:avLst>
          </a:prstGeom>
          <a:solidFill>
            <a:srgbClr val="F0EDE8">
              <a:alpha val="50000"/>
            </a:srgbClr>
          </a:solidFill>
          <a:ln w="19050">
            <a:solidFill>
              <a:srgbClr val="C96133"/>
            </a:solidFill>
            <a:custDash>
              <a:ds d="500000" sp="300000"/>
            </a:custDash>
          </a:ln>
        </p:spPr>
      </p:sp>
      <p:sp>
        <p:nvSpPr>
          <p:cNvPr id="8" name="TextBox 8"/>
          <p:cNvSpPr txBox="1"/>
          <p:nvPr/>
        </p:nvSpPr>
        <p:spPr>
          <a:xfrm>
            <a:off x="4992131" y="1304449"/>
            <a:ext cx="220773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C96133">
                    <a:alphaMod val="60000"/>
                  </a:srgbClr>
                </a:solidFill>
                <a:latin typeface="Arial"/>
                <a:ea typeface="Microsoft YaHei"/>
                <a:cs typeface="Arial"/>
              </a:rPr>
              <a:t>stock-analysis-lite · 完整系统</a:t>
            </a:r>
          </a:p>
        </p:txBody>
      </p:sp>
      <p:sp>
        <p:nvSpPr>
          <p:cNvPr id="9" name="Rectangle 9"/>
          <p:cNvSpPr/>
          <p:nvPr/>
        </p:nvSpPr>
        <p:spPr>
          <a:xfrm>
            <a:off x="952500" y="1562100"/>
            <a:ext cx="2571750" cy="339090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9050">
            <a:solidFill>
              <a:srgbClr val="C96133"/>
            </a:solidFill>
          </a:ln>
        </p:spPr>
      </p:sp>
      <p:sp>
        <p:nvSpPr>
          <p:cNvPr id="10" name="Rectangle 10"/>
          <p:cNvSpPr/>
          <p:nvPr/>
        </p:nvSpPr>
        <p:spPr>
          <a:xfrm>
            <a:off x="952500" y="1562100"/>
            <a:ext cx="2571750" cy="552450"/>
          </a:xfrm>
          <a:prstGeom prst="roundRect">
            <a:avLst>
              <a:gd name="adj" fmla="val 24138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11" name="Rectangle 11"/>
          <p:cNvSpPr/>
          <p:nvPr/>
        </p:nvSpPr>
        <p:spPr>
          <a:xfrm>
            <a:off x="952500" y="1905000"/>
            <a:ext cx="2571750" cy="2095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1803166" y="1663541"/>
            <a:ext cx="870418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FFFFFF">
                    <a:alphaMod val="80000"/>
                  </a:srgbClr>
                </a:solidFill>
                <a:latin typeface="Arial"/>
                <a:ea typeface="Microsoft YaHei"/>
                <a:cs typeface="Arial"/>
              </a:rPr>
              <a:t>LAYER 01 · 扫描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563923" y="1854518"/>
            <a:ext cx="134890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/ticker-scan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580960" y="2286952"/>
            <a:ext cx="131483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七大热门赛道扫描</a:t>
            </a:r>
          </a:p>
        </p:txBody>
      </p:sp>
      <p:sp>
        <p:nvSpPr>
          <p:cNvPr id="15" name="Line 15"/>
          <p:cNvSpPr/>
          <p:nvPr/>
        </p:nvSpPr>
        <p:spPr>
          <a:xfrm>
            <a:off x="1143000" y="2552700"/>
            <a:ext cx="2190750" cy="9525"/>
          </a:xfrm>
          <a:custGeom>
            <a:avLst/>
            <a:gdLst/>
            <a:ahLst/>
            <a:cxnLst/>
            <a:rect l="l" t="t" r="r" b="b"/>
            <a:pathLst>
              <a:path w="2190750" h="9525">
                <a:moveTo>
                  <a:pt x="0" y="0"/>
                </a:moveTo>
                <a:lnTo>
                  <a:pt x="219075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16" name="TextBox 16"/>
          <p:cNvSpPr txBox="1"/>
          <p:nvPr/>
        </p:nvSpPr>
        <p:spPr>
          <a:xfrm>
            <a:off x="1542478" y="2695099"/>
            <a:ext cx="139179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Python 拉取市场数据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716917" y="2904649"/>
            <a:ext cx="104291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LLM 过滤候选股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567398" y="3114199"/>
            <a:ext cx="134195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输出：5–10 支候选股</a:t>
            </a:r>
          </a:p>
        </p:txBody>
      </p:sp>
      <p:sp>
        <p:nvSpPr>
          <p:cNvPr id="19" name="Rectangle 19"/>
          <p:cNvSpPr/>
          <p:nvPr/>
        </p:nvSpPr>
        <p:spPr>
          <a:xfrm>
            <a:off x="1143000" y="3448050"/>
            <a:ext cx="2190750" cy="438150"/>
          </a:xfrm>
          <a:prstGeom prst="roundRect">
            <a:avLst>
              <a:gd name="adj" fmla="val 17391"/>
            </a:avLst>
          </a:prstGeom>
          <a:solidFill>
            <a:srgbClr val="FFF8F5"/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2088928" y="3531870"/>
            <a:ext cx="29889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输出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559862" y="3703320"/>
            <a:ext cx="135702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候选股列表 + 赛道标签</a:t>
            </a:r>
          </a:p>
        </p:txBody>
      </p:sp>
      <p:sp>
        <p:nvSpPr>
          <p:cNvPr id="22" name="Rectangle 22"/>
          <p:cNvSpPr/>
          <p:nvPr/>
        </p:nvSpPr>
        <p:spPr>
          <a:xfrm>
            <a:off x="1143000" y="4038600"/>
            <a:ext cx="2190750" cy="762000"/>
          </a:xfrm>
          <a:prstGeom prst="roundRect">
            <a:avLst>
              <a:gd name="adj" fmla="val 10000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23" name="TextBox 23"/>
          <p:cNvSpPr txBox="1"/>
          <p:nvPr/>
        </p:nvSpPr>
        <p:spPr>
          <a:xfrm>
            <a:off x="1964055" y="414147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使用时机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798796" y="4314349"/>
            <a:ext cx="87915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每周定期运行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727597" y="4504849"/>
            <a:ext cx="102155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市场有新趋势时</a:t>
            </a:r>
          </a:p>
        </p:txBody>
      </p:sp>
      <p:sp>
        <p:nvSpPr>
          <p:cNvPr id="26" name="Polygon 26"/>
          <p:cNvSpPr/>
          <p:nvPr/>
        </p:nvSpPr>
        <p:spPr>
          <a:xfrm>
            <a:off x="3743325" y="3162300"/>
            <a:ext cx="209550" cy="190500"/>
          </a:xfrm>
          <a:custGeom>
            <a:avLst/>
            <a:gdLst/>
            <a:ahLst/>
            <a:cxnLst/>
            <a:rect l="l" t="t" r="r" b="b"/>
            <a:pathLst>
              <a:path w="209550" h="190500">
                <a:moveTo>
                  <a:pt x="0" y="95250"/>
                </a:moveTo>
                <a:lnTo>
                  <a:pt x="209550" y="0"/>
                </a:lnTo>
                <a:lnTo>
                  <a:pt x="209550" y="190500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27" name="Line 27"/>
          <p:cNvSpPr/>
          <p:nvPr/>
        </p:nvSpPr>
        <p:spPr>
          <a:xfrm>
            <a:off x="3524250" y="3257550"/>
            <a:ext cx="428625" cy="9525"/>
          </a:xfrm>
          <a:custGeom>
            <a:avLst/>
            <a:gdLst/>
            <a:ahLst/>
            <a:cxnLst/>
            <a:rect l="l" t="t" r="r" b="b"/>
            <a:pathLst>
              <a:path w="428625" h="9525">
                <a:moveTo>
                  <a:pt x="0" y="0"/>
                </a:moveTo>
                <a:lnTo>
                  <a:pt x="428625" y="0"/>
                </a:lnTo>
              </a:path>
            </a:pathLst>
          </a:custGeom>
          <a:noFill/>
          <a:ln w="23812">
            <a:solidFill>
              <a:srgbClr val="C96133"/>
            </a:solidFill>
          </a:ln>
        </p:spPr>
      </p:sp>
      <p:sp>
        <p:nvSpPr>
          <p:cNvPr id="28" name="Rectangle 28"/>
          <p:cNvSpPr/>
          <p:nvPr/>
        </p:nvSpPr>
        <p:spPr>
          <a:xfrm>
            <a:off x="3952875" y="1562100"/>
            <a:ext cx="2571750" cy="339090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9050">
            <a:solidFill>
              <a:srgbClr val="3D7DE4"/>
            </a:solidFill>
          </a:ln>
        </p:spPr>
      </p:sp>
      <p:sp>
        <p:nvSpPr>
          <p:cNvPr id="29" name="Rectangle 29"/>
          <p:cNvSpPr/>
          <p:nvPr/>
        </p:nvSpPr>
        <p:spPr>
          <a:xfrm>
            <a:off x="3952875" y="1562100"/>
            <a:ext cx="2571750" cy="552450"/>
          </a:xfrm>
          <a:prstGeom prst="roundRect">
            <a:avLst>
              <a:gd name="adj" fmla="val 24138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30" name="Rectangle 30"/>
          <p:cNvSpPr/>
          <p:nvPr/>
        </p:nvSpPr>
        <p:spPr>
          <a:xfrm>
            <a:off x="3952875" y="1905000"/>
            <a:ext cx="2571750" cy="209550"/>
          </a:xfrm>
          <a:prstGeom prst="rect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4788479" y="1663541"/>
            <a:ext cx="900541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FFFFFF">
                    <a:alphaMod val="80000"/>
                  </a:srgbClr>
                </a:solidFill>
                <a:latin typeface="Arial"/>
                <a:ea typeface="Microsoft YaHei"/>
                <a:cs typeface="Arial"/>
              </a:rPr>
              <a:t>LAYER 02 · 分析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4450434" y="1854518"/>
            <a:ext cx="157663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/stock-analyze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4641717" y="2286952"/>
            <a:ext cx="119406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BAIT 基本面评分</a:t>
            </a:r>
          </a:p>
        </p:txBody>
      </p:sp>
      <p:sp>
        <p:nvSpPr>
          <p:cNvPr id="34" name="Line 34"/>
          <p:cNvSpPr/>
          <p:nvPr/>
        </p:nvSpPr>
        <p:spPr>
          <a:xfrm>
            <a:off x="4143375" y="2552700"/>
            <a:ext cx="2190750" cy="9525"/>
          </a:xfrm>
          <a:custGeom>
            <a:avLst/>
            <a:gdLst/>
            <a:ahLst/>
            <a:cxnLst/>
            <a:rect l="l" t="t" r="r" b="b"/>
            <a:pathLst>
              <a:path w="2190750" h="9525">
                <a:moveTo>
                  <a:pt x="0" y="0"/>
                </a:moveTo>
                <a:lnTo>
                  <a:pt x="219075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35" name="TextBox 35"/>
          <p:cNvSpPr txBox="1"/>
          <p:nvPr/>
        </p:nvSpPr>
        <p:spPr>
          <a:xfrm>
            <a:off x="4521494" y="2695099"/>
            <a:ext cx="143451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B·A·I·T 错误定价评分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4649653" y="2904649"/>
            <a:ext cx="117819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总分 ≥8/12 才深研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4799171" y="3114199"/>
            <a:ext cx="87915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输出分析报告</a:t>
            </a:r>
          </a:p>
        </p:txBody>
      </p:sp>
      <p:sp>
        <p:nvSpPr>
          <p:cNvPr id="38" name="Rectangle 38"/>
          <p:cNvSpPr/>
          <p:nvPr/>
        </p:nvSpPr>
        <p:spPr>
          <a:xfrm>
            <a:off x="4143375" y="3448050"/>
            <a:ext cx="2190750" cy="438150"/>
          </a:xfrm>
          <a:prstGeom prst="roundRect">
            <a:avLst>
              <a:gd name="adj" fmla="val 17391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39" name="TextBox 39"/>
          <p:cNvSpPr txBox="1"/>
          <p:nvPr/>
        </p:nvSpPr>
        <p:spPr>
          <a:xfrm>
            <a:off x="5089303" y="3531870"/>
            <a:ext cx="29889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输出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4560237" y="3703320"/>
            <a:ext cx="135702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精选股 + 深度分析报告</a:t>
            </a:r>
          </a:p>
        </p:txBody>
      </p:sp>
      <p:sp>
        <p:nvSpPr>
          <p:cNvPr id="41" name="Rectangle 41"/>
          <p:cNvSpPr/>
          <p:nvPr/>
        </p:nvSpPr>
        <p:spPr>
          <a:xfrm>
            <a:off x="4143375" y="4038600"/>
            <a:ext cx="2190750" cy="762000"/>
          </a:xfrm>
          <a:prstGeom prst="roundRect">
            <a:avLst>
              <a:gd name="adj" fmla="val 10000"/>
            </a:avLst>
          </a:prstGeom>
          <a:solidFill>
            <a:srgbClr val="EBF2FF">
              <a:alpha val="50000"/>
            </a:srgbClr>
          </a:solidFill>
          <a:ln>
            <a:noFill/>
          </a:ln>
        </p:spPr>
      </p:sp>
      <p:sp>
        <p:nvSpPr>
          <p:cNvPr id="42" name="TextBox 42"/>
          <p:cNvSpPr txBox="1"/>
          <p:nvPr/>
        </p:nvSpPr>
        <p:spPr>
          <a:xfrm>
            <a:off x="4964430" y="414147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使用时机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4656772" y="4314349"/>
            <a:ext cx="116395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对候选股逐一分析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4727972" y="4504849"/>
            <a:ext cx="102155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淘汰基本面差的</a:t>
            </a:r>
          </a:p>
        </p:txBody>
      </p:sp>
      <p:sp>
        <p:nvSpPr>
          <p:cNvPr id="45" name="Polygon 45"/>
          <p:cNvSpPr/>
          <p:nvPr/>
        </p:nvSpPr>
        <p:spPr>
          <a:xfrm>
            <a:off x="6743700" y="3162300"/>
            <a:ext cx="209550" cy="190500"/>
          </a:xfrm>
          <a:custGeom>
            <a:avLst/>
            <a:gdLst/>
            <a:ahLst/>
            <a:cxnLst/>
            <a:rect l="l" t="t" r="r" b="b"/>
            <a:pathLst>
              <a:path w="209550" h="190500">
                <a:moveTo>
                  <a:pt x="0" y="95250"/>
                </a:moveTo>
                <a:lnTo>
                  <a:pt x="209550" y="0"/>
                </a:lnTo>
                <a:lnTo>
                  <a:pt x="209550" y="190500"/>
                </a:lnTo>
                <a:close/>
              </a:path>
            </a:pathLst>
          </a:custGeom>
          <a:solidFill>
            <a:srgbClr val="3D7DE4"/>
          </a:solidFill>
          <a:ln>
            <a:noFill/>
          </a:ln>
        </p:spPr>
      </p:sp>
      <p:sp>
        <p:nvSpPr>
          <p:cNvPr id="46" name="Line 46"/>
          <p:cNvSpPr/>
          <p:nvPr/>
        </p:nvSpPr>
        <p:spPr>
          <a:xfrm>
            <a:off x="6524625" y="3257550"/>
            <a:ext cx="428625" cy="9525"/>
          </a:xfrm>
          <a:custGeom>
            <a:avLst/>
            <a:gdLst/>
            <a:ahLst/>
            <a:cxnLst/>
            <a:rect l="l" t="t" r="r" b="b"/>
            <a:pathLst>
              <a:path w="428625" h="9525">
                <a:moveTo>
                  <a:pt x="0" y="0"/>
                </a:moveTo>
                <a:lnTo>
                  <a:pt x="428625" y="0"/>
                </a:lnTo>
              </a:path>
            </a:pathLst>
          </a:custGeom>
          <a:noFill/>
          <a:ln w="23812">
            <a:solidFill>
              <a:srgbClr val="3D7DE4"/>
            </a:solidFill>
          </a:ln>
        </p:spPr>
      </p:sp>
      <p:sp>
        <p:nvSpPr>
          <p:cNvPr id="47" name="Rectangle 47"/>
          <p:cNvSpPr/>
          <p:nvPr/>
        </p:nvSpPr>
        <p:spPr>
          <a:xfrm>
            <a:off x="6953250" y="1562100"/>
            <a:ext cx="4286250" cy="3390900"/>
          </a:xfrm>
          <a:prstGeom prst="roundRect">
            <a:avLst>
              <a:gd name="adj" fmla="val 3933"/>
            </a:avLst>
          </a:prstGeom>
          <a:solidFill>
            <a:srgbClr val="FFFFFF"/>
          </a:solidFill>
          <a:ln w="19050">
            <a:solidFill>
              <a:srgbClr val="3A9E6A"/>
            </a:solidFill>
          </a:ln>
        </p:spPr>
      </p:sp>
      <p:sp>
        <p:nvSpPr>
          <p:cNvPr id="48" name="Rectangle 48"/>
          <p:cNvSpPr/>
          <p:nvPr/>
        </p:nvSpPr>
        <p:spPr>
          <a:xfrm>
            <a:off x="6953250" y="1562100"/>
            <a:ext cx="4286250" cy="552450"/>
          </a:xfrm>
          <a:prstGeom prst="roundRect">
            <a:avLst>
              <a:gd name="adj" fmla="val 24138"/>
            </a:avLst>
          </a:prstGeom>
          <a:solidFill>
            <a:srgbClr val="3A9E6A"/>
          </a:solidFill>
          <a:ln>
            <a:noFill/>
          </a:ln>
        </p:spPr>
      </p:sp>
      <p:sp>
        <p:nvSpPr>
          <p:cNvPr id="49" name="Rectangle 49"/>
          <p:cNvSpPr/>
          <p:nvPr/>
        </p:nvSpPr>
        <p:spPr>
          <a:xfrm>
            <a:off x="6953250" y="1905000"/>
            <a:ext cx="4286250" cy="209550"/>
          </a:xfrm>
          <a:prstGeom prst="rect">
            <a:avLst/>
          </a:prstGeom>
          <a:solidFill>
            <a:srgbClr val="3A9E6A"/>
          </a:solidFill>
          <a:ln>
            <a:noFill/>
          </a:ln>
        </p:spPr>
      </p:sp>
      <p:sp>
        <p:nvSpPr>
          <p:cNvPr id="50" name="TextBox 50"/>
          <p:cNvSpPr txBox="1"/>
          <p:nvPr/>
        </p:nvSpPr>
        <p:spPr>
          <a:xfrm>
            <a:off x="8646104" y="1663541"/>
            <a:ext cx="900541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FFFFFF">
                    <a:alphaMod val="80000"/>
                  </a:srgbClr>
                </a:solidFill>
                <a:latin typeface="Arial"/>
                <a:ea typeface="Microsoft YaHei"/>
                <a:cs typeface="Arial"/>
              </a:rPr>
              <a:t>LAYER 03 · 决策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7676630" y="1854518"/>
            <a:ext cx="2839491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/stock-entry + /stock-exit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8068613" y="2286952"/>
            <a:ext cx="205552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SEPA 入场 + Moneyball 离场</a:t>
            </a:r>
          </a:p>
        </p:txBody>
      </p:sp>
      <p:sp>
        <p:nvSpPr>
          <p:cNvPr id="53" name="Line 53"/>
          <p:cNvSpPr/>
          <p:nvPr/>
        </p:nvSpPr>
        <p:spPr>
          <a:xfrm>
            <a:off x="7143750" y="2552700"/>
            <a:ext cx="3905250" cy="9525"/>
          </a:xfrm>
          <a:custGeom>
            <a:avLst/>
            <a:gdLst/>
            <a:ahLst/>
            <a:cxnLst/>
            <a:rect l="l" t="t" r="r" b="b"/>
            <a:pathLst>
              <a:path w="3905250" h="9525">
                <a:moveTo>
                  <a:pt x="0" y="0"/>
                </a:moveTo>
                <a:lnTo>
                  <a:pt x="3905250" y="0"/>
                </a:lnTo>
              </a:path>
            </a:pathLst>
          </a:custGeom>
          <a:noFill/>
          <a:ln w="9525">
            <a:solidFill>
              <a:srgbClr val="E0D8D0"/>
            </a:solidFill>
          </a:ln>
        </p:spPr>
      </p:sp>
      <p:sp>
        <p:nvSpPr>
          <p:cNvPr id="54" name="Rectangle 54"/>
          <p:cNvSpPr/>
          <p:nvPr/>
        </p:nvSpPr>
        <p:spPr>
          <a:xfrm>
            <a:off x="7143750" y="2647950"/>
            <a:ext cx="1905000" cy="762000"/>
          </a:xfrm>
          <a:prstGeom prst="roundRect">
            <a:avLst>
              <a:gd name="adj" fmla="val 10000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55" name="TextBox 55"/>
          <p:cNvSpPr txBox="1"/>
          <p:nvPr/>
        </p:nvSpPr>
        <p:spPr>
          <a:xfrm>
            <a:off x="7590456" y="2742724"/>
            <a:ext cx="101158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/stock-entry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7756208" y="2941320"/>
            <a:ext cx="68008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轴心点确认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7486745" y="3112770"/>
            <a:ext cx="121901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入场区间 + R/R 计算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7407878" y="3255645"/>
            <a:ext cx="137674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基于 SEPA + Moneyball</a:t>
            </a:r>
          </a:p>
        </p:txBody>
      </p:sp>
      <p:sp>
        <p:nvSpPr>
          <p:cNvPr id="59" name="Rectangle 59"/>
          <p:cNvSpPr/>
          <p:nvPr/>
        </p:nvSpPr>
        <p:spPr>
          <a:xfrm>
            <a:off x="9182100" y="2647950"/>
            <a:ext cx="1905000" cy="762000"/>
          </a:xfrm>
          <a:prstGeom prst="roundRect">
            <a:avLst>
              <a:gd name="adj" fmla="val 10000"/>
            </a:avLst>
          </a:prstGeom>
          <a:solidFill>
            <a:srgbClr val="EBF7F1"/>
          </a:solidFill>
          <a:ln>
            <a:noFill/>
          </a:ln>
        </p:spPr>
      </p:sp>
      <p:sp>
        <p:nvSpPr>
          <p:cNvPr id="60" name="TextBox 60"/>
          <p:cNvSpPr txBox="1"/>
          <p:nvPr/>
        </p:nvSpPr>
        <p:spPr>
          <a:xfrm>
            <a:off x="9688613" y="2742724"/>
            <a:ext cx="89197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/stock-exit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9728835" y="2941320"/>
            <a:ext cx="81153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持仓健康检查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9692688" y="3112770"/>
            <a:ext cx="88382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止盈/止损时机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9728835" y="3255645"/>
            <a:ext cx="81153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分批离场策略</a:t>
            </a:r>
          </a:p>
        </p:txBody>
      </p:sp>
      <p:sp>
        <p:nvSpPr>
          <p:cNvPr id="64" name="Rectangle 64"/>
          <p:cNvSpPr/>
          <p:nvPr/>
        </p:nvSpPr>
        <p:spPr>
          <a:xfrm>
            <a:off x="7143750" y="3543300"/>
            <a:ext cx="3943350" cy="438150"/>
          </a:xfrm>
          <a:prstGeom prst="roundRect">
            <a:avLst>
              <a:gd name="adj" fmla="val 17391"/>
            </a:avLst>
          </a:prstGeom>
          <a:solidFill>
            <a:srgbClr val="EBF7F1"/>
          </a:solidFill>
          <a:ln>
            <a:noFill/>
          </a:ln>
        </p:spPr>
      </p:sp>
      <p:sp>
        <p:nvSpPr>
          <p:cNvPr id="65" name="TextBox 65"/>
          <p:cNvSpPr txBox="1"/>
          <p:nvPr/>
        </p:nvSpPr>
        <p:spPr>
          <a:xfrm>
            <a:off x="8965978" y="3627120"/>
            <a:ext cx="29889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输出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7891415" y="3798570"/>
            <a:ext cx="244802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入场计划 / 止损位 / 目标价 · 或离场建议</a:t>
            </a:r>
          </a:p>
        </p:txBody>
      </p:sp>
      <p:sp>
        <p:nvSpPr>
          <p:cNvPr id="67" name="Rectangle 67"/>
          <p:cNvSpPr/>
          <p:nvPr/>
        </p:nvSpPr>
        <p:spPr>
          <a:xfrm>
            <a:off x="7143750" y="4038600"/>
            <a:ext cx="3943350" cy="762000"/>
          </a:xfrm>
          <a:prstGeom prst="roundRect">
            <a:avLst>
              <a:gd name="adj" fmla="val 10000"/>
            </a:avLst>
          </a:prstGeom>
          <a:solidFill>
            <a:srgbClr val="EBF7F1">
              <a:alpha val="50000"/>
            </a:srgbClr>
          </a:solidFill>
          <a:ln>
            <a:noFill/>
          </a:ln>
        </p:spPr>
      </p:sp>
      <p:sp>
        <p:nvSpPr>
          <p:cNvPr id="68" name="TextBox 68"/>
          <p:cNvSpPr txBox="1"/>
          <p:nvPr/>
        </p:nvSpPr>
        <p:spPr>
          <a:xfrm>
            <a:off x="8841105" y="414147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使用时机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8095571" y="4314349"/>
            <a:ext cx="203970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准备入场前 · 持仓期间定期复查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8604647" y="4504849"/>
            <a:ext cx="102155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出现止损信号时</a:t>
            </a:r>
          </a:p>
        </p:txBody>
      </p:sp>
      <p:sp>
        <p:nvSpPr>
          <p:cNvPr id="71" name="Rectangle 71"/>
          <p:cNvSpPr/>
          <p:nvPr/>
        </p:nvSpPr>
        <p:spPr>
          <a:xfrm>
            <a:off x="571500" y="5619750"/>
            <a:ext cx="11049000" cy="609600"/>
          </a:xfrm>
          <a:prstGeom prst="roundRect">
            <a:avLst>
              <a:gd name="adj" fmla="val 18750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72" name="TextBox 72"/>
          <p:cNvSpPr txBox="1"/>
          <p:nvPr/>
        </p:nvSpPr>
        <p:spPr>
          <a:xfrm>
            <a:off x="1852196" y="5724049"/>
            <a:ext cx="77235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候选股列表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3643384" y="5826442"/>
            <a:ext cx="14273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dirty="0">
                <a:solidFill>
                  <a:srgbClr val="FFFFFF">
                    <a:alphaMod val="40000"/>
                  </a:srgbClr>
                </a:solidFill>
                <a:latin typeface="Arial"/>
                <a:ea typeface="Microsoft YaHei"/>
                <a:cs typeface="Arial"/>
              </a:rPr>
              <a:t>→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4841357" y="5724049"/>
            <a:ext cx="79478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精选 + 报告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6596134" y="5826442"/>
            <a:ext cx="14273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dirty="0">
                <a:solidFill>
                  <a:srgbClr val="FFFFFF">
                    <a:alphaMod val="40000"/>
                  </a:srgbClr>
                </a:solidFill>
                <a:latin typeface="Arial"/>
                <a:ea typeface="Microsoft YaHei"/>
                <a:cs typeface="Arial"/>
              </a:rPr>
              <a:t>→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8447570" y="5724049"/>
            <a:ext cx="139286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入场计划 / 离场建议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4300073" y="6038374"/>
            <a:ext cx="359185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FFFFFF">
                    <a:alphaMod val="60000"/>
                  </a:srgbClr>
                </a:solidFill>
                <a:latin typeface="Arial"/>
                <a:ea typeface="Microsoft YaHei"/>
                <a:cs typeface="Arial"/>
              </a:rPr>
              <a:t>整个流程不超过 30 分钟——手动做同样的事需要 3–5 小时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11283934" y="6554152"/>
            <a:ext cx="54040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22 / 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285750"/>
            <a:ext cx="57150" cy="4191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52475" y="347662"/>
            <a:ext cx="3162538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🥚 彩蛋 + 更大的框架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6762" y="735806"/>
            <a:ext cx="524529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今天的 4 个 Skill 打好基础 — synthesis.md 是完整六框架协作决策系统</a:t>
            </a:r>
          </a:p>
        </p:txBody>
      </p:sp>
      <p:sp>
        <p:nvSpPr>
          <p:cNvPr id="7" name="Rectangle 7"/>
          <p:cNvSpPr/>
          <p:nvPr/>
        </p:nvSpPr>
        <p:spPr>
          <a:xfrm>
            <a:off x="571500" y="1009650"/>
            <a:ext cx="5286375" cy="4991100"/>
          </a:xfrm>
          <a:prstGeom prst="roundRect">
            <a:avLst>
              <a:gd name="adj" fmla="val 3053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571500" y="1009650"/>
            <a:ext cx="5286375" cy="762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762000" y="1238250"/>
            <a:ext cx="1695450" cy="304800"/>
          </a:xfrm>
          <a:prstGeom prst="roundRect">
            <a:avLst>
              <a:gd name="adj" fmla="val 50000"/>
            </a:avLst>
          </a:prstGeom>
          <a:solidFill>
            <a:srgbClr val="C96133">
              <a:alpha val="20000"/>
            </a:srgbClr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1205916" y="1324928"/>
            <a:ext cx="80761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🥚 课程彩蛋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039743" y="1640681"/>
            <a:ext cx="234036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今天的 4 个 Skill 只是起点...</a:t>
            </a:r>
          </a:p>
        </p:txBody>
      </p:sp>
      <p:sp>
        <p:nvSpPr>
          <p:cNvPr id="12" name="Rectangle 12"/>
          <p:cNvSpPr/>
          <p:nvPr/>
        </p:nvSpPr>
        <p:spPr>
          <a:xfrm>
            <a:off x="762000" y="1885950"/>
            <a:ext cx="4905375" cy="647700"/>
          </a:xfrm>
          <a:prstGeom prst="roundRect">
            <a:avLst>
              <a:gd name="adj" fmla="val 14706"/>
            </a:avLst>
          </a:prstGeom>
          <a:solidFill>
            <a:srgbClr val="2A2A2A"/>
          </a:solidFill>
          <a:ln w="14288">
            <a:solidFill>
              <a:srgbClr val="C96133"/>
            </a:solidFill>
          </a:ln>
        </p:spPr>
      </p:sp>
      <p:sp>
        <p:nvSpPr>
          <p:cNvPr id="13" name="TextBox 13"/>
          <p:cNvSpPr txBox="1"/>
          <p:nvPr/>
        </p:nvSpPr>
        <p:spPr>
          <a:xfrm>
            <a:off x="984885" y="2004060"/>
            <a:ext cx="1502664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/stock-ppt NVDA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87742" y="2295049"/>
            <a:ext cx="302937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生成单股完整分析 PPT — 研究报告一键变幻灯片</a:t>
            </a:r>
          </a:p>
        </p:txBody>
      </p:sp>
      <p:sp>
        <p:nvSpPr>
          <p:cNvPr id="15" name="Rectangle 15"/>
          <p:cNvSpPr/>
          <p:nvPr/>
        </p:nvSpPr>
        <p:spPr>
          <a:xfrm>
            <a:off x="762000" y="2647950"/>
            <a:ext cx="4905375" cy="647700"/>
          </a:xfrm>
          <a:prstGeom prst="roundRect">
            <a:avLst>
              <a:gd name="adj" fmla="val 14706"/>
            </a:avLst>
          </a:prstGeom>
          <a:solidFill>
            <a:srgbClr val="2A2A2A"/>
          </a:solidFill>
          <a:ln w="9525">
            <a:solidFill>
              <a:srgbClr val="5A5A5A"/>
            </a:solidFill>
          </a:ln>
        </p:spPr>
      </p:sp>
      <p:sp>
        <p:nvSpPr>
          <p:cNvPr id="16" name="TextBox 16"/>
          <p:cNvSpPr txBox="1"/>
          <p:nvPr/>
        </p:nvSpPr>
        <p:spPr>
          <a:xfrm>
            <a:off x="984885" y="2766060"/>
            <a:ext cx="135544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/sector-ppt AI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87742" y="3057049"/>
            <a:ext cx="300089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生成赛道板块分析 PPT — AI · 能源 · 半导体...</a:t>
            </a:r>
          </a:p>
        </p:txBody>
      </p:sp>
      <p:sp>
        <p:nvSpPr>
          <p:cNvPr id="18" name="Rectangle 18"/>
          <p:cNvSpPr/>
          <p:nvPr/>
        </p:nvSpPr>
        <p:spPr>
          <a:xfrm>
            <a:off x="762000" y="3409950"/>
            <a:ext cx="4905375" cy="647700"/>
          </a:xfrm>
          <a:prstGeom prst="roundRect">
            <a:avLst>
              <a:gd name="adj" fmla="val 14706"/>
            </a:avLst>
          </a:prstGeom>
          <a:solidFill>
            <a:srgbClr val="2A2A2A"/>
          </a:solidFill>
          <a:ln w="9525">
            <a:solidFill>
              <a:srgbClr val="5A5A5A"/>
            </a:solidFill>
          </a:ln>
        </p:spPr>
      </p:sp>
      <p:sp>
        <p:nvSpPr>
          <p:cNvPr id="19" name="TextBox 19"/>
          <p:cNvSpPr txBox="1"/>
          <p:nvPr/>
        </p:nvSpPr>
        <p:spPr>
          <a:xfrm>
            <a:off x="984885" y="3528060"/>
            <a:ext cx="130944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/etf-ppt QQQ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87742" y="3819049"/>
            <a:ext cx="190442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生成 ETF 持仓与走势分析 PPT</a:t>
            </a:r>
          </a:p>
        </p:txBody>
      </p:sp>
      <p:sp>
        <p:nvSpPr>
          <p:cNvPr id="21" name="Line 21"/>
          <p:cNvSpPr/>
          <p:nvPr/>
        </p:nvSpPr>
        <p:spPr>
          <a:xfrm>
            <a:off x="762000" y="4238625"/>
            <a:ext cx="4905375" cy="9525"/>
          </a:xfrm>
          <a:custGeom>
            <a:avLst/>
            <a:gdLst/>
            <a:ahLst/>
            <a:cxnLst/>
            <a:rect l="l" t="t" r="r" b="b"/>
            <a:pathLst>
              <a:path w="4905375" h="9525">
                <a:moveTo>
                  <a:pt x="0" y="0"/>
                </a:moveTo>
                <a:lnTo>
                  <a:pt x="4905375" y="0"/>
                </a:lnTo>
              </a:path>
            </a:pathLst>
          </a:custGeom>
          <a:noFill/>
          <a:ln w="9525">
            <a:solidFill>
              <a:srgbClr val="3A3A3A"/>
            </a:solidFill>
          </a:ln>
        </p:spPr>
      </p:sp>
      <p:sp>
        <p:nvSpPr>
          <p:cNvPr id="22" name="TextBox 22"/>
          <p:cNvSpPr txBox="1"/>
          <p:nvPr/>
        </p:nvSpPr>
        <p:spPr>
          <a:xfrm>
            <a:off x="1944434" y="4323874"/>
            <a:ext cx="253098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掌握 Skill 写法后，这些都能自己写出来</a:t>
            </a:r>
          </a:p>
        </p:txBody>
      </p:sp>
      <p:sp>
        <p:nvSpPr>
          <p:cNvPr id="23" name="Rectangle 23"/>
          <p:cNvSpPr/>
          <p:nvPr/>
        </p:nvSpPr>
        <p:spPr>
          <a:xfrm>
            <a:off x="762000" y="4552950"/>
            <a:ext cx="4905375" cy="762000"/>
          </a:xfrm>
          <a:prstGeom prst="roundRect">
            <a:avLst>
              <a:gd name="adj" fmla="val 12500"/>
            </a:avLst>
          </a:prstGeom>
          <a:solidFill>
            <a:srgbClr val="2A2A2A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986790" y="4668202"/>
            <a:ext cx="182204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🌐 rwh-overlay 完整系统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87742" y="4885849"/>
            <a:ext cx="347793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15+ Skills | 每日分析 · 选股筛选 · PPT生成 · 收益追踪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88695" y="5122545"/>
            <a:ext cx="214569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持续更新 — 加炒股技术群获取访问权</a:t>
            </a:r>
          </a:p>
        </p:txBody>
      </p:sp>
      <p:sp>
        <p:nvSpPr>
          <p:cNvPr id="27" name="Rectangle 27"/>
          <p:cNvSpPr/>
          <p:nvPr/>
        </p:nvSpPr>
        <p:spPr>
          <a:xfrm>
            <a:off x="6334125" y="1009650"/>
            <a:ext cx="5286375" cy="4991100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28" name="Rectangle 28"/>
          <p:cNvSpPr/>
          <p:nvPr/>
        </p:nvSpPr>
        <p:spPr>
          <a:xfrm>
            <a:off x="6334125" y="1009650"/>
            <a:ext cx="5286375" cy="76200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29" name="TextBox 29"/>
          <p:cNvSpPr txBox="1"/>
          <p:nvPr/>
        </p:nvSpPr>
        <p:spPr>
          <a:xfrm>
            <a:off x="8122916" y="1231582"/>
            <a:ext cx="169926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synthesis.md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8181915" y="1516856"/>
            <a:ext cx="158126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六框架协作决策总纲</a:t>
            </a:r>
          </a:p>
        </p:txBody>
      </p:sp>
      <p:sp>
        <p:nvSpPr>
          <p:cNvPr id="31" name="Rectangle 31"/>
          <p:cNvSpPr/>
          <p:nvPr/>
        </p:nvSpPr>
        <p:spPr>
          <a:xfrm>
            <a:off x="6524625" y="1771650"/>
            <a:ext cx="4905375" cy="495300"/>
          </a:xfrm>
          <a:prstGeom prst="roundRect">
            <a:avLst>
              <a:gd name="adj" fmla="val 15385"/>
            </a:avLst>
          </a:prstGeom>
          <a:solidFill>
            <a:srgbClr val="FFF8F5"/>
          </a:solidFill>
          <a:ln w="9525">
            <a:solidFill>
              <a:srgbClr val="C96133"/>
            </a:solidFill>
          </a:ln>
        </p:spPr>
      </p:sp>
      <p:sp>
        <p:nvSpPr>
          <p:cNvPr id="32" name="TextBox 32"/>
          <p:cNvSpPr txBox="1"/>
          <p:nvPr/>
        </p:nvSpPr>
        <p:spPr>
          <a:xfrm>
            <a:off x="6701790" y="1877378"/>
            <a:ext cx="228900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BAIT + Moneyball · 识别 &amp; 量化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6703695" y="2093595"/>
            <a:ext cx="425538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Business · Asset · Industry · Thesis 四维评分 · 非对称 R/R≥2:1 筛选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8917043" y="2286952"/>
            <a:ext cx="11101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C0B8B0"/>
                </a:solidFill>
                <a:latin typeface="Arial"/>
                <a:ea typeface="Microsoft YaHei"/>
                <a:cs typeface="Arial"/>
              </a:rPr>
              <a:t>↓</a:t>
            </a:r>
          </a:p>
        </p:txBody>
      </p:sp>
      <p:sp>
        <p:nvSpPr>
          <p:cNvPr id="35" name="Rectangle 35"/>
          <p:cNvSpPr/>
          <p:nvPr/>
        </p:nvSpPr>
        <p:spPr>
          <a:xfrm>
            <a:off x="6524625" y="2457450"/>
            <a:ext cx="4905375" cy="495300"/>
          </a:xfrm>
          <a:prstGeom prst="roundRect">
            <a:avLst>
              <a:gd name="adj" fmla="val 15385"/>
            </a:avLst>
          </a:prstGeom>
          <a:solidFill>
            <a:srgbClr val="EBF2FF"/>
          </a:solidFill>
          <a:ln w="9525">
            <a:solidFill>
              <a:srgbClr val="3D7DE4"/>
            </a:solidFill>
          </a:ln>
        </p:spPr>
      </p:sp>
      <p:sp>
        <p:nvSpPr>
          <p:cNvPr id="36" name="TextBox 36"/>
          <p:cNvSpPr txBox="1"/>
          <p:nvPr/>
        </p:nvSpPr>
        <p:spPr>
          <a:xfrm>
            <a:off x="6701790" y="2563178"/>
            <a:ext cx="237756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SEPA Stage Analysis · 技术确认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6703695" y="2779395"/>
            <a:ext cx="298694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Stage 2 确认 · 8大入场条件 · EPS加速 · 趋势模板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8917043" y="2972752"/>
            <a:ext cx="11101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C0B8B0"/>
                </a:solidFill>
                <a:latin typeface="Arial"/>
                <a:ea typeface="Microsoft YaHei"/>
                <a:cs typeface="Arial"/>
              </a:rPr>
              <a:t>↓</a:t>
            </a:r>
          </a:p>
        </p:txBody>
      </p:sp>
      <p:sp>
        <p:nvSpPr>
          <p:cNvPr id="39" name="Rectangle 39"/>
          <p:cNvSpPr/>
          <p:nvPr/>
        </p:nvSpPr>
        <p:spPr>
          <a:xfrm>
            <a:off x="6524625" y="3143250"/>
            <a:ext cx="4905375" cy="495300"/>
          </a:xfrm>
          <a:prstGeom prst="roundRect">
            <a:avLst>
              <a:gd name="adj" fmla="val 15385"/>
            </a:avLst>
          </a:prstGeom>
          <a:solidFill>
            <a:srgbClr val="FFF8F5"/>
          </a:solidFill>
          <a:ln w="9525">
            <a:solidFill>
              <a:srgbClr val="C96133"/>
            </a:solidFill>
          </a:ln>
        </p:spPr>
      </p:sp>
      <p:sp>
        <p:nvSpPr>
          <p:cNvPr id="40" name="TextBox 40"/>
          <p:cNvSpPr txBox="1"/>
          <p:nvPr/>
        </p:nvSpPr>
        <p:spPr>
          <a:xfrm>
            <a:off x="6701790" y="3248978"/>
            <a:ext cx="221654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热赛道漏斗 + Chen Yun 七步法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703695" y="3465195"/>
            <a:ext cx="295408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七大赛道筛选 · 底部供应商策略 · 股息增长护城河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8917043" y="3658552"/>
            <a:ext cx="11101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C0B8B0"/>
                </a:solidFill>
                <a:latin typeface="Arial"/>
                <a:ea typeface="Microsoft YaHei"/>
                <a:cs typeface="Arial"/>
              </a:rPr>
              <a:t>↓</a:t>
            </a:r>
          </a:p>
        </p:txBody>
      </p:sp>
      <p:sp>
        <p:nvSpPr>
          <p:cNvPr id="43" name="Rectangle 43"/>
          <p:cNvSpPr/>
          <p:nvPr/>
        </p:nvSpPr>
        <p:spPr>
          <a:xfrm>
            <a:off x="6524625" y="3829050"/>
            <a:ext cx="4905375" cy="762000"/>
          </a:xfrm>
          <a:prstGeom prst="roundRect">
            <a:avLst>
              <a:gd name="adj" fmla="val 10000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44" name="TextBox 44"/>
          <p:cNvSpPr txBox="1"/>
          <p:nvPr/>
        </p:nvSpPr>
        <p:spPr>
          <a:xfrm>
            <a:off x="8395645" y="3925252"/>
            <a:ext cx="115381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三分类决策系统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6655118" y="4200049"/>
            <a:ext cx="74993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🏦 蓝筹长持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6657022" y="4387691"/>
            <a:ext cx="942713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$10B+ · 应税账户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8083868" y="4200049"/>
            <a:ext cx="74993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🚀 翻倍候选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085772" y="4387691"/>
            <a:ext cx="1015008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$500M-10B · Roth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9607868" y="4200049"/>
            <a:ext cx="89944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⚡ 热赛道动量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609772" y="4387691"/>
            <a:ext cx="689681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&lt;$2B · Roth</a:t>
            </a:r>
          </a:p>
        </p:txBody>
      </p:sp>
      <p:sp>
        <p:nvSpPr>
          <p:cNvPr id="51" name="Rectangle 51"/>
          <p:cNvSpPr/>
          <p:nvPr/>
        </p:nvSpPr>
        <p:spPr>
          <a:xfrm>
            <a:off x="6524625" y="4705350"/>
            <a:ext cx="4905375" cy="419100"/>
          </a:xfrm>
          <a:prstGeom prst="roundRect">
            <a:avLst>
              <a:gd name="adj" fmla="val 18182"/>
            </a:avLst>
          </a:prstGeom>
          <a:solidFill>
            <a:srgbClr val="F0EDE8"/>
          </a:solidFill>
          <a:ln w="9525">
            <a:solidFill>
              <a:srgbClr val="E0D8D0"/>
            </a:solidFill>
          </a:ln>
        </p:spPr>
      </p:sp>
      <p:sp>
        <p:nvSpPr>
          <p:cNvPr id="52" name="TextBox 52"/>
          <p:cNvSpPr txBox="1"/>
          <p:nvPr/>
        </p:nvSpPr>
        <p:spPr>
          <a:xfrm>
            <a:off x="6702742" y="4790599"/>
            <a:ext cx="74993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📁 完整文档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703695" y="4970145"/>
            <a:ext cx="205368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wiki/frameworks/synthesis.md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6513195" y="5217795"/>
            <a:ext cx="38413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Roth IRA 五桶框架 vs 应税账户三桶框架 · 覆盖完整持仓决策逻辑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1283934" y="6611302"/>
            <a:ext cx="54040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23 / 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342900"/>
            <a:ext cx="57150" cy="381000"/>
          </a:xfrm>
          <a:prstGeom prst="roundRect">
            <a:avLst>
              <a:gd name="adj" fmla="val 50000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46760" y="337185"/>
            <a:ext cx="6465680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作业：写一个 /market-daily Skill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5810" y="784860"/>
            <a:ext cx="5516118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用今天学到的两层架构，给自己选一个赛道，做一个每日市场速报 Skill</a:t>
            </a:r>
          </a:p>
        </p:txBody>
      </p:sp>
      <p:sp>
        <p:nvSpPr>
          <p:cNvPr id="7" name="Rectangle 7"/>
          <p:cNvSpPr/>
          <p:nvPr/>
        </p:nvSpPr>
        <p:spPr>
          <a:xfrm>
            <a:off x="9429750" y="381000"/>
            <a:ext cx="952500" cy="457200"/>
          </a:xfrm>
          <a:prstGeom prst="roundRect">
            <a:avLst>
              <a:gd name="adj" fmla="val 20833"/>
            </a:avLst>
          </a:prstGeom>
          <a:solidFill>
            <a:srgbClr val="3D7DE4">
              <a:alpha val="12000"/>
            </a:srgbClr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9559878" y="464820"/>
            <a:ext cx="69224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⏱ 预计时长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578316" y="616268"/>
            <a:ext cx="65536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60 min</a:t>
            </a:r>
          </a:p>
        </p:txBody>
      </p:sp>
      <p:sp>
        <p:nvSpPr>
          <p:cNvPr id="10" name="Rectangle 10"/>
          <p:cNvSpPr/>
          <p:nvPr/>
        </p:nvSpPr>
        <p:spPr>
          <a:xfrm>
            <a:off x="10515600" y="381000"/>
            <a:ext cx="1104900" cy="457200"/>
          </a:xfrm>
          <a:prstGeom prst="roundRect">
            <a:avLst>
              <a:gd name="adj" fmla="val 20833"/>
            </a:avLst>
          </a:prstGeom>
          <a:solidFill>
            <a:srgbClr val="3A9E6A">
              <a:alpha val="12000"/>
            </a:srgbClr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10859945" y="464820"/>
            <a:ext cx="41620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★ 难度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740366" y="616268"/>
            <a:ext cx="65536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入门级</a:t>
            </a:r>
          </a:p>
        </p:txBody>
      </p:sp>
      <p:sp>
        <p:nvSpPr>
          <p:cNvPr id="13" name="Rectangle 13"/>
          <p:cNvSpPr/>
          <p:nvPr/>
        </p:nvSpPr>
        <p:spPr>
          <a:xfrm>
            <a:off x="571500" y="1123950"/>
            <a:ext cx="11049000" cy="1409700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14" name="Ellipse 14"/>
          <p:cNvSpPr/>
          <p:nvPr/>
        </p:nvSpPr>
        <p:spPr>
          <a:xfrm>
            <a:off x="781050" y="1504950"/>
            <a:ext cx="647700" cy="64770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935879" y="1666399"/>
            <a:ext cx="33804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FFFFFF">
                    <a:alphaMod val="80000"/>
                  </a:srgbClr>
                </a:solidFill>
                <a:latin typeface="Arial"/>
                <a:ea typeface="Microsoft YaHei"/>
                <a:cs typeface="Arial"/>
              </a:rPr>
              <a:t>STEP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76407" y="1784032"/>
            <a:ext cx="25698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01</a:t>
            </a:r>
          </a:p>
        </p:txBody>
      </p:sp>
      <p:sp>
        <p:nvSpPr>
          <p:cNvPr id="17" name="Rectangle 17"/>
          <p:cNvSpPr/>
          <p:nvPr/>
        </p:nvSpPr>
        <p:spPr>
          <a:xfrm>
            <a:off x="1619250" y="1123950"/>
            <a:ext cx="38100" cy="1409700"/>
          </a:xfrm>
          <a:prstGeom prst="rect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1754505" y="1263968"/>
            <a:ext cx="189752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选赛道，想清楚需求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758315" y="1544002"/>
            <a:ext cx="340042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从七大热门赛道中选一个你感兴趣的，然后回答：</a:t>
            </a:r>
          </a:p>
        </p:txBody>
      </p:sp>
      <p:sp>
        <p:nvSpPr>
          <p:cNvPr id="20" name="Rectangle 20"/>
          <p:cNvSpPr/>
          <p:nvPr/>
        </p:nvSpPr>
        <p:spPr>
          <a:xfrm>
            <a:off x="1771650" y="1762125"/>
            <a:ext cx="2857500" cy="342900"/>
          </a:xfrm>
          <a:prstGeom prst="roundRect">
            <a:avLst>
              <a:gd name="adj" fmla="val 22222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21" name="TextBox 21"/>
          <p:cNvSpPr txBox="1"/>
          <p:nvPr/>
        </p:nvSpPr>
        <p:spPr>
          <a:xfrm>
            <a:off x="2496979" y="1867852"/>
            <a:ext cx="140684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用户说什么触发它？</a:t>
            </a:r>
          </a:p>
        </p:txBody>
      </p:sp>
      <p:sp>
        <p:nvSpPr>
          <p:cNvPr id="22" name="Rectangle 22"/>
          <p:cNvSpPr/>
          <p:nvPr/>
        </p:nvSpPr>
        <p:spPr>
          <a:xfrm>
            <a:off x="4762500" y="1762125"/>
            <a:ext cx="2857500" cy="342900"/>
          </a:xfrm>
          <a:prstGeom prst="roundRect">
            <a:avLst>
              <a:gd name="adj" fmla="val 22222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23" name="TextBox 23"/>
          <p:cNvSpPr txBox="1"/>
          <p:nvPr/>
        </p:nvSpPr>
        <p:spPr>
          <a:xfrm>
            <a:off x="5411152" y="1867852"/>
            <a:ext cx="156019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输出几行？什么格式？</a:t>
            </a:r>
          </a:p>
        </p:txBody>
      </p:sp>
      <p:sp>
        <p:nvSpPr>
          <p:cNvPr id="24" name="Rectangle 24"/>
          <p:cNvSpPr/>
          <p:nvPr/>
        </p:nvSpPr>
        <p:spPr>
          <a:xfrm>
            <a:off x="7753350" y="1762125"/>
            <a:ext cx="3714750" cy="342900"/>
          </a:xfrm>
          <a:prstGeom prst="roundRect">
            <a:avLst>
              <a:gd name="adj" fmla="val 22222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25" name="TextBox 25"/>
          <p:cNvSpPr txBox="1"/>
          <p:nvPr/>
        </p:nvSpPr>
        <p:spPr>
          <a:xfrm>
            <a:off x="8447246" y="1867852"/>
            <a:ext cx="232695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哪些数据是必须的？哪些是加分？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759268" y="2256949"/>
            <a:ext cx="478800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✓ 建议：先用 claude 对话把需求说清楚，让 claude 帮你整理再开始做 skill</a:t>
            </a:r>
          </a:p>
        </p:txBody>
      </p:sp>
      <p:sp>
        <p:nvSpPr>
          <p:cNvPr id="27" name="Rectangle 27"/>
          <p:cNvSpPr/>
          <p:nvPr/>
        </p:nvSpPr>
        <p:spPr>
          <a:xfrm>
            <a:off x="571500" y="2705100"/>
            <a:ext cx="11049000" cy="1409700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28" name="Rectangle 28"/>
          <p:cNvSpPr/>
          <p:nvPr/>
        </p:nvSpPr>
        <p:spPr>
          <a:xfrm>
            <a:off x="571500" y="2705100"/>
            <a:ext cx="38100" cy="1409700"/>
          </a:xfrm>
          <a:prstGeom prst="roundRect">
            <a:avLst>
              <a:gd name="adj" fmla="val 50000"/>
            </a:avLst>
          </a:prstGeom>
          <a:solidFill>
            <a:srgbClr val="C96133"/>
          </a:solidFill>
          <a:ln>
            <a:noFill/>
          </a:ln>
        </p:spPr>
      </p:sp>
      <p:sp>
        <p:nvSpPr>
          <p:cNvPr id="29" name="Ellipse 29"/>
          <p:cNvSpPr/>
          <p:nvPr/>
        </p:nvSpPr>
        <p:spPr>
          <a:xfrm>
            <a:off x="781050" y="3086100"/>
            <a:ext cx="647700" cy="64770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30" name="TextBox 30"/>
          <p:cNvSpPr txBox="1"/>
          <p:nvPr/>
        </p:nvSpPr>
        <p:spPr>
          <a:xfrm>
            <a:off x="935879" y="3247549"/>
            <a:ext cx="33804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FFFFFF">
                    <a:alphaMod val="80000"/>
                  </a:srgbClr>
                </a:solidFill>
                <a:latin typeface="Arial"/>
                <a:ea typeface="Microsoft YaHei"/>
                <a:cs typeface="Arial"/>
              </a:rPr>
              <a:t>STEP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944778" y="336518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754505" y="2845118"/>
            <a:ext cx="1193635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做 Skill 文件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758315" y="3125152"/>
            <a:ext cx="655948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在 .claude/commands/market-daily.md 写 Skill（对应演示 Step 03 · 写Skill），四段结构：</a:t>
            </a:r>
          </a:p>
        </p:txBody>
      </p:sp>
      <p:sp>
        <p:nvSpPr>
          <p:cNvPr id="34" name="Rectangle 34"/>
          <p:cNvSpPr/>
          <p:nvPr/>
        </p:nvSpPr>
        <p:spPr>
          <a:xfrm>
            <a:off x="1771650" y="3333750"/>
            <a:ext cx="1409700" cy="323850"/>
          </a:xfrm>
          <a:prstGeom prst="roundRect">
            <a:avLst>
              <a:gd name="adj" fmla="val 23529"/>
            </a:avLst>
          </a:prstGeom>
          <a:solidFill>
            <a:srgbClr val="FFF8F5"/>
          </a:solidFill>
          <a:ln w="9525">
            <a:solidFill>
              <a:srgbClr val="C96133"/>
            </a:solidFill>
          </a:ln>
        </p:spPr>
      </p:sp>
      <p:sp>
        <p:nvSpPr>
          <p:cNvPr id="35" name="TextBox 35"/>
          <p:cNvSpPr txBox="1"/>
          <p:nvPr/>
        </p:nvSpPr>
        <p:spPr>
          <a:xfrm>
            <a:off x="2101535" y="3438049"/>
            <a:ext cx="74993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① 角色定义</a:t>
            </a:r>
          </a:p>
        </p:txBody>
      </p:sp>
      <p:sp>
        <p:nvSpPr>
          <p:cNvPr id="36" name="Rectangle 36"/>
          <p:cNvSpPr/>
          <p:nvPr/>
        </p:nvSpPr>
        <p:spPr>
          <a:xfrm>
            <a:off x="3314700" y="3333750"/>
            <a:ext cx="1409700" cy="323850"/>
          </a:xfrm>
          <a:prstGeom prst="roundRect">
            <a:avLst>
              <a:gd name="adj" fmla="val 23529"/>
            </a:avLst>
          </a:prstGeom>
          <a:solidFill>
            <a:srgbClr val="FFF8F5"/>
          </a:solidFill>
          <a:ln w="9525">
            <a:solidFill>
              <a:srgbClr val="C96133"/>
            </a:solidFill>
          </a:ln>
        </p:spPr>
      </p:sp>
      <p:sp>
        <p:nvSpPr>
          <p:cNvPr id="37" name="TextBox 37"/>
          <p:cNvSpPr txBox="1"/>
          <p:nvPr/>
        </p:nvSpPr>
        <p:spPr>
          <a:xfrm>
            <a:off x="3569825" y="3438049"/>
            <a:ext cx="89944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② 上下文说明</a:t>
            </a:r>
          </a:p>
        </p:txBody>
      </p:sp>
      <p:sp>
        <p:nvSpPr>
          <p:cNvPr id="38" name="Rectangle 38"/>
          <p:cNvSpPr/>
          <p:nvPr/>
        </p:nvSpPr>
        <p:spPr>
          <a:xfrm>
            <a:off x="4857750" y="3333750"/>
            <a:ext cx="1409700" cy="323850"/>
          </a:xfrm>
          <a:prstGeom prst="roundRect">
            <a:avLst>
              <a:gd name="adj" fmla="val 23529"/>
            </a:avLst>
          </a:prstGeom>
          <a:solidFill>
            <a:srgbClr val="FFF8F5"/>
          </a:solidFill>
          <a:ln w="9525">
            <a:solidFill>
              <a:srgbClr val="C96133"/>
            </a:solidFill>
          </a:ln>
        </p:spPr>
      </p:sp>
      <p:sp>
        <p:nvSpPr>
          <p:cNvPr id="39" name="TextBox 39"/>
          <p:cNvSpPr txBox="1"/>
          <p:nvPr/>
        </p:nvSpPr>
        <p:spPr>
          <a:xfrm>
            <a:off x="5187635" y="3438049"/>
            <a:ext cx="74993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③ 执行指令</a:t>
            </a:r>
          </a:p>
        </p:txBody>
      </p:sp>
      <p:sp>
        <p:nvSpPr>
          <p:cNvPr id="40" name="Rectangle 40"/>
          <p:cNvSpPr/>
          <p:nvPr/>
        </p:nvSpPr>
        <p:spPr>
          <a:xfrm>
            <a:off x="6400800" y="3333750"/>
            <a:ext cx="1409700" cy="323850"/>
          </a:xfrm>
          <a:prstGeom prst="roundRect">
            <a:avLst>
              <a:gd name="adj" fmla="val 23529"/>
            </a:avLst>
          </a:prstGeom>
          <a:solidFill>
            <a:srgbClr val="FFF8F5"/>
          </a:solidFill>
          <a:ln w="9525">
            <a:solidFill>
              <a:srgbClr val="C96133"/>
            </a:solidFill>
          </a:ln>
        </p:spPr>
      </p:sp>
      <p:sp>
        <p:nvSpPr>
          <p:cNvPr id="41" name="TextBox 41"/>
          <p:cNvSpPr txBox="1"/>
          <p:nvPr/>
        </p:nvSpPr>
        <p:spPr>
          <a:xfrm>
            <a:off x="6730685" y="3438049"/>
            <a:ext cx="74993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④ 输出格式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759268" y="3799999"/>
            <a:ext cx="495888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加分项：先用 Python 写数据抓取脚本，Skill 调用脚本而非直接让 LLM 猜数据</a:t>
            </a:r>
          </a:p>
        </p:txBody>
      </p:sp>
      <p:sp>
        <p:nvSpPr>
          <p:cNvPr id="43" name="Rectangle 43"/>
          <p:cNvSpPr/>
          <p:nvPr/>
        </p:nvSpPr>
        <p:spPr>
          <a:xfrm>
            <a:off x="571500" y="4286250"/>
            <a:ext cx="11049000" cy="1409700"/>
          </a:xfrm>
          <a:prstGeom prst="roundRect">
            <a:avLst>
              <a:gd name="adj" fmla="val 8108"/>
            </a:avLst>
          </a:prstGeom>
          <a:solidFill>
            <a:srgbClr val="EBF7F1"/>
          </a:solidFill>
          <a:ln w="19050">
            <a:solidFill>
              <a:srgbClr val="3A9E6A"/>
            </a:solidFill>
          </a:ln>
        </p:spPr>
      </p:sp>
      <p:sp>
        <p:nvSpPr>
          <p:cNvPr id="44" name="Rectangle 44"/>
          <p:cNvSpPr/>
          <p:nvPr/>
        </p:nvSpPr>
        <p:spPr>
          <a:xfrm>
            <a:off x="571500" y="4286250"/>
            <a:ext cx="38100" cy="1409700"/>
          </a:xfrm>
          <a:prstGeom prst="roundRect">
            <a:avLst>
              <a:gd name="adj" fmla="val 50000"/>
            </a:avLst>
          </a:prstGeom>
          <a:solidFill>
            <a:srgbClr val="3A9E6A"/>
          </a:solidFill>
          <a:ln>
            <a:noFill/>
          </a:ln>
        </p:spPr>
      </p:sp>
      <p:sp>
        <p:nvSpPr>
          <p:cNvPr id="45" name="Ellipse 45"/>
          <p:cNvSpPr/>
          <p:nvPr/>
        </p:nvSpPr>
        <p:spPr>
          <a:xfrm>
            <a:off x="781050" y="4667250"/>
            <a:ext cx="647700" cy="64770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</p:sp>
      <p:sp>
        <p:nvSpPr>
          <p:cNvPr id="46" name="TextBox 46"/>
          <p:cNvSpPr txBox="1"/>
          <p:nvPr/>
        </p:nvSpPr>
        <p:spPr>
          <a:xfrm>
            <a:off x="935879" y="4828699"/>
            <a:ext cx="33804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FFFFFF">
                    <a:alphaMod val="80000"/>
                  </a:srgbClr>
                </a:solidFill>
                <a:latin typeface="Arial"/>
                <a:ea typeface="Microsoft YaHei"/>
                <a:cs typeface="Arial"/>
              </a:rPr>
              <a:t>STEP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944778" y="494633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754505" y="4426268"/>
            <a:ext cx="1483471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运行并截图提交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758315" y="4706302"/>
            <a:ext cx="543234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运行 /market-daily，截图输出结果，发到群里——哪怕不完美，跑起来就算完成</a:t>
            </a:r>
          </a:p>
        </p:txBody>
      </p:sp>
      <p:sp>
        <p:nvSpPr>
          <p:cNvPr id="50" name="Rectangle 50"/>
          <p:cNvSpPr/>
          <p:nvPr/>
        </p:nvSpPr>
        <p:spPr>
          <a:xfrm>
            <a:off x="1771650" y="4933950"/>
            <a:ext cx="4286250" cy="381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51" name="TextBox 51"/>
          <p:cNvSpPr txBox="1"/>
          <p:nvPr/>
        </p:nvSpPr>
        <p:spPr>
          <a:xfrm>
            <a:off x="2460310" y="5058728"/>
            <a:ext cx="290893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✓ 提交物 1：market-daily.md 文件截图</a:t>
            </a:r>
          </a:p>
        </p:txBody>
      </p:sp>
      <p:sp>
        <p:nvSpPr>
          <p:cNvPr id="52" name="Rectangle 52"/>
          <p:cNvSpPr/>
          <p:nvPr/>
        </p:nvSpPr>
        <p:spPr>
          <a:xfrm>
            <a:off x="6191250" y="4933950"/>
            <a:ext cx="5238750" cy="381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id="53" name="TextBox 53"/>
          <p:cNvSpPr txBox="1"/>
          <p:nvPr/>
        </p:nvSpPr>
        <p:spPr>
          <a:xfrm>
            <a:off x="7279675" y="5058728"/>
            <a:ext cx="306189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✓ 提交物 2：/market-daily 运行结果截图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1759268" y="5438299"/>
            <a:ext cx="792789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作业材料下载：austinxyz.github.io/course-portal · lite-kit 有 ticker-scan 完整示例 · 跟我做-提示词.md 有逐步导读</a:t>
            </a:r>
          </a:p>
        </p:txBody>
      </p:sp>
      <p:sp>
        <p:nvSpPr>
          <p:cNvPr id="55" name="Rectangle 55"/>
          <p:cNvSpPr/>
          <p:nvPr/>
        </p:nvSpPr>
        <p:spPr>
          <a:xfrm>
            <a:off x="571500" y="5905500"/>
            <a:ext cx="11049000" cy="495300"/>
          </a:xfrm>
          <a:prstGeom prst="roundRect">
            <a:avLst>
              <a:gd name="adj" fmla="val 19231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56" name="TextBox 56"/>
          <p:cNvSpPr txBox="1"/>
          <p:nvPr/>
        </p:nvSpPr>
        <p:spPr>
          <a:xfrm>
            <a:off x="805815" y="6087428"/>
            <a:ext cx="83177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截止时间：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1758315" y="6087428"/>
            <a:ext cx="133783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下次课前 48 小时 ·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1758315" y="6087428"/>
            <a:ext cx="6400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提交到：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6750368" y="6095524"/>
            <a:ext cx="271610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austinxyz.github.io/course-portal ·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6750368" y="6095524"/>
            <a:ext cx="85779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微信群 @助教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11283934" y="6554152"/>
            <a:ext cx="54040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24 / 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5A5A5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71500" y="342900"/>
            <a:ext cx="57150" cy="381000"/>
          </a:xfrm>
          <a:prstGeom prst="roundRect">
            <a:avLst>
              <a:gd name="adj" fmla="val 50000"/>
            </a:avLst>
          </a:prstGeom>
          <a:solidFill>
            <a:srgbClr val="5A5A5A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746760" y="337185"/>
            <a:ext cx="3857154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7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参考材料 &amp; 延伸阅读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5810" y="784860"/>
            <a:ext cx="265938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课程资源、方法论出处、推荐书单</a:t>
            </a:r>
          </a:p>
        </p:txBody>
      </p:sp>
      <p:sp>
        <p:nvSpPr>
          <p:cNvPr id="7" name="Rectangle 7"/>
          <p:cNvSpPr/>
          <p:nvPr/>
        </p:nvSpPr>
        <p:spPr>
          <a:xfrm>
            <a:off x="571500" y="1104900"/>
            <a:ext cx="3381375" cy="457200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8" name="Rectangle 8"/>
          <p:cNvSpPr/>
          <p:nvPr/>
        </p:nvSpPr>
        <p:spPr>
          <a:xfrm>
            <a:off x="571500" y="1104900"/>
            <a:ext cx="3381375" cy="495300"/>
          </a:xfrm>
          <a:prstGeom prst="roundRect">
            <a:avLst>
              <a:gd name="adj" fmla="val 23077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571500" y="1409700"/>
            <a:ext cx="3381375" cy="190500"/>
          </a:xfrm>
          <a:prstGeom prst="rect">
            <a:avLst/>
          </a:prstGeom>
          <a:solidFill>
            <a:srgbClr val="1E1E1E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893445" y="1241108"/>
            <a:ext cx="306991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{}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874139" y="1289685"/>
            <a:ext cx="76657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课程资源</a:t>
            </a:r>
          </a:p>
        </p:txBody>
      </p:sp>
      <p:sp>
        <p:nvSpPr>
          <p:cNvPr id="12" name="Rectangle 12"/>
          <p:cNvSpPr/>
          <p:nvPr/>
        </p:nvSpPr>
        <p:spPr>
          <a:xfrm>
            <a:off x="762000" y="1752600"/>
            <a:ext cx="3000375" cy="685800"/>
          </a:xfrm>
          <a:prstGeom prst="roundRect">
            <a:avLst>
              <a:gd name="adj" fmla="val 11111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939165" y="1848802"/>
            <a:ext cx="104914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GitHub 代码库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40118" y="2047399"/>
            <a:ext cx="137043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stock-analysis-lite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41070" y="2245995"/>
            <a:ext cx="274377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u="sng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github.com/austinxyz/stock-analysis-lite</a:t>
            </a:r>
          </a:p>
        </p:txBody>
      </p:sp>
      <p:sp>
        <p:nvSpPr>
          <p:cNvPr id="16" name="Rectangle 16"/>
          <p:cNvSpPr/>
          <p:nvPr/>
        </p:nvSpPr>
        <p:spPr>
          <a:xfrm>
            <a:off x="762000" y="2552700"/>
            <a:ext cx="3000375" cy="552450"/>
          </a:xfrm>
          <a:prstGeom prst="roundRect">
            <a:avLst>
              <a:gd name="adj" fmla="val 13793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17" name="TextBox 17"/>
          <p:cNvSpPr txBox="1"/>
          <p:nvPr/>
        </p:nvSpPr>
        <p:spPr>
          <a:xfrm>
            <a:off x="939165" y="2648902"/>
            <a:ext cx="102499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课程 Lite-Kit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40118" y="2866549"/>
            <a:ext cx="278018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4 个 Skill 模板 + ticker_scan.py 数据脚本</a:t>
            </a:r>
          </a:p>
        </p:txBody>
      </p:sp>
      <p:sp>
        <p:nvSpPr>
          <p:cNvPr id="19" name="Rectangle 19"/>
          <p:cNvSpPr/>
          <p:nvPr/>
        </p:nvSpPr>
        <p:spPr>
          <a:xfrm>
            <a:off x="762000" y="3219450"/>
            <a:ext cx="3000375" cy="552450"/>
          </a:xfrm>
          <a:prstGeom prst="roundRect">
            <a:avLst>
              <a:gd name="adj" fmla="val 13793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939165" y="3315652"/>
            <a:ext cx="137923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跟我做·提示词.md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40118" y="3514249"/>
            <a:ext cx="201834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作业逐步导读，每步带操作说明</a:t>
            </a:r>
          </a:p>
        </p:txBody>
      </p:sp>
      <p:sp>
        <p:nvSpPr>
          <p:cNvPr id="22" name="Rectangle 22"/>
          <p:cNvSpPr/>
          <p:nvPr/>
        </p:nvSpPr>
        <p:spPr>
          <a:xfrm>
            <a:off x="762000" y="3886200"/>
            <a:ext cx="3000375" cy="552450"/>
          </a:xfrm>
          <a:prstGeom prst="roundRect">
            <a:avLst>
              <a:gd name="adj" fmla="val 13793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23" name="TextBox 23"/>
          <p:cNvSpPr txBox="1"/>
          <p:nvPr/>
        </p:nvSpPr>
        <p:spPr>
          <a:xfrm>
            <a:off x="939165" y="3982402"/>
            <a:ext cx="129067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demo-script.md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40118" y="4180999"/>
            <a:ext cx="258794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今日演示完整脚本（包含所有操作步骤）</a:t>
            </a:r>
          </a:p>
        </p:txBody>
      </p:sp>
      <p:sp>
        <p:nvSpPr>
          <p:cNvPr id="25" name="Rectangle 25"/>
          <p:cNvSpPr/>
          <p:nvPr/>
        </p:nvSpPr>
        <p:spPr>
          <a:xfrm>
            <a:off x="762000" y="4552950"/>
            <a:ext cx="3000375" cy="952500"/>
          </a:xfrm>
          <a:prstGeom prst="roundRect">
            <a:avLst>
              <a:gd name="adj" fmla="val 8000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1960245" y="4695349"/>
            <a:ext cx="5943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扫码获取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170200" y="4851082"/>
            <a:ext cx="17445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□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776079" y="5255895"/>
            <a:ext cx="96269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课程群 / 资料包</a:t>
            </a:r>
          </a:p>
        </p:txBody>
      </p:sp>
      <p:sp>
        <p:nvSpPr>
          <p:cNvPr id="29" name="Rectangle 29"/>
          <p:cNvSpPr/>
          <p:nvPr/>
        </p:nvSpPr>
        <p:spPr>
          <a:xfrm>
            <a:off x="4143375" y="1104900"/>
            <a:ext cx="3571875" cy="4572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30" name="Rectangle 30"/>
          <p:cNvSpPr/>
          <p:nvPr/>
        </p:nvSpPr>
        <p:spPr>
          <a:xfrm>
            <a:off x="4143375" y="1104900"/>
            <a:ext cx="3571875" cy="495300"/>
          </a:xfrm>
          <a:prstGeom prst="roundRect">
            <a:avLst>
              <a:gd name="adj" fmla="val 23077"/>
            </a:avLst>
          </a:prstGeom>
          <a:solidFill>
            <a:srgbClr val="3D7DE4"/>
          </a:solidFill>
          <a:ln>
            <a:noFill/>
          </a:ln>
        </p:spPr>
      </p:sp>
      <p:sp>
        <p:nvSpPr>
          <p:cNvPr id="31" name="Rectangle 31"/>
          <p:cNvSpPr/>
          <p:nvPr/>
        </p:nvSpPr>
        <p:spPr>
          <a:xfrm>
            <a:off x="4143375" y="1409700"/>
            <a:ext cx="3571875" cy="190500"/>
          </a:xfrm>
          <a:prstGeom prst="rect">
            <a:avLst/>
          </a:prstGeom>
          <a:solidFill>
            <a:srgbClr val="3D7DE4"/>
          </a:solidFill>
          <a:ln>
            <a:noFill/>
          </a:ln>
        </p:spPr>
      </p:sp>
      <p:sp>
        <p:nvSpPr>
          <p:cNvPr id="32" name="TextBox 32"/>
          <p:cNvSpPr txBox="1"/>
          <p:nvPr/>
        </p:nvSpPr>
        <p:spPr>
          <a:xfrm>
            <a:off x="5449252" y="1289685"/>
            <a:ext cx="95059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方法论出处</a:t>
            </a:r>
          </a:p>
        </p:txBody>
      </p:sp>
      <p:sp>
        <p:nvSpPr>
          <p:cNvPr id="33" name="Rectangle 33"/>
          <p:cNvSpPr/>
          <p:nvPr/>
        </p:nvSpPr>
        <p:spPr>
          <a:xfrm>
            <a:off x="4333875" y="1752600"/>
            <a:ext cx="3190875" cy="685800"/>
          </a:xfrm>
          <a:prstGeom prst="roundRect">
            <a:avLst>
              <a:gd name="adj" fmla="val 11111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4511040" y="1848802"/>
            <a:ext cx="168517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SEPA — Stage Analysis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4511992" y="2047399"/>
            <a:ext cx="363457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Mark Minervini《Trade Like a Stock Market Wizard》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4512945" y="2245995"/>
            <a:ext cx="210626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SEPA 框架原著，含 Stage 判断标准</a:t>
            </a:r>
          </a:p>
        </p:txBody>
      </p:sp>
      <p:sp>
        <p:nvSpPr>
          <p:cNvPr id="37" name="Rectangle 37"/>
          <p:cNvSpPr/>
          <p:nvPr/>
        </p:nvSpPr>
        <p:spPr>
          <a:xfrm>
            <a:off x="4333875" y="2552700"/>
            <a:ext cx="3190875" cy="685800"/>
          </a:xfrm>
          <a:prstGeom prst="roundRect">
            <a:avLst>
              <a:gd name="adj" fmla="val 11111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38" name="TextBox 38"/>
          <p:cNvSpPr txBox="1"/>
          <p:nvPr/>
        </p:nvSpPr>
        <p:spPr>
          <a:xfrm>
            <a:off x="4511040" y="2648902"/>
            <a:ext cx="176568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Moneyball — 非对称风险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4511992" y="2847499"/>
            <a:ext cx="322873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William O'Neil《How to Make Money in Stocks》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4512945" y="3046095"/>
            <a:ext cx="170535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R/R 2:1 原则 + 仓位管理出处</a:t>
            </a:r>
          </a:p>
        </p:txBody>
      </p:sp>
      <p:sp>
        <p:nvSpPr>
          <p:cNvPr id="41" name="Rectangle 41"/>
          <p:cNvSpPr/>
          <p:nvPr/>
        </p:nvSpPr>
        <p:spPr>
          <a:xfrm>
            <a:off x="4333875" y="3352800"/>
            <a:ext cx="3190875" cy="685800"/>
          </a:xfrm>
          <a:prstGeom prst="roundRect">
            <a:avLst>
              <a:gd name="adj" fmla="val 11111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42" name="TextBox 42"/>
          <p:cNvSpPr txBox="1"/>
          <p:nvPr/>
        </p:nvSpPr>
        <p:spPr>
          <a:xfrm>
            <a:off x="4511040" y="3449002"/>
            <a:ext cx="131483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热门赛道选股方法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4511992" y="3647599"/>
            <a:ext cx="203970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七大赛道 + 九大翻倍股选股框架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4512945" y="3846195"/>
            <a:ext cx="347986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课程整理版：wiki/frameworks/hot-sector-method.md</a:t>
            </a:r>
          </a:p>
        </p:txBody>
      </p:sp>
      <p:sp>
        <p:nvSpPr>
          <p:cNvPr id="45" name="Rectangle 45"/>
          <p:cNvSpPr/>
          <p:nvPr/>
        </p:nvSpPr>
        <p:spPr>
          <a:xfrm>
            <a:off x="4333875" y="4152900"/>
            <a:ext cx="3190875" cy="552450"/>
          </a:xfrm>
          <a:prstGeom prst="roundRect">
            <a:avLst>
              <a:gd name="adj" fmla="val 13793"/>
            </a:avLst>
          </a:prstGeom>
          <a:solidFill>
            <a:srgbClr val="EBF2FF"/>
          </a:solidFill>
          <a:ln>
            <a:noFill/>
          </a:ln>
        </p:spPr>
      </p:sp>
      <p:sp>
        <p:nvSpPr>
          <p:cNvPr id="46" name="TextBox 46"/>
          <p:cNvSpPr txBox="1"/>
          <p:nvPr/>
        </p:nvSpPr>
        <p:spPr>
          <a:xfrm>
            <a:off x="4511040" y="4249102"/>
            <a:ext cx="71100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BAIT 评分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4511992" y="4447699"/>
            <a:ext cx="242418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合成框架，出处：课程 synthesis.md</a:t>
            </a:r>
          </a:p>
        </p:txBody>
      </p:sp>
      <p:sp>
        <p:nvSpPr>
          <p:cNvPr id="48" name="Rectangle 48"/>
          <p:cNvSpPr/>
          <p:nvPr/>
        </p:nvSpPr>
        <p:spPr>
          <a:xfrm>
            <a:off x="7905750" y="1104900"/>
            <a:ext cx="3714750" cy="45720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49" name="Rectangle 49"/>
          <p:cNvSpPr/>
          <p:nvPr/>
        </p:nvSpPr>
        <p:spPr>
          <a:xfrm>
            <a:off x="7905750" y="1104900"/>
            <a:ext cx="3714750" cy="495300"/>
          </a:xfrm>
          <a:prstGeom prst="roundRect">
            <a:avLst>
              <a:gd name="adj" fmla="val 23077"/>
            </a:avLst>
          </a:prstGeom>
          <a:solidFill>
            <a:srgbClr val="3A9E6A"/>
          </a:solidFill>
          <a:ln>
            <a:noFill/>
          </a:ln>
        </p:spPr>
      </p:sp>
      <p:sp>
        <p:nvSpPr>
          <p:cNvPr id="50" name="Rectangle 50"/>
          <p:cNvSpPr/>
          <p:nvPr/>
        </p:nvSpPr>
        <p:spPr>
          <a:xfrm>
            <a:off x="7905750" y="1409700"/>
            <a:ext cx="3714750" cy="190500"/>
          </a:xfrm>
          <a:prstGeom prst="rect">
            <a:avLst/>
          </a:prstGeom>
          <a:solidFill>
            <a:srgbClr val="3A9E6A"/>
          </a:solidFill>
          <a:ln>
            <a:noFill/>
          </a:ln>
        </p:spPr>
      </p:sp>
      <p:sp>
        <p:nvSpPr>
          <p:cNvPr id="51" name="TextBox 51"/>
          <p:cNvSpPr txBox="1"/>
          <p:nvPr/>
        </p:nvSpPr>
        <p:spPr>
          <a:xfrm>
            <a:off x="9379839" y="1289685"/>
            <a:ext cx="76657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推荐延伸</a:t>
            </a:r>
          </a:p>
        </p:txBody>
      </p:sp>
      <p:sp>
        <p:nvSpPr>
          <p:cNvPr id="52" name="Rectangle 52"/>
          <p:cNvSpPr/>
          <p:nvPr/>
        </p:nvSpPr>
        <p:spPr>
          <a:xfrm>
            <a:off x="8096250" y="1752600"/>
            <a:ext cx="3333750" cy="552450"/>
          </a:xfrm>
          <a:prstGeom prst="roundRect">
            <a:avLst>
              <a:gd name="adj" fmla="val 13793"/>
            </a:avLst>
          </a:prstGeom>
          <a:solidFill>
            <a:srgbClr val="EBF7F1"/>
          </a:solidFill>
          <a:ln>
            <a:noFill/>
          </a:ln>
        </p:spPr>
      </p:sp>
      <p:sp>
        <p:nvSpPr>
          <p:cNvPr id="53" name="TextBox 53"/>
          <p:cNvSpPr txBox="1"/>
          <p:nvPr/>
        </p:nvSpPr>
        <p:spPr>
          <a:xfrm>
            <a:off x="8273415" y="1848802"/>
            <a:ext cx="80761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📖 进阶书目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274368" y="2066449"/>
            <a:ext cx="314329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《Momentum Masters》— Minervini 等四人访谈</a:t>
            </a:r>
          </a:p>
        </p:txBody>
      </p:sp>
      <p:sp>
        <p:nvSpPr>
          <p:cNvPr id="55" name="Rectangle 55"/>
          <p:cNvSpPr/>
          <p:nvPr/>
        </p:nvSpPr>
        <p:spPr>
          <a:xfrm>
            <a:off x="8096250" y="2419350"/>
            <a:ext cx="3333750" cy="552450"/>
          </a:xfrm>
          <a:prstGeom prst="roundRect">
            <a:avLst>
              <a:gd name="adj" fmla="val 13793"/>
            </a:avLst>
          </a:prstGeom>
          <a:solidFill>
            <a:srgbClr val="EBF7F1"/>
          </a:solidFill>
          <a:ln>
            <a:noFill/>
          </a:ln>
        </p:spPr>
      </p:sp>
      <p:sp>
        <p:nvSpPr>
          <p:cNvPr id="56" name="TextBox 56"/>
          <p:cNvSpPr txBox="1"/>
          <p:nvPr/>
        </p:nvSpPr>
        <p:spPr>
          <a:xfrm>
            <a:off x="8273415" y="2515552"/>
            <a:ext cx="75931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📖 数据 API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8274368" y="2733199"/>
            <a:ext cx="257370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yfinance (免费) · Alpaca · Polygon.io</a:t>
            </a:r>
          </a:p>
        </p:txBody>
      </p:sp>
      <p:sp>
        <p:nvSpPr>
          <p:cNvPr id="58" name="Rectangle 58"/>
          <p:cNvSpPr/>
          <p:nvPr/>
        </p:nvSpPr>
        <p:spPr>
          <a:xfrm>
            <a:off x="8096250" y="3086100"/>
            <a:ext cx="3333750" cy="552450"/>
          </a:xfrm>
          <a:prstGeom prst="roundRect">
            <a:avLst>
              <a:gd name="adj" fmla="val 13793"/>
            </a:avLst>
          </a:prstGeom>
          <a:solidFill>
            <a:srgbClr val="EBF7F1"/>
          </a:solidFill>
          <a:ln>
            <a:noFill/>
          </a:ln>
        </p:spPr>
      </p:sp>
      <p:sp>
        <p:nvSpPr>
          <p:cNvPr id="59" name="TextBox 59"/>
          <p:cNvSpPr txBox="1"/>
          <p:nvPr/>
        </p:nvSpPr>
        <p:spPr>
          <a:xfrm>
            <a:off x="8273415" y="3182302"/>
            <a:ext cx="117796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📖 Skill 工程参考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8274368" y="3399949"/>
            <a:ext cx="303649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Anthropic Prompt Engineering Guide（官方）</a:t>
            </a:r>
          </a:p>
        </p:txBody>
      </p:sp>
      <p:sp>
        <p:nvSpPr>
          <p:cNvPr id="61" name="Rectangle 61"/>
          <p:cNvSpPr/>
          <p:nvPr/>
        </p:nvSpPr>
        <p:spPr>
          <a:xfrm>
            <a:off x="8096250" y="3752850"/>
            <a:ext cx="3333750" cy="552450"/>
          </a:xfrm>
          <a:prstGeom prst="roundRect">
            <a:avLst>
              <a:gd name="adj" fmla="val 13793"/>
            </a:avLst>
          </a:prstGeom>
          <a:solidFill>
            <a:srgbClr val="EBF7F1"/>
          </a:solidFill>
          <a:ln>
            <a:noFill/>
          </a:ln>
        </p:spPr>
      </p:sp>
      <p:sp>
        <p:nvSpPr>
          <p:cNvPr id="62" name="TextBox 62"/>
          <p:cNvSpPr txBox="1"/>
          <p:nvPr/>
        </p:nvSpPr>
        <p:spPr>
          <a:xfrm>
            <a:off x="8273415" y="3849052"/>
            <a:ext cx="80761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3A9E6A"/>
                </a:solidFill>
                <a:latin typeface="Arial"/>
                <a:ea typeface="Microsoft YaHei"/>
                <a:cs typeface="Arial"/>
              </a:rPr>
              <a:t>📖 延伸实践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8274368" y="4066699"/>
            <a:ext cx="253098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将今天的 Skill 移植到你自己的专业领域</a:t>
            </a:r>
          </a:p>
        </p:txBody>
      </p:sp>
      <p:sp>
        <p:nvSpPr>
          <p:cNvPr id="64" name="Rectangle 64"/>
          <p:cNvSpPr/>
          <p:nvPr/>
        </p:nvSpPr>
        <p:spPr>
          <a:xfrm>
            <a:off x="8096250" y="4419600"/>
            <a:ext cx="3333750" cy="1085850"/>
          </a:xfrm>
          <a:prstGeom prst="roundRect">
            <a:avLst>
              <a:gd name="adj" fmla="val 7018"/>
            </a:avLst>
          </a:prstGeom>
          <a:solidFill>
            <a:srgbClr val="F0EDE8"/>
          </a:solidFill>
          <a:ln>
            <a:noFill/>
          </a:ln>
        </p:spPr>
      </p:sp>
      <p:sp>
        <p:nvSpPr>
          <p:cNvPr id="65" name="TextBox 65"/>
          <p:cNvSpPr txBox="1"/>
          <p:nvPr/>
        </p:nvSpPr>
        <p:spPr>
          <a:xfrm>
            <a:off x="9465945" y="4561999"/>
            <a:ext cx="5943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免责声明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8670560" y="4798695"/>
            <a:ext cx="218513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本课程所有内容仅供学习 AI 工程方法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8700135" y="4989195"/>
            <a:ext cx="212598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不构成任何投资建议。股市有风险，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9357360" y="5179695"/>
            <a:ext cx="81153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入市须谨慎。</a:t>
            </a:r>
          </a:p>
        </p:txBody>
      </p:sp>
      <p:sp>
        <p:nvSpPr>
          <p:cNvPr id="69" name="Rectangle 69"/>
          <p:cNvSpPr/>
          <p:nvPr/>
        </p:nvSpPr>
        <p:spPr>
          <a:xfrm>
            <a:off x="571500" y="5867400"/>
            <a:ext cx="11049000" cy="495300"/>
          </a:xfrm>
          <a:prstGeom prst="roundRect">
            <a:avLst>
              <a:gd name="adj" fmla="val 19231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70" name="TextBox 70"/>
          <p:cNvSpPr txBox="1"/>
          <p:nvPr/>
        </p:nvSpPr>
        <p:spPr>
          <a:xfrm>
            <a:off x="3875901" y="6050756"/>
            <a:ext cx="444019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FFFFFF">
                    <a:alphaMod val="85000"/>
                  </a:srgbClr>
                </a:solidFill>
                <a:latin typeface="Arial"/>
                <a:ea typeface="Microsoft YaHei"/>
                <a:cs typeface="Arial"/>
              </a:rPr>
              <a:t>所有课程资料已打包到 GitHub Repo，课程群置顶有下载链接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11283934" y="6554152"/>
            <a:ext cx="54040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25 / 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6133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6781800" y="1447800"/>
            <a:ext cx="3950779" cy="7315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6000" b="1" dirty="0">
                <a:solidFill>
                  <a:srgbClr val="C96133">
                    <a:alphaMod val="4000"/>
                  </a:srgbClr>
                </a:solidFill>
                <a:latin typeface="Arial"/>
                <a:ea typeface="Microsoft YaHei"/>
                <a:cs typeface="Arial"/>
              </a:rPr>
              <a:t>?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651991" y="632460"/>
            <a:ext cx="2888018" cy="1463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7200" b="1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Q &amp; A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508659" y="1726882"/>
            <a:ext cx="3174682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有什么问题？现在是你的时间</a:t>
            </a:r>
          </a:p>
        </p:txBody>
      </p:sp>
      <p:sp>
        <p:nvSpPr>
          <p:cNvPr id="7" name="Line 7"/>
          <p:cNvSpPr/>
          <p:nvPr/>
        </p:nvSpPr>
        <p:spPr>
          <a:xfrm>
            <a:off x="3619500" y="2171700"/>
            <a:ext cx="4953000" cy="9525"/>
          </a:xfrm>
          <a:custGeom>
            <a:avLst/>
            <a:gdLst/>
            <a:ahLst/>
            <a:cxnLst/>
            <a:rect l="l" t="t" r="r" b="b"/>
            <a:pathLst>
              <a:path w="4953000" h="9525">
                <a:moveTo>
                  <a:pt x="0" y="0"/>
                </a:moveTo>
                <a:lnTo>
                  <a:pt x="4953000" y="0"/>
                </a:lnTo>
              </a:path>
            </a:pathLst>
          </a:custGeom>
          <a:noFill/>
          <a:ln w="14288">
            <a:solidFill>
              <a:srgbClr val="E0D8D0"/>
            </a:solidFill>
          </a:ln>
        </p:spPr>
      </p:sp>
      <p:sp>
        <p:nvSpPr>
          <p:cNvPr id="8" name="TextBox 8"/>
          <p:cNvSpPr txBox="1"/>
          <p:nvPr/>
        </p:nvSpPr>
        <p:spPr>
          <a:xfrm>
            <a:off x="1386087" y="2640806"/>
            <a:ext cx="103782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可以问这些 ↓</a:t>
            </a:r>
          </a:p>
        </p:txBody>
      </p:sp>
      <p:sp>
        <p:nvSpPr>
          <p:cNvPr id="9" name="Rectangle 9"/>
          <p:cNvSpPr/>
          <p:nvPr/>
        </p:nvSpPr>
        <p:spPr>
          <a:xfrm>
            <a:off x="571500" y="2914650"/>
            <a:ext cx="4572000" cy="514350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1085850" y="2933700"/>
            <a:ext cx="158591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●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75410" y="3108960"/>
            <a:ext cx="2554224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Skill 的 prompt 写多长最合适？</a:t>
            </a:r>
          </a:p>
        </p:txBody>
      </p:sp>
      <p:sp>
        <p:nvSpPr>
          <p:cNvPr id="12" name="Rectangle 12"/>
          <p:cNvSpPr/>
          <p:nvPr/>
        </p:nvSpPr>
        <p:spPr>
          <a:xfrm>
            <a:off x="571500" y="3562350"/>
            <a:ext cx="4572000" cy="514350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13" name="TextBox 13"/>
          <p:cNvSpPr txBox="1"/>
          <p:nvPr/>
        </p:nvSpPr>
        <p:spPr>
          <a:xfrm>
            <a:off x="1085850" y="3581400"/>
            <a:ext cx="158591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●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75410" y="3756660"/>
            <a:ext cx="258927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Python 我不会，这套还能用吗？</a:t>
            </a:r>
          </a:p>
        </p:txBody>
      </p:sp>
      <p:sp>
        <p:nvSpPr>
          <p:cNvPr id="15" name="Rectangle 15"/>
          <p:cNvSpPr/>
          <p:nvPr/>
        </p:nvSpPr>
        <p:spPr>
          <a:xfrm>
            <a:off x="571500" y="4210050"/>
            <a:ext cx="4572000" cy="514350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16" name="TextBox 16"/>
          <p:cNvSpPr txBox="1"/>
          <p:nvPr/>
        </p:nvSpPr>
        <p:spPr>
          <a:xfrm>
            <a:off x="1085850" y="4229100"/>
            <a:ext cx="158591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●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375410" y="4404360"/>
            <a:ext cx="213360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能接真实美股 API 数据吗？</a:t>
            </a:r>
          </a:p>
        </p:txBody>
      </p:sp>
      <p:sp>
        <p:nvSpPr>
          <p:cNvPr id="18" name="Rectangle 18"/>
          <p:cNvSpPr/>
          <p:nvPr/>
        </p:nvSpPr>
        <p:spPr>
          <a:xfrm>
            <a:off x="571500" y="4857750"/>
            <a:ext cx="4572000" cy="514350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19" name="TextBox 19"/>
          <p:cNvSpPr txBox="1"/>
          <p:nvPr/>
        </p:nvSpPr>
        <p:spPr>
          <a:xfrm>
            <a:off x="1085850" y="4876800"/>
            <a:ext cx="158591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C96133"/>
                </a:solidFill>
                <a:latin typeface="Arial"/>
                <a:ea typeface="Microsoft YaHei"/>
                <a:cs typeface="Arial"/>
              </a:rPr>
              <a:t>●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375410" y="5052060"/>
            <a:ext cx="248412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A5A5A"/>
                </a:solidFill>
                <a:latin typeface="Arial"/>
                <a:ea typeface="Microsoft YaHei"/>
                <a:cs typeface="Arial"/>
              </a:rPr>
              <a:t>如何把这套方法用到其他领域？</a:t>
            </a:r>
          </a:p>
        </p:txBody>
      </p:sp>
      <p:sp>
        <p:nvSpPr>
          <p:cNvPr id="21" name="Rectangle 21"/>
          <p:cNvSpPr/>
          <p:nvPr/>
        </p:nvSpPr>
        <p:spPr>
          <a:xfrm>
            <a:off x="7048500" y="2667000"/>
            <a:ext cx="4572000" cy="304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4288">
            <a:solidFill>
              <a:srgbClr val="E0D8D0"/>
            </a:solidFill>
          </a:ln>
        </p:spPr>
      </p:sp>
      <p:sp>
        <p:nvSpPr>
          <p:cNvPr id="22" name="Rectangle 22"/>
          <p:cNvSpPr/>
          <p:nvPr/>
        </p:nvSpPr>
        <p:spPr>
          <a:xfrm>
            <a:off x="7048500" y="2667000"/>
            <a:ext cx="4572000" cy="609600"/>
          </a:xfrm>
          <a:prstGeom prst="roundRect">
            <a:avLst>
              <a:gd name="adj" fmla="val 25000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23" name="Rectangle 23"/>
          <p:cNvSpPr/>
          <p:nvPr/>
        </p:nvSpPr>
        <p:spPr>
          <a:xfrm>
            <a:off x="7048500" y="3048000"/>
            <a:ext cx="4572000" cy="228600"/>
          </a:xfrm>
          <a:prstGeom prst="rect">
            <a:avLst/>
          </a:prstGeom>
          <a:solidFill>
            <a:srgbClr val="1E1E1E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8536210" y="2891314"/>
            <a:ext cx="159658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课后怎么找到我们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415212" y="3498056"/>
            <a:ext cx="69278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🏆 课程群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7415212" y="3726656"/>
            <a:ext cx="267390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1E1E"/>
                </a:solidFill>
                <a:latin typeface="Arial"/>
                <a:ea typeface="Microsoft YaHei"/>
                <a:cs typeface="Arial"/>
              </a:rPr>
              <a:t>微信群·置顶有资料包+助教联系方式</a:t>
            </a:r>
          </a:p>
        </p:txBody>
      </p:sp>
      <p:sp>
        <p:nvSpPr>
          <p:cNvPr id="27" name="Line 27"/>
          <p:cNvSpPr/>
          <p:nvPr/>
        </p:nvSpPr>
        <p:spPr>
          <a:xfrm>
            <a:off x="7429500" y="3981450"/>
            <a:ext cx="3810000" cy="9525"/>
          </a:xfrm>
          <a:custGeom>
            <a:avLst/>
            <a:gdLst/>
            <a:ahLst/>
            <a:cxnLst/>
            <a:rect l="l" t="t" r="r" b="b"/>
            <a:pathLst>
              <a:path w="3810000" h="9525">
                <a:moveTo>
                  <a:pt x="0" y="0"/>
                </a:moveTo>
                <a:lnTo>
                  <a:pt x="3810000" y="0"/>
                </a:lnTo>
              </a:path>
            </a:pathLst>
          </a:custGeom>
          <a:noFill/>
          <a:ln w="9525">
            <a:solidFill>
              <a:srgbClr val="F0EDE8"/>
            </a:solidFill>
          </a:ln>
        </p:spPr>
      </p:sp>
      <p:sp>
        <p:nvSpPr>
          <p:cNvPr id="28" name="TextBox 28"/>
          <p:cNvSpPr txBox="1"/>
          <p:nvPr/>
        </p:nvSpPr>
        <p:spPr>
          <a:xfrm>
            <a:off x="7415212" y="4145756"/>
            <a:ext cx="86530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🌐 课程门户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415212" y="4374356"/>
            <a:ext cx="298732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3D7DE4"/>
                </a:solidFill>
                <a:latin typeface="Arial"/>
                <a:ea typeface="Microsoft YaHei"/>
                <a:cs typeface="Arial"/>
              </a:rPr>
              <a:t>austinxyz.github.io/course-portal</a:t>
            </a:r>
          </a:p>
        </p:txBody>
      </p:sp>
      <p:sp>
        <p:nvSpPr>
          <p:cNvPr id="30" name="Rectangle 30"/>
          <p:cNvSpPr/>
          <p:nvPr/>
        </p:nvSpPr>
        <p:spPr>
          <a:xfrm>
            <a:off x="571500" y="5715000"/>
            <a:ext cx="11049000" cy="628650"/>
          </a:xfrm>
          <a:prstGeom prst="roundRect">
            <a:avLst>
              <a:gd name="adj" fmla="val 18182"/>
            </a:avLst>
          </a:prstGeom>
          <a:solidFill>
            <a:srgbClr val="1E1E1E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4505836" y="5929789"/>
            <a:ext cx="318032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没有蠢问题——问出来才是真的学到了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83934" y="6554152"/>
            <a:ext cx="54040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E9E9E"/>
                </a:solidFill>
                <a:latin typeface="Arial"/>
                <a:ea typeface="Microsoft YaHei"/>
                <a:cs typeface="Arial"/>
              </a:rPr>
              <a:t>26 / 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