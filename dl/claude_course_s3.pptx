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0cf92017c_4_7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g3f0cf92017c_4_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大家好，欢迎来到今天的课程。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今天我们的主题是：从设计到上线——用 Claude Design + Code 做你的知识服务网站。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今天和前两节课不一样。S1 我们做的是求职 Agent，S2 我们做的是知识库。今天我们要做的，是把你的知识变成一个真实的、可以让别人访问的网站——从设计到上线，全程用 Claude 完成。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不需要会写代码，不需要会做设计，今天做完你就有了自己的知识服务网站。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0cf92017c_4_1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g3f0cf92017c_4_1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在开始之前，我先帮大家回顾一下。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左边是 S1——我们学会了用 Claude 建找工作的 Agent 流水线，让 Claude 替你做重复的求职工作。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右边是 S2——我们学会了用 Claude Code 建个人知识库，把你的笔记、文档变成可检索的知识资产。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今天的 S4，是在这两个基础上再加一层：把你的知识「包装」出来，做成别人能看到的网站。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S1 是枪，S2 是子弹，S4 是让别人看见你的舞台。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0cf92017c_4_17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g3f0cf92017c_4_17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今天我们一共做三件事，非常清晰：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第一，学会用 Claude Design 做设计——配色、排版、信息结构，全部用 AI 搞定。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第二，用 Claude Code 把设计变成真实的网页——HTML、CSS、JS，还有 Chatbot 彩蛋。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第三，上线发布——把网站部署到 GitHub Pages，生成真实可访问的 URL。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这三件事我会先讲原理，然后现场演示，然后你们跟着做。大概 40 分钟演示，25 分钟跟我做时间。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0cf92017c_4_2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g3f0cf92017c_4_2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很多人第一次听到 Claude Design 会问：这和 Figma 有什么区别？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区别很大。Figma 是工具，你还是要懂设计才能用好。Claude Design 是 AI 帮你做设计决策——你只需要告诉它你的目标，它来生成配色方案、排版建议、页面结构。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具体能做什么？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• 视觉风格生成：给你 3-5 套配色方案可以选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• 配色和排版：字体大小、行间距、主色调，全部建议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• 页面结构规划：告诉你信息放在哪里、顺序是什么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• Design Brief 生成：帮你写给 Claude Code 看的设计说明书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• 多版本迭代对比：不满意可以继续改，直到你满意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今天的演示会全部用到这些能力。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0cf92017c_4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f0cf92017c_4_3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0cf92017c_4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f0cf92017c_4_3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f0cf92017c_4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g3f0cf92017c_4_4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f0cf92017c_4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g3f0cf92017c_4_5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f0cf92017c_4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g3f0cf92017c_4_5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f0cf92017c_4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g3f0cf92017c_4_6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f0cf92017c_4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g3f0cf92017c_4_6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f0cf92017c_4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g3f0cf92017c_4_7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f0cf92017c_4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g3f0cf92017c_4_8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f0cf92017c_4_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g3f0cf92017c_4_9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f0cf92017c_4_1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g3f0cf92017c_4_10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3f0cf92017c_4_1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g3f0cf92017c_4_11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3f0cf92017c_4_1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g3f0cf92017c_4_11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3f0cf92017c_4_1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g3f0cf92017c_4_12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3f0cf92017c_4_1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g3f0cf92017c_4_13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3f0cf92017c_4_1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g3f0cf92017c_4_13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3f0cf92017c_4_1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g3f0cf92017c_4_14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g3f0cf92017c_4_1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g3f0cf92017c_4_15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g3f0cf92017c_4_1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g3f0cf92017c_4_15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g3f0cf92017c_4_1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g3f0cf92017c_4_16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5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5"/>
          <p:cNvSpPr/>
          <p:nvPr/>
        </p:nvSpPr>
        <p:spPr>
          <a:xfrm>
            <a:off x="6429375" y="0"/>
            <a:ext cx="2714625" cy="1428750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5"/>
          <p:cNvSpPr/>
          <p:nvPr/>
        </p:nvSpPr>
        <p:spPr>
          <a:xfrm>
            <a:off x="6429375" y="0"/>
            <a:ext cx="2714625" cy="28575"/>
          </a:xfrm>
          <a:prstGeom prst="rect">
            <a:avLst/>
          </a:prstGeom>
          <a:solidFill>
            <a:srgbClr val="C96133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5"/>
          <p:cNvSpPr/>
          <p:nvPr/>
        </p:nvSpPr>
        <p:spPr>
          <a:xfrm>
            <a:off x="6286500" y="-1000125"/>
            <a:ext cx="3143250" cy="3143250"/>
          </a:xfrm>
          <a:prstGeom prst="ellipse">
            <a:avLst/>
          </a:prstGeom>
          <a:solidFill>
            <a:srgbClr val="E8DDD5">
              <a:alpha val="3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/>
          <p:nvPr/>
        </p:nvSpPr>
        <p:spPr>
          <a:xfrm>
            <a:off x="6858000" y="-428625"/>
            <a:ext cx="2000250" cy="2000250"/>
          </a:xfrm>
          <a:prstGeom prst="ellipse">
            <a:avLst/>
          </a:prstGeom>
          <a:solidFill>
            <a:srgbClr val="E0D5CC">
              <a:alpha val="3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5"/>
          <p:cNvSpPr/>
          <p:nvPr/>
        </p:nvSpPr>
        <p:spPr>
          <a:xfrm>
            <a:off x="-571500" y="3714750"/>
            <a:ext cx="2286000" cy="2286000"/>
          </a:xfrm>
          <a:prstGeom prst="ellipse">
            <a:avLst/>
          </a:prstGeom>
          <a:solidFill>
            <a:srgbClr val="F0EDE8">
              <a:alpha val="6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5"/>
          <p:cNvSpPr/>
          <p:nvPr/>
        </p:nvSpPr>
        <p:spPr>
          <a:xfrm>
            <a:off x="-71437" y="4214813"/>
            <a:ext cx="1285875" cy="1285875"/>
          </a:xfrm>
          <a:prstGeom prst="ellipse">
            <a:avLst/>
          </a:prstGeom>
          <a:solidFill>
            <a:srgbClr val="E8DDD5">
              <a:alpha val="4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5"/>
          <p:cNvSpPr/>
          <p:nvPr/>
        </p:nvSpPr>
        <p:spPr>
          <a:xfrm>
            <a:off x="571500" y="3786188"/>
            <a:ext cx="4857750" cy="7144"/>
          </a:xfrm>
          <a:custGeom>
            <a:rect b="b" l="l" r="r" t="t"/>
            <a:pathLst>
              <a:path extrusionOk="0" h="9525" w="6477000">
                <a:moveTo>
                  <a:pt x="0" y="0"/>
                </a:moveTo>
                <a:lnTo>
                  <a:pt x="6477000" y="0"/>
                </a:lnTo>
              </a:path>
            </a:pathLst>
          </a:custGeom>
          <a:noFill/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38" name="Google Shape;138;p25"/>
          <p:cNvGrpSpPr/>
          <p:nvPr/>
        </p:nvGrpSpPr>
        <p:grpSpPr>
          <a:xfrm>
            <a:off x="534352" y="1178719"/>
            <a:ext cx="5030840" cy="3268265"/>
            <a:chOff x="712470" y="1571625"/>
            <a:chExt cx="6707786" cy="4357687"/>
          </a:xfrm>
        </p:grpSpPr>
        <p:sp>
          <p:nvSpPr>
            <p:cNvPr id="139" name="Google Shape;139;p25"/>
            <p:cNvSpPr/>
            <p:nvPr/>
          </p:nvSpPr>
          <p:spPr>
            <a:xfrm>
              <a:off x="762000" y="1571625"/>
              <a:ext cx="1714500" cy="304800"/>
            </a:xfrm>
            <a:prstGeom prst="roundRect">
              <a:avLst>
                <a:gd fmla="val 12500" name="adj"/>
              </a:avLst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5"/>
            <p:cNvSpPr txBox="1"/>
            <p:nvPr/>
          </p:nvSpPr>
          <p:spPr>
            <a:xfrm>
              <a:off x="1247645" y="1658302"/>
              <a:ext cx="7432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Session 4</a:t>
              </a:r>
              <a:endParaRPr sz="1100"/>
            </a:p>
          </p:txBody>
        </p:sp>
        <p:sp>
          <p:nvSpPr>
            <p:cNvPr id="141" name="Google Shape;141;p25"/>
            <p:cNvSpPr txBox="1"/>
            <p:nvPr/>
          </p:nvSpPr>
          <p:spPr>
            <a:xfrm>
              <a:off x="712470" y="2198370"/>
              <a:ext cx="3687508" cy="792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9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从设计到上线</a:t>
              </a:r>
              <a:endParaRPr sz="1100"/>
            </a:p>
          </p:txBody>
        </p:sp>
        <p:sp>
          <p:nvSpPr>
            <p:cNvPr id="142" name="Google Shape;142;p25"/>
            <p:cNvSpPr txBox="1"/>
            <p:nvPr/>
          </p:nvSpPr>
          <p:spPr>
            <a:xfrm>
              <a:off x="712470" y="2865120"/>
              <a:ext cx="6707786" cy="792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9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用 Claude Design + Code</a:t>
              </a:r>
              <a:endParaRPr sz="1100"/>
            </a:p>
          </p:txBody>
        </p:sp>
        <p:sp>
          <p:nvSpPr>
            <p:cNvPr id="143" name="Google Shape;143;p25"/>
            <p:cNvSpPr txBox="1"/>
            <p:nvPr/>
          </p:nvSpPr>
          <p:spPr>
            <a:xfrm>
              <a:off x="712470" y="3531870"/>
              <a:ext cx="5481733" cy="792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9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做你的知识服务网站</a:t>
              </a:r>
              <a:endParaRPr sz="1100"/>
            </a:p>
          </p:txBody>
        </p:sp>
        <p:sp>
          <p:nvSpPr>
            <p:cNvPr id="144" name="Google Shape;144;p25"/>
            <p:cNvSpPr txBox="1"/>
            <p:nvPr/>
          </p:nvSpPr>
          <p:spPr>
            <a:xfrm>
              <a:off x="741045" y="4393882"/>
              <a:ext cx="4813364" cy="335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北美华人 Claude AI 课程 · 理论 + Demo 实战</a:t>
              </a:r>
              <a:endParaRPr sz="1100"/>
            </a:p>
          </p:txBody>
        </p:sp>
        <p:grpSp>
          <p:nvGrpSpPr>
            <p:cNvPr id="145" name="Google Shape;145;p25"/>
            <p:cNvGrpSpPr/>
            <p:nvPr/>
          </p:nvGrpSpPr>
          <p:grpSpPr>
            <a:xfrm>
              <a:off x="783171" y="5367871"/>
              <a:ext cx="249758" cy="237058"/>
              <a:chOff x="783171" y="5367871"/>
              <a:chExt cx="249758" cy="237058"/>
            </a:xfrm>
          </p:grpSpPr>
          <p:sp>
            <p:nvSpPr>
              <p:cNvPr id="146" name="Google Shape;146;p25"/>
              <p:cNvSpPr/>
              <p:nvPr/>
            </p:nvSpPr>
            <p:spPr>
              <a:xfrm>
                <a:off x="952500" y="5520271"/>
                <a:ext cx="80429" cy="84658"/>
              </a:xfrm>
              <a:custGeom>
                <a:rect b="b" l="l" r="r" t="t"/>
                <a:pathLst>
                  <a:path extrusionOk="0" h="84658" w="80429">
                    <a:moveTo>
                      <a:pt x="12700" y="55029"/>
                    </a:moveTo>
                    <a:cubicBezTo>
                      <a:pt x="5686" y="55029"/>
                      <a:pt x="0" y="49343"/>
                      <a:pt x="0" y="42329"/>
                    </a:cubicBezTo>
                    <a:cubicBezTo>
                      <a:pt x="0" y="35315"/>
                      <a:pt x="5686" y="29629"/>
                      <a:pt x="12700" y="29629"/>
                    </a:cubicBezTo>
                    <a:cubicBezTo>
                      <a:pt x="19714" y="29629"/>
                      <a:pt x="25400" y="23943"/>
                      <a:pt x="25400" y="16929"/>
                    </a:cubicBezTo>
                    <a:cubicBezTo>
                      <a:pt x="25400" y="0"/>
                      <a:pt x="50800" y="0"/>
                      <a:pt x="50800" y="16929"/>
                    </a:cubicBezTo>
                    <a:cubicBezTo>
                      <a:pt x="50800" y="23943"/>
                      <a:pt x="56486" y="29629"/>
                      <a:pt x="63500" y="29629"/>
                    </a:cubicBezTo>
                    <a:cubicBezTo>
                      <a:pt x="80429" y="29629"/>
                      <a:pt x="80429" y="55029"/>
                      <a:pt x="63500" y="55029"/>
                    </a:cubicBezTo>
                    <a:cubicBezTo>
                      <a:pt x="56486" y="55029"/>
                      <a:pt x="50800" y="60715"/>
                      <a:pt x="50800" y="67729"/>
                    </a:cubicBezTo>
                    <a:cubicBezTo>
                      <a:pt x="50800" y="84658"/>
                      <a:pt x="25400" y="84658"/>
                      <a:pt x="25400" y="67729"/>
                    </a:cubicBezTo>
                    <a:cubicBezTo>
                      <a:pt x="25400" y="60715"/>
                      <a:pt x="19714" y="55029"/>
                      <a:pt x="12700" y="55029"/>
                    </a:cubicBezTo>
                  </a:path>
                </a:pathLst>
              </a:cu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25"/>
              <p:cNvSpPr/>
              <p:nvPr/>
            </p:nvSpPr>
            <p:spPr>
              <a:xfrm>
                <a:off x="783171" y="5393271"/>
                <a:ext cx="186258" cy="182029"/>
              </a:xfrm>
              <a:custGeom>
                <a:rect b="b" l="l" r="r" t="t"/>
                <a:pathLst>
                  <a:path extrusionOk="0" h="182029" w="186258">
                    <a:moveTo>
                      <a:pt x="16929" y="80429"/>
                    </a:moveTo>
                    <a:cubicBezTo>
                      <a:pt x="51999" y="80429"/>
                      <a:pt x="80429" y="51999"/>
                      <a:pt x="80429" y="16929"/>
                    </a:cubicBezTo>
                    <a:cubicBezTo>
                      <a:pt x="80429" y="0"/>
                      <a:pt x="105829" y="0"/>
                      <a:pt x="105829" y="16929"/>
                    </a:cubicBezTo>
                    <a:cubicBezTo>
                      <a:pt x="105829" y="51999"/>
                      <a:pt x="134259" y="80429"/>
                      <a:pt x="169329" y="80429"/>
                    </a:cubicBezTo>
                    <a:cubicBezTo>
                      <a:pt x="186258" y="80429"/>
                      <a:pt x="186258" y="105829"/>
                      <a:pt x="169329" y="105829"/>
                    </a:cubicBezTo>
                    <a:cubicBezTo>
                      <a:pt x="134259" y="105829"/>
                      <a:pt x="105829" y="134259"/>
                      <a:pt x="105829" y="169329"/>
                    </a:cubicBezTo>
                    <a:cubicBezTo>
                      <a:pt x="105829" y="176343"/>
                      <a:pt x="100143" y="182029"/>
                      <a:pt x="93129" y="182029"/>
                    </a:cubicBezTo>
                    <a:cubicBezTo>
                      <a:pt x="86115" y="182029"/>
                      <a:pt x="80429" y="176343"/>
                      <a:pt x="80429" y="169329"/>
                    </a:cubicBezTo>
                    <a:cubicBezTo>
                      <a:pt x="80429" y="134259"/>
                      <a:pt x="51999" y="105829"/>
                      <a:pt x="16929" y="105829"/>
                    </a:cubicBezTo>
                    <a:cubicBezTo>
                      <a:pt x="0" y="105829"/>
                      <a:pt x="0" y="80429"/>
                      <a:pt x="16929" y="80429"/>
                    </a:cubicBezTo>
                  </a:path>
                </a:pathLst>
              </a:cu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25"/>
              <p:cNvSpPr/>
              <p:nvPr/>
            </p:nvSpPr>
            <p:spPr>
              <a:xfrm>
                <a:off x="952500" y="5367871"/>
                <a:ext cx="80429" cy="84658"/>
              </a:xfrm>
              <a:custGeom>
                <a:rect b="b" l="l" r="r" t="t"/>
                <a:pathLst>
                  <a:path extrusionOk="0" h="84658" w="80429">
                    <a:moveTo>
                      <a:pt x="12700" y="55029"/>
                    </a:moveTo>
                    <a:cubicBezTo>
                      <a:pt x="5686" y="55029"/>
                      <a:pt x="0" y="49343"/>
                      <a:pt x="0" y="42329"/>
                    </a:cubicBezTo>
                    <a:cubicBezTo>
                      <a:pt x="0" y="35315"/>
                      <a:pt x="5686" y="29629"/>
                      <a:pt x="12700" y="29629"/>
                    </a:cubicBezTo>
                    <a:cubicBezTo>
                      <a:pt x="19714" y="29629"/>
                      <a:pt x="25400" y="23943"/>
                      <a:pt x="25400" y="16929"/>
                    </a:cubicBezTo>
                    <a:cubicBezTo>
                      <a:pt x="25400" y="0"/>
                      <a:pt x="50800" y="0"/>
                      <a:pt x="50800" y="16929"/>
                    </a:cubicBezTo>
                    <a:cubicBezTo>
                      <a:pt x="50800" y="23943"/>
                      <a:pt x="56486" y="29629"/>
                      <a:pt x="63500" y="29629"/>
                    </a:cubicBezTo>
                    <a:cubicBezTo>
                      <a:pt x="80429" y="29629"/>
                      <a:pt x="80429" y="55029"/>
                      <a:pt x="63500" y="55029"/>
                    </a:cubicBezTo>
                    <a:cubicBezTo>
                      <a:pt x="56486" y="55029"/>
                      <a:pt x="50800" y="60715"/>
                      <a:pt x="50800" y="67729"/>
                    </a:cubicBezTo>
                    <a:cubicBezTo>
                      <a:pt x="50800" y="84658"/>
                      <a:pt x="25400" y="84658"/>
                      <a:pt x="25400" y="67729"/>
                    </a:cubicBezTo>
                    <a:cubicBezTo>
                      <a:pt x="25400" y="60715"/>
                      <a:pt x="19714" y="55029"/>
                      <a:pt x="12700" y="55029"/>
                    </a:cubicBezTo>
                  </a:path>
                </a:pathLst>
              </a:cu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9" name="Google Shape;149;p25"/>
            <p:cNvSpPr txBox="1"/>
            <p:nvPr/>
          </p:nvSpPr>
          <p:spPr>
            <a:xfrm>
              <a:off x="1146810" y="5414010"/>
              <a:ext cx="26330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Austin Xu · 硅谷 500 强工程经理</a:t>
              </a:r>
              <a:endParaRPr sz="1100"/>
            </a:p>
          </p:txBody>
        </p:sp>
        <p:sp>
          <p:nvSpPr>
            <p:cNvPr id="150" name="Google Shape;150;p25"/>
            <p:cNvSpPr txBox="1"/>
            <p:nvPr/>
          </p:nvSpPr>
          <p:spPr>
            <a:xfrm>
              <a:off x="748665" y="57159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2026 · 付费正课</a:t>
              </a:r>
              <a:endParaRPr sz="1100"/>
            </a:p>
          </p:txBody>
        </p:sp>
      </p:grpSp>
      <p:grpSp>
        <p:nvGrpSpPr>
          <p:cNvPr id="151" name="Google Shape;151;p25"/>
          <p:cNvGrpSpPr/>
          <p:nvPr/>
        </p:nvGrpSpPr>
        <p:grpSpPr>
          <a:xfrm>
            <a:off x="6715125" y="2000250"/>
            <a:ext cx="1928813" cy="1628775"/>
            <a:chOff x="8953500" y="2667000"/>
            <a:chExt cx="2571750" cy="2171700"/>
          </a:xfrm>
        </p:grpSpPr>
        <p:sp>
          <p:nvSpPr>
            <p:cNvPr id="152" name="Google Shape;152;p25"/>
            <p:cNvSpPr/>
            <p:nvPr/>
          </p:nvSpPr>
          <p:spPr>
            <a:xfrm>
              <a:off x="9334500" y="2667000"/>
              <a:ext cx="2095500" cy="533400"/>
            </a:xfrm>
            <a:prstGeom prst="roundRect">
              <a:avLst>
                <a:gd fmla="val 50000" name="adj"/>
              </a:avLst>
            </a:prstGeom>
            <a:solidFill>
              <a:srgbClr val="C96133">
                <a:alpha val="1215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5"/>
            <p:cNvSpPr txBox="1"/>
            <p:nvPr/>
          </p:nvSpPr>
          <p:spPr>
            <a:xfrm>
              <a:off x="9627108" y="2828925"/>
              <a:ext cx="1510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Claude Design</a:t>
              </a:r>
              <a:endParaRPr sz="1100"/>
            </a:p>
          </p:txBody>
        </p:sp>
        <p:sp>
          <p:nvSpPr>
            <p:cNvPr id="154" name="Google Shape;154;p25"/>
            <p:cNvSpPr/>
            <p:nvPr/>
          </p:nvSpPr>
          <p:spPr>
            <a:xfrm>
              <a:off x="8953500" y="3390900"/>
              <a:ext cx="2476500" cy="533400"/>
            </a:xfrm>
            <a:prstGeom prst="roundRect">
              <a:avLst>
                <a:gd fmla="val 50000" name="adj"/>
              </a:avLst>
            </a:prstGeom>
            <a:solidFill>
              <a:srgbClr val="3D7DE4">
                <a:alpha val="1215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5"/>
            <p:cNvSpPr txBox="1"/>
            <p:nvPr/>
          </p:nvSpPr>
          <p:spPr>
            <a:xfrm>
              <a:off x="9534370" y="3552825"/>
              <a:ext cx="13147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 u="none" cap="none" strike="noStrike">
                  <a:solidFill>
                    <a:srgbClr val="3D7DE4"/>
                  </a:solidFill>
                  <a:latin typeface="Arial"/>
                  <a:ea typeface="Arial"/>
                  <a:cs typeface="Arial"/>
                  <a:sym typeface="Arial"/>
                </a:rPr>
                <a:t>Claude Code</a:t>
              </a:r>
              <a:endParaRPr sz="1100"/>
            </a:p>
          </p:txBody>
        </p:sp>
        <p:grpSp>
          <p:nvGrpSpPr>
            <p:cNvPr id="156" name="Google Shape;156;p25"/>
            <p:cNvGrpSpPr/>
            <p:nvPr/>
          </p:nvGrpSpPr>
          <p:grpSpPr>
            <a:xfrm>
              <a:off x="11137253" y="3731096"/>
              <a:ext cx="296890" cy="403291"/>
              <a:chOff x="11137253" y="3731096"/>
              <a:chExt cx="296890" cy="403291"/>
            </a:xfrm>
          </p:grpSpPr>
          <p:sp>
            <p:nvSpPr>
              <p:cNvPr id="157" name="Google Shape;157;p25"/>
              <p:cNvSpPr/>
              <p:nvPr/>
            </p:nvSpPr>
            <p:spPr>
              <a:xfrm>
                <a:off x="11163300" y="3790947"/>
                <a:ext cx="191251" cy="191971"/>
              </a:xfrm>
              <a:custGeom>
                <a:rect b="b" l="l" r="r" t="t"/>
                <a:pathLst>
                  <a:path extrusionOk="0" h="191971" w="191251">
                    <a:moveTo>
                      <a:pt x="95250" y="3"/>
                    </a:moveTo>
                    <a:cubicBezTo>
                      <a:pt x="147318" y="0"/>
                      <a:pt x="189740" y="41808"/>
                      <a:pt x="190495" y="93871"/>
                    </a:cubicBezTo>
                    <a:cubicBezTo>
                      <a:pt x="191251" y="145934"/>
                      <a:pt x="150060" y="188955"/>
                      <a:pt x="98014" y="190463"/>
                    </a:cubicBezTo>
                    <a:cubicBezTo>
                      <a:pt x="45967" y="191971"/>
                      <a:pt x="2355" y="151406"/>
                      <a:pt x="95" y="99387"/>
                    </a:cubicBezTo>
                    <a:lnTo>
                      <a:pt x="0" y="95253"/>
                    </a:lnTo>
                    <a:lnTo>
                      <a:pt x="95" y="91119"/>
                    </a:lnTo>
                    <a:cubicBezTo>
                      <a:pt x="2308" y="40172"/>
                      <a:pt x="44255" y="6"/>
                      <a:pt x="95250" y="3"/>
                    </a:cubicBezTo>
                    <a:close/>
                  </a:path>
                </a:pathLst>
              </a:cu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25"/>
              <p:cNvSpPr/>
              <p:nvPr/>
            </p:nvSpPr>
            <p:spPr>
              <a:xfrm>
                <a:off x="11137253" y="3731096"/>
                <a:ext cx="296890" cy="337775"/>
              </a:xfrm>
              <a:custGeom>
                <a:rect b="b" l="l" r="r" t="t"/>
                <a:pathLst>
                  <a:path extrusionOk="0" h="337775" w="296890">
                    <a:moveTo>
                      <a:pt x="180981" y="12267"/>
                    </a:moveTo>
                    <a:cubicBezTo>
                      <a:pt x="186221" y="3147"/>
                      <a:pt x="197862" y="0"/>
                      <a:pt x="206984" y="5238"/>
                    </a:cubicBezTo>
                    <a:cubicBezTo>
                      <a:pt x="263626" y="37793"/>
                      <a:pt x="296890" y="99667"/>
                      <a:pt x="292806" y="164870"/>
                    </a:cubicBezTo>
                    <a:cubicBezTo>
                      <a:pt x="288721" y="230073"/>
                      <a:pt x="247994" y="287312"/>
                      <a:pt x="187732" y="312543"/>
                    </a:cubicBezTo>
                    <a:cubicBezTo>
                      <a:pt x="127470" y="337775"/>
                      <a:pt x="58110" y="326629"/>
                      <a:pt x="8788" y="283787"/>
                    </a:cubicBezTo>
                    <a:cubicBezTo>
                      <a:pt x="844" y="276885"/>
                      <a:pt x="0" y="264851"/>
                      <a:pt x="6902" y="256907"/>
                    </a:cubicBezTo>
                    <a:cubicBezTo>
                      <a:pt x="13804" y="248964"/>
                      <a:pt x="25838" y="248120"/>
                      <a:pt x="33781" y="255021"/>
                    </a:cubicBezTo>
                    <a:cubicBezTo>
                      <a:pt x="72162" y="288358"/>
                      <a:pt x="126132" y="297031"/>
                      <a:pt x="173025" y="277397"/>
                    </a:cubicBezTo>
                    <a:cubicBezTo>
                      <a:pt x="219917" y="257764"/>
                      <a:pt x="251608" y="213225"/>
                      <a:pt x="254788" y="162488"/>
                    </a:cubicBezTo>
                    <a:cubicBezTo>
                      <a:pt x="257968" y="111751"/>
                      <a:pt x="232084" y="63604"/>
                      <a:pt x="188010" y="38270"/>
                    </a:cubicBezTo>
                    <a:cubicBezTo>
                      <a:pt x="178890" y="33030"/>
                      <a:pt x="175743" y="21389"/>
                      <a:pt x="180981" y="12267"/>
                    </a:cubicBezTo>
                    <a:close/>
                  </a:path>
                </a:pathLst>
              </a:cu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25"/>
              <p:cNvSpPr/>
              <p:nvPr/>
            </p:nvSpPr>
            <p:spPr>
              <a:xfrm>
                <a:off x="11239500" y="4019550"/>
                <a:ext cx="38100" cy="114837"/>
              </a:xfrm>
              <a:custGeom>
                <a:rect b="b" l="l" r="r" t="t"/>
                <a:pathLst>
                  <a:path extrusionOk="0" h="114837" w="38100">
                    <a:moveTo>
                      <a:pt x="19050" y="0"/>
                    </a:moveTo>
                    <a:cubicBezTo>
                      <a:pt x="28708" y="1"/>
                      <a:pt x="36837" y="7230"/>
                      <a:pt x="37967" y="16821"/>
                    </a:cubicBezTo>
                    <a:lnTo>
                      <a:pt x="38100" y="19050"/>
                    </a:lnTo>
                    <a:lnTo>
                      <a:pt x="38100" y="95250"/>
                    </a:lnTo>
                    <a:cubicBezTo>
                      <a:pt x="38089" y="105329"/>
                      <a:pt x="30228" y="113655"/>
                      <a:pt x="20166" y="114246"/>
                    </a:cubicBezTo>
                    <a:cubicBezTo>
                      <a:pt x="10105" y="114837"/>
                      <a:pt x="1324" y="107488"/>
                      <a:pt x="133" y="97479"/>
                    </a:cubicBezTo>
                    <a:lnTo>
                      <a:pt x="0" y="95250"/>
                    </a:ln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25"/>
              <p:cNvSpPr/>
              <p:nvPr/>
            </p:nvSpPr>
            <p:spPr>
              <a:xfrm>
                <a:off x="11162763" y="4095750"/>
                <a:ext cx="191574" cy="38100"/>
              </a:xfrm>
              <a:custGeom>
                <a:rect b="b" l="l" r="r" t="t"/>
                <a:pathLst>
                  <a:path extrusionOk="0" h="38100" w="191574">
                    <a:moveTo>
                      <a:pt x="171987" y="0"/>
                    </a:moveTo>
                    <a:cubicBezTo>
                      <a:pt x="182066" y="11"/>
                      <a:pt x="190392" y="7872"/>
                      <a:pt x="190983" y="17934"/>
                    </a:cubicBezTo>
                    <a:cubicBezTo>
                      <a:pt x="191574" y="27995"/>
                      <a:pt x="184224" y="36776"/>
                      <a:pt x="174216" y="37967"/>
                    </a:cubicBezTo>
                    <a:lnTo>
                      <a:pt x="171987" y="38100"/>
                    </a:lnTo>
                    <a:lnTo>
                      <a:pt x="19587" y="38100"/>
                    </a:lnTo>
                    <a:cubicBezTo>
                      <a:pt x="9508" y="38089"/>
                      <a:pt x="1181" y="30228"/>
                      <a:pt x="591" y="20166"/>
                    </a:cubicBezTo>
                    <a:cubicBezTo>
                      <a:pt x="0" y="10105"/>
                      <a:pt x="7349" y="1324"/>
                      <a:pt x="17358" y="133"/>
                    </a:cubicBezTo>
                    <a:lnTo>
                      <a:pt x="19587" y="0"/>
                    </a:lnTo>
                    <a:lnTo>
                      <a:pt x="171987" y="0"/>
                    </a:lnTo>
                    <a:close/>
                  </a:path>
                </a:pathLst>
              </a:cu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1" name="Google Shape;161;p25"/>
            <p:cNvSpPr txBox="1"/>
            <p:nvPr/>
          </p:nvSpPr>
          <p:spPr>
            <a:xfrm>
              <a:off x="10295025" y="401288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sz="1100"/>
            </a:p>
          </p:txBody>
        </p:sp>
        <p:sp>
          <p:nvSpPr>
            <p:cNvPr id="162" name="Google Shape;162;p25"/>
            <p:cNvSpPr/>
            <p:nvPr/>
          </p:nvSpPr>
          <p:spPr>
            <a:xfrm>
              <a:off x="9239250" y="4305300"/>
              <a:ext cx="2286000" cy="533400"/>
            </a:xfrm>
            <a:prstGeom prst="roundRect">
              <a:avLst>
                <a:gd fmla="val 50000" name="adj"/>
              </a:avLst>
            </a:prstGeom>
            <a:solidFill>
              <a:srgbClr val="3A9E6A">
                <a:alpha val="1215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5"/>
            <p:cNvSpPr txBox="1"/>
            <p:nvPr/>
          </p:nvSpPr>
          <p:spPr>
            <a:xfrm>
              <a:off x="9443085" y="4467225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 u="none" cap="none" strike="noStrike">
                  <a:solidFill>
                    <a:srgbClr val="3A9E6A"/>
                  </a:solidFill>
                  <a:latin typeface="Arial"/>
                  <a:ea typeface="Arial"/>
                  <a:cs typeface="Arial"/>
                  <a:sym typeface="Arial"/>
                </a:rPr>
                <a:t>知识服务网站上线</a:t>
              </a:r>
              <a:endParaRPr sz="1100"/>
            </a:p>
          </p:txBody>
        </p:sp>
      </p:grpSp>
      <p:sp>
        <p:nvSpPr>
          <p:cNvPr id="164" name="Google Shape;164;p25"/>
          <p:cNvSpPr/>
          <p:nvPr/>
        </p:nvSpPr>
        <p:spPr>
          <a:xfrm>
            <a:off x="0" y="5100638"/>
            <a:ext cx="9144000" cy="42863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 txBox="1"/>
          <p:nvPr/>
        </p:nvSpPr>
        <p:spPr>
          <a:xfrm>
            <a:off x="8348829" y="4915614"/>
            <a:ext cx="376547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01 / 22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6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" name="Google Shape;172;p26"/>
          <p:cNvGrpSpPr/>
          <p:nvPr/>
        </p:nvGrpSpPr>
        <p:grpSpPr>
          <a:xfrm>
            <a:off x="545782" y="338614"/>
            <a:ext cx="8026718" cy="597217"/>
            <a:chOff x="727710" y="451485"/>
            <a:chExt cx="10702290" cy="796290"/>
          </a:xfrm>
        </p:grpSpPr>
        <p:sp>
          <p:nvSpPr>
            <p:cNvPr id="173" name="Google Shape;173;p26"/>
            <p:cNvSpPr txBox="1"/>
            <p:nvPr/>
          </p:nvSpPr>
          <p:spPr>
            <a:xfrm>
              <a:off x="727710" y="451485"/>
              <a:ext cx="2966942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你已经有了武器</a:t>
              </a:r>
              <a:endParaRPr sz="1100"/>
            </a:p>
          </p:txBody>
        </p:sp>
        <p:sp>
          <p:nvSpPr>
            <p:cNvPr id="174" name="Google Shape;174;p26"/>
            <p:cNvSpPr txBox="1"/>
            <p:nvPr/>
          </p:nvSpPr>
          <p:spPr>
            <a:xfrm>
              <a:off x="741045" y="869632"/>
              <a:ext cx="44759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S1 + S2 给了你什么能力？今天带你用上它</a:t>
              </a:r>
              <a:endParaRPr sz="1100"/>
            </a:p>
          </p:txBody>
        </p:sp>
        <p:sp>
          <p:nvSpPr>
            <p:cNvPr id="175" name="Google Shape;175;p26"/>
            <p:cNvSpPr/>
            <p:nvPr/>
          </p:nvSpPr>
          <p:spPr>
            <a:xfrm>
              <a:off x="762000" y="1238250"/>
              <a:ext cx="10668000" cy="9525"/>
            </a:xfrm>
            <a:custGeom>
              <a:rect b="b" l="l" r="r" t="t"/>
              <a:pathLst>
                <a:path extrusionOk="0" h="9525" w="10668000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cap="flat" cmpd="sng" w="1427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176" name="Google Shape;176;p26"/>
          <p:cNvGrpSpPr/>
          <p:nvPr/>
        </p:nvGrpSpPr>
        <p:grpSpPr>
          <a:xfrm>
            <a:off x="571500" y="1143000"/>
            <a:ext cx="3714750" cy="3429000"/>
            <a:chOff x="762000" y="1524000"/>
            <a:chExt cx="4953000" cy="4572000"/>
          </a:xfrm>
        </p:grpSpPr>
        <p:sp>
          <p:nvSpPr>
            <p:cNvPr id="177" name="Google Shape;177;p26"/>
            <p:cNvSpPr/>
            <p:nvPr/>
          </p:nvSpPr>
          <p:spPr>
            <a:xfrm>
              <a:off x="762000" y="1524000"/>
              <a:ext cx="4953000" cy="4572000"/>
            </a:xfrm>
            <a:prstGeom prst="roundRect">
              <a:avLst>
                <a:gd fmla="val 3333" name="adj"/>
              </a:avLst>
            </a:prstGeom>
            <a:solidFill>
              <a:srgbClr val="F0EDE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6"/>
            <p:cNvSpPr/>
            <p:nvPr/>
          </p:nvSpPr>
          <p:spPr>
            <a:xfrm>
              <a:off x="762000" y="1524000"/>
              <a:ext cx="4953000" cy="76200"/>
            </a:xfrm>
            <a:prstGeom prst="roundRect">
              <a:avLst>
                <a:gd fmla="val 50000" name="adj"/>
              </a:avLst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6"/>
            <p:cNvSpPr/>
            <p:nvPr/>
          </p:nvSpPr>
          <p:spPr>
            <a:xfrm>
              <a:off x="762000" y="1562100"/>
              <a:ext cx="4953000" cy="38100"/>
            </a:xfrm>
            <a:prstGeom prst="rect">
              <a:avLst/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6"/>
            <p:cNvSpPr/>
            <p:nvPr/>
          </p:nvSpPr>
          <p:spPr>
            <a:xfrm>
              <a:off x="1066800" y="1857375"/>
              <a:ext cx="533400" cy="533400"/>
            </a:xfrm>
            <a:prstGeom prst="roundRect">
              <a:avLst>
                <a:gd fmla="val 21429" name="adj"/>
              </a:avLst>
            </a:prstGeom>
            <a:solidFill>
              <a:srgbClr val="C96133">
                <a:alpha val="14901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1" name="Google Shape;181;p26"/>
            <p:cNvGrpSpPr/>
            <p:nvPr/>
          </p:nvGrpSpPr>
          <p:grpSpPr>
            <a:xfrm>
              <a:off x="1190624" y="1965325"/>
              <a:ext cx="285751" cy="317500"/>
              <a:chOff x="1190624" y="1965325"/>
              <a:chExt cx="285751" cy="317500"/>
            </a:xfrm>
          </p:grpSpPr>
          <p:sp>
            <p:nvSpPr>
              <p:cNvPr id="182" name="Google Shape;182;p26"/>
              <p:cNvSpPr/>
              <p:nvPr/>
            </p:nvSpPr>
            <p:spPr>
              <a:xfrm>
                <a:off x="1190625" y="2183305"/>
                <a:ext cx="285750" cy="99520"/>
              </a:xfrm>
              <a:custGeom>
                <a:rect b="b" l="l" r="r" t="t"/>
                <a:pathLst>
                  <a:path extrusionOk="0" h="99520" w="285750">
                    <a:moveTo>
                      <a:pt x="0" y="0"/>
                    </a:moveTo>
                    <a:cubicBezTo>
                      <a:pt x="31242" y="23924"/>
                      <a:pt x="83090" y="36020"/>
                      <a:pt x="142875" y="36020"/>
                    </a:cubicBezTo>
                    <a:cubicBezTo>
                      <a:pt x="202565" y="36020"/>
                      <a:pt x="254397" y="23955"/>
                      <a:pt x="285750" y="270"/>
                    </a:cubicBezTo>
                    <a:lnTo>
                      <a:pt x="285750" y="36020"/>
                    </a:lnTo>
                    <a:cubicBezTo>
                      <a:pt x="285750" y="74517"/>
                      <a:pt x="223917" y="98504"/>
                      <a:pt x="147749" y="99489"/>
                    </a:cubicBezTo>
                    <a:lnTo>
                      <a:pt x="142875" y="99520"/>
                    </a:lnTo>
                    <a:cubicBezTo>
                      <a:pt x="64484" y="99520"/>
                      <a:pt x="0" y="75343"/>
                      <a:pt x="0" y="36020"/>
                    </a:cubicBezTo>
                    <a:close/>
                  </a:path>
                </a:pathLst>
              </a:cu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26"/>
              <p:cNvSpPr/>
              <p:nvPr/>
            </p:nvSpPr>
            <p:spPr>
              <a:xfrm>
                <a:off x="1190625" y="2088055"/>
                <a:ext cx="285750" cy="99520"/>
              </a:xfrm>
              <a:custGeom>
                <a:rect b="b" l="l" r="r" t="t"/>
                <a:pathLst>
                  <a:path extrusionOk="0" h="99520" w="285750">
                    <a:moveTo>
                      <a:pt x="0" y="0"/>
                    </a:moveTo>
                    <a:cubicBezTo>
                      <a:pt x="31242" y="23924"/>
                      <a:pt x="83090" y="36020"/>
                      <a:pt x="142875" y="36020"/>
                    </a:cubicBezTo>
                    <a:cubicBezTo>
                      <a:pt x="202565" y="36020"/>
                      <a:pt x="254397" y="23955"/>
                      <a:pt x="285750" y="270"/>
                    </a:cubicBezTo>
                    <a:lnTo>
                      <a:pt x="285750" y="36020"/>
                    </a:lnTo>
                    <a:cubicBezTo>
                      <a:pt x="285750" y="75343"/>
                      <a:pt x="221266" y="99520"/>
                      <a:pt x="142875" y="99520"/>
                    </a:cubicBezTo>
                    <a:cubicBezTo>
                      <a:pt x="66707" y="99520"/>
                      <a:pt x="3651" y="76692"/>
                      <a:pt x="333" y="39275"/>
                    </a:cubicBezTo>
                    <a:lnTo>
                      <a:pt x="79" y="37671"/>
                    </a:lnTo>
                    <a:lnTo>
                      <a:pt x="0" y="36020"/>
                    </a:lnTo>
                    <a:close/>
                  </a:path>
                </a:pathLst>
              </a:cu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26"/>
              <p:cNvSpPr/>
              <p:nvPr/>
            </p:nvSpPr>
            <p:spPr>
              <a:xfrm>
                <a:off x="1190624" y="1965325"/>
                <a:ext cx="285751" cy="127000"/>
              </a:xfrm>
              <a:custGeom>
                <a:rect b="b" l="l" r="r" t="t"/>
                <a:pathLst>
                  <a:path extrusionOk="0" h="127000" w="285751">
                    <a:moveTo>
                      <a:pt x="142876" y="0"/>
                    </a:moveTo>
                    <a:cubicBezTo>
                      <a:pt x="159402" y="0"/>
                      <a:pt x="175325" y="1079"/>
                      <a:pt x="190136" y="3143"/>
                    </a:cubicBezTo>
                    <a:lnTo>
                      <a:pt x="197581" y="4270"/>
                    </a:lnTo>
                    <a:cubicBezTo>
                      <a:pt x="206471" y="5752"/>
                      <a:pt x="214864" y="7594"/>
                      <a:pt x="222759" y="9795"/>
                    </a:cubicBezTo>
                    <a:lnTo>
                      <a:pt x="229744" y="11875"/>
                    </a:lnTo>
                    <a:lnTo>
                      <a:pt x="230935" y="12255"/>
                    </a:lnTo>
                    <a:cubicBezTo>
                      <a:pt x="235255" y="13676"/>
                      <a:pt x="239518" y="15265"/>
                      <a:pt x="243714" y="17018"/>
                    </a:cubicBezTo>
                    <a:lnTo>
                      <a:pt x="246873" y="18383"/>
                    </a:lnTo>
                    <a:cubicBezTo>
                      <a:pt x="252535" y="20944"/>
                      <a:pt x="257652" y="23749"/>
                      <a:pt x="262224" y="26797"/>
                    </a:cubicBezTo>
                    <a:cubicBezTo>
                      <a:pt x="263971" y="27961"/>
                      <a:pt x="265627" y="29152"/>
                      <a:pt x="267193" y="30369"/>
                    </a:cubicBezTo>
                    <a:cubicBezTo>
                      <a:pt x="271161" y="33448"/>
                      <a:pt x="274729" y="37010"/>
                      <a:pt x="277814" y="40973"/>
                    </a:cubicBezTo>
                    <a:lnTo>
                      <a:pt x="279258" y="43005"/>
                    </a:lnTo>
                    <a:cubicBezTo>
                      <a:pt x="279999" y="44117"/>
                      <a:pt x="280682" y="45233"/>
                      <a:pt x="281306" y="46355"/>
                    </a:cubicBezTo>
                    <a:lnTo>
                      <a:pt x="282417" y="48562"/>
                    </a:lnTo>
                    <a:cubicBezTo>
                      <a:pt x="284143" y="52266"/>
                      <a:pt x="285201" y="56129"/>
                      <a:pt x="285592" y="60150"/>
                    </a:cubicBezTo>
                    <a:lnTo>
                      <a:pt x="285751" y="63500"/>
                    </a:lnTo>
                    <a:cubicBezTo>
                      <a:pt x="285751" y="102822"/>
                      <a:pt x="221267" y="127000"/>
                      <a:pt x="142876" y="127000"/>
                    </a:cubicBezTo>
                    <a:cubicBezTo>
                      <a:pt x="66708" y="127000"/>
                      <a:pt x="3652" y="104172"/>
                      <a:pt x="335" y="66754"/>
                    </a:cubicBezTo>
                    <a:cubicBezTo>
                      <a:pt x="112" y="65684"/>
                      <a:pt x="0" y="64593"/>
                      <a:pt x="1" y="63500"/>
                    </a:cubicBezTo>
                    <a:lnTo>
                      <a:pt x="81" y="61849"/>
                    </a:lnTo>
                    <a:lnTo>
                      <a:pt x="335" y="60261"/>
                    </a:lnTo>
                    <a:cubicBezTo>
                      <a:pt x="3589" y="23654"/>
                      <a:pt x="63993" y="1000"/>
                      <a:pt x="137923" y="32"/>
                    </a:cubicBezTo>
                    <a:close/>
                  </a:path>
                </a:pathLst>
              </a:cu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5" name="Google Shape;185;p26"/>
            <p:cNvSpPr txBox="1"/>
            <p:nvPr/>
          </p:nvSpPr>
          <p:spPr>
            <a:xfrm>
              <a:off x="1748790" y="1963102"/>
              <a:ext cx="7351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SESSION 1</a:t>
              </a:r>
              <a:endParaRPr sz="1100"/>
            </a:p>
          </p:txBody>
        </p:sp>
        <p:sp>
          <p:nvSpPr>
            <p:cNvPr id="186" name="Google Shape;186;p26"/>
            <p:cNvSpPr txBox="1"/>
            <p:nvPr/>
          </p:nvSpPr>
          <p:spPr>
            <a:xfrm>
              <a:off x="1739265" y="2110740"/>
              <a:ext cx="2626643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找工作 Agent 流水线</a:t>
              </a:r>
              <a:endParaRPr sz="1100"/>
            </a:p>
          </p:txBody>
        </p:sp>
        <p:sp>
          <p:nvSpPr>
            <p:cNvPr id="187" name="Google Shape;187;p26"/>
            <p:cNvSpPr/>
            <p:nvPr/>
          </p:nvSpPr>
          <p:spPr>
            <a:xfrm>
              <a:off x="1066800" y="2619375"/>
              <a:ext cx="4343400" cy="9525"/>
            </a:xfrm>
            <a:custGeom>
              <a:rect b="b" l="l" r="r" t="t"/>
              <a:pathLst>
                <a:path extrusionOk="0" h="9525" w="4343400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cap="flat" cmpd="sng" w="952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188" name="Google Shape;188;p26"/>
            <p:cNvGrpSpPr/>
            <p:nvPr/>
          </p:nvGrpSpPr>
          <p:grpSpPr>
            <a:xfrm>
              <a:off x="1162050" y="2905125"/>
              <a:ext cx="2468404" cy="1847850"/>
              <a:chOff x="1162050" y="2905125"/>
              <a:chExt cx="2468404" cy="1847850"/>
            </a:xfrm>
          </p:grpSpPr>
          <p:sp>
            <p:nvSpPr>
              <p:cNvPr id="189" name="Google Shape;189;p26"/>
              <p:cNvSpPr/>
              <p:nvPr/>
            </p:nvSpPr>
            <p:spPr>
              <a:xfrm>
                <a:off x="1162050" y="2962275"/>
                <a:ext cx="95250" cy="95250"/>
              </a:xfrm>
              <a:prstGeom prst="ellipse">
                <a:avLst/>
              </a:pr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26"/>
              <p:cNvSpPr txBox="1"/>
              <p:nvPr/>
            </p:nvSpPr>
            <p:spPr>
              <a:xfrm>
                <a:off x="1390650" y="2905125"/>
                <a:ext cx="196596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100" u="none" cap="none" strike="noStrike">
                    <a:solidFill>
                      <a:srgbClr val="1E1E1E"/>
                    </a:solidFill>
                    <a:latin typeface="Arial"/>
                    <a:ea typeface="Arial"/>
                    <a:cs typeface="Arial"/>
                    <a:sym typeface="Arial"/>
                  </a:rPr>
                  <a:t>Prompt 提示词框架</a:t>
                </a:r>
                <a:endParaRPr sz="1100"/>
              </a:p>
            </p:txBody>
          </p:sp>
          <p:sp>
            <p:nvSpPr>
              <p:cNvPr id="191" name="Google Shape;191;p26"/>
              <p:cNvSpPr/>
              <p:nvPr/>
            </p:nvSpPr>
            <p:spPr>
              <a:xfrm>
                <a:off x="1162050" y="3476625"/>
                <a:ext cx="95250" cy="95250"/>
              </a:xfrm>
              <a:prstGeom prst="ellipse">
                <a:avLst/>
              </a:pr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26"/>
              <p:cNvSpPr txBox="1"/>
              <p:nvPr/>
            </p:nvSpPr>
            <p:spPr>
              <a:xfrm>
                <a:off x="1390650" y="3419475"/>
                <a:ext cx="17907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100" u="none" cap="none" strike="noStrike">
                    <a:solidFill>
                      <a:srgbClr val="1E1E1E"/>
                    </a:solidFill>
                    <a:latin typeface="Arial"/>
                    <a:ea typeface="Arial"/>
                    <a:cs typeface="Arial"/>
                    <a:sym typeface="Arial"/>
                  </a:rPr>
                  <a:t>多轮对话结构设计</a:t>
                </a:r>
                <a:endParaRPr sz="1100"/>
              </a:p>
            </p:txBody>
          </p:sp>
          <p:sp>
            <p:nvSpPr>
              <p:cNvPr id="193" name="Google Shape;193;p26"/>
              <p:cNvSpPr/>
              <p:nvPr/>
            </p:nvSpPr>
            <p:spPr>
              <a:xfrm>
                <a:off x="1162050" y="3990975"/>
                <a:ext cx="95250" cy="95250"/>
              </a:xfrm>
              <a:prstGeom prst="ellipse">
                <a:avLst/>
              </a:pr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26"/>
              <p:cNvSpPr txBox="1"/>
              <p:nvPr/>
            </p:nvSpPr>
            <p:spPr>
              <a:xfrm>
                <a:off x="1390650" y="3933825"/>
                <a:ext cx="218503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100" u="none" cap="none" strike="noStrike">
                    <a:solidFill>
                      <a:srgbClr val="1E1E1E"/>
                    </a:solidFill>
                    <a:latin typeface="Arial"/>
                    <a:ea typeface="Arial"/>
                    <a:cs typeface="Arial"/>
                    <a:sym typeface="Arial"/>
                  </a:rPr>
                  <a:t>Claude Projects 实战</a:t>
                </a:r>
                <a:endParaRPr sz="1100"/>
              </a:p>
            </p:txBody>
          </p:sp>
          <p:sp>
            <p:nvSpPr>
              <p:cNvPr id="195" name="Google Shape;195;p26"/>
              <p:cNvSpPr/>
              <p:nvPr/>
            </p:nvSpPr>
            <p:spPr>
              <a:xfrm>
                <a:off x="1162050" y="4505325"/>
                <a:ext cx="95250" cy="95250"/>
              </a:xfrm>
              <a:prstGeom prst="ellipse">
                <a:avLst/>
              </a:pr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26"/>
              <p:cNvSpPr txBox="1"/>
              <p:nvPr/>
            </p:nvSpPr>
            <p:spPr>
              <a:xfrm>
                <a:off x="1390650" y="4448175"/>
                <a:ext cx="223980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100" u="none" cap="none" strike="noStrike">
                    <a:solidFill>
                      <a:srgbClr val="1E1E1E"/>
                    </a:solidFill>
                    <a:latin typeface="Arial"/>
                    <a:ea typeface="Arial"/>
                    <a:cs typeface="Arial"/>
                    <a:sym typeface="Arial"/>
                  </a:rPr>
                  <a:t>Agent 工作流搭建思路</a:t>
                </a:r>
                <a:endParaRPr sz="1100"/>
              </a:p>
            </p:txBody>
          </p:sp>
        </p:grpSp>
        <p:sp>
          <p:nvSpPr>
            <p:cNvPr id="197" name="Google Shape;197;p26"/>
            <p:cNvSpPr/>
            <p:nvPr/>
          </p:nvSpPr>
          <p:spPr>
            <a:xfrm>
              <a:off x="1066800" y="5429250"/>
              <a:ext cx="1524000" cy="323850"/>
            </a:xfrm>
            <a:prstGeom prst="roundRect">
              <a:avLst>
                <a:gd fmla="val 50000" name="adj"/>
              </a:avLst>
            </a:prstGeom>
            <a:solidFill>
              <a:srgbClr val="C96133">
                <a:alpha val="1215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6"/>
            <p:cNvSpPr txBox="1"/>
            <p:nvPr/>
          </p:nvSpPr>
          <p:spPr>
            <a:xfrm>
              <a:off x="1344391" y="5517356"/>
              <a:ext cx="9688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会用 AI 思考</a:t>
              </a:r>
              <a:endParaRPr sz="1100"/>
            </a:p>
          </p:txBody>
        </p:sp>
      </p:grpSp>
      <p:grpSp>
        <p:nvGrpSpPr>
          <p:cNvPr id="199" name="Google Shape;199;p26"/>
          <p:cNvGrpSpPr/>
          <p:nvPr/>
        </p:nvGrpSpPr>
        <p:grpSpPr>
          <a:xfrm>
            <a:off x="4714875" y="1143000"/>
            <a:ext cx="3857625" cy="3429000"/>
            <a:chOff x="6286500" y="1524000"/>
            <a:chExt cx="5143500" cy="4572000"/>
          </a:xfrm>
        </p:grpSpPr>
        <p:sp>
          <p:nvSpPr>
            <p:cNvPr id="200" name="Google Shape;200;p26"/>
            <p:cNvSpPr/>
            <p:nvPr/>
          </p:nvSpPr>
          <p:spPr>
            <a:xfrm>
              <a:off x="6286500" y="1524000"/>
              <a:ext cx="5143500" cy="4572000"/>
            </a:xfrm>
            <a:prstGeom prst="roundRect">
              <a:avLst>
                <a:gd fmla="val 3333" name="adj"/>
              </a:avLst>
            </a:prstGeom>
            <a:solidFill>
              <a:srgbClr val="EBF0F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6"/>
            <p:cNvSpPr/>
            <p:nvPr/>
          </p:nvSpPr>
          <p:spPr>
            <a:xfrm>
              <a:off x="6286500" y="1524000"/>
              <a:ext cx="5143500" cy="76200"/>
            </a:xfrm>
            <a:prstGeom prst="roundRect">
              <a:avLst>
                <a:gd fmla="val 50000" name="adj"/>
              </a:avLst>
            </a:prstGeom>
            <a:solidFill>
              <a:srgbClr val="3D7D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6286500" y="1562100"/>
              <a:ext cx="5143500" cy="38100"/>
            </a:xfrm>
            <a:prstGeom prst="rect">
              <a:avLst/>
            </a:prstGeom>
            <a:solidFill>
              <a:srgbClr val="3D7D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6591300" y="1857375"/>
              <a:ext cx="533400" cy="533400"/>
            </a:xfrm>
            <a:prstGeom prst="roundRect">
              <a:avLst>
                <a:gd fmla="val 21429" name="adj"/>
              </a:avLst>
            </a:prstGeom>
            <a:solidFill>
              <a:srgbClr val="3D7DE4">
                <a:alpha val="14901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6682683" y="1997075"/>
              <a:ext cx="349926" cy="254000"/>
            </a:xfrm>
            <a:custGeom>
              <a:rect b="b" l="l" r="r" t="t"/>
              <a:pathLst>
                <a:path extrusionOk="0" h="254000" w="349926">
                  <a:moveTo>
                    <a:pt x="175317" y="0"/>
                  </a:moveTo>
                  <a:cubicBezTo>
                    <a:pt x="243420" y="0"/>
                    <a:pt x="300142" y="38560"/>
                    <a:pt x="344624" y="113570"/>
                  </a:cubicBezTo>
                  <a:lnTo>
                    <a:pt x="348116" y="119586"/>
                  </a:lnTo>
                  <a:lnTo>
                    <a:pt x="348830" y="121174"/>
                  </a:lnTo>
                  <a:lnTo>
                    <a:pt x="349307" y="122492"/>
                  </a:lnTo>
                  <a:lnTo>
                    <a:pt x="349529" y="123365"/>
                  </a:lnTo>
                  <a:lnTo>
                    <a:pt x="349751" y="124666"/>
                  </a:lnTo>
                  <a:lnTo>
                    <a:pt x="349926" y="126254"/>
                  </a:lnTo>
                  <a:lnTo>
                    <a:pt x="349926" y="128000"/>
                  </a:lnTo>
                  <a:lnTo>
                    <a:pt x="349704" y="129762"/>
                  </a:lnTo>
                  <a:cubicBezTo>
                    <a:pt x="349599" y="130352"/>
                    <a:pt x="349461" y="130935"/>
                    <a:pt x="349291" y="131509"/>
                  </a:cubicBezTo>
                  <a:lnTo>
                    <a:pt x="348672" y="133223"/>
                  </a:lnTo>
                  <a:lnTo>
                    <a:pt x="348100" y="134414"/>
                  </a:lnTo>
                  <a:lnTo>
                    <a:pt x="347846" y="134890"/>
                  </a:lnTo>
                  <a:cubicBezTo>
                    <a:pt x="303968" y="211661"/>
                    <a:pt x="247834" y="252047"/>
                    <a:pt x="180286" y="253936"/>
                  </a:cubicBezTo>
                  <a:lnTo>
                    <a:pt x="175317" y="254000"/>
                  </a:lnTo>
                  <a:cubicBezTo>
                    <a:pt x="105530" y="254000"/>
                    <a:pt x="47729" y="213535"/>
                    <a:pt x="2787" y="134874"/>
                  </a:cubicBezTo>
                  <a:cubicBezTo>
                    <a:pt x="0" y="129995"/>
                    <a:pt x="0" y="124005"/>
                    <a:pt x="2787" y="119126"/>
                  </a:cubicBezTo>
                  <a:cubicBezTo>
                    <a:pt x="47729" y="40465"/>
                    <a:pt x="105530" y="0"/>
                    <a:pt x="175317" y="0"/>
                  </a:cubicBezTo>
                  <a:close/>
                  <a:moveTo>
                    <a:pt x="175317" y="79375"/>
                  </a:moveTo>
                  <a:cubicBezTo>
                    <a:pt x="149014" y="79375"/>
                    <a:pt x="127692" y="100697"/>
                    <a:pt x="127692" y="127000"/>
                  </a:cubicBezTo>
                  <a:cubicBezTo>
                    <a:pt x="127692" y="153303"/>
                    <a:pt x="149014" y="174625"/>
                    <a:pt x="175317" y="174625"/>
                  </a:cubicBezTo>
                  <a:cubicBezTo>
                    <a:pt x="201619" y="174625"/>
                    <a:pt x="222942" y="153303"/>
                    <a:pt x="222942" y="127000"/>
                  </a:cubicBezTo>
                  <a:cubicBezTo>
                    <a:pt x="222942" y="100697"/>
                    <a:pt x="201619" y="79375"/>
                    <a:pt x="175317" y="79375"/>
                  </a:cubicBezTo>
                </a:path>
              </a:pathLst>
            </a:custGeom>
            <a:solidFill>
              <a:srgbClr val="3D7D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6"/>
            <p:cNvSpPr txBox="1"/>
            <p:nvPr/>
          </p:nvSpPr>
          <p:spPr>
            <a:xfrm>
              <a:off x="7273290" y="1963102"/>
              <a:ext cx="7754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3D7DE4"/>
                  </a:solidFill>
                  <a:latin typeface="Arial"/>
                  <a:ea typeface="Arial"/>
                  <a:cs typeface="Arial"/>
                  <a:sym typeface="Arial"/>
                </a:rPr>
                <a:t>SESSION 2</a:t>
              </a:r>
              <a:endParaRPr sz="1100"/>
            </a:p>
          </p:txBody>
        </p:sp>
        <p:sp>
          <p:nvSpPr>
            <p:cNvPr id="206" name="Google Shape;206;p26"/>
            <p:cNvSpPr txBox="1"/>
            <p:nvPr/>
          </p:nvSpPr>
          <p:spPr>
            <a:xfrm>
              <a:off x="7263765" y="2110740"/>
              <a:ext cx="27646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Claude Code 建知识库</a:t>
              </a:r>
              <a:endParaRPr sz="1100"/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6591300" y="2619375"/>
              <a:ext cx="4533900" cy="9525"/>
            </a:xfrm>
            <a:custGeom>
              <a:rect b="b" l="l" r="r" t="t"/>
              <a:pathLst>
                <a:path extrusionOk="0" h="9525" w="4533900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cap="flat" cmpd="sng" w="9525">
              <a:solidFill>
                <a:srgbClr val="C8D8F0"/>
              </a:solidFill>
              <a:prstDash val="solid"/>
              <a:round/>
              <a:headEnd len="sm" w="sm" type="none"/>
              <a:tailEnd len="sm" w="sm" type="none"/>
            </a:ln>
          </p:spPr>
        </p:sp>
        <p:grpSp>
          <p:nvGrpSpPr>
            <p:cNvPr id="208" name="Google Shape;208;p26"/>
            <p:cNvGrpSpPr/>
            <p:nvPr/>
          </p:nvGrpSpPr>
          <p:grpSpPr>
            <a:xfrm>
              <a:off x="6686550" y="2905125"/>
              <a:ext cx="3640455" cy="1847850"/>
              <a:chOff x="6686550" y="2905125"/>
              <a:chExt cx="3640455" cy="1847850"/>
            </a:xfrm>
          </p:grpSpPr>
          <p:sp>
            <p:nvSpPr>
              <p:cNvPr id="209" name="Google Shape;209;p26"/>
              <p:cNvSpPr/>
              <p:nvPr/>
            </p:nvSpPr>
            <p:spPr>
              <a:xfrm>
                <a:off x="6686550" y="2962275"/>
                <a:ext cx="95250" cy="95250"/>
              </a:xfrm>
              <a:prstGeom prst="ellipse">
                <a:avLst/>
              </a:prstGeom>
              <a:solidFill>
                <a:srgbClr val="3D7DE4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26"/>
              <p:cNvSpPr txBox="1"/>
              <p:nvPr/>
            </p:nvSpPr>
            <p:spPr>
              <a:xfrm>
                <a:off x="6915150" y="2905125"/>
                <a:ext cx="241506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100" u="none" cap="none" strike="noStrike">
                    <a:solidFill>
                      <a:srgbClr val="1E1E1E"/>
                    </a:solidFill>
                    <a:latin typeface="Arial"/>
                    <a:ea typeface="Arial"/>
                    <a:cs typeface="Arial"/>
                    <a:sym typeface="Arial"/>
                  </a:rPr>
                  <a:t>Claude Code 命令行开发</a:t>
                </a:r>
                <a:endParaRPr sz="1100"/>
              </a:p>
            </p:txBody>
          </p:sp>
          <p:sp>
            <p:nvSpPr>
              <p:cNvPr id="211" name="Google Shape;211;p26"/>
              <p:cNvSpPr/>
              <p:nvPr/>
            </p:nvSpPr>
            <p:spPr>
              <a:xfrm>
                <a:off x="6686550" y="3476625"/>
                <a:ext cx="95250" cy="95250"/>
              </a:xfrm>
              <a:prstGeom prst="ellipse">
                <a:avLst/>
              </a:prstGeom>
              <a:solidFill>
                <a:srgbClr val="3D7DE4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6"/>
              <p:cNvSpPr txBox="1"/>
              <p:nvPr/>
            </p:nvSpPr>
            <p:spPr>
              <a:xfrm>
                <a:off x="6915150" y="3419475"/>
                <a:ext cx="210835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100" u="none" cap="none" strike="noStrike">
                    <a:solidFill>
                      <a:srgbClr val="1E1E1E"/>
                    </a:solidFill>
                    <a:latin typeface="Arial"/>
                    <a:ea typeface="Arial"/>
                    <a:cs typeface="Arial"/>
                    <a:sym typeface="Arial"/>
                  </a:rPr>
                  <a:t>CLAUDE.md 项目配置</a:t>
                </a:r>
                <a:endParaRPr sz="1100"/>
              </a:p>
            </p:txBody>
          </p:sp>
          <p:sp>
            <p:nvSpPr>
              <p:cNvPr id="213" name="Google Shape;213;p26"/>
              <p:cNvSpPr/>
              <p:nvPr/>
            </p:nvSpPr>
            <p:spPr>
              <a:xfrm>
                <a:off x="6686550" y="3990975"/>
                <a:ext cx="95250" cy="95250"/>
              </a:xfrm>
              <a:prstGeom prst="ellipse">
                <a:avLst/>
              </a:prstGeom>
              <a:solidFill>
                <a:srgbClr val="3D7DE4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26"/>
              <p:cNvSpPr txBox="1"/>
              <p:nvPr/>
            </p:nvSpPr>
            <p:spPr>
              <a:xfrm>
                <a:off x="6915150" y="3933825"/>
                <a:ext cx="24479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100" u="none" cap="none" strike="noStrike">
                    <a:solidFill>
                      <a:srgbClr val="1E1E1E"/>
                    </a:solidFill>
                    <a:latin typeface="Arial"/>
                    <a:ea typeface="Arial"/>
                    <a:cs typeface="Arial"/>
                    <a:sym typeface="Arial"/>
                  </a:rPr>
                  <a:t>Skills 工程 + 工具流搭建</a:t>
                </a:r>
                <a:endParaRPr sz="1100"/>
              </a:p>
            </p:txBody>
          </p:sp>
          <p:sp>
            <p:nvSpPr>
              <p:cNvPr id="215" name="Google Shape;215;p26"/>
              <p:cNvSpPr/>
              <p:nvPr/>
            </p:nvSpPr>
            <p:spPr>
              <a:xfrm>
                <a:off x="6686550" y="4505325"/>
                <a:ext cx="95250" cy="95250"/>
              </a:xfrm>
              <a:prstGeom prst="ellipse">
                <a:avLst/>
              </a:prstGeom>
              <a:solidFill>
                <a:srgbClr val="3D7DE4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26"/>
              <p:cNvSpPr txBox="1"/>
              <p:nvPr/>
            </p:nvSpPr>
            <p:spPr>
              <a:xfrm>
                <a:off x="6915150" y="4448175"/>
                <a:ext cx="341185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100" u="none" cap="none" strike="noStrike">
                    <a:solidFill>
                      <a:srgbClr val="1E1E1E"/>
                    </a:solidFill>
                    <a:latin typeface="Arial"/>
                    <a:ea typeface="Arial"/>
                    <a:cs typeface="Arial"/>
                    <a:sym typeface="Arial"/>
                  </a:rPr>
                  <a:t>Superpowers / ppt-master 实战</a:t>
                </a:r>
                <a:endParaRPr sz="1100"/>
              </a:p>
            </p:txBody>
          </p:sp>
        </p:grpSp>
        <p:sp>
          <p:nvSpPr>
            <p:cNvPr id="217" name="Google Shape;217;p26"/>
            <p:cNvSpPr/>
            <p:nvPr/>
          </p:nvSpPr>
          <p:spPr>
            <a:xfrm>
              <a:off x="6591300" y="5429250"/>
              <a:ext cx="1524000" cy="323850"/>
            </a:xfrm>
            <a:prstGeom prst="roundRect">
              <a:avLst>
                <a:gd fmla="val 50000" name="adj"/>
              </a:avLst>
            </a:prstGeom>
            <a:solidFill>
              <a:srgbClr val="3D7DE4">
                <a:alpha val="1215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6"/>
            <p:cNvSpPr txBox="1"/>
            <p:nvPr/>
          </p:nvSpPr>
          <p:spPr>
            <a:xfrm>
              <a:off x="6782630" y="5517356"/>
              <a:ext cx="11413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3D7DE4"/>
                  </a:solidFill>
                  <a:latin typeface="Arial"/>
                  <a:ea typeface="Arial"/>
                  <a:cs typeface="Arial"/>
                  <a:sym typeface="Arial"/>
                </a:rPr>
                <a:t>会用 AI 写代码</a:t>
              </a:r>
              <a:endParaRPr sz="1100"/>
            </a:p>
          </p:txBody>
        </p:sp>
      </p:grpSp>
      <p:grpSp>
        <p:nvGrpSpPr>
          <p:cNvPr id="219" name="Google Shape;219;p26"/>
          <p:cNvGrpSpPr/>
          <p:nvPr/>
        </p:nvGrpSpPr>
        <p:grpSpPr>
          <a:xfrm>
            <a:off x="4327684" y="2794635"/>
            <a:ext cx="445770" cy="525423"/>
            <a:chOff x="5770245" y="3726180"/>
            <a:chExt cx="594360" cy="700564"/>
          </a:xfrm>
        </p:grpSpPr>
        <p:sp>
          <p:nvSpPr>
            <p:cNvPr id="220" name="Google Shape;220;p26"/>
            <p:cNvSpPr txBox="1"/>
            <p:nvPr/>
          </p:nvSpPr>
          <p:spPr>
            <a:xfrm>
              <a:off x="5952194" y="3726180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sz="1100"/>
            </a:p>
          </p:txBody>
        </p:sp>
        <p:sp>
          <p:nvSpPr>
            <p:cNvPr id="221" name="Google Shape;221;p26"/>
            <p:cNvSpPr txBox="1"/>
            <p:nvPr/>
          </p:nvSpPr>
          <p:spPr>
            <a:xfrm>
              <a:off x="5770245" y="422862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今天合体</a:t>
              </a:r>
              <a:endParaRPr sz="1100"/>
            </a:p>
          </p:txBody>
        </p:sp>
      </p:grpSp>
      <p:sp>
        <p:nvSpPr>
          <p:cNvPr id="222" name="Google Shape;222;p26"/>
          <p:cNvSpPr txBox="1"/>
          <p:nvPr/>
        </p:nvSpPr>
        <p:spPr>
          <a:xfrm>
            <a:off x="3098440" y="4915614"/>
            <a:ext cx="294711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今天的课把这两把武器合起来用 — 设计 + 代码 = 完整网站</a:t>
            </a:r>
            <a:endParaRPr sz="1100"/>
          </a:p>
        </p:txBody>
      </p:sp>
      <p:sp>
        <p:nvSpPr>
          <p:cNvPr id="223" name="Google Shape;223;p26"/>
          <p:cNvSpPr txBox="1"/>
          <p:nvPr/>
        </p:nvSpPr>
        <p:spPr>
          <a:xfrm>
            <a:off x="8320076" y="4915614"/>
            <a:ext cx="40530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02 / 22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7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7"/>
          <p:cNvSpPr txBox="1"/>
          <p:nvPr/>
        </p:nvSpPr>
        <p:spPr>
          <a:xfrm>
            <a:off x="3459397" y="295751"/>
            <a:ext cx="2225207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今天要做三件事</a:t>
            </a:r>
            <a:endParaRPr sz="1100"/>
          </a:p>
        </p:txBody>
      </p:sp>
      <p:sp>
        <p:nvSpPr>
          <p:cNvPr id="231" name="Google Shape;231;p27"/>
          <p:cNvSpPr txBox="1"/>
          <p:nvPr/>
        </p:nvSpPr>
        <p:spPr>
          <a:xfrm>
            <a:off x="3354383" y="609362"/>
            <a:ext cx="2435233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设计 · 开发上线 · 可持续更新</a:t>
            </a:r>
            <a:endParaRPr sz="1100"/>
          </a:p>
        </p:txBody>
      </p:sp>
      <p:sp>
        <p:nvSpPr>
          <p:cNvPr id="232" name="Google Shape;232;p27"/>
          <p:cNvSpPr/>
          <p:nvPr/>
        </p:nvSpPr>
        <p:spPr>
          <a:xfrm>
            <a:off x="571500" y="885825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7"/>
          <p:cNvSpPr/>
          <p:nvPr/>
        </p:nvSpPr>
        <p:spPr>
          <a:xfrm>
            <a:off x="2986088" y="2214563"/>
            <a:ext cx="571500" cy="7144"/>
          </a:xfrm>
          <a:custGeom>
            <a:rect b="b" l="l" r="r" t="t"/>
            <a:pathLst>
              <a:path extrusionOk="0" h="9525"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cap="flat" cmpd="sng" w="285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7"/>
          <p:cNvSpPr/>
          <p:nvPr/>
        </p:nvSpPr>
        <p:spPr>
          <a:xfrm>
            <a:off x="3557588" y="2164556"/>
            <a:ext cx="114300" cy="100013"/>
          </a:xfrm>
          <a:custGeom>
            <a:rect b="b" l="l" r="r" t="t"/>
            <a:pathLst>
              <a:path extrusionOk="0" h="133350" w="152400">
                <a:moveTo>
                  <a:pt x="0" y="0"/>
                </a:moveTo>
                <a:lnTo>
                  <a:pt x="15240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C96133">
              <a:alpha val="50196"/>
            </a:srgbClr>
          </a:solidFill>
          <a:ln>
            <a:noFill/>
          </a:ln>
        </p:spPr>
      </p:sp>
      <p:sp>
        <p:nvSpPr>
          <p:cNvPr id="235" name="Google Shape;235;p27"/>
          <p:cNvSpPr/>
          <p:nvPr/>
        </p:nvSpPr>
        <p:spPr>
          <a:xfrm>
            <a:off x="5586413" y="2214563"/>
            <a:ext cx="571500" cy="7144"/>
          </a:xfrm>
          <a:custGeom>
            <a:rect b="b" l="l" r="r" t="t"/>
            <a:pathLst>
              <a:path extrusionOk="0" h="9525"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cap="flat" cmpd="sng" w="285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7"/>
          <p:cNvSpPr/>
          <p:nvPr/>
        </p:nvSpPr>
        <p:spPr>
          <a:xfrm>
            <a:off x="6157913" y="2164556"/>
            <a:ext cx="114300" cy="100013"/>
          </a:xfrm>
          <a:custGeom>
            <a:rect b="b" l="l" r="r" t="t"/>
            <a:pathLst>
              <a:path extrusionOk="0" h="133350" w="152400">
                <a:moveTo>
                  <a:pt x="0" y="0"/>
                </a:moveTo>
                <a:lnTo>
                  <a:pt x="15240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C96133">
              <a:alpha val="50196"/>
            </a:srgbClr>
          </a:solidFill>
          <a:ln>
            <a:noFill/>
          </a:ln>
        </p:spPr>
      </p:sp>
      <p:sp>
        <p:nvSpPr>
          <p:cNvPr id="237" name="Google Shape;237;p27"/>
          <p:cNvSpPr/>
          <p:nvPr/>
        </p:nvSpPr>
        <p:spPr>
          <a:xfrm>
            <a:off x="1228725" y="1400175"/>
            <a:ext cx="628650" cy="628650"/>
          </a:xfrm>
          <a:prstGeom prst="ellipse">
            <a:avLst/>
          </a:prstGeom>
          <a:solidFill>
            <a:srgbClr val="C96133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7"/>
          <p:cNvSpPr/>
          <p:nvPr/>
        </p:nvSpPr>
        <p:spPr>
          <a:xfrm>
            <a:off x="1300163" y="1471613"/>
            <a:ext cx="485775" cy="485775"/>
          </a:xfrm>
          <a:prstGeom prst="ellipse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7"/>
          <p:cNvSpPr txBox="1"/>
          <p:nvPr/>
        </p:nvSpPr>
        <p:spPr>
          <a:xfrm>
            <a:off x="1446680" y="1545194"/>
            <a:ext cx="1927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240" name="Google Shape;240;p27"/>
          <p:cNvSpPr txBox="1"/>
          <p:nvPr/>
        </p:nvSpPr>
        <p:spPr>
          <a:xfrm>
            <a:off x="1451222" y="1745575"/>
            <a:ext cx="183655" cy="10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 sz="1100"/>
          </a:p>
        </p:txBody>
      </p:sp>
      <p:sp>
        <p:nvSpPr>
          <p:cNvPr id="241" name="Google Shape;241;p27"/>
          <p:cNvSpPr/>
          <p:nvPr/>
        </p:nvSpPr>
        <p:spPr>
          <a:xfrm>
            <a:off x="1543050" y="1957388"/>
            <a:ext cx="7144" cy="257175"/>
          </a:xfrm>
          <a:custGeom>
            <a:rect b="b" l="l" r="r" t="t"/>
            <a:pathLst>
              <a:path extrusionOk="0" h="342900" w="9525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cap="flat" cmpd="sng" w="19050">
            <a:solidFill>
              <a:srgbClr val="C96133">
                <a:alpha val="50196"/>
              </a:srgbClr>
            </a:solidFill>
            <a:prstDash val="dashDot"/>
            <a:round/>
            <a:headEnd len="sm" w="sm" type="none"/>
            <a:tailEnd len="sm" w="sm" type="none"/>
          </a:ln>
        </p:spPr>
      </p:sp>
      <p:sp>
        <p:nvSpPr>
          <p:cNvPr id="242" name="Google Shape;242;p27"/>
          <p:cNvSpPr/>
          <p:nvPr/>
        </p:nvSpPr>
        <p:spPr>
          <a:xfrm>
            <a:off x="428625" y="2214563"/>
            <a:ext cx="2557463" cy="2428875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7"/>
          <p:cNvSpPr/>
          <p:nvPr/>
        </p:nvSpPr>
        <p:spPr>
          <a:xfrm>
            <a:off x="428625" y="2214563"/>
            <a:ext cx="35719" cy="2428875"/>
          </a:xfrm>
          <a:prstGeom prst="roundRect">
            <a:avLst>
              <a:gd fmla="val 4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7"/>
          <p:cNvSpPr/>
          <p:nvPr/>
        </p:nvSpPr>
        <p:spPr>
          <a:xfrm>
            <a:off x="607219" y="2400300"/>
            <a:ext cx="342900" cy="342900"/>
          </a:xfrm>
          <a:prstGeom prst="roundRect">
            <a:avLst>
              <a:gd fmla="val 20833" name="adj"/>
            </a:avLst>
          </a:prstGeom>
          <a:solidFill>
            <a:srgbClr val="C96133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7"/>
          <p:cNvSpPr/>
          <p:nvPr/>
        </p:nvSpPr>
        <p:spPr>
          <a:xfrm>
            <a:off x="671513" y="2464594"/>
            <a:ext cx="214313" cy="214531"/>
          </a:xfrm>
          <a:custGeom>
            <a:rect b="b" l="l" r="r" t="t"/>
            <a:pathLst>
              <a:path extrusionOk="0" h="286042" w="285750">
                <a:moveTo>
                  <a:pt x="142875" y="0"/>
                </a:moveTo>
                <a:cubicBezTo>
                  <a:pt x="221428" y="0"/>
                  <a:pt x="285750" y="57179"/>
                  <a:pt x="285750" y="128588"/>
                </a:cubicBezTo>
                <a:cubicBezTo>
                  <a:pt x="285750" y="147890"/>
                  <a:pt x="277177" y="166306"/>
                  <a:pt x="262118" y="179680"/>
                </a:cubicBezTo>
                <a:cubicBezTo>
                  <a:pt x="247402" y="192738"/>
                  <a:pt x="227657" y="200025"/>
                  <a:pt x="207169" y="200025"/>
                </a:cubicBezTo>
                <a:lnTo>
                  <a:pt x="171221" y="200025"/>
                </a:lnTo>
                <a:cubicBezTo>
                  <a:pt x="164664" y="199919"/>
                  <a:pt x="158876" y="204292"/>
                  <a:pt x="157186" y="210629"/>
                </a:cubicBezTo>
                <a:cubicBezTo>
                  <a:pt x="155496" y="216967"/>
                  <a:pt x="158338" y="223640"/>
                  <a:pt x="164078" y="226814"/>
                </a:cubicBezTo>
                <a:cubicBezTo>
                  <a:pt x="165078" y="227367"/>
                  <a:pt x="166009" y="228039"/>
                  <a:pt x="166849" y="228814"/>
                </a:cubicBezTo>
                <a:cubicBezTo>
                  <a:pt x="176865" y="238057"/>
                  <a:pt x="180137" y="252523"/>
                  <a:pt x="175072" y="265175"/>
                </a:cubicBezTo>
                <a:cubicBezTo>
                  <a:pt x="170008" y="277828"/>
                  <a:pt x="157659" y="286042"/>
                  <a:pt x="144032" y="285821"/>
                </a:cubicBezTo>
                <a:lnTo>
                  <a:pt x="141803" y="285693"/>
                </a:lnTo>
                <a:lnTo>
                  <a:pt x="142775" y="285750"/>
                </a:lnTo>
                <a:lnTo>
                  <a:pt x="138874" y="285693"/>
                </a:lnTo>
                <a:cubicBezTo>
                  <a:pt x="63151" y="283607"/>
                  <a:pt x="2143" y="222599"/>
                  <a:pt x="57" y="146876"/>
                </a:cubicBezTo>
                <a:lnTo>
                  <a:pt x="0" y="142875"/>
                </a:lnTo>
                <a:cubicBezTo>
                  <a:pt x="0" y="63965"/>
                  <a:pt x="63965" y="0"/>
                  <a:pt x="142875" y="0"/>
                </a:cubicBezTo>
                <a:moveTo>
                  <a:pt x="92869" y="92869"/>
                </a:moveTo>
                <a:cubicBezTo>
                  <a:pt x="77915" y="92864"/>
                  <a:pt x="65487" y="104389"/>
                  <a:pt x="64365" y="119301"/>
                </a:cubicBezTo>
                <a:lnTo>
                  <a:pt x="64294" y="121444"/>
                </a:lnTo>
                <a:cubicBezTo>
                  <a:pt x="64294" y="137225"/>
                  <a:pt x="77087" y="150019"/>
                  <a:pt x="92869" y="150019"/>
                </a:cubicBezTo>
                <a:cubicBezTo>
                  <a:pt x="108650" y="150019"/>
                  <a:pt x="121444" y="137225"/>
                  <a:pt x="121444" y="121444"/>
                </a:cubicBezTo>
                <a:cubicBezTo>
                  <a:pt x="121444" y="105662"/>
                  <a:pt x="108650" y="92869"/>
                  <a:pt x="92869" y="92869"/>
                </a:cubicBezTo>
                <a:moveTo>
                  <a:pt x="207169" y="92869"/>
                </a:moveTo>
                <a:cubicBezTo>
                  <a:pt x="192215" y="92864"/>
                  <a:pt x="179787" y="104389"/>
                  <a:pt x="178665" y="119301"/>
                </a:cubicBezTo>
                <a:lnTo>
                  <a:pt x="178594" y="121444"/>
                </a:lnTo>
                <a:cubicBezTo>
                  <a:pt x="178594" y="137225"/>
                  <a:pt x="191387" y="150019"/>
                  <a:pt x="207169" y="150019"/>
                </a:cubicBezTo>
                <a:cubicBezTo>
                  <a:pt x="222950" y="150019"/>
                  <a:pt x="235744" y="137225"/>
                  <a:pt x="235744" y="121444"/>
                </a:cubicBezTo>
                <a:cubicBezTo>
                  <a:pt x="235744" y="105662"/>
                  <a:pt x="222950" y="92869"/>
                  <a:pt x="207169" y="92869"/>
                </a:cubicBezTo>
                <a:moveTo>
                  <a:pt x="150019" y="50006"/>
                </a:moveTo>
                <a:cubicBezTo>
                  <a:pt x="135065" y="50002"/>
                  <a:pt x="122637" y="61527"/>
                  <a:pt x="121515" y="76438"/>
                </a:cubicBezTo>
                <a:lnTo>
                  <a:pt x="121444" y="78581"/>
                </a:lnTo>
                <a:cubicBezTo>
                  <a:pt x="121444" y="94363"/>
                  <a:pt x="134237" y="107156"/>
                  <a:pt x="150019" y="107156"/>
                </a:cubicBezTo>
                <a:cubicBezTo>
                  <a:pt x="165800" y="107156"/>
                  <a:pt x="178594" y="94363"/>
                  <a:pt x="178594" y="78581"/>
                </a:cubicBezTo>
                <a:cubicBezTo>
                  <a:pt x="178594" y="62800"/>
                  <a:pt x="165800" y="50006"/>
                  <a:pt x="150019" y="50006"/>
                </a:cubicBezTo>
              </a:path>
            </a:pathLst>
          </a:cu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7"/>
          <p:cNvSpPr txBox="1"/>
          <p:nvPr/>
        </p:nvSpPr>
        <p:spPr>
          <a:xfrm>
            <a:off x="591503" y="2795349"/>
            <a:ext cx="410980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设计</a:t>
            </a:r>
            <a:endParaRPr sz="1100"/>
          </a:p>
        </p:txBody>
      </p:sp>
      <p:sp>
        <p:nvSpPr>
          <p:cNvPr id="247" name="Google Shape;247;p27"/>
          <p:cNvSpPr txBox="1"/>
          <p:nvPr/>
        </p:nvSpPr>
        <p:spPr>
          <a:xfrm>
            <a:off x="597217" y="3029664"/>
            <a:ext cx="1263883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BRIEF + CLAUDE DESIGN</a:t>
            </a:r>
            <a:endParaRPr sz="1100"/>
          </a:p>
        </p:txBody>
      </p:sp>
      <p:sp>
        <p:nvSpPr>
          <p:cNvPr id="248" name="Google Shape;248;p27"/>
          <p:cNvSpPr/>
          <p:nvPr/>
        </p:nvSpPr>
        <p:spPr>
          <a:xfrm>
            <a:off x="607219" y="3228975"/>
            <a:ext cx="2235994" cy="7144"/>
          </a:xfrm>
          <a:custGeom>
            <a:rect b="b" l="l" r="r" t="t"/>
            <a:pathLst>
              <a:path extrusionOk="0" h="9525" w="2981325">
                <a:moveTo>
                  <a:pt x="0" y="0"/>
                </a:moveTo>
                <a:lnTo>
                  <a:pt x="2981325" y="0"/>
                </a:lnTo>
              </a:path>
            </a:pathLst>
          </a:custGeom>
          <a:noFill/>
          <a:ln cap="flat" cmpd="sng" w="14275">
            <a:solidFill>
              <a:srgbClr val="F0EDE8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27"/>
          <p:cNvSpPr txBox="1"/>
          <p:nvPr/>
        </p:nvSpPr>
        <p:spPr>
          <a:xfrm>
            <a:off x="595074" y="3340060"/>
            <a:ext cx="953030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· 写产品 brief</a:t>
            </a:r>
            <a:endParaRPr sz="1100"/>
          </a:p>
        </p:txBody>
      </p:sp>
      <p:sp>
        <p:nvSpPr>
          <p:cNvPr id="250" name="Google Shape;250;p27"/>
          <p:cNvSpPr txBox="1"/>
          <p:nvPr/>
        </p:nvSpPr>
        <p:spPr>
          <a:xfrm>
            <a:off x="595074" y="3540085"/>
            <a:ext cx="1281232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· 生成视觉稿 + 迭代</a:t>
            </a:r>
            <a:endParaRPr sz="1100"/>
          </a:p>
        </p:txBody>
      </p:sp>
      <p:sp>
        <p:nvSpPr>
          <p:cNvPr id="251" name="Google Shape;251;p27"/>
          <p:cNvSpPr txBox="1"/>
          <p:nvPr/>
        </p:nvSpPr>
        <p:spPr>
          <a:xfrm>
            <a:off x="595074" y="3740110"/>
            <a:ext cx="1420892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· 提取 Design System</a:t>
            </a:r>
            <a:endParaRPr sz="1100"/>
          </a:p>
        </p:txBody>
      </p:sp>
      <p:sp>
        <p:nvSpPr>
          <p:cNvPr id="252" name="Google Shape;252;p27"/>
          <p:cNvSpPr/>
          <p:nvPr/>
        </p:nvSpPr>
        <p:spPr>
          <a:xfrm>
            <a:off x="607219" y="4114800"/>
            <a:ext cx="828675" cy="200025"/>
          </a:xfrm>
          <a:prstGeom prst="roundRect">
            <a:avLst>
              <a:gd fmla="val 50000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/>
        </p:nvSpPr>
        <p:spPr>
          <a:xfrm>
            <a:off x="653425" y="4164449"/>
            <a:ext cx="736264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理论 + Demo A</a:t>
            </a:r>
            <a:endParaRPr sz="1100"/>
          </a:p>
        </p:txBody>
      </p:sp>
      <p:sp>
        <p:nvSpPr>
          <p:cNvPr id="254" name="Google Shape;254;p27"/>
          <p:cNvSpPr/>
          <p:nvPr/>
        </p:nvSpPr>
        <p:spPr>
          <a:xfrm>
            <a:off x="4257675" y="1400175"/>
            <a:ext cx="628650" cy="628650"/>
          </a:xfrm>
          <a:prstGeom prst="ellipse">
            <a:avLst/>
          </a:prstGeom>
          <a:solidFill>
            <a:srgbClr val="3D7DE4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7"/>
          <p:cNvSpPr/>
          <p:nvPr/>
        </p:nvSpPr>
        <p:spPr>
          <a:xfrm>
            <a:off x="4329113" y="1471613"/>
            <a:ext cx="485775" cy="485775"/>
          </a:xfrm>
          <a:prstGeom prst="ellipse">
            <a:avLst/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7"/>
          <p:cNvSpPr txBox="1"/>
          <p:nvPr/>
        </p:nvSpPr>
        <p:spPr>
          <a:xfrm>
            <a:off x="4451908" y="1545194"/>
            <a:ext cx="240184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257" name="Google Shape;257;p27"/>
          <p:cNvSpPr txBox="1"/>
          <p:nvPr/>
        </p:nvSpPr>
        <p:spPr>
          <a:xfrm>
            <a:off x="4480172" y="1745575"/>
            <a:ext cx="183655" cy="10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 sz="1100"/>
          </a:p>
        </p:txBody>
      </p:sp>
      <p:sp>
        <p:nvSpPr>
          <p:cNvPr id="258" name="Google Shape;258;p27"/>
          <p:cNvSpPr/>
          <p:nvPr/>
        </p:nvSpPr>
        <p:spPr>
          <a:xfrm>
            <a:off x="4572000" y="1957388"/>
            <a:ext cx="7144" cy="257175"/>
          </a:xfrm>
          <a:custGeom>
            <a:rect b="b" l="l" r="r" t="t"/>
            <a:pathLst>
              <a:path extrusionOk="0" h="342900" w="9525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cap="flat" cmpd="sng" w="19050">
            <a:solidFill>
              <a:srgbClr val="3D7DE4">
                <a:alpha val="50196"/>
              </a:srgbClr>
            </a:solidFill>
            <a:prstDash val="dashDot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/>
          <p:nvPr/>
        </p:nvSpPr>
        <p:spPr>
          <a:xfrm>
            <a:off x="3457575" y="2214563"/>
            <a:ext cx="2557463" cy="2428875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7"/>
          <p:cNvSpPr/>
          <p:nvPr/>
        </p:nvSpPr>
        <p:spPr>
          <a:xfrm>
            <a:off x="3457575" y="2214563"/>
            <a:ext cx="35719" cy="2428875"/>
          </a:xfrm>
          <a:prstGeom prst="roundRect">
            <a:avLst>
              <a:gd fmla="val 400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7"/>
          <p:cNvSpPr/>
          <p:nvPr/>
        </p:nvSpPr>
        <p:spPr>
          <a:xfrm>
            <a:off x="3636169" y="2400300"/>
            <a:ext cx="342900" cy="342900"/>
          </a:xfrm>
          <a:prstGeom prst="roundRect">
            <a:avLst>
              <a:gd fmla="val 20833" name="adj"/>
            </a:avLst>
          </a:prstGeom>
          <a:solidFill>
            <a:srgbClr val="3D7DE4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7"/>
          <p:cNvSpPr/>
          <p:nvPr/>
        </p:nvSpPr>
        <p:spPr>
          <a:xfrm>
            <a:off x="3700461" y="2459794"/>
            <a:ext cx="225638" cy="226518"/>
          </a:xfrm>
          <a:custGeom>
            <a:rect b="b" l="l" r="r" t="t"/>
            <a:pathLst>
              <a:path extrusionOk="0" h="302024" w="300850">
                <a:moveTo>
                  <a:pt x="214314" y="25545"/>
                </a:moveTo>
                <a:cubicBezTo>
                  <a:pt x="274362" y="60214"/>
                  <a:pt x="300850" y="132991"/>
                  <a:pt x="277135" y="198146"/>
                </a:cubicBezTo>
                <a:cubicBezTo>
                  <a:pt x="253420" y="263301"/>
                  <a:pt x="186348" y="302024"/>
                  <a:pt x="118064" y="289983"/>
                </a:cubicBezTo>
                <a:cubicBezTo>
                  <a:pt x="49781" y="277941"/>
                  <a:pt x="0" y="218612"/>
                  <a:pt x="2" y="149275"/>
                </a:cubicBezTo>
                <a:lnTo>
                  <a:pt x="73" y="144646"/>
                </a:lnTo>
                <a:cubicBezTo>
                  <a:pt x="1701" y="94454"/>
                  <a:pt x="29560" y="48801"/>
                  <a:pt x="73452" y="24400"/>
                </a:cubicBezTo>
                <a:cubicBezTo>
                  <a:pt x="117344" y="0"/>
                  <a:pt x="170824" y="435"/>
                  <a:pt x="214314" y="25545"/>
                </a:cubicBezTo>
                <a:moveTo>
                  <a:pt x="124403" y="110599"/>
                </a:moveTo>
                <a:cubicBezTo>
                  <a:pt x="118824" y="105021"/>
                  <a:pt x="109780" y="105021"/>
                  <a:pt x="104200" y="110599"/>
                </a:cubicBezTo>
                <a:lnTo>
                  <a:pt x="75625" y="139174"/>
                </a:lnTo>
                <a:cubicBezTo>
                  <a:pt x="70048" y="144753"/>
                  <a:pt x="70048" y="153797"/>
                  <a:pt x="75625" y="159376"/>
                </a:cubicBezTo>
                <a:lnTo>
                  <a:pt x="104200" y="187951"/>
                </a:lnTo>
                <a:cubicBezTo>
                  <a:pt x="109780" y="193529"/>
                  <a:pt x="118824" y="193529"/>
                  <a:pt x="124403" y="187951"/>
                </a:cubicBezTo>
                <a:lnTo>
                  <a:pt x="125589" y="186608"/>
                </a:lnTo>
                <a:cubicBezTo>
                  <a:pt x="130001" y="180921"/>
                  <a:pt x="129493" y="172839"/>
                  <a:pt x="124403" y="167749"/>
                </a:cubicBezTo>
                <a:lnTo>
                  <a:pt x="105944" y="149275"/>
                </a:lnTo>
                <a:lnTo>
                  <a:pt x="124403" y="130801"/>
                </a:lnTo>
                <a:cubicBezTo>
                  <a:pt x="129981" y="125222"/>
                  <a:pt x="129981" y="116178"/>
                  <a:pt x="124403" y="110599"/>
                </a:cubicBezTo>
                <a:moveTo>
                  <a:pt x="181553" y="110599"/>
                </a:moveTo>
                <a:cubicBezTo>
                  <a:pt x="175974" y="105021"/>
                  <a:pt x="166930" y="105021"/>
                  <a:pt x="161350" y="110599"/>
                </a:cubicBezTo>
                <a:lnTo>
                  <a:pt x="160165" y="111942"/>
                </a:lnTo>
                <a:cubicBezTo>
                  <a:pt x="155753" y="117629"/>
                  <a:pt x="156261" y="125711"/>
                  <a:pt x="161350" y="130801"/>
                </a:cubicBezTo>
                <a:lnTo>
                  <a:pt x="179810" y="149275"/>
                </a:lnTo>
                <a:lnTo>
                  <a:pt x="161350" y="167749"/>
                </a:lnTo>
                <a:cubicBezTo>
                  <a:pt x="155936" y="173355"/>
                  <a:pt x="156013" y="182266"/>
                  <a:pt x="161525" y="187777"/>
                </a:cubicBezTo>
                <a:cubicBezTo>
                  <a:pt x="167036" y="193288"/>
                  <a:pt x="175947" y="193366"/>
                  <a:pt x="181553" y="187951"/>
                </a:cubicBezTo>
                <a:lnTo>
                  <a:pt x="210128" y="159376"/>
                </a:lnTo>
                <a:cubicBezTo>
                  <a:pt x="215706" y="153797"/>
                  <a:pt x="215706" y="144753"/>
                  <a:pt x="210128" y="139174"/>
                </a:cubicBezTo>
                <a:close/>
              </a:path>
            </a:pathLst>
          </a:cu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7"/>
          <p:cNvSpPr txBox="1"/>
          <p:nvPr/>
        </p:nvSpPr>
        <p:spPr>
          <a:xfrm>
            <a:off x="3620452" y="2795349"/>
            <a:ext cx="790527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开发上线</a:t>
            </a:r>
            <a:endParaRPr sz="1100"/>
          </a:p>
        </p:txBody>
      </p:sp>
      <p:sp>
        <p:nvSpPr>
          <p:cNvPr id="264" name="Google Shape;264;p27"/>
          <p:cNvSpPr txBox="1"/>
          <p:nvPr/>
        </p:nvSpPr>
        <p:spPr>
          <a:xfrm>
            <a:off x="3626168" y="3029664"/>
            <a:ext cx="1281997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CLAUDE CODE + VERCEL</a:t>
            </a:r>
            <a:endParaRPr sz="1100"/>
          </a:p>
        </p:txBody>
      </p:sp>
      <p:sp>
        <p:nvSpPr>
          <p:cNvPr id="265" name="Google Shape;265;p27"/>
          <p:cNvSpPr/>
          <p:nvPr/>
        </p:nvSpPr>
        <p:spPr>
          <a:xfrm>
            <a:off x="3636169" y="3228975"/>
            <a:ext cx="2235994" cy="7144"/>
          </a:xfrm>
          <a:custGeom>
            <a:rect b="b" l="l" r="r" t="t"/>
            <a:pathLst>
              <a:path extrusionOk="0" h="9525" w="2981325">
                <a:moveTo>
                  <a:pt x="0" y="0"/>
                </a:moveTo>
                <a:lnTo>
                  <a:pt x="2981325" y="0"/>
                </a:lnTo>
              </a:path>
            </a:pathLst>
          </a:custGeom>
          <a:noFill/>
          <a:ln cap="flat" cmpd="sng" w="14275">
            <a:solidFill>
              <a:srgbClr val="EBF0F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27"/>
          <p:cNvSpPr txBox="1"/>
          <p:nvPr/>
        </p:nvSpPr>
        <p:spPr>
          <a:xfrm>
            <a:off x="3624024" y="3340060"/>
            <a:ext cx="1937635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· import 设计稿 + CLAUDE.md</a:t>
            </a:r>
            <a:endParaRPr sz="1100"/>
          </a:p>
        </p:txBody>
      </p:sp>
      <p:sp>
        <p:nvSpPr>
          <p:cNvPr id="267" name="Google Shape;267;p27"/>
          <p:cNvSpPr txBox="1"/>
          <p:nvPr/>
        </p:nvSpPr>
        <p:spPr>
          <a:xfrm>
            <a:off x="3624024" y="3540085"/>
            <a:ext cx="1281232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· 生成代码 + 多页面</a:t>
            </a:r>
            <a:endParaRPr sz="1100"/>
          </a:p>
        </p:txBody>
      </p:sp>
      <p:sp>
        <p:nvSpPr>
          <p:cNvPr id="268" name="Google Shape;268;p27"/>
          <p:cNvSpPr txBox="1"/>
          <p:nvPr/>
        </p:nvSpPr>
        <p:spPr>
          <a:xfrm>
            <a:off x="3624024" y="3740110"/>
            <a:ext cx="1525637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· Git + Vercel 自动部署</a:t>
            </a:r>
            <a:endParaRPr sz="1100"/>
          </a:p>
        </p:txBody>
      </p:sp>
      <p:sp>
        <p:nvSpPr>
          <p:cNvPr id="269" name="Google Shape;269;p27"/>
          <p:cNvSpPr/>
          <p:nvPr/>
        </p:nvSpPr>
        <p:spPr>
          <a:xfrm>
            <a:off x="3636169" y="4114800"/>
            <a:ext cx="742950" cy="200025"/>
          </a:xfrm>
          <a:prstGeom prst="roundRect">
            <a:avLst>
              <a:gd fmla="val 50000" name="adj"/>
            </a:avLst>
          </a:prstGeom>
          <a:solidFill>
            <a:srgbClr val="EBF0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7"/>
          <p:cNvSpPr txBox="1"/>
          <p:nvPr/>
        </p:nvSpPr>
        <p:spPr>
          <a:xfrm>
            <a:off x="3718010" y="4164449"/>
            <a:ext cx="579268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跟我做实战</a:t>
            </a:r>
            <a:endParaRPr sz="1100"/>
          </a:p>
        </p:txBody>
      </p:sp>
      <p:sp>
        <p:nvSpPr>
          <p:cNvPr id="271" name="Google Shape;271;p27"/>
          <p:cNvSpPr/>
          <p:nvPr/>
        </p:nvSpPr>
        <p:spPr>
          <a:xfrm>
            <a:off x="7286625" y="1400175"/>
            <a:ext cx="628650" cy="628650"/>
          </a:xfrm>
          <a:prstGeom prst="ellipse">
            <a:avLst/>
          </a:prstGeom>
          <a:solidFill>
            <a:srgbClr val="3A9E6A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7"/>
          <p:cNvSpPr/>
          <p:nvPr/>
        </p:nvSpPr>
        <p:spPr>
          <a:xfrm>
            <a:off x="7358063" y="1471613"/>
            <a:ext cx="485775" cy="485775"/>
          </a:xfrm>
          <a:prstGeom prst="ellipse">
            <a:avLst/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7"/>
          <p:cNvSpPr txBox="1"/>
          <p:nvPr/>
        </p:nvSpPr>
        <p:spPr>
          <a:xfrm>
            <a:off x="7480858" y="1545194"/>
            <a:ext cx="240184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274" name="Google Shape;274;p27"/>
          <p:cNvSpPr txBox="1"/>
          <p:nvPr/>
        </p:nvSpPr>
        <p:spPr>
          <a:xfrm>
            <a:off x="7509122" y="1745575"/>
            <a:ext cx="183655" cy="10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 sz="1100"/>
          </a:p>
        </p:txBody>
      </p:sp>
      <p:sp>
        <p:nvSpPr>
          <p:cNvPr id="275" name="Google Shape;275;p27"/>
          <p:cNvSpPr/>
          <p:nvPr/>
        </p:nvSpPr>
        <p:spPr>
          <a:xfrm>
            <a:off x="7600950" y="1957388"/>
            <a:ext cx="7144" cy="257175"/>
          </a:xfrm>
          <a:custGeom>
            <a:rect b="b" l="l" r="r" t="t"/>
            <a:pathLst>
              <a:path extrusionOk="0" h="342900" w="9525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cap="flat" cmpd="sng" w="19050">
            <a:solidFill>
              <a:srgbClr val="3A9E6A">
                <a:alpha val="50196"/>
              </a:srgbClr>
            </a:solidFill>
            <a:prstDash val="dashDot"/>
            <a:round/>
            <a:headEnd len="sm" w="sm" type="none"/>
            <a:tailEnd len="sm" w="sm" type="none"/>
          </a:ln>
        </p:spPr>
      </p:sp>
      <p:sp>
        <p:nvSpPr>
          <p:cNvPr id="276" name="Google Shape;276;p27"/>
          <p:cNvSpPr/>
          <p:nvPr/>
        </p:nvSpPr>
        <p:spPr>
          <a:xfrm>
            <a:off x="6486525" y="2214563"/>
            <a:ext cx="2557463" cy="2428875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7"/>
          <p:cNvSpPr/>
          <p:nvPr/>
        </p:nvSpPr>
        <p:spPr>
          <a:xfrm>
            <a:off x="6486525" y="2214563"/>
            <a:ext cx="35719" cy="2428875"/>
          </a:xfrm>
          <a:prstGeom prst="roundRect">
            <a:avLst>
              <a:gd fmla="val 40000" name="adj"/>
            </a:avLst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7"/>
          <p:cNvSpPr/>
          <p:nvPr/>
        </p:nvSpPr>
        <p:spPr>
          <a:xfrm>
            <a:off x="6665119" y="2400300"/>
            <a:ext cx="342900" cy="342900"/>
          </a:xfrm>
          <a:prstGeom prst="roundRect">
            <a:avLst>
              <a:gd fmla="val 20833" name="adj"/>
            </a:avLst>
          </a:prstGeom>
          <a:solidFill>
            <a:srgbClr val="3A9E6A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7"/>
          <p:cNvSpPr/>
          <p:nvPr/>
        </p:nvSpPr>
        <p:spPr>
          <a:xfrm>
            <a:off x="6738967" y="2496741"/>
            <a:ext cx="195549" cy="150390"/>
          </a:xfrm>
          <a:custGeom>
            <a:rect b="b" l="l" r="r" t="t"/>
            <a:pathLst>
              <a:path extrusionOk="0" h="200520" w="260732">
                <a:moveTo>
                  <a:pt x="257209" y="122201"/>
                </a:moveTo>
                <a:cubicBezTo>
                  <a:pt x="260732" y="129256"/>
                  <a:pt x="257874" y="137831"/>
                  <a:pt x="250823" y="141361"/>
                </a:cubicBezTo>
                <a:lnTo>
                  <a:pt x="136523" y="198511"/>
                </a:lnTo>
                <a:cubicBezTo>
                  <a:pt x="132502" y="200520"/>
                  <a:pt x="127770" y="200520"/>
                  <a:pt x="123750" y="198511"/>
                </a:cubicBezTo>
                <a:lnTo>
                  <a:pt x="9450" y="141361"/>
                </a:lnTo>
                <a:cubicBezTo>
                  <a:pt x="2656" y="137697"/>
                  <a:pt x="0" y="129299"/>
                  <a:pt x="3452" y="122395"/>
                </a:cubicBezTo>
                <a:cubicBezTo>
                  <a:pt x="6904" y="115491"/>
                  <a:pt x="15215" y="112577"/>
                  <a:pt x="22223" y="115814"/>
                </a:cubicBezTo>
                <a:lnTo>
                  <a:pt x="130136" y="169735"/>
                </a:lnTo>
                <a:lnTo>
                  <a:pt x="238064" y="115800"/>
                </a:lnTo>
                <a:cubicBezTo>
                  <a:pt x="245119" y="112277"/>
                  <a:pt x="253694" y="115135"/>
                  <a:pt x="257224" y="122187"/>
                </a:cubicBezTo>
                <a:moveTo>
                  <a:pt x="130250" y="0"/>
                </a:moveTo>
                <a:cubicBezTo>
                  <a:pt x="130784" y="0"/>
                  <a:pt x="131313" y="33"/>
                  <a:pt x="131836" y="100"/>
                </a:cubicBezTo>
                <a:lnTo>
                  <a:pt x="133422" y="386"/>
                </a:lnTo>
                <a:lnTo>
                  <a:pt x="134651" y="729"/>
                </a:lnTo>
                <a:lnTo>
                  <a:pt x="134822" y="814"/>
                </a:lnTo>
                <a:lnTo>
                  <a:pt x="134994" y="843"/>
                </a:lnTo>
                <a:lnTo>
                  <a:pt x="135408" y="1043"/>
                </a:lnTo>
                <a:lnTo>
                  <a:pt x="136123" y="1314"/>
                </a:lnTo>
                <a:lnTo>
                  <a:pt x="136351" y="1443"/>
                </a:lnTo>
                <a:lnTo>
                  <a:pt x="136523" y="1514"/>
                </a:lnTo>
                <a:lnTo>
                  <a:pt x="250823" y="58664"/>
                </a:lnTo>
                <a:cubicBezTo>
                  <a:pt x="255656" y="61087"/>
                  <a:pt x="258708" y="66031"/>
                  <a:pt x="258708" y="71438"/>
                </a:cubicBezTo>
                <a:cubicBezTo>
                  <a:pt x="258708" y="76844"/>
                  <a:pt x="255656" y="81788"/>
                  <a:pt x="250823" y="84211"/>
                </a:cubicBezTo>
                <a:lnTo>
                  <a:pt x="136523" y="141361"/>
                </a:lnTo>
                <a:cubicBezTo>
                  <a:pt x="132502" y="143370"/>
                  <a:pt x="127770" y="143370"/>
                  <a:pt x="123750" y="141361"/>
                </a:cubicBezTo>
                <a:lnTo>
                  <a:pt x="9450" y="84211"/>
                </a:lnTo>
                <a:cubicBezTo>
                  <a:pt x="4616" y="81788"/>
                  <a:pt x="1564" y="76844"/>
                  <a:pt x="1564" y="71438"/>
                </a:cubicBezTo>
                <a:cubicBezTo>
                  <a:pt x="1564" y="66031"/>
                  <a:pt x="4616" y="61087"/>
                  <a:pt x="9450" y="58664"/>
                </a:cubicBezTo>
                <a:lnTo>
                  <a:pt x="123750" y="1514"/>
                </a:lnTo>
                <a:lnTo>
                  <a:pt x="123907" y="1443"/>
                </a:lnTo>
                <a:lnTo>
                  <a:pt x="124164" y="1300"/>
                </a:lnTo>
                <a:lnTo>
                  <a:pt x="125278" y="843"/>
                </a:lnTo>
                <a:lnTo>
                  <a:pt x="125436" y="814"/>
                </a:lnTo>
                <a:lnTo>
                  <a:pt x="125621" y="729"/>
                </a:lnTo>
                <a:lnTo>
                  <a:pt x="126850" y="386"/>
                </a:lnTo>
                <a:lnTo>
                  <a:pt x="128422" y="100"/>
                </a:lnTo>
                <a:lnTo>
                  <a:pt x="129222" y="29"/>
                </a:lnTo>
                <a:close/>
              </a:path>
            </a:pathLst>
          </a:cu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7"/>
          <p:cNvSpPr txBox="1"/>
          <p:nvPr/>
        </p:nvSpPr>
        <p:spPr>
          <a:xfrm>
            <a:off x="6649402" y="2795349"/>
            <a:ext cx="980301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可持续更新</a:t>
            </a:r>
            <a:endParaRPr sz="1100"/>
          </a:p>
        </p:txBody>
      </p:sp>
      <p:sp>
        <p:nvSpPr>
          <p:cNvPr id="281" name="Google Shape;281;p27"/>
          <p:cNvSpPr txBox="1"/>
          <p:nvPr/>
        </p:nvSpPr>
        <p:spPr>
          <a:xfrm>
            <a:off x="6655117" y="3029664"/>
            <a:ext cx="1125003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A9E6A"/>
                </a:solidFill>
                <a:latin typeface="Arial"/>
                <a:ea typeface="Arial"/>
                <a:cs typeface="Arial"/>
                <a:sym typeface="Arial"/>
              </a:rPr>
              <a:t>DESIGN SYSTEM 复用</a:t>
            </a:r>
            <a:endParaRPr sz="1100"/>
          </a:p>
        </p:txBody>
      </p:sp>
      <p:sp>
        <p:nvSpPr>
          <p:cNvPr id="282" name="Google Shape;282;p27"/>
          <p:cNvSpPr/>
          <p:nvPr/>
        </p:nvSpPr>
        <p:spPr>
          <a:xfrm>
            <a:off x="6665119" y="3228975"/>
            <a:ext cx="2235994" cy="7144"/>
          </a:xfrm>
          <a:custGeom>
            <a:rect b="b" l="l" r="r" t="t"/>
            <a:pathLst>
              <a:path extrusionOk="0" h="9525" w="2981325">
                <a:moveTo>
                  <a:pt x="0" y="0"/>
                </a:moveTo>
                <a:lnTo>
                  <a:pt x="2981325" y="0"/>
                </a:lnTo>
              </a:path>
            </a:pathLst>
          </a:custGeom>
          <a:noFill/>
          <a:ln cap="flat" cmpd="sng" w="14275">
            <a:solidFill>
              <a:srgbClr val="E8F5EE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27"/>
          <p:cNvSpPr txBox="1"/>
          <p:nvPr/>
        </p:nvSpPr>
        <p:spPr>
          <a:xfrm>
            <a:off x="6652974" y="3340060"/>
            <a:ext cx="1742110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· 保存 Design System 文件</a:t>
            </a:r>
            <a:endParaRPr sz="1100"/>
          </a:p>
        </p:txBody>
      </p:sp>
      <p:sp>
        <p:nvSpPr>
          <p:cNvPr id="284" name="Google Shape;284;p27"/>
          <p:cNvSpPr txBox="1"/>
          <p:nvPr/>
        </p:nvSpPr>
        <p:spPr>
          <a:xfrm>
            <a:off x="6652974" y="3540085"/>
            <a:ext cx="1120622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· 新对话粘贴即用</a:t>
            </a:r>
            <a:endParaRPr sz="1100"/>
          </a:p>
        </p:txBody>
      </p:sp>
      <p:sp>
        <p:nvSpPr>
          <p:cNvPr id="285" name="Google Shape;285;p27"/>
          <p:cNvSpPr txBox="1"/>
          <p:nvPr/>
        </p:nvSpPr>
        <p:spPr>
          <a:xfrm>
            <a:off x="6652974" y="3740110"/>
            <a:ext cx="1399943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· 加新页面风格不跑偏</a:t>
            </a:r>
            <a:endParaRPr sz="1100"/>
          </a:p>
        </p:txBody>
      </p:sp>
      <p:sp>
        <p:nvSpPr>
          <p:cNvPr id="286" name="Google Shape;286;p27"/>
          <p:cNvSpPr/>
          <p:nvPr/>
        </p:nvSpPr>
        <p:spPr>
          <a:xfrm>
            <a:off x="6665119" y="4114800"/>
            <a:ext cx="742950" cy="200025"/>
          </a:xfrm>
          <a:prstGeom prst="roundRect">
            <a:avLst>
              <a:gd fmla="val 50000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6716121" y="4164449"/>
            <a:ext cx="640946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3A9E6A"/>
                </a:solidFill>
                <a:latin typeface="Arial"/>
                <a:ea typeface="Arial"/>
                <a:cs typeface="Arial"/>
                <a:sym typeface="Arial"/>
              </a:rPr>
              <a:t>Demo C 彩蛋</a:t>
            </a:r>
            <a:endParaRPr sz="1100"/>
          </a:p>
        </p:txBody>
      </p:sp>
      <p:sp>
        <p:nvSpPr>
          <p:cNvPr id="288" name="Google Shape;288;p27"/>
          <p:cNvSpPr/>
          <p:nvPr/>
        </p:nvSpPr>
        <p:spPr>
          <a:xfrm>
            <a:off x="571500" y="4772025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95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27"/>
          <p:cNvSpPr txBox="1"/>
          <p:nvPr/>
        </p:nvSpPr>
        <p:spPr>
          <a:xfrm>
            <a:off x="3246120" y="4860608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全程不写一行代码，不用 Figma，不找设计师</a:t>
            </a:r>
            <a:endParaRPr sz="1100"/>
          </a:p>
        </p:txBody>
      </p:sp>
      <p:sp>
        <p:nvSpPr>
          <p:cNvPr id="290" name="Google Shape;290;p27"/>
          <p:cNvSpPr txBox="1"/>
          <p:nvPr/>
        </p:nvSpPr>
        <p:spPr>
          <a:xfrm>
            <a:off x="8320076" y="4958477"/>
            <a:ext cx="40530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03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8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8"/>
          <p:cNvSpPr txBox="1"/>
          <p:nvPr/>
        </p:nvSpPr>
        <p:spPr>
          <a:xfrm>
            <a:off x="2884900" y="224314"/>
            <a:ext cx="337420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Claude Design 能做什么</a:t>
            </a:r>
            <a:endParaRPr sz="1100"/>
          </a:p>
        </p:txBody>
      </p:sp>
      <p:sp>
        <p:nvSpPr>
          <p:cNvPr id="298" name="Google Shape;298;p28"/>
          <p:cNvSpPr txBox="1"/>
          <p:nvPr/>
        </p:nvSpPr>
        <p:spPr>
          <a:xfrm>
            <a:off x="2315146" y="523637"/>
            <a:ext cx="4513707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六大核心能力 · Opus 4.8 驱动 · 原生集成 Claude Code</a:t>
            </a:r>
            <a:endParaRPr sz="1100"/>
          </a:p>
        </p:txBody>
      </p:sp>
      <p:sp>
        <p:nvSpPr>
          <p:cNvPr id="299" name="Google Shape;299;p28"/>
          <p:cNvSpPr/>
          <p:nvPr/>
        </p:nvSpPr>
        <p:spPr>
          <a:xfrm>
            <a:off x="571500" y="800100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8"/>
          <p:cNvSpPr/>
          <p:nvPr/>
        </p:nvSpPr>
        <p:spPr>
          <a:xfrm>
            <a:off x="571500" y="900113"/>
            <a:ext cx="2528888" cy="1500188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8"/>
          <p:cNvSpPr/>
          <p:nvPr/>
        </p:nvSpPr>
        <p:spPr>
          <a:xfrm>
            <a:off x="571500" y="900113"/>
            <a:ext cx="2528888" cy="35719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8"/>
          <p:cNvSpPr txBox="1"/>
          <p:nvPr/>
        </p:nvSpPr>
        <p:spPr>
          <a:xfrm>
            <a:off x="2539092" y="1041559"/>
            <a:ext cx="4555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303" name="Google Shape;303;p28"/>
          <p:cNvSpPr/>
          <p:nvPr/>
        </p:nvSpPr>
        <p:spPr>
          <a:xfrm>
            <a:off x="742950" y="1057275"/>
            <a:ext cx="314325" cy="314325"/>
          </a:xfrm>
          <a:prstGeom prst="roundRect">
            <a:avLst>
              <a:gd fmla="val 20455" name="adj"/>
            </a:avLst>
          </a:prstGeom>
          <a:solidFill>
            <a:srgbClr val="C96133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8"/>
          <p:cNvSpPr/>
          <p:nvPr/>
        </p:nvSpPr>
        <p:spPr>
          <a:xfrm>
            <a:off x="804863" y="1119188"/>
            <a:ext cx="190500" cy="190695"/>
          </a:xfrm>
          <a:custGeom>
            <a:rect b="b" l="l" r="r" t="t"/>
            <a:pathLst>
              <a:path extrusionOk="0" h="254260" w="254000">
                <a:moveTo>
                  <a:pt x="127000" y="0"/>
                </a:moveTo>
                <a:cubicBezTo>
                  <a:pt x="196825" y="0"/>
                  <a:pt x="254000" y="50825"/>
                  <a:pt x="254000" y="114300"/>
                </a:cubicBezTo>
                <a:cubicBezTo>
                  <a:pt x="254000" y="131458"/>
                  <a:pt x="246380" y="147828"/>
                  <a:pt x="232994" y="159715"/>
                </a:cubicBezTo>
                <a:cubicBezTo>
                  <a:pt x="219913" y="171323"/>
                  <a:pt x="202362" y="177800"/>
                  <a:pt x="184150" y="177800"/>
                </a:cubicBezTo>
                <a:lnTo>
                  <a:pt x="152197" y="177800"/>
                </a:lnTo>
                <a:cubicBezTo>
                  <a:pt x="146368" y="177706"/>
                  <a:pt x="141223" y="181593"/>
                  <a:pt x="139721" y="187226"/>
                </a:cubicBezTo>
                <a:cubicBezTo>
                  <a:pt x="138219" y="192859"/>
                  <a:pt x="140745" y="198791"/>
                  <a:pt x="145847" y="201613"/>
                </a:cubicBezTo>
                <a:cubicBezTo>
                  <a:pt x="146736" y="202104"/>
                  <a:pt x="147563" y="202701"/>
                  <a:pt x="148311" y="203391"/>
                </a:cubicBezTo>
                <a:cubicBezTo>
                  <a:pt x="157214" y="211606"/>
                  <a:pt x="160122" y="224464"/>
                  <a:pt x="155620" y="235712"/>
                </a:cubicBezTo>
                <a:cubicBezTo>
                  <a:pt x="151118" y="246959"/>
                  <a:pt x="140142" y="254260"/>
                  <a:pt x="128029" y="254064"/>
                </a:cubicBezTo>
                <a:lnTo>
                  <a:pt x="126048" y="253949"/>
                </a:lnTo>
                <a:lnTo>
                  <a:pt x="126911" y="254000"/>
                </a:lnTo>
                <a:lnTo>
                  <a:pt x="123444" y="253949"/>
                </a:lnTo>
                <a:cubicBezTo>
                  <a:pt x="56134" y="252095"/>
                  <a:pt x="1905" y="197866"/>
                  <a:pt x="51" y="130556"/>
                </a:cubicBezTo>
                <a:lnTo>
                  <a:pt x="0" y="127000"/>
                </a:lnTo>
                <a:cubicBezTo>
                  <a:pt x="0" y="56858"/>
                  <a:pt x="56858" y="0"/>
                  <a:pt x="127000" y="0"/>
                </a:cubicBezTo>
                <a:moveTo>
                  <a:pt x="82550" y="82550"/>
                </a:moveTo>
                <a:cubicBezTo>
                  <a:pt x="69258" y="82546"/>
                  <a:pt x="58210" y="92790"/>
                  <a:pt x="57213" y="106045"/>
                </a:cubicBezTo>
                <a:lnTo>
                  <a:pt x="57150" y="107950"/>
                </a:lnTo>
                <a:cubicBezTo>
                  <a:pt x="57150" y="121978"/>
                  <a:pt x="68522" y="133350"/>
                  <a:pt x="82550" y="133350"/>
                </a:cubicBezTo>
                <a:cubicBezTo>
                  <a:pt x="96578" y="133350"/>
                  <a:pt x="107950" y="121978"/>
                  <a:pt x="107950" y="107950"/>
                </a:cubicBezTo>
                <a:cubicBezTo>
                  <a:pt x="107950" y="93922"/>
                  <a:pt x="96578" y="82550"/>
                  <a:pt x="82550" y="82550"/>
                </a:cubicBezTo>
                <a:moveTo>
                  <a:pt x="184150" y="82550"/>
                </a:moveTo>
                <a:cubicBezTo>
                  <a:pt x="170858" y="82546"/>
                  <a:pt x="159810" y="92790"/>
                  <a:pt x="158814" y="106045"/>
                </a:cubicBezTo>
                <a:lnTo>
                  <a:pt x="158750" y="107950"/>
                </a:lnTo>
                <a:cubicBezTo>
                  <a:pt x="158750" y="121978"/>
                  <a:pt x="170122" y="133350"/>
                  <a:pt x="184150" y="133350"/>
                </a:cubicBezTo>
                <a:cubicBezTo>
                  <a:pt x="198178" y="133350"/>
                  <a:pt x="209550" y="121978"/>
                  <a:pt x="209550" y="107950"/>
                </a:cubicBezTo>
                <a:cubicBezTo>
                  <a:pt x="209550" y="93922"/>
                  <a:pt x="198178" y="82550"/>
                  <a:pt x="184150" y="82550"/>
                </a:cubicBezTo>
                <a:moveTo>
                  <a:pt x="133350" y="44450"/>
                </a:moveTo>
                <a:cubicBezTo>
                  <a:pt x="120058" y="44446"/>
                  <a:pt x="109010" y="54690"/>
                  <a:pt x="108013" y="67945"/>
                </a:cubicBezTo>
                <a:lnTo>
                  <a:pt x="107950" y="69850"/>
                </a:lnTo>
                <a:cubicBezTo>
                  <a:pt x="107950" y="83878"/>
                  <a:pt x="119322" y="95250"/>
                  <a:pt x="133350" y="95250"/>
                </a:cubicBezTo>
                <a:cubicBezTo>
                  <a:pt x="147378" y="95250"/>
                  <a:pt x="158750" y="83878"/>
                  <a:pt x="158750" y="69850"/>
                </a:cubicBezTo>
                <a:cubicBezTo>
                  <a:pt x="158750" y="55822"/>
                  <a:pt x="147378" y="44450"/>
                  <a:pt x="133350" y="44450"/>
                </a:cubicBezTo>
              </a:path>
            </a:pathLst>
          </a:cu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8"/>
          <p:cNvSpPr txBox="1"/>
          <p:nvPr/>
        </p:nvSpPr>
        <p:spPr>
          <a:xfrm>
            <a:off x="729377" y="1427678"/>
            <a:ext cx="518833" cy="21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落地页</a:t>
            </a:r>
            <a:endParaRPr sz="1100"/>
          </a:p>
        </p:txBody>
      </p:sp>
      <p:sp>
        <p:nvSpPr>
          <p:cNvPr id="306" name="Google Shape;306;p28"/>
          <p:cNvSpPr txBox="1"/>
          <p:nvPr/>
        </p:nvSpPr>
        <p:spPr>
          <a:xfrm>
            <a:off x="734372" y="1613050"/>
            <a:ext cx="1518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LANDING PAGE</a:t>
            </a:r>
            <a:endParaRPr sz="1100"/>
          </a:p>
        </p:txBody>
      </p:sp>
      <p:sp>
        <p:nvSpPr>
          <p:cNvPr id="307" name="Google Shape;307;p28"/>
          <p:cNvSpPr txBox="1"/>
          <p:nvPr/>
        </p:nvSpPr>
        <p:spPr>
          <a:xfrm>
            <a:off x="732234" y="1766292"/>
            <a:ext cx="16665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专业视觉稿，Hero + 版块布局</a:t>
            </a:r>
            <a:endParaRPr sz="1100"/>
          </a:p>
        </p:txBody>
      </p:sp>
      <p:sp>
        <p:nvSpPr>
          <p:cNvPr id="308" name="Google Shape;308;p28"/>
          <p:cNvSpPr txBox="1"/>
          <p:nvPr/>
        </p:nvSpPr>
        <p:spPr>
          <a:xfrm>
            <a:off x="732234" y="1923455"/>
            <a:ext cx="100726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可交互高保真原型</a:t>
            </a:r>
            <a:endParaRPr sz="1100"/>
          </a:p>
        </p:txBody>
      </p:sp>
      <p:sp>
        <p:nvSpPr>
          <p:cNvPr id="309" name="Google Shape;309;p28"/>
          <p:cNvSpPr txBox="1"/>
          <p:nvPr/>
        </p:nvSpPr>
        <p:spPr>
          <a:xfrm>
            <a:off x="732234" y="2080617"/>
            <a:ext cx="100726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自然语言微调修改</a:t>
            </a:r>
            <a:endParaRPr sz="1100"/>
          </a:p>
        </p:txBody>
      </p:sp>
      <p:sp>
        <p:nvSpPr>
          <p:cNvPr id="310" name="Google Shape;310;p28"/>
          <p:cNvSpPr/>
          <p:nvPr/>
        </p:nvSpPr>
        <p:spPr>
          <a:xfrm>
            <a:off x="3271838" y="900113"/>
            <a:ext cx="2528888" cy="1500188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8"/>
          <p:cNvSpPr/>
          <p:nvPr/>
        </p:nvSpPr>
        <p:spPr>
          <a:xfrm>
            <a:off x="3271838" y="900113"/>
            <a:ext cx="2528888" cy="35719"/>
          </a:xfrm>
          <a:prstGeom prst="roundRect">
            <a:avLst>
              <a:gd fmla="val 500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8"/>
          <p:cNvSpPr txBox="1"/>
          <p:nvPr/>
        </p:nvSpPr>
        <p:spPr>
          <a:xfrm>
            <a:off x="5127291" y="1041559"/>
            <a:ext cx="567707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313" name="Google Shape;313;p28"/>
          <p:cNvSpPr/>
          <p:nvPr/>
        </p:nvSpPr>
        <p:spPr>
          <a:xfrm>
            <a:off x="3443288" y="1057275"/>
            <a:ext cx="314325" cy="314325"/>
          </a:xfrm>
          <a:prstGeom prst="roundRect">
            <a:avLst>
              <a:gd fmla="val 20455" name="adj"/>
            </a:avLst>
          </a:prstGeom>
          <a:solidFill>
            <a:srgbClr val="3D7DE4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4" name="Google Shape;314;p28"/>
          <p:cNvGrpSpPr/>
          <p:nvPr/>
        </p:nvGrpSpPr>
        <p:grpSpPr>
          <a:xfrm>
            <a:off x="3514725" y="1128713"/>
            <a:ext cx="171450" cy="171450"/>
            <a:chOff x="4686300" y="1504950"/>
            <a:chExt cx="228600" cy="228600"/>
          </a:xfrm>
        </p:grpSpPr>
        <p:sp>
          <p:nvSpPr>
            <p:cNvPr id="315" name="Google Shape;315;p28"/>
            <p:cNvSpPr/>
            <p:nvPr/>
          </p:nvSpPr>
          <p:spPr>
            <a:xfrm>
              <a:off x="4686300" y="1504950"/>
              <a:ext cx="101600" cy="228600"/>
            </a:xfrm>
            <a:custGeom>
              <a:rect b="b" l="l" r="r" t="t"/>
              <a:pathLst>
                <a:path extrusionOk="0" h="228600" w="101600">
                  <a:moveTo>
                    <a:pt x="63500" y="0"/>
                  </a:moveTo>
                  <a:cubicBezTo>
                    <a:pt x="84542" y="0"/>
                    <a:pt x="101600" y="17058"/>
                    <a:pt x="101600" y="38100"/>
                  </a:cubicBezTo>
                  <a:lnTo>
                    <a:pt x="101600" y="190500"/>
                  </a:lnTo>
                  <a:cubicBezTo>
                    <a:pt x="101600" y="211542"/>
                    <a:pt x="84542" y="228600"/>
                    <a:pt x="63500" y="228600"/>
                  </a:cubicBezTo>
                  <a:lnTo>
                    <a:pt x="38100" y="228600"/>
                  </a:lnTo>
                  <a:cubicBezTo>
                    <a:pt x="17058" y="228600"/>
                    <a:pt x="0" y="211542"/>
                    <a:pt x="0" y="1905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3D7D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8"/>
            <p:cNvSpPr/>
            <p:nvPr/>
          </p:nvSpPr>
          <p:spPr>
            <a:xfrm>
              <a:off x="4813300" y="1504950"/>
              <a:ext cx="101600" cy="152400"/>
            </a:xfrm>
            <a:custGeom>
              <a:rect b="b" l="l" r="r" t="t"/>
              <a:pathLst>
                <a:path extrusionOk="0" h="152400" w="101600">
                  <a:moveTo>
                    <a:pt x="63500" y="0"/>
                  </a:moveTo>
                  <a:cubicBezTo>
                    <a:pt x="84542" y="0"/>
                    <a:pt x="101600" y="17058"/>
                    <a:pt x="101600" y="38100"/>
                  </a:cubicBezTo>
                  <a:lnTo>
                    <a:pt x="101600" y="114300"/>
                  </a:lnTo>
                  <a:cubicBezTo>
                    <a:pt x="101600" y="135342"/>
                    <a:pt x="84542" y="152400"/>
                    <a:pt x="63500" y="152400"/>
                  </a:cubicBezTo>
                  <a:lnTo>
                    <a:pt x="38100" y="152400"/>
                  </a:lnTo>
                  <a:cubicBezTo>
                    <a:pt x="17058" y="152400"/>
                    <a:pt x="0" y="135342"/>
                    <a:pt x="0" y="1143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3D7D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7" name="Google Shape;317;p28"/>
          <p:cNvSpPr txBox="1"/>
          <p:nvPr/>
        </p:nvSpPr>
        <p:spPr>
          <a:xfrm>
            <a:off x="3429714" y="1427678"/>
            <a:ext cx="486053" cy="21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App UI</a:t>
            </a:r>
            <a:endParaRPr sz="1100"/>
          </a:p>
        </p:txBody>
      </p:sp>
      <p:sp>
        <p:nvSpPr>
          <p:cNvPr id="318" name="Google Shape;318;p28"/>
          <p:cNvSpPr txBox="1"/>
          <p:nvPr/>
        </p:nvSpPr>
        <p:spPr>
          <a:xfrm>
            <a:off x="3434715" y="1613059"/>
            <a:ext cx="8607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APP PROTOTYPING</a:t>
            </a:r>
            <a:endParaRPr sz="1100"/>
          </a:p>
        </p:txBody>
      </p:sp>
      <p:sp>
        <p:nvSpPr>
          <p:cNvPr id="319" name="Google Shape;319;p28"/>
          <p:cNvSpPr txBox="1"/>
          <p:nvPr/>
        </p:nvSpPr>
        <p:spPr>
          <a:xfrm>
            <a:off x="3432572" y="1766292"/>
            <a:ext cx="151867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界面原型，移动端 / 桌面端</a:t>
            </a:r>
            <a:endParaRPr sz="1100"/>
          </a:p>
        </p:txBody>
      </p:sp>
      <p:sp>
        <p:nvSpPr>
          <p:cNvPr id="320" name="Google Shape;320;p28"/>
          <p:cNvSpPr txBox="1"/>
          <p:nvPr/>
        </p:nvSpPr>
        <p:spPr>
          <a:xfrm>
            <a:off x="3432572" y="1923455"/>
            <a:ext cx="125372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阴影、动画、多端适配</a:t>
            </a:r>
            <a:endParaRPr sz="1100"/>
          </a:p>
        </p:txBody>
      </p:sp>
      <p:sp>
        <p:nvSpPr>
          <p:cNvPr id="321" name="Google Shape;321;p28"/>
          <p:cNvSpPr txBox="1"/>
          <p:nvPr/>
        </p:nvSpPr>
        <p:spPr>
          <a:xfrm>
            <a:off x="3432572" y="2080617"/>
            <a:ext cx="129069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iOS / iPadOS / macOS</a:t>
            </a:r>
            <a:endParaRPr sz="1100"/>
          </a:p>
        </p:txBody>
      </p:sp>
      <p:sp>
        <p:nvSpPr>
          <p:cNvPr id="322" name="Google Shape;322;p28"/>
          <p:cNvSpPr/>
          <p:nvPr/>
        </p:nvSpPr>
        <p:spPr>
          <a:xfrm>
            <a:off x="5972175" y="900113"/>
            <a:ext cx="2600325" cy="1500188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8"/>
          <p:cNvSpPr/>
          <p:nvPr/>
        </p:nvSpPr>
        <p:spPr>
          <a:xfrm>
            <a:off x="5972175" y="900113"/>
            <a:ext cx="2600325" cy="35719"/>
          </a:xfrm>
          <a:prstGeom prst="roundRect">
            <a:avLst>
              <a:gd fmla="val 50000" name="adj"/>
            </a:avLst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8"/>
          <p:cNvSpPr txBox="1"/>
          <p:nvPr/>
        </p:nvSpPr>
        <p:spPr>
          <a:xfrm>
            <a:off x="7899066" y="1041559"/>
            <a:ext cx="567707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3A9E6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325" name="Google Shape;325;p28"/>
          <p:cNvSpPr/>
          <p:nvPr/>
        </p:nvSpPr>
        <p:spPr>
          <a:xfrm>
            <a:off x="6143625" y="1057275"/>
            <a:ext cx="314325" cy="314325"/>
          </a:xfrm>
          <a:prstGeom prst="roundRect">
            <a:avLst>
              <a:gd fmla="val 20455" name="adj"/>
            </a:avLst>
          </a:prstGeom>
          <a:solidFill>
            <a:srgbClr val="3A9E6A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6" name="Google Shape;326;p28"/>
          <p:cNvGrpSpPr/>
          <p:nvPr/>
        </p:nvGrpSpPr>
        <p:grpSpPr>
          <a:xfrm>
            <a:off x="6205269" y="1119188"/>
            <a:ext cx="191037" cy="190769"/>
            <a:chOff x="8273692" y="1492250"/>
            <a:chExt cx="254716" cy="254358"/>
          </a:xfrm>
        </p:grpSpPr>
        <p:sp>
          <p:nvSpPr>
            <p:cNvPr id="327" name="Google Shape;327;p28"/>
            <p:cNvSpPr/>
            <p:nvPr/>
          </p:nvSpPr>
          <p:spPr>
            <a:xfrm>
              <a:off x="8337550" y="1555750"/>
              <a:ext cx="127000" cy="127000"/>
            </a:xfrm>
            <a:custGeom>
              <a:rect b="b" l="l" r="r" t="t"/>
              <a:pathLst>
                <a:path extrusionOk="0" h="127000" w="127000">
                  <a:moveTo>
                    <a:pt x="101600" y="0"/>
                  </a:moveTo>
                  <a:lnTo>
                    <a:pt x="25400" y="0"/>
                  </a:lnTo>
                  <a:cubicBezTo>
                    <a:pt x="11372" y="0"/>
                    <a:pt x="0" y="11372"/>
                    <a:pt x="0" y="25400"/>
                  </a:cubicBezTo>
                  <a:lnTo>
                    <a:pt x="0" y="101600"/>
                  </a:lnTo>
                  <a:cubicBezTo>
                    <a:pt x="0" y="115628"/>
                    <a:pt x="11372" y="127000"/>
                    <a:pt x="25400" y="127000"/>
                  </a:cubicBezTo>
                  <a:lnTo>
                    <a:pt x="101600" y="127000"/>
                  </a:lnTo>
                  <a:cubicBezTo>
                    <a:pt x="115628" y="127000"/>
                    <a:pt x="127000" y="115628"/>
                    <a:pt x="127000" y="101600"/>
                  </a:cubicBezTo>
                  <a:lnTo>
                    <a:pt x="127000" y="25400"/>
                  </a:lnTo>
                  <a:cubicBezTo>
                    <a:pt x="127000" y="11372"/>
                    <a:pt x="115628" y="0"/>
                    <a:pt x="101600" y="0"/>
                  </a:cubicBez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8"/>
            <p:cNvSpPr/>
            <p:nvPr/>
          </p:nvSpPr>
          <p:spPr>
            <a:xfrm>
              <a:off x="8273692" y="1555750"/>
              <a:ext cx="38816" cy="25400"/>
            </a:xfrm>
            <a:custGeom>
              <a:rect b="b" l="l" r="r" t="t"/>
              <a:pathLst>
                <a:path extrusionOk="0" h="25400" w="38816">
                  <a:moveTo>
                    <a:pt x="25758" y="0"/>
                  </a:moveTo>
                  <a:cubicBezTo>
                    <a:pt x="32477" y="7"/>
                    <a:pt x="38028" y="5248"/>
                    <a:pt x="38422" y="11956"/>
                  </a:cubicBezTo>
                  <a:cubicBezTo>
                    <a:pt x="38816" y="18664"/>
                    <a:pt x="33916" y="24517"/>
                    <a:pt x="27244" y="25311"/>
                  </a:cubicBezTo>
                  <a:lnTo>
                    <a:pt x="25758" y="25400"/>
                  </a:lnTo>
                  <a:lnTo>
                    <a:pt x="13058" y="25400"/>
                  </a:lnTo>
                  <a:cubicBezTo>
                    <a:pt x="6338" y="25393"/>
                    <a:pt x="788" y="20152"/>
                    <a:pt x="394" y="13444"/>
                  </a:cubicBezTo>
                  <a:cubicBezTo>
                    <a:pt x="0" y="6736"/>
                    <a:pt x="4900" y="883"/>
                    <a:pt x="11572" y="89"/>
                  </a:cubicBezTo>
                  <a:lnTo>
                    <a:pt x="13058" y="0"/>
                  </a:lnTo>
                  <a:lnTo>
                    <a:pt x="25758" y="0"/>
                  </a:ln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8"/>
            <p:cNvSpPr/>
            <p:nvPr/>
          </p:nvSpPr>
          <p:spPr>
            <a:xfrm>
              <a:off x="8273692" y="1657350"/>
              <a:ext cx="38816" cy="25400"/>
            </a:xfrm>
            <a:custGeom>
              <a:rect b="b" l="l" r="r" t="t"/>
              <a:pathLst>
                <a:path extrusionOk="0" h="25400" w="38816">
                  <a:moveTo>
                    <a:pt x="25758" y="0"/>
                  </a:moveTo>
                  <a:cubicBezTo>
                    <a:pt x="32477" y="7"/>
                    <a:pt x="38028" y="5248"/>
                    <a:pt x="38422" y="11956"/>
                  </a:cubicBezTo>
                  <a:cubicBezTo>
                    <a:pt x="38816" y="18664"/>
                    <a:pt x="33916" y="24517"/>
                    <a:pt x="27244" y="25311"/>
                  </a:cubicBezTo>
                  <a:lnTo>
                    <a:pt x="25758" y="25400"/>
                  </a:lnTo>
                  <a:lnTo>
                    <a:pt x="13058" y="25400"/>
                  </a:lnTo>
                  <a:cubicBezTo>
                    <a:pt x="6338" y="25393"/>
                    <a:pt x="788" y="20152"/>
                    <a:pt x="394" y="13444"/>
                  </a:cubicBezTo>
                  <a:cubicBezTo>
                    <a:pt x="0" y="6736"/>
                    <a:pt x="4900" y="883"/>
                    <a:pt x="11572" y="89"/>
                  </a:cubicBezTo>
                  <a:lnTo>
                    <a:pt x="13058" y="0"/>
                  </a:lnTo>
                  <a:lnTo>
                    <a:pt x="25758" y="0"/>
                  </a:ln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8"/>
            <p:cNvSpPr/>
            <p:nvPr/>
          </p:nvSpPr>
          <p:spPr>
            <a:xfrm>
              <a:off x="8337550" y="1492250"/>
              <a:ext cx="25400" cy="38458"/>
            </a:xfrm>
            <a:custGeom>
              <a:rect b="b" l="l" r="r" t="t"/>
              <a:pathLst>
                <a:path extrusionOk="0" h="38458" w="25400">
                  <a:moveTo>
                    <a:pt x="12700" y="0"/>
                  </a:moveTo>
                  <a:cubicBezTo>
                    <a:pt x="19139" y="1"/>
                    <a:pt x="24558" y="4820"/>
                    <a:pt x="25311" y="11214"/>
                  </a:cubicBezTo>
                  <a:lnTo>
                    <a:pt x="25400" y="12700"/>
                  </a:lnTo>
                  <a:lnTo>
                    <a:pt x="25400" y="25400"/>
                  </a:lnTo>
                  <a:cubicBezTo>
                    <a:pt x="25393" y="32119"/>
                    <a:pt x="20152" y="37670"/>
                    <a:pt x="13444" y="38064"/>
                  </a:cubicBezTo>
                  <a:cubicBezTo>
                    <a:pt x="6736" y="38458"/>
                    <a:pt x="883" y="33558"/>
                    <a:pt x="89" y="26886"/>
                  </a:cubicBezTo>
                  <a:lnTo>
                    <a:pt x="0" y="25400"/>
                  </a:lnTo>
                  <a:lnTo>
                    <a:pt x="0" y="12700"/>
                  </a:lnTo>
                  <a:cubicBezTo>
                    <a:pt x="0" y="5686"/>
                    <a:pt x="5686" y="0"/>
                    <a:pt x="12700" y="0"/>
                  </a:cubicBez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8"/>
            <p:cNvSpPr/>
            <p:nvPr/>
          </p:nvSpPr>
          <p:spPr>
            <a:xfrm>
              <a:off x="8439150" y="1492250"/>
              <a:ext cx="25400" cy="38458"/>
            </a:xfrm>
            <a:custGeom>
              <a:rect b="b" l="l" r="r" t="t"/>
              <a:pathLst>
                <a:path extrusionOk="0" h="38458" w="25400">
                  <a:moveTo>
                    <a:pt x="12700" y="0"/>
                  </a:moveTo>
                  <a:cubicBezTo>
                    <a:pt x="19139" y="1"/>
                    <a:pt x="24558" y="4820"/>
                    <a:pt x="25311" y="11214"/>
                  </a:cubicBezTo>
                  <a:lnTo>
                    <a:pt x="25400" y="12700"/>
                  </a:lnTo>
                  <a:lnTo>
                    <a:pt x="25400" y="25400"/>
                  </a:lnTo>
                  <a:cubicBezTo>
                    <a:pt x="25393" y="32119"/>
                    <a:pt x="20152" y="37670"/>
                    <a:pt x="13444" y="38064"/>
                  </a:cubicBezTo>
                  <a:cubicBezTo>
                    <a:pt x="6736" y="38458"/>
                    <a:pt x="883" y="33558"/>
                    <a:pt x="89" y="26886"/>
                  </a:cubicBezTo>
                  <a:lnTo>
                    <a:pt x="0" y="25400"/>
                  </a:lnTo>
                  <a:lnTo>
                    <a:pt x="0" y="12700"/>
                  </a:lnTo>
                  <a:cubicBezTo>
                    <a:pt x="0" y="5686"/>
                    <a:pt x="5686" y="0"/>
                    <a:pt x="12700" y="0"/>
                  </a:cubicBez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8"/>
            <p:cNvSpPr/>
            <p:nvPr/>
          </p:nvSpPr>
          <p:spPr>
            <a:xfrm>
              <a:off x="8489592" y="1555750"/>
              <a:ext cx="38816" cy="25400"/>
            </a:xfrm>
            <a:custGeom>
              <a:rect b="b" l="l" r="r" t="t"/>
              <a:pathLst>
                <a:path extrusionOk="0" h="25400" w="38816">
                  <a:moveTo>
                    <a:pt x="25758" y="0"/>
                  </a:moveTo>
                  <a:cubicBezTo>
                    <a:pt x="32477" y="7"/>
                    <a:pt x="38028" y="5248"/>
                    <a:pt x="38422" y="11956"/>
                  </a:cubicBezTo>
                  <a:cubicBezTo>
                    <a:pt x="38816" y="18664"/>
                    <a:pt x="33916" y="24517"/>
                    <a:pt x="27244" y="25311"/>
                  </a:cubicBezTo>
                  <a:lnTo>
                    <a:pt x="25758" y="25400"/>
                  </a:lnTo>
                  <a:lnTo>
                    <a:pt x="13058" y="25400"/>
                  </a:lnTo>
                  <a:cubicBezTo>
                    <a:pt x="6338" y="25393"/>
                    <a:pt x="788" y="20152"/>
                    <a:pt x="394" y="13444"/>
                  </a:cubicBezTo>
                  <a:cubicBezTo>
                    <a:pt x="0" y="6736"/>
                    <a:pt x="4900" y="883"/>
                    <a:pt x="11572" y="89"/>
                  </a:cubicBezTo>
                  <a:lnTo>
                    <a:pt x="13058" y="0"/>
                  </a:lnTo>
                  <a:lnTo>
                    <a:pt x="25758" y="0"/>
                  </a:ln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8"/>
            <p:cNvSpPr/>
            <p:nvPr/>
          </p:nvSpPr>
          <p:spPr>
            <a:xfrm>
              <a:off x="8489592" y="1657350"/>
              <a:ext cx="38816" cy="25400"/>
            </a:xfrm>
            <a:custGeom>
              <a:rect b="b" l="l" r="r" t="t"/>
              <a:pathLst>
                <a:path extrusionOk="0" h="25400" w="38816">
                  <a:moveTo>
                    <a:pt x="25758" y="0"/>
                  </a:moveTo>
                  <a:cubicBezTo>
                    <a:pt x="32477" y="7"/>
                    <a:pt x="38028" y="5248"/>
                    <a:pt x="38422" y="11956"/>
                  </a:cubicBezTo>
                  <a:cubicBezTo>
                    <a:pt x="38816" y="18664"/>
                    <a:pt x="33916" y="24517"/>
                    <a:pt x="27244" y="25311"/>
                  </a:cubicBezTo>
                  <a:lnTo>
                    <a:pt x="25758" y="25400"/>
                  </a:lnTo>
                  <a:lnTo>
                    <a:pt x="13058" y="25400"/>
                  </a:lnTo>
                  <a:cubicBezTo>
                    <a:pt x="6338" y="25393"/>
                    <a:pt x="788" y="20152"/>
                    <a:pt x="394" y="13444"/>
                  </a:cubicBezTo>
                  <a:cubicBezTo>
                    <a:pt x="0" y="6736"/>
                    <a:pt x="4900" y="883"/>
                    <a:pt x="11572" y="89"/>
                  </a:cubicBezTo>
                  <a:lnTo>
                    <a:pt x="13058" y="0"/>
                  </a:lnTo>
                  <a:lnTo>
                    <a:pt x="25758" y="0"/>
                  </a:ln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8"/>
            <p:cNvSpPr/>
            <p:nvPr/>
          </p:nvSpPr>
          <p:spPr>
            <a:xfrm>
              <a:off x="8337550" y="1708150"/>
              <a:ext cx="25400" cy="38458"/>
            </a:xfrm>
            <a:custGeom>
              <a:rect b="b" l="l" r="r" t="t"/>
              <a:pathLst>
                <a:path extrusionOk="0" h="38458" w="25400">
                  <a:moveTo>
                    <a:pt x="12700" y="0"/>
                  </a:moveTo>
                  <a:cubicBezTo>
                    <a:pt x="19139" y="1"/>
                    <a:pt x="24558" y="4820"/>
                    <a:pt x="25311" y="11214"/>
                  </a:cubicBezTo>
                  <a:lnTo>
                    <a:pt x="25400" y="12700"/>
                  </a:lnTo>
                  <a:lnTo>
                    <a:pt x="25400" y="25400"/>
                  </a:lnTo>
                  <a:cubicBezTo>
                    <a:pt x="25393" y="32119"/>
                    <a:pt x="20152" y="37670"/>
                    <a:pt x="13444" y="38064"/>
                  </a:cubicBezTo>
                  <a:cubicBezTo>
                    <a:pt x="6736" y="38458"/>
                    <a:pt x="883" y="33558"/>
                    <a:pt x="89" y="26886"/>
                  </a:cubicBezTo>
                  <a:lnTo>
                    <a:pt x="0" y="25400"/>
                  </a:lnTo>
                  <a:lnTo>
                    <a:pt x="0" y="12700"/>
                  </a:lnTo>
                  <a:cubicBezTo>
                    <a:pt x="0" y="5686"/>
                    <a:pt x="5686" y="0"/>
                    <a:pt x="12700" y="0"/>
                  </a:cubicBez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8"/>
            <p:cNvSpPr/>
            <p:nvPr/>
          </p:nvSpPr>
          <p:spPr>
            <a:xfrm>
              <a:off x="8439150" y="1708150"/>
              <a:ext cx="25400" cy="38458"/>
            </a:xfrm>
            <a:custGeom>
              <a:rect b="b" l="l" r="r" t="t"/>
              <a:pathLst>
                <a:path extrusionOk="0" h="38458" w="25400">
                  <a:moveTo>
                    <a:pt x="12700" y="0"/>
                  </a:moveTo>
                  <a:cubicBezTo>
                    <a:pt x="19139" y="1"/>
                    <a:pt x="24558" y="4820"/>
                    <a:pt x="25311" y="11214"/>
                  </a:cubicBezTo>
                  <a:lnTo>
                    <a:pt x="25400" y="12700"/>
                  </a:lnTo>
                  <a:lnTo>
                    <a:pt x="25400" y="25400"/>
                  </a:lnTo>
                  <a:cubicBezTo>
                    <a:pt x="25393" y="32119"/>
                    <a:pt x="20152" y="37670"/>
                    <a:pt x="13444" y="38064"/>
                  </a:cubicBezTo>
                  <a:cubicBezTo>
                    <a:pt x="6736" y="38458"/>
                    <a:pt x="883" y="33558"/>
                    <a:pt x="89" y="26886"/>
                  </a:cubicBezTo>
                  <a:lnTo>
                    <a:pt x="0" y="25400"/>
                  </a:lnTo>
                  <a:lnTo>
                    <a:pt x="0" y="12700"/>
                  </a:lnTo>
                  <a:cubicBezTo>
                    <a:pt x="0" y="5686"/>
                    <a:pt x="5686" y="0"/>
                    <a:pt x="12700" y="0"/>
                  </a:cubicBez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6" name="Google Shape;336;p28"/>
          <p:cNvSpPr txBox="1"/>
          <p:nvPr/>
        </p:nvSpPr>
        <p:spPr>
          <a:xfrm>
            <a:off x="6130052" y="1427678"/>
            <a:ext cx="813845" cy="21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海报 / PPT</a:t>
            </a:r>
            <a:endParaRPr sz="1100"/>
          </a:p>
        </p:txBody>
      </p:sp>
      <p:sp>
        <p:nvSpPr>
          <p:cNvPr id="337" name="Google Shape;337;p28"/>
          <p:cNvSpPr txBox="1"/>
          <p:nvPr/>
        </p:nvSpPr>
        <p:spPr>
          <a:xfrm>
            <a:off x="6135048" y="1627906"/>
            <a:ext cx="1518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3A9E6A"/>
                </a:solidFill>
                <a:latin typeface="Arial"/>
                <a:ea typeface="Arial"/>
                <a:cs typeface="Arial"/>
                <a:sym typeface="Arial"/>
              </a:rPr>
              <a:t>BRAND MATERIALS</a:t>
            </a:r>
            <a:endParaRPr sz="1100"/>
          </a:p>
        </p:txBody>
      </p:sp>
      <p:sp>
        <p:nvSpPr>
          <p:cNvPr id="338" name="Google Shape;338;p28"/>
          <p:cNvSpPr txBox="1"/>
          <p:nvPr/>
        </p:nvSpPr>
        <p:spPr>
          <a:xfrm>
            <a:off x="6132909" y="1766292"/>
            <a:ext cx="113049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品牌物料，演示文稿</a:t>
            </a:r>
            <a:endParaRPr sz="1100"/>
          </a:p>
        </p:txBody>
      </p:sp>
      <p:sp>
        <p:nvSpPr>
          <p:cNvPr id="339" name="Google Shape;339;p28"/>
          <p:cNvSpPr txBox="1"/>
          <p:nvPr/>
        </p:nvSpPr>
        <p:spPr>
          <a:xfrm>
            <a:off x="6132909" y="1923455"/>
            <a:ext cx="16172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从链接自动生成风格统一 PPT</a:t>
            </a:r>
            <a:endParaRPr sz="1100"/>
          </a:p>
        </p:txBody>
      </p:sp>
      <p:sp>
        <p:nvSpPr>
          <p:cNvPr id="340" name="Google Shape;340;p28"/>
          <p:cNvSpPr txBox="1"/>
          <p:nvPr/>
        </p:nvSpPr>
        <p:spPr>
          <a:xfrm>
            <a:off x="6132909" y="2080617"/>
            <a:ext cx="114898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自动排版 + 配色卡片</a:t>
            </a:r>
            <a:endParaRPr sz="1100"/>
          </a:p>
        </p:txBody>
      </p:sp>
      <p:sp>
        <p:nvSpPr>
          <p:cNvPr id="341" name="Google Shape;341;p28"/>
          <p:cNvSpPr/>
          <p:nvPr/>
        </p:nvSpPr>
        <p:spPr>
          <a:xfrm>
            <a:off x="571500" y="2543175"/>
            <a:ext cx="2528888" cy="1500188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8"/>
          <p:cNvSpPr/>
          <p:nvPr/>
        </p:nvSpPr>
        <p:spPr>
          <a:xfrm>
            <a:off x="571500" y="2543175"/>
            <a:ext cx="2528888" cy="35719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8"/>
          <p:cNvSpPr txBox="1"/>
          <p:nvPr/>
        </p:nvSpPr>
        <p:spPr>
          <a:xfrm>
            <a:off x="2426954" y="2684621"/>
            <a:ext cx="56770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  <p:sp>
        <p:nvSpPr>
          <p:cNvPr id="344" name="Google Shape;344;p28"/>
          <p:cNvSpPr/>
          <p:nvPr/>
        </p:nvSpPr>
        <p:spPr>
          <a:xfrm>
            <a:off x="742950" y="2700338"/>
            <a:ext cx="314325" cy="314325"/>
          </a:xfrm>
          <a:prstGeom prst="roundRect">
            <a:avLst>
              <a:gd fmla="val 20455" name="adj"/>
            </a:avLst>
          </a:prstGeom>
          <a:solidFill>
            <a:srgbClr val="C96133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8"/>
          <p:cNvSpPr/>
          <p:nvPr/>
        </p:nvSpPr>
        <p:spPr>
          <a:xfrm>
            <a:off x="813355" y="2790825"/>
            <a:ext cx="173821" cy="133680"/>
          </a:xfrm>
          <a:custGeom>
            <a:rect b="b" l="l" r="r" t="t"/>
            <a:pathLst>
              <a:path extrusionOk="0" h="178240" w="231762">
                <a:moveTo>
                  <a:pt x="228630" y="108623"/>
                </a:moveTo>
                <a:cubicBezTo>
                  <a:pt x="231762" y="114894"/>
                  <a:pt x="229221" y="122516"/>
                  <a:pt x="222954" y="125654"/>
                </a:cubicBezTo>
                <a:lnTo>
                  <a:pt x="121354" y="176454"/>
                </a:lnTo>
                <a:cubicBezTo>
                  <a:pt x="117780" y="178240"/>
                  <a:pt x="113574" y="178240"/>
                  <a:pt x="110000" y="176454"/>
                </a:cubicBezTo>
                <a:lnTo>
                  <a:pt x="8400" y="125654"/>
                </a:lnTo>
                <a:cubicBezTo>
                  <a:pt x="2361" y="122397"/>
                  <a:pt x="0" y="114933"/>
                  <a:pt x="3068" y="108796"/>
                </a:cubicBezTo>
                <a:cubicBezTo>
                  <a:pt x="6137" y="102659"/>
                  <a:pt x="13525" y="100069"/>
                  <a:pt x="19754" y="102946"/>
                </a:cubicBezTo>
                <a:lnTo>
                  <a:pt x="115677" y="150876"/>
                </a:lnTo>
                <a:lnTo>
                  <a:pt x="211612" y="102934"/>
                </a:lnTo>
                <a:cubicBezTo>
                  <a:pt x="217883" y="99802"/>
                  <a:pt x="225505" y="102343"/>
                  <a:pt x="228643" y="108610"/>
                </a:cubicBezTo>
                <a:moveTo>
                  <a:pt x="115778" y="0"/>
                </a:moveTo>
                <a:cubicBezTo>
                  <a:pt x="116252" y="0"/>
                  <a:pt x="116722" y="30"/>
                  <a:pt x="117188" y="89"/>
                </a:cubicBezTo>
                <a:lnTo>
                  <a:pt x="118598" y="343"/>
                </a:lnTo>
                <a:lnTo>
                  <a:pt x="119690" y="648"/>
                </a:lnTo>
                <a:lnTo>
                  <a:pt x="119842" y="724"/>
                </a:lnTo>
                <a:lnTo>
                  <a:pt x="119995" y="749"/>
                </a:lnTo>
                <a:lnTo>
                  <a:pt x="120363" y="927"/>
                </a:lnTo>
                <a:lnTo>
                  <a:pt x="120998" y="1168"/>
                </a:lnTo>
                <a:lnTo>
                  <a:pt x="121201" y="1283"/>
                </a:lnTo>
                <a:lnTo>
                  <a:pt x="121354" y="1346"/>
                </a:lnTo>
                <a:lnTo>
                  <a:pt x="222954" y="52146"/>
                </a:lnTo>
                <a:cubicBezTo>
                  <a:pt x="227250" y="54300"/>
                  <a:pt x="229963" y="58694"/>
                  <a:pt x="229963" y="63500"/>
                </a:cubicBezTo>
                <a:cubicBezTo>
                  <a:pt x="229963" y="68306"/>
                  <a:pt x="227250" y="72700"/>
                  <a:pt x="222954" y="74854"/>
                </a:cubicBezTo>
                <a:lnTo>
                  <a:pt x="121354" y="125654"/>
                </a:lnTo>
                <a:cubicBezTo>
                  <a:pt x="117780" y="127440"/>
                  <a:pt x="113574" y="127440"/>
                  <a:pt x="110000" y="125654"/>
                </a:cubicBezTo>
                <a:lnTo>
                  <a:pt x="8400" y="74854"/>
                </a:lnTo>
                <a:cubicBezTo>
                  <a:pt x="4103" y="72700"/>
                  <a:pt x="1390" y="68306"/>
                  <a:pt x="1390" y="63500"/>
                </a:cubicBezTo>
                <a:cubicBezTo>
                  <a:pt x="1390" y="58694"/>
                  <a:pt x="4103" y="54300"/>
                  <a:pt x="8400" y="52146"/>
                </a:cubicBezTo>
                <a:lnTo>
                  <a:pt x="110000" y="1346"/>
                </a:lnTo>
                <a:lnTo>
                  <a:pt x="110139" y="1283"/>
                </a:lnTo>
                <a:lnTo>
                  <a:pt x="110368" y="1156"/>
                </a:lnTo>
                <a:lnTo>
                  <a:pt x="111359" y="749"/>
                </a:lnTo>
                <a:lnTo>
                  <a:pt x="111498" y="724"/>
                </a:lnTo>
                <a:lnTo>
                  <a:pt x="111663" y="648"/>
                </a:lnTo>
                <a:lnTo>
                  <a:pt x="112756" y="343"/>
                </a:lnTo>
                <a:lnTo>
                  <a:pt x="114153" y="89"/>
                </a:lnTo>
                <a:lnTo>
                  <a:pt x="114864" y="25"/>
                </a:lnTo>
                <a:close/>
              </a:path>
            </a:pathLst>
          </a:cu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8"/>
          <p:cNvSpPr txBox="1"/>
          <p:nvPr/>
        </p:nvSpPr>
        <p:spPr>
          <a:xfrm>
            <a:off x="729376" y="3070741"/>
            <a:ext cx="1149830" cy="21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Design System</a:t>
            </a:r>
            <a:endParaRPr sz="1100"/>
          </a:p>
        </p:txBody>
      </p:sp>
      <p:sp>
        <p:nvSpPr>
          <p:cNvPr id="347" name="Google Shape;347;p28"/>
          <p:cNvSpPr txBox="1"/>
          <p:nvPr/>
        </p:nvSpPr>
        <p:spPr>
          <a:xfrm>
            <a:off x="734369" y="3256125"/>
            <a:ext cx="1623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BRAND DNA</a:t>
            </a:r>
            <a:endParaRPr sz="1100"/>
          </a:p>
        </p:txBody>
      </p:sp>
      <p:sp>
        <p:nvSpPr>
          <p:cNvPr id="348" name="Google Shape;348;p28"/>
          <p:cNvSpPr txBox="1"/>
          <p:nvPr/>
        </p:nvSpPr>
        <p:spPr>
          <a:xfrm>
            <a:off x="732234" y="3423642"/>
            <a:ext cx="149402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提取品牌 DNA，跨对话复用</a:t>
            </a:r>
            <a:endParaRPr sz="1100"/>
          </a:p>
        </p:txBody>
      </p:sp>
      <p:sp>
        <p:nvSpPr>
          <p:cNvPr id="349" name="Google Shape;349;p28"/>
          <p:cNvSpPr txBox="1"/>
          <p:nvPr/>
        </p:nvSpPr>
        <p:spPr>
          <a:xfrm>
            <a:off x="732234" y="3580805"/>
            <a:ext cx="167887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色彩 / 字体 / 间距 / 组件规则</a:t>
            </a:r>
            <a:endParaRPr sz="1100"/>
          </a:p>
        </p:txBody>
      </p:sp>
      <p:sp>
        <p:nvSpPr>
          <p:cNvPr id="350" name="Google Shape;350;p28"/>
          <p:cNvSpPr txBox="1"/>
          <p:nvPr/>
        </p:nvSpPr>
        <p:spPr>
          <a:xfrm>
            <a:off x="732234" y="3737967"/>
            <a:ext cx="137695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保存为文件，新对话即用</a:t>
            </a:r>
            <a:endParaRPr sz="1100"/>
          </a:p>
        </p:txBody>
      </p:sp>
      <p:sp>
        <p:nvSpPr>
          <p:cNvPr id="351" name="Google Shape;351;p28"/>
          <p:cNvSpPr/>
          <p:nvPr/>
        </p:nvSpPr>
        <p:spPr>
          <a:xfrm>
            <a:off x="3271838" y="2543175"/>
            <a:ext cx="2528888" cy="1500188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8"/>
          <p:cNvSpPr/>
          <p:nvPr/>
        </p:nvSpPr>
        <p:spPr>
          <a:xfrm>
            <a:off x="3271838" y="2543175"/>
            <a:ext cx="2528888" cy="35719"/>
          </a:xfrm>
          <a:prstGeom prst="roundRect">
            <a:avLst>
              <a:gd fmla="val 500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8"/>
          <p:cNvSpPr txBox="1"/>
          <p:nvPr/>
        </p:nvSpPr>
        <p:spPr>
          <a:xfrm>
            <a:off x="5127291" y="2684621"/>
            <a:ext cx="567707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100"/>
          </a:p>
        </p:txBody>
      </p:sp>
      <p:sp>
        <p:nvSpPr>
          <p:cNvPr id="354" name="Google Shape;354;p28"/>
          <p:cNvSpPr/>
          <p:nvPr/>
        </p:nvSpPr>
        <p:spPr>
          <a:xfrm>
            <a:off x="3443288" y="2700338"/>
            <a:ext cx="314325" cy="314325"/>
          </a:xfrm>
          <a:prstGeom prst="roundRect">
            <a:avLst>
              <a:gd fmla="val 20455" name="adj"/>
            </a:avLst>
          </a:prstGeom>
          <a:solidFill>
            <a:srgbClr val="3D7DE4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8"/>
          <p:cNvSpPr/>
          <p:nvPr/>
        </p:nvSpPr>
        <p:spPr>
          <a:xfrm>
            <a:off x="3505199" y="2757983"/>
            <a:ext cx="200567" cy="201349"/>
          </a:xfrm>
          <a:custGeom>
            <a:rect b="b" l="l" r="r" t="t"/>
            <a:pathLst>
              <a:path extrusionOk="0" h="268466" w="267422">
                <a:moveTo>
                  <a:pt x="190502" y="22707"/>
                </a:moveTo>
                <a:cubicBezTo>
                  <a:pt x="243877" y="53523"/>
                  <a:pt x="267422" y="118214"/>
                  <a:pt x="246342" y="176130"/>
                </a:cubicBezTo>
                <a:cubicBezTo>
                  <a:pt x="225262" y="234045"/>
                  <a:pt x="165642" y="268466"/>
                  <a:pt x="104946" y="257762"/>
                </a:cubicBezTo>
                <a:cubicBezTo>
                  <a:pt x="44250" y="247059"/>
                  <a:pt x="0" y="194322"/>
                  <a:pt x="2" y="132689"/>
                </a:cubicBezTo>
                <a:lnTo>
                  <a:pt x="65" y="128574"/>
                </a:lnTo>
                <a:cubicBezTo>
                  <a:pt x="1512" y="83959"/>
                  <a:pt x="26276" y="43379"/>
                  <a:pt x="65291" y="21689"/>
                </a:cubicBezTo>
                <a:cubicBezTo>
                  <a:pt x="104306" y="0"/>
                  <a:pt x="151844" y="386"/>
                  <a:pt x="190502" y="22707"/>
                </a:cubicBezTo>
                <a:moveTo>
                  <a:pt x="110580" y="98310"/>
                </a:moveTo>
                <a:cubicBezTo>
                  <a:pt x="105621" y="93352"/>
                  <a:pt x="97582" y="93352"/>
                  <a:pt x="92623" y="98310"/>
                </a:cubicBezTo>
                <a:lnTo>
                  <a:pt x="67223" y="123710"/>
                </a:lnTo>
                <a:cubicBezTo>
                  <a:pt x="62265" y="128669"/>
                  <a:pt x="62265" y="136708"/>
                  <a:pt x="67223" y="141668"/>
                </a:cubicBezTo>
                <a:lnTo>
                  <a:pt x="92623" y="167068"/>
                </a:lnTo>
                <a:cubicBezTo>
                  <a:pt x="97582" y="172026"/>
                  <a:pt x="105621" y="172026"/>
                  <a:pt x="110580" y="167068"/>
                </a:cubicBezTo>
                <a:lnTo>
                  <a:pt x="111635" y="165874"/>
                </a:lnTo>
                <a:cubicBezTo>
                  <a:pt x="115556" y="160818"/>
                  <a:pt x="115105" y="153635"/>
                  <a:pt x="110580" y="149110"/>
                </a:cubicBezTo>
                <a:lnTo>
                  <a:pt x="94172" y="132689"/>
                </a:lnTo>
                <a:lnTo>
                  <a:pt x="110580" y="116268"/>
                </a:lnTo>
                <a:cubicBezTo>
                  <a:pt x="115538" y="111308"/>
                  <a:pt x="115538" y="103269"/>
                  <a:pt x="110580" y="98310"/>
                </a:cubicBezTo>
                <a:moveTo>
                  <a:pt x="161380" y="98310"/>
                </a:moveTo>
                <a:cubicBezTo>
                  <a:pt x="156421" y="93352"/>
                  <a:pt x="148382" y="93352"/>
                  <a:pt x="143423" y="98310"/>
                </a:cubicBezTo>
                <a:lnTo>
                  <a:pt x="142369" y="99504"/>
                </a:lnTo>
                <a:cubicBezTo>
                  <a:pt x="138447" y="104559"/>
                  <a:pt x="138898" y="111743"/>
                  <a:pt x="143423" y="116268"/>
                </a:cubicBezTo>
                <a:lnTo>
                  <a:pt x="159831" y="132689"/>
                </a:lnTo>
                <a:lnTo>
                  <a:pt x="143423" y="149110"/>
                </a:lnTo>
                <a:cubicBezTo>
                  <a:pt x="138610" y="154093"/>
                  <a:pt x="138679" y="162014"/>
                  <a:pt x="143577" y="166913"/>
                </a:cubicBezTo>
                <a:cubicBezTo>
                  <a:pt x="148476" y="171812"/>
                  <a:pt x="156397" y="171881"/>
                  <a:pt x="161380" y="167068"/>
                </a:cubicBezTo>
                <a:lnTo>
                  <a:pt x="186780" y="141668"/>
                </a:lnTo>
                <a:cubicBezTo>
                  <a:pt x="191738" y="136708"/>
                  <a:pt x="191738" y="128669"/>
                  <a:pt x="186780" y="123710"/>
                </a:cubicBezTo>
                <a:close/>
              </a:path>
            </a:pathLst>
          </a:cu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8"/>
          <p:cNvSpPr txBox="1"/>
          <p:nvPr/>
        </p:nvSpPr>
        <p:spPr>
          <a:xfrm>
            <a:off x="3429714" y="3070741"/>
            <a:ext cx="977740" cy="21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与 Code 集成</a:t>
            </a:r>
            <a:endParaRPr sz="1100"/>
          </a:p>
        </p:txBody>
      </p:sp>
      <p:sp>
        <p:nvSpPr>
          <p:cNvPr id="357" name="Google Shape;357;p28"/>
          <p:cNvSpPr txBox="1"/>
          <p:nvPr/>
        </p:nvSpPr>
        <p:spPr>
          <a:xfrm>
            <a:off x="3434715" y="3256121"/>
            <a:ext cx="555413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MCP NATIVE</a:t>
            </a:r>
            <a:endParaRPr sz="1100"/>
          </a:p>
        </p:txBody>
      </p:sp>
      <p:sp>
        <p:nvSpPr>
          <p:cNvPr id="358" name="Google Shape;358;p28"/>
          <p:cNvSpPr txBox="1"/>
          <p:nvPr/>
        </p:nvSpPr>
        <p:spPr>
          <a:xfrm>
            <a:off x="3432571" y="3423642"/>
            <a:ext cx="12722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MCP 协议原生双向打通</a:t>
            </a:r>
            <a:endParaRPr sz="1100"/>
          </a:p>
        </p:txBody>
      </p:sp>
      <p:sp>
        <p:nvSpPr>
          <p:cNvPr id="359" name="Google Shape;359;p28"/>
          <p:cNvSpPr txBox="1"/>
          <p:nvPr/>
        </p:nvSpPr>
        <p:spPr>
          <a:xfrm>
            <a:off x="3432571" y="3580805"/>
            <a:ext cx="170351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import / sync / /design 命令</a:t>
            </a:r>
            <a:endParaRPr sz="1100"/>
          </a:p>
        </p:txBody>
      </p:sp>
      <p:sp>
        <p:nvSpPr>
          <p:cNvPr id="360" name="Google Shape;360;p28"/>
          <p:cNvSpPr txBox="1"/>
          <p:nvPr/>
        </p:nvSpPr>
        <p:spPr>
          <a:xfrm>
            <a:off x="3432572" y="3737967"/>
            <a:ext cx="124140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Figma / Canva 做不到</a:t>
            </a:r>
            <a:endParaRPr sz="1100"/>
          </a:p>
        </p:txBody>
      </p:sp>
      <p:sp>
        <p:nvSpPr>
          <p:cNvPr id="361" name="Google Shape;361;p28"/>
          <p:cNvSpPr/>
          <p:nvPr/>
        </p:nvSpPr>
        <p:spPr>
          <a:xfrm>
            <a:off x="5972175" y="2543175"/>
            <a:ext cx="2600325" cy="1500188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8"/>
          <p:cNvSpPr/>
          <p:nvPr/>
        </p:nvSpPr>
        <p:spPr>
          <a:xfrm>
            <a:off x="5972175" y="2543175"/>
            <a:ext cx="2600325" cy="35719"/>
          </a:xfrm>
          <a:prstGeom prst="roundRect">
            <a:avLst>
              <a:gd fmla="val 50000" name="adj"/>
            </a:avLst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8"/>
          <p:cNvSpPr txBox="1"/>
          <p:nvPr/>
        </p:nvSpPr>
        <p:spPr>
          <a:xfrm>
            <a:off x="7899066" y="2684621"/>
            <a:ext cx="567707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3A9E6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100"/>
          </a:p>
        </p:txBody>
      </p:sp>
      <p:sp>
        <p:nvSpPr>
          <p:cNvPr id="364" name="Google Shape;364;p28"/>
          <p:cNvSpPr/>
          <p:nvPr/>
        </p:nvSpPr>
        <p:spPr>
          <a:xfrm>
            <a:off x="6143625" y="2700338"/>
            <a:ext cx="314325" cy="314325"/>
          </a:xfrm>
          <a:prstGeom prst="roundRect">
            <a:avLst>
              <a:gd fmla="val 20455" name="adj"/>
            </a:avLst>
          </a:prstGeom>
          <a:solidFill>
            <a:srgbClr val="3A9E6A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5" name="Google Shape;365;p28"/>
          <p:cNvGrpSpPr/>
          <p:nvPr/>
        </p:nvGrpSpPr>
        <p:grpSpPr>
          <a:xfrm>
            <a:off x="6202366" y="2768603"/>
            <a:ext cx="187318" cy="177793"/>
            <a:chOff x="8269821" y="3691471"/>
            <a:chExt cx="249758" cy="237058"/>
          </a:xfrm>
        </p:grpSpPr>
        <p:sp>
          <p:nvSpPr>
            <p:cNvPr id="366" name="Google Shape;366;p28"/>
            <p:cNvSpPr/>
            <p:nvPr/>
          </p:nvSpPr>
          <p:spPr>
            <a:xfrm>
              <a:off x="8439150" y="3843871"/>
              <a:ext cx="80429" cy="84658"/>
            </a:xfrm>
            <a:custGeom>
              <a:rect b="b" l="l" r="r" t="t"/>
              <a:pathLst>
                <a:path extrusionOk="0" h="84658" w="80429">
                  <a:moveTo>
                    <a:pt x="12700" y="55029"/>
                  </a:moveTo>
                  <a:cubicBezTo>
                    <a:pt x="5686" y="55029"/>
                    <a:pt x="0" y="49343"/>
                    <a:pt x="0" y="42329"/>
                  </a:cubicBezTo>
                  <a:cubicBezTo>
                    <a:pt x="0" y="35315"/>
                    <a:pt x="5686" y="29629"/>
                    <a:pt x="12700" y="29629"/>
                  </a:cubicBezTo>
                  <a:cubicBezTo>
                    <a:pt x="19714" y="29629"/>
                    <a:pt x="25400" y="23943"/>
                    <a:pt x="25400" y="16929"/>
                  </a:cubicBezTo>
                  <a:cubicBezTo>
                    <a:pt x="25400" y="0"/>
                    <a:pt x="50800" y="0"/>
                    <a:pt x="50800" y="16929"/>
                  </a:cubicBezTo>
                  <a:cubicBezTo>
                    <a:pt x="50800" y="23943"/>
                    <a:pt x="56486" y="29629"/>
                    <a:pt x="63500" y="29629"/>
                  </a:cubicBezTo>
                  <a:cubicBezTo>
                    <a:pt x="80429" y="29629"/>
                    <a:pt x="80429" y="55029"/>
                    <a:pt x="63500" y="55029"/>
                  </a:cubicBezTo>
                  <a:cubicBezTo>
                    <a:pt x="56486" y="55029"/>
                    <a:pt x="50800" y="60715"/>
                    <a:pt x="50800" y="67729"/>
                  </a:cubicBezTo>
                  <a:cubicBezTo>
                    <a:pt x="50800" y="84658"/>
                    <a:pt x="25400" y="84658"/>
                    <a:pt x="25400" y="67729"/>
                  </a:cubicBezTo>
                  <a:cubicBezTo>
                    <a:pt x="25400" y="60715"/>
                    <a:pt x="19714" y="55029"/>
                    <a:pt x="12700" y="55029"/>
                  </a:cubicBezTo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8"/>
            <p:cNvSpPr/>
            <p:nvPr/>
          </p:nvSpPr>
          <p:spPr>
            <a:xfrm>
              <a:off x="8269821" y="3716871"/>
              <a:ext cx="186258" cy="182029"/>
            </a:xfrm>
            <a:custGeom>
              <a:rect b="b" l="l" r="r" t="t"/>
              <a:pathLst>
                <a:path extrusionOk="0" h="182029" w="186258">
                  <a:moveTo>
                    <a:pt x="16929" y="80429"/>
                  </a:moveTo>
                  <a:cubicBezTo>
                    <a:pt x="51999" y="80429"/>
                    <a:pt x="80429" y="51999"/>
                    <a:pt x="80429" y="16929"/>
                  </a:cubicBezTo>
                  <a:cubicBezTo>
                    <a:pt x="80429" y="0"/>
                    <a:pt x="105829" y="0"/>
                    <a:pt x="105829" y="16929"/>
                  </a:cubicBezTo>
                  <a:cubicBezTo>
                    <a:pt x="105829" y="51999"/>
                    <a:pt x="134259" y="80429"/>
                    <a:pt x="169329" y="80429"/>
                  </a:cubicBezTo>
                  <a:cubicBezTo>
                    <a:pt x="186258" y="80429"/>
                    <a:pt x="186258" y="105829"/>
                    <a:pt x="169329" y="105829"/>
                  </a:cubicBezTo>
                  <a:cubicBezTo>
                    <a:pt x="134259" y="105829"/>
                    <a:pt x="105829" y="134259"/>
                    <a:pt x="105829" y="169329"/>
                  </a:cubicBezTo>
                  <a:cubicBezTo>
                    <a:pt x="105829" y="176343"/>
                    <a:pt x="100143" y="182029"/>
                    <a:pt x="93129" y="182029"/>
                  </a:cubicBezTo>
                  <a:cubicBezTo>
                    <a:pt x="86115" y="182029"/>
                    <a:pt x="80429" y="176343"/>
                    <a:pt x="80429" y="169329"/>
                  </a:cubicBezTo>
                  <a:cubicBezTo>
                    <a:pt x="80429" y="134259"/>
                    <a:pt x="51999" y="105829"/>
                    <a:pt x="16929" y="105829"/>
                  </a:cubicBezTo>
                  <a:cubicBezTo>
                    <a:pt x="0" y="105829"/>
                    <a:pt x="0" y="80429"/>
                    <a:pt x="16929" y="80429"/>
                  </a:cubicBezTo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8"/>
            <p:cNvSpPr/>
            <p:nvPr/>
          </p:nvSpPr>
          <p:spPr>
            <a:xfrm>
              <a:off x="8439150" y="3691471"/>
              <a:ext cx="80429" cy="84658"/>
            </a:xfrm>
            <a:custGeom>
              <a:rect b="b" l="l" r="r" t="t"/>
              <a:pathLst>
                <a:path extrusionOk="0" h="84658" w="80429">
                  <a:moveTo>
                    <a:pt x="12700" y="55029"/>
                  </a:moveTo>
                  <a:cubicBezTo>
                    <a:pt x="5686" y="55029"/>
                    <a:pt x="0" y="49343"/>
                    <a:pt x="0" y="42329"/>
                  </a:cubicBezTo>
                  <a:cubicBezTo>
                    <a:pt x="0" y="35315"/>
                    <a:pt x="5686" y="29629"/>
                    <a:pt x="12700" y="29629"/>
                  </a:cubicBezTo>
                  <a:cubicBezTo>
                    <a:pt x="19714" y="29629"/>
                    <a:pt x="25400" y="23943"/>
                    <a:pt x="25400" y="16929"/>
                  </a:cubicBezTo>
                  <a:cubicBezTo>
                    <a:pt x="25400" y="0"/>
                    <a:pt x="50800" y="0"/>
                    <a:pt x="50800" y="16929"/>
                  </a:cubicBezTo>
                  <a:cubicBezTo>
                    <a:pt x="50800" y="23943"/>
                    <a:pt x="56486" y="29629"/>
                    <a:pt x="63500" y="29629"/>
                  </a:cubicBezTo>
                  <a:cubicBezTo>
                    <a:pt x="80429" y="29629"/>
                    <a:pt x="80429" y="55029"/>
                    <a:pt x="63500" y="55029"/>
                  </a:cubicBezTo>
                  <a:cubicBezTo>
                    <a:pt x="56486" y="55029"/>
                    <a:pt x="50800" y="60715"/>
                    <a:pt x="50800" y="67729"/>
                  </a:cubicBezTo>
                  <a:cubicBezTo>
                    <a:pt x="50800" y="84658"/>
                    <a:pt x="25400" y="84658"/>
                    <a:pt x="25400" y="67729"/>
                  </a:cubicBezTo>
                  <a:cubicBezTo>
                    <a:pt x="25400" y="60715"/>
                    <a:pt x="19714" y="55029"/>
                    <a:pt x="12700" y="55029"/>
                  </a:cubicBezTo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9" name="Google Shape;369;p28"/>
          <p:cNvSpPr txBox="1"/>
          <p:nvPr/>
        </p:nvSpPr>
        <p:spPr>
          <a:xfrm>
            <a:off x="6130052" y="3070741"/>
            <a:ext cx="1117052" cy="21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Opus 4.8 驱动</a:t>
            </a:r>
            <a:endParaRPr sz="1100"/>
          </a:p>
        </p:txBody>
      </p:sp>
      <p:sp>
        <p:nvSpPr>
          <p:cNvPr id="370" name="Google Shape;370;p28"/>
          <p:cNvSpPr txBox="1"/>
          <p:nvPr/>
        </p:nvSpPr>
        <p:spPr>
          <a:xfrm>
            <a:off x="6135053" y="3256121"/>
            <a:ext cx="87112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3A9E6A"/>
                </a:solidFill>
                <a:latin typeface="Arial"/>
                <a:ea typeface="Arial"/>
                <a:cs typeface="Arial"/>
                <a:sym typeface="Arial"/>
              </a:rPr>
              <a:t>BEST FRONTEND AI</a:t>
            </a:r>
            <a:endParaRPr sz="1100"/>
          </a:p>
        </p:txBody>
      </p:sp>
      <p:sp>
        <p:nvSpPr>
          <p:cNvPr id="371" name="Google Shape;371;p28"/>
          <p:cNvSpPr txBox="1"/>
          <p:nvPr/>
        </p:nvSpPr>
        <p:spPr>
          <a:xfrm>
            <a:off x="6132909" y="3423642"/>
            <a:ext cx="162341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最强前端能力，额度全面共享</a:t>
            </a:r>
            <a:endParaRPr sz="1100"/>
          </a:p>
        </p:txBody>
      </p:sp>
      <p:sp>
        <p:nvSpPr>
          <p:cNvPr id="372" name="Google Shape;372;p28"/>
          <p:cNvSpPr txBox="1"/>
          <p:nvPr/>
        </p:nvSpPr>
        <p:spPr>
          <a:xfrm>
            <a:off x="6132909" y="3580805"/>
            <a:ext cx="17651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上传 Logo / 字体 / GitHub 仓库</a:t>
            </a:r>
            <a:endParaRPr sz="1100"/>
          </a:p>
        </p:txBody>
      </p:sp>
      <p:sp>
        <p:nvSpPr>
          <p:cNvPr id="373" name="Google Shape;373;p28"/>
          <p:cNvSpPr txBox="1"/>
          <p:nvPr/>
        </p:nvSpPr>
        <p:spPr>
          <a:xfrm>
            <a:off x="6132909" y="3737967"/>
            <a:ext cx="100726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高保真可交互原型</a:t>
            </a:r>
            <a:endParaRPr sz="1100"/>
          </a:p>
        </p:txBody>
      </p:sp>
      <p:sp>
        <p:nvSpPr>
          <p:cNvPr id="374" name="Google Shape;374;p28"/>
          <p:cNvSpPr/>
          <p:nvPr/>
        </p:nvSpPr>
        <p:spPr>
          <a:xfrm>
            <a:off x="571500" y="4214813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95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28"/>
          <p:cNvSpPr txBox="1"/>
          <p:nvPr/>
        </p:nvSpPr>
        <p:spPr>
          <a:xfrm>
            <a:off x="2654618" y="4303395"/>
            <a:ext cx="383476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它是懂设计的 AI，原生集成 Claude Code——Figma / Canva 做不到</a:t>
            </a:r>
            <a:endParaRPr sz="1100"/>
          </a:p>
        </p:txBody>
      </p:sp>
      <p:sp>
        <p:nvSpPr>
          <p:cNvPr id="376" name="Google Shape;376;p28"/>
          <p:cNvSpPr txBox="1"/>
          <p:nvPr/>
        </p:nvSpPr>
        <p:spPr>
          <a:xfrm>
            <a:off x="8320076" y="4958477"/>
            <a:ext cx="40530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04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9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9"/>
          <p:cNvSpPr txBox="1"/>
          <p:nvPr/>
        </p:nvSpPr>
        <p:spPr>
          <a:xfrm>
            <a:off x="2473436" y="224314"/>
            <a:ext cx="41971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为什么不用 Figma 或 Canva？</a:t>
            </a:r>
            <a:endParaRPr sz="1100"/>
          </a:p>
        </p:txBody>
      </p:sp>
      <p:sp>
        <p:nvSpPr>
          <p:cNvPr id="384" name="Google Shape;384;p29"/>
          <p:cNvSpPr txBox="1"/>
          <p:nvPr/>
        </p:nvSpPr>
        <p:spPr>
          <a:xfrm>
            <a:off x="3101352" y="523637"/>
            <a:ext cx="2941296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工具是一样的么？不——生态完全不同</a:t>
            </a:r>
            <a:endParaRPr sz="1100"/>
          </a:p>
        </p:txBody>
      </p:sp>
      <p:sp>
        <p:nvSpPr>
          <p:cNvPr id="385" name="Google Shape;385;p29"/>
          <p:cNvSpPr/>
          <p:nvPr/>
        </p:nvSpPr>
        <p:spPr>
          <a:xfrm>
            <a:off x="571500" y="800100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29"/>
          <p:cNvSpPr/>
          <p:nvPr/>
        </p:nvSpPr>
        <p:spPr>
          <a:xfrm>
            <a:off x="571500" y="914400"/>
            <a:ext cx="3786187" cy="3500438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9"/>
          <p:cNvSpPr/>
          <p:nvPr/>
        </p:nvSpPr>
        <p:spPr>
          <a:xfrm>
            <a:off x="571500" y="914400"/>
            <a:ext cx="3786187" cy="42863"/>
          </a:xfrm>
          <a:prstGeom prst="roundRect">
            <a:avLst>
              <a:gd fmla="val 50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9"/>
          <p:cNvSpPr txBox="1"/>
          <p:nvPr/>
        </p:nvSpPr>
        <p:spPr>
          <a:xfrm>
            <a:off x="2881003" y="1085850"/>
            <a:ext cx="139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5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OLD</a:t>
            </a:r>
            <a:endParaRPr sz="1100"/>
          </a:p>
        </p:txBody>
      </p:sp>
      <p:sp>
        <p:nvSpPr>
          <p:cNvPr id="389" name="Google Shape;389;p29"/>
          <p:cNvSpPr/>
          <p:nvPr/>
        </p:nvSpPr>
        <p:spPr>
          <a:xfrm>
            <a:off x="785813" y="1100138"/>
            <a:ext cx="342900" cy="342900"/>
          </a:xfrm>
          <a:prstGeom prst="roundRect">
            <a:avLst>
              <a:gd fmla="val 20833" name="adj"/>
            </a:avLst>
          </a:prstGeom>
          <a:solidFill>
            <a:srgbClr val="9E9E9E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9"/>
          <p:cNvSpPr/>
          <p:nvPr/>
        </p:nvSpPr>
        <p:spPr>
          <a:xfrm>
            <a:off x="842669" y="1156994"/>
            <a:ext cx="229186" cy="229186"/>
          </a:xfrm>
          <a:custGeom>
            <a:rect b="b" l="l" r="r" t="t"/>
            <a:pathLst>
              <a:path extrusionOk="0" h="305581" w="305581">
                <a:moveTo>
                  <a:pt x="190610" y="39648"/>
                </a:moveTo>
                <a:cubicBezTo>
                  <a:pt x="191387" y="42857"/>
                  <a:pt x="193650" y="45502"/>
                  <a:pt x="196699" y="46767"/>
                </a:cubicBezTo>
                <a:cubicBezTo>
                  <a:pt x="199749" y="48032"/>
                  <a:pt x="203220" y="47765"/>
                  <a:pt x="206040" y="46049"/>
                </a:cubicBezTo>
                <a:cubicBezTo>
                  <a:pt x="240887" y="24832"/>
                  <a:pt x="280764" y="64694"/>
                  <a:pt x="259547" y="99541"/>
                </a:cubicBezTo>
                <a:cubicBezTo>
                  <a:pt x="257830" y="102360"/>
                  <a:pt x="257562" y="105828"/>
                  <a:pt x="258824" y="108877"/>
                </a:cubicBezTo>
                <a:cubicBezTo>
                  <a:pt x="260086" y="111926"/>
                  <a:pt x="262727" y="114190"/>
                  <a:pt x="265933" y="114972"/>
                </a:cubicBezTo>
                <a:cubicBezTo>
                  <a:pt x="305581" y="124587"/>
                  <a:pt x="305581" y="180980"/>
                  <a:pt x="265933" y="190610"/>
                </a:cubicBezTo>
                <a:cubicBezTo>
                  <a:pt x="262724" y="191387"/>
                  <a:pt x="260079" y="193650"/>
                  <a:pt x="258814" y="196699"/>
                </a:cubicBezTo>
                <a:cubicBezTo>
                  <a:pt x="257549" y="199749"/>
                  <a:pt x="257816" y="203220"/>
                  <a:pt x="259532" y="206040"/>
                </a:cubicBezTo>
                <a:cubicBezTo>
                  <a:pt x="280749" y="240887"/>
                  <a:pt x="240887" y="280764"/>
                  <a:pt x="206040" y="259547"/>
                </a:cubicBezTo>
                <a:cubicBezTo>
                  <a:pt x="203221" y="257830"/>
                  <a:pt x="199753" y="257562"/>
                  <a:pt x="196704" y="258824"/>
                </a:cubicBezTo>
                <a:cubicBezTo>
                  <a:pt x="193655" y="260086"/>
                  <a:pt x="191391" y="262727"/>
                  <a:pt x="190610" y="265933"/>
                </a:cubicBezTo>
                <a:cubicBezTo>
                  <a:pt x="180994" y="305581"/>
                  <a:pt x="124601" y="305581"/>
                  <a:pt x="114972" y="265933"/>
                </a:cubicBezTo>
                <a:cubicBezTo>
                  <a:pt x="114194" y="262724"/>
                  <a:pt x="111931" y="260079"/>
                  <a:pt x="108882" y="258814"/>
                </a:cubicBezTo>
                <a:cubicBezTo>
                  <a:pt x="105832" y="257549"/>
                  <a:pt x="102362" y="257816"/>
                  <a:pt x="99541" y="259532"/>
                </a:cubicBezTo>
                <a:cubicBezTo>
                  <a:pt x="64694" y="280749"/>
                  <a:pt x="24817" y="240887"/>
                  <a:pt x="46034" y="206040"/>
                </a:cubicBezTo>
                <a:cubicBezTo>
                  <a:pt x="47751" y="203221"/>
                  <a:pt x="48019" y="199753"/>
                  <a:pt x="46757" y="196704"/>
                </a:cubicBezTo>
                <a:cubicBezTo>
                  <a:pt x="45495" y="193655"/>
                  <a:pt x="42854" y="191391"/>
                  <a:pt x="39648" y="190610"/>
                </a:cubicBezTo>
                <a:cubicBezTo>
                  <a:pt x="0" y="180994"/>
                  <a:pt x="0" y="124601"/>
                  <a:pt x="39648" y="114972"/>
                </a:cubicBezTo>
                <a:cubicBezTo>
                  <a:pt x="42857" y="114194"/>
                  <a:pt x="45502" y="111931"/>
                  <a:pt x="46767" y="108882"/>
                </a:cubicBezTo>
                <a:cubicBezTo>
                  <a:pt x="48032" y="105832"/>
                  <a:pt x="47765" y="102362"/>
                  <a:pt x="46049" y="99541"/>
                </a:cubicBezTo>
                <a:cubicBezTo>
                  <a:pt x="24832" y="64694"/>
                  <a:pt x="64694" y="24817"/>
                  <a:pt x="99541" y="46034"/>
                </a:cubicBezTo>
                <a:cubicBezTo>
                  <a:pt x="102357" y="47764"/>
                  <a:pt x="105831" y="48040"/>
                  <a:pt x="108885" y="46776"/>
                </a:cubicBezTo>
                <a:cubicBezTo>
                  <a:pt x="111938" y="45512"/>
                  <a:pt x="114202" y="42862"/>
                  <a:pt x="114972" y="39648"/>
                </a:cubicBezTo>
                <a:cubicBezTo>
                  <a:pt x="124587" y="0"/>
                  <a:pt x="180980" y="0"/>
                  <a:pt x="190610" y="39648"/>
                </a:cubicBezTo>
                <a:close/>
                <a:moveTo>
                  <a:pt x="152791" y="109928"/>
                </a:moveTo>
                <a:cubicBezTo>
                  <a:pt x="129118" y="109928"/>
                  <a:pt x="109928" y="129118"/>
                  <a:pt x="109928" y="152791"/>
                </a:cubicBezTo>
                <a:cubicBezTo>
                  <a:pt x="109928" y="176463"/>
                  <a:pt x="129118" y="195653"/>
                  <a:pt x="152791" y="195653"/>
                </a:cubicBezTo>
                <a:cubicBezTo>
                  <a:pt x="176463" y="195653"/>
                  <a:pt x="195653" y="176463"/>
                  <a:pt x="195653" y="152791"/>
                </a:cubicBezTo>
                <a:cubicBezTo>
                  <a:pt x="195653" y="129118"/>
                  <a:pt x="176463" y="109928"/>
                  <a:pt x="152791" y="109928"/>
                </a:cubicBezTo>
              </a:path>
            </a:pathLst>
          </a:custGeom>
          <a:solidFill>
            <a:srgbClr val="9E9E9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9"/>
          <p:cNvSpPr txBox="1"/>
          <p:nvPr/>
        </p:nvSpPr>
        <p:spPr>
          <a:xfrm>
            <a:off x="1197293" y="1125855"/>
            <a:ext cx="140066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Figma / Canva</a:t>
            </a:r>
            <a:endParaRPr sz="1100"/>
          </a:p>
        </p:txBody>
      </p:sp>
      <p:sp>
        <p:nvSpPr>
          <p:cNvPr id="392" name="Google Shape;392;p29"/>
          <p:cNvSpPr txBox="1"/>
          <p:nvPr/>
        </p:nvSpPr>
        <p:spPr>
          <a:xfrm>
            <a:off x="1204436" y="1343739"/>
            <a:ext cx="113104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TRADITIONAL TOOLS</a:t>
            </a:r>
            <a:endParaRPr sz="1100"/>
          </a:p>
        </p:txBody>
      </p:sp>
      <p:sp>
        <p:nvSpPr>
          <p:cNvPr id="393" name="Google Shape;393;p29"/>
          <p:cNvSpPr/>
          <p:nvPr/>
        </p:nvSpPr>
        <p:spPr>
          <a:xfrm>
            <a:off x="785813" y="1557338"/>
            <a:ext cx="3357563" cy="7144"/>
          </a:xfrm>
          <a:custGeom>
            <a:rect b="b" l="l" r="r" t="t"/>
            <a:pathLst>
              <a:path extrusionOk="0" h="9525" w="4476750">
                <a:moveTo>
                  <a:pt x="0" y="0"/>
                </a:moveTo>
                <a:lnTo>
                  <a:pt x="4476750" y="0"/>
                </a:lnTo>
              </a:path>
            </a:pathLst>
          </a:custGeom>
          <a:noFill/>
          <a:ln cap="flat" cmpd="sng" w="14275">
            <a:solidFill>
              <a:srgbClr val="F0EDE8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29"/>
          <p:cNvSpPr/>
          <p:nvPr/>
        </p:nvSpPr>
        <p:spPr>
          <a:xfrm>
            <a:off x="785813" y="1657350"/>
            <a:ext cx="3571875" cy="400050"/>
          </a:xfrm>
          <a:prstGeom prst="roundRect">
            <a:avLst>
              <a:gd fmla="val 14286" name="adj"/>
            </a:avLst>
          </a:prstGeom>
          <a:solidFill>
            <a:srgbClr val="F8F6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9"/>
          <p:cNvSpPr/>
          <p:nvPr/>
        </p:nvSpPr>
        <p:spPr>
          <a:xfrm>
            <a:off x="785813" y="1657350"/>
            <a:ext cx="28575" cy="400050"/>
          </a:xfrm>
          <a:prstGeom prst="roundRect">
            <a:avLst>
              <a:gd fmla="val 50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9"/>
          <p:cNvSpPr txBox="1"/>
          <p:nvPr/>
        </p:nvSpPr>
        <p:spPr>
          <a:xfrm>
            <a:off x="888683" y="1731645"/>
            <a:ext cx="850963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工具使用门槛</a:t>
            </a:r>
            <a:endParaRPr sz="1100"/>
          </a:p>
        </p:txBody>
      </p:sp>
      <p:sp>
        <p:nvSpPr>
          <p:cNvPr id="397" name="Google Shape;397;p29"/>
          <p:cNvSpPr txBox="1"/>
          <p:nvPr/>
        </p:nvSpPr>
        <p:spPr>
          <a:xfrm>
            <a:off x="889397" y="1880592"/>
            <a:ext cx="211633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你还是要懂设计才能用好，学习曲线陡</a:t>
            </a:r>
            <a:endParaRPr sz="1100"/>
          </a:p>
        </p:txBody>
      </p:sp>
      <p:sp>
        <p:nvSpPr>
          <p:cNvPr id="398" name="Google Shape;398;p29"/>
          <p:cNvSpPr/>
          <p:nvPr/>
        </p:nvSpPr>
        <p:spPr>
          <a:xfrm>
            <a:off x="785813" y="2143125"/>
            <a:ext cx="3571875" cy="400050"/>
          </a:xfrm>
          <a:prstGeom prst="roundRect">
            <a:avLst>
              <a:gd fmla="val 14286" name="adj"/>
            </a:avLst>
          </a:prstGeom>
          <a:solidFill>
            <a:srgbClr val="F8F6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9"/>
          <p:cNvSpPr/>
          <p:nvPr/>
        </p:nvSpPr>
        <p:spPr>
          <a:xfrm>
            <a:off x="785813" y="2143125"/>
            <a:ext cx="28575" cy="400050"/>
          </a:xfrm>
          <a:prstGeom prst="roundRect">
            <a:avLst>
              <a:gd fmla="val 50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9"/>
          <p:cNvSpPr txBox="1"/>
          <p:nvPr/>
        </p:nvSpPr>
        <p:spPr>
          <a:xfrm>
            <a:off x="888683" y="2217420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设计与代码孤立</a:t>
            </a:r>
            <a:endParaRPr sz="1100"/>
          </a:p>
        </p:txBody>
      </p:sp>
      <p:sp>
        <p:nvSpPr>
          <p:cNvPr id="401" name="Google Shape;401;p29"/>
          <p:cNvSpPr txBox="1"/>
          <p:nvPr/>
        </p:nvSpPr>
        <p:spPr>
          <a:xfrm>
            <a:off x="889397" y="2366367"/>
            <a:ext cx="2258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设计稿 → 代码需要手动对接，容易出偏差</a:t>
            </a:r>
            <a:endParaRPr sz="1100"/>
          </a:p>
        </p:txBody>
      </p:sp>
      <p:sp>
        <p:nvSpPr>
          <p:cNvPr id="402" name="Google Shape;402;p29"/>
          <p:cNvSpPr/>
          <p:nvPr/>
        </p:nvSpPr>
        <p:spPr>
          <a:xfrm>
            <a:off x="785813" y="2628900"/>
            <a:ext cx="3571875" cy="400050"/>
          </a:xfrm>
          <a:prstGeom prst="roundRect">
            <a:avLst>
              <a:gd fmla="val 14286" name="adj"/>
            </a:avLst>
          </a:prstGeom>
          <a:solidFill>
            <a:srgbClr val="F8F6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9"/>
          <p:cNvSpPr/>
          <p:nvPr/>
        </p:nvSpPr>
        <p:spPr>
          <a:xfrm>
            <a:off x="785813" y="2628900"/>
            <a:ext cx="28575" cy="400050"/>
          </a:xfrm>
          <a:prstGeom prst="roundRect">
            <a:avLst>
              <a:gd fmla="val 50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9"/>
          <p:cNvSpPr txBox="1"/>
          <p:nvPr/>
        </p:nvSpPr>
        <p:spPr>
          <a:xfrm>
            <a:off x="888682" y="2703195"/>
            <a:ext cx="169976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Design System 停在文件里</a:t>
            </a:r>
            <a:endParaRPr sz="1100"/>
          </a:p>
        </p:txBody>
      </p:sp>
      <p:sp>
        <p:nvSpPr>
          <p:cNvPr id="405" name="Google Shape;405;p29"/>
          <p:cNvSpPr txBox="1"/>
          <p:nvPr/>
        </p:nvSpPr>
        <p:spPr>
          <a:xfrm>
            <a:off x="889397" y="2852142"/>
            <a:ext cx="1500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复用靠人工，换对话就断了</a:t>
            </a:r>
            <a:endParaRPr sz="1100"/>
          </a:p>
        </p:txBody>
      </p:sp>
      <p:sp>
        <p:nvSpPr>
          <p:cNvPr id="406" name="Google Shape;406;p29"/>
          <p:cNvSpPr/>
          <p:nvPr/>
        </p:nvSpPr>
        <p:spPr>
          <a:xfrm>
            <a:off x="785813" y="3114675"/>
            <a:ext cx="3571875" cy="400050"/>
          </a:xfrm>
          <a:prstGeom prst="roundRect">
            <a:avLst>
              <a:gd fmla="val 14286" name="adj"/>
            </a:avLst>
          </a:prstGeom>
          <a:solidFill>
            <a:srgbClr val="F8F6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9"/>
          <p:cNvSpPr/>
          <p:nvPr/>
        </p:nvSpPr>
        <p:spPr>
          <a:xfrm>
            <a:off x="785813" y="3114675"/>
            <a:ext cx="28575" cy="400050"/>
          </a:xfrm>
          <a:prstGeom prst="roundRect">
            <a:avLst>
              <a:gd fmla="val 50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9"/>
          <p:cNvSpPr txBox="1"/>
          <p:nvPr/>
        </p:nvSpPr>
        <p:spPr>
          <a:xfrm>
            <a:off x="888683" y="3188970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费用与门槛</a:t>
            </a:r>
            <a:endParaRPr sz="1100"/>
          </a:p>
        </p:txBody>
      </p:sp>
      <p:sp>
        <p:nvSpPr>
          <p:cNvPr id="409" name="Google Shape;409;p29"/>
          <p:cNvSpPr txBox="1"/>
          <p:nvPr/>
        </p:nvSpPr>
        <p:spPr>
          <a:xfrm>
            <a:off x="889397" y="3337917"/>
            <a:ext cx="22950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Figma Pro $15+/月，复杂项目还需设计师</a:t>
            </a:r>
            <a:endParaRPr sz="1100"/>
          </a:p>
        </p:txBody>
      </p:sp>
      <p:sp>
        <p:nvSpPr>
          <p:cNvPr id="410" name="Google Shape;410;p29"/>
          <p:cNvSpPr/>
          <p:nvPr/>
        </p:nvSpPr>
        <p:spPr>
          <a:xfrm>
            <a:off x="785813" y="3600450"/>
            <a:ext cx="3571875" cy="400050"/>
          </a:xfrm>
          <a:prstGeom prst="roundRect">
            <a:avLst>
              <a:gd fmla="val 14286" name="adj"/>
            </a:avLst>
          </a:prstGeom>
          <a:solidFill>
            <a:srgbClr val="F8F6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9"/>
          <p:cNvSpPr/>
          <p:nvPr/>
        </p:nvSpPr>
        <p:spPr>
          <a:xfrm>
            <a:off x="785813" y="3600450"/>
            <a:ext cx="28575" cy="400050"/>
          </a:xfrm>
          <a:prstGeom prst="roundRect">
            <a:avLst>
              <a:gd fmla="val 50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9"/>
          <p:cNvSpPr txBox="1"/>
          <p:nvPr/>
        </p:nvSpPr>
        <p:spPr>
          <a:xfrm>
            <a:off x="888683" y="3674745"/>
            <a:ext cx="45761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AI 集成</a:t>
            </a:r>
            <a:endParaRPr sz="1100"/>
          </a:p>
        </p:txBody>
      </p:sp>
      <p:sp>
        <p:nvSpPr>
          <p:cNvPr id="413" name="Google Shape;413;p29"/>
          <p:cNvSpPr txBox="1"/>
          <p:nvPr/>
        </p:nvSpPr>
        <p:spPr>
          <a:xfrm>
            <a:off x="889397" y="3823692"/>
            <a:ext cx="17466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插件形式，非原生；功能碎片化</a:t>
            </a:r>
            <a:endParaRPr sz="1100"/>
          </a:p>
        </p:txBody>
      </p:sp>
      <p:sp>
        <p:nvSpPr>
          <p:cNvPr id="414" name="Google Shape;414;p29"/>
          <p:cNvSpPr/>
          <p:nvPr/>
        </p:nvSpPr>
        <p:spPr>
          <a:xfrm>
            <a:off x="4643438" y="914400"/>
            <a:ext cx="3929063" cy="3500438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9050">
            <a:solidFill>
              <a:srgbClr val="C961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9"/>
          <p:cNvSpPr/>
          <p:nvPr/>
        </p:nvSpPr>
        <p:spPr>
          <a:xfrm>
            <a:off x="4643438" y="914400"/>
            <a:ext cx="3929063" cy="42863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9"/>
          <p:cNvSpPr txBox="1"/>
          <p:nvPr/>
        </p:nvSpPr>
        <p:spPr>
          <a:xfrm>
            <a:off x="7095815" y="1085850"/>
            <a:ext cx="139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5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 sz="1100"/>
          </a:p>
        </p:txBody>
      </p:sp>
      <p:sp>
        <p:nvSpPr>
          <p:cNvPr id="417" name="Google Shape;417;p29"/>
          <p:cNvSpPr/>
          <p:nvPr/>
        </p:nvSpPr>
        <p:spPr>
          <a:xfrm>
            <a:off x="4857750" y="1100138"/>
            <a:ext cx="342900" cy="342900"/>
          </a:xfrm>
          <a:prstGeom prst="roundRect">
            <a:avLst>
              <a:gd fmla="val 20833" name="adj"/>
            </a:avLst>
          </a:prstGeom>
          <a:solidFill>
            <a:srgbClr val="C96133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9"/>
          <p:cNvSpPr/>
          <p:nvPr/>
        </p:nvSpPr>
        <p:spPr>
          <a:xfrm>
            <a:off x="4922044" y="1164431"/>
            <a:ext cx="214313" cy="214532"/>
          </a:xfrm>
          <a:custGeom>
            <a:rect b="b" l="l" r="r" t="t"/>
            <a:pathLst>
              <a:path extrusionOk="0" h="286042" w="285750">
                <a:moveTo>
                  <a:pt x="142875" y="0"/>
                </a:moveTo>
                <a:cubicBezTo>
                  <a:pt x="221428" y="0"/>
                  <a:pt x="285750" y="57179"/>
                  <a:pt x="285750" y="128588"/>
                </a:cubicBezTo>
                <a:cubicBezTo>
                  <a:pt x="285750" y="147890"/>
                  <a:pt x="277178" y="166307"/>
                  <a:pt x="262118" y="179680"/>
                </a:cubicBezTo>
                <a:cubicBezTo>
                  <a:pt x="247402" y="192738"/>
                  <a:pt x="227657" y="200025"/>
                  <a:pt x="207169" y="200025"/>
                </a:cubicBezTo>
                <a:lnTo>
                  <a:pt x="171221" y="200025"/>
                </a:lnTo>
                <a:cubicBezTo>
                  <a:pt x="164664" y="199919"/>
                  <a:pt x="158876" y="204292"/>
                  <a:pt x="157186" y="210629"/>
                </a:cubicBezTo>
                <a:cubicBezTo>
                  <a:pt x="155496" y="216967"/>
                  <a:pt x="158338" y="223640"/>
                  <a:pt x="164078" y="226814"/>
                </a:cubicBezTo>
                <a:cubicBezTo>
                  <a:pt x="165078" y="227367"/>
                  <a:pt x="166009" y="228039"/>
                  <a:pt x="166849" y="228814"/>
                </a:cubicBezTo>
                <a:cubicBezTo>
                  <a:pt x="176865" y="238057"/>
                  <a:pt x="180137" y="252523"/>
                  <a:pt x="175072" y="265175"/>
                </a:cubicBezTo>
                <a:cubicBezTo>
                  <a:pt x="170008" y="277828"/>
                  <a:pt x="157659" y="286042"/>
                  <a:pt x="144032" y="285821"/>
                </a:cubicBezTo>
                <a:lnTo>
                  <a:pt x="141803" y="285693"/>
                </a:lnTo>
                <a:lnTo>
                  <a:pt x="142775" y="285750"/>
                </a:lnTo>
                <a:lnTo>
                  <a:pt x="138875" y="285693"/>
                </a:lnTo>
                <a:cubicBezTo>
                  <a:pt x="63151" y="283607"/>
                  <a:pt x="2143" y="222599"/>
                  <a:pt x="57" y="146876"/>
                </a:cubicBezTo>
                <a:lnTo>
                  <a:pt x="0" y="142875"/>
                </a:lnTo>
                <a:cubicBezTo>
                  <a:pt x="0" y="63965"/>
                  <a:pt x="63965" y="0"/>
                  <a:pt x="142875" y="0"/>
                </a:cubicBezTo>
                <a:moveTo>
                  <a:pt x="92869" y="92869"/>
                </a:moveTo>
                <a:cubicBezTo>
                  <a:pt x="77915" y="92864"/>
                  <a:pt x="65487" y="104389"/>
                  <a:pt x="64365" y="119301"/>
                </a:cubicBezTo>
                <a:lnTo>
                  <a:pt x="64294" y="121444"/>
                </a:lnTo>
                <a:cubicBezTo>
                  <a:pt x="64294" y="137225"/>
                  <a:pt x="77087" y="150019"/>
                  <a:pt x="92869" y="150019"/>
                </a:cubicBezTo>
                <a:cubicBezTo>
                  <a:pt x="108650" y="150019"/>
                  <a:pt x="121444" y="137225"/>
                  <a:pt x="121444" y="121444"/>
                </a:cubicBezTo>
                <a:cubicBezTo>
                  <a:pt x="121444" y="105662"/>
                  <a:pt x="108650" y="92869"/>
                  <a:pt x="92869" y="92869"/>
                </a:cubicBezTo>
                <a:moveTo>
                  <a:pt x="207169" y="92869"/>
                </a:moveTo>
                <a:cubicBezTo>
                  <a:pt x="192215" y="92864"/>
                  <a:pt x="179787" y="104389"/>
                  <a:pt x="178665" y="119301"/>
                </a:cubicBezTo>
                <a:lnTo>
                  <a:pt x="178594" y="121444"/>
                </a:lnTo>
                <a:cubicBezTo>
                  <a:pt x="178594" y="137225"/>
                  <a:pt x="191387" y="150019"/>
                  <a:pt x="207169" y="150019"/>
                </a:cubicBezTo>
                <a:cubicBezTo>
                  <a:pt x="222950" y="150019"/>
                  <a:pt x="235744" y="137225"/>
                  <a:pt x="235744" y="121444"/>
                </a:cubicBezTo>
                <a:cubicBezTo>
                  <a:pt x="235744" y="105662"/>
                  <a:pt x="222950" y="92869"/>
                  <a:pt x="207169" y="92869"/>
                </a:cubicBezTo>
                <a:moveTo>
                  <a:pt x="150019" y="50006"/>
                </a:moveTo>
                <a:cubicBezTo>
                  <a:pt x="135065" y="50002"/>
                  <a:pt x="122637" y="61527"/>
                  <a:pt x="121515" y="76438"/>
                </a:cubicBezTo>
                <a:lnTo>
                  <a:pt x="121444" y="78581"/>
                </a:lnTo>
                <a:cubicBezTo>
                  <a:pt x="121444" y="94363"/>
                  <a:pt x="134237" y="107156"/>
                  <a:pt x="150019" y="107156"/>
                </a:cubicBezTo>
                <a:cubicBezTo>
                  <a:pt x="165800" y="107156"/>
                  <a:pt x="178594" y="94363"/>
                  <a:pt x="178594" y="78581"/>
                </a:cubicBezTo>
                <a:cubicBezTo>
                  <a:pt x="178594" y="62800"/>
                  <a:pt x="165800" y="50006"/>
                  <a:pt x="150019" y="50006"/>
                </a:cubicBezTo>
              </a:path>
            </a:pathLst>
          </a:cu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9"/>
          <p:cNvSpPr txBox="1"/>
          <p:nvPr/>
        </p:nvSpPr>
        <p:spPr>
          <a:xfrm>
            <a:off x="5269230" y="1125855"/>
            <a:ext cx="13592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Claude Design</a:t>
            </a:r>
            <a:endParaRPr sz="1100"/>
          </a:p>
        </p:txBody>
      </p:sp>
      <p:sp>
        <p:nvSpPr>
          <p:cNvPr id="420" name="Google Shape;420;p29"/>
          <p:cNvSpPr txBox="1"/>
          <p:nvPr/>
        </p:nvSpPr>
        <p:spPr>
          <a:xfrm>
            <a:off x="5276374" y="1343739"/>
            <a:ext cx="961970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AI-NATIVE DESIGN</a:t>
            </a:r>
            <a:endParaRPr sz="1100"/>
          </a:p>
        </p:txBody>
      </p:sp>
      <p:sp>
        <p:nvSpPr>
          <p:cNvPr id="421" name="Google Shape;421;p29"/>
          <p:cNvSpPr/>
          <p:nvPr/>
        </p:nvSpPr>
        <p:spPr>
          <a:xfrm>
            <a:off x="4857750" y="1557338"/>
            <a:ext cx="3500438" cy="7144"/>
          </a:xfrm>
          <a:custGeom>
            <a:rect b="b" l="l" r="r" t="t"/>
            <a:pathLst>
              <a:path extrusionOk="0" h="9525" w="4667250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cap="flat" cmpd="sng" w="14275">
            <a:solidFill>
              <a:srgbClr val="F0EDE8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29"/>
          <p:cNvSpPr/>
          <p:nvPr/>
        </p:nvSpPr>
        <p:spPr>
          <a:xfrm>
            <a:off x="4857750" y="1657350"/>
            <a:ext cx="3571875" cy="400050"/>
          </a:xfrm>
          <a:prstGeom prst="roundRect">
            <a:avLst>
              <a:gd fmla="val 14286" name="adj"/>
            </a:avLst>
          </a:prstGeom>
          <a:solidFill>
            <a:srgbClr val="FDF5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9"/>
          <p:cNvSpPr/>
          <p:nvPr/>
        </p:nvSpPr>
        <p:spPr>
          <a:xfrm>
            <a:off x="4857750" y="1657350"/>
            <a:ext cx="28575" cy="400050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9"/>
          <p:cNvSpPr txBox="1"/>
          <p:nvPr/>
        </p:nvSpPr>
        <p:spPr>
          <a:xfrm>
            <a:off x="4960620" y="1731645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零设计背景可用</a:t>
            </a:r>
            <a:endParaRPr sz="1100"/>
          </a:p>
        </p:txBody>
      </p:sp>
      <p:sp>
        <p:nvSpPr>
          <p:cNvPr id="425" name="Google Shape;425;p29"/>
          <p:cNvSpPr txBox="1"/>
          <p:nvPr/>
        </p:nvSpPr>
        <p:spPr>
          <a:xfrm>
            <a:off x="4961334" y="1880592"/>
            <a:ext cx="21348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AI 帮你做所有设计决策，自然语言指令</a:t>
            </a:r>
            <a:endParaRPr sz="1100"/>
          </a:p>
        </p:txBody>
      </p:sp>
      <p:sp>
        <p:nvSpPr>
          <p:cNvPr id="426" name="Google Shape;426;p29"/>
          <p:cNvSpPr/>
          <p:nvPr/>
        </p:nvSpPr>
        <p:spPr>
          <a:xfrm>
            <a:off x="4857750" y="2143125"/>
            <a:ext cx="3571875" cy="400050"/>
          </a:xfrm>
          <a:prstGeom prst="roundRect">
            <a:avLst>
              <a:gd fmla="val 14286" name="adj"/>
            </a:avLst>
          </a:prstGeom>
          <a:solidFill>
            <a:srgbClr val="FDF5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9"/>
          <p:cNvSpPr/>
          <p:nvPr/>
        </p:nvSpPr>
        <p:spPr>
          <a:xfrm>
            <a:off x="4857750" y="2143125"/>
            <a:ext cx="28575" cy="400050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9"/>
          <p:cNvSpPr txBox="1"/>
          <p:nvPr/>
        </p:nvSpPr>
        <p:spPr>
          <a:xfrm>
            <a:off x="4960620" y="2217420"/>
            <a:ext cx="1720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原生 MCP 打通 Claude Code</a:t>
            </a:r>
            <a:endParaRPr sz="1100"/>
          </a:p>
        </p:txBody>
      </p:sp>
      <p:sp>
        <p:nvSpPr>
          <p:cNvPr id="429" name="Google Shape;429;p29"/>
          <p:cNvSpPr txBox="1"/>
          <p:nvPr/>
        </p:nvSpPr>
        <p:spPr>
          <a:xfrm>
            <a:off x="4961334" y="2366367"/>
            <a:ext cx="231966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import / sync / /design 命令，一键同步</a:t>
            </a:r>
            <a:endParaRPr sz="1100"/>
          </a:p>
        </p:txBody>
      </p:sp>
      <p:sp>
        <p:nvSpPr>
          <p:cNvPr id="430" name="Google Shape;430;p29"/>
          <p:cNvSpPr/>
          <p:nvPr/>
        </p:nvSpPr>
        <p:spPr>
          <a:xfrm>
            <a:off x="4857750" y="2628900"/>
            <a:ext cx="3571875" cy="400050"/>
          </a:xfrm>
          <a:prstGeom prst="roundRect">
            <a:avLst>
              <a:gd fmla="val 14286" name="adj"/>
            </a:avLst>
          </a:prstGeom>
          <a:solidFill>
            <a:srgbClr val="FDF5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9"/>
          <p:cNvSpPr/>
          <p:nvPr/>
        </p:nvSpPr>
        <p:spPr>
          <a:xfrm>
            <a:off x="4857750" y="2628900"/>
            <a:ext cx="28575" cy="400050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9"/>
          <p:cNvSpPr txBox="1"/>
          <p:nvPr/>
        </p:nvSpPr>
        <p:spPr>
          <a:xfrm>
            <a:off x="4960620" y="2703195"/>
            <a:ext cx="169976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Design System 保存为文件</a:t>
            </a:r>
            <a:endParaRPr sz="1100"/>
          </a:p>
        </p:txBody>
      </p:sp>
      <p:sp>
        <p:nvSpPr>
          <p:cNvPr id="433" name="Google Shape;433;p29"/>
          <p:cNvSpPr txBox="1"/>
          <p:nvPr/>
        </p:nvSpPr>
        <p:spPr>
          <a:xfrm>
            <a:off x="4961334" y="2852142"/>
            <a:ext cx="186987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粘贴到新对话即复用，跨项目通用</a:t>
            </a:r>
            <a:endParaRPr sz="1100"/>
          </a:p>
        </p:txBody>
      </p:sp>
      <p:sp>
        <p:nvSpPr>
          <p:cNvPr id="434" name="Google Shape;434;p29"/>
          <p:cNvSpPr/>
          <p:nvPr/>
        </p:nvSpPr>
        <p:spPr>
          <a:xfrm>
            <a:off x="4857750" y="3114675"/>
            <a:ext cx="3571875" cy="400050"/>
          </a:xfrm>
          <a:prstGeom prst="roundRect">
            <a:avLst>
              <a:gd fmla="val 14286" name="adj"/>
            </a:avLst>
          </a:prstGeom>
          <a:solidFill>
            <a:srgbClr val="FDF5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9"/>
          <p:cNvSpPr/>
          <p:nvPr/>
        </p:nvSpPr>
        <p:spPr>
          <a:xfrm>
            <a:off x="4857750" y="3114675"/>
            <a:ext cx="28575" cy="400050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9"/>
          <p:cNvSpPr txBox="1"/>
          <p:nvPr/>
        </p:nvSpPr>
        <p:spPr>
          <a:xfrm>
            <a:off x="4960620" y="3188970"/>
            <a:ext cx="1313321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Claude 账号额度共享</a:t>
            </a:r>
            <a:endParaRPr sz="1100"/>
          </a:p>
        </p:txBody>
      </p:sp>
      <p:sp>
        <p:nvSpPr>
          <p:cNvPr id="437" name="Google Shape;437;p29"/>
          <p:cNvSpPr txBox="1"/>
          <p:nvPr/>
        </p:nvSpPr>
        <p:spPr>
          <a:xfrm>
            <a:off x="4961334" y="3337917"/>
            <a:ext cx="19191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$0 额外成本，无需再订阅设计工具</a:t>
            </a:r>
            <a:endParaRPr sz="1100"/>
          </a:p>
        </p:txBody>
      </p:sp>
      <p:sp>
        <p:nvSpPr>
          <p:cNvPr id="438" name="Google Shape;438;p29"/>
          <p:cNvSpPr/>
          <p:nvPr/>
        </p:nvSpPr>
        <p:spPr>
          <a:xfrm>
            <a:off x="4857750" y="3600450"/>
            <a:ext cx="3571875" cy="400050"/>
          </a:xfrm>
          <a:prstGeom prst="roundRect">
            <a:avLst>
              <a:gd fmla="val 14286" name="adj"/>
            </a:avLst>
          </a:prstGeom>
          <a:solidFill>
            <a:srgbClr val="FDF5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9"/>
          <p:cNvSpPr/>
          <p:nvPr/>
        </p:nvSpPr>
        <p:spPr>
          <a:xfrm>
            <a:off x="4857750" y="3600450"/>
            <a:ext cx="28575" cy="400050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9"/>
          <p:cNvSpPr txBox="1"/>
          <p:nvPr/>
        </p:nvSpPr>
        <p:spPr>
          <a:xfrm>
            <a:off x="4960620" y="3674745"/>
            <a:ext cx="121670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Opus 4.8 原生驱动</a:t>
            </a:r>
            <a:endParaRPr sz="1100"/>
          </a:p>
        </p:txBody>
      </p:sp>
      <p:sp>
        <p:nvSpPr>
          <p:cNvPr id="441" name="Google Shape;441;p29"/>
          <p:cNvSpPr txBox="1"/>
          <p:nvPr/>
        </p:nvSpPr>
        <p:spPr>
          <a:xfrm>
            <a:off x="4961334" y="3823692"/>
            <a:ext cx="164190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最强前端 AI，高保真交互原型</a:t>
            </a:r>
            <a:endParaRPr sz="1100"/>
          </a:p>
        </p:txBody>
      </p:sp>
      <p:sp>
        <p:nvSpPr>
          <p:cNvPr id="442" name="Google Shape;442;p29"/>
          <p:cNvSpPr/>
          <p:nvPr/>
        </p:nvSpPr>
        <p:spPr>
          <a:xfrm>
            <a:off x="571500" y="4586288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95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443" name="Google Shape;443;p29"/>
          <p:cNvGrpSpPr/>
          <p:nvPr/>
        </p:nvGrpSpPr>
        <p:grpSpPr>
          <a:xfrm>
            <a:off x="4032645" y="4704151"/>
            <a:ext cx="110641" cy="110626"/>
            <a:chOff x="5376860" y="6272201"/>
            <a:chExt cx="147521" cy="147502"/>
          </a:xfrm>
        </p:grpSpPr>
        <p:sp>
          <p:nvSpPr>
            <p:cNvPr id="444" name="Google Shape;444;p29"/>
            <p:cNvSpPr/>
            <p:nvPr/>
          </p:nvSpPr>
          <p:spPr>
            <a:xfrm>
              <a:off x="5415985" y="6311127"/>
              <a:ext cx="64838" cy="64838"/>
            </a:xfrm>
            <a:custGeom>
              <a:rect b="b" l="l" r="r" t="t"/>
              <a:pathLst>
                <a:path extrusionOk="0" h="64838" w="64838">
                  <a:moveTo>
                    <a:pt x="61740" y="3099"/>
                  </a:moveTo>
                  <a:cubicBezTo>
                    <a:pt x="64838" y="6198"/>
                    <a:pt x="64838" y="11223"/>
                    <a:pt x="61740" y="14322"/>
                  </a:cubicBezTo>
                  <a:lnTo>
                    <a:pt x="14115" y="61947"/>
                  </a:lnTo>
                  <a:cubicBezTo>
                    <a:pt x="12122" y="64011"/>
                    <a:pt x="9170" y="64838"/>
                    <a:pt x="6395" y="64112"/>
                  </a:cubicBezTo>
                  <a:cubicBezTo>
                    <a:pt x="3620" y="63385"/>
                    <a:pt x="1453" y="61218"/>
                    <a:pt x="726" y="58443"/>
                  </a:cubicBezTo>
                  <a:cubicBezTo>
                    <a:pt x="0" y="55668"/>
                    <a:pt x="828" y="52717"/>
                    <a:pt x="2891" y="50724"/>
                  </a:cubicBezTo>
                  <a:lnTo>
                    <a:pt x="50516" y="3099"/>
                  </a:lnTo>
                  <a:cubicBezTo>
                    <a:pt x="53616" y="0"/>
                    <a:pt x="58640" y="0"/>
                    <a:pt x="61740" y="3099"/>
                  </a:cubicBezTo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9"/>
            <p:cNvSpPr/>
            <p:nvPr/>
          </p:nvSpPr>
          <p:spPr>
            <a:xfrm>
              <a:off x="5431931" y="6272201"/>
              <a:ext cx="92450" cy="88255"/>
            </a:xfrm>
            <a:custGeom>
              <a:rect b="b" l="l" r="r" t="t"/>
              <a:pathLst>
                <a:path extrusionOk="0" h="88255" w="92450">
                  <a:moveTo>
                    <a:pt x="73853" y="13957"/>
                  </a:moveTo>
                  <a:cubicBezTo>
                    <a:pt x="92450" y="32563"/>
                    <a:pt x="92442" y="62717"/>
                    <a:pt x="73440" y="81696"/>
                  </a:cubicBezTo>
                  <a:lnTo>
                    <a:pt x="69201" y="85379"/>
                  </a:lnTo>
                  <a:cubicBezTo>
                    <a:pt x="65892" y="88255"/>
                    <a:pt x="60877" y="87903"/>
                    <a:pt x="58001" y="84593"/>
                  </a:cubicBezTo>
                  <a:cubicBezTo>
                    <a:pt x="55126" y="81283"/>
                    <a:pt x="55478" y="76269"/>
                    <a:pt x="58787" y="73393"/>
                  </a:cubicBezTo>
                  <a:lnTo>
                    <a:pt x="62621" y="70091"/>
                  </a:lnTo>
                  <a:cubicBezTo>
                    <a:pt x="68576" y="64137"/>
                    <a:pt x="71921" y="56061"/>
                    <a:pt x="71921" y="47640"/>
                  </a:cubicBezTo>
                  <a:cubicBezTo>
                    <a:pt x="71921" y="39219"/>
                    <a:pt x="68576" y="31143"/>
                    <a:pt x="62621" y="25189"/>
                  </a:cubicBezTo>
                  <a:cubicBezTo>
                    <a:pt x="50223" y="12783"/>
                    <a:pt x="30117" y="12783"/>
                    <a:pt x="18116" y="24760"/>
                  </a:cubicBezTo>
                  <a:lnTo>
                    <a:pt x="14440" y="29015"/>
                  </a:lnTo>
                  <a:cubicBezTo>
                    <a:pt x="12586" y="31161"/>
                    <a:pt x="9727" y="32156"/>
                    <a:pt x="6940" y="31623"/>
                  </a:cubicBezTo>
                  <a:cubicBezTo>
                    <a:pt x="4154" y="31090"/>
                    <a:pt x="1864" y="29111"/>
                    <a:pt x="932" y="26432"/>
                  </a:cubicBezTo>
                  <a:cubicBezTo>
                    <a:pt x="0" y="23752"/>
                    <a:pt x="568" y="20779"/>
                    <a:pt x="2423" y="18633"/>
                  </a:cubicBezTo>
                  <a:lnTo>
                    <a:pt x="6495" y="13949"/>
                  </a:lnTo>
                  <a:cubicBezTo>
                    <a:pt x="15428" y="5017"/>
                    <a:pt x="27543" y="0"/>
                    <a:pt x="40175" y="1"/>
                  </a:cubicBezTo>
                  <a:cubicBezTo>
                    <a:pt x="52808" y="3"/>
                    <a:pt x="64922" y="5023"/>
                    <a:pt x="73853" y="13957"/>
                  </a:cubicBezTo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9"/>
            <p:cNvSpPr/>
            <p:nvPr/>
          </p:nvSpPr>
          <p:spPr>
            <a:xfrm>
              <a:off x="5376860" y="6326867"/>
              <a:ext cx="87794" cy="92836"/>
            </a:xfrm>
            <a:custGeom>
              <a:rect b="b" l="l" r="r" t="t"/>
              <a:pathLst>
                <a:path extrusionOk="0" h="92836" w="87794">
                  <a:moveTo>
                    <a:pt x="29768" y="3591"/>
                  </a:moveTo>
                  <a:cubicBezTo>
                    <a:pt x="32667" y="6877"/>
                    <a:pt x="32354" y="11890"/>
                    <a:pt x="29070" y="14791"/>
                  </a:cubicBezTo>
                  <a:lnTo>
                    <a:pt x="25236" y="18164"/>
                  </a:lnTo>
                  <a:cubicBezTo>
                    <a:pt x="19242" y="24085"/>
                    <a:pt x="15868" y="32159"/>
                    <a:pt x="15868" y="40584"/>
                  </a:cubicBezTo>
                  <a:cubicBezTo>
                    <a:pt x="15868" y="49009"/>
                    <a:pt x="19242" y="57083"/>
                    <a:pt x="25236" y="63003"/>
                  </a:cubicBezTo>
                  <a:cubicBezTo>
                    <a:pt x="37686" y="75322"/>
                    <a:pt x="57691" y="75456"/>
                    <a:pt x="70305" y="63305"/>
                  </a:cubicBezTo>
                  <a:lnTo>
                    <a:pt x="73004" y="59669"/>
                  </a:lnTo>
                  <a:cubicBezTo>
                    <a:pt x="74697" y="57392"/>
                    <a:pt x="77476" y="56191"/>
                    <a:pt x="80295" y="56519"/>
                  </a:cubicBezTo>
                  <a:cubicBezTo>
                    <a:pt x="83113" y="56846"/>
                    <a:pt x="85543" y="58653"/>
                    <a:pt x="86668" y="61258"/>
                  </a:cubicBezTo>
                  <a:cubicBezTo>
                    <a:pt x="87794" y="63862"/>
                    <a:pt x="87445" y="66870"/>
                    <a:pt x="85752" y="69147"/>
                  </a:cubicBezTo>
                  <a:lnTo>
                    <a:pt x="82600" y="73385"/>
                  </a:lnTo>
                  <a:lnTo>
                    <a:pt x="81807" y="74290"/>
                  </a:lnTo>
                  <a:cubicBezTo>
                    <a:pt x="63038" y="92836"/>
                    <a:pt x="32844" y="92836"/>
                    <a:pt x="14076" y="74290"/>
                  </a:cubicBezTo>
                  <a:cubicBezTo>
                    <a:pt x="5068" y="65386"/>
                    <a:pt x="0" y="53246"/>
                    <a:pt x="3" y="40580"/>
                  </a:cubicBezTo>
                  <a:cubicBezTo>
                    <a:pt x="3" y="27919"/>
                    <a:pt x="5067" y="15783"/>
                    <a:pt x="14401" y="6575"/>
                  </a:cubicBezTo>
                  <a:lnTo>
                    <a:pt x="18561" y="2900"/>
                  </a:lnTo>
                  <a:cubicBezTo>
                    <a:pt x="21845" y="0"/>
                    <a:pt x="26858" y="309"/>
                    <a:pt x="29760" y="3591"/>
                  </a:cubicBezTo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7" name="Google Shape;447;p29"/>
          <p:cNvSpPr txBox="1"/>
          <p:nvPr/>
        </p:nvSpPr>
        <p:spPr>
          <a:xfrm>
            <a:off x="4203382" y="4703445"/>
            <a:ext cx="32892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关键差异：Claude Design 和 Claude Code 是同一个生态</a:t>
            </a:r>
            <a:endParaRPr sz="1100"/>
          </a:p>
        </p:txBody>
      </p:sp>
      <p:sp>
        <p:nvSpPr>
          <p:cNvPr id="448" name="Google Shape;448;p29"/>
          <p:cNvSpPr txBox="1"/>
          <p:nvPr/>
        </p:nvSpPr>
        <p:spPr>
          <a:xfrm>
            <a:off x="8320076" y="4958477"/>
            <a:ext cx="40530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05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0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0"/>
          <p:cNvSpPr txBox="1"/>
          <p:nvPr/>
        </p:nvSpPr>
        <p:spPr>
          <a:xfrm>
            <a:off x="1906703" y="224314"/>
            <a:ext cx="53305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双向打通：设计和代码不再是两个世界</a:t>
            </a:r>
            <a:endParaRPr sz="1100"/>
          </a:p>
        </p:txBody>
      </p:sp>
      <p:sp>
        <p:nvSpPr>
          <p:cNvPr id="456" name="Google Shape;456;p30"/>
          <p:cNvSpPr txBox="1"/>
          <p:nvPr/>
        </p:nvSpPr>
        <p:spPr>
          <a:xfrm>
            <a:off x="2748915" y="523637"/>
            <a:ext cx="3646170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协议：MCP · 结果：设计即代码，代码即设计</a:t>
            </a:r>
            <a:endParaRPr sz="1100"/>
          </a:p>
        </p:txBody>
      </p:sp>
      <p:sp>
        <p:nvSpPr>
          <p:cNvPr id="457" name="Google Shape;457;p30"/>
          <p:cNvSpPr/>
          <p:nvPr/>
        </p:nvSpPr>
        <p:spPr>
          <a:xfrm>
            <a:off x="571500" y="800100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30"/>
          <p:cNvSpPr/>
          <p:nvPr/>
        </p:nvSpPr>
        <p:spPr>
          <a:xfrm>
            <a:off x="571500" y="914400"/>
            <a:ext cx="8001000" cy="1057275"/>
          </a:xfrm>
          <a:prstGeom prst="roundRect">
            <a:avLst>
              <a:gd fmla="val 8108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0"/>
          <p:cNvSpPr/>
          <p:nvPr/>
        </p:nvSpPr>
        <p:spPr>
          <a:xfrm>
            <a:off x="571500" y="914400"/>
            <a:ext cx="42863" cy="1057275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0"/>
          <p:cNvSpPr/>
          <p:nvPr/>
        </p:nvSpPr>
        <p:spPr>
          <a:xfrm>
            <a:off x="700088" y="1057275"/>
            <a:ext cx="928688" cy="242888"/>
          </a:xfrm>
          <a:prstGeom prst="roundRect">
            <a:avLst>
              <a:gd fmla="val 23529" name="adj"/>
            </a:avLst>
          </a:prstGeom>
          <a:solidFill>
            <a:srgbClr val="C96133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0"/>
          <p:cNvSpPr txBox="1"/>
          <p:nvPr/>
        </p:nvSpPr>
        <p:spPr>
          <a:xfrm>
            <a:off x="739664" y="1130498"/>
            <a:ext cx="84953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Design → Code</a:t>
            </a:r>
            <a:endParaRPr sz="1100"/>
          </a:p>
        </p:txBody>
      </p:sp>
      <p:sp>
        <p:nvSpPr>
          <p:cNvPr id="462" name="Google Shape;462;p30"/>
          <p:cNvSpPr txBox="1"/>
          <p:nvPr/>
        </p:nvSpPr>
        <p:spPr>
          <a:xfrm>
            <a:off x="995660" y="1313021"/>
            <a:ext cx="33754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import</a:t>
            </a:r>
            <a:endParaRPr sz="1100"/>
          </a:p>
        </p:txBody>
      </p:sp>
      <p:sp>
        <p:nvSpPr>
          <p:cNvPr id="463" name="Google Shape;463;p30"/>
          <p:cNvSpPr/>
          <p:nvPr/>
        </p:nvSpPr>
        <p:spPr>
          <a:xfrm>
            <a:off x="716756" y="1531144"/>
            <a:ext cx="166688" cy="166858"/>
          </a:xfrm>
          <a:custGeom>
            <a:rect b="b" l="l" r="r" t="t"/>
            <a:pathLst>
              <a:path extrusionOk="0" h="222477" w="222250">
                <a:moveTo>
                  <a:pt x="111125" y="0"/>
                </a:moveTo>
                <a:cubicBezTo>
                  <a:pt x="172222" y="0"/>
                  <a:pt x="222250" y="44472"/>
                  <a:pt x="222250" y="100012"/>
                </a:cubicBezTo>
                <a:cubicBezTo>
                  <a:pt x="222250" y="115025"/>
                  <a:pt x="215583" y="129349"/>
                  <a:pt x="203870" y="139751"/>
                </a:cubicBezTo>
                <a:cubicBezTo>
                  <a:pt x="192424" y="149908"/>
                  <a:pt x="177067" y="155575"/>
                  <a:pt x="161131" y="155575"/>
                </a:cubicBezTo>
                <a:lnTo>
                  <a:pt x="133172" y="155575"/>
                </a:lnTo>
                <a:cubicBezTo>
                  <a:pt x="128072" y="155493"/>
                  <a:pt x="123570" y="158894"/>
                  <a:pt x="122256" y="163823"/>
                </a:cubicBezTo>
                <a:cubicBezTo>
                  <a:pt x="120941" y="168752"/>
                  <a:pt x="123152" y="173943"/>
                  <a:pt x="127616" y="176411"/>
                </a:cubicBezTo>
                <a:cubicBezTo>
                  <a:pt x="128394" y="176841"/>
                  <a:pt x="129118" y="177364"/>
                  <a:pt x="129772" y="177967"/>
                </a:cubicBezTo>
                <a:cubicBezTo>
                  <a:pt x="137562" y="185155"/>
                  <a:pt x="140106" y="196406"/>
                  <a:pt x="136167" y="206248"/>
                </a:cubicBezTo>
                <a:cubicBezTo>
                  <a:pt x="132229" y="216089"/>
                  <a:pt x="122624" y="222477"/>
                  <a:pt x="112025" y="222306"/>
                </a:cubicBezTo>
                <a:lnTo>
                  <a:pt x="110292" y="222206"/>
                </a:lnTo>
                <a:lnTo>
                  <a:pt x="111047" y="222250"/>
                </a:lnTo>
                <a:lnTo>
                  <a:pt x="108014" y="222206"/>
                </a:lnTo>
                <a:cubicBezTo>
                  <a:pt x="49117" y="220583"/>
                  <a:pt x="1667" y="173133"/>
                  <a:pt x="44" y="114237"/>
                </a:cubicBezTo>
                <a:lnTo>
                  <a:pt x="0" y="111125"/>
                </a:lnTo>
                <a:cubicBezTo>
                  <a:pt x="0" y="49751"/>
                  <a:pt x="49751" y="0"/>
                  <a:pt x="111125" y="0"/>
                </a:cubicBezTo>
                <a:moveTo>
                  <a:pt x="72231" y="72231"/>
                </a:moveTo>
                <a:cubicBezTo>
                  <a:pt x="60601" y="72228"/>
                  <a:pt x="50934" y="81192"/>
                  <a:pt x="50062" y="92789"/>
                </a:cubicBezTo>
                <a:lnTo>
                  <a:pt x="50006" y="94456"/>
                </a:lnTo>
                <a:cubicBezTo>
                  <a:pt x="50006" y="106731"/>
                  <a:pt x="59957" y="116681"/>
                  <a:pt x="72231" y="116681"/>
                </a:cubicBezTo>
                <a:cubicBezTo>
                  <a:pt x="84506" y="116681"/>
                  <a:pt x="94456" y="106731"/>
                  <a:pt x="94456" y="94456"/>
                </a:cubicBezTo>
                <a:cubicBezTo>
                  <a:pt x="94456" y="82182"/>
                  <a:pt x="84506" y="72231"/>
                  <a:pt x="72231" y="72231"/>
                </a:cubicBezTo>
                <a:moveTo>
                  <a:pt x="161131" y="72231"/>
                </a:moveTo>
                <a:cubicBezTo>
                  <a:pt x="149501" y="72228"/>
                  <a:pt x="139834" y="81192"/>
                  <a:pt x="138962" y="92789"/>
                </a:cubicBezTo>
                <a:lnTo>
                  <a:pt x="138906" y="94456"/>
                </a:lnTo>
                <a:cubicBezTo>
                  <a:pt x="138906" y="106731"/>
                  <a:pt x="148857" y="116681"/>
                  <a:pt x="161131" y="116681"/>
                </a:cubicBezTo>
                <a:cubicBezTo>
                  <a:pt x="173406" y="116681"/>
                  <a:pt x="183356" y="106731"/>
                  <a:pt x="183356" y="94456"/>
                </a:cubicBezTo>
                <a:cubicBezTo>
                  <a:pt x="183356" y="82182"/>
                  <a:pt x="173406" y="72231"/>
                  <a:pt x="161131" y="72231"/>
                </a:cubicBezTo>
                <a:moveTo>
                  <a:pt x="116681" y="38894"/>
                </a:moveTo>
                <a:cubicBezTo>
                  <a:pt x="105051" y="38890"/>
                  <a:pt x="95384" y="47854"/>
                  <a:pt x="94512" y="59452"/>
                </a:cubicBezTo>
                <a:lnTo>
                  <a:pt x="94456" y="61119"/>
                </a:lnTo>
                <a:cubicBezTo>
                  <a:pt x="94456" y="73393"/>
                  <a:pt x="104407" y="83344"/>
                  <a:pt x="116681" y="83344"/>
                </a:cubicBezTo>
                <a:cubicBezTo>
                  <a:pt x="128956" y="83344"/>
                  <a:pt x="138906" y="73393"/>
                  <a:pt x="138906" y="61119"/>
                </a:cubicBezTo>
                <a:cubicBezTo>
                  <a:pt x="138906" y="48844"/>
                  <a:pt x="128956" y="38894"/>
                  <a:pt x="116681" y="38894"/>
                </a:cubicBezTo>
              </a:path>
            </a:pathLst>
          </a:cu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0"/>
          <p:cNvSpPr txBox="1"/>
          <p:nvPr/>
        </p:nvSpPr>
        <p:spPr>
          <a:xfrm>
            <a:off x="933689" y="1578412"/>
            <a:ext cx="736264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Claude Design</a:t>
            </a:r>
            <a:endParaRPr sz="1100"/>
          </a:p>
        </p:txBody>
      </p:sp>
      <p:sp>
        <p:nvSpPr>
          <p:cNvPr id="465" name="Google Shape;465;p30"/>
          <p:cNvSpPr/>
          <p:nvPr/>
        </p:nvSpPr>
        <p:spPr>
          <a:xfrm>
            <a:off x="1771650" y="1443038"/>
            <a:ext cx="300038" cy="7144"/>
          </a:xfrm>
          <a:custGeom>
            <a:rect b="b" l="l" r="r" t="t"/>
            <a:pathLst>
              <a:path extrusionOk="0" h="9525" w="400050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cap="flat" cmpd="sng" w="19050">
            <a:solidFill>
              <a:srgbClr val="C9613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30"/>
          <p:cNvSpPr/>
          <p:nvPr/>
        </p:nvSpPr>
        <p:spPr>
          <a:xfrm>
            <a:off x="2071688" y="1400175"/>
            <a:ext cx="100013" cy="85725"/>
          </a:xfrm>
          <a:custGeom>
            <a:rect b="b" l="l" r="r" t="t"/>
            <a:pathLst>
              <a:path extrusionOk="0" h="114300" w="133350">
                <a:moveTo>
                  <a:pt x="0" y="0"/>
                </a:moveTo>
                <a:lnTo>
                  <a:pt x="13335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C96133"/>
          </a:solidFill>
          <a:ln>
            <a:noFill/>
          </a:ln>
        </p:spPr>
      </p:sp>
      <p:sp>
        <p:nvSpPr>
          <p:cNvPr id="467" name="Google Shape;467;p30"/>
          <p:cNvSpPr/>
          <p:nvPr/>
        </p:nvSpPr>
        <p:spPr>
          <a:xfrm>
            <a:off x="2200275" y="1214438"/>
            <a:ext cx="1428750" cy="457200"/>
          </a:xfrm>
          <a:prstGeom prst="roundRect">
            <a:avLst>
              <a:gd fmla="val 12500" name="adj"/>
            </a:avLst>
          </a:prstGeom>
          <a:solidFill>
            <a:srgbClr val="FDF5F1"/>
          </a:solidFill>
          <a:ln cap="flat" cmpd="sng" w="9525">
            <a:solidFill>
              <a:srgbClr val="C961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0"/>
          <p:cNvSpPr txBox="1"/>
          <p:nvPr/>
        </p:nvSpPr>
        <p:spPr>
          <a:xfrm>
            <a:off x="2558177" y="1303020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做好视觉稿</a:t>
            </a:r>
            <a:endParaRPr sz="1100"/>
          </a:p>
        </p:txBody>
      </p:sp>
      <p:sp>
        <p:nvSpPr>
          <p:cNvPr id="469" name="Google Shape;469;p30"/>
          <p:cNvSpPr txBox="1"/>
          <p:nvPr/>
        </p:nvSpPr>
        <p:spPr>
          <a:xfrm>
            <a:off x="2441716" y="1472327"/>
            <a:ext cx="94586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迭代满意后 Share</a:t>
            </a:r>
            <a:endParaRPr sz="1100"/>
          </a:p>
        </p:txBody>
      </p:sp>
      <p:sp>
        <p:nvSpPr>
          <p:cNvPr id="470" name="Google Shape;470;p30"/>
          <p:cNvSpPr/>
          <p:nvPr/>
        </p:nvSpPr>
        <p:spPr>
          <a:xfrm>
            <a:off x="3629025" y="1443038"/>
            <a:ext cx="285750" cy="7144"/>
          </a:xfrm>
          <a:custGeom>
            <a:rect b="b" l="l" r="r" t="t"/>
            <a:pathLst>
              <a:path extrusionOk="0" h="9525" w="381000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cap="flat" cmpd="sng" w="19050">
            <a:solidFill>
              <a:srgbClr val="C9613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30"/>
          <p:cNvSpPr/>
          <p:nvPr/>
        </p:nvSpPr>
        <p:spPr>
          <a:xfrm>
            <a:off x="3914775" y="1400175"/>
            <a:ext cx="100013" cy="85725"/>
          </a:xfrm>
          <a:custGeom>
            <a:rect b="b" l="l" r="r" t="t"/>
            <a:pathLst>
              <a:path extrusionOk="0" h="114300" w="133350">
                <a:moveTo>
                  <a:pt x="0" y="0"/>
                </a:moveTo>
                <a:lnTo>
                  <a:pt x="13335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C96133"/>
          </a:solidFill>
          <a:ln>
            <a:noFill/>
          </a:ln>
        </p:spPr>
      </p:sp>
      <p:sp>
        <p:nvSpPr>
          <p:cNvPr id="472" name="Google Shape;472;p30"/>
          <p:cNvSpPr/>
          <p:nvPr/>
        </p:nvSpPr>
        <p:spPr>
          <a:xfrm>
            <a:off x="4043363" y="1214438"/>
            <a:ext cx="1428750" cy="457200"/>
          </a:xfrm>
          <a:prstGeom prst="roundRect">
            <a:avLst>
              <a:gd fmla="val 12500" name="adj"/>
            </a:avLst>
          </a:prstGeom>
          <a:solidFill>
            <a:srgbClr val="FDF5F1"/>
          </a:solidFill>
          <a:ln cap="flat" cmpd="sng" w="9525">
            <a:solidFill>
              <a:srgbClr val="C961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0"/>
          <p:cNvSpPr txBox="1"/>
          <p:nvPr/>
        </p:nvSpPr>
        <p:spPr>
          <a:xfrm>
            <a:off x="4118329" y="1303020"/>
            <a:ext cx="127881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Claude Code import</a:t>
            </a:r>
            <a:endParaRPr sz="1100"/>
          </a:p>
        </p:txBody>
      </p:sp>
      <p:sp>
        <p:nvSpPr>
          <p:cNvPr id="474" name="Google Shape;474;p30"/>
          <p:cNvSpPr txBox="1"/>
          <p:nvPr/>
        </p:nvSpPr>
        <p:spPr>
          <a:xfrm>
            <a:off x="4178415" y="1472327"/>
            <a:ext cx="1158645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一键导入为 HTML/CSS</a:t>
            </a:r>
            <a:endParaRPr sz="1100"/>
          </a:p>
        </p:txBody>
      </p:sp>
      <p:sp>
        <p:nvSpPr>
          <p:cNvPr id="475" name="Google Shape;475;p30"/>
          <p:cNvSpPr/>
          <p:nvPr/>
        </p:nvSpPr>
        <p:spPr>
          <a:xfrm>
            <a:off x="5472113" y="1443038"/>
            <a:ext cx="285750" cy="7144"/>
          </a:xfrm>
          <a:custGeom>
            <a:rect b="b" l="l" r="r" t="t"/>
            <a:pathLst>
              <a:path extrusionOk="0" h="9525" w="381000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cap="flat" cmpd="sng" w="19050">
            <a:solidFill>
              <a:srgbClr val="C9613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30"/>
          <p:cNvSpPr/>
          <p:nvPr/>
        </p:nvSpPr>
        <p:spPr>
          <a:xfrm>
            <a:off x="5757863" y="1400175"/>
            <a:ext cx="100013" cy="85725"/>
          </a:xfrm>
          <a:custGeom>
            <a:rect b="b" l="l" r="r" t="t"/>
            <a:pathLst>
              <a:path extrusionOk="0" h="114300" w="133350">
                <a:moveTo>
                  <a:pt x="0" y="0"/>
                </a:moveTo>
                <a:lnTo>
                  <a:pt x="13335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C96133"/>
          </a:solidFill>
          <a:ln>
            <a:noFill/>
          </a:ln>
        </p:spPr>
      </p:sp>
      <p:sp>
        <p:nvSpPr>
          <p:cNvPr id="477" name="Google Shape;477;p30"/>
          <p:cNvSpPr/>
          <p:nvPr/>
        </p:nvSpPr>
        <p:spPr>
          <a:xfrm>
            <a:off x="5886450" y="1214438"/>
            <a:ext cx="2428875" cy="457200"/>
          </a:xfrm>
          <a:prstGeom prst="roundRect">
            <a:avLst>
              <a:gd fmla="val 125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0"/>
          <p:cNvSpPr txBox="1"/>
          <p:nvPr/>
        </p:nvSpPr>
        <p:spPr>
          <a:xfrm>
            <a:off x="6192345" y="1303020"/>
            <a:ext cx="18170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可运行代码 + Design System</a:t>
            </a:r>
            <a:endParaRPr sz="1100"/>
          </a:p>
        </p:txBody>
      </p:sp>
      <p:sp>
        <p:nvSpPr>
          <p:cNvPr id="479" name="Google Shape;479;p30"/>
          <p:cNvSpPr txBox="1"/>
          <p:nvPr/>
        </p:nvSpPr>
        <p:spPr>
          <a:xfrm>
            <a:off x="6285786" y="1472327"/>
            <a:ext cx="163020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精确还原设计稿，无需手动对接</a:t>
            </a:r>
            <a:endParaRPr sz="1100"/>
          </a:p>
        </p:txBody>
      </p:sp>
      <p:sp>
        <p:nvSpPr>
          <p:cNvPr id="480" name="Google Shape;480;p30"/>
          <p:cNvSpPr/>
          <p:nvPr/>
        </p:nvSpPr>
        <p:spPr>
          <a:xfrm>
            <a:off x="571500" y="2100263"/>
            <a:ext cx="8001000" cy="1057275"/>
          </a:xfrm>
          <a:prstGeom prst="roundRect">
            <a:avLst>
              <a:gd fmla="val 8108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0"/>
          <p:cNvSpPr/>
          <p:nvPr/>
        </p:nvSpPr>
        <p:spPr>
          <a:xfrm>
            <a:off x="571500" y="2100263"/>
            <a:ext cx="42863" cy="1057275"/>
          </a:xfrm>
          <a:prstGeom prst="roundRect">
            <a:avLst>
              <a:gd fmla="val 500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0"/>
          <p:cNvSpPr/>
          <p:nvPr/>
        </p:nvSpPr>
        <p:spPr>
          <a:xfrm>
            <a:off x="700088" y="2243138"/>
            <a:ext cx="928688" cy="242888"/>
          </a:xfrm>
          <a:prstGeom prst="roundRect">
            <a:avLst>
              <a:gd fmla="val 23529" name="adj"/>
            </a:avLst>
          </a:prstGeom>
          <a:solidFill>
            <a:srgbClr val="3D7DE4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0"/>
          <p:cNvSpPr txBox="1"/>
          <p:nvPr/>
        </p:nvSpPr>
        <p:spPr>
          <a:xfrm>
            <a:off x="739664" y="2316361"/>
            <a:ext cx="84953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Code → Design</a:t>
            </a:r>
            <a:endParaRPr sz="1100"/>
          </a:p>
        </p:txBody>
      </p:sp>
      <p:sp>
        <p:nvSpPr>
          <p:cNvPr id="484" name="Google Shape;484;p30"/>
          <p:cNvSpPr txBox="1"/>
          <p:nvPr/>
        </p:nvSpPr>
        <p:spPr>
          <a:xfrm>
            <a:off x="1047417" y="2498884"/>
            <a:ext cx="234029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sync</a:t>
            </a:r>
            <a:endParaRPr sz="1100"/>
          </a:p>
        </p:txBody>
      </p:sp>
      <p:sp>
        <p:nvSpPr>
          <p:cNvPr id="485" name="Google Shape;485;p30"/>
          <p:cNvSpPr/>
          <p:nvPr/>
        </p:nvSpPr>
        <p:spPr>
          <a:xfrm>
            <a:off x="716756" y="2713273"/>
            <a:ext cx="175496" cy="176180"/>
          </a:xfrm>
          <a:custGeom>
            <a:rect b="b" l="l" r="r" t="t"/>
            <a:pathLst>
              <a:path extrusionOk="0" h="234907" w="233994">
                <a:moveTo>
                  <a:pt x="166689" y="19868"/>
                </a:moveTo>
                <a:cubicBezTo>
                  <a:pt x="213392" y="46833"/>
                  <a:pt x="233994" y="103437"/>
                  <a:pt x="215549" y="154113"/>
                </a:cubicBezTo>
                <a:cubicBezTo>
                  <a:pt x="197104" y="204790"/>
                  <a:pt x="144937" y="234907"/>
                  <a:pt x="91828" y="225542"/>
                </a:cubicBezTo>
                <a:cubicBezTo>
                  <a:pt x="38719" y="216176"/>
                  <a:pt x="0" y="170031"/>
                  <a:pt x="1" y="116103"/>
                </a:cubicBezTo>
                <a:lnTo>
                  <a:pt x="57" y="112502"/>
                </a:lnTo>
                <a:cubicBezTo>
                  <a:pt x="1323" y="73464"/>
                  <a:pt x="22991" y="37956"/>
                  <a:pt x="57130" y="18978"/>
                </a:cubicBezTo>
                <a:cubicBezTo>
                  <a:pt x="91268" y="0"/>
                  <a:pt x="132863" y="338"/>
                  <a:pt x="166689" y="19868"/>
                </a:cubicBezTo>
                <a:moveTo>
                  <a:pt x="96758" y="86021"/>
                </a:moveTo>
                <a:cubicBezTo>
                  <a:pt x="92418" y="81683"/>
                  <a:pt x="85384" y="81683"/>
                  <a:pt x="81045" y="86021"/>
                </a:cubicBezTo>
                <a:lnTo>
                  <a:pt x="58820" y="108246"/>
                </a:lnTo>
                <a:cubicBezTo>
                  <a:pt x="54482" y="112586"/>
                  <a:pt x="54482" y="119620"/>
                  <a:pt x="58820" y="123959"/>
                </a:cubicBezTo>
                <a:lnTo>
                  <a:pt x="81045" y="146184"/>
                </a:lnTo>
                <a:cubicBezTo>
                  <a:pt x="85384" y="150522"/>
                  <a:pt x="92418" y="150522"/>
                  <a:pt x="96758" y="146184"/>
                </a:cubicBezTo>
                <a:lnTo>
                  <a:pt x="97680" y="145140"/>
                </a:lnTo>
                <a:cubicBezTo>
                  <a:pt x="101112" y="140716"/>
                  <a:pt x="100717" y="134430"/>
                  <a:pt x="96758" y="130471"/>
                </a:cubicBezTo>
                <a:lnTo>
                  <a:pt x="82401" y="116103"/>
                </a:lnTo>
                <a:lnTo>
                  <a:pt x="96758" y="101734"/>
                </a:lnTo>
                <a:cubicBezTo>
                  <a:pt x="101096" y="97395"/>
                  <a:pt x="101096" y="90361"/>
                  <a:pt x="96758" y="86021"/>
                </a:cubicBezTo>
                <a:moveTo>
                  <a:pt x="141208" y="86021"/>
                </a:moveTo>
                <a:cubicBezTo>
                  <a:pt x="136868" y="81683"/>
                  <a:pt x="129834" y="81683"/>
                  <a:pt x="125495" y="86021"/>
                </a:cubicBezTo>
                <a:lnTo>
                  <a:pt x="124572" y="87066"/>
                </a:lnTo>
                <a:cubicBezTo>
                  <a:pt x="121141" y="91489"/>
                  <a:pt x="121536" y="97775"/>
                  <a:pt x="125495" y="101734"/>
                </a:cubicBezTo>
                <a:lnTo>
                  <a:pt x="139852" y="116103"/>
                </a:lnTo>
                <a:lnTo>
                  <a:pt x="125495" y="130471"/>
                </a:lnTo>
                <a:cubicBezTo>
                  <a:pt x="121284" y="134831"/>
                  <a:pt x="121344" y="141762"/>
                  <a:pt x="125630" y="146049"/>
                </a:cubicBezTo>
                <a:cubicBezTo>
                  <a:pt x="129917" y="150335"/>
                  <a:pt x="136848" y="150396"/>
                  <a:pt x="141208" y="146184"/>
                </a:cubicBezTo>
                <a:lnTo>
                  <a:pt x="163433" y="123959"/>
                </a:lnTo>
                <a:cubicBezTo>
                  <a:pt x="167771" y="119620"/>
                  <a:pt x="167771" y="112586"/>
                  <a:pt x="163433" y="108246"/>
                </a:cubicBezTo>
                <a:close/>
              </a:path>
            </a:pathLst>
          </a:cu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0"/>
          <p:cNvSpPr txBox="1"/>
          <p:nvPr/>
        </p:nvSpPr>
        <p:spPr>
          <a:xfrm>
            <a:off x="933689" y="2764274"/>
            <a:ext cx="467130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已有项目</a:t>
            </a:r>
            <a:endParaRPr sz="1100"/>
          </a:p>
        </p:txBody>
      </p:sp>
      <p:sp>
        <p:nvSpPr>
          <p:cNvPr id="487" name="Google Shape;487;p30"/>
          <p:cNvSpPr/>
          <p:nvPr/>
        </p:nvSpPr>
        <p:spPr>
          <a:xfrm>
            <a:off x="1771650" y="2628900"/>
            <a:ext cx="300038" cy="7144"/>
          </a:xfrm>
          <a:custGeom>
            <a:rect b="b" l="l" r="r" t="t"/>
            <a:pathLst>
              <a:path extrusionOk="0" h="9525" w="400050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cap="flat" cmpd="sng" w="19050">
            <a:solidFill>
              <a:srgbClr val="3D7DE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30"/>
          <p:cNvSpPr/>
          <p:nvPr/>
        </p:nvSpPr>
        <p:spPr>
          <a:xfrm>
            <a:off x="2071688" y="2586038"/>
            <a:ext cx="100013" cy="85725"/>
          </a:xfrm>
          <a:custGeom>
            <a:rect b="b" l="l" r="r" t="t"/>
            <a:pathLst>
              <a:path extrusionOk="0" h="114300" w="133350">
                <a:moveTo>
                  <a:pt x="0" y="0"/>
                </a:moveTo>
                <a:lnTo>
                  <a:pt x="13335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3D7DE4"/>
          </a:solidFill>
          <a:ln>
            <a:noFill/>
          </a:ln>
        </p:spPr>
      </p:sp>
      <p:sp>
        <p:nvSpPr>
          <p:cNvPr id="489" name="Google Shape;489;p30"/>
          <p:cNvSpPr/>
          <p:nvPr/>
        </p:nvSpPr>
        <p:spPr>
          <a:xfrm>
            <a:off x="2200275" y="2400300"/>
            <a:ext cx="1428750" cy="457200"/>
          </a:xfrm>
          <a:prstGeom prst="roundRect">
            <a:avLst>
              <a:gd fmla="val 12500" name="adj"/>
            </a:avLst>
          </a:prstGeom>
          <a:solidFill>
            <a:srgbClr val="EBF0FA"/>
          </a:solidFill>
          <a:ln cap="flat" cmpd="sng" w="9525">
            <a:solidFill>
              <a:srgbClr val="3D7D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0"/>
          <p:cNvSpPr txBox="1"/>
          <p:nvPr/>
        </p:nvSpPr>
        <p:spPr>
          <a:xfrm>
            <a:off x="2489168" y="2488882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上传代码项目</a:t>
            </a:r>
            <a:endParaRPr sz="1100"/>
          </a:p>
        </p:txBody>
      </p:sp>
      <p:sp>
        <p:nvSpPr>
          <p:cNvPr id="491" name="Google Shape;491;p30"/>
          <p:cNvSpPr txBox="1"/>
          <p:nvPr/>
        </p:nvSpPr>
        <p:spPr>
          <a:xfrm>
            <a:off x="2300823" y="2658189"/>
            <a:ext cx="1227653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GitHub 仓库 / 本地代码</a:t>
            </a:r>
            <a:endParaRPr sz="1100"/>
          </a:p>
        </p:txBody>
      </p:sp>
      <p:sp>
        <p:nvSpPr>
          <p:cNvPr id="492" name="Google Shape;492;p30"/>
          <p:cNvSpPr/>
          <p:nvPr/>
        </p:nvSpPr>
        <p:spPr>
          <a:xfrm>
            <a:off x="3629025" y="2628900"/>
            <a:ext cx="285750" cy="7144"/>
          </a:xfrm>
          <a:custGeom>
            <a:rect b="b" l="l" r="r" t="t"/>
            <a:pathLst>
              <a:path extrusionOk="0" h="9525" w="381000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cap="flat" cmpd="sng" w="19050">
            <a:solidFill>
              <a:srgbClr val="3D7DE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30"/>
          <p:cNvSpPr/>
          <p:nvPr/>
        </p:nvSpPr>
        <p:spPr>
          <a:xfrm>
            <a:off x="3914775" y="2586038"/>
            <a:ext cx="100013" cy="85725"/>
          </a:xfrm>
          <a:custGeom>
            <a:rect b="b" l="l" r="r" t="t"/>
            <a:pathLst>
              <a:path extrusionOk="0" h="114300" w="133350">
                <a:moveTo>
                  <a:pt x="0" y="0"/>
                </a:moveTo>
                <a:lnTo>
                  <a:pt x="13335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3D7DE4"/>
          </a:solidFill>
          <a:ln>
            <a:noFill/>
          </a:ln>
        </p:spPr>
      </p:sp>
      <p:sp>
        <p:nvSpPr>
          <p:cNvPr id="494" name="Google Shape;494;p30"/>
          <p:cNvSpPr/>
          <p:nvPr/>
        </p:nvSpPr>
        <p:spPr>
          <a:xfrm>
            <a:off x="4043363" y="2400300"/>
            <a:ext cx="1428750" cy="457200"/>
          </a:xfrm>
          <a:prstGeom prst="roundRect">
            <a:avLst>
              <a:gd fmla="val 12500" name="adj"/>
            </a:avLst>
          </a:prstGeom>
          <a:solidFill>
            <a:srgbClr val="EBF0FA"/>
          </a:solidFill>
          <a:ln cap="flat" cmpd="sng" w="9525">
            <a:solidFill>
              <a:srgbClr val="3D7D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0"/>
          <p:cNvSpPr txBox="1"/>
          <p:nvPr/>
        </p:nvSpPr>
        <p:spPr>
          <a:xfrm>
            <a:off x="4390913" y="2488882"/>
            <a:ext cx="73364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AI 提取风格</a:t>
            </a:r>
            <a:endParaRPr sz="1100"/>
          </a:p>
        </p:txBody>
      </p:sp>
      <p:sp>
        <p:nvSpPr>
          <p:cNvPr id="496" name="Google Shape;496;p30"/>
          <p:cNvSpPr txBox="1"/>
          <p:nvPr/>
        </p:nvSpPr>
        <p:spPr>
          <a:xfrm>
            <a:off x="4155413" y="2658189"/>
            <a:ext cx="120465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色彩 / 字体 / 组件规则</a:t>
            </a:r>
            <a:endParaRPr sz="1100"/>
          </a:p>
        </p:txBody>
      </p:sp>
      <p:sp>
        <p:nvSpPr>
          <p:cNvPr id="497" name="Google Shape;497;p30"/>
          <p:cNvSpPr/>
          <p:nvPr/>
        </p:nvSpPr>
        <p:spPr>
          <a:xfrm>
            <a:off x="5472113" y="2628900"/>
            <a:ext cx="285750" cy="7144"/>
          </a:xfrm>
          <a:custGeom>
            <a:rect b="b" l="l" r="r" t="t"/>
            <a:pathLst>
              <a:path extrusionOk="0" h="9525" w="381000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cap="flat" cmpd="sng" w="19050">
            <a:solidFill>
              <a:srgbClr val="3D7DE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30"/>
          <p:cNvSpPr/>
          <p:nvPr/>
        </p:nvSpPr>
        <p:spPr>
          <a:xfrm>
            <a:off x="5757863" y="2586038"/>
            <a:ext cx="100013" cy="85725"/>
          </a:xfrm>
          <a:custGeom>
            <a:rect b="b" l="l" r="r" t="t"/>
            <a:pathLst>
              <a:path extrusionOk="0" h="114300" w="133350">
                <a:moveTo>
                  <a:pt x="0" y="0"/>
                </a:moveTo>
                <a:lnTo>
                  <a:pt x="13335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3D7DE4"/>
          </a:solidFill>
          <a:ln>
            <a:noFill/>
          </a:ln>
        </p:spPr>
      </p:sp>
      <p:sp>
        <p:nvSpPr>
          <p:cNvPr id="499" name="Google Shape;499;p30"/>
          <p:cNvSpPr/>
          <p:nvPr/>
        </p:nvSpPr>
        <p:spPr>
          <a:xfrm>
            <a:off x="5886450" y="2400300"/>
            <a:ext cx="2428875" cy="457200"/>
          </a:xfrm>
          <a:prstGeom prst="roundRect">
            <a:avLst>
              <a:gd fmla="val 125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0"/>
          <p:cNvSpPr txBox="1"/>
          <p:nvPr/>
        </p:nvSpPr>
        <p:spPr>
          <a:xfrm>
            <a:off x="6458029" y="2488882"/>
            <a:ext cx="128571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 System 文件</a:t>
            </a:r>
            <a:endParaRPr sz="1100"/>
          </a:p>
        </p:txBody>
      </p:sp>
      <p:sp>
        <p:nvSpPr>
          <p:cNvPr id="501" name="Google Shape;501;p30"/>
          <p:cNvSpPr txBox="1"/>
          <p:nvPr/>
        </p:nvSpPr>
        <p:spPr>
          <a:xfrm>
            <a:off x="6400800" y="2658189"/>
            <a:ext cx="1400175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在 Claude Design 直接复用</a:t>
            </a:r>
            <a:endParaRPr sz="1100"/>
          </a:p>
        </p:txBody>
      </p:sp>
      <p:sp>
        <p:nvSpPr>
          <p:cNvPr id="502" name="Google Shape;502;p30"/>
          <p:cNvSpPr/>
          <p:nvPr/>
        </p:nvSpPr>
        <p:spPr>
          <a:xfrm>
            <a:off x="571500" y="3286125"/>
            <a:ext cx="8001000" cy="1057275"/>
          </a:xfrm>
          <a:prstGeom prst="roundRect">
            <a:avLst>
              <a:gd fmla="val 8108" name="adj"/>
            </a:avLst>
          </a:prstGeom>
          <a:solidFill>
            <a:srgbClr val="FFFFFF"/>
          </a:solidFill>
          <a:ln cap="flat" cmpd="sng" w="19050">
            <a:solidFill>
              <a:srgbClr val="3A9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0"/>
          <p:cNvSpPr/>
          <p:nvPr/>
        </p:nvSpPr>
        <p:spPr>
          <a:xfrm>
            <a:off x="571500" y="3286125"/>
            <a:ext cx="42863" cy="1057275"/>
          </a:xfrm>
          <a:prstGeom prst="roundRect">
            <a:avLst>
              <a:gd fmla="val 50000" name="adj"/>
            </a:avLst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0"/>
          <p:cNvSpPr/>
          <p:nvPr/>
        </p:nvSpPr>
        <p:spPr>
          <a:xfrm>
            <a:off x="1357313" y="3357563"/>
            <a:ext cx="371475" cy="157163"/>
          </a:xfrm>
          <a:prstGeom prst="roundRect">
            <a:avLst>
              <a:gd fmla="val 50000" name="adj"/>
            </a:avLst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0"/>
          <p:cNvSpPr txBox="1"/>
          <p:nvPr/>
        </p:nvSpPr>
        <p:spPr>
          <a:xfrm>
            <a:off x="1423201" y="3391852"/>
            <a:ext cx="23969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NEW!</a:t>
            </a:r>
            <a:endParaRPr sz="1100"/>
          </a:p>
        </p:txBody>
      </p:sp>
      <p:sp>
        <p:nvSpPr>
          <p:cNvPr id="506" name="Google Shape;506;p30"/>
          <p:cNvSpPr/>
          <p:nvPr/>
        </p:nvSpPr>
        <p:spPr>
          <a:xfrm>
            <a:off x="700088" y="3429000"/>
            <a:ext cx="585788" cy="242888"/>
          </a:xfrm>
          <a:prstGeom prst="roundRect">
            <a:avLst>
              <a:gd fmla="val 23529" name="adj"/>
            </a:avLst>
          </a:prstGeom>
          <a:solidFill>
            <a:srgbClr val="3A9E6A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0"/>
          <p:cNvSpPr txBox="1"/>
          <p:nvPr/>
        </p:nvSpPr>
        <p:spPr>
          <a:xfrm>
            <a:off x="700637" y="3484007"/>
            <a:ext cx="58468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A9E6A"/>
                </a:solidFill>
                <a:latin typeface="Arial"/>
                <a:ea typeface="Arial"/>
                <a:cs typeface="Arial"/>
                <a:sym typeface="Arial"/>
              </a:rPr>
              <a:t>/design</a:t>
            </a:r>
            <a:endParaRPr sz="1100"/>
          </a:p>
        </p:txBody>
      </p:sp>
      <p:sp>
        <p:nvSpPr>
          <p:cNvPr id="508" name="Google Shape;508;p30"/>
          <p:cNvSpPr txBox="1"/>
          <p:nvPr/>
        </p:nvSpPr>
        <p:spPr>
          <a:xfrm>
            <a:off x="737949" y="3670459"/>
            <a:ext cx="510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命令行驱动</a:t>
            </a:r>
            <a:endParaRPr sz="1100"/>
          </a:p>
        </p:txBody>
      </p:sp>
      <p:sp>
        <p:nvSpPr>
          <p:cNvPr id="509" name="Google Shape;509;p30"/>
          <p:cNvSpPr/>
          <p:nvPr/>
        </p:nvSpPr>
        <p:spPr>
          <a:xfrm>
            <a:off x="716756" y="3899135"/>
            <a:ext cx="175496" cy="176180"/>
          </a:xfrm>
          <a:custGeom>
            <a:rect b="b" l="l" r="r" t="t"/>
            <a:pathLst>
              <a:path extrusionOk="0" h="234907" w="233994">
                <a:moveTo>
                  <a:pt x="166689" y="19868"/>
                </a:moveTo>
                <a:cubicBezTo>
                  <a:pt x="213392" y="46833"/>
                  <a:pt x="233994" y="103437"/>
                  <a:pt x="215549" y="154113"/>
                </a:cubicBezTo>
                <a:cubicBezTo>
                  <a:pt x="197104" y="204790"/>
                  <a:pt x="144937" y="234907"/>
                  <a:pt x="91828" y="225542"/>
                </a:cubicBezTo>
                <a:cubicBezTo>
                  <a:pt x="38719" y="216176"/>
                  <a:pt x="0" y="170031"/>
                  <a:pt x="1" y="116103"/>
                </a:cubicBezTo>
                <a:lnTo>
                  <a:pt x="57" y="112502"/>
                </a:lnTo>
                <a:cubicBezTo>
                  <a:pt x="1323" y="73464"/>
                  <a:pt x="22991" y="37956"/>
                  <a:pt x="57130" y="18978"/>
                </a:cubicBezTo>
                <a:cubicBezTo>
                  <a:pt x="91268" y="0"/>
                  <a:pt x="132863" y="338"/>
                  <a:pt x="166689" y="19868"/>
                </a:cubicBezTo>
                <a:moveTo>
                  <a:pt x="96758" y="86021"/>
                </a:moveTo>
                <a:cubicBezTo>
                  <a:pt x="92418" y="81683"/>
                  <a:pt x="85384" y="81683"/>
                  <a:pt x="81045" y="86021"/>
                </a:cubicBezTo>
                <a:lnTo>
                  <a:pt x="58820" y="108246"/>
                </a:lnTo>
                <a:cubicBezTo>
                  <a:pt x="54482" y="112586"/>
                  <a:pt x="54482" y="119620"/>
                  <a:pt x="58820" y="123959"/>
                </a:cubicBezTo>
                <a:lnTo>
                  <a:pt x="81045" y="146184"/>
                </a:lnTo>
                <a:cubicBezTo>
                  <a:pt x="85384" y="150522"/>
                  <a:pt x="92418" y="150522"/>
                  <a:pt x="96758" y="146184"/>
                </a:cubicBezTo>
                <a:lnTo>
                  <a:pt x="97680" y="145140"/>
                </a:lnTo>
                <a:cubicBezTo>
                  <a:pt x="101112" y="140716"/>
                  <a:pt x="100717" y="134430"/>
                  <a:pt x="96758" y="130471"/>
                </a:cubicBezTo>
                <a:lnTo>
                  <a:pt x="82401" y="116103"/>
                </a:lnTo>
                <a:lnTo>
                  <a:pt x="96758" y="101734"/>
                </a:lnTo>
                <a:cubicBezTo>
                  <a:pt x="101096" y="97395"/>
                  <a:pt x="101096" y="90361"/>
                  <a:pt x="96758" y="86021"/>
                </a:cubicBezTo>
                <a:moveTo>
                  <a:pt x="141208" y="86021"/>
                </a:moveTo>
                <a:cubicBezTo>
                  <a:pt x="136868" y="81683"/>
                  <a:pt x="129834" y="81683"/>
                  <a:pt x="125495" y="86021"/>
                </a:cubicBezTo>
                <a:lnTo>
                  <a:pt x="124572" y="87066"/>
                </a:lnTo>
                <a:cubicBezTo>
                  <a:pt x="121141" y="91489"/>
                  <a:pt x="121536" y="97775"/>
                  <a:pt x="125495" y="101734"/>
                </a:cubicBezTo>
                <a:lnTo>
                  <a:pt x="139852" y="116103"/>
                </a:lnTo>
                <a:lnTo>
                  <a:pt x="125495" y="130471"/>
                </a:lnTo>
                <a:cubicBezTo>
                  <a:pt x="121284" y="134831"/>
                  <a:pt x="121344" y="141762"/>
                  <a:pt x="125630" y="146049"/>
                </a:cubicBezTo>
                <a:cubicBezTo>
                  <a:pt x="129917" y="150335"/>
                  <a:pt x="136848" y="150396"/>
                  <a:pt x="141208" y="146184"/>
                </a:cubicBezTo>
                <a:lnTo>
                  <a:pt x="163433" y="123959"/>
                </a:lnTo>
                <a:cubicBezTo>
                  <a:pt x="167771" y="119620"/>
                  <a:pt x="167771" y="112586"/>
                  <a:pt x="163433" y="108246"/>
                </a:cubicBezTo>
                <a:close/>
              </a:path>
            </a:pathLst>
          </a:cu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0"/>
          <p:cNvSpPr txBox="1"/>
          <p:nvPr/>
        </p:nvSpPr>
        <p:spPr>
          <a:xfrm>
            <a:off x="933689" y="3950137"/>
            <a:ext cx="467130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3A9E6A"/>
                </a:solidFill>
                <a:latin typeface="Arial"/>
                <a:ea typeface="Arial"/>
                <a:cs typeface="Arial"/>
                <a:sym typeface="Arial"/>
              </a:rPr>
              <a:t>终端输入</a:t>
            </a:r>
            <a:endParaRPr sz="1100"/>
          </a:p>
        </p:txBody>
      </p:sp>
      <p:sp>
        <p:nvSpPr>
          <p:cNvPr id="511" name="Google Shape;511;p30"/>
          <p:cNvSpPr/>
          <p:nvPr/>
        </p:nvSpPr>
        <p:spPr>
          <a:xfrm>
            <a:off x="1771650" y="3814763"/>
            <a:ext cx="300038" cy="7144"/>
          </a:xfrm>
          <a:custGeom>
            <a:rect b="b" l="l" r="r" t="t"/>
            <a:pathLst>
              <a:path extrusionOk="0" h="9525" w="400050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cap="flat" cmpd="sng" w="19050">
            <a:solidFill>
              <a:srgbClr val="3A9E6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30"/>
          <p:cNvSpPr/>
          <p:nvPr/>
        </p:nvSpPr>
        <p:spPr>
          <a:xfrm>
            <a:off x="2071688" y="3771900"/>
            <a:ext cx="100013" cy="85725"/>
          </a:xfrm>
          <a:custGeom>
            <a:rect b="b" l="l" r="r" t="t"/>
            <a:pathLst>
              <a:path extrusionOk="0" h="114300" w="133350">
                <a:moveTo>
                  <a:pt x="0" y="0"/>
                </a:moveTo>
                <a:lnTo>
                  <a:pt x="13335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3A9E6A"/>
          </a:solidFill>
          <a:ln>
            <a:noFill/>
          </a:ln>
        </p:spPr>
      </p:sp>
      <p:sp>
        <p:nvSpPr>
          <p:cNvPr id="513" name="Google Shape;513;p30"/>
          <p:cNvSpPr/>
          <p:nvPr/>
        </p:nvSpPr>
        <p:spPr>
          <a:xfrm>
            <a:off x="2200275" y="3586163"/>
            <a:ext cx="2000250" cy="457200"/>
          </a:xfrm>
          <a:prstGeom prst="roundRect">
            <a:avLst>
              <a:gd fmla="val 12500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0"/>
          <p:cNvSpPr txBox="1"/>
          <p:nvPr/>
        </p:nvSpPr>
        <p:spPr>
          <a:xfrm>
            <a:off x="2940539" y="3689032"/>
            <a:ext cx="51972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3A9E6A"/>
                </a:solidFill>
                <a:latin typeface="Consolas"/>
                <a:ea typeface="Consolas"/>
                <a:cs typeface="Consolas"/>
                <a:sym typeface="Consolas"/>
              </a:rPr>
              <a:t>/design</a:t>
            </a:r>
            <a:endParaRPr sz="1100"/>
          </a:p>
        </p:txBody>
      </p:sp>
      <p:sp>
        <p:nvSpPr>
          <p:cNvPr id="515" name="Google Shape;515;p30"/>
          <p:cNvSpPr txBox="1"/>
          <p:nvPr/>
        </p:nvSpPr>
        <p:spPr>
          <a:xfrm>
            <a:off x="2787848" y="3858339"/>
            <a:ext cx="825103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Consolas"/>
                <a:ea typeface="Consolas"/>
                <a:cs typeface="Consolas"/>
                <a:sym typeface="Consolas"/>
              </a:rPr>
              <a:t>创建一个设置页</a:t>
            </a:r>
            <a:endParaRPr sz="1100"/>
          </a:p>
        </p:txBody>
      </p:sp>
      <p:sp>
        <p:nvSpPr>
          <p:cNvPr id="516" name="Google Shape;516;p30"/>
          <p:cNvSpPr/>
          <p:nvPr/>
        </p:nvSpPr>
        <p:spPr>
          <a:xfrm>
            <a:off x="4200525" y="3814763"/>
            <a:ext cx="285750" cy="7144"/>
          </a:xfrm>
          <a:custGeom>
            <a:rect b="b" l="l" r="r" t="t"/>
            <a:pathLst>
              <a:path extrusionOk="0" h="9525" w="381000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cap="flat" cmpd="sng" w="19050">
            <a:solidFill>
              <a:srgbClr val="3A9E6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30"/>
          <p:cNvSpPr/>
          <p:nvPr/>
        </p:nvSpPr>
        <p:spPr>
          <a:xfrm>
            <a:off x="4486275" y="3771900"/>
            <a:ext cx="100013" cy="85725"/>
          </a:xfrm>
          <a:custGeom>
            <a:rect b="b" l="l" r="r" t="t"/>
            <a:pathLst>
              <a:path extrusionOk="0" h="114300" w="133350">
                <a:moveTo>
                  <a:pt x="0" y="0"/>
                </a:moveTo>
                <a:lnTo>
                  <a:pt x="13335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3A9E6A"/>
          </a:solidFill>
          <a:ln>
            <a:noFill/>
          </a:ln>
        </p:spPr>
      </p:sp>
      <p:sp>
        <p:nvSpPr>
          <p:cNvPr id="518" name="Google Shape;518;p30"/>
          <p:cNvSpPr/>
          <p:nvPr/>
        </p:nvSpPr>
        <p:spPr>
          <a:xfrm>
            <a:off x="4614863" y="3586163"/>
            <a:ext cx="1428750" cy="457200"/>
          </a:xfrm>
          <a:prstGeom prst="roundRect">
            <a:avLst>
              <a:gd fmla="val 12500" name="adj"/>
            </a:avLst>
          </a:prstGeom>
          <a:solidFill>
            <a:srgbClr val="E8F5EE"/>
          </a:solidFill>
          <a:ln cap="flat" cmpd="sng" w="9525">
            <a:solidFill>
              <a:srgbClr val="3A9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0"/>
          <p:cNvSpPr txBox="1"/>
          <p:nvPr/>
        </p:nvSpPr>
        <p:spPr>
          <a:xfrm>
            <a:off x="4834748" y="3674745"/>
            <a:ext cx="988981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浏览器自动打开</a:t>
            </a:r>
            <a:endParaRPr sz="1100"/>
          </a:p>
        </p:txBody>
      </p:sp>
      <p:sp>
        <p:nvSpPr>
          <p:cNvPr id="520" name="Google Shape;520;p30"/>
          <p:cNvSpPr txBox="1"/>
          <p:nvPr/>
        </p:nvSpPr>
        <p:spPr>
          <a:xfrm>
            <a:off x="4703909" y="3844052"/>
            <a:ext cx="1250656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Claude Design 开始生成</a:t>
            </a:r>
            <a:endParaRPr sz="1100"/>
          </a:p>
        </p:txBody>
      </p:sp>
      <p:sp>
        <p:nvSpPr>
          <p:cNvPr id="521" name="Google Shape;521;p30"/>
          <p:cNvSpPr/>
          <p:nvPr/>
        </p:nvSpPr>
        <p:spPr>
          <a:xfrm>
            <a:off x="6043613" y="3814763"/>
            <a:ext cx="285750" cy="7144"/>
          </a:xfrm>
          <a:custGeom>
            <a:rect b="b" l="l" r="r" t="t"/>
            <a:pathLst>
              <a:path extrusionOk="0" h="9525" w="381000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cap="flat" cmpd="sng" w="19050">
            <a:solidFill>
              <a:srgbClr val="3A9E6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30"/>
          <p:cNvSpPr/>
          <p:nvPr/>
        </p:nvSpPr>
        <p:spPr>
          <a:xfrm>
            <a:off x="6329363" y="3771900"/>
            <a:ext cx="100013" cy="85725"/>
          </a:xfrm>
          <a:custGeom>
            <a:rect b="b" l="l" r="r" t="t"/>
            <a:pathLst>
              <a:path extrusionOk="0" h="114300" w="133350">
                <a:moveTo>
                  <a:pt x="0" y="0"/>
                </a:moveTo>
                <a:lnTo>
                  <a:pt x="13335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3A9E6A"/>
          </a:solidFill>
          <a:ln>
            <a:noFill/>
          </a:ln>
        </p:spPr>
      </p:sp>
      <p:sp>
        <p:nvSpPr>
          <p:cNvPr id="523" name="Google Shape;523;p30"/>
          <p:cNvSpPr/>
          <p:nvPr/>
        </p:nvSpPr>
        <p:spPr>
          <a:xfrm>
            <a:off x="6457950" y="3586163"/>
            <a:ext cx="1857375" cy="457200"/>
          </a:xfrm>
          <a:prstGeom prst="roundRect">
            <a:avLst>
              <a:gd fmla="val 12500" name="adj"/>
            </a:avLst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0"/>
          <p:cNvSpPr txBox="1"/>
          <p:nvPr/>
        </p:nvSpPr>
        <p:spPr>
          <a:xfrm>
            <a:off x="6605761" y="3674745"/>
            <a:ext cx="15617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 System 自动应用</a:t>
            </a:r>
            <a:endParaRPr sz="1100"/>
          </a:p>
        </p:txBody>
      </p:sp>
      <p:sp>
        <p:nvSpPr>
          <p:cNvPr id="525" name="Google Shape;525;p30"/>
          <p:cNvSpPr txBox="1"/>
          <p:nvPr/>
        </p:nvSpPr>
        <p:spPr>
          <a:xfrm>
            <a:off x="7031594" y="3844052"/>
            <a:ext cx="71008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风格一键继承</a:t>
            </a:r>
            <a:endParaRPr sz="1100"/>
          </a:p>
        </p:txBody>
      </p:sp>
      <p:sp>
        <p:nvSpPr>
          <p:cNvPr id="526" name="Google Shape;526;p30"/>
          <p:cNvSpPr/>
          <p:nvPr/>
        </p:nvSpPr>
        <p:spPr>
          <a:xfrm>
            <a:off x="571500" y="4486275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95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527" name="Google Shape;527;p30"/>
          <p:cNvGrpSpPr/>
          <p:nvPr/>
        </p:nvGrpSpPr>
        <p:grpSpPr>
          <a:xfrm>
            <a:off x="3840956" y="4597614"/>
            <a:ext cx="119063" cy="120223"/>
            <a:chOff x="5121275" y="6130152"/>
            <a:chExt cx="158750" cy="160297"/>
          </a:xfrm>
        </p:grpSpPr>
        <p:sp>
          <p:nvSpPr>
            <p:cNvPr id="528" name="Google Shape;528;p30"/>
            <p:cNvSpPr/>
            <p:nvPr/>
          </p:nvSpPr>
          <p:spPr>
            <a:xfrm>
              <a:off x="5121275" y="6130925"/>
              <a:ext cx="63500" cy="63500"/>
            </a:xfrm>
            <a:custGeom>
              <a:rect b="b" l="l" r="r" t="t"/>
              <a:pathLst>
                <a:path extrusionOk="0" h="63500" w="63500">
                  <a:moveTo>
                    <a:pt x="47625" y="0"/>
                  </a:moveTo>
                  <a:lnTo>
                    <a:pt x="15875" y="0"/>
                  </a:lnTo>
                  <a:cubicBezTo>
                    <a:pt x="7107" y="0"/>
                    <a:pt x="0" y="7107"/>
                    <a:pt x="0" y="15875"/>
                  </a:cubicBezTo>
                  <a:lnTo>
                    <a:pt x="0" y="47625"/>
                  </a:lnTo>
                  <a:cubicBezTo>
                    <a:pt x="0" y="56393"/>
                    <a:pt x="7107" y="63500"/>
                    <a:pt x="15875" y="63500"/>
                  </a:cubicBezTo>
                  <a:lnTo>
                    <a:pt x="47625" y="63500"/>
                  </a:lnTo>
                  <a:cubicBezTo>
                    <a:pt x="56393" y="63500"/>
                    <a:pt x="63500" y="56393"/>
                    <a:pt x="63500" y="47625"/>
                  </a:cubicBezTo>
                  <a:lnTo>
                    <a:pt x="63500" y="15875"/>
                  </a:lnTo>
                  <a:cubicBezTo>
                    <a:pt x="63500" y="7107"/>
                    <a:pt x="56393" y="0"/>
                    <a:pt x="47625" y="0"/>
                  </a:cubicBezTo>
                  <a:close/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5216525" y="6226175"/>
              <a:ext cx="63500" cy="63500"/>
            </a:xfrm>
            <a:custGeom>
              <a:rect b="b" l="l" r="r" t="t"/>
              <a:pathLst>
                <a:path extrusionOk="0" h="63500" w="63500">
                  <a:moveTo>
                    <a:pt x="47625" y="0"/>
                  </a:moveTo>
                  <a:lnTo>
                    <a:pt x="15875" y="0"/>
                  </a:lnTo>
                  <a:cubicBezTo>
                    <a:pt x="7107" y="0"/>
                    <a:pt x="0" y="7107"/>
                    <a:pt x="0" y="15875"/>
                  </a:cubicBezTo>
                  <a:lnTo>
                    <a:pt x="0" y="47625"/>
                  </a:lnTo>
                  <a:cubicBezTo>
                    <a:pt x="0" y="56393"/>
                    <a:pt x="7107" y="63500"/>
                    <a:pt x="15875" y="63500"/>
                  </a:cubicBezTo>
                  <a:lnTo>
                    <a:pt x="47625" y="63500"/>
                  </a:lnTo>
                  <a:cubicBezTo>
                    <a:pt x="56393" y="63500"/>
                    <a:pt x="63500" y="56393"/>
                    <a:pt x="63500" y="47625"/>
                  </a:cubicBezTo>
                  <a:lnTo>
                    <a:pt x="63500" y="15875"/>
                  </a:lnTo>
                  <a:cubicBezTo>
                    <a:pt x="63500" y="7107"/>
                    <a:pt x="56393" y="0"/>
                    <a:pt x="47625" y="0"/>
                  </a:cubicBezTo>
                  <a:close/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5200304" y="6130152"/>
              <a:ext cx="79721" cy="80372"/>
            </a:xfrm>
            <a:custGeom>
              <a:rect b="b" l="l" r="r" t="t"/>
              <a:pathLst>
                <a:path extrusionOk="0" h="80372" w="79721">
                  <a:moveTo>
                    <a:pt x="37708" y="3099"/>
                  </a:moveTo>
                  <a:cubicBezTo>
                    <a:pt x="40535" y="5927"/>
                    <a:pt x="40818" y="10416"/>
                    <a:pt x="38367" y="13576"/>
                  </a:cubicBezTo>
                  <a:lnTo>
                    <a:pt x="37708" y="14322"/>
                  </a:lnTo>
                  <a:lnTo>
                    <a:pt x="27445" y="24585"/>
                  </a:lnTo>
                  <a:lnTo>
                    <a:pt x="55908" y="24585"/>
                  </a:lnTo>
                  <a:cubicBezTo>
                    <a:pt x="68518" y="24585"/>
                    <a:pt x="78942" y="34414"/>
                    <a:pt x="79681" y="47001"/>
                  </a:cubicBezTo>
                  <a:lnTo>
                    <a:pt x="79721" y="48398"/>
                  </a:lnTo>
                  <a:lnTo>
                    <a:pt x="79721" y="72210"/>
                  </a:lnTo>
                  <a:cubicBezTo>
                    <a:pt x="79716" y="76410"/>
                    <a:pt x="76441" y="79879"/>
                    <a:pt x="72249" y="80126"/>
                  </a:cubicBezTo>
                  <a:cubicBezTo>
                    <a:pt x="68056" y="80372"/>
                    <a:pt x="64398" y="77309"/>
                    <a:pt x="63901" y="73139"/>
                  </a:cubicBezTo>
                  <a:lnTo>
                    <a:pt x="63846" y="72210"/>
                  </a:lnTo>
                  <a:lnTo>
                    <a:pt x="63846" y="48398"/>
                  </a:lnTo>
                  <a:cubicBezTo>
                    <a:pt x="63845" y="44374"/>
                    <a:pt x="60834" y="40987"/>
                    <a:pt x="56837" y="40516"/>
                  </a:cubicBezTo>
                  <a:lnTo>
                    <a:pt x="55908" y="40460"/>
                  </a:lnTo>
                  <a:lnTo>
                    <a:pt x="27452" y="40460"/>
                  </a:lnTo>
                  <a:lnTo>
                    <a:pt x="37708" y="50724"/>
                  </a:lnTo>
                  <a:cubicBezTo>
                    <a:pt x="40662" y="53688"/>
                    <a:pt x="40807" y="58437"/>
                    <a:pt x="38039" y="61576"/>
                  </a:cubicBezTo>
                  <a:cubicBezTo>
                    <a:pt x="35271" y="64716"/>
                    <a:pt x="30541" y="65166"/>
                    <a:pt x="27230" y="62606"/>
                  </a:cubicBezTo>
                  <a:lnTo>
                    <a:pt x="26484" y="61947"/>
                  </a:lnTo>
                  <a:lnTo>
                    <a:pt x="2672" y="38135"/>
                  </a:lnTo>
                  <a:cubicBezTo>
                    <a:pt x="832" y="36337"/>
                    <a:pt x="0" y="33746"/>
                    <a:pt x="449" y="31213"/>
                  </a:cubicBezTo>
                  <a:lnTo>
                    <a:pt x="735" y="30054"/>
                  </a:lnTo>
                  <a:lnTo>
                    <a:pt x="1052" y="29229"/>
                  </a:lnTo>
                  <a:cubicBezTo>
                    <a:pt x="1513" y="28229"/>
                    <a:pt x="2164" y="27324"/>
                    <a:pt x="2997" y="26578"/>
                  </a:cubicBezTo>
                  <a:lnTo>
                    <a:pt x="26484" y="3099"/>
                  </a:lnTo>
                  <a:cubicBezTo>
                    <a:pt x="29584" y="0"/>
                    <a:pt x="34608" y="0"/>
                    <a:pt x="37708" y="3099"/>
                  </a:cubicBezTo>
                  <a:close/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5121275" y="6210300"/>
              <a:ext cx="79721" cy="80149"/>
            </a:xfrm>
            <a:custGeom>
              <a:rect b="b" l="l" r="r" t="t"/>
              <a:pathLst>
                <a:path extrusionOk="0" h="80149" w="79721">
                  <a:moveTo>
                    <a:pt x="7938" y="0"/>
                  </a:moveTo>
                  <a:cubicBezTo>
                    <a:pt x="11962" y="1"/>
                    <a:pt x="15349" y="3012"/>
                    <a:pt x="15819" y="7009"/>
                  </a:cubicBezTo>
                  <a:lnTo>
                    <a:pt x="15875" y="7938"/>
                  </a:lnTo>
                  <a:lnTo>
                    <a:pt x="15875" y="31750"/>
                  </a:lnTo>
                  <a:cubicBezTo>
                    <a:pt x="15876" y="35774"/>
                    <a:pt x="18887" y="39161"/>
                    <a:pt x="22884" y="39632"/>
                  </a:cubicBezTo>
                  <a:lnTo>
                    <a:pt x="23812" y="39687"/>
                  </a:lnTo>
                  <a:lnTo>
                    <a:pt x="52268" y="39687"/>
                  </a:lnTo>
                  <a:lnTo>
                    <a:pt x="42013" y="29424"/>
                  </a:lnTo>
                  <a:cubicBezTo>
                    <a:pt x="39186" y="26596"/>
                    <a:pt x="38903" y="22107"/>
                    <a:pt x="41354" y="18947"/>
                  </a:cubicBezTo>
                  <a:lnTo>
                    <a:pt x="42013" y="18201"/>
                  </a:lnTo>
                  <a:cubicBezTo>
                    <a:pt x="44841" y="15373"/>
                    <a:pt x="49331" y="15091"/>
                    <a:pt x="52491" y="17542"/>
                  </a:cubicBezTo>
                  <a:lnTo>
                    <a:pt x="53237" y="18201"/>
                  </a:lnTo>
                  <a:lnTo>
                    <a:pt x="77049" y="42013"/>
                  </a:lnTo>
                  <a:cubicBezTo>
                    <a:pt x="78889" y="43811"/>
                    <a:pt x="79721" y="46402"/>
                    <a:pt x="79272" y="48935"/>
                  </a:cubicBezTo>
                  <a:lnTo>
                    <a:pt x="78986" y="50094"/>
                  </a:lnTo>
                  <a:lnTo>
                    <a:pt x="78669" y="50919"/>
                  </a:lnTo>
                  <a:cubicBezTo>
                    <a:pt x="78208" y="51926"/>
                    <a:pt x="77547" y="52829"/>
                    <a:pt x="76724" y="53570"/>
                  </a:cubicBezTo>
                  <a:lnTo>
                    <a:pt x="53237" y="77049"/>
                  </a:lnTo>
                  <a:cubicBezTo>
                    <a:pt x="50272" y="80004"/>
                    <a:pt x="45523" y="80149"/>
                    <a:pt x="42384" y="77381"/>
                  </a:cubicBezTo>
                  <a:cubicBezTo>
                    <a:pt x="39245" y="74613"/>
                    <a:pt x="38794" y="69883"/>
                    <a:pt x="41354" y="66572"/>
                  </a:cubicBezTo>
                  <a:lnTo>
                    <a:pt x="42013" y="65826"/>
                  </a:lnTo>
                  <a:lnTo>
                    <a:pt x="52261" y="55563"/>
                  </a:lnTo>
                  <a:lnTo>
                    <a:pt x="23812" y="55563"/>
                  </a:lnTo>
                  <a:cubicBezTo>
                    <a:pt x="11203" y="55563"/>
                    <a:pt x="779" y="45734"/>
                    <a:pt x="40" y="33147"/>
                  </a:cubicBezTo>
                  <a:lnTo>
                    <a:pt x="0" y="31750"/>
                  </a:lnTo>
                  <a:lnTo>
                    <a:pt x="0" y="7938"/>
                  </a:lnTo>
                  <a:cubicBezTo>
                    <a:pt x="0" y="3554"/>
                    <a:pt x="3554" y="0"/>
                    <a:pt x="7938" y="0"/>
                  </a:cubicBezTo>
                  <a:close/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2" name="Google Shape;532;p30"/>
          <p:cNvSpPr txBox="1"/>
          <p:nvPr/>
        </p:nvSpPr>
        <p:spPr>
          <a:xfrm>
            <a:off x="4003358" y="4617720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协议：MCP · 结果：设计即代码，代码即设计</a:t>
            </a:r>
            <a:endParaRPr sz="1100"/>
          </a:p>
        </p:txBody>
      </p:sp>
      <p:sp>
        <p:nvSpPr>
          <p:cNvPr id="533" name="Google Shape;533;p30"/>
          <p:cNvSpPr txBox="1"/>
          <p:nvPr/>
        </p:nvSpPr>
        <p:spPr>
          <a:xfrm>
            <a:off x="8320076" y="4958477"/>
            <a:ext cx="40530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06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1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1"/>
          <p:cNvSpPr txBox="1"/>
          <p:nvPr/>
        </p:nvSpPr>
        <p:spPr>
          <a:xfrm>
            <a:off x="3152733" y="1564481"/>
            <a:ext cx="2838533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6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 sz="1100"/>
          </a:p>
        </p:txBody>
      </p:sp>
      <p:sp>
        <p:nvSpPr>
          <p:cNvPr id="541" name="Google Shape;541;p31"/>
          <p:cNvSpPr txBox="1"/>
          <p:nvPr/>
        </p:nvSpPr>
        <p:spPr>
          <a:xfrm>
            <a:off x="2403565" y="267176"/>
            <a:ext cx="433687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Design System：你的品牌 DNA</a:t>
            </a:r>
            <a:endParaRPr sz="1100"/>
          </a:p>
        </p:txBody>
      </p:sp>
      <p:sp>
        <p:nvSpPr>
          <p:cNvPr id="542" name="Google Shape;542;p31"/>
          <p:cNvSpPr txBox="1"/>
          <p:nvPr/>
        </p:nvSpPr>
        <p:spPr>
          <a:xfrm>
            <a:off x="2843802" y="595074"/>
            <a:ext cx="3456396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不是一堆 CSS，是一套命名规则和设计决策</a:t>
            </a:r>
            <a:endParaRPr sz="1100"/>
          </a:p>
        </p:txBody>
      </p:sp>
      <p:sp>
        <p:nvSpPr>
          <p:cNvPr id="543" name="Google Shape;543;p31"/>
          <p:cNvSpPr/>
          <p:nvPr/>
        </p:nvSpPr>
        <p:spPr>
          <a:xfrm>
            <a:off x="571500" y="871538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31"/>
          <p:cNvSpPr/>
          <p:nvPr/>
        </p:nvSpPr>
        <p:spPr>
          <a:xfrm>
            <a:off x="4171950" y="1000125"/>
            <a:ext cx="800100" cy="800100"/>
          </a:xfrm>
          <a:prstGeom prst="roundRect">
            <a:avLst>
              <a:gd fmla="val 21429" name="adj"/>
            </a:avLst>
          </a:prstGeom>
          <a:solidFill>
            <a:srgbClr val="C96133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1"/>
          <p:cNvSpPr/>
          <p:nvPr/>
        </p:nvSpPr>
        <p:spPr>
          <a:xfrm>
            <a:off x="4333417" y="1216819"/>
            <a:ext cx="478010" cy="367619"/>
          </a:xfrm>
          <a:custGeom>
            <a:rect b="b" l="l" r="r" t="t"/>
            <a:pathLst>
              <a:path extrusionOk="0" h="490159" w="637346">
                <a:moveTo>
                  <a:pt x="628734" y="298714"/>
                </a:moveTo>
                <a:cubicBezTo>
                  <a:pt x="637346" y="315958"/>
                  <a:pt x="630359" y="336919"/>
                  <a:pt x="613122" y="345548"/>
                </a:cubicBezTo>
                <a:lnTo>
                  <a:pt x="333722" y="485248"/>
                </a:lnTo>
                <a:cubicBezTo>
                  <a:pt x="323894" y="490159"/>
                  <a:pt x="312327" y="490159"/>
                  <a:pt x="302499" y="485248"/>
                </a:cubicBezTo>
                <a:lnTo>
                  <a:pt x="23099" y="345548"/>
                </a:lnTo>
                <a:cubicBezTo>
                  <a:pt x="6492" y="336592"/>
                  <a:pt x="0" y="316065"/>
                  <a:pt x="8438" y="299189"/>
                </a:cubicBezTo>
                <a:cubicBezTo>
                  <a:pt x="16876" y="282312"/>
                  <a:pt x="37193" y="275189"/>
                  <a:pt x="54322" y="283102"/>
                </a:cubicBezTo>
                <a:lnTo>
                  <a:pt x="318111" y="414909"/>
                </a:lnTo>
                <a:lnTo>
                  <a:pt x="581934" y="283067"/>
                </a:lnTo>
                <a:cubicBezTo>
                  <a:pt x="599179" y="274455"/>
                  <a:pt x="620140" y="281442"/>
                  <a:pt x="628769" y="298679"/>
                </a:cubicBezTo>
                <a:moveTo>
                  <a:pt x="318390" y="0"/>
                </a:moveTo>
                <a:cubicBezTo>
                  <a:pt x="319694" y="0"/>
                  <a:pt x="320986" y="81"/>
                  <a:pt x="322267" y="244"/>
                </a:cubicBezTo>
                <a:lnTo>
                  <a:pt x="326143" y="943"/>
                </a:lnTo>
                <a:lnTo>
                  <a:pt x="329147" y="1781"/>
                </a:lnTo>
                <a:lnTo>
                  <a:pt x="329566" y="1991"/>
                </a:lnTo>
                <a:lnTo>
                  <a:pt x="329985" y="2061"/>
                </a:lnTo>
                <a:lnTo>
                  <a:pt x="330998" y="2550"/>
                </a:lnTo>
                <a:lnTo>
                  <a:pt x="332744" y="3213"/>
                </a:lnTo>
                <a:lnTo>
                  <a:pt x="333303" y="3527"/>
                </a:lnTo>
                <a:lnTo>
                  <a:pt x="333722" y="3702"/>
                </a:lnTo>
                <a:lnTo>
                  <a:pt x="613122" y="143402"/>
                </a:lnTo>
                <a:cubicBezTo>
                  <a:pt x="624938" y="149324"/>
                  <a:pt x="632398" y="161408"/>
                  <a:pt x="632398" y="174625"/>
                </a:cubicBezTo>
                <a:cubicBezTo>
                  <a:pt x="632398" y="187842"/>
                  <a:pt x="624938" y="199926"/>
                  <a:pt x="613122" y="205848"/>
                </a:cubicBezTo>
                <a:lnTo>
                  <a:pt x="333722" y="345548"/>
                </a:lnTo>
                <a:cubicBezTo>
                  <a:pt x="323894" y="350459"/>
                  <a:pt x="312327" y="350459"/>
                  <a:pt x="302499" y="345548"/>
                </a:cubicBezTo>
                <a:lnTo>
                  <a:pt x="23099" y="205848"/>
                </a:lnTo>
                <a:cubicBezTo>
                  <a:pt x="11284" y="199926"/>
                  <a:pt x="3823" y="187842"/>
                  <a:pt x="3823" y="174625"/>
                </a:cubicBezTo>
                <a:cubicBezTo>
                  <a:pt x="3823" y="161408"/>
                  <a:pt x="11284" y="149324"/>
                  <a:pt x="23099" y="143402"/>
                </a:cubicBezTo>
                <a:lnTo>
                  <a:pt x="302499" y="3702"/>
                </a:lnTo>
                <a:lnTo>
                  <a:pt x="302883" y="3527"/>
                </a:lnTo>
                <a:lnTo>
                  <a:pt x="303512" y="3178"/>
                </a:lnTo>
                <a:lnTo>
                  <a:pt x="306236" y="2061"/>
                </a:lnTo>
                <a:lnTo>
                  <a:pt x="306620" y="1991"/>
                </a:lnTo>
                <a:lnTo>
                  <a:pt x="307074" y="1781"/>
                </a:lnTo>
                <a:lnTo>
                  <a:pt x="310078" y="943"/>
                </a:lnTo>
                <a:lnTo>
                  <a:pt x="313920" y="244"/>
                </a:lnTo>
                <a:lnTo>
                  <a:pt x="315875" y="70"/>
                </a:lnTo>
                <a:close/>
              </a:path>
            </a:pathLst>
          </a:cu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1"/>
          <p:cNvSpPr/>
          <p:nvPr/>
        </p:nvSpPr>
        <p:spPr>
          <a:xfrm>
            <a:off x="1285875" y="1985963"/>
            <a:ext cx="6572250" cy="671513"/>
          </a:xfrm>
          <a:prstGeom prst="roundRect">
            <a:avLst>
              <a:gd fmla="val 12766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1"/>
          <p:cNvSpPr/>
          <p:nvPr/>
        </p:nvSpPr>
        <p:spPr>
          <a:xfrm>
            <a:off x="1285875" y="1985963"/>
            <a:ext cx="42863" cy="671513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1"/>
          <p:cNvSpPr txBox="1"/>
          <p:nvPr/>
        </p:nvSpPr>
        <p:spPr>
          <a:xfrm>
            <a:off x="1457325" y="2107406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是什么</a:t>
            </a:r>
            <a:endParaRPr sz="1100"/>
          </a:p>
        </p:txBody>
      </p:sp>
      <p:sp>
        <p:nvSpPr>
          <p:cNvPr id="549" name="Google Shape;549;p31"/>
          <p:cNvSpPr txBox="1"/>
          <p:nvPr/>
        </p:nvSpPr>
        <p:spPr>
          <a:xfrm>
            <a:off x="2086689" y="2113478"/>
            <a:ext cx="3312860" cy="21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色彩 tokens · 字体规范 · 间距规律 · 组件规则</a:t>
            </a:r>
            <a:endParaRPr sz="1100"/>
          </a:p>
        </p:txBody>
      </p:sp>
      <p:sp>
        <p:nvSpPr>
          <p:cNvPr id="550" name="Google Shape;550;p31"/>
          <p:cNvSpPr txBox="1"/>
          <p:nvPr/>
        </p:nvSpPr>
        <p:spPr>
          <a:xfrm>
            <a:off x="1460182" y="2360295"/>
            <a:ext cx="42291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把所有设计决策结构化：#C96133 = primary，36px = 标题，12px = 圆角</a:t>
            </a:r>
            <a:endParaRPr sz="1100"/>
          </a:p>
        </p:txBody>
      </p:sp>
      <p:sp>
        <p:nvSpPr>
          <p:cNvPr id="551" name="Google Shape;551;p31"/>
          <p:cNvSpPr/>
          <p:nvPr/>
        </p:nvSpPr>
        <p:spPr>
          <a:xfrm>
            <a:off x="1285875" y="2771775"/>
            <a:ext cx="6572250" cy="671513"/>
          </a:xfrm>
          <a:prstGeom prst="roundRect">
            <a:avLst>
              <a:gd fmla="val 12766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1"/>
          <p:cNvSpPr/>
          <p:nvPr/>
        </p:nvSpPr>
        <p:spPr>
          <a:xfrm>
            <a:off x="1285875" y="2771775"/>
            <a:ext cx="42863" cy="671513"/>
          </a:xfrm>
          <a:prstGeom prst="roundRect">
            <a:avLst>
              <a:gd fmla="val 500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1"/>
          <p:cNvSpPr txBox="1"/>
          <p:nvPr/>
        </p:nvSpPr>
        <p:spPr>
          <a:xfrm>
            <a:off x="1457325" y="2893219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为什么重要</a:t>
            </a:r>
            <a:endParaRPr sz="1100"/>
          </a:p>
        </p:txBody>
      </p:sp>
      <p:sp>
        <p:nvSpPr>
          <p:cNvPr id="554" name="Google Shape;554;p31"/>
          <p:cNvSpPr txBox="1"/>
          <p:nvPr/>
        </p:nvSpPr>
        <p:spPr>
          <a:xfrm>
            <a:off x="2172414" y="2899291"/>
            <a:ext cx="2907024" cy="21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跨对话复用——Claude 没有记忆，但文件有</a:t>
            </a:r>
            <a:endParaRPr sz="1100"/>
          </a:p>
        </p:txBody>
      </p:sp>
      <p:sp>
        <p:nvSpPr>
          <p:cNvPr id="555" name="Google Shape;555;p31"/>
          <p:cNvSpPr txBox="1"/>
          <p:nvPr/>
        </p:nvSpPr>
        <p:spPr>
          <a:xfrm>
            <a:off x="1460182" y="3146107"/>
            <a:ext cx="3703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今天的 Claude Design 对话关闭后，下周还能用同一套品牌风格</a:t>
            </a:r>
            <a:endParaRPr sz="1100"/>
          </a:p>
        </p:txBody>
      </p:sp>
      <p:sp>
        <p:nvSpPr>
          <p:cNvPr id="556" name="Google Shape;556;p31"/>
          <p:cNvSpPr/>
          <p:nvPr/>
        </p:nvSpPr>
        <p:spPr>
          <a:xfrm>
            <a:off x="1285875" y="3557588"/>
            <a:ext cx="6572250" cy="671513"/>
          </a:xfrm>
          <a:prstGeom prst="roundRect">
            <a:avLst>
              <a:gd fmla="val 12766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1"/>
          <p:cNvSpPr/>
          <p:nvPr/>
        </p:nvSpPr>
        <p:spPr>
          <a:xfrm>
            <a:off x="1285875" y="3557588"/>
            <a:ext cx="42863" cy="671513"/>
          </a:xfrm>
          <a:prstGeom prst="roundRect">
            <a:avLst>
              <a:gd fmla="val 50000" name="adj"/>
            </a:avLst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1"/>
          <p:cNvSpPr txBox="1"/>
          <p:nvPr/>
        </p:nvSpPr>
        <p:spPr>
          <a:xfrm>
            <a:off x="1457325" y="3679031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怎么用</a:t>
            </a:r>
            <a:endParaRPr sz="1100"/>
          </a:p>
        </p:txBody>
      </p:sp>
      <p:sp>
        <p:nvSpPr>
          <p:cNvPr id="559" name="Google Shape;559;p31"/>
          <p:cNvSpPr txBox="1"/>
          <p:nvPr/>
        </p:nvSpPr>
        <p:spPr>
          <a:xfrm>
            <a:off x="2000964" y="3685103"/>
            <a:ext cx="2907024" cy="21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提取后保存成 .md 文件，新对话直接粘贴</a:t>
            </a:r>
            <a:endParaRPr sz="1100"/>
          </a:p>
        </p:txBody>
      </p:sp>
      <p:sp>
        <p:nvSpPr>
          <p:cNvPr id="560" name="Google Shape;560;p31"/>
          <p:cNvSpPr txBox="1"/>
          <p:nvPr/>
        </p:nvSpPr>
        <p:spPr>
          <a:xfrm>
            <a:off x="1460183" y="3931920"/>
            <a:ext cx="449856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Claude Design: "提取 Design System" → 复制 → 保存为 design-system.md</a:t>
            </a:r>
            <a:endParaRPr sz="1100"/>
          </a:p>
        </p:txBody>
      </p:sp>
      <p:sp>
        <p:nvSpPr>
          <p:cNvPr id="561" name="Google Shape;561;p31"/>
          <p:cNvSpPr/>
          <p:nvPr/>
        </p:nvSpPr>
        <p:spPr>
          <a:xfrm>
            <a:off x="571500" y="4386263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95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31"/>
          <p:cNvSpPr/>
          <p:nvPr/>
        </p:nvSpPr>
        <p:spPr>
          <a:xfrm>
            <a:off x="3733685" y="4519017"/>
            <a:ext cx="119502" cy="91905"/>
          </a:xfrm>
          <a:custGeom>
            <a:rect b="b" l="l" r="r" t="t"/>
            <a:pathLst>
              <a:path extrusionOk="0" h="122540" w="159336">
                <a:moveTo>
                  <a:pt x="157183" y="74678"/>
                </a:moveTo>
                <a:cubicBezTo>
                  <a:pt x="159336" y="78990"/>
                  <a:pt x="157590" y="84230"/>
                  <a:pt x="153281" y="86387"/>
                </a:cubicBezTo>
                <a:lnTo>
                  <a:pt x="83431" y="121312"/>
                </a:lnTo>
                <a:cubicBezTo>
                  <a:pt x="80973" y="122540"/>
                  <a:pt x="78082" y="122540"/>
                  <a:pt x="75625" y="121312"/>
                </a:cubicBezTo>
                <a:lnTo>
                  <a:pt x="5775" y="86387"/>
                </a:lnTo>
                <a:cubicBezTo>
                  <a:pt x="1623" y="84148"/>
                  <a:pt x="0" y="79016"/>
                  <a:pt x="2110" y="74797"/>
                </a:cubicBezTo>
                <a:cubicBezTo>
                  <a:pt x="4219" y="70578"/>
                  <a:pt x="9298" y="68797"/>
                  <a:pt x="13581" y="70776"/>
                </a:cubicBezTo>
                <a:lnTo>
                  <a:pt x="79528" y="103727"/>
                </a:lnTo>
                <a:lnTo>
                  <a:pt x="145484" y="70767"/>
                </a:lnTo>
                <a:cubicBezTo>
                  <a:pt x="149795" y="68614"/>
                  <a:pt x="155035" y="70361"/>
                  <a:pt x="157192" y="74670"/>
                </a:cubicBezTo>
                <a:moveTo>
                  <a:pt x="79598" y="0"/>
                </a:moveTo>
                <a:cubicBezTo>
                  <a:pt x="79923" y="0"/>
                  <a:pt x="80247" y="20"/>
                  <a:pt x="80567" y="61"/>
                </a:cubicBezTo>
                <a:lnTo>
                  <a:pt x="81536" y="236"/>
                </a:lnTo>
                <a:lnTo>
                  <a:pt x="82287" y="445"/>
                </a:lnTo>
                <a:lnTo>
                  <a:pt x="82392" y="498"/>
                </a:lnTo>
                <a:lnTo>
                  <a:pt x="82496" y="515"/>
                </a:lnTo>
                <a:lnTo>
                  <a:pt x="82750" y="637"/>
                </a:lnTo>
                <a:lnTo>
                  <a:pt x="83186" y="803"/>
                </a:lnTo>
                <a:lnTo>
                  <a:pt x="83326" y="882"/>
                </a:lnTo>
                <a:lnTo>
                  <a:pt x="83431" y="926"/>
                </a:lnTo>
                <a:lnTo>
                  <a:pt x="153281" y="35851"/>
                </a:lnTo>
                <a:cubicBezTo>
                  <a:pt x="156234" y="37331"/>
                  <a:pt x="158100" y="40352"/>
                  <a:pt x="158100" y="43656"/>
                </a:cubicBezTo>
                <a:cubicBezTo>
                  <a:pt x="158100" y="46960"/>
                  <a:pt x="156234" y="49982"/>
                  <a:pt x="153281" y="51462"/>
                </a:cubicBezTo>
                <a:lnTo>
                  <a:pt x="83431" y="86387"/>
                </a:lnTo>
                <a:cubicBezTo>
                  <a:pt x="80973" y="87615"/>
                  <a:pt x="78082" y="87615"/>
                  <a:pt x="75625" y="86387"/>
                </a:cubicBezTo>
                <a:lnTo>
                  <a:pt x="5775" y="51462"/>
                </a:lnTo>
                <a:cubicBezTo>
                  <a:pt x="2821" y="49982"/>
                  <a:pt x="956" y="46960"/>
                  <a:pt x="956" y="43656"/>
                </a:cubicBezTo>
                <a:cubicBezTo>
                  <a:pt x="956" y="40352"/>
                  <a:pt x="2821" y="37331"/>
                  <a:pt x="5775" y="35851"/>
                </a:cubicBezTo>
                <a:lnTo>
                  <a:pt x="75625" y="926"/>
                </a:lnTo>
                <a:lnTo>
                  <a:pt x="75721" y="882"/>
                </a:lnTo>
                <a:lnTo>
                  <a:pt x="75878" y="795"/>
                </a:lnTo>
                <a:lnTo>
                  <a:pt x="76559" y="515"/>
                </a:lnTo>
                <a:lnTo>
                  <a:pt x="76655" y="498"/>
                </a:lnTo>
                <a:lnTo>
                  <a:pt x="76769" y="445"/>
                </a:lnTo>
                <a:lnTo>
                  <a:pt x="77519" y="236"/>
                </a:lnTo>
                <a:lnTo>
                  <a:pt x="78480" y="61"/>
                </a:lnTo>
                <a:lnTo>
                  <a:pt x="78969" y="17"/>
                </a:lnTo>
                <a:close/>
              </a:path>
            </a:pathLst>
          </a:cu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1"/>
          <p:cNvSpPr txBox="1"/>
          <p:nvPr/>
        </p:nvSpPr>
        <p:spPr>
          <a:xfrm>
            <a:off x="3917633" y="4517708"/>
            <a:ext cx="2973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专业设计团队做了几十年的事，今天你 15 分钟做到</a:t>
            </a:r>
            <a:endParaRPr sz="1100"/>
          </a:p>
        </p:txBody>
      </p:sp>
      <p:sp>
        <p:nvSpPr>
          <p:cNvPr id="564" name="Google Shape;564;p31"/>
          <p:cNvSpPr txBox="1"/>
          <p:nvPr/>
        </p:nvSpPr>
        <p:spPr>
          <a:xfrm>
            <a:off x="8320076" y="4958477"/>
            <a:ext cx="40530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07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2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1" name="Google Shape;571;p32"/>
          <p:cNvGrpSpPr/>
          <p:nvPr/>
        </p:nvGrpSpPr>
        <p:grpSpPr>
          <a:xfrm>
            <a:off x="571500" y="295751"/>
            <a:ext cx="8001000" cy="411480"/>
            <a:chOff x="762000" y="394335"/>
            <a:chExt cx="10668000" cy="548640"/>
          </a:xfrm>
        </p:grpSpPr>
        <p:sp>
          <p:nvSpPr>
            <p:cNvPr id="572" name="Google Shape;572;p32"/>
            <p:cNvSpPr txBox="1"/>
            <p:nvPr/>
          </p:nvSpPr>
          <p:spPr>
            <a:xfrm>
              <a:off x="3080537" y="394335"/>
              <a:ext cx="6030925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没有 Claude Design vs 有了以后</a:t>
              </a:r>
              <a:endParaRPr sz="1100"/>
            </a:p>
          </p:txBody>
        </p:sp>
        <p:sp>
          <p:nvSpPr>
            <p:cNvPr id="573" name="Google Shape;573;p32"/>
            <p:cNvSpPr/>
            <p:nvPr/>
          </p:nvSpPr>
          <p:spPr>
            <a:xfrm>
              <a:off x="762000" y="914400"/>
              <a:ext cx="10668000" cy="9525"/>
            </a:xfrm>
            <a:custGeom>
              <a:rect b="b" l="l" r="r" t="t"/>
              <a:pathLst>
                <a:path extrusionOk="0" h="9525" w="10668000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cap="flat" cmpd="sng" w="1427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574" name="Google Shape;574;p32"/>
          <p:cNvGrpSpPr/>
          <p:nvPr/>
        </p:nvGrpSpPr>
        <p:grpSpPr>
          <a:xfrm>
            <a:off x="428625" y="842963"/>
            <a:ext cx="3857625" cy="3771900"/>
            <a:chOff x="571500" y="1123950"/>
            <a:chExt cx="5143500" cy="5029200"/>
          </a:xfrm>
        </p:grpSpPr>
        <p:sp>
          <p:nvSpPr>
            <p:cNvPr id="575" name="Google Shape;575;p32"/>
            <p:cNvSpPr/>
            <p:nvPr/>
          </p:nvSpPr>
          <p:spPr>
            <a:xfrm>
              <a:off x="571500" y="1123950"/>
              <a:ext cx="5143500" cy="5029200"/>
            </a:xfrm>
            <a:prstGeom prst="roundRect">
              <a:avLst>
                <a:gd fmla="val 3788" name="adj"/>
              </a:avLst>
            </a:prstGeom>
            <a:solidFill>
              <a:srgbClr val="F0EDE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2"/>
            <p:cNvSpPr/>
            <p:nvPr/>
          </p:nvSpPr>
          <p:spPr>
            <a:xfrm>
              <a:off x="571500" y="1123950"/>
              <a:ext cx="5143500" cy="552450"/>
            </a:xfrm>
            <a:prstGeom prst="roundRect">
              <a:avLst>
                <a:gd fmla="val 34483" name="adj"/>
              </a:avLst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2"/>
            <p:cNvSpPr/>
            <p:nvPr/>
          </p:nvSpPr>
          <p:spPr>
            <a:xfrm>
              <a:off x="571500" y="1409700"/>
              <a:ext cx="5143500" cy="266700"/>
            </a:xfrm>
            <a:prstGeom prst="rect">
              <a:avLst/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2"/>
            <p:cNvSpPr txBox="1"/>
            <p:nvPr/>
          </p:nvSpPr>
          <p:spPr>
            <a:xfrm>
              <a:off x="2230718" y="1321118"/>
              <a:ext cx="18250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BEFORE · 传统方式</a:t>
              </a:r>
              <a:endParaRPr sz="1100"/>
            </a:p>
          </p:txBody>
        </p:sp>
        <p:sp>
          <p:nvSpPr>
            <p:cNvPr id="579" name="Google Shape;579;p32"/>
            <p:cNvSpPr/>
            <p:nvPr/>
          </p:nvSpPr>
          <p:spPr>
            <a:xfrm>
              <a:off x="838200" y="1924050"/>
              <a:ext cx="4610100" cy="1047750"/>
            </a:xfrm>
            <a:prstGeom prst="roundRect">
              <a:avLst>
                <a:gd fmla="val 9091" name="adj"/>
              </a:avLst>
            </a:prstGeom>
            <a:solidFill>
              <a:srgbClr val="FFFFFF">
                <a:alpha val="7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2"/>
            <p:cNvSpPr txBox="1"/>
            <p:nvPr/>
          </p:nvSpPr>
          <p:spPr>
            <a:xfrm>
              <a:off x="1087755" y="2121218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😥 找设计师 / 外包</a:t>
              </a:r>
              <a:endParaRPr sz="1100"/>
            </a:p>
          </p:txBody>
        </p:sp>
        <p:sp>
          <p:nvSpPr>
            <p:cNvPr id="581" name="Google Shape;581;p32"/>
            <p:cNvSpPr txBox="1"/>
            <p:nvPr/>
          </p:nvSpPr>
          <p:spPr>
            <a:xfrm>
              <a:off x="1089660" y="2404110"/>
              <a:ext cx="28434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费用 $500~$3000，等 2~4 周才出稿</a:t>
              </a:r>
              <a:endParaRPr sz="1100"/>
            </a:p>
          </p:txBody>
        </p:sp>
        <p:sp>
          <p:nvSpPr>
            <p:cNvPr id="582" name="Google Shape;582;p32"/>
            <p:cNvSpPr txBox="1"/>
            <p:nvPr/>
          </p:nvSpPr>
          <p:spPr>
            <a:xfrm>
              <a:off x="1089660" y="2632710"/>
              <a:ext cx="19583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沟通成本高，改稿无底洞</a:t>
              </a:r>
              <a:endParaRPr sz="1100"/>
            </a:p>
          </p:txBody>
        </p:sp>
        <p:sp>
          <p:nvSpPr>
            <p:cNvPr id="583" name="Google Shape;583;p32"/>
            <p:cNvSpPr/>
            <p:nvPr/>
          </p:nvSpPr>
          <p:spPr>
            <a:xfrm>
              <a:off x="838200" y="3124200"/>
              <a:ext cx="4610100" cy="1047750"/>
            </a:xfrm>
            <a:prstGeom prst="roundRect">
              <a:avLst>
                <a:gd fmla="val 9091" name="adj"/>
              </a:avLst>
            </a:prstGeom>
            <a:solidFill>
              <a:srgbClr val="FFFFFF">
                <a:alpha val="7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2"/>
            <p:cNvSpPr txBox="1"/>
            <p:nvPr/>
          </p:nvSpPr>
          <p:spPr>
            <a:xfrm>
              <a:off x="1087755" y="3321368"/>
              <a:ext cx="17112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😕 自学 Figma / PS</a:t>
              </a:r>
              <a:endParaRPr sz="1100"/>
            </a:p>
          </p:txBody>
        </p:sp>
        <p:sp>
          <p:nvSpPr>
            <p:cNvPr id="585" name="Google Shape;585;p32"/>
            <p:cNvSpPr txBox="1"/>
            <p:nvPr/>
          </p:nvSpPr>
          <p:spPr>
            <a:xfrm>
              <a:off x="1089660" y="3604260"/>
              <a:ext cx="2133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入门门槛高，软件操作复杂</a:t>
              </a:r>
              <a:endParaRPr sz="1100"/>
            </a:p>
          </p:txBody>
        </p:sp>
        <p:sp>
          <p:nvSpPr>
            <p:cNvPr id="586" name="Google Shape;586;p32"/>
            <p:cNvSpPr txBox="1"/>
            <p:nvPr/>
          </p:nvSpPr>
          <p:spPr>
            <a:xfrm>
              <a:off x="1089660" y="3832860"/>
              <a:ext cx="1783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学会之前网站上不了线</a:t>
              </a:r>
              <a:endParaRPr sz="1100"/>
            </a:p>
          </p:txBody>
        </p:sp>
        <p:sp>
          <p:nvSpPr>
            <p:cNvPr id="587" name="Google Shape;587;p32"/>
            <p:cNvSpPr/>
            <p:nvPr/>
          </p:nvSpPr>
          <p:spPr>
            <a:xfrm>
              <a:off x="838200" y="4324350"/>
              <a:ext cx="4610100" cy="1047750"/>
            </a:xfrm>
            <a:prstGeom prst="roundRect">
              <a:avLst>
                <a:gd fmla="val 9091" name="adj"/>
              </a:avLst>
            </a:prstGeom>
            <a:solidFill>
              <a:srgbClr val="FFFFFF">
                <a:alpha val="7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2"/>
            <p:cNvSpPr txBox="1"/>
            <p:nvPr/>
          </p:nvSpPr>
          <p:spPr>
            <a:xfrm>
              <a:off x="1087755" y="4521518"/>
              <a:ext cx="14524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😰 反复修稿循环</a:t>
              </a:r>
              <a:endParaRPr sz="1100"/>
            </a:p>
          </p:txBody>
        </p:sp>
        <p:sp>
          <p:nvSpPr>
            <p:cNvPr id="589" name="Google Shape;589;p32"/>
            <p:cNvSpPr txBox="1"/>
            <p:nvPr/>
          </p:nvSpPr>
          <p:spPr>
            <a:xfrm>
              <a:off x="1089660" y="4804410"/>
              <a:ext cx="2308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设计与代码脱节，改一处全崩</a:t>
              </a:r>
              <a:endParaRPr sz="1100"/>
            </a:p>
          </p:txBody>
        </p:sp>
        <p:sp>
          <p:nvSpPr>
            <p:cNvPr id="590" name="Google Shape;590;p32"/>
            <p:cNvSpPr txBox="1"/>
            <p:nvPr/>
          </p:nvSpPr>
          <p:spPr>
            <a:xfrm>
              <a:off x="1089660" y="5033010"/>
              <a:ext cx="2133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视觉稿和实现结果相差很大</a:t>
              </a:r>
              <a:endParaRPr sz="1100"/>
            </a:p>
          </p:txBody>
        </p:sp>
        <p:sp>
          <p:nvSpPr>
            <p:cNvPr id="591" name="Google Shape;591;p32"/>
            <p:cNvSpPr/>
            <p:nvPr/>
          </p:nvSpPr>
          <p:spPr>
            <a:xfrm>
              <a:off x="838200" y="5562600"/>
              <a:ext cx="4610100" cy="419100"/>
            </a:xfrm>
            <a:prstGeom prst="roundRect">
              <a:avLst>
                <a:gd fmla="val 18182" name="adj"/>
              </a:avLst>
            </a:prstGeom>
            <a:solidFill>
              <a:srgbClr val="9E9E9E">
                <a:alpha val="25098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2"/>
            <p:cNvSpPr txBox="1"/>
            <p:nvPr/>
          </p:nvSpPr>
          <p:spPr>
            <a:xfrm>
              <a:off x="1831708" y="5682139"/>
              <a:ext cx="2623084" cy="259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⌛ 平均周期 4~8 周 · 成本高昂</a:t>
              </a:r>
              <a:endParaRPr sz="1100"/>
            </a:p>
          </p:txBody>
        </p:sp>
      </p:grpSp>
      <p:grpSp>
        <p:nvGrpSpPr>
          <p:cNvPr id="593" name="Google Shape;593;p32"/>
          <p:cNvGrpSpPr/>
          <p:nvPr/>
        </p:nvGrpSpPr>
        <p:grpSpPr>
          <a:xfrm>
            <a:off x="4314825" y="2471738"/>
            <a:ext cx="514350" cy="514350"/>
            <a:chOff x="5753100" y="3295650"/>
            <a:chExt cx="685800" cy="685800"/>
          </a:xfrm>
        </p:grpSpPr>
        <p:sp>
          <p:nvSpPr>
            <p:cNvPr id="594" name="Google Shape;594;p32"/>
            <p:cNvSpPr/>
            <p:nvPr/>
          </p:nvSpPr>
          <p:spPr>
            <a:xfrm>
              <a:off x="5753100" y="3295650"/>
              <a:ext cx="685800" cy="685800"/>
            </a:xfrm>
            <a:prstGeom prst="ellipse">
              <a:avLst/>
            </a:prstGeom>
            <a:solidFill>
              <a:srgbClr val="1E1E1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2"/>
            <p:cNvSpPr txBox="1"/>
            <p:nvPr/>
          </p:nvSpPr>
          <p:spPr>
            <a:xfrm>
              <a:off x="5979547" y="345186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VS</a:t>
              </a:r>
              <a:endParaRPr sz="1100"/>
            </a:p>
          </p:txBody>
        </p:sp>
        <p:sp>
          <p:nvSpPr>
            <p:cNvPr id="596" name="Google Shape;596;p32"/>
            <p:cNvSpPr txBox="1"/>
            <p:nvPr/>
          </p:nvSpPr>
          <p:spPr>
            <a:xfrm>
              <a:off x="6026229" y="3690938"/>
              <a:ext cx="139541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6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PK</a:t>
              </a:r>
              <a:endParaRPr sz="1100"/>
            </a:p>
          </p:txBody>
        </p:sp>
      </p:grpSp>
      <p:grpSp>
        <p:nvGrpSpPr>
          <p:cNvPr id="597" name="Google Shape;597;p32"/>
          <p:cNvGrpSpPr/>
          <p:nvPr/>
        </p:nvGrpSpPr>
        <p:grpSpPr>
          <a:xfrm>
            <a:off x="4857750" y="842963"/>
            <a:ext cx="3857625" cy="3771900"/>
            <a:chOff x="6477000" y="1123950"/>
            <a:chExt cx="5143500" cy="5029200"/>
          </a:xfrm>
        </p:grpSpPr>
        <p:sp>
          <p:nvSpPr>
            <p:cNvPr id="598" name="Google Shape;598;p32"/>
            <p:cNvSpPr/>
            <p:nvPr/>
          </p:nvSpPr>
          <p:spPr>
            <a:xfrm>
              <a:off x="6477000" y="1123950"/>
              <a:ext cx="5143500" cy="5029200"/>
            </a:xfrm>
            <a:prstGeom prst="roundRect">
              <a:avLst>
                <a:gd fmla="val 3788" name="adj"/>
              </a:avLst>
            </a:prstGeom>
            <a:solidFill>
              <a:srgbClr val="F5EDE6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2"/>
            <p:cNvSpPr/>
            <p:nvPr/>
          </p:nvSpPr>
          <p:spPr>
            <a:xfrm>
              <a:off x="6477000" y="1123950"/>
              <a:ext cx="5143500" cy="552450"/>
            </a:xfrm>
            <a:prstGeom prst="roundRect">
              <a:avLst>
                <a:gd fmla="val 34483" name="adj"/>
              </a:avLst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2"/>
            <p:cNvSpPr/>
            <p:nvPr/>
          </p:nvSpPr>
          <p:spPr>
            <a:xfrm>
              <a:off x="6477000" y="1409700"/>
              <a:ext cx="5143500" cy="266700"/>
            </a:xfrm>
            <a:prstGeom prst="rect">
              <a:avLst/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2"/>
            <p:cNvSpPr txBox="1"/>
            <p:nvPr/>
          </p:nvSpPr>
          <p:spPr>
            <a:xfrm>
              <a:off x="7965422" y="1321118"/>
              <a:ext cx="21666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AFTER · Claude Design</a:t>
              </a:r>
              <a:endParaRPr sz="1100"/>
            </a:p>
          </p:txBody>
        </p:sp>
        <p:sp>
          <p:nvSpPr>
            <p:cNvPr id="602" name="Google Shape;602;p32"/>
            <p:cNvSpPr/>
            <p:nvPr/>
          </p:nvSpPr>
          <p:spPr>
            <a:xfrm>
              <a:off x="6743700" y="1924050"/>
              <a:ext cx="4610100" cy="1047750"/>
            </a:xfrm>
            <a:prstGeom prst="roundRect">
              <a:avLst>
                <a:gd fmla="val 9091" name="adj"/>
              </a:avLst>
            </a:prstGeom>
            <a:solidFill>
              <a:srgbClr val="FFFFFF">
                <a:alpha val="85098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2"/>
            <p:cNvSpPr txBox="1"/>
            <p:nvPr/>
          </p:nvSpPr>
          <p:spPr>
            <a:xfrm>
              <a:off x="6993255" y="2121218"/>
              <a:ext cx="21045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✨ 文字描述 → 即时出稿</a:t>
              </a:r>
              <a:endParaRPr sz="1100"/>
            </a:p>
          </p:txBody>
        </p:sp>
        <p:sp>
          <p:nvSpPr>
            <p:cNvPr id="604" name="Google Shape;604;p32"/>
            <p:cNvSpPr txBox="1"/>
            <p:nvPr/>
          </p:nvSpPr>
          <p:spPr>
            <a:xfrm>
              <a:off x="6995160" y="2404110"/>
              <a:ext cx="2484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用中文描述你的需求和风格偏好</a:t>
              </a:r>
              <a:endParaRPr sz="1100"/>
            </a:p>
          </p:txBody>
        </p:sp>
        <p:sp>
          <p:nvSpPr>
            <p:cNvPr id="605" name="Google Shape;605;p32"/>
            <p:cNvSpPr txBox="1"/>
            <p:nvPr/>
          </p:nvSpPr>
          <p:spPr>
            <a:xfrm>
              <a:off x="6995160" y="2632710"/>
              <a:ext cx="21073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5 分钟内生成完整视觉方案</a:t>
              </a:r>
              <a:endParaRPr sz="1100"/>
            </a:p>
          </p:txBody>
        </p:sp>
        <p:sp>
          <p:nvSpPr>
            <p:cNvPr id="606" name="Google Shape;606;p32"/>
            <p:cNvSpPr/>
            <p:nvPr/>
          </p:nvSpPr>
          <p:spPr>
            <a:xfrm>
              <a:off x="6743700" y="3124200"/>
              <a:ext cx="4610100" cy="1047750"/>
            </a:xfrm>
            <a:prstGeom prst="roundRect">
              <a:avLst>
                <a:gd fmla="val 9091" name="adj"/>
              </a:avLst>
            </a:prstGeom>
            <a:solidFill>
              <a:srgbClr val="FFFFFF">
                <a:alpha val="85098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2"/>
            <p:cNvSpPr txBox="1"/>
            <p:nvPr/>
          </p:nvSpPr>
          <p:spPr>
            <a:xfrm>
              <a:off x="6993255" y="3321368"/>
              <a:ext cx="16594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🌟 多版本对比选择</a:t>
              </a:r>
              <a:endParaRPr sz="1100"/>
            </a:p>
          </p:txBody>
        </p:sp>
        <p:sp>
          <p:nvSpPr>
            <p:cNvPr id="608" name="Google Shape;608;p32"/>
            <p:cNvSpPr txBox="1"/>
            <p:nvPr/>
          </p:nvSpPr>
          <p:spPr>
            <a:xfrm>
              <a:off x="6995160" y="3604260"/>
              <a:ext cx="19846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一次生成 3 套风格供你选</a:t>
              </a:r>
              <a:endParaRPr sz="1100"/>
            </a:p>
          </p:txBody>
        </p:sp>
        <p:sp>
          <p:nvSpPr>
            <p:cNvPr id="609" name="Google Shape;609;p32"/>
            <p:cNvSpPr txBox="1"/>
            <p:nvPr/>
          </p:nvSpPr>
          <p:spPr>
            <a:xfrm>
              <a:off x="6995160" y="3832860"/>
              <a:ext cx="2133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不满意继续改，分钟级迭代</a:t>
              </a:r>
              <a:endParaRPr sz="1100"/>
            </a:p>
          </p:txBody>
        </p:sp>
        <p:sp>
          <p:nvSpPr>
            <p:cNvPr id="610" name="Google Shape;610;p32"/>
            <p:cNvSpPr/>
            <p:nvPr/>
          </p:nvSpPr>
          <p:spPr>
            <a:xfrm>
              <a:off x="6743700" y="4324350"/>
              <a:ext cx="4610100" cy="1047750"/>
            </a:xfrm>
            <a:prstGeom prst="roundRect">
              <a:avLst>
                <a:gd fmla="val 9091" name="adj"/>
              </a:avLst>
            </a:prstGeom>
            <a:solidFill>
              <a:srgbClr val="FFFFFF">
                <a:alpha val="85098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2"/>
            <p:cNvSpPr txBox="1"/>
            <p:nvPr/>
          </p:nvSpPr>
          <p:spPr>
            <a:xfrm>
              <a:off x="6993255" y="4521518"/>
              <a:ext cx="14524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🔗 设计直通代码</a:t>
              </a:r>
              <a:endParaRPr sz="1100"/>
            </a:p>
          </p:txBody>
        </p:sp>
        <p:sp>
          <p:nvSpPr>
            <p:cNvPr id="612" name="Google Shape;612;p32"/>
            <p:cNvSpPr txBox="1"/>
            <p:nvPr/>
          </p:nvSpPr>
          <p:spPr>
            <a:xfrm>
              <a:off x="6995160" y="4804410"/>
              <a:ext cx="2834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Design Brief 直接喂给 Claude Code</a:t>
              </a:r>
              <a:endParaRPr sz="1100"/>
            </a:p>
          </p:txBody>
        </p:sp>
        <p:sp>
          <p:nvSpPr>
            <p:cNvPr id="613" name="Google Shape;613;p32"/>
            <p:cNvSpPr txBox="1"/>
            <p:nvPr/>
          </p:nvSpPr>
          <p:spPr>
            <a:xfrm>
              <a:off x="6995160" y="5033010"/>
              <a:ext cx="24052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设计与实现 100% 对齐，无断层</a:t>
              </a:r>
              <a:endParaRPr sz="1100"/>
            </a:p>
          </p:txBody>
        </p:sp>
        <p:sp>
          <p:nvSpPr>
            <p:cNvPr id="614" name="Google Shape;614;p32"/>
            <p:cNvSpPr/>
            <p:nvPr/>
          </p:nvSpPr>
          <p:spPr>
            <a:xfrm>
              <a:off x="6743700" y="5562600"/>
              <a:ext cx="4610100" cy="419100"/>
            </a:xfrm>
            <a:prstGeom prst="roundRect">
              <a:avLst>
                <a:gd fmla="val 18182" name="adj"/>
              </a:avLst>
            </a:prstGeom>
            <a:solidFill>
              <a:srgbClr val="C96133">
                <a:alpha val="14901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2"/>
            <p:cNvSpPr txBox="1"/>
            <p:nvPr/>
          </p:nvSpPr>
          <p:spPr>
            <a:xfrm>
              <a:off x="7663886" y="5682139"/>
              <a:ext cx="2769727" cy="259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⚡ 当天完成视觉稿 · 零设计成本</a:t>
              </a:r>
              <a:endParaRPr sz="1100"/>
            </a:p>
          </p:txBody>
        </p:sp>
      </p:grpSp>
      <p:sp>
        <p:nvSpPr>
          <p:cNvPr id="616" name="Google Shape;616;p32"/>
          <p:cNvSpPr txBox="1"/>
          <p:nvPr/>
        </p:nvSpPr>
        <p:spPr>
          <a:xfrm>
            <a:off x="8320076" y="4915614"/>
            <a:ext cx="40530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08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3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3" name="Google Shape;623;p33"/>
          <p:cNvGrpSpPr/>
          <p:nvPr/>
        </p:nvGrpSpPr>
        <p:grpSpPr>
          <a:xfrm>
            <a:off x="571500" y="267176"/>
            <a:ext cx="8001000" cy="597218"/>
            <a:chOff x="762000" y="356235"/>
            <a:chExt cx="10668000" cy="796290"/>
          </a:xfrm>
        </p:grpSpPr>
        <p:sp>
          <p:nvSpPr>
            <p:cNvPr id="624" name="Google Shape;624;p33"/>
            <p:cNvSpPr txBox="1"/>
            <p:nvPr/>
          </p:nvSpPr>
          <p:spPr>
            <a:xfrm>
              <a:off x="5264660" y="356235"/>
              <a:ext cx="1662679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5 秒法则</a:t>
              </a:r>
              <a:endParaRPr sz="1100"/>
            </a:p>
          </p:txBody>
        </p:sp>
        <p:sp>
          <p:nvSpPr>
            <p:cNvPr id="625" name="Google Shape;625;p33"/>
            <p:cNvSpPr txBox="1"/>
            <p:nvPr/>
          </p:nvSpPr>
          <p:spPr>
            <a:xfrm>
              <a:off x="3870055" y="774382"/>
              <a:ext cx="4451890" cy="335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访客落地 5 秒内 — 他能不能看懂你是谁？</a:t>
              </a:r>
              <a:endParaRPr sz="1100"/>
            </a:p>
          </p:txBody>
        </p:sp>
        <p:sp>
          <p:nvSpPr>
            <p:cNvPr id="626" name="Google Shape;626;p33"/>
            <p:cNvSpPr/>
            <p:nvPr/>
          </p:nvSpPr>
          <p:spPr>
            <a:xfrm>
              <a:off x="762000" y="1143000"/>
              <a:ext cx="10668000" cy="9525"/>
            </a:xfrm>
            <a:custGeom>
              <a:rect b="b" l="l" r="r" t="t"/>
              <a:pathLst>
                <a:path extrusionOk="0" h="9525" w="10668000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cap="flat" cmpd="sng" w="1427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627" name="Google Shape;627;p33"/>
          <p:cNvSpPr/>
          <p:nvPr/>
        </p:nvSpPr>
        <p:spPr>
          <a:xfrm>
            <a:off x="571500" y="985838"/>
            <a:ext cx="8001000" cy="314325"/>
          </a:xfrm>
          <a:prstGeom prst="roundRect">
            <a:avLst>
              <a:gd fmla="val 18182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3"/>
          <p:cNvSpPr txBox="1"/>
          <p:nvPr/>
        </p:nvSpPr>
        <p:spPr>
          <a:xfrm>
            <a:off x="2314816" y="1075492"/>
            <a:ext cx="4514368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研究表明：用户决定留下还是离开，平均只需 </a:t>
            </a:r>
            <a:r>
              <a:rPr b="1" i="0" lang="en" sz="10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5 秒</a:t>
            </a:r>
            <a:r>
              <a:rPr b="0" i="0" lang="en" sz="10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。首屏设计决定一切。</a:t>
            </a:r>
            <a:endParaRPr sz="1100"/>
          </a:p>
        </p:txBody>
      </p:sp>
      <p:grpSp>
        <p:nvGrpSpPr>
          <p:cNvPr id="629" name="Google Shape;629;p33"/>
          <p:cNvGrpSpPr/>
          <p:nvPr/>
        </p:nvGrpSpPr>
        <p:grpSpPr>
          <a:xfrm>
            <a:off x="428625" y="1443038"/>
            <a:ext cx="3971925" cy="3143250"/>
            <a:chOff x="571500" y="1924050"/>
            <a:chExt cx="5295900" cy="4191000"/>
          </a:xfrm>
        </p:grpSpPr>
        <p:sp>
          <p:nvSpPr>
            <p:cNvPr id="630" name="Google Shape;630;p33"/>
            <p:cNvSpPr/>
            <p:nvPr/>
          </p:nvSpPr>
          <p:spPr>
            <a:xfrm>
              <a:off x="571500" y="1924050"/>
              <a:ext cx="5295900" cy="4191000"/>
            </a:xfrm>
            <a:prstGeom prst="roundRect">
              <a:avLst>
                <a:gd fmla="val 4545" name="adj"/>
              </a:avLst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3"/>
            <p:cNvSpPr/>
            <p:nvPr/>
          </p:nvSpPr>
          <p:spPr>
            <a:xfrm>
              <a:off x="1990725" y="1924050"/>
              <a:ext cx="2457450" cy="495300"/>
            </a:xfrm>
            <a:custGeom>
              <a:rect b="b" l="l" r="r" t="t"/>
              <a:pathLst>
                <a:path extrusionOk="0" h="495300" w="2457450">
                  <a:moveTo>
                    <a:pt x="228600" y="0"/>
                  </a:moveTo>
                  <a:lnTo>
                    <a:pt x="2228850" y="0"/>
                  </a:lnTo>
                  <a:cubicBezTo>
                    <a:pt x="2355102" y="0"/>
                    <a:pt x="2457450" y="102348"/>
                    <a:pt x="2457450" y="228600"/>
                  </a:cubicBezTo>
                  <a:lnTo>
                    <a:pt x="2457450" y="495300"/>
                  </a:lnTo>
                  <a:lnTo>
                    <a:pt x="0" y="495300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D4454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3"/>
            <p:cNvSpPr txBox="1"/>
            <p:nvPr/>
          </p:nvSpPr>
          <p:spPr>
            <a:xfrm>
              <a:off x="2560129" y="214693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✘ 反例 — 看不懂</a:t>
              </a:r>
              <a:endParaRPr sz="1100"/>
            </a:p>
          </p:txBody>
        </p:sp>
        <p:sp>
          <p:nvSpPr>
            <p:cNvPr id="633" name="Google Shape;633;p33"/>
            <p:cNvSpPr/>
            <p:nvPr/>
          </p:nvSpPr>
          <p:spPr>
            <a:xfrm>
              <a:off x="762000" y="2571750"/>
              <a:ext cx="4914900" cy="20955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952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3"/>
            <p:cNvSpPr/>
            <p:nvPr/>
          </p:nvSpPr>
          <p:spPr>
            <a:xfrm>
              <a:off x="762000" y="2571750"/>
              <a:ext cx="4914900" cy="361950"/>
            </a:xfrm>
            <a:prstGeom prst="roundRect">
              <a:avLst>
                <a:gd fmla="val 26316" name="adj"/>
              </a:avLst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3"/>
            <p:cNvSpPr/>
            <p:nvPr/>
          </p:nvSpPr>
          <p:spPr>
            <a:xfrm>
              <a:off x="762000" y="2762250"/>
              <a:ext cx="4914900" cy="17145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3"/>
            <p:cNvSpPr txBox="1"/>
            <p:nvPr/>
          </p:nvSpPr>
          <p:spPr>
            <a:xfrm>
              <a:off x="1016318" y="2714149"/>
              <a:ext cx="7509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MyWebsite</a:t>
              </a:r>
              <a:endParaRPr sz="1100"/>
            </a:p>
          </p:txBody>
        </p:sp>
        <p:sp>
          <p:nvSpPr>
            <p:cNvPr id="637" name="Google Shape;637;p33"/>
            <p:cNvSpPr txBox="1"/>
            <p:nvPr/>
          </p:nvSpPr>
          <p:spPr>
            <a:xfrm>
              <a:off x="4369118" y="2714149"/>
              <a:ext cx="13917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Home About Contact</a:t>
              </a:r>
              <a:endParaRPr sz="1100"/>
            </a:p>
          </p:txBody>
        </p:sp>
        <p:sp>
          <p:nvSpPr>
            <p:cNvPr id="638" name="Google Shape;638;p33"/>
            <p:cNvSpPr txBox="1"/>
            <p:nvPr/>
          </p:nvSpPr>
          <p:spPr>
            <a:xfrm>
              <a:off x="1797225" y="3152775"/>
              <a:ext cx="28444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 u="none" cap="none" strike="noStrike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Welcome to Our Platform</a:t>
              </a:r>
              <a:endParaRPr sz="1100"/>
            </a:p>
          </p:txBody>
        </p:sp>
        <p:sp>
          <p:nvSpPr>
            <p:cNvPr id="639" name="Google Shape;639;p33"/>
            <p:cNvSpPr txBox="1"/>
            <p:nvPr/>
          </p:nvSpPr>
          <p:spPr>
            <a:xfrm>
              <a:off x="2036802" y="3449002"/>
              <a:ext cx="23652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We provide innovative solutions</a:t>
              </a:r>
              <a:endParaRPr sz="1100"/>
            </a:p>
          </p:txBody>
        </p:sp>
        <p:sp>
          <p:nvSpPr>
            <p:cNvPr id="640" name="Google Shape;640;p33"/>
            <p:cNvSpPr txBox="1"/>
            <p:nvPr/>
          </p:nvSpPr>
          <p:spPr>
            <a:xfrm>
              <a:off x="2270665" y="3639502"/>
              <a:ext cx="18975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for your business needs.</a:t>
              </a:r>
              <a:endParaRPr sz="1100"/>
            </a:p>
          </p:txBody>
        </p:sp>
        <p:sp>
          <p:nvSpPr>
            <p:cNvPr id="641" name="Google Shape;641;p33"/>
            <p:cNvSpPr/>
            <p:nvPr/>
          </p:nvSpPr>
          <p:spPr>
            <a:xfrm>
              <a:off x="2552700" y="3962400"/>
              <a:ext cx="1333500" cy="342900"/>
            </a:xfrm>
            <a:prstGeom prst="roundRect">
              <a:avLst>
                <a:gd fmla="val 50000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3"/>
            <p:cNvSpPr txBox="1"/>
            <p:nvPr/>
          </p:nvSpPr>
          <p:spPr>
            <a:xfrm>
              <a:off x="2788229" y="4068128"/>
              <a:ext cx="8624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Learn More</a:t>
              </a:r>
              <a:endParaRPr sz="1100"/>
            </a:p>
          </p:txBody>
        </p:sp>
        <p:sp>
          <p:nvSpPr>
            <p:cNvPr id="643" name="Google Shape;643;p33"/>
            <p:cNvSpPr/>
            <p:nvPr/>
          </p:nvSpPr>
          <p:spPr>
            <a:xfrm>
              <a:off x="762000" y="4800600"/>
              <a:ext cx="4914900" cy="1143000"/>
            </a:xfrm>
            <a:prstGeom prst="roundRect">
              <a:avLst>
                <a:gd fmla="val 8333" name="adj"/>
              </a:avLst>
            </a:prstGeom>
            <a:solidFill>
              <a:srgbClr val="FFF0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3"/>
            <p:cNvSpPr txBox="1"/>
            <p:nvPr/>
          </p:nvSpPr>
          <p:spPr>
            <a:xfrm>
              <a:off x="1014412" y="4926806"/>
              <a:ext cx="16071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D44545"/>
                  </a:solidFill>
                  <a:latin typeface="Arial"/>
                  <a:ea typeface="Arial"/>
                  <a:cs typeface="Arial"/>
                  <a:sym typeface="Arial"/>
                </a:rPr>
                <a:t>访客 5 秒后的疑问：</a:t>
              </a:r>
              <a:endParaRPr sz="1100"/>
            </a:p>
          </p:txBody>
        </p:sp>
        <p:sp>
          <p:nvSpPr>
            <p:cNvPr id="645" name="Google Shape;645;p33"/>
            <p:cNvSpPr txBox="1"/>
            <p:nvPr/>
          </p:nvSpPr>
          <p:spPr>
            <a:xfrm>
              <a:off x="1014412" y="5174456"/>
              <a:ext cx="1646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· 你到底是做什么的？</a:t>
              </a:r>
              <a:endParaRPr sz="1100"/>
            </a:p>
          </p:txBody>
        </p:sp>
        <p:sp>
          <p:nvSpPr>
            <p:cNvPr id="646" name="Google Shape;646;p33"/>
            <p:cNvSpPr txBox="1"/>
            <p:nvPr/>
          </p:nvSpPr>
          <p:spPr>
            <a:xfrm>
              <a:off x="1014412" y="5384006"/>
              <a:ext cx="1646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· 这跟我有什么关系？</a:t>
              </a:r>
              <a:endParaRPr sz="1100"/>
            </a:p>
          </p:txBody>
        </p:sp>
        <p:sp>
          <p:nvSpPr>
            <p:cNvPr id="647" name="Google Shape;647;p33"/>
            <p:cNvSpPr txBox="1"/>
            <p:nvPr/>
          </p:nvSpPr>
          <p:spPr>
            <a:xfrm>
              <a:off x="1014412" y="5593556"/>
              <a:ext cx="1646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· 我为什么要留下来？</a:t>
              </a:r>
              <a:endParaRPr sz="1100"/>
            </a:p>
          </p:txBody>
        </p:sp>
      </p:grpSp>
      <p:grpSp>
        <p:nvGrpSpPr>
          <p:cNvPr id="648" name="Google Shape;648;p33"/>
          <p:cNvGrpSpPr/>
          <p:nvPr/>
        </p:nvGrpSpPr>
        <p:grpSpPr>
          <a:xfrm>
            <a:off x="4743450" y="1443038"/>
            <a:ext cx="3971925" cy="3143250"/>
            <a:chOff x="6324600" y="1924050"/>
            <a:chExt cx="5295900" cy="4191000"/>
          </a:xfrm>
        </p:grpSpPr>
        <p:sp>
          <p:nvSpPr>
            <p:cNvPr id="649" name="Google Shape;649;p33"/>
            <p:cNvSpPr/>
            <p:nvPr/>
          </p:nvSpPr>
          <p:spPr>
            <a:xfrm>
              <a:off x="6324600" y="1924050"/>
              <a:ext cx="5295900" cy="4191000"/>
            </a:xfrm>
            <a:prstGeom prst="roundRect">
              <a:avLst>
                <a:gd fmla="val 4545" name="adj"/>
              </a:avLst>
            </a:prstGeom>
            <a:solidFill>
              <a:srgbClr val="EDF6F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3"/>
            <p:cNvSpPr/>
            <p:nvPr/>
          </p:nvSpPr>
          <p:spPr>
            <a:xfrm>
              <a:off x="7743825" y="1924050"/>
              <a:ext cx="2457450" cy="495300"/>
            </a:xfrm>
            <a:custGeom>
              <a:rect b="b" l="l" r="r" t="t"/>
              <a:pathLst>
                <a:path extrusionOk="0" h="495300" w="2457450">
                  <a:moveTo>
                    <a:pt x="228600" y="0"/>
                  </a:moveTo>
                  <a:lnTo>
                    <a:pt x="2228850" y="0"/>
                  </a:lnTo>
                  <a:cubicBezTo>
                    <a:pt x="2355102" y="0"/>
                    <a:pt x="2457450" y="102348"/>
                    <a:pt x="2457450" y="228600"/>
                  </a:cubicBezTo>
                  <a:lnTo>
                    <a:pt x="2457450" y="495300"/>
                  </a:lnTo>
                  <a:lnTo>
                    <a:pt x="0" y="495300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3"/>
            <p:cNvSpPr txBox="1"/>
            <p:nvPr/>
          </p:nvSpPr>
          <p:spPr>
            <a:xfrm>
              <a:off x="8221218" y="2146935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✔ 正例 — 一眼秒懂</a:t>
              </a:r>
              <a:endParaRPr sz="1100"/>
            </a:p>
          </p:txBody>
        </p:sp>
        <p:sp>
          <p:nvSpPr>
            <p:cNvPr id="652" name="Google Shape;652;p33"/>
            <p:cNvSpPr/>
            <p:nvPr/>
          </p:nvSpPr>
          <p:spPr>
            <a:xfrm>
              <a:off x="6515100" y="2571750"/>
              <a:ext cx="4914900" cy="20955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9525">
              <a:solidFill>
                <a:srgbClr val="C8E6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3"/>
            <p:cNvSpPr/>
            <p:nvPr/>
          </p:nvSpPr>
          <p:spPr>
            <a:xfrm>
              <a:off x="6515100" y="2571750"/>
              <a:ext cx="4914900" cy="361950"/>
            </a:xfrm>
            <a:prstGeom prst="roundRect">
              <a:avLst>
                <a:gd fmla="val 26316" name="adj"/>
              </a:avLst>
            </a:prstGeom>
            <a:solidFill>
              <a:srgbClr val="F9F9F9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3"/>
            <p:cNvSpPr/>
            <p:nvPr/>
          </p:nvSpPr>
          <p:spPr>
            <a:xfrm>
              <a:off x="6515100" y="2762250"/>
              <a:ext cx="4914900" cy="171450"/>
            </a:xfrm>
            <a:prstGeom prst="rect">
              <a:avLst/>
            </a:prstGeom>
            <a:solidFill>
              <a:srgbClr val="F9F9F9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3"/>
            <p:cNvSpPr txBox="1"/>
            <p:nvPr/>
          </p:nvSpPr>
          <p:spPr>
            <a:xfrm>
              <a:off x="6769418" y="2714149"/>
              <a:ext cx="6527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Austin AI</a:t>
              </a:r>
              <a:endParaRPr sz="1100"/>
            </a:p>
          </p:txBody>
        </p:sp>
        <p:sp>
          <p:nvSpPr>
            <p:cNvPr id="656" name="Google Shape;656;p33"/>
            <p:cNvSpPr txBox="1"/>
            <p:nvPr/>
          </p:nvSpPr>
          <p:spPr>
            <a:xfrm>
              <a:off x="10122218" y="2714149"/>
              <a:ext cx="964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课程 案例 联系</a:t>
              </a:r>
              <a:endParaRPr sz="1100"/>
            </a:p>
          </p:txBody>
        </p:sp>
        <p:sp>
          <p:nvSpPr>
            <p:cNvPr id="657" name="Google Shape;657;p33"/>
            <p:cNvSpPr txBox="1"/>
            <p:nvPr/>
          </p:nvSpPr>
          <p:spPr>
            <a:xfrm>
              <a:off x="8467546" y="3100864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帮北美华人</a:t>
              </a:r>
              <a:endParaRPr sz="1100"/>
            </a:p>
          </p:txBody>
        </p:sp>
        <p:sp>
          <p:nvSpPr>
            <p:cNvPr id="658" name="Google Shape;658;p33"/>
            <p:cNvSpPr txBox="1"/>
            <p:nvPr/>
          </p:nvSpPr>
          <p:spPr>
            <a:xfrm>
              <a:off x="7836980" y="3329464"/>
              <a:ext cx="22711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用 AI 工具找到更好的工作</a:t>
              </a:r>
              <a:endParaRPr sz="1100"/>
            </a:p>
          </p:txBody>
        </p:sp>
        <p:sp>
          <p:nvSpPr>
            <p:cNvPr id="659" name="Google Shape;659;p33"/>
            <p:cNvSpPr txBox="1"/>
            <p:nvPr/>
          </p:nvSpPr>
          <p:spPr>
            <a:xfrm>
              <a:off x="7774698" y="3609499"/>
              <a:ext cx="23957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免费公开课 · 付费实战营 · Demo Day</a:t>
              </a:r>
              <a:endParaRPr sz="1100"/>
            </a:p>
          </p:txBody>
        </p:sp>
        <p:sp>
          <p:nvSpPr>
            <p:cNvPr id="660" name="Google Shape;660;p33"/>
            <p:cNvSpPr/>
            <p:nvPr/>
          </p:nvSpPr>
          <p:spPr>
            <a:xfrm>
              <a:off x="8210550" y="3886200"/>
              <a:ext cx="1524000" cy="342900"/>
            </a:xfrm>
            <a:prstGeom prst="roundRect">
              <a:avLst>
                <a:gd fmla="val 50000" name="adj"/>
              </a:avLst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3"/>
            <p:cNvSpPr txBox="1"/>
            <p:nvPr/>
          </p:nvSpPr>
          <p:spPr>
            <a:xfrm>
              <a:off x="8476155" y="399192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立即了解课程</a:t>
              </a:r>
              <a:endParaRPr sz="1100"/>
            </a:p>
          </p:txBody>
        </p:sp>
        <p:sp>
          <p:nvSpPr>
            <p:cNvPr id="662" name="Google Shape;662;p33"/>
            <p:cNvSpPr/>
            <p:nvPr/>
          </p:nvSpPr>
          <p:spPr>
            <a:xfrm>
              <a:off x="6515100" y="4800600"/>
              <a:ext cx="4914900" cy="1143000"/>
            </a:xfrm>
            <a:prstGeom prst="roundRect">
              <a:avLst>
                <a:gd fmla="val 8333" name="adj"/>
              </a:avLst>
            </a:prstGeom>
            <a:solidFill>
              <a:srgbClr val="EDF6F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3"/>
            <p:cNvSpPr txBox="1"/>
            <p:nvPr/>
          </p:nvSpPr>
          <p:spPr>
            <a:xfrm>
              <a:off x="6767512" y="4926806"/>
              <a:ext cx="1779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3A9E6A"/>
                  </a:solidFill>
                  <a:latin typeface="Arial"/>
                  <a:ea typeface="Arial"/>
                  <a:cs typeface="Arial"/>
                  <a:sym typeface="Arial"/>
                </a:rPr>
                <a:t>访客 5 秒后清楚知道：</a:t>
              </a:r>
              <a:endParaRPr sz="1100"/>
            </a:p>
          </p:txBody>
        </p:sp>
        <p:sp>
          <p:nvSpPr>
            <p:cNvPr id="664" name="Google Shape;664;p33"/>
            <p:cNvSpPr txBox="1"/>
            <p:nvPr/>
          </p:nvSpPr>
          <p:spPr>
            <a:xfrm>
              <a:off x="6767512" y="5174456"/>
              <a:ext cx="22138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✓ 这是 AI 课程，面向北美华人</a:t>
              </a:r>
              <a:endParaRPr sz="1100"/>
            </a:p>
          </p:txBody>
        </p:sp>
        <p:sp>
          <p:nvSpPr>
            <p:cNvPr id="665" name="Google Shape;665;p33"/>
            <p:cNvSpPr txBox="1"/>
            <p:nvPr/>
          </p:nvSpPr>
          <p:spPr>
            <a:xfrm>
              <a:off x="6767512" y="5384006"/>
              <a:ext cx="18112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✓ 能帮我找到更好的工作</a:t>
              </a:r>
              <a:endParaRPr sz="1100"/>
            </a:p>
          </p:txBody>
        </p:sp>
        <p:sp>
          <p:nvSpPr>
            <p:cNvPr id="666" name="Google Shape;666;p33"/>
            <p:cNvSpPr txBox="1"/>
            <p:nvPr/>
          </p:nvSpPr>
          <p:spPr>
            <a:xfrm>
              <a:off x="6767512" y="5593556"/>
              <a:ext cx="1646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✓ 有免费课可以先体验</a:t>
              </a:r>
              <a:endParaRPr sz="1100"/>
            </a:p>
          </p:txBody>
        </p:sp>
      </p:grpSp>
      <p:sp>
        <p:nvSpPr>
          <p:cNvPr id="667" name="Google Shape;667;p33"/>
          <p:cNvSpPr txBox="1"/>
          <p:nvPr/>
        </p:nvSpPr>
        <p:spPr>
          <a:xfrm>
            <a:off x="2831032" y="4901327"/>
            <a:ext cx="3481935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Brief 给 Claude Design 时第一句就要说清楚：谁 · 做什么 · 服务谁</a:t>
            </a:r>
            <a:endParaRPr sz="1100"/>
          </a:p>
        </p:txBody>
      </p:sp>
      <p:sp>
        <p:nvSpPr>
          <p:cNvPr id="668" name="Google Shape;668;p33"/>
          <p:cNvSpPr txBox="1"/>
          <p:nvPr/>
        </p:nvSpPr>
        <p:spPr>
          <a:xfrm>
            <a:off x="8320076" y="4901327"/>
            <a:ext cx="40530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09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34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5" name="Google Shape;675;p34"/>
          <p:cNvGrpSpPr/>
          <p:nvPr/>
        </p:nvGrpSpPr>
        <p:grpSpPr>
          <a:xfrm>
            <a:off x="545782" y="267176"/>
            <a:ext cx="8026718" cy="582930"/>
            <a:chOff x="727710" y="356235"/>
            <a:chExt cx="10702290" cy="777240"/>
          </a:xfrm>
        </p:grpSpPr>
        <p:sp>
          <p:nvSpPr>
            <p:cNvPr id="676" name="Google Shape;676;p34"/>
            <p:cNvSpPr txBox="1"/>
            <p:nvPr/>
          </p:nvSpPr>
          <p:spPr>
            <a:xfrm>
              <a:off x="727710" y="356235"/>
              <a:ext cx="4623149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网站信息结构：五层模型</a:t>
              </a:r>
              <a:endParaRPr sz="1100"/>
            </a:p>
          </p:txBody>
        </p:sp>
        <p:sp>
          <p:nvSpPr>
            <p:cNvPr id="677" name="Google Shape;677;p34"/>
            <p:cNvSpPr txBox="1"/>
            <p:nvPr/>
          </p:nvSpPr>
          <p:spPr>
            <a:xfrm>
              <a:off x="741045" y="774382"/>
              <a:ext cx="46567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访客视角从上到下 · 每层解决一个核心问题</a:t>
              </a:r>
              <a:endParaRPr sz="1100"/>
            </a:p>
          </p:txBody>
        </p:sp>
        <p:sp>
          <p:nvSpPr>
            <p:cNvPr id="678" name="Google Shape;678;p34"/>
            <p:cNvSpPr/>
            <p:nvPr/>
          </p:nvSpPr>
          <p:spPr>
            <a:xfrm>
              <a:off x="762000" y="1123950"/>
              <a:ext cx="10668000" cy="9525"/>
            </a:xfrm>
            <a:custGeom>
              <a:rect b="b" l="l" r="r" t="t"/>
              <a:pathLst>
                <a:path extrusionOk="0" h="9525" w="10668000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cap="flat" cmpd="sng" w="1427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sp>
        <p:nvSpPr>
          <p:cNvPr id="679" name="Google Shape;679;p34"/>
          <p:cNvSpPr/>
          <p:nvPr/>
        </p:nvSpPr>
        <p:spPr>
          <a:xfrm>
            <a:off x="1257300" y="1000125"/>
            <a:ext cx="7144" cy="3714750"/>
          </a:xfrm>
          <a:custGeom>
            <a:rect b="b" l="l" r="r" t="t"/>
            <a:pathLst>
              <a:path extrusionOk="0" h="4953000" w="9525">
                <a:moveTo>
                  <a:pt x="0" y="0"/>
                </a:moveTo>
                <a:lnTo>
                  <a:pt x="0" y="4953000"/>
                </a:lnTo>
              </a:path>
            </a:pathLst>
          </a:custGeom>
          <a:noFill/>
          <a:ln cap="rnd" cmpd="sng" w="285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p34"/>
          <p:cNvSpPr/>
          <p:nvPr/>
        </p:nvSpPr>
        <p:spPr>
          <a:xfrm>
            <a:off x="1200150" y="4672013"/>
            <a:ext cx="114300" cy="100013"/>
          </a:xfrm>
          <a:custGeom>
            <a:rect b="b" l="l" r="r" t="t"/>
            <a:pathLst>
              <a:path extrusionOk="0" h="133350" w="152400">
                <a:moveTo>
                  <a:pt x="76200" y="133350"/>
                </a:moveTo>
                <a:lnTo>
                  <a:pt x="152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96133">
              <a:alpha val="50196"/>
            </a:srgbClr>
          </a:solidFill>
          <a:ln>
            <a:noFill/>
          </a:ln>
        </p:spPr>
      </p:sp>
      <p:grpSp>
        <p:nvGrpSpPr>
          <p:cNvPr id="681" name="Google Shape;681;p34"/>
          <p:cNvGrpSpPr/>
          <p:nvPr/>
        </p:nvGrpSpPr>
        <p:grpSpPr>
          <a:xfrm>
            <a:off x="1057275" y="1000125"/>
            <a:ext cx="7658100" cy="457200"/>
            <a:chOff x="1409700" y="1333500"/>
            <a:chExt cx="10210800" cy="609600"/>
          </a:xfrm>
        </p:grpSpPr>
        <p:sp>
          <p:nvSpPr>
            <p:cNvPr id="682" name="Google Shape;682;p34"/>
            <p:cNvSpPr/>
            <p:nvPr/>
          </p:nvSpPr>
          <p:spPr>
            <a:xfrm>
              <a:off x="1409700" y="1371600"/>
              <a:ext cx="533400" cy="533400"/>
            </a:xfrm>
            <a:prstGeom prst="ellipse">
              <a:avLst/>
            </a:prstGeom>
            <a:solidFill>
              <a:srgbClr val="C96133">
                <a:alpha val="14901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4"/>
            <p:cNvSpPr/>
            <p:nvPr/>
          </p:nvSpPr>
          <p:spPr>
            <a:xfrm>
              <a:off x="1485900" y="1447800"/>
              <a:ext cx="381000" cy="381000"/>
            </a:xfrm>
            <a:prstGeom prst="ellipse">
              <a:avLst/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4"/>
            <p:cNvSpPr txBox="1"/>
            <p:nvPr/>
          </p:nvSpPr>
          <p:spPr>
            <a:xfrm>
              <a:off x="1600472" y="1599724"/>
              <a:ext cx="1518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1100"/>
            </a:p>
          </p:txBody>
        </p:sp>
        <p:sp>
          <p:nvSpPr>
            <p:cNvPr id="685" name="Google Shape;685;p34"/>
            <p:cNvSpPr/>
            <p:nvPr/>
          </p:nvSpPr>
          <p:spPr>
            <a:xfrm>
              <a:off x="1943100" y="1638300"/>
              <a:ext cx="342900" cy="9525"/>
            </a:xfrm>
            <a:custGeom>
              <a:rect b="b" l="l" r="r" t="t"/>
              <a:pathLst>
                <a:path extrusionOk="0" h="9525" w="342900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cap="flat" cmpd="sng" w="19050">
              <a:solidFill>
                <a:srgbClr val="C96133">
                  <a:alpha val="60000"/>
                </a:srgbClr>
              </a:solidFill>
              <a:prstDash val="dashDot"/>
              <a:round/>
              <a:headEnd len="sm" w="sm" type="none"/>
              <a:tailEnd len="sm" w="sm" type="none"/>
            </a:ln>
          </p:spPr>
        </p:sp>
        <p:sp>
          <p:nvSpPr>
            <p:cNvPr id="686" name="Google Shape;686;p34"/>
            <p:cNvSpPr/>
            <p:nvPr/>
          </p:nvSpPr>
          <p:spPr>
            <a:xfrm>
              <a:off x="2286000" y="1333500"/>
              <a:ext cx="9334500" cy="609600"/>
            </a:xfrm>
            <a:prstGeom prst="roundRect">
              <a:avLst>
                <a:gd fmla="val 15625" name="adj"/>
              </a:avLst>
            </a:prstGeom>
            <a:solidFill>
              <a:srgbClr val="FFFFFF"/>
            </a:solidFill>
            <a:ln cap="flat" cmpd="sng" w="1427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4"/>
            <p:cNvSpPr/>
            <p:nvPr/>
          </p:nvSpPr>
          <p:spPr>
            <a:xfrm>
              <a:off x="2286000" y="1333500"/>
              <a:ext cx="47625" cy="609600"/>
            </a:xfrm>
            <a:prstGeom prst="roundRect">
              <a:avLst>
                <a:gd fmla="val 40000" name="adj"/>
              </a:avLst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4"/>
            <p:cNvSpPr txBox="1"/>
            <p:nvPr/>
          </p:nvSpPr>
          <p:spPr>
            <a:xfrm>
              <a:off x="2533650" y="1409700"/>
              <a:ext cx="8432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Hero 区</a:t>
              </a:r>
              <a:endParaRPr sz="1100"/>
            </a:p>
          </p:txBody>
        </p:sp>
        <p:sp>
          <p:nvSpPr>
            <p:cNvPr id="689" name="Google Shape;689;p34"/>
            <p:cNvSpPr txBox="1"/>
            <p:nvPr/>
          </p:nvSpPr>
          <p:spPr>
            <a:xfrm>
              <a:off x="2537460" y="1661160"/>
              <a:ext cx="46047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一句话价值主张 + 核心受众 + 最强 CTA。5 秒法则的战场。</a:t>
              </a:r>
              <a:endParaRPr sz="1100"/>
            </a:p>
          </p:txBody>
        </p:sp>
        <p:sp>
          <p:nvSpPr>
            <p:cNvPr id="690" name="Google Shape;690;p34"/>
            <p:cNvSpPr txBox="1"/>
            <p:nvPr/>
          </p:nvSpPr>
          <p:spPr>
            <a:xfrm>
              <a:off x="10344874" y="1359218"/>
              <a:ext cx="1121321" cy="579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1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HERO</a:t>
              </a:r>
              <a:endParaRPr sz="1100"/>
            </a:p>
          </p:txBody>
        </p:sp>
        <p:sp>
          <p:nvSpPr>
            <p:cNvPr id="691" name="Google Shape;691;p34"/>
            <p:cNvSpPr/>
            <p:nvPr/>
          </p:nvSpPr>
          <p:spPr>
            <a:xfrm>
              <a:off x="8458200" y="1428750"/>
              <a:ext cx="914400" cy="228600"/>
            </a:xfrm>
            <a:prstGeom prst="roundRect">
              <a:avLst>
                <a:gd fmla="val 50000" name="adj"/>
              </a:avLst>
            </a:prstGeom>
            <a:solidFill>
              <a:srgbClr val="F0EDE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4"/>
            <p:cNvSpPr txBox="1"/>
            <p:nvPr/>
          </p:nvSpPr>
          <p:spPr>
            <a:xfrm>
              <a:off x="8529221" y="148542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最高优先级</a:t>
              </a:r>
              <a:endParaRPr sz="1100"/>
            </a:p>
          </p:txBody>
        </p:sp>
      </p:grpSp>
      <p:grpSp>
        <p:nvGrpSpPr>
          <p:cNvPr id="693" name="Google Shape;693;p34"/>
          <p:cNvGrpSpPr/>
          <p:nvPr/>
        </p:nvGrpSpPr>
        <p:grpSpPr>
          <a:xfrm>
            <a:off x="1057275" y="1643063"/>
            <a:ext cx="7658100" cy="457200"/>
            <a:chOff x="1409700" y="2190750"/>
            <a:chExt cx="10210800" cy="609600"/>
          </a:xfrm>
        </p:grpSpPr>
        <p:sp>
          <p:nvSpPr>
            <p:cNvPr id="694" name="Google Shape;694;p34"/>
            <p:cNvSpPr/>
            <p:nvPr/>
          </p:nvSpPr>
          <p:spPr>
            <a:xfrm>
              <a:off x="1409700" y="2228850"/>
              <a:ext cx="533400" cy="533400"/>
            </a:xfrm>
            <a:prstGeom prst="ellipse">
              <a:avLst/>
            </a:prstGeom>
            <a:solidFill>
              <a:srgbClr val="D44545">
                <a:alpha val="1215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4"/>
            <p:cNvSpPr/>
            <p:nvPr/>
          </p:nvSpPr>
          <p:spPr>
            <a:xfrm>
              <a:off x="1485900" y="2305050"/>
              <a:ext cx="381000" cy="381000"/>
            </a:xfrm>
            <a:prstGeom prst="ellipse">
              <a:avLst/>
            </a:prstGeom>
            <a:solidFill>
              <a:srgbClr val="D4454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4"/>
            <p:cNvSpPr txBox="1"/>
            <p:nvPr/>
          </p:nvSpPr>
          <p:spPr>
            <a:xfrm>
              <a:off x="1581782" y="2456974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1100"/>
            </a:p>
          </p:txBody>
        </p:sp>
        <p:sp>
          <p:nvSpPr>
            <p:cNvPr id="697" name="Google Shape;697;p34"/>
            <p:cNvSpPr/>
            <p:nvPr/>
          </p:nvSpPr>
          <p:spPr>
            <a:xfrm>
              <a:off x="1943100" y="2495550"/>
              <a:ext cx="342900" cy="9525"/>
            </a:xfrm>
            <a:custGeom>
              <a:rect b="b" l="l" r="r" t="t"/>
              <a:pathLst>
                <a:path extrusionOk="0" h="9525" w="342900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cap="flat" cmpd="sng" w="19050">
              <a:solidFill>
                <a:srgbClr val="D44545">
                  <a:alpha val="60000"/>
                </a:srgbClr>
              </a:solidFill>
              <a:prstDash val="dashDot"/>
              <a:round/>
              <a:headEnd len="sm" w="sm" type="none"/>
              <a:tailEnd len="sm" w="sm" type="none"/>
            </a:ln>
          </p:spPr>
        </p:sp>
        <p:sp>
          <p:nvSpPr>
            <p:cNvPr id="698" name="Google Shape;698;p34"/>
            <p:cNvSpPr/>
            <p:nvPr/>
          </p:nvSpPr>
          <p:spPr>
            <a:xfrm>
              <a:off x="2286000" y="2190750"/>
              <a:ext cx="9334500" cy="609600"/>
            </a:xfrm>
            <a:prstGeom prst="roundRect">
              <a:avLst>
                <a:gd fmla="val 15625" name="adj"/>
              </a:avLst>
            </a:prstGeom>
            <a:solidFill>
              <a:srgbClr val="FFFFFF"/>
            </a:solidFill>
            <a:ln cap="flat" cmpd="sng" w="1427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4"/>
            <p:cNvSpPr/>
            <p:nvPr/>
          </p:nvSpPr>
          <p:spPr>
            <a:xfrm>
              <a:off x="2286000" y="2190750"/>
              <a:ext cx="47625" cy="609600"/>
            </a:xfrm>
            <a:prstGeom prst="roundRect">
              <a:avLst>
                <a:gd fmla="val 40000" name="adj"/>
              </a:avLst>
            </a:prstGeom>
            <a:solidFill>
              <a:srgbClr val="D4454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4"/>
            <p:cNvSpPr txBox="1"/>
            <p:nvPr/>
          </p:nvSpPr>
          <p:spPr>
            <a:xfrm>
              <a:off x="2533650" y="2266950"/>
              <a:ext cx="12227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问题 / 痛点</a:t>
              </a:r>
              <a:endParaRPr sz="1100"/>
            </a:p>
          </p:txBody>
        </p:sp>
        <p:sp>
          <p:nvSpPr>
            <p:cNvPr id="701" name="Google Shape;701;p34"/>
            <p:cNvSpPr txBox="1"/>
            <p:nvPr/>
          </p:nvSpPr>
          <p:spPr>
            <a:xfrm>
              <a:off x="2537460" y="2518410"/>
              <a:ext cx="47800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用访客自己的语言描述他的痛点，让他感到"这就是在说我"。</a:t>
              </a:r>
              <a:endParaRPr sz="1100"/>
            </a:p>
          </p:txBody>
        </p:sp>
        <p:sp>
          <p:nvSpPr>
            <p:cNvPr id="702" name="Google Shape;702;p34"/>
            <p:cNvSpPr txBox="1"/>
            <p:nvPr/>
          </p:nvSpPr>
          <p:spPr>
            <a:xfrm>
              <a:off x="10541548" y="2216468"/>
              <a:ext cx="924647" cy="579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100" u="none" cap="none" strike="noStrike">
                  <a:solidFill>
                    <a:srgbClr val="D44545"/>
                  </a:solidFill>
                  <a:latin typeface="Arial"/>
                  <a:ea typeface="Arial"/>
                  <a:cs typeface="Arial"/>
                  <a:sym typeface="Arial"/>
                </a:rPr>
                <a:t>PAIN</a:t>
              </a:r>
              <a:endParaRPr sz="1100"/>
            </a:p>
          </p:txBody>
        </p:sp>
      </p:grpSp>
      <p:grpSp>
        <p:nvGrpSpPr>
          <p:cNvPr id="703" name="Google Shape;703;p34"/>
          <p:cNvGrpSpPr/>
          <p:nvPr/>
        </p:nvGrpSpPr>
        <p:grpSpPr>
          <a:xfrm>
            <a:off x="1057275" y="2286000"/>
            <a:ext cx="7658100" cy="457200"/>
            <a:chOff x="1409700" y="3048000"/>
            <a:chExt cx="10210800" cy="609600"/>
          </a:xfrm>
        </p:grpSpPr>
        <p:sp>
          <p:nvSpPr>
            <p:cNvPr id="704" name="Google Shape;704;p34"/>
            <p:cNvSpPr/>
            <p:nvPr/>
          </p:nvSpPr>
          <p:spPr>
            <a:xfrm>
              <a:off x="1409700" y="3086100"/>
              <a:ext cx="533400" cy="533400"/>
            </a:xfrm>
            <a:prstGeom prst="ellipse">
              <a:avLst/>
            </a:prstGeom>
            <a:solidFill>
              <a:srgbClr val="3D7DE4">
                <a:alpha val="1215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4"/>
            <p:cNvSpPr/>
            <p:nvPr/>
          </p:nvSpPr>
          <p:spPr>
            <a:xfrm>
              <a:off x="1485900" y="3162300"/>
              <a:ext cx="381000" cy="381000"/>
            </a:xfrm>
            <a:prstGeom prst="ellipse">
              <a:avLst/>
            </a:prstGeom>
            <a:solidFill>
              <a:srgbClr val="3D7D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4"/>
            <p:cNvSpPr txBox="1"/>
            <p:nvPr/>
          </p:nvSpPr>
          <p:spPr>
            <a:xfrm>
              <a:off x="1581782" y="3314224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1100"/>
            </a:p>
          </p:txBody>
        </p:sp>
        <p:sp>
          <p:nvSpPr>
            <p:cNvPr id="707" name="Google Shape;707;p34"/>
            <p:cNvSpPr/>
            <p:nvPr/>
          </p:nvSpPr>
          <p:spPr>
            <a:xfrm>
              <a:off x="1943100" y="3352800"/>
              <a:ext cx="342900" cy="9525"/>
            </a:xfrm>
            <a:custGeom>
              <a:rect b="b" l="l" r="r" t="t"/>
              <a:pathLst>
                <a:path extrusionOk="0" h="9525" w="342900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cap="flat" cmpd="sng" w="19050">
              <a:solidFill>
                <a:srgbClr val="3D7DE4">
                  <a:alpha val="60000"/>
                </a:srgbClr>
              </a:solidFill>
              <a:prstDash val="dashDot"/>
              <a:round/>
              <a:headEnd len="sm" w="sm" type="none"/>
              <a:tailEnd len="sm" w="sm" type="none"/>
            </a:ln>
          </p:spPr>
        </p:sp>
        <p:sp>
          <p:nvSpPr>
            <p:cNvPr id="708" name="Google Shape;708;p34"/>
            <p:cNvSpPr/>
            <p:nvPr/>
          </p:nvSpPr>
          <p:spPr>
            <a:xfrm>
              <a:off x="2286000" y="3048000"/>
              <a:ext cx="9334500" cy="609600"/>
            </a:xfrm>
            <a:prstGeom prst="roundRect">
              <a:avLst>
                <a:gd fmla="val 15625" name="adj"/>
              </a:avLst>
            </a:prstGeom>
            <a:solidFill>
              <a:srgbClr val="FFFFFF"/>
            </a:solidFill>
            <a:ln cap="flat" cmpd="sng" w="1427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4"/>
            <p:cNvSpPr/>
            <p:nvPr/>
          </p:nvSpPr>
          <p:spPr>
            <a:xfrm>
              <a:off x="2286000" y="3048000"/>
              <a:ext cx="47625" cy="609600"/>
            </a:xfrm>
            <a:prstGeom prst="roundRect">
              <a:avLst>
                <a:gd fmla="val 40000" name="adj"/>
              </a:avLst>
            </a:prstGeom>
            <a:solidFill>
              <a:srgbClr val="3D7D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4"/>
            <p:cNvSpPr txBox="1"/>
            <p:nvPr/>
          </p:nvSpPr>
          <p:spPr>
            <a:xfrm>
              <a:off x="2533650" y="31242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解决方案</a:t>
              </a:r>
              <a:endParaRPr sz="1100"/>
            </a:p>
          </p:txBody>
        </p:sp>
        <p:sp>
          <p:nvSpPr>
            <p:cNvPr id="711" name="Google Shape;711;p34"/>
            <p:cNvSpPr txBox="1"/>
            <p:nvPr/>
          </p:nvSpPr>
          <p:spPr>
            <a:xfrm>
              <a:off x="2537460" y="3375660"/>
              <a:ext cx="49640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展示你的产品 / 服务如何解决上面的痛点，聚焦结果而非功能。</a:t>
              </a:r>
              <a:endParaRPr sz="1100"/>
            </a:p>
          </p:txBody>
        </p:sp>
        <p:sp>
          <p:nvSpPr>
            <p:cNvPr id="712" name="Google Shape;712;p34"/>
            <p:cNvSpPr txBox="1"/>
            <p:nvPr/>
          </p:nvSpPr>
          <p:spPr>
            <a:xfrm>
              <a:off x="9405206" y="3073718"/>
              <a:ext cx="2060989" cy="579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100" u="none" cap="none" strike="noStrike">
                  <a:solidFill>
                    <a:srgbClr val="3D7DE4"/>
                  </a:solidFill>
                  <a:latin typeface="Arial"/>
                  <a:ea typeface="Arial"/>
                  <a:cs typeface="Arial"/>
                  <a:sym typeface="Arial"/>
                </a:rPr>
                <a:t>SOLUTION</a:t>
              </a:r>
              <a:endParaRPr sz="1100"/>
            </a:p>
          </p:txBody>
        </p:sp>
      </p:grpSp>
      <p:grpSp>
        <p:nvGrpSpPr>
          <p:cNvPr id="713" name="Google Shape;713;p34"/>
          <p:cNvGrpSpPr/>
          <p:nvPr/>
        </p:nvGrpSpPr>
        <p:grpSpPr>
          <a:xfrm>
            <a:off x="1057275" y="2928938"/>
            <a:ext cx="7658100" cy="457200"/>
            <a:chOff x="1409700" y="3905250"/>
            <a:chExt cx="10210800" cy="609600"/>
          </a:xfrm>
        </p:grpSpPr>
        <p:sp>
          <p:nvSpPr>
            <p:cNvPr id="714" name="Google Shape;714;p34"/>
            <p:cNvSpPr/>
            <p:nvPr/>
          </p:nvSpPr>
          <p:spPr>
            <a:xfrm>
              <a:off x="1409700" y="3943350"/>
              <a:ext cx="533400" cy="533400"/>
            </a:xfrm>
            <a:prstGeom prst="ellipse">
              <a:avLst/>
            </a:prstGeom>
            <a:solidFill>
              <a:srgbClr val="9E9E9E">
                <a:alpha val="2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4"/>
            <p:cNvSpPr/>
            <p:nvPr/>
          </p:nvSpPr>
          <p:spPr>
            <a:xfrm>
              <a:off x="1485900" y="4019550"/>
              <a:ext cx="381000" cy="381000"/>
            </a:xfrm>
            <a:prstGeom prst="ellipse">
              <a:avLst/>
            </a:prstGeom>
            <a:solidFill>
              <a:srgbClr val="5A5A5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4"/>
            <p:cNvSpPr txBox="1"/>
            <p:nvPr/>
          </p:nvSpPr>
          <p:spPr>
            <a:xfrm>
              <a:off x="1581782" y="4171474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1100"/>
            </a:p>
          </p:txBody>
        </p:sp>
        <p:sp>
          <p:nvSpPr>
            <p:cNvPr id="717" name="Google Shape;717;p34"/>
            <p:cNvSpPr/>
            <p:nvPr/>
          </p:nvSpPr>
          <p:spPr>
            <a:xfrm>
              <a:off x="1943100" y="4210050"/>
              <a:ext cx="342900" cy="9525"/>
            </a:xfrm>
            <a:custGeom>
              <a:rect b="b" l="l" r="r" t="t"/>
              <a:pathLst>
                <a:path extrusionOk="0" h="9525" w="342900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cap="flat" cmpd="sng" w="19050">
              <a:solidFill>
                <a:srgbClr val="5A5A5A">
                  <a:alpha val="40000"/>
                </a:srgbClr>
              </a:solidFill>
              <a:prstDash val="dashDot"/>
              <a:round/>
              <a:headEnd len="sm" w="sm" type="none"/>
              <a:tailEnd len="sm" w="sm" type="none"/>
            </a:ln>
          </p:spPr>
        </p:sp>
        <p:sp>
          <p:nvSpPr>
            <p:cNvPr id="718" name="Google Shape;718;p34"/>
            <p:cNvSpPr/>
            <p:nvPr/>
          </p:nvSpPr>
          <p:spPr>
            <a:xfrm>
              <a:off x="2286000" y="3905250"/>
              <a:ext cx="9334500" cy="609600"/>
            </a:xfrm>
            <a:prstGeom prst="roundRect">
              <a:avLst>
                <a:gd fmla="val 15625" name="adj"/>
              </a:avLst>
            </a:prstGeom>
            <a:solidFill>
              <a:srgbClr val="FFFFFF"/>
            </a:solidFill>
            <a:ln cap="flat" cmpd="sng" w="1427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4"/>
            <p:cNvSpPr/>
            <p:nvPr/>
          </p:nvSpPr>
          <p:spPr>
            <a:xfrm>
              <a:off x="2286000" y="3905250"/>
              <a:ext cx="47625" cy="609600"/>
            </a:xfrm>
            <a:prstGeom prst="roundRect">
              <a:avLst>
                <a:gd fmla="val 40000" name="adj"/>
              </a:avLst>
            </a:prstGeom>
            <a:solidFill>
              <a:srgbClr val="5A5A5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4"/>
            <p:cNvSpPr txBox="1"/>
            <p:nvPr/>
          </p:nvSpPr>
          <p:spPr>
            <a:xfrm>
              <a:off x="2533650" y="39814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社会证明</a:t>
              </a:r>
              <a:endParaRPr sz="1100"/>
            </a:p>
          </p:txBody>
        </p:sp>
        <p:sp>
          <p:nvSpPr>
            <p:cNvPr id="721" name="Google Shape;721;p34"/>
            <p:cNvSpPr txBox="1"/>
            <p:nvPr/>
          </p:nvSpPr>
          <p:spPr>
            <a:xfrm>
              <a:off x="2537460" y="4232910"/>
              <a:ext cx="47800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学员评价、案例数据、媒体背书。让访客看到"别人也在用"。</a:t>
              </a:r>
              <a:endParaRPr sz="1100"/>
            </a:p>
          </p:txBody>
        </p:sp>
        <p:sp>
          <p:nvSpPr>
            <p:cNvPr id="722" name="Google Shape;722;p34"/>
            <p:cNvSpPr txBox="1"/>
            <p:nvPr/>
          </p:nvSpPr>
          <p:spPr>
            <a:xfrm>
              <a:off x="10017083" y="3930968"/>
              <a:ext cx="1449112" cy="579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1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PROOF</a:t>
              </a:r>
              <a:endParaRPr sz="1100"/>
            </a:p>
          </p:txBody>
        </p:sp>
      </p:grpSp>
      <p:grpSp>
        <p:nvGrpSpPr>
          <p:cNvPr id="723" name="Google Shape;723;p34"/>
          <p:cNvGrpSpPr/>
          <p:nvPr/>
        </p:nvGrpSpPr>
        <p:grpSpPr>
          <a:xfrm>
            <a:off x="1057275" y="3571875"/>
            <a:ext cx="7658100" cy="457200"/>
            <a:chOff x="1409700" y="4762500"/>
            <a:chExt cx="10210800" cy="609600"/>
          </a:xfrm>
        </p:grpSpPr>
        <p:sp>
          <p:nvSpPr>
            <p:cNvPr id="724" name="Google Shape;724;p34"/>
            <p:cNvSpPr/>
            <p:nvPr/>
          </p:nvSpPr>
          <p:spPr>
            <a:xfrm>
              <a:off x="1409700" y="4800600"/>
              <a:ext cx="533400" cy="533400"/>
            </a:xfrm>
            <a:prstGeom prst="ellipse">
              <a:avLst/>
            </a:prstGeom>
            <a:solidFill>
              <a:srgbClr val="3A9E6A">
                <a:alpha val="14901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4"/>
            <p:cNvSpPr/>
            <p:nvPr/>
          </p:nvSpPr>
          <p:spPr>
            <a:xfrm>
              <a:off x="1485900" y="4876800"/>
              <a:ext cx="381000" cy="381000"/>
            </a:xfrm>
            <a:prstGeom prst="ellipse">
              <a:avLst/>
            </a:pr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4"/>
            <p:cNvSpPr txBox="1"/>
            <p:nvPr/>
          </p:nvSpPr>
          <p:spPr>
            <a:xfrm>
              <a:off x="1581782" y="5028724"/>
              <a:ext cx="1892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sz="1100"/>
            </a:p>
          </p:txBody>
        </p:sp>
        <p:sp>
          <p:nvSpPr>
            <p:cNvPr id="727" name="Google Shape;727;p34"/>
            <p:cNvSpPr/>
            <p:nvPr/>
          </p:nvSpPr>
          <p:spPr>
            <a:xfrm>
              <a:off x="1943100" y="5067300"/>
              <a:ext cx="342900" cy="9525"/>
            </a:xfrm>
            <a:custGeom>
              <a:rect b="b" l="l" r="r" t="t"/>
              <a:pathLst>
                <a:path extrusionOk="0" h="9525" w="342900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cap="flat" cmpd="sng" w="19050">
              <a:solidFill>
                <a:srgbClr val="3A9E6A">
                  <a:alpha val="60000"/>
                </a:srgbClr>
              </a:solidFill>
              <a:prstDash val="dashDot"/>
              <a:round/>
              <a:headEnd len="sm" w="sm" type="none"/>
              <a:tailEnd len="sm" w="sm" type="none"/>
            </a:ln>
          </p:spPr>
        </p:sp>
        <p:sp>
          <p:nvSpPr>
            <p:cNvPr id="728" name="Google Shape;728;p34"/>
            <p:cNvSpPr/>
            <p:nvPr/>
          </p:nvSpPr>
          <p:spPr>
            <a:xfrm>
              <a:off x="2286000" y="4762500"/>
              <a:ext cx="9334500" cy="609600"/>
            </a:xfrm>
            <a:prstGeom prst="roundRect">
              <a:avLst>
                <a:gd fmla="val 15625" name="adj"/>
              </a:avLst>
            </a:prstGeom>
            <a:solidFill>
              <a:srgbClr val="FFFFFF"/>
            </a:solidFill>
            <a:ln cap="flat" cmpd="sng" w="1427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4"/>
            <p:cNvSpPr/>
            <p:nvPr/>
          </p:nvSpPr>
          <p:spPr>
            <a:xfrm>
              <a:off x="2286000" y="4762500"/>
              <a:ext cx="47625" cy="609600"/>
            </a:xfrm>
            <a:prstGeom prst="roundRect">
              <a:avLst>
                <a:gd fmla="val 40000" name="adj"/>
              </a:avLst>
            </a:pr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4"/>
            <p:cNvSpPr txBox="1"/>
            <p:nvPr/>
          </p:nvSpPr>
          <p:spPr>
            <a:xfrm>
              <a:off x="2533650" y="4838700"/>
              <a:ext cx="14067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行动号召 CTA</a:t>
              </a:r>
              <a:endParaRPr sz="1100"/>
            </a:p>
          </p:txBody>
        </p:sp>
        <p:sp>
          <p:nvSpPr>
            <p:cNvPr id="731" name="Google Shape;731;p34"/>
            <p:cNvSpPr txBox="1"/>
            <p:nvPr/>
          </p:nvSpPr>
          <p:spPr>
            <a:xfrm>
              <a:off x="2537460" y="5090160"/>
              <a:ext cx="51568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明确下一步行动：报名 / 下载 / 联系。一个页面只有一个主 CTA。</a:t>
              </a:r>
              <a:endParaRPr sz="1100"/>
            </a:p>
          </p:txBody>
        </p:sp>
        <p:sp>
          <p:nvSpPr>
            <p:cNvPr id="732" name="Google Shape;732;p34"/>
            <p:cNvSpPr txBox="1"/>
            <p:nvPr/>
          </p:nvSpPr>
          <p:spPr>
            <a:xfrm>
              <a:off x="10672665" y="4788218"/>
              <a:ext cx="793530" cy="579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100" u="none" cap="none" strike="noStrike">
                  <a:solidFill>
                    <a:srgbClr val="3A9E6A"/>
                  </a:solidFill>
                  <a:latin typeface="Arial"/>
                  <a:ea typeface="Arial"/>
                  <a:cs typeface="Arial"/>
                  <a:sym typeface="Arial"/>
                </a:rPr>
                <a:t>CTA</a:t>
              </a:r>
              <a:endParaRPr sz="1100"/>
            </a:p>
          </p:txBody>
        </p:sp>
        <p:sp>
          <p:nvSpPr>
            <p:cNvPr id="733" name="Google Shape;733;p34"/>
            <p:cNvSpPr/>
            <p:nvPr/>
          </p:nvSpPr>
          <p:spPr>
            <a:xfrm>
              <a:off x="8458200" y="4857750"/>
              <a:ext cx="914400" cy="228600"/>
            </a:xfrm>
            <a:prstGeom prst="roundRect">
              <a:avLst>
                <a:gd fmla="val 50000" name="adj"/>
              </a:avLst>
            </a:prstGeom>
            <a:solidFill>
              <a:srgbClr val="E8F5E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4"/>
            <p:cNvSpPr txBox="1"/>
            <p:nvPr/>
          </p:nvSpPr>
          <p:spPr>
            <a:xfrm>
              <a:off x="8603980" y="49144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3A9E6A"/>
                  </a:solidFill>
                  <a:latin typeface="Arial"/>
                  <a:ea typeface="Arial"/>
                  <a:cs typeface="Arial"/>
                  <a:sym typeface="Arial"/>
                </a:rPr>
                <a:t>转化关键</a:t>
              </a:r>
              <a:endParaRPr sz="1100"/>
            </a:p>
          </p:txBody>
        </p:sp>
      </p:grpSp>
      <p:sp>
        <p:nvSpPr>
          <p:cNvPr id="735" name="Google Shape;735;p34"/>
          <p:cNvSpPr/>
          <p:nvPr/>
        </p:nvSpPr>
        <p:spPr>
          <a:xfrm>
            <a:off x="1714500" y="4243388"/>
            <a:ext cx="7000875" cy="400050"/>
          </a:xfrm>
          <a:prstGeom prst="roundRect">
            <a:avLst>
              <a:gd fmla="val 17857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4"/>
          <p:cNvSpPr txBox="1"/>
          <p:nvPr/>
        </p:nvSpPr>
        <p:spPr>
          <a:xfrm>
            <a:off x="4868816" y="4331970"/>
            <a:ext cx="6922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💡 实操提示</a:t>
            </a:r>
            <a:endParaRPr sz="1100"/>
          </a:p>
        </p:txBody>
      </p:sp>
      <p:sp>
        <p:nvSpPr>
          <p:cNvPr id="737" name="Google Shape;737;p34"/>
          <p:cNvSpPr txBox="1"/>
          <p:nvPr/>
        </p:nvSpPr>
        <p:spPr>
          <a:xfrm>
            <a:off x="3041541" y="4488061"/>
            <a:ext cx="43467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把这 5 层结构直接写进给 Claude Design 的 brief — 它会自动按层排布页面内容</a:t>
            </a:r>
            <a:endParaRPr sz="1100"/>
          </a:p>
        </p:txBody>
      </p:sp>
      <p:sp>
        <p:nvSpPr>
          <p:cNvPr id="738" name="Google Shape;738;p34"/>
          <p:cNvSpPr txBox="1"/>
          <p:nvPr/>
        </p:nvSpPr>
        <p:spPr>
          <a:xfrm>
            <a:off x="8348829" y="4915614"/>
            <a:ext cx="376547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10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5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5" name="Google Shape;745;p35"/>
          <p:cNvGrpSpPr/>
          <p:nvPr/>
        </p:nvGrpSpPr>
        <p:grpSpPr>
          <a:xfrm>
            <a:off x="571500" y="267176"/>
            <a:ext cx="8001000" cy="597218"/>
            <a:chOff x="762000" y="356235"/>
            <a:chExt cx="10668000" cy="796290"/>
          </a:xfrm>
        </p:grpSpPr>
        <p:sp>
          <p:nvSpPr>
            <p:cNvPr id="746" name="Google Shape;746;p35"/>
            <p:cNvSpPr txBox="1"/>
            <p:nvPr/>
          </p:nvSpPr>
          <p:spPr>
            <a:xfrm>
              <a:off x="4819555" y="356235"/>
              <a:ext cx="255289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三个设计原则</a:t>
              </a:r>
              <a:endParaRPr sz="1100"/>
            </a:p>
          </p:txBody>
        </p:sp>
        <p:sp>
          <p:nvSpPr>
            <p:cNvPr id="747" name="Google Shape;747;p35"/>
            <p:cNvSpPr txBox="1"/>
            <p:nvPr/>
          </p:nvSpPr>
          <p:spPr>
            <a:xfrm>
              <a:off x="3809810" y="774382"/>
              <a:ext cx="4572381" cy="335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Brief 给 Claude Design 前，先记住这三条</a:t>
              </a:r>
              <a:endParaRPr sz="1100"/>
            </a:p>
          </p:txBody>
        </p:sp>
        <p:sp>
          <p:nvSpPr>
            <p:cNvPr id="748" name="Google Shape;748;p35"/>
            <p:cNvSpPr/>
            <p:nvPr/>
          </p:nvSpPr>
          <p:spPr>
            <a:xfrm>
              <a:off x="762000" y="1143000"/>
              <a:ext cx="10668000" cy="9525"/>
            </a:xfrm>
            <a:custGeom>
              <a:rect b="b" l="l" r="r" t="t"/>
              <a:pathLst>
                <a:path extrusionOk="0" h="9525" w="10668000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cap="flat" cmpd="sng" w="1427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749" name="Google Shape;749;p35"/>
          <p:cNvGrpSpPr/>
          <p:nvPr/>
        </p:nvGrpSpPr>
        <p:grpSpPr>
          <a:xfrm>
            <a:off x="428625" y="1057275"/>
            <a:ext cx="2571750" cy="3571875"/>
            <a:chOff x="571500" y="1409700"/>
            <a:chExt cx="3429000" cy="4762500"/>
          </a:xfrm>
        </p:grpSpPr>
        <p:sp>
          <p:nvSpPr>
            <p:cNvPr id="750" name="Google Shape;750;p35"/>
            <p:cNvSpPr/>
            <p:nvPr/>
          </p:nvSpPr>
          <p:spPr>
            <a:xfrm>
              <a:off x="571500" y="1409700"/>
              <a:ext cx="3429000" cy="4762500"/>
            </a:xfrm>
            <a:prstGeom prst="roundRect">
              <a:avLst>
                <a:gd fmla="val 5556" name="adj"/>
              </a:avLst>
            </a:prstGeom>
            <a:solidFill>
              <a:srgbClr val="F0EDE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5"/>
            <p:cNvSpPr/>
            <p:nvPr/>
          </p:nvSpPr>
          <p:spPr>
            <a:xfrm>
              <a:off x="1009650" y="1409700"/>
              <a:ext cx="2552700" cy="533400"/>
            </a:xfrm>
            <a:custGeom>
              <a:rect b="b" l="l" r="r" t="t"/>
              <a:pathLst>
                <a:path extrusionOk="0" h="533400" w="2552700">
                  <a:moveTo>
                    <a:pt x="228600" y="0"/>
                  </a:moveTo>
                  <a:lnTo>
                    <a:pt x="2324100" y="0"/>
                  </a:lnTo>
                  <a:cubicBezTo>
                    <a:pt x="2450352" y="0"/>
                    <a:pt x="2552700" y="102348"/>
                    <a:pt x="2552700" y="228600"/>
                  </a:cubicBezTo>
                  <a:lnTo>
                    <a:pt x="2552700" y="533400"/>
                  </a:lnTo>
                  <a:lnTo>
                    <a:pt x="0" y="533400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5"/>
            <p:cNvSpPr txBox="1"/>
            <p:nvPr/>
          </p:nvSpPr>
          <p:spPr>
            <a:xfrm>
              <a:off x="1999991" y="1516856"/>
              <a:ext cx="5720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原则 01</a:t>
              </a:r>
              <a:endParaRPr sz="1100"/>
            </a:p>
          </p:txBody>
        </p:sp>
        <p:sp>
          <p:nvSpPr>
            <p:cNvPr id="753" name="Google Shape;753;p35"/>
            <p:cNvSpPr txBox="1"/>
            <p:nvPr/>
          </p:nvSpPr>
          <p:spPr>
            <a:xfrm>
              <a:off x="1885581" y="1714024"/>
              <a:ext cx="8008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WHITESPACE</a:t>
              </a:r>
              <a:endParaRPr sz="1100"/>
            </a:p>
          </p:txBody>
        </p:sp>
        <p:sp>
          <p:nvSpPr>
            <p:cNvPr id="754" name="Google Shape;754;p35"/>
            <p:cNvSpPr/>
            <p:nvPr/>
          </p:nvSpPr>
          <p:spPr>
            <a:xfrm>
              <a:off x="762000" y="2095500"/>
              <a:ext cx="3048000" cy="38862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5"/>
            <p:cNvSpPr txBox="1"/>
            <p:nvPr/>
          </p:nvSpPr>
          <p:spPr>
            <a:xfrm>
              <a:off x="1505950" y="23745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留白优于堆砌</a:t>
              </a:r>
              <a:endParaRPr sz="1100"/>
            </a:p>
          </p:txBody>
        </p:sp>
        <p:sp>
          <p:nvSpPr>
            <p:cNvPr id="756" name="Google Shape;756;p35"/>
            <p:cNvSpPr/>
            <p:nvPr/>
          </p:nvSpPr>
          <p:spPr>
            <a:xfrm>
              <a:off x="952500" y="2781300"/>
              <a:ext cx="1238250" cy="762000"/>
            </a:xfrm>
            <a:prstGeom prst="roundRect">
              <a:avLst>
                <a:gd fmla="val 7500" name="adj"/>
              </a:avLst>
            </a:prstGeom>
            <a:solidFill>
              <a:srgbClr val="FFF0F0"/>
            </a:solidFill>
            <a:ln cap="flat" cmpd="sng" w="9525">
              <a:solidFill>
                <a:srgbClr val="FF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5"/>
            <p:cNvSpPr/>
            <p:nvPr/>
          </p:nvSpPr>
          <p:spPr>
            <a:xfrm>
              <a:off x="1028700" y="2857500"/>
              <a:ext cx="1085850" cy="95250"/>
            </a:xfrm>
            <a:prstGeom prst="roundRect">
              <a:avLst>
                <a:gd fmla="val 20000" name="adj"/>
              </a:avLst>
            </a:prstGeom>
            <a:solidFill>
              <a:srgbClr val="FFBBBB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5"/>
            <p:cNvSpPr/>
            <p:nvPr/>
          </p:nvSpPr>
          <p:spPr>
            <a:xfrm>
              <a:off x="1028700" y="3009900"/>
              <a:ext cx="857250" cy="76200"/>
            </a:xfrm>
            <a:prstGeom prst="roundRect">
              <a:avLst>
                <a:gd fmla="val 25000" name="adj"/>
              </a:avLst>
            </a:prstGeom>
            <a:solidFill>
              <a:srgbClr val="FFCC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5"/>
            <p:cNvSpPr/>
            <p:nvPr/>
          </p:nvSpPr>
          <p:spPr>
            <a:xfrm>
              <a:off x="1028700" y="3143250"/>
              <a:ext cx="1085850" cy="76200"/>
            </a:xfrm>
            <a:prstGeom prst="roundRect">
              <a:avLst>
                <a:gd fmla="val 25000" name="adj"/>
              </a:avLst>
            </a:prstGeom>
            <a:solidFill>
              <a:srgbClr val="FFBBBB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5"/>
            <p:cNvSpPr/>
            <p:nvPr/>
          </p:nvSpPr>
          <p:spPr>
            <a:xfrm>
              <a:off x="1028700" y="3276600"/>
              <a:ext cx="666750" cy="76200"/>
            </a:xfrm>
            <a:prstGeom prst="roundRect">
              <a:avLst>
                <a:gd fmla="val 25000" name="adj"/>
              </a:avLst>
            </a:prstGeom>
            <a:solidFill>
              <a:srgbClr val="FFCCC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5"/>
            <p:cNvSpPr/>
            <p:nvPr/>
          </p:nvSpPr>
          <p:spPr>
            <a:xfrm>
              <a:off x="1028700" y="3409950"/>
              <a:ext cx="952500" cy="76200"/>
            </a:xfrm>
            <a:prstGeom prst="roundRect">
              <a:avLst>
                <a:gd fmla="val 25000" name="adj"/>
              </a:avLst>
            </a:prstGeom>
            <a:solidFill>
              <a:srgbClr val="FFBBBB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5"/>
            <p:cNvSpPr txBox="1"/>
            <p:nvPr/>
          </p:nvSpPr>
          <p:spPr>
            <a:xfrm>
              <a:off x="1372886" y="356044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D44545"/>
                  </a:solidFill>
                  <a:latin typeface="Arial"/>
                  <a:ea typeface="Arial"/>
                  <a:cs typeface="Arial"/>
                  <a:sym typeface="Arial"/>
                </a:rPr>
                <a:t>堆砌 ✘</a:t>
              </a:r>
              <a:endParaRPr sz="1100"/>
            </a:p>
          </p:txBody>
        </p:sp>
        <p:sp>
          <p:nvSpPr>
            <p:cNvPr id="763" name="Google Shape;763;p35"/>
            <p:cNvSpPr/>
            <p:nvPr/>
          </p:nvSpPr>
          <p:spPr>
            <a:xfrm>
              <a:off x="2381250" y="2781300"/>
              <a:ext cx="1238250" cy="762000"/>
            </a:xfrm>
            <a:prstGeom prst="roundRect">
              <a:avLst>
                <a:gd fmla="val 7500" name="adj"/>
              </a:avLst>
            </a:prstGeom>
            <a:solidFill>
              <a:srgbClr val="F0FAF4"/>
            </a:solidFill>
            <a:ln cap="flat" cmpd="sng" w="9525">
              <a:solidFill>
                <a:srgbClr val="C8E6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5"/>
            <p:cNvSpPr/>
            <p:nvPr/>
          </p:nvSpPr>
          <p:spPr>
            <a:xfrm>
              <a:off x="2571750" y="3009900"/>
              <a:ext cx="857250" cy="95250"/>
            </a:xfrm>
            <a:prstGeom prst="roundRect">
              <a:avLst>
                <a:gd fmla="val 20000" name="adj"/>
              </a:avLst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5"/>
            <p:cNvSpPr/>
            <p:nvPr/>
          </p:nvSpPr>
          <p:spPr>
            <a:xfrm>
              <a:off x="2571750" y="3181350"/>
              <a:ext cx="666750" cy="66675"/>
            </a:xfrm>
            <a:prstGeom prst="roundRect">
              <a:avLst>
                <a:gd fmla="val 28571" name="adj"/>
              </a:avLst>
            </a:prstGeom>
            <a:solidFill>
              <a:srgbClr val="9E9E9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5"/>
            <p:cNvSpPr/>
            <p:nvPr/>
          </p:nvSpPr>
          <p:spPr>
            <a:xfrm>
              <a:off x="2571750" y="3429000"/>
              <a:ext cx="762000" cy="209550"/>
            </a:xfrm>
            <a:prstGeom prst="roundRect">
              <a:avLst>
                <a:gd fmla="val 50000" name="adj"/>
              </a:avLst>
            </a:prstGeom>
            <a:solidFill>
              <a:srgbClr val="C96133">
                <a:alpha val="14901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5"/>
            <p:cNvSpPr txBox="1"/>
            <p:nvPr/>
          </p:nvSpPr>
          <p:spPr>
            <a:xfrm>
              <a:off x="2842867" y="3492341"/>
              <a:ext cx="2197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6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CTA</a:t>
              </a:r>
              <a:endParaRPr sz="1100"/>
            </a:p>
          </p:txBody>
        </p:sp>
        <p:sp>
          <p:nvSpPr>
            <p:cNvPr id="768" name="Google Shape;768;p35"/>
            <p:cNvSpPr txBox="1"/>
            <p:nvPr/>
          </p:nvSpPr>
          <p:spPr>
            <a:xfrm>
              <a:off x="2801636" y="356044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3A9E6A"/>
                  </a:solidFill>
                  <a:latin typeface="Arial"/>
                  <a:ea typeface="Arial"/>
                  <a:cs typeface="Arial"/>
                  <a:sym typeface="Arial"/>
                </a:rPr>
                <a:t>留白 ✔</a:t>
              </a:r>
              <a:endParaRPr sz="1100"/>
            </a:p>
          </p:txBody>
        </p:sp>
        <p:sp>
          <p:nvSpPr>
            <p:cNvPr id="769" name="Google Shape;769;p35"/>
            <p:cNvSpPr/>
            <p:nvPr/>
          </p:nvSpPr>
          <p:spPr>
            <a:xfrm>
              <a:off x="952500" y="3829050"/>
              <a:ext cx="2667000" cy="9525"/>
            </a:xfrm>
            <a:custGeom>
              <a:rect b="b" l="l" r="r" t="t"/>
              <a:pathLst>
                <a:path extrusionOk="0" h="9525" w="2667000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cap="flat" cmpd="sng" w="14275">
              <a:solidFill>
                <a:srgbClr val="F0EDE8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70" name="Google Shape;770;p35"/>
            <p:cNvSpPr txBox="1"/>
            <p:nvPr/>
          </p:nvSpPr>
          <p:spPr>
            <a:xfrm>
              <a:off x="1394460" y="3947160"/>
              <a:ext cx="1783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空白不是浪费，是引导</a:t>
              </a:r>
              <a:endParaRPr sz="1100"/>
            </a:p>
          </p:txBody>
        </p:sp>
        <p:sp>
          <p:nvSpPr>
            <p:cNvPr id="771" name="Google Shape;771;p35"/>
            <p:cNvSpPr txBox="1"/>
            <p:nvPr/>
          </p:nvSpPr>
          <p:spPr>
            <a:xfrm>
              <a:off x="1306830" y="4175760"/>
              <a:ext cx="19583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视线的工具。内容越少，</a:t>
              </a:r>
              <a:endParaRPr sz="1100"/>
            </a:p>
          </p:txBody>
        </p:sp>
        <p:sp>
          <p:nvSpPr>
            <p:cNvPr id="772" name="Google Shape;772;p35"/>
            <p:cNvSpPr txBox="1"/>
            <p:nvPr/>
          </p:nvSpPr>
          <p:spPr>
            <a:xfrm>
              <a:off x="1744980" y="4404360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重点越突出。</a:t>
              </a:r>
              <a:endParaRPr sz="1100"/>
            </a:p>
          </p:txBody>
        </p:sp>
        <p:sp>
          <p:nvSpPr>
            <p:cNvPr id="773" name="Google Shape;773;p35"/>
            <p:cNvSpPr/>
            <p:nvPr/>
          </p:nvSpPr>
          <p:spPr>
            <a:xfrm>
              <a:off x="952500" y="4914900"/>
              <a:ext cx="2667000" cy="838200"/>
            </a:xfrm>
            <a:prstGeom prst="roundRect">
              <a:avLst>
                <a:gd fmla="val 9091" name="adj"/>
              </a:avLst>
            </a:prstGeom>
            <a:solidFill>
              <a:srgbClr val="F0EDE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5"/>
            <p:cNvSpPr txBox="1"/>
            <p:nvPr/>
          </p:nvSpPr>
          <p:spPr>
            <a:xfrm>
              <a:off x="1840013" y="5019199"/>
              <a:ext cx="8919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Brief 关键词</a:t>
              </a:r>
              <a:endParaRPr sz="1100"/>
            </a:p>
          </p:txBody>
        </p:sp>
        <p:sp>
          <p:nvSpPr>
            <p:cNvPr id="775" name="Google Shape;775;p35"/>
            <p:cNvSpPr txBox="1"/>
            <p:nvPr/>
          </p:nvSpPr>
          <p:spPr>
            <a:xfrm>
              <a:off x="1693759" y="5220652"/>
              <a:ext cx="11844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"简洁克制风格，</a:t>
              </a:r>
              <a:endParaRPr sz="1100"/>
            </a:p>
          </p:txBody>
        </p:sp>
        <p:sp>
          <p:nvSpPr>
            <p:cNvPr id="776" name="Google Shape;776;p35"/>
            <p:cNvSpPr txBox="1"/>
            <p:nvPr/>
          </p:nvSpPr>
          <p:spPr>
            <a:xfrm>
              <a:off x="1540407" y="5411152"/>
              <a:ext cx="14911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大量留白，信息精简"</a:t>
              </a:r>
              <a:endParaRPr sz="1100"/>
            </a:p>
          </p:txBody>
        </p:sp>
      </p:grpSp>
      <p:grpSp>
        <p:nvGrpSpPr>
          <p:cNvPr id="777" name="Google Shape;777;p35"/>
          <p:cNvGrpSpPr/>
          <p:nvPr/>
        </p:nvGrpSpPr>
        <p:grpSpPr>
          <a:xfrm>
            <a:off x="3286125" y="1057275"/>
            <a:ext cx="2571750" cy="3571875"/>
            <a:chOff x="4381500" y="1409700"/>
            <a:chExt cx="3429000" cy="4762500"/>
          </a:xfrm>
        </p:grpSpPr>
        <p:sp>
          <p:nvSpPr>
            <p:cNvPr id="778" name="Google Shape;778;p35"/>
            <p:cNvSpPr/>
            <p:nvPr/>
          </p:nvSpPr>
          <p:spPr>
            <a:xfrm>
              <a:off x="4381500" y="1409700"/>
              <a:ext cx="3429000" cy="4762500"/>
            </a:xfrm>
            <a:prstGeom prst="roundRect">
              <a:avLst>
                <a:gd fmla="val 5556" name="adj"/>
              </a:avLst>
            </a:prstGeom>
            <a:solidFill>
              <a:srgbClr val="EBF0F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5"/>
            <p:cNvSpPr/>
            <p:nvPr/>
          </p:nvSpPr>
          <p:spPr>
            <a:xfrm>
              <a:off x="4819650" y="1409700"/>
              <a:ext cx="2552700" cy="533400"/>
            </a:xfrm>
            <a:custGeom>
              <a:rect b="b" l="l" r="r" t="t"/>
              <a:pathLst>
                <a:path extrusionOk="0" h="533400" w="2552700">
                  <a:moveTo>
                    <a:pt x="228600" y="0"/>
                  </a:moveTo>
                  <a:lnTo>
                    <a:pt x="2324100" y="0"/>
                  </a:lnTo>
                  <a:cubicBezTo>
                    <a:pt x="2450352" y="0"/>
                    <a:pt x="2552700" y="102348"/>
                    <a:pt x="2552700" y="228600"/>
                  </a:cubicBezTo>
                  <a:lnTo>
                    <a:pt x="2552700" y="533400"/>
                  </a:lnTo>
                  <a:lnTo>
                    <a:pt x="0" y="533400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3D7D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5"/>
            <p:cNvSpPr txBox="1"/>
            <p:nvPr/>
          </p:nvSpPr>
          <p:spPr>
            <a:xfrm>
              <a:off x="5788426" y="1516856"/>
              <a:ext cx="6151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原则 02</a:t>
              </a:r>
              <a:endParaRPr sz="1100"/>
            </a:p>
          </p:txBody>
        </p:sp>
        <p:sp>
          <p:nvSpPr>
            <p:cNvPr id="781" name="Google Shape;781;p35"/>
            <p:cNvSpPr txBox="1"/>
            <p:nvPr/>
          </p:nvSpPr>
          <p:spPr>
            <a:xfrm>
              <a:off x="5756100" y="1714024"/>
              <a:ext cx="679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CONTRAST</a:t>
              </a:r>
              <a:endParaRPr sz="1100"/>
            </a:p>
          </p:txBody>
        </p:sp>
        <p:sp>
          <p:nvSpPr>
            <p:cNvPr id="782" name="Google Shape;782;p35"/>
            <p:cNvSpPr/>
            <p:nvPr/>
          </p:nvSpPr>
          <p:spPr>
            <a:xfrm>
              <a:off x="4572000" y="2095500"/>
              <a:ext cx="3048000" cy="38862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5"/>
            <p:cNvSpPr txBox="1"/>
            <p:nvPr/>
          </p:nvSpPr>
          <p:spPr>
            <a:xfrm>
              <a:off x="5315950" y="23745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对比创造层级</a:t>
              </a:r>
              <a:endParaRPr sz="1100"/>
            </a:p>
          </p:txBody>
        </p:sp>
        <p:sp>
          <p:nvSpPr>
            <p:cNvPr id="784" name="Google Shape;784;p35"/>
            <p:cNvSpPr/>
            <p:nvPr/>
          </p:nvSpPr>
          <p:spPr>
            <a:xfrm>
              <a:off x="4762500" y="2781300"/>
              <a:ext cx="2667000" cy="952500"/>
            </a:xfrm>
            <a:prstGeom prst="roundRect">
              <a:avLst>
                <a:gd fmla="val 6000" name="adj"/>
              </a:avLst>
            </a:prstGeom>
            <a:solidFill>
              <a:srgbClr val="F8F9FC"/>
            </a:solidFill>
            <a:ln cap="flat" cmpd="sng" w="952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5"/>
            <p:cNvSpPr txBox="1"/>
            <p:nvPr/>
          </p:nvSpPr>
          <p:spPr>
            <a:xfrm>
              <a:off x="4838700" y="286702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主标题文字</a:t>
              </a:r>
              <a:endParaRPr sz="1100"/>
            </a:p>
          </p:txBody>
        </p:sp>
        <p:sp>
          <p:nvSpPr>
            <p:cNvPr id="786" name="Google Shape;786;p35"/>
            <p:cNvSpPr txBox="1"/>
            <p:nvPr/>
          </p:nvSpPr>
          <p:spPr>
            <a:xfrm>
              <a:off x="4843462" y="3136106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副标题说明文字，较小</a:t>
              </a:r>
              <a:endParaRPr sz="1100"/>
            </a:p>
          </p:txBody>
        </p:sp>
        <p:sp>
          <p:nvSpPr>
            <p:cNvPr id="787" name="Google Shape;787;p35"/>
            <p:cNvSpPr txBox="1"/>
            <p:nvPr/>
          </p:nvSpPr>
          <p:spPr>
            <a:xfrm>
              <a:off x="4846320" y="33508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注释文字，最小最浅</a:t>
              </a:r>
              <a:endParaRPr sz="1100"/>
            </a:p>
          </p:txBody>
        </p:sp>
        <p:sp>
          <p:nvSpPr>
            <p:cNvPr id="788" name="Google Shape;788;p35"/>
            <p:cNvSpPr/>
            <p:nvPr/>
          </p:nvSpPr>
          <p:spPr>
            <a:xfrm>
              <a:off x="4857750" y="3543300"/>
              <a:ext cx="762000" cy="133350"/>
            </a:xfrm>
            <a:prstGeom prst="roundRect">
              <a:avLst>
                <a:gd fmla="val 28571" name="adj"/>
              </a:avLst>
            </a:prstGeom>
            <a:solidFill>
              <a:srgbClr val="9E9E9E">
                <a:alpha val="2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5"/>
            <p:cNvSpPr/>
            <p:nvPr/>
          </p:nvSpPr>
          <p:spPr>
            <a:xfrm>
              <a:off x="4572000" y="3867150"/>
              <a:ext cx="2667000" cy="9525"/>
            </a:xfrm>
            <a:custGeom>
              <a:rect b="b" l="l" r="r" t="t"/>
              <a:pathLst>
                <a:path extrusionOk="0" h="9525" w="2667000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cap="flat" cmpd="sng" w="14275">
              <a:solidFill>
                <a:srgbClr val="F0EDE8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90" name="Google Shape;790;p35"/>
            <p:cNvSpPr txBox="1"/>
            <p:nvPr/>
          </p:nvSpPr>
          <p:spPr>
            <a:xfrm>
              <a:off x="5204460" y="3985260"/>
              <a:ext cx="1783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大小、粗细、颜色三个</a:t>
              </a:r>
              <a:endParaRPr sz="1100"/>
            </a:p>
          </p:txBody>
        </p:sp>
        <p:sp>
          <p:nvSpPr>
            <p:cNvPr id="791" name="Google Shape;791;p35"/>
            <p:cNvSpPr txBox="1"/>
            <p:nvPr/>
          </p:nvSpPr>
          <p:spPr>
            <a:xfrm>
              <a:off x="5292090" y="4213860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维度形成视觉层级，</a:t>
              </a:r>
              <a:endParaRPr sz="1100"/>
            </a:p>
          </p:txBody>
        </p:sp>
        <p:sp>
          <p:nvSpPr>
            <p:cNvPr id="792" name="Google Shape;792;p35"/>
            <p:cNvSpPr txBox="1"/>
            <p:nvPr/>
          </p:nvSpPr>
          <p:spPr>
            <a:xfrm>
              <a:off x="5292090" y="4442460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引导读者阅读顺序。</a:t>
              </a:r>
              <a:endParaRPr sz="1100"/>
            </a:p>
          </p:txBody>
        </p:sp>
        <p:sp>
          <p:nvSpPr>
            <p:cNvPr id="793" name="Google Shape;793;p35"/>
            <p:cNvSpPr/>
            <p:nvPr/>
          </p:nvSpPr>
          <p:spPr>
            <a:xfrm>
              <a:off x="4762500" y="4914900"/>
              <a:ext cx="2667000" cy="838200"/>
            </a:xfrm>
            <a:prstGeom prst="roundRect">
              <a:avLst>
                <a:gd fmla="val 9091" name="adj"/>
              </a:avLst>
            </a:prstGeom>
            <a:solidFill>
              <a:srgbClr val="EBF0F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5"/>
            <p:cNvSpPr txBox="1"/>
            <p:nvPr/>
          </p:nvSpPr>
          <p:spPr>
            <a:xfrm>
              <a:off x="5650013" y="5019199"/>
              <a:ext cx="8919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3D7DE4"/>
                  </a:solidFill>
                  <a:latin typeface="Arial"/>
                  <a:ea typeface="Arial"/>
                  <a:cs typeface="Arial"/>
                  <a:sym typeface="Arial"/>
                </a:rPr>
                <a:t>Brief 关键词</a:t>
              </a:r>
              <a:endParaRPr sz="1100"/>
            </a:p>
          </p:txBody>
        </p:sp>
        <p:sp>
          <p:nvSpPr>
            <p:cNvPr id="795" name="Google Shape;795;p35"/>
            <p:cNvSpPr txBox="1"/>
            <p:nvPr/>
          </p:nvSpPr>
          <p:spPr>
            <a:xfrm>
              <a:off x="5503759" y="5220652"/>
              <a:ext cx="11844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"主标题大而粗，</a:t>
              </a:r>
              <a:endParaRPr sz="1100"/>
            </a:p>
          </p:txBody>
        </p:sp>
        <p:sp>
          <p:nvSpPr>
            <p:cNvPr id="796" name="Google Shape;796;p35"/>
            <p:cNvSpPr txBox="1"/>
            <p:nvPr/>
          </p:nvSpPr>
          <p:spPr>
            <a:xfrm>
              <a:off x="5427083" y="5411152"/>
              <a:ext cx="1337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辅助文字灰色偏小"</a:t>
              </a:r>
              <a:endParaRPr sz="1100"/>
            </a:p>
          </p:txBody>
        </p:sp>
      </p:grpSp>
      <p:grpSp>
        <p:nvGrpSpPr>
          <p:cNvPr id="797" name="Google Shape;797;p35"/>
          <p:cNvGrpSpPr/>
          <p:nvPr/>
        </p:nvGrpSpPr>
        <p:grpSpPr>
          <a:xfrm>
            <a:off x="6143625" y="1057275"/>
            <a:ext cx="2571750" cy="3571875"/>
            <a:chOff x="8191500" y="1409700"/>
            <a:chExt cx="3429000" cy="4762500"/>
          </a:xfrm>
        </p:grpSpPr>
        <p:sp>
          <p:nvSpPr>
            <p:cNvPr id="798" name="Google Shape;798;p35"/>
            <p:cNvSpPr/>
            <p:nvPr/>
          </p:nvSpPr>
          <p:spPr>
            <a:xfrm>
              <a:off x="8191500" y="1409700"/>
              <a:ext cx="3429000" cy="4762500"/>
            </a:xfrm>
            <a:prstGeom prst="roundRect">
              <a:avLst>
                <a:gd fmla="val 5556" name="adj"/>
              </a:avLst>
            </a:prstGeom>
            <a:solidFill>
              <a:srgbClr val="EDF6F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5"/>
            <p:cNvSpPr/>
            <p:nvPr/>
          </p:nvSpPr>
          <p:spPr>
            <a:xfrm>
              <a:off x="8629650" y="1409700"/>
              <a:ext cx="2552700" cy="533400"/>
            </a:xfrm>
            <a:custGeom>
              <a:rect b="b" l="l" r="r" t="t"/>
              <a:pathLst>
                <a:path extrusionOk="0" h="533400" w="2552700">
                  <a:moveTo>
                    <a:pt x="228600" y="0"/>
                  </a:moveTo>
                  <a:lnTo>
                    <a:pt x="2324100" y="0"/>
                  </a:lnTo>
                  <a:cubicBezTo>
                    <a:pt x="2450352" y="0"/>
                    <a:pt x="2552700" y="102348"/>
                    <a:pt x="2552700" y="228600"/>
                  </a:cubicBezTo>
                  <a:lnTo>
                    <a:pt x="2552700" y="533400"/>
                  </a:lnTo>
                  <a:lnTo>
                    <a:pt x="0" y="533400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5"/>
            <p:cNvSpPr txBox="1"/>
            <p:nvPr/>
          </p:nvSpPr>
          <p:spPr>
            <a:xfrm>
              <a:off x="9598426" y="1516856"/>
              <a:ext cx="6151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原则 03</a:t>
              </a:r>
              <a:endParaRPr sz="1100"/>
            </a:p>
          </p:txBody>
        </p:sp>
        <p:sp>
          <p:nvSpPr>
            <p:cNvPr id="801" name="Google Shape;801;p35"/>
            <p:cNvSpPr txBox="1"/>
            <p:nvPr/>
          </p:nvSpPr>
          <p:spPr>
            <a:xfrm>
              <a:off x="9466421" y="171402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CONSISTENCY</a:t>
              </a:r>
              <a:endParaRPr sz="1100"/>
            </a:p>
          </p:txBody>
        </p:sp>
        <p:sp>
          <p:nvSpPr>
            <p:cNvPr id="802" name="Google Shape;802;p35"/>
            <p:cNvSpPr/>
            <p:nvPr/>
          </p:nvSpPr>
          <p:spPr>
            <a:xfrm>
              <a:off x="8382000" y="2095500"/>
              <a:ext cx="3048000" cy="38862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5"/>
            <p:cNvSpPr txBox="1"/>
            <p:nvPr/>
          </p:nvSpPr>
          <p:spPr>
            <a:xfrm>
              <a:off x="8999434" y="2374582"/>
              <a:ext cx="18131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一致性建立信任</a:t>
              </a:r>
              <a:endParaRPr sz="1100"/>
            </a:p>
          </p:txBody>
        </p:sp>
        <p:sp>
          <p:nvSpPr>
            <p:cNvPr id="804" name="Google Shape;804;p35"/>
            <p:cNvSpPr/>
            <p:nvPr/>
          </p:nvSpPr>
          <p:spPr>
            <a:xfrm>
              <a:off x="8572500" y="2781300"/>
              <a:ext cx="2667000" cy="952500"/>
            </a:xfrm>
            <a:prstGeom prst="roundRect">
              <a:avLst>
                <a:gd fmla="val 6000" name="adj"/>
              </a:avLst>
            </a:prstGeom>
            <a:solidFill>
              <a:srgbClr val="F8F9FC"/>
            </a:solidFill>
            <a:ln cap="flat" cmpd="sng" w="952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5"/>
            <p:cNvSpPr/>
            <p:nvPr/>
          </p:nvSpPr>
          <p:spPr>
            <a:xfrm>
              <a:off x="8724900" y="2933700"/>
              <a:ext cx="685800" cy="266700"/>
            </a:xfrm>
            <a:prstGeom prst="roundRect">
              <a:avLst>
                <a:gd fmla="val 50000" name="adj"/>
              </a:avLst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5"/>
            <p:cNvSpPr txBox="1"/>
            <p:nvPr/>
          </p:nvSpPr>
          <p:spPr>
            <a:xfrm>
              <a:off x="8918353" y="3017520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报名</a:t>
              </a:r>
              <a:endParaRPr sz="1100"/>
            </a:p>
          </p:txBody>
        </p:sp>
        <p:sp>
          <p:nvSpPr>
            <p:cNvPr id="807" name="Google Shape;807;p35"/>
            <p:cNvSpPr/>
            <p:nvPr/>
          </p:nvSpPr>
          <p:spPr>
            <a:xfrm>
              <a:off x="9486900" y="2933700"/>
              <a:ext cx="685800" cy="266700"/>
            </a:xfrm>
            <a:prstGeom prst="roundRect">
              <a:avLst>
                <a:gd fmla="val 50000" name="adj"/>
              </a:avLst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5"/>
            <p:cNvSpPr txBox="1"/>
            <p:nvPr/>
          </p:nvSpPr>
          <p:spPr>
            <a:xfrm>
              <a:off x="9680353" y="3017520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了解</a:t>
              </a:r>
              <a:endParaRPr sz="1100"/>
            </a:p>
          </p:txBody>
        </p:sp>
        <p:sp>
          <p:nvSpPr>
            <p:cNvPr id="809" name="Google Shape;809;p35"/>
            <p:cNvSpPr/>
            <p:nvPr/>
          </p:nvSpPr>
          <p:spPr>
            <a:xfrm>
              <a:off x="10248900" y="2933700"/>
              <a:ext cx="685800" cy="266700"/>
            </a:xfrm>
            <a:prstGeom prst="roundRect">
              <a:avLst>
                <a:gd fmla="val 50000" name="adj"/>
              </a:avLst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5"/>
            <p:cNvSpPr txBox="1"/>
            <p:nvPr/>
          </p:nvSpPr>
          <p:spPr>
            <a:xfrm>
              <a:off x="10442353" y="3017520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联系</a:t>
              </a:r>
              <a:endParaRPr sz="1100"/>
            </a:p>
          </p:txBody>
        </p:sp>
        <p:sp>
          <p:nvSpPr>
            <p:cNvPr id="811" name="Google Shape;811;p35"/>
            <p:cNvSpPr txBox="1"/>
            <p:nvPr/>
          </p:nvSpPr>
          <p:spPr>
            <a:xfrm>
              <a:off x="8712518" y="3323749"/>
              <a:ext cx="20610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相同圆角 · 相同颜色 · 相同字体</a:t>
              </a:r>
              <a:endParaRPr sz="1100"/>
            </a:p>
          </p:txBody>
        </p:sp>
        <p:sp>
          <p:nvSpPr>
            <p:cNvPr id="812" name="Google Shape;812;p35"/>
            <p:cNvSpPr txBox="1"/>
            <p:nvPr/>
          </p:nvSpPr>
          <p:spPr>
            <a:xfrm>
              <a:off x="8712518" y="34951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3A9E6A"/>
                  </a:solidFill>
                  <a:latin typeface="Arial"/>
                  <a:ea typeface="Arial"/>
                  <a:cs typeface="Arial"/>
                  <a:sym typeface="Arial"/>
                </a:rPr>
                <a:t>= 专业 &amp; 可信</a:t>
              </a:r>
              <a:endParaRPr sz="1100"/>
            </a:p>
          </p:txBody>
        </p:sp>
        <p:sp>
          <p:nvSpPr>
            <p:cNvPr id="813" name="Google Shape;813;p35"/>
            <p:cNvSpPr/>
            <p:nvPr/>
          </p:nvSpPr>
          <p:spPr>
            <a:xfrm>
              <a:off x="8382000" y="3867150"/>
              <a:ext cx="2667000" cy="9525"/>
            </a:xfrm>
            <a:custGeom>
              <a:rect b="b" l="l" r="r" t="t"/>
              <a:pathLst>
                <a:path extrusionOk="0" h="9525" w="2667000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cap="flat" cmpd="sng" w="14275">
              <a:solidFill>
                <a:srgbClr val="F0EDE8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14" name="Google Shape;814;p35"/>
            <p:cNvSpPr txBox="1"/>
            <p:nvPr/>
          </p:nvSpPr>
          <p:spPr>
            <a:xfrm>
              <a:off x="9102090" y="3985260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颜色、字体、圆角、</a:t>
              </a:r>
              <a:endParaRPr sz="1100"/>
            </a:p>
          </p:txBody>
        </p:sp>
        <p:sp>
          <p:nvSpPr>
            <p:cNvPr id="815" name="Google Shape;815;p35"/>
            <p:cNvSpPr txBox="1"/>
            <p:nvPr/>
          </p:nvSpPr>
          <p:spPr>
            <a:xfrm>
              <a:off x="9102090" y="4213860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间距保持统一，访客</a:t>
              </a:r>
              <a:endParaRPr sz="1100"/>
            </a:p>
          </p:txBody>
        </p:sp>
        <p:sp>
          <p:nvSpPr>
            <p:cNvPr id="816" name="Google Shape;816;p35"/>
            <p:cNvSpPr txBox="1"/>
            <p:nvPr/>
          </p:nvSpPr>
          <p:spPr>
            <a:xfrm>
              <a:off x="9180957" y="4442460"/>
              <a:ext cx="14500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感受到"专业感"。</a:t>
              </a:r>
              <a:endParaRPr sz="1100"/>
            </a:p>
          </p:txBody>
        </p:sp>
        <p:sp>
          <p:nvSpPr>
            <p:cNvPr id="817" name="Google Shape;817;p35"/>
            <p:cNvSpPr/>
            <p:nvPr/>
          </p:nvSpPr>
          <p:spPr>
            <a:xfrm>
              <a:off x="8572500" y="4914900"/>
              <a:ext cx="2667000" cy="838200"/>
            </a:xfrm>
            <a:prstGeom prst="roundRect">
              <a:avLst>
                <a:gd fmla="val 9091" name="adj"/>
              </a:avLst>
            </a:prstGeom>
            <a:solidFill>
              <a:srgbClr val="EDF6F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5"/>
            <p:cNvSpPr txBox="1"/>
            <p:nvPr/>
          </p:nvSpPr>
          <p:spPr>
            <a:xfrm>
              <a:off x="9460013" y="5019199"/>
              <a:ext cx="8919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3A9E6A"/>
                  </a:solidFill>
                  <a:latin typeface="Arial"/>
                  <a:ea typeface="Arial"/>
                  <a:cs typeface="Arial"/>
                  <a:sym typeface="Arial"/>
                </a:rPr>
                <a:t>Brief 关键词</a:t>
              </a:r>
              <a:endParaRPr sz="1100"/>
            </a:p>
          </p:txBody>
        </p:sp>
        <p:sp>
          <p:nvSpPr>
            <p:cNvPr id="819" name="Google Shape;819;p35"/>
            <p:cNvSpPr txBox="1"/>
            <p:nvPr/>
          </p:nvSpPr>
          <p:spPr>
            <a:xfrm>
              <a:off x="9313759" y="5220652"/>
              <a:ext cx="11844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"全站统一主色，</a:t>
              </a:r>
              <a:endParaRPr sz="1100"/>
            </a:p>
          </p:txBody>
        </p:sp>
        <p:sp>
          <p:nvSpPr>
            <p:cNvPr id="820" name="Google Shape;820;p35"/>
            <p:cNvSpPr txBox="1"/>
            <p:nvPr/>
          </p:nvSpPr>
          <p:spPr>
            <a:xfrm>
              <a:off x="9237083" y="5411152"/>
              <a:ext cx="1337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按钮风格保持一致"</a:t>
              </a:r>
              <a:endParaRPr sz="1100"/>
            </a:p>
          </p:txBody>
        </p:sp>
      </p:grpSp>
      <p:sp>
        <p:nvSpPr>
          <p:cNvPr id="821" name="Google Shape;821;p35"/>
          <p:cNvSpPr txBox="1"/>
          <p:nvPr/>
        </p:nvSpPr>
        <p:spPr>
          <a:xfrm>
            <a:off x="8377583" y="4915614"/>
            <a:ext cx="34779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11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6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8" name="Google Shape;828;p36"/>
          <p:cNvGrpSpPr/>
          <p:nvPr/>
        </p:nvGrpSpPr>
        <p:grpSpPr>
          <a:xfrm>
            <a:off x="571500" y="267176"/>
            <a:ext cx="8001000" cy="597218"/>
            <a:chOff x="762000" y="356235"/>
            <a:chExt cx="10668000" cy="796290"/>
          </a:xfrm>
        </p:grpSpPr>
        <p:sp>
          <p:nvSpPr>
            <p:cNvPr id="829" name="Google Shape;829;p36"/>
            <p:cNvSpPr txBox="1"/>
            <p:nvPr/>
          </p:nvSpPr>
          <p:spPr>
            <a:xfrm>
              <a:off x="4819555" y="356235"/>
              <a:ext cx="255289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工作流的革命</a:t>
              </a:r>
              <a:endParaRPr sz="1100"/>
            </a:p>
          </p:txBody>
        </p:sp>
        <p:sp>
          <p:nvSpPr>
            <p:cNvPr id="830" name="Google Shape;830;p36"/>
            <p:cNvSpPr txBox="1"/>
            <p:nvPr/>
          </p:nvSpPr>
          <p:spPr>
            <a:xfrm>
              <a:off x="3906202" y="774382"/>
              <a:ext cx="43795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同样一个网站，两条路径的差距有多大？</a:t>
              </a:r>
              <a:endParaRPr sz="1100"/>
            </a:p>
          </p:txBody>
        </p:sp>
        <p:sp>
          <p:nvSpPr>
            <p:cNvPr id="831" name="Google Shape;831;p36"/>
            <p:cNvSpPr/>
            <p:nvPr/>
          </p:nvSpPr>
          <p:spPr>
            <a:xfrm>
              <a:off x="762000" y="1143000"/>
              <a:ext cx="10668000" cy="9525"/>
            </a:xfrm>
            <a:custGeom>
              <a:rect b="b" l="l" r="r" t="t"/>
              <a:pathLst>
                <a:path extrusionOk="0" h="9525" w="10668000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cap="flat" cmpd="sng" w="1427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832" name="Google Shape;832;p36"/>
          <p:cNvGrpSpPr/>
          <p:nvPr/>
        </p:nvGrpSpPr>
        <p:grpSpPr>
          <a:xfrm>
            <a:off x="428625" y="1028700"/>
            <a:ext cx="3971925" cy="3629025"/>
            <a:chOff x="571500" y="1371600"/>
            <a:chExt cx="5295900" cy="4838700"/>
          </a:xfrm>
        </p:grpSpPr>
        <p:sp>
          <p:nvSpPr>
            <p:cNvPr id="833" name="Google Shape;833;p36"/>
            <p:cNvSpPr/>
            <p:nvPr/>
          </p:nvSpPr>
          <p:spPr>
            <a:xfrm>
              <a:off x="571500" y="1371600"/>
              <a:ext cx="5295900" cy="4838700"/>
            </a:xfrm>
            <a:prstGeom prst="roundRect">
              <a:avLst>
                <a:gd fmla="val 3937" name="adj"/>
              </a:avLst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6"/>
            <p:cNvSpPr/>
            <p:nvPr/>
          </p:nvSpPr>
          <p:spPr>
            <a:xfrm>
              <a:off x="1628775" y="1371600"/>
              <a:ext cx="3181350" cy="533400"/>
            </a:xfrm>
            <a:custGeom>
              <a:rect b="b" l="l" r="r" t="t"/>
              <a:pathLst>
                <a:path extrusionOk="0" h="533400" w="3181350">
                  <a:moveTo>
                    <a:pt x="228600" y="0"/>
                  </a:moveTo>
                  <a:lnTo>
                    <a:pt x="2952750" y="0"/>
                  </a:lnTo>
                  <a:cubicBezTo>
                    <a:pt x="3079002" y="0"/>
                    <a:pt x="3181350" y="102348"/>
                    <a:pt x="3181350" y="228600"/>
                  </a:cubicBezTo>
                  <a:lnTo>
                    <a:pt x="3181350" y="533400"/>
                  </a:lnTo>
                  <a:lnTo>
                    <a:pt x="0" y="533400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6"/>
            <p:cNvSpPr txBox="1"/>
            <p:nvPr/>
          </p:nvSpPr>
          <p:spPr>
            <a:xfrm>
              <a:off x="2744152" y="147066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传统工作流</a:t>
              </a:r>
              <a:endParaRPr sz="1100"/>
            </a:p>
          </p:txBody>
        </p:sp>
        <p:sp>
          <p:nvSpPr>
            <p:cNvPr id="836" name="Google Shape;836;p36"/>
            <p:cNvSpPr txBox="1"/>
            <p:nvPr/>
          </p:nvSpPr>
          <p:spPr>
            <a:xfrm>
              <a:off x="2149480" y="1663630"/>
              <a:ext cx="2149500" cy="14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TRADITIONAL WORKFLOW</a:t>
              </a:r>
              <a:endParaRPr sz="1100"/>
            </a:p>
          </p:txBody>
        </p:sp>
        <p:sp>
          <p:nvSpPr>
            <p:cNvPr id="837" name="Google Shape;837;p36"/>
            <p:cNvSpPr/>
            <p:nvPr/>
          </p:nvSpPr>
          <p:spPr>
            <a:xfrm>
              <a:off x="762000" y="2057400"/>
              <a:ext cx="4914900" cy="3810000"/>
            </a:xfrm>
            <a:prstGeom prst="roundRect">
              <a:avLst>
                <a:gd fmla="val 3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6"/>
            <p:cNvSpPr/>
            <p:nvPr/>
          </p:nvSpPr>
          <p:spPr>
            <a:xfrm>
              <a:off x="952500" y="2228850"/>
              <a:ext cx="1143000" cy="3429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6"/>
            <p:cNvSpPr txBox="1"/>
            <p:nvPr/>
          </p:nvSpPr>
          <p:spPr>
            <a:xfrm>
              <a:off x="1215469" y="2334567"/>
              <a:ext cx="946800" cy="16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💡 有想法</a:t>
              </a:r>
              <a:endParaRPr sz="1100"/>
            </a:p>
          </p:txBody>
        </p:sp>
        <p:sp>
          <p:nvSpPr>
            <p:cNvPr id="840" name="Google Shape;840;p36"/>
            <p:cNvSpPr txBox="1"/>
            <p:nvPr/>
          </p:nvSpPr>
          <p:spPr>
            <a:xfrm>
              <a:off x="2089214" y="231838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  <a:endParaRPr sz="1100"/>
            </a:p>
          </p:txBody>
        </p:sp>
        <p:sp>
          <p:nvSpPr>
            <p:cNvPr id="841" name="Google Shape;841;p36"/>
            <p:cNvSpPr/>
            <p:nvPr/>
          </p:nvSpPr>
          <p:spPr>
            <a:xfrm>
              <a:off x="2324100" y="2228850"/>
              <a:ext cx="1295400" cy="3429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6"/>
            <p:cNvSpPr txBox="1"/>
            <p:nvPr/>
          </p:nvSpPr>
          <p:spPr>
            <a:xfrm>
              <a:off x="2651760" y="233457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找设计师</a:t>
              </a:r>
              <a:endParaRPr sz="1100"/>
            </a:p>
          </p:txBody>
        </p:sp>
        <p:sp>
          <p:nvSpPr>
            <p:cNvPr id="843" name="Google Shape;843;p36"/>
            <p:cNvSpPr txBox="1"/>
            <p:nvPr/>
          </p:nvSpPr>
          <p:spPr>
            <a:xfrm>
              <a:off x="3613213" y="231838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  <a:endParaRPr sz="1100"/>
            </a:p>
          </p:txBody>
        </p:sp>
        <p:sp>
          <p:nvSpPr>
            <p:cNvPr id="844" name="Google Shape;844;p36"/>
            <p:cNvSpPr/>
            <p:nvPr/>
          </p:nvSpPr>
          <p:spPr>
            <a:xfrm>
              <a:off x="3810000" y="2228850"/>
              <a:ext cx="1295400" cy="342900"/>
            </a:xfrm>
            <a:prstGeom prst="roundRect">
              <a:avLst>
                <a:gd fmla="val 16667" name="adj"/>
              </a:avLst>
            </a:prstGeom>
            <a:solidFill>
              <a:srgbClr val="FFEEE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6"/>
            <p:cNvSpPr txBox="1"/>
            <p:nvPr/>
          </p:nvSpPr>
          <p:spPr>
            <a:xfrm>
              <a:off x="4137660" y="2334578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D44545"/>
                  </a:solidFill>
                  <a:latin typeface="Arial"/>
                  <a:ea typeface="Arial"/>
                  <a:cs typeface="Arial"/>
                  <a:sym typeface="Arial"/>
                </a:rPr>
                <a:t>沟通需求</a:t>
              </a:r>
              <a:endParaRPr sz="1100"/>
            </a:p>
          </p:txBody>
        </p:sp>
        <p:sp>
          <p:nvSpPr>
            <p:cNvPr id="846" name="Google Shape;846;p36"/>
            <p:cNvSpPr txBox="1"/>
            <p:nvPr/>
          </p:nvSpPr>
          <p:spPr>
            <a:xfrm>
              <a:off x="3156013" y="268986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sz="1100"/>
            </a:p>
          </p:txBody>
        </p:sp>
        <p:sp>
          <p:nvSpPr>
            <p:cNvPr id="847" name="Google Shape;847;p36"/>
            <p:cNvSpPr/>
            <p:nvPr/>
          </p:nvSpPr>
          <p:spPr>
            <a:xfrm>
              <a:off x="2667000" y="2933700"/>
              <a:ext cx="1104900" cy="342900"/>
            </a:xfrm>
            <a:prstGeom prst="roundRect">
              <a:avLst>
                <a:gd fmla="val 16667" name="adj"/>
              </a:avLst>
            </a:prstGeom>
            <a:solidFill>
              <a:srgbClr val="FFEEE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6"/>
            <p:cNvSpPr txBox="1"/>
            <p:nvPr/>
          </p:nvSpPr>
          <p:spPr>
            <a:xfrm>
              <a:off x="2976086" y="3039428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D44545"/>
                  </a:solidFill>
                  <a:latin typeface="Arial"/>
                  <a:ea typeface="Arial"/>
                  <a:cs typeface="Arial"/>
                  <a:sym typeface="Arial"/>
                </a:rPr>
                <a:t>出初稿</a:t>
              </a:r>
              <a:endParaRPr sz="1100"/>
            </a:p>
          </p:txBody>
        </p:sp>
        <p:sp>
          <p:nvSpPr>
            <p:cNvPr id="849" name="Google Shape;849;p36"/>
            <p:cNvSpPr txBox="1"/>
            <p:nvPr/>
          </p:nvSpPr>
          <p:spPr>
            <a:xfrm>
              <a:off x="3156013" y="329946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sz="1100"/>
            </a:p>
          </p:txBody>
        </p:sp>
        <p:sp>
          <p:nvSpPr>
            <p:cNvPr id="850" name="Google Shape;850;p36"/>
            <p:cNvSpPr/>
            <p:nvPr/>
          </p:nvSpPr>
          <p:spPr>
            <a:xfrm>
              <a:off x="2343150" y="3543300"/>
              <a:ext cx="1752600" cy="342900"/>
            </a:xfrm>
            <a:prstGeom prst="roundRect">
              <a:avLst>
                <a:gd fmla="val 16667" name="adj"/>
              </a:avLst>
            </a:prstGeom>
            <a:solidFill>
              <a:srgbClr val="FFEEE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6"/>
            <p:cNvSpPr txBox="1"/>
            <p:nvPr/>
          </p:nvSpPr>
          <p:spPr>
            <a:xfrm>
              <a:off x="2669381" y="3649028"/>
              <a:ext cx="11001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D44545"/>
                  </a:solidFill>
                  <a:latin typeface="Arial"/>
                  <a:ea typeface="Arial"/>
                  <a:cs typeface="Arial"/>
                  <a:sym typeface="Arial"/>
                </a:rPr>
                <a:t>🔄 反复修改 N 轮</a:t>
              </a:r>
              <a:endParaRPr sz="1100"/>
            </a:p>
          </p:txBody>
        </p:sp>
        <p:sp>
          <p:nvSpPr>
            <p:cNvPr id="852" name="Google Shape;852;p36"/>
            <p:cNvSpPr txBox="1"/>
            <p:nvPr/>
          </p:nvSpPr>
          <p:spPr>
            <a:xfrm>
              <a:off x="3156013" y="390906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sz="1100"/>
            </a:p>
          </p:txBody>
        </p:sp>
        <p:sp>
          <p:nvSpPr>
            <p:cNvPr id="853" name="Google Shape;853;p36"/>
            <p:cNvSpPr/>
            <p:nvPr/>
          </p:nvSpPr>
          <p:spPr>
            <a:xfrm>
              <a:off x="2552700" y="4152900"/>
              <a:ext cx="1333500" cy="3429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36"/>
            <p:cNvSpPr txBox="1"/>
            <p:nvPr/>
          </p:nvSpPr>
          <p:spPr>
            <a:xfrm>
              <a:off x="2746058" y="425862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找开发写代码</a:t>
              </a:r>
              <a:endParaRPr sz="1100"/>
            </a:p>
          </p:txBody>
        </p:sp>
        <p:sp>
          <p:nvSpPr>
            <p:cNvPr id="855" name="Google Shape;855;p36"/>
            <p:cNvSpPr txBox="1"/>
            <p:nvPr/>
          </p:nvSpPr>
          <p:spPr>
            <a:xfrm>
              <a:off x="3156013" y="451866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sz="1100"/>
            </a:p>
          </p:txBody>
        </p:sp>
        <p:sp>
          <p:nvSpPr>
            <p:cNvPr id="856" name="Google Shape;856;p36"/>
            <p:cNvSpPr/>
            <p:nvPr/>
          </p:nvSpPr>
          <p:spPr>
            <a:xfrm>
              <a:off x="2552700" y="4762500"/>
              <a:ext cx="1333500" cy="3429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36"/>
            <p:cNvSpPr txBox="1"/>
            <p:nvPr/>
          </p:nvSpPr>
          <p:spPr>
            <a:xfrm>
              <a:off x="2834235" y="4868228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🌎 终于上线</a:t>
              </a:r>
              <a:endParaRPr sz="1100"/>
            </a:p>
          </p:txBody>
        </p:sp>
        <p:sp>
          <p:nvSpPr>
            <p:cNvPr id="858" name="Google Shape;858;p36"/>
            <p:cNvSpPr/>
            <p:nvPr/>
          </p:nvSpPr>
          <p:spPr>
            <a:xfrm>
              <a:off x="762000" y="5486400"/>
              <a:ext cx="4914900" cy="533400"/>
            </a:xfrm>
            <a:prstGeom prst="roundRect">
              <a:avLst>
                <a:gd fmla="val 14286" name="adj"/>
              </a:avLst>
            </a:prstGeom>
            <a:solidFill>
              <a:srgbClr val="F5F5F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6"/>
            <p:cNvSpPr txBox="1"/>
            <p:nvPr/>
          </p:nvSpPr>
          <p:spPr>
            <a:xfrm>
              <a:off x="1643062" y="55826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耗时</a:t>
              </a:r>
              <a:endParaRPr sz="1100"/>
            </a:p>
          </p:txBody>
        </p:sp>
        <p:sp>
          <p:nvSpPr>
            <p:cNvPr id="860" name="Google Shape;860;p36"/>
            <p:cNvSpPr txBox="1"/>
            <p:nvPr/>
          </p:nvSpPr>
          <p:spPr>
            <a:xfrm>
              <a:off x="1487242" y="5759768"/>
              <a:ext cx="6450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D44545"/>
                  </a:solidFill>
                  <a:latin typeface="Arial"/>
                  <a:ea typeface="Arial"/>
                  <a:cs typeface="Arial"/>
                  <a:sym typeface="Arial"/>
                </a:rPr>
                <a:t>4~8 周</a:t>
              </a:r>
              <a:endParaRPr sz="1100"/>
            </a:p>
          </p:txBody>
        </p:sp>
        <p:sp>
          <p:nvSpPr>
            <p:cNvPr id="861" name="Google Shape;861;p36"/>
            <p:cNvSpPr/>
            <p:nvPr/>
          </p:nvSpPr>
          <p:spPr>
            <a:xfrm>
              <a:off x="3219450" y="5562600"/>
              <a:ext cx="9525" cy="381000"/>
            </a:xfrm>
            <a:custGeom>
              <a:rect b="b" l="l" r="r" t="t"/>
              <a:pathLst>
                <a:path extrusionOk="0" h="381000" w="9525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cap="flat" cmpd="sng" w="952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62" name="Google Shape;862;p36"/>
            <p:cNvSpPr txBox="1"/>
            <p:nvPr/>
          </p:nvSpPr>
          <p:spPr>
            <a:xfrm>
              <a:off x="4462462" y="55826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成本</a:t>
              </a:r>
              <a:endParaRPr sz="1100"/>
            </a:p>
          </p:txBody>
        </p:sp>
        <p:sp>
          <p:nvSpPr>
            <p:cNvPr id="863" name="Google Shape;863;p36"/>
            <p:cNvSpPr txBox="1"/>
            <p:nvPr/>
          </p:nvSpPr>
          <p:spPr>
            <a:xfrm>
              <a:off x="4296291" y="5759768"/>
              <a:ext cx="6657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D44545"/>
                  </a:solidFill>
                  <a:latin typeface="Arial"/>
                  <a:ea typeface="Arial"/>
                  <a:cs typeface="Arial"/>
                  <a:sym typeface="Arial"/>
                </a:rPr>
                <a:t>$1500+</a:t>
              </a:r>
              <a:endParaRPr sz="1100"/>
            </a:p>
          </p:txBody>
        </p:sp>
      </p:grpSp>
      <p:grpSp>
        <p:nvGrpSpPr>
          <p:cNvPr id="864" name="Google Shape;864;p36"/>
          <p:cNvGrpSpPr/>
          <p:nvPr/>
        </p:nvGrpSpPr>
        <p:grpSpPr>
          <a:xfrm>
            <a:off x="4357688" y="2643188"/>
            <a:ext cx="428625" cy="428625"/>
            <a:chOff x="5810250" y="3524250"/>
            <a:chExt cx="571500" cy="571500"/>
          </a:xfrm>
        </p:grpSpPr>
        <p:sp>
          <p:nvSpPr>
            <p:cNvPr id="865" name="Google Shape;865;p36"/>
            <p:cNvSpPr/>
            <p:nvPr/>
          </p:nvSpPr>
          <p:spPr>
            <a:xfrm>
              <a:off x="5810250" y="3524250"/>
              <a:ext cx="571500" cy="571500"/>
            </a:xfrm>
            <a:prstGeom prst="ellipse">
              <a:avLst/>
            </a:prstGeom>
            <a:solidFill>
              <a:srgbClr val="C96133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6"/>
            <p:cNvSpPr txBox="1"/>
            <p:nvPr/>
          </p:nvSpPr>
          <p:spPr>
            <a:xfrm>
              <a:off x="6013692" y="360997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≫</a:t>
              </a:r>
              <a:endParaRPr sz="1100"/>
            </a:p>
          </p:txBody>
        </p:sp>
        <p:sp>
          <p:nvSpPr>
            <p:cNvPr id="867" name="Google Shape;867;p36"/>
            <p:cNvSpPr txBox="1"/>
            <p:nvPr/>
          </p:nvSpPr>
          <p:spPr>
            <a:xfrm>
              <a:off x="5895749" y="389239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6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AI 加速</a:t>
              </a:r>
              <a:endParaRPr sz="1100"/>
            </a:p>
          </p:txBody>
        </p:sp>
      </p:grpSp>
      <p:grpSp>
        <p:nvGrpSpPr>
          <p:cNvPr id="868" name="Google Shape;868;p36"/>
          <p:cNvGrpSpPr/>
          <p:nvPr/>
        </p:nvGrpSpPr>
        <p:grpSpPr>
          <a:xfrm>
            <a:off x="4743450" y="1028700"/>
            <a:ext cx="3971925" cy="3629025"/>
            <a:chOff x="6324600" y="1371600"/>
            <a:chExt cx="5295900" cy="4838700"/>
          </a:xfrm>
        </p:grpSpPr>
        <p:sp>
          <p:nvSpPr>
            <p:cNvPr id="869" name="Google Shape;869;p36"/>
            <p:cNvSpPr/>
            <p:nvPr/>
          </p:nvSpPr>
          <p:spPr>
            <a:xfrm>
              <a:off x="6324600" y="1371600"/>
              <a:ext cx="5295900" cy="4838700"/>
            </a:xfrm>
            <a:prstGeom prst="roundRect">
              <a:avLst>
                <a:gd fmla="val 3937" name="adj"/>
              </a:avLst>
            </a:prstGeom>
            <a:solidFill>
              <a:srgbClr val="F0EDE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6"/>
            <p:cNvSpPr/>
            <p:nvPr/>
          </p:nvSpPr>
          <p:spPr>
            <a:xfrm>
              <a:off x="7381875" y="1371600"/>
              <a:ext cx="3181350" cy="533400"/>
            </a:xfrm>
            <a:custGeom>
              <a:rect b="b" l="l" r="r" t="t"/>
              <a:pathLst>
                <a:path extrusionOk="0" h="533400" w="3181350">
                  <a:moveTo>
                    <a:pt x="228600" y="0"/>
                  </a:moveTo>
                  <a:lnTo>
                    <a:pt x="2952750" y="0"/>
                  </a:lnTo>
                  <a:cubicBezTo>
                    <a:pt x="3079002" y="0"/>
                    <a:pt x="3181350" y="102348"/>
                    <a:pt x="3181350" y="228600"/>
                  </a:cubicBezTo>
                  <a:lnTo>
                    <a:pt x="3181350" y="533400"/>
                  </a:lnTo>
                  <a:lnTo>
                    <a:pt x="0" y="533400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6"/>
            <p:cNvSpPr txBox="1"/>
            <p:nvPr/>
          </p:nvSpPr>
          <p:spPr>
            <a:xfrm>
              <a:off x="8391439" y="1470660"/>
              <a:ext cx="11622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AI 驱动工作流</a:t>
              </a:r>
              <a:endParaRPr sz="1100"/>
            </a:p>
          </p:txBody>
        </p:sp>
        <p:sp>
          <p:nvSpPr>
            <p:cNvPr id="872" name="Google Shape;872;p36"/>
            <p:cNvSpPr txBox="1"/>
            <p:nvPr/>
          </p:nvSpPr>
          <p:spPr>
            <a:xfrm>
              <a:off x="7897393" y="1651935"/>
              <a:ext cx="2032800" cy="14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AI-DRIVEN WORKFLOW</a:t>
              </a:r>
              <a:endParaRPr sz="1100"/>
            </a:p>
          </p:txBody>
        </p:sp>
        <p:sp>
          <p:nvSpPr>
            <p:cNvPr id="873" name="Google Shape;873;p36"/>
            <p:cNvSpPr/>
            <p:nvPr/>
          </p:nvSpPr>
          <p:spPr>
            <a:xfrm>
              <a:off x="6515100" y="2057400"/>
              <a:ext cx="4914900" cy="3810000"/>
            </a:xfrm>
            <a:prstGeom prst="roundRect">
              <a:avLst>
                <a:gd fmla="val 3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6"/>
            <p:cNvSpPr/>
            <p:nvPr/>
          </p:nvSpPr>
          <p:spPr>
            <a:xfrm>
              <a:off x="6705600" y="2305050"/>
              <a:ext cx="1143000" cy="381000"/>
            </a:xfrm>
            <a:prstGeom prst="roundRect">
              <a:avLst>
                <a:gd fmla="val 20000" name="adj"/>
              </a:avLst>
            </a:prstGeom>
            <a:solidFill>
              <a:srgbClr val="F0EDE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6"/>
            <p:cNvSpPr txBox="1"/>
            <p:nvPr/>
          </p:nvSpPr>
          <p:spPr>
            <a:xfrm>
              <a:off x="6946523" y="2421731"/>
              <a:ext cx="6611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💡 有想法</a:t>
              </a:r>
              <a:endParaRPr sz="1100"/>
            </a:p>
          </p:txBody>
        </p:sp>
        <p:sp>
          <p:nvSpPr>
            <p:cNvPr id="876" name="Google Shape;876;p36"/>
            <p:cNvSpPr/>
            <p:nvPr/>
          </p:nvSpPr>
          <p:spPr>
            <a:xfrm>
              <a:off x="7277100" y="2686050"/>
              <a:ext cx="9525" cy="285750"/>
            </a:xfrm>
            <a:custGeom>
              <a:rect b="b" l="l" r="r" t="t"/>
              <a:pathLst>
                <a:path extrusionOk="0" h="285750" w="9525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cap="flat" cmpd="sng" w="19050">
              <a:solidFill>
                <a:srgbClr val="C96133"/>
              </a:solidFill>
              <a:prstDash val="dashDot"/>
              <a:round/>
              <a:headEnd len="sm" w="sm" type="none"/>
              <a:tailEnd len="sm" w="sm" type="none"/>
            </a:ln>
          </p:spPr>
        </p:sp>
        <p:sp>
          <p:nvSpPr>
            <p:cNvPr id="877" name="Google Shape;877;p36"/>
            <p:cNvSpPr/>
            <p:nvPr/>
          </p:nvSpPr>
          <p:spPr>
            <a:xfrm>
              <a:off x="7219950" y="2933700"/>
              <a:ext cx="114300" cy="95250"/>
            </a:xfrm>
            <a:custGeom>
              <a:rect b="b" l="l" r="r" t="t"/>
              <a:pathLst>
                <a:path extrusionOk="0" h="95250" w="11430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C96133"/>
            </a:solidFill>
            <a:ln>
              <a:noFill/>
            </a:ln>
          </p:spPr>
        </p:sp>
        <p:sp>
          <p:nvSpPr>
            <p:cNvPr id="878" name="Google Shape;878;p36"/>
            <p:cNvSpPr/>
            <p:nvPr/>
          </p:nvSpPr>
          <p:spPr>
            <a:xfrm>
              <a:off x="6515100" y="3086100"/>
              <a:ext cx="4914900" cy="495300"/>
            </a:xfrm>
            <a:prstGeom prst="roundRect">
              <a:avLst>
                <a:gd fmla="val 19231" name="adj"/>
              </a:avLst>
            </a:prstGeom>
            <a:solidFill>
              <a:srgbClr val="F0EDE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36"/>
            <p:cNvSpPr txBox="1"/>
            <p:nvPr/>
          </p:nvSpPr>
          <p:spPr>
            <a:xfrm>
              <a:off x="8176260" y="3204210"/>
              <a:ext cx="17234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Claude Design brief</a:t>
              </a:r>
              <a:endParaRPr sz="1100"/>
            </a:p>
          </p:txBody>
        </p:sp>
        <p:sp>
          <p:nvSpPr>
            <p:cNvPr id="880" name="Google Shape;880;p36"/>
            <p:cNvSpPr txBox="1"/>
            <p:nvPr/>
          </p:nvSpPr>
          <p:spPr>
            <a:xfrm>
              <a:off x="8179118" y="3399949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5 分钟描述需求 → 立即生成视觉稿</a:t>
              </a:r>
              <a:endParaRPr sz="1100"/>
            </a:p>
          </p:txBody>
        </p:sp>
        <p:sp>
          <p:nvSpPr>
            <p:cNvPr id="881" name="Google Shape;881;p36"/>
            <p:cNvSpPr/>
            <p:nvPr/>
          </p:nvSpPr>
          <p:spPr>
            <a:xfrm>
              <a:off x="8972550" y="3581400"/>
              <a:ext cx="9525" cy="285750"/>
            </a:xfrm>
            <a:custGeom>
              <a:rect b="b" l="l" r="r" t="t"/>
              <a:pathLst>
                <a:path extrusionOk="0" h="285750" w="9525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cap="flat" cmpd="sng" w="19050">
              <a:solidFill>
                <a:srgbClr val="C96133"/>
              </a:solidFill>
              <a:prstDash val="dashDot"/>
              <a:round/>
              <a:headEnd len="sm" w="sm" type="none"/>
              <a:tailEnd len="sm" w="sm" type="none"/>
            </a:ln>
          </p:spPr>
        </p:sp>
        <p:sp>
          <p:nvSpPr>
            <p:cNvPr id="882" name="Google Shape;882;p36"/>
            <p:cNvSpPr/>
            <p:nvPr/>
          </p:nvSpPr>
          <p:spPr>
            <a:xfrm>
              <a:off x="8915400" y="3829050"/>
              <a:ext cx="114300" cy="95250"/>
            </a:xfrm>
            <a:custGeom>
              <a:rect b="b" l="l" r="r" t="t"/>
              <a:pathLst>
                <a:path extrusionOk="0" h="95250" w="11430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C96133"/>
            </a:solidFill>
            <a:ln>
              <a:noFill/>
            </a:ln>
          </p:spPr>
        </p:sp>
        <p:sp>
          <p:nvSpPr>
            <p:cNvPr id="883" name="Google Shape;883;p36"/>
            <p:cNvSpPr/>
            <p:nvPr/>
          </p:nvSpPr>
          <p:spPr>
            <a:xfrm>
              <a:off x="6515100" y="3981450"/>
              <a:ext cx="4914900" cy="495300"/>
            </a:xfrm>
            <a:prstGeom prst="roundRect">
              <a:avLst>
                <a:gd fmla="val 19231" name="adj"/>
              </a:avLst>
            </a:prstGeom>
            <a:solidFill>
              <a:srgbClr val="EBF0F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6"/>
            <p:cNvSpPr txBox="1"/>
            <p:nvPr/>
          </p:nvSpPr>
          <p:spPr>
            <a:xfrm>
              <a:off x="8176260" y="4099560"/>
              <a:ext cx="14750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00" u="none" cap="none" strike="noStrike">
                  <a:solidFill>
                    <a:srgbClr val="3D7DE4"/>
                  </a:solidFill>
                  <a:latin typeface="Arial"/>
                  <a:ea typeface="Arial"/>
                  <a:cs typeface="Arial"/>
                  <a:sym typeface="Arial"/>
                </a:rPr>
                <a:t>Claude Code 实现</a:t>
              </a:r>
              <a:endParaRPr sz="1100"/>
            </a:p>
          </p:txBody>
        </p:sp>
        <p:sp>
          <p:nvSpPr>
            <p:cNvPr id="885" name="Google Shape;885;p36"/>
            <p:cNvSpPr txBox="1"/>
            <p:nvPr/>
          </p:nvSpPr>
          <p:spPr>
            <a:xfrm>
              <a:off x="8179118" y="4295299"/>
              <a:ext cx="18901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brief 直通代码 → 调试 → 完成</a:t>
              </a:r>
              <a:endParaRPr sz="1100"/>
            </a:p>
          </p:txBody>
        </p:sp>
        <p:sp>
          <p:nvSpPr>
            <p:cNvPr id="886" name="Google Shape;886;p36"/>
            <p:cNvSpPr/>
            <p:nvPr/>
          </p:nvSpPr>
          <p:spPr>
            <a:xfrm>
              <a:off x="8972550" y="4476750"/>
              <a:ext cx="9525" cy="285750"/>
            </a:xfrm>
            <a:custGeom>
              <a:rect b="b" l="l" r="r" t="t"/>
              <a:pathLst>
                <a:path extrusionOk="0" h="285750" w="9525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cap="flat" cmpd="sng" w="19050">
              <a:solidFill>
                <a:srgbClr val="3A9E6A"/>
              </a:solidFill>
              <a:prstDash val="dashDot"/>
              <a:round/>
              <a:headEnd len="sm" w="sm" type="none"/>
              <a:tailEnd len="sm" w="sm" type="none"/>
            </a:ln>
          </p:spPr>
        </p:sp>
        <p:sp>
          <p:nvSpPr>
            <p:cNvPr id="887" name="Google Shape;887;p36"/>
            <p:cNvSpPr/>
            <p:nvPr/>
          </p:nvSpPr>
          <p:spPr>
            <a:xfrm>
              <a:off x="8915400" y="4724400"/>
              <a:ext cx="114300" cy="95250"/>
            </a:xfrm>
            <a:custGeom>
              <a:rect b="b" l="l" r="r" t="t"/>
              <a:pathLst>
                <a:path extrusionOk="0" h="95250" w="11430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</p:sp>
        <p:sp>
          <p:nvSpPr>
            <p:cNvPr id="888" name="Google Shape;888;p36"/>
            <p:cNvSpPr/>
            <p:nvPr/>
          </p:nvSpPr>
          <p:spPr>
            <a:xfrm>
              <a:off x="6515100" y="4876800"/>
              <a:ext cx="4914900" cy="495300"/>
            </a:xfrm>
            <a:prstGeom prst="roundRect">
              <a:avLst>
                <a:gd fmla="val 19231" name="adj"/>
              </a:avLst>
            </a:prstGeom>
            <a:solidFill>
              <a:srgbClr val="E8F5E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6"/>
            <p:cNvSpPr txBox="1"/>
            <p:nvPr/>
          </p:nvSpPr>
          <p:spPr>
            <a:xfrm>
              <a:off x="8603066" y="4994910"/>
              <a:ext cx="7389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900" u="none" cap="none" strike="noStrike">
                  <a:solidFill>
                    <a:srgbClr val="3A9E6A"/>
                  </a:solidFill>
                  <a:latin typeface="Arial"/>
                  <a:ea typeface="Arial"/>
                  <a:cs typeface="Arial"/>
                  <a:sym typeface="Arial"/>
                </a:rPr>
                <a:t>🌎 上线！</a:t>
              </a:r>
              <a:endParaRPr sz="1100"/>
            </a:p>
          </p:txBody>
        </p:sp>
        <p:sp>
          <p:nvSpPr>
            <p:cNvPr id="890" name="Google Shape;890;p36"/>
            <p:cNvSpPr txBox="1"/>
            <p:nvPr/>
          </p:nvSpPr>
          <p:spPr>
            <a:xfrm>
              <a:off x="8194774" y="5190649"/>
              <a:ext cx="15555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Git → Vercel → 对外开放</a:t>
              </a:r>
              <a:endParaRPr sz="1100"/>
            </a:p>
          </p:txBody>
        </p:sp>
        <p:sp>
          <p:nvSpPr>
            <p:cNvPr id="891" name="Google Shape;891;p36"/>
            <p:cNvSpPr/>
            <p:nvPr/>
          </p:nvSpPr>
          <p:spPr>
            <a:xfrm>
              <a:off x="6515100" y="5486400"/>
              <a:ext cx="4914900" cy="533400"/>
            </a:xfrm>
            <a:prstGeom prst="roundRect">
              <a:avLst>
                <a:gd fmla="val 14286" name="adj"/>
              </a:avLst>
            </a:prstGeom>
            <a:solidFill>
              <a:srgbClr val="F0EDE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6"/>
            <p:cNvSpPr txBox="1"/>
            <p:nvPr/>
          </p:nvSpPr>
          <p:spPr>
            <a:xfrm>
              <a:off x="7396162" y="55826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耗时</a:t>
              </a:r>
              <a:endParaRPr sz="1100"/>
            </a:p>
          </p:txBody>
        </p:sp>
        <p:sp>
          <p:nvSpPr>
            <p:cNvPr id="893" name="Google Shape;893;p36"/>
            <p:cNvSpPr txBox="1"/>
            <p:nvPr/>
          </p:nvSpPr>
          <p:spPr>
            <a:xfrm>
              <a:off x="7266220" y="5759768"/>
              <a:ext cx="5932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3A9E6A"/>
                  </a:solidFill>
                  <a:latin typeface="Arial"/>
                  <a:ea typeface="Arial"/>
                  <a:cs typeface="Arial"/>
                  <a:sym typeface="Arial"/>
                </a:rPr>
                <a:t>1~2 天</a:t>
              </a:r>
              <a:endParaRPr sz="1100"/>
            </a:p>
          </p:txBody>
        </p:sp>
        <p:sp>
          <p:nvSpPr>
            <p:cNvPr id="894" name="Google Shape;894;p36"/>
            <p:cNvSpPr/>
            <p:nvPr/>
          </p:nvSpPr>
          <p:spPr>
            <a:xfrm>
              <a:off x="8972550" y="5562600"/>
              <a:ext cx="9525" cy="381000"/>
            </a:xfrm>
            <a:custGeom>
              <a:rect b="b" l="l" r="r" t="t"/>
              <a:pathLst>
                <a:path extrusionOk="0" h="381000" w="9525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cap="flat" cmpd="sng" w="952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95" name="Google Shape;895;p36"/>
            <p:cNvSpPr txBox="1"/>
            <p:nvPr/>
          </p:nvSpPr>
          <p:spPr>
            <a:xfrm>
              <a:off x="10215562" y="558260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成本</a:t>
              </a:r>
              <a:endParaRPr sz="1100"/>
            </a:p>
          </p:txBody>
        </p:sp>
        <p:sp>
          <p:nvSpPr>
            <p:cNvPr id="896" name="Google Shape;896;p36"/>
            <p:cNvSpPr txBox="1"/>
            <p:nvPr/>
          </p:nvSpPr>
          <p:spPr>
            <a:xfrm>
              <a:off x="10251241" y="5759768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3A9E6A"/>
                  </a:solidFill>
                  <a:latin typeface="Arial"/>
                  <a:ea typeface="Arial"/>
                  <a:cs typeface="Arial"/>
                  <a:sym typeface="Arial"/>
                </a:rPr>
                <a:t>$0</a:t>
              </a:r>
              <a:endParaRPr sz="1100"/>
            </a:p>
          </p:txBody>
        </p:sp>
      </p:grpSp>
      <p:sp>
        <p:nvSpPr>
          <p:cNvPr id="897" name="Google Shape;897;p36"/>
          <p:cNvSpPr txBox="1"/>
          <p:nvPr/>
        </p:nvSpPr>
        <p:spPr>
          <a:xfrm>
            <a:off x="8348829" y="4915614"/>
            <a:ext cx="376547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12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37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7"/>
          <p:cNvSpPr txBox="1"/>
          <p:nvPr/>
        </p:nvSpPr>
        <p:spPr>
          <a:xfrm>
            <a:off x="2481200" y="238601"/>
            <a:ext cx="418160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Demo A：从 Brief 到真实 URL</a:t>
            </a:r>
            <a:endParaRPr sz="1100"/>
          </a:p>
        </p:txBody>
      </p:sp>
      <p:sp>
        <p:nvSpPr>
          <p:cNvPr id="905" name="Google Shape;905;p37"/>
          <p:cNvSpPr txBox="1"/>
          <p:nvPr/>
        </p:nvSpPr>
        <p:spPr>
          <a:xfrm>
            <a:off x="2708249" y="552212"/>
            <a:ext cx="3727502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北美华人理财顾问落地页 · 35 min 全流程实战</a:t>
            </a:r>
            <a:endParaRPr sz="1100"/>
          </a:p>
        </p:txBody>
      </p:sp>
      <p:sp>
        <p:nvSpPr>
          <p:cNvPr id="906" name="Google Shape;906;p37"/>
          <p:cNvSpPr/>
          <p:nvPr/>
        </p:nvSpPr>
        <p:spPr>
          <a:xfrm>
            <a:off x="571500" y="828675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7" name="Google Shape;907;p37"/>
          <p:cNvSpPr/>
          <p:nvPr/>
        </p:nvSpPr>
        <p:spPr>
          <a:xfrm>
            <a:off x="3514725" y="957263"/>
            <a:ext cx="2114550" cy="342900"/>
          </a:xfrm>
          <a:prstGeom prst="roundRect">
            <a:avLst>
              <a:gd fmla="val 50000" name="adj"/>
            </a:avLst>
          </a:prstGeom>
          <a:solidFill>
            <a:srgbClr val="C96133">
              <a:alpha val="784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7"/>
          <p:cNvSpPr/>
          <p:nvPr/>
        </p:nvSpPr>
        <p:spPr>
          <a:xfrm>
            <a:off x="3700462" y="1064062"/>
            <a:ext cx="107160" cy="129301"/>
          </a:xfrm>
          <a:custGeom>
            <a:rect b="b" l="l" r="r" t="t"/>
            <a:pathLst>
              <a:path extrusionOk="0" h="172401" w="142880">
                <a:moveTo>
                  <a:pt x="1" y="10001"/>
                </a:moveTo>
                <a:lnTo>
                  <a:pt x="1" y="162401"/>
                </a:lnTo>
                <a:cubicBezTo>
                  <a:pt x="0" y="165852"/>
                  <a:pt x="1866" y="169033"/>
                  <a:pt x="4878" y="170717"/>
                </a:cubicBezTo>
                <a:cubicBezTo>
                  <a:pt x="7890" y="172401"/>
                  <a:pt x="11578" y="172324"/>
                  <a:pt x="14517" y="170516"/>
                </a:cubicBezTo>
                <a:lnTo>
                  <a:pt x="138342" y="94316"/>
                </a:lnTo>
                <a:cubicBezTo>
                  <a:pt x="141162" y="92583"/>
                  <a:pt x="142880" y="89511"/>
                  <a:pt x="142880" y="86201"/>
                </a:cubicBezTo>
                <a:cubicBezTo>
                  <a:pt x="142880" y="82891"/>
                  <a:pt x="141162" y="79818"/>
                  <a:pt x="138342" y="78085"/>
                </a:cubicBezTo>
                <a:lnTo>
                  <a:pt x="14517" y="1885"/>
                </a:lnTo>
                <a:cubicBezTo>
                  <a:pt x="11578" y="77"/>
                  <a:pt x="7890" y="0"/>
                  <a:pt x="4878" y="1684"/>
                </a:cubicBezTo>
                <a:cubicBezTo>
                  <a:pt x="1866" y="3368"/>
                  <a:pt x="0" y="6550"/>
                  <a:pt x="1" y="10001"/>
                </a:cubicBezTo>
                <a:close/>
              </a:path>
            </a:pathLst>
          </a:cu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7"/>
          <p:cNvSpPr txBox="1"/>
          <p:nvPr/>
        </p:nvSpPr>
        <p:spPr>
          <a:xfrm>
            <a:off x="3902631" y="1068348"/>
            <a:ext cx="2605211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场景：401K / RSU / ISO / 529 理财顾问</a:t>
            </a:r>
            <a:endParaRPr sz="1100"/>
          </a:p>
        </p:txBody>
      </p:sp>
      <p:sp>
        <p:nvSpPr>
          <p:cNvPr id="910" name="Google Shape;910;p37"/>
          <p:cNvSpPr/>
          <p:nvPr/>
        </p:nvSpPr>
        <p:spPr>
          <a:xfrm>
            <a:off x="2586038" y="3000375"/>
            <a:ext cx="228600" cy="7144"/>
          </a:xfrm>
          <a:custGeom>
            <a:rect b="b" l="l" r="r" t="t"/>
            <a:pathLst>
              <a:path extrusionOk="0" h="9525"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cap="flat" cmpd="sng" w="23800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1" name="Google Shape;911;p37"/>
          <p:cNvSpPr/>
          <p:nvPr/>
        </p:nvSpPr>
        <p:spPr>
          <a:xfrm>
            <a:off x="2814638" y="2957513"/>
            <a:ext cx="100013" cy="85725"/>
          </a:xfrm>
          <a:custGeom>
            <a:rect b="b" l="l" r="r" t="t"/>
            <a:pathLst>
              <a:path extrusionOk="0" h="114300" w="133350">
                <a:moveTo>
                  <a:pt x="0" y="0"/>
                </a:moveTo>
                <a:lnTo>
                  <a:pt x="13335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C96133">
              <a:alpha val="50196"/>
            </a:srgbClr>
          </a:solidFill>
          <a:ln>
            <a:noFill/>
          </a:ln>
        </p:spPr>
      </p:sp>
      <p:sp>
        <p:nvSpPr>
          <p:cNvPr id="912" name="Google Shape;912;p37"/>
          <p:cNvSpPr/>
          <p:nvPr/>
        </p:nvSpPr>
        <p:spPr>
          <a:xfrm>
            <a:off x="4600575" y="3000375"/>
            <a:ext cx="228600" cy="7144"/>
          </a:xfrm>
          <a:custGeom>
            <a:rect b="b" l="l" r="r" t="t"/>
            <a:pathLst>
              <a:path extrusionOk="0" h="9525"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cap="flat" cmpd="sng" w="23800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3" name="Google Shape;913;p37"/>
          <p:cNvSpPr/>
          <p:nvPr/>
        </p:nvSpPr>
        <p:spPr>
          <a:xfrm>
            <a:off x="4829175" y="2957513"/>
            <a:ext cx="100013" cy="85725"/>
          </a:xfrm>
          <a:custGeom>
            <a:rect b="b" l="l" r="r" t="t"/>
            <a:pathLst>
              <a:path extrusionOk="0" h="114300" w="133350">
                <a:moveTo>
                  <a:pt x="0" y="0"/>
                </a:moveTo>
                <a:lnTo>
                  <a:pt x="13335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C96133">
              <a:alpha val="50196"/>
            </a:srgbClr>
          </a:solidFill>
          <a:ln>
            <a:noFill/>
          </a:ln>
        </p:spPr>
      </p:sp>
      <p:sp>
        <p:nvSpPr>
          <p:cNvPr id="914" name="Google Shape;914;p37"/>
          <p:cNvSpPr/>
          <p:nvPr/>
        </p:nvSpPr>
        <p:spPr>
          <a:xfrm>
            <a:off x="6615113" y="3000375"/>
            <a:ext cx="228600" cy="7144"/>
          </a:xfrm>
          <a:custGeom>
            <a:rect b="b" l="l" r="r" t="t"/>
            <a:pathLst>
              <a:path extrusionOk="0" h="9525"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cap="flat" cmpd="sng" w="23800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5" name="Google Shape;915;p37"/>
          <p:cNvSpPr/>
          <p:nvPr/>
        </p:nvSpPr>
        <p:spPr>
          <a:xfrm>
            <a:off x="6843713" y="2957513"/>
            <a:ext cx="100013" cy="85725"/>
          </a:xfrm>
          <a:custGeom>
            <a:rect b="b" l="l" r="r" t="t"/>
            <a:pathLst>
              <a:path extrusionOk="0" h="114300" w="133350">
                <a:moveTo>
                  <a:pt x="0" y="0"/>
                </a:moveTo>
                <a:lnTo>
                  <a:pt x="13335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C96133">
              <a:alpha val="50196"/>
            </a:srgbClr>
          </a:solidFill>
          <a:ln>
            <a:noFill/>
          </a:ln>
        </p:spPr>
      </p:sp>
      <p:sp>
        <p:nvSpPr>
          <p:cNvPr id="916" name="Google Shape;916;p37"/>
          <p:cNvSpPr/>
          <p:nvPr/>
        </p:nvSpPr>
        <p:spPr>
          <a:xfrm>
            <a:off x="571500" y="1428750"/>
            <a:ext cx="2014538" cy="3143250"/>
          </a:xfrm>
          <a:prstGeom prst="roundRect">
            <a:avLst>
              <a:gd fmla="val 4965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37"/>
          <p:cNvSpPr/>
          <p:nvPr/>
        </p:nvSpPr>
        <p:spPr>
          <a:xfrm>
            <a:off x="571500" y="1428750"/>
            <a:ext cx="2014538" cy="42863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37"/>
          <p:cNvSpPr/>
          <p:nvPr/>
        </p:nvSpPr>
        <p:spPr>
          <a:xfrm>
            <a:off x="714375" y="1585913"/>
            <a:ext cx="514350" cy="200025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37"/>
          <p:cNvSpPr txBox="1"/>
          <p:nvPr/>
        </p:nvSpPr>
        <p:spPr>
          <a:xfrm>
            <a:off x="792478" y="1636633"/>
            <a:ext cx="35814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sz="1100"/>
          </a:p>
        </p:txBody>
      </p:sp>
      <p:sp>
        <p:nvSpPr>
          <p:cNvPr id="920" name="Google Shape;920;p37"/>
          <p:cNvSpPr/>
          <p:nvPr/>
        </p:nvSpPr>
        <p:spPr>
          <a:xfrm>
            <a:off x="2014538" y="1585913"/>
            <a:ext cx="428625" cy="200025"/>
          </a:xfrm>
          <a:prstGeom prst="roundRect">
            <a:avLst>
              <a:gd fmla="val 50000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37"/>
          <p:cNvSpPr txBox="1"/>
          <p:nvPr/>
        </p:nvSpPr>
        <p:spPr>
          <a:xfrm>
            <a:off x="2052797" y="1636633"/>
            <a:ext cx="352106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14 min</a:t>
            </a:r>
            <a:endParaRPr sz="1100"/>
          </a:p>
        </p:txBody>
      </p:sp>
      <p:sp>
        <p:nvSpPr>
          <p:cNvPr id="922" name="Google Shape;922;p37"/>
          <p:cNvSpPr/>
          <p:nvPr/>
        </p:nvSpPr>
        <p:spPr>
          <a:xfrm>
            <a:off x="738188" y="1938338"/>
            <a:ext cx="238125" cy="238368"/>
          </a:xfrm>
          <a:custGeom>
            <a:rect b="b" l="l" r="r" t="t"/>
            <a:pathLst>
              <a:path extrusionOk="0" h="317824" w="317500">
                <a:moveTo>
                  <a:pt x="158750" y="0"/>
                </a:moveTo>
                <a:cubicBezTo>
                  <a:pt x="246031" y="0"/>
                  <a:pt x="317500" y="63532"/>
                  <a:pt x="317500" y="142875"/>
                </a:cubicBezTo>
                <a:cubicBezTo>
                  <a:pt x="317500" y="164322"/>
                  <a:pt x="307975" y="184785"/>
                  <a:pt x="291243" y="199644"/>
                </a:cubicBezTo>
                <a:cubicBezTo>
                  <a:pt x="274891" y="214154"/>
                  <a:pt x="252952" y="222250"/>
                  <a:pt x="230187" y="222250"/>
                </a:cubicBezTo>
                <a:lnTo>
                  <a:pt x="190246" y="222250"/>
                </a:lnTo>
                <a:cubicBezTo>
                  <a:pt x="182960" y="222133"/>
                  <a:pt x="176529" y="226991"/>
                  <a:pt x="174651" y="234033"/>
                </a:cubicBezTo>
                <a:cubicBezTo>
                  <a:pt x="172774" y="241074"/>
                  <a:pt x="175931" y="248489"/>
                  <a:pt x="182308" y="252016"/>
                </a:cubicBezTo>
                <a:cubicBezTo>
                  <a:pt x="183420" y="252631"/>
                  <a:pt x="184454" y="253377"/>
                  <a:pt x="185388" y="254238"/>
                </a:cubicBezTo>
                <a:cubicBezTo>
                  <a:pt x="196517" y="264508"/>
                  <a:pt x="200152" y="280581"/>
                  <a:pt x="194525" y="294639"/>
                </a:cubicBezTo>
                <a:cubicBezTo>
                  <a:pt x="188898" y="308698"/>
                  <a:pt x="175177" y="317824"/>
                  <a:pt x="160036" y="317579"/>
                </a:cubicBezTo>
                <a:lnTo>
                  <a:pt x="157559" y="317437"/>
                </a:lnTo>
                <a:lnTo>
                  <a:pt x="158639" y="317500"/>
                </a:lnTo>
                <a:lnTo>
                  <a:pt x="154305" y="317437"/>
                </a:lnTo>
                <a:cubicBezTo>
                  <a:pt x="70167" y="315119"/>
                  <a:pt x="2381" y="247333"/>
                  <a:pt x="63" y="163195"/>
                </a:cubicBezTo>
                <a:lnTo>
                  <a:pt x="0" y="158750"/>
                </a:lnTo>
                <a:cubicBezTo>
                  <a:pt x="0" y="71072"/>
                  <a:pt x="71072" y="0"/>
                  <a:pt x="158750" y="0"/>
                </a:cubicBezTo>
                <a:moveTo>
                  <a:pt x="103187" y="103188"/>
                </a:moveTo>
                <a:cubicBezTo>
                  <a:pt x="86572" y="103182"/>
                  <a:pt x="72763" y="115988"/>
                  <a:pt x="71517" y="132556"/>
                </a:cubicBezTo>
                <a:lnTo>
                  <a:pt x="71438" y="134938"/>
                </a:lnTo>
                <a:cubicBezTo>
                  <a:pt x="71438" y="152473"/>
                  <a:pt x="85652" y="166688"/>
                  <a:pt x="103187" y="166688"/>
                </a:cubicBezTo>
                <a:cubicBezTo>
                  <a:pt x="120723" y="166688"/>
                  <a:pt x="134937" y="152473"/>
                  <a:pt x="134937" y="134938"/>
                </a:cubicBezTo>
                <a:cubicBezTo>
                  <a:pt x="134937" y="117402"/>
                  <a:pt x="120723" y="103188"/>
                  <a:pt x="103187" y="103188"/>
                </a:cubicBezTo>
                <a:moveTo>
                  <a:pt x="230187" y="103188"/>
                </a:moveTo>
                <a:cubicBezTo>
                  <a:pt x="213572" y="103182"/>
                  <a:pt x="199763" y="115988"/>
                  <a:pt x="198517" y="132556"/>
                </a:cubicBezTo>
                <a:lnTo>
                  <a:pt x="198437" y="134938"/>
                </a:lnTo>
                <a:cubicBezTo>
                  <a:pt x="198437" y="152473"/>
                  <a:pt x="212652" y="166688"/>
                  <a:pt x="230187" y="166688"/>
                </a:cubicBezTo>
                <a:cubicBezTo>
                  <a:pt x="247723" y="166688"/>
                  <a:pt x="261938" y="152473"/>
                  <a:pt x="261938" y="134938"/>
                </a:cubicBezTo>
                <a:cubicBezTo>
                  <a:pt x="261938" y="117402"/>
                  <a:pt x="247723" y="103188"/>
                  <a:pt x="230187" y="103188"/>
                </a:cubicBezTo>
                <a:moveTo>
                  <a:pt x="166688" y="55563"/>
                </a:moveTo>
                <a:cubicBezTo>
                  <a:pt x="150072" y="55557"/>
                  <a:pt x="136263" y="68363"/>
                  <a:pt x="135017" y="84931"/>
                </a:cubicBezTo>
                <a:lnTo>
                  <a:pt x="134937" y="87313"/>
                </a:lnTo>
                <a:cubicBezTo>
                  <a:pt x="134937" y="104848"/>
                  <a:pt x="149152" y="119062"/>
                  <a:pt x="166687" y="119062"/>
                </a:cubicBezTo>
                <a:cubicBezTo>
                  <a:pt x="184223" y="119062"/>
                  <a:pt x="198437" y="104848"/>
                  <a:pt x="198437" y="87313"/>
                </a:cubicBezTo>
                <a:cubicBezTo>
                  <a:pt x="198437" y="69777"/>
                  <a:pt x="184223" y="55563"/>
                  <a:pt x="166687" y="55563"/>
                </a:cubicBezTo>
              </a:path>
            </a:pathLst>
          </a:cu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37"/>
          <p:cNvSpPr txBox="1"/>
          <p:nvPr/>
        </p:nvSpPr>
        <p:spPr>
          <a:xfrm>
            <a:off x="700088" y="2278856"/>
            <a:ext cx="176241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Brief + Claude Design</a:t>
            </a:r>
            <a:endParaRPr sz="1100"/>
          </a:p>
        </p:txBody>
      </p:sp>
      <p:sp>
        <p:nvSpPr>
          <p:cNvPr id="924" name="Google Shape;924;p37"/>
          <p:cNvSpPr/>
          <p:nvPr/>
        </p:nvSpPr>
        <p:spPr>
          <a:xfrm>
            <a:off x="714375" y="2514600"/>
            <a:ext cx="1728788" cy="7144"/>
          </a:xfrm>
          <a:custGeom>
            <a:rect b="b" l="l" r="r" t="t"/>
            <a:pathLst>
              <a:path extrusionOk="0" h="9525" w="2305050">
                <a:moveTo>
                  <a:pt x="0" y="0"/>
                </a:moveTo>
                <a:lnTo>
                  <a:pt x="2305050" y="0"/>
                </a:lnTo>
              </a:path>
            </a:pathLst>
          </a:custGeom>
          <a:noFill/>
          <a:ln cap="flat" cmpd="sng" w="14275">
            <a:solidFill>
              <a:srgbClr val="F0EDE8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5" name="Google Shape;925;p37"/>
          <p:cNvSpPr/>
          <p:nvPr/>
        </p:nvSpPr>
        <p:spPr>
          <a:xfrm>
            <a:off x="757238" y="2671763"/>
            <a:ext cx="57150" cy="57150"/>
          </a:xfrm>
          <a:prstGeom prst="ellipse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37"/>
          <p:cNvSpPr txBox="1"/>
          <p:nvPr/>
        </p:nvSpPr>
        <p:spPr>
          <a:xfrm>
            <a:off x="874395" y="2631757"/>
            <a:ext cx="785241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写产品 brief</a:t>
            </a:r>
            <a:endParaRPr sz="1100"/>
          </a:p>
        </p:txBody>
      </p:sp>
      <p:sp>
        <p:nvSpPr>
          <p:cNvPr id="927" name="Google Shape;927;p37"/>
          <p:cNvSpPr/>
          <p:nvPr/>
        </p:nvSpPr>
        <p:spPr>
          <a:xfrm>
            <a:off x="757238" y="2928938"/>
            <a:ext cx="57150" cy="57150"/>
          </a:xfrm>
          <a:prstGeom prst="ellipse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37"/>
          <p:cNvSpPr txBox="1"/>
          <p:nvPr/>
        </p:nvSpPr>
        <p:spPr>
          <a:xfrm>
            <a:off x="874395" y="2888932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生成首页视觉稿</a:t>
            </a:r>
            <a:endParaRPr sz="1100"/>
          </a:p>
        </p:txBody>
      </p:sp>
      <p:sp>
        <p:nvSpPr>
          <p:cNvPr id="929" name="Google Shape;929;p37"/>
          <p:cNvSpPr/>
          <p:nvPr/>
        </p:nvSpPr>
        <p:spPr>
          <a:xfrm>
            <a:off x="757238" y="3186113"/>
            <a:ext cx="57150" cy="57150"/>
          </a:xfrm>
          <a:prstGeom prst="ellipse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37"/>
          <p:cNvSpPr txBox="1"/>
          <p:nvPr/>
        </p:nvSpPr>
        <p:spPr>
          <a:xfrm>
            <a:off x="874395" y="3146107"/>
            <a:ext cx="69980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迭代 + 精修</a:t>
            </a:r>
            <a:endParaRPr sz="1100"/>
          </a:p>
        </p:txBody>
      </p:sp>
      <p:sp>
        <p:nvSpPr>
          <p:cNvPr id="931" name="Google Shape;931;p37"/>
          <p:cNvSpPr/>
          <p:nvPr/>
        </p:nvSpPr>
        <p:spPr>
          <a:xfrm>
            <a:off x="757238" y="3443288"/>
            <a:ext cx="57150" cy="57150"/>
          </a:xfrm>
          <a:prstGeom prst="ellipse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37"/>
          <p:cNvSpPr txBox="1"/>
          <p:nvPr/>
        </p:nvSpPr>
        <p:spPr>
          <a:xfrm>
            <a:off x="874395" y="3403282"/>
            <a:ext cx="122558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提取 Design System</a:t>
            </a:r>
            <a:endParaRPr sz="1100"/>
          </a:p>
        </p:txBody>
      </p:sp>
      <p:sp>
        <p:nvSpPr>
          <p:cNvPr id="933" name="Google Shape;933;p37"/>
          <p:cNvSpPr/>
          <p:nvPr/>
        </p:nvSpPr>
        <p:spPr>
          <a:xfrm>
            <a:off x="757238" y="3700463"/>
            <a:ext cx="57150" cy="57150"/>
          </a:xfrm>
          <a:prstGeom prst="ellipse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7"/>
          <p:cNvSpPr txBox="1"/>
          <p:nvPr/>
        </p:nvSpPr>
        <p:spPr>
          <a:xfrm>
            <a:off x="874395" y="3660457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保存为文件</a:t>
            </a:r>
            <a:endParaRPr sz="1100"/>
          </a:p>
        </p:txBody>
      </p:sp>
      <p:sp>
        <p:nvSpPr>
          <p:cNvPr id="935" name="Google Shape;935;p37"/>
          <p:cNvSpPr/>
          <p:nvPr/>
        </p:nvSpPr>
        <p:spPr>
          <a:xfrm>
            <a:off x="714375" y="4057650"/>
            <a:ext cx="1728788" cy="314325"/>
          </a:xfrm>
          <a:prstGeom prst="roundRect">
            <a:avLst>
              <a:gd fmla="val 18182" name="adj"/>
            </a:avLst>
          </a:prstGeom>
          <a:solidFill>
            <a:srgbClr val="FDF5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37"/>
          <p:cNvSpPr txBox="1"/>
          <p:nvPr/>
        </p:nvSpPr>
        <p:spPr>
          <a:xfrm>
            <a:off x="596609" y="4108371"/>
            <a:ext cx="196432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产出：视觉稿 + design-system.md</a:t>
            </a:r>
            <a:endParaRPr sz="1100"/>
          </a:p>
        </p:txBody>
      </p:sp>
      <p:sp>
        <p:nvSpPr>
          <p:cNvPr id="937" name="Google Shape;937;p37"/>
          <p:cNvSpPr/>
          <p:nvPr/>
        </p:nvSpPr>
        <p:spPr>
          <a:xfrm>
            <a:off x="2586038" y="1428750"/>
            <a:ext cx="2014538" cy="3143250"/>
          </a:xfrm>
          <a:prstGeom prst="roundRect">
            <a:avLst>
              <a:gd fmla="val 4965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37"/>
          <p:cNvSpPr/>
          <p:nvPr/>
        </p:nvSpPr>
        <p:spPr>
          <a:xfrm>
            <a:off x="2586038" y="1428750"/>
            <a:ext cx="2014538" cy="42863"/>
          </a:xfrm>
          <a:prstGeom prst="roundRect">
            <a:avLst>
              <a:gd fmla="val 500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37"/>
          <p:cNvSpPr/>
          <p:nvPr/>
        </p:nvSpPr>
        <p:spPr>
          <a:xfrm>
            <a:off x="2728913" y="1585913"/>
            <a:ext cx="514350" cy="200025"/>
          </a:xfrm>
          <a:prstGeom prst="roundRect">
            <a:avLst>
              <a:gd fmla="val 500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37"/>
          <p:cNvSpPr txBox="1"/>
          <p:nvPr/>
        </p:nvSpPr>
        <p:spPr>
          <a:xfrm>
            <a:off x="2791919" y="1636633"/>
            <a:ext cx="388336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2</a:t>
            </a:r>
            <a:endParaRPr sz="1100"/>
          </a:p>
        </p:txBody>
      </p:sp>
      <p:sp>
        <p:nvSpPr>
          <p:cNvPr id="941" name="Google Shape;941;p37"/>
          <p:cNvSpPr/>
          <p:nvPr/>
        </p:nvSpPr>
        <p:spPr>
          <a:xfrm>
            <a:off x="4029075" y="1585913"/>
            <a:ext cx="428625" cy="200025"/>
          </a:xfrm>
          <a:prstGeom prst="roundRect">
            <a:avLst>
              <a:gd fmla="val 50000" name="adj"/>
            </a:avLst>
          </a:prstGeom>
          <a:solidFill>
            <a:srgbClr val="EBF0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37"/>
          <p:cNvSpPr txBox="1"/>
          <p:nvPr/>
        </p:nvSpPr>
        <p:spPr>
          <a:xfrm>
            <a:off x="4085449" y="1636633"/>
            <a:ext cx="315877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8 min</a:t>
            </a:r>
            <a:endParaRPr sz="1100"/>
          </a:p>
        </p:txBody>
      </p:sp>
      <p:sp>
        <p:nvSpPr>
          <p:cNvPr id="943" name="Google Shape;943;p37"/>
          <p:cNvSpPr/>
          <p:nvPr/>
        </p:nvSpPr>
        <p:spPr>
          <a:xfrm>
            <a:off x="2752724" y="1933004"/>
            <a:ext cx="250708" cy="251687"/>
          </a:xfrm>
          <a:custGeom>
            <a:rect b="b" l="l" r="r" t="t"/>
            <a:pathLst>
              <a:path extrusionOk="0" h="335582" w="334278">
                <a:moveTo>
                  <a:pt x="238127" y="28384"/>
                </a:moveTo>
                <a:cubicBezTo>
                  <a:pt x="304846" y="66904"/>
                  <a:pt x="334278" y="147768"/>
                  <a:pt x="307928" y="220162"/>
                </a:cubicBezTo>
                <a:cubicBezTo>
                  <a:pt x="281578" y="292557"/>
                  <a:pt x="207053" y="335582"/>
                  <a:pt x="131183" y="322203"/>
                </a:cubicBezTo>
                <a:cubicBezTo>
                  <a:pt x="55312" y="308824"/>
                  <a:pt x="0" y="242902"/>
                  <a:pt x="2" y="165861"/>
                </a:cubicBezTo>
                <a:lnTo>
                  <a:pt x="81" y="160718"/>
                </a:lnTo>
                <a:cubicBezTo>
                  <a:pt x="1890" y="104948"/>
                  <a:pt x="32845" y="54223"/>
                  <a:pt x="81614" y="27112"/>
                </a:cubicBezTo>
                <a:cubicBezTo>
                  <a:pt x="130383" y="0"/>
                  <a:pt x="189805" y="483"/>
                  <a:pt x="238127" y="28384"/>
                </a:cubicBezTo>
                <a:moveTo>
                  <a:pt x="138226" y="122887"/>
                </a:moveTo>
                <a:cubicBezTo>
                  <a:pt x="132026" y="116690"/>
                  <a:pt x="121978" y="116690"/>
                  <a:pt x="115778" y="122887"/>
                </a:cubicBezTo>
                <a:lnTo>
                  <a:pt x="84028" y="154637"/>
                </a:lnTo>
                <a:cubicBezTo>
                  <a:pt x="77831" y="160837"/>
                  <a:pt x="77831" y="170885"/>
                  <a:pt x="84028" y="177085"/>
                </a:cubicBezTo>
                <a:lnTo>
                  <a:pt x="115778" y="208835"/>
                </a:lnTo>
                <a:cubicBezTo>
                  <a:pt x="121978" y="215032"/>
                  <a:pt x="132026" y="215032"/>
                  <a:pt x="138226" y="208835"/>
                </a:cubicBezTo>
                <a:lnTo>
                  <a:pt x="139543" y="207342"/>
                </a:lnTo>
                <a:cubicBezTo>
                  <a:pt x="144445" y="201023"/>
                  <a:pt x="143881" y="192043"/>
                  <a:pt x="138226" y="186387"/>
                </a:cubicBezTo>
                <a:lnTo>
                  <a:pt x="117715" y="165861"/>
                </a:lnTo>
                <a:lnTo>
                  <a:pt x="138226" y="145335"/>
                </a:lnTo>
                <a:cubicBezTo>
                  <a:pt x="144423" y="139135"/>
                  <a:pt x="144423" y="129087"/>
                  <a:pt x="138226" y="122887"/>
                </a:cubicBezTo>
                <a:moveTo>
                  <a:pt x="201726" y="122887"/>
                </a:moveTo>
                <a:cubicBezTo>
                  <a:pt x="195526" y="116690"/>
                  <a:pt x="185478" y="116690"/>
                  <a:pt x="179278" y="122887"/>
                </a:cubicBezTo>
                <a:lnTo>
                  <a:pt x="177961" y="124380"/>
                </a:lnTo>
                <a:cubicBezTo>
                  <a:pt x="173058" y="130699"/>
                  <a:pt x="173623" y="139679"/>
                  <a:pt x="179278" y="145335"/>
                </a:cubicBezTo>
                <a:lnTo>
                  <a:pt x="199789" y="165861"/>
                </a:lnTo>
                <a:lnTo>
                  <a:pt x="179278" y="186387"/>
                </a:lnTo>
                <a:cubicBezTo>
                  <a:pt x="173262" y="192616"/>
                  <a:pt x="173348" y="202518"/>
                  <a:pt x="179472" y="208641"/>
                </a:cubicBezTo>
                <a:cubicBezTo>
                  <a:pt x="185595" y="214765"/>
                  <a:pt x="195497" y="214851"/>
                  <a:pt x="201726" y="208835"/>
                </a:cubicBezTo>
                <a:lnTo>
                  <a:pt x="233476" y="177085"/>
                </a:lnTo>
                <a:cubicBezTo>
                  <a:pt x="239673" y="170885"/>
                  <a:pt x="239673" y="160837"/>
                  <a:pt x="233476" y="154637"/>
                </a:cubicBezTo>
                <a:close/>
              </a:path>
            </a:pathLst>
          </a:cu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7"/>
          <p:cNvSpPr txBox="1"/>
          <p:nvPr/>
        </p:nvSpPr>
        <p:spPr>
          <a:xfrm>
            <a:off x="2714625" y="2278856"/>
            <a:ext cx="13828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Claude Code 首页</a:t>
            </a:r>
            <a:endParaRPr sz="1100"/>
          </a:p>
        </p:txBody>
      </p:sp>
      <p:sp>
        <p:nvSpPr>
          <p:cNvPr id="945" name="Google Shape;945;p37"/>
          <p:cNvSpPr/>
          <p:nvPr/>
        </p:nvSpPr>
        <p:spPr>
          <a:xfrm>
            <a:off x="2728913" y="2514600"/>
            <a:ext cx="1728788" cy="7144"/>
          </a:xfrm>
          <a:custGeom>
            <a:rect b="b" l="l" r="r" t="t"/>
            <a:pathLst>
              <a:path extrusionOk="0" h="9525" w="2305050">
                <a:moveTo>
                  <a:pt x="0" y="0"/>
                </a:moveTo>
                <a:lnTo>
                  <a:pt x="2305050" y="0"/>
                </a:lnTo>
              </a:path>
            </a:pathLst>
          </a:custGeom>
          <a:noFill/>
          <a:ln cap="flat" cmpd="sng" w="14275">
            <a:solidFill>
              <a:srgbClr val="EBF0F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6" name="Google Shape;946;p37"/>
          <p:cNvSpPr/>
          <p:nvPr/>
        </p:nvSpPr>
        <p:spPr>
          <a:xfrm>
            <a:off x="2771775" y="2671763"/>
            <a:ext cx="57150" cy="57150"/>
          </a:xfrm>
          <a:prstGeom prst="ellipse">
            <a:avLst/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37"/>
          <p:cNvSpPr txBox="1"/>
          <p:nvPr/>
        </p:nvSpPr>
        <p:spPr>
          <a:xfrm>
            <a:off x="2888932" y="2631757"/>
            <a:ext cx="88382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import 视觉稿</a:t>
            </a:r>
            <a:endParaRPr sz="1100"/>
          </a:p>
        </p:txBody>
      </p:sp>
      <p:sp>
        <p:nvSpPr>
          <p:cNvPr id="948" name="Google Shape;948;p37"/>
          <p:cNvSpPr/>
          <p:nvPr/>
        </p:nvSpPr>
        <p:spPr>
          <a:xfrm>
            <a:off x="2771775" y="2928938"/>
            <a:ext cx="57150" cy="57150"/>
          </a:xfrm>
          <a:prstGeom prst="ellipse">
            <a:avLst/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37"/>
          <p:cNvSpPr txBox="1"/>
          <p:nvPr/>
        </p:nvSpPr>
        <p:spPr>
          <a:xfrm>
            <a:off x="2888932" y="2888932"/>
            <a:ext cx="122558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粘贴 Design System</a:t>
            </a:r>
            <a:endParaRPr sz="1100"/>
          </a:p>
        </p:txBody>
      </p:sp>
      <p:sp>
        <p:nvSpPr>
          <p:cNvPr id="950" name="Google Shape;950;p37"/>
          <p:cNvSpPr/>
          <p:nvPr/>
        </p:nvSpPr>
        <p:spPr>
          <a:xfrm>
            <a:off x="2771775" y="3186113"/>
            <a:ext cx="57150" cy="57150"/>
          </a:xfrm>
          <a:prstGeom prst="ellipse">
            <a:avLst/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37"/>
          <p:cNvSpPr txBox="1"/>
          <p:nvPr/>
        </p:nvSpPr>
        <p:spPr>
          <a:xfrm>
            <a:off x="2888932" y="3146107"/>
            <a:ext cx="100212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生成 CLAUDE.md</a:t>
            </a:r>
            <a:endParaRPr sz="1100"/>
          </a:p>
        </p:txBody>
      </p:sp>
      <p:sp>
        <p:nvSpPr>
          <p:cNvPr id="952" name="Google Shape;952;p37"/>
          <p:cNvSpPr/>
          <p:nvPr/>
        </p:nvSpPr>
        <p:spPr>
          <a:xfrm>
            <a:off x="2771775" y="3443288"/>
            <a:ext cx="57150" cy="57150"/>
          </a:xfrm>
          <a:prstGeom prst="ellipse">
            <a:avLst/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37"/>
          <p:cNvSpPr txBox="1"/>
          <p:nvPr/>
        </p:nvSpPr>
        <p:spPr>
          <a:xfrm>
            <a:off x="2888933" y="3403282"/>
            <a:ext cx="100869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生成 index.html</a:t>
            </a:r>
            <a:endParaRPr sz="1100"/>
          </a:p>
        </p:txBody>
      </p:sp>
      <p:sp>
        <p:nvSpPr>
          <p:cNvPr id="954" name="Google Shape;954;p37"/>
          <p:cNvSpPr/>
          <p:nvPr/>
        </p:nvSpPr>
        <p:spPr>
          <a:xfrm>
            <a:off x="2728913" y="4057650"/>
            <a:ext cx="1728788" cy="314325"/>
          </a:xfrm>
          <a:prstGeom prst="roundRect">
            <a:avLst>
              <a:gd fmla="val 18182" name="adj"/>
            </a:avLst>
          </a:prstGeom>
          <a:solidFill>
            <a:srgbClr val="EBF0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7"/>
          <p:cNvSpPr txBox="1"/>
          <p:nvPr/>
        </p:nvSpPr>
        <p:spPr>
          <a:xfrm>
            <a:off x="2707758" y="4151234"/>
            <a:ext cx="1771096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产出：index.html + CLAUDE.md</a:t>
            </a:r>
            <a:endParaRPr sz="1100"/>
          </a:p>
        </p:txBody>
      </p:sp>
      <p:sp>
        <p:nvSpPr>
          <p:cNvPr id="956" name="Google Shape;956;p37"/>
          <p:cNvSpPr/>
          <p:nvPr/>
        </p:nvSpPr>
        <p:spPr>
          <a:xfrm>
            <a:off x="4600575" y="1428750"/>
            <a:ext cx="2014538" cy="3143250"/>
          </a:xfrm>
          <a:prstGeom prst="roundRect">
            <a:avLst>
              <a:gd fmla="val 4965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7"/>
          <p:cNvSpPr/>
          <p:nvPr/>
        </p:nvSpPr>
        <p:spPr>
          <a:xfrm>
            <a:off x="4600575" y="1428750"/>
            <a:ext cx="2014538" cy="42863"/>
          </a:xfrm>
          <a:prstGeom prst="roundRect">
            <a:avLst>
              <a:gd fmla="val 50000" name="adj"/>
            </a:avLst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7"/>
          <p:cNvSpPr/>
          <p:nvPr/>
        </p:nvSpPr>
        <p:spPr>
          <a:xfrm>
            <a:off x="4743450" y="1585913"/>
            <a:ext cx="514350" cy="200025"/>
          </a:xfrm>
          <a:prstGeom prst="roundRect">
            <a:avLst>
              <a:gd fmla="val 50000" name="adj"/>
            </a:avLst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7"/>
          <p:cNvSpPr txBox="1"/>
          <p:nvPr/>
        </p:nvSpPr>
        <p:spPr>
          <a:xfrm>
            <a:off x="4806457" y="1636633"/>
            <a:ext cx="388336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3</a:t>
            </a:r>
            <a:endParaRPr sz="1100"/>
          </a:p>
        </p:txBody>
      </p:sp>
      <p:sp>
        <p:nvSpPr>
          <p:cNvPr id="960" name="Google Shape;960;p37"/>
          <p:cNvSpPr/>
          <p:nvPr/>
        </p:nvSpPr>
        <p:spPr>
          <a:xfrm>
            <a:off x="6043613" y="1585913"/>
            <a:ext cx="428625" cy="200025"/>
          </a:xfrm>
          <a:prstGeom prst="roundRect">
            <a:avLst>
              <a:gd fmla="val 50000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37"/>
          <p:cNvSpPr txBox="1"/>
          <p:nvPr/>
        </p:nvSpPr>
        <p:spPr>
          <a:xfrm>
            <a:off x="6099986" y="1636633"/>
            <a:ext cx="315877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A9E6A"/>
                </a:solidFill>
                <a:latin typeface="Arial"/>
                <a:ea typeface="Arial"/>
                <a:cs typeface="Arial"/>
                <a:sym typeface="Arial"/>
              </a:rPr>
              <a:t>5 min</a:t>
            </a:r>
            <a:endParaRPr sz="1100"/>
          </a:p>
        </p:txBody>
      </p:sp>
      <p:grpSp>
        <p:nvGrpSpPr>
          <p:cNvPr id="962" name="Google Shape;962;p37"/>
          <p:cNvGrpSpPr/>
          <p:nvPr/>
        </p:nvGrpSpPr>
        <p:grpSpPr>
          <a:xfrm>
            <a:off x="4798608" y="1924742"/>
            <a:ext cx="185557" cy="252056"/>
            <a:chOff x="6398144" y="2566322"/>
            <a:chExt cx="247409" cy="336075"/>
          </a:xfrm>
        </p:grpSpPr>
        <p:sp>
          <p:nvSpPr>
            <p:cNvPr id="963" name="Google Shape;963;p37"/>
            <p:cNvSpPr/>
            <p:nvPr/>
          </p:nvSpPr>
          <p:spPr>
            <a:xfrm>
              <a:off x="6419850" y="2616197"/>
              <a:ext cx="159376" cy="159976"/>
            </a:xfrm>
            <a:custGeom>
              <a:rect b="b" l="l" r="r" t="t"/>
              <a:pathLst>
                <a:path extrusionOk="0" h="159976" w="159376">
                  <a:moveTo>
                    <a:pt x="79375" y="3"/>
                  </a:moveTo>
                  <a:cubicBezTo>
                    <a:pt x="122765" y="0"/>
                    <a:pt x="158117" y="34840"/>
                    <a:pt x="158746" y="78226"/>
                  </a:cubicBezTo>
                  <a:cubicBezTo>
                    <a:pt x="159376" y="121612"/>
                    <a:pt x="125050" y="157463"/>
                    <a:pt x="81678" y="158719"/>
                  </a:cubicBezTo>
                  <a:cubicBezTo>
                    <a:pt x="38306" y="159976"/>
                    <a:pt x="1963" y="126172"/>
                    <a:pt x="79" y="82822"/>
                  </a:cubicBezTo>
                  <a:lnTo>
                    <a:pt x="0" y="79378"/>
                  </a:lnTo>
                  <a:lnTo>
                    <a:pt x="79" y="75933"/>
                  </a:lnTo>
                  <a:cubicBezTo>
                    <a:pt x="1924" y="33477"/>
                    <a:pt x="36879" y="5"/>
                    <a:pt x="79375" y="3"/>
                  </a:cubicBez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37"/>
            <p:cNvSpPr/>
            <p:nvPr/>
          </p:nvSpPr>
          <p:spPr>
            <a:xfrm>
              <a:off x="6398144" y="2566322"/>
              <a:ext cx="247409" cy="281479"/>
            </a:xfrm>
            <a:custGeom>
              <a:rect b="b" l="l" r="r" t="t"/>
              <a:pathLst>
                <a:path extrusionOk="0" h="281479" w="247409">
                  <a:moveTo>
                    <a:pt x="150817" y="10223"/>
                  </a:moveTo>
                  <a:cubicBezTo>
                    <a:pt x="155184" y="2622"/>
                    <a:pt x="164885" y="0"/>
                    <a:pt x="172487" y="4365"/>
                  </a:cubicBezTo>
                  <a:cubicBezTo>
                    <a:pt x="219688" y="31494"/>
                    <a:pt x="247409" y="83056"/>
                    <a:pt x="244005" y="137392"/>
                  </a:cubicBezTo>
                  <a:cubicBezTo>
                    <a:pt x="240601" y="191728"/>
                    <a:pt x="206662" y="239427"/>
                    <a:pt x="156443" y="260453"/>
                  </a:cubicBezTo>
                  <a:cubicBezTo>
                    <a:pt x="106225" y="281479"/>
                    <a:pt x="48425" y="272191"/>
                    <a:pt x="7323" y="236489"/>
                  </a:cubicBezTo>
                  <a:cubicBezTo>
                    <a:pt x="704" y="230738"/>
                    <a:pt x="0" y="220709"/>
                    <a:pt x="5751" y="214089"/>
                  </a:cubicBezTo>
                  <a:cubicBezTo>
                    <a:pt x="11503" y="207470"/>
                    <a:pt x="21532" y="206766"/>
                    <a:pt x="28151" y="212518"/>
                  </a:cubicBezTo>
                  <a:cubicBezTo>
                    <a:pt x="60135" y="240298"/>
                    <a:pt x="105110" y="247526"/>
                    <a:pt x="144187" y="231165"/>
                  </a:cubicBezTo>
                  <a:cubicBezTo>
                    <a:pt x="183264" y="214803"/>
                    <a:pt x="209674" y="177688"/>
                    <a:pt x="212323" y="135407"/>
                  </a:cubicBezTo>
                  <a:cubicBezTo>
                    <a:pt x="214973" y="93126"/>
                    <a:pt x="193404" y="53004"/>
                    <a:pt x="156675" y="31892"/>
                  </a:cubicBezTo>
                  <a:cubicBezTo>
                    <a:pt x="149075" y="27525"/>
                    <a:pt x="146452" y="17824"/>
                    <a:pt x="150817" y="10223"/>
                  </a:cubicBez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7"/>
            <p:cNvSpPr/>
            <p:nvPr/>
          </p:nvSpPr>
          <p:spPr>
            <a:xfrm>
              <a:off x="6483350" y="2806700"/>
              <a:ext cx="31750" cy="95697"/>
            </a:xfrm>
            <a:custGeom>
              <a:rect b="b" l="l" r="r" t="t"/>
              <a:pathLst>
                <a:path extrusionOk="0" h="95697" w="31750">
                  <a:moveTo>
                    <a:pt x="15875" y="0"/>
                  </a:moveTo>
                  <a:cubicBezTo>
                    <a:pt x="23923" y="1"/>
                    <a:pt x="30697" y="6025"/>
                    <a:pt x="31639" y="14018"/>
                  </a:cubicBezTo>
                  <a:lnTo>
                    <a:pt x="31750" y="15875"/>
                  </a:lnTo>
                  <a:lnTo>
                    <a:pt x="31750" y="79375"/>
                  </a:lnTo>
                  <a:cubicBezTo>
                    <a:pt x="31741" y="87774"/>
                    <a:pt x="25190" y="94713"/>
                    <a:pt x="16805" y="95205"/>
                  </a:cubicBezTo>
                  <a:cubicBezTo>
                    <a:pt x="8420" y="95697"/>
                    <a:pt x="1103" y="89573"/>
                    <a:pt x="111" y="81232"/>
                  </a:cubicBezTo>
                  <a:lnTo>
                    <a:pt x="0" y="79375"/>
                  </a:lnTo>
                  <a:lnTo>
                    <a:pt x="0" y="15875"/>
                  </a:lnTo>
                  <a:cubicBezTo>
                    <a:pt x="0" y="7107"/>
                    <a:pt x="7107" y="0"/>
                    <a:pt x="15875" y="0"/>
                  </a:cubicBez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7"/>
            <p:cNvSpPr/>
            <p:nvPr/>
          </p:nvSpPr>
          <p:spPr>
            <a:xfrm>
              <a:off x="6419403" y="2870200"/>
              <a:ext cx="159645" cy="31750"/>
            </a:xfrm>
            <a:custGeom>
              <a:rect b="b" l="l" r="r" t="t"/>
              <a:pathLst>
                <a:path extrusionOk="0" h="31750" w="159645">
                  <a:moveTo>
                    <a:pt x="143322" y="0"/>
                  </a:moveTo>
                  <a:cubicBezTo>
                    <a:pt x="151722" y="9"/>
                    <a:pt x="158660" y="6560"/>
                    <a:pt x="159152" y="14945"/>
                  </a:cubicBezTo>
                  <a:cubicBezTo>
                    <a:pt x="159645" y="23330"/>
                    <a:pt x="153520" y="30647"/>
                    <a:pt x="145180" y="31639"/>
                  </a:cubicBezTo>
                  <a:lnTo>
                    <a:pt x="143322" y="31750"/>
                  </a:lnTo>
                  <a:lnTo>
                    <a:pt x="16322" y="31750"/>
                  </a:lnTo>
                  <a:cubicBezTo>
                    <a:pt x="7923" y="31741"/>
                    <a:pt x="984" y="25190"/>
                    <a:pt x="492" y="16805"/>
                  </a:cubicBezTo>
                  <a:cubicBezTo>
                    <a:pt x="0" y="8420"/>
                    <a:pt x="6124" y="1103"/>
                    <a:pt x="14465" y="111"/>
                  </a:cubicBezTo>
                  <a:lnTo>
                    <a:pt x="16322" y="0"/>
                  </a:lnTo>
                  <a:lnTo>
                    <a:pt x="143322" y="0"/>
                  </a:ln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37"/>
          <p:cNvSpPr txBox="1"/>
          <p:nvPr/>
        </p:nvSpPr>
        <p:spPr>
          <a:xfrm>
            <a:off x="4729163" y="2278856"/>
            <a:ext cx="13914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Git + Vercel 上线</a:t>
            </a:r>
            <a:endParaRPr sz="1100"/>
          </a:p>
        </p:txBody>
      </p:sp>
      <p:sp>
        <p:nvSpPr>
          <p:cNvPr id="968" name="Google Shape;968;p37"/>
          <p:cNvSpPr/>
          <p:nvPr/>
        </p:nvSpPr>
        <p:spPr>
          <a:xfrm>
            <a:off x="4743450" y="2514600"/>
            <a:ext cx="1728788" cy="7144"/>
          </a:xfrm>
          <a:custGeom>
            <a:rect b="b" l="l" r="r" t="t"/>
            <a:pathLst>
              <a:path extrusionOk="0" h="9525" w="2305050">
                <a:moveTo>
                  <a:pt x="0" y="0"/>
                </a:moveTo>
                <a:lnTo>
                  <a:pt x="2305050" y="0"/>
                </a:lnTo>
              </a:path>
            </a:pathLst>
          </a:custGeom>
          <a:noFill/>
          <a:ln cap="flat" cmpd="sng" w="14275">
            <a:solidFill>
              <a:srgbClr val="E8F5EE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9" name="Google Shape;969;p37"/>
          <p:cNvSpPr/>
          <p:nvPr/>
        </p:nvSpPr>
        <p:spPr>
          <a:xfrm>
            <a:off x="4786313" y="2671763"/>
            <a:ext cx="57150" cy="57150"/>
          </a:xfrm>
          <a:prstGeom prst="ellipse">
            <a:avLst/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37"/>
          <p:cNvSpPr txBox="1"/>
          <p:nvPr/>
        </p:nvSpPr>
        <p:spPr>
          <a:xfrm>
            <a:off x="4903470" y="2631757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git init + commit</a:t>
            </a:r>
            <a:endParaRPr sz="1100"/>
          </a:p>
        </p:txBody>
      </p:sp>
      <p:sp>
        <p:nvSpPr>
          <p:cNvPr id="971" name="Google Shape;971;p37"/>
          <p:cNvSpPr/>
          <p:nvPr/>
        </p:nvSpPr>
        <p:spPr>
          <a:xfrm>
            <a:off x="4786313" y="2928938"/>
            <a:ext cx="57150" cy="57150"/>
          </a:xfrm>
          <a:prstGeom prst="ellipse">
            <a:avLst/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37"/>
          <p:cNvSpPr txBox="1"/>
          <p:nvPr/>
        </p:nvSpPr>
        <p:spPr>
          <a:xfrm>
            <a:off x="4903470" y="2888932"/>
            <a:ext cx="9692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Connect GitHub</a:t>
            </a:r>
            <a:endParaRPr sz="1100"/>
          </a:p>
        </p:txBody>
      </p:sp>
      <p:sp>
        <p:nvSpPr>
          <p:cNvPr id="973" name="Google Shape;973;p37"/>
          <p:cNvSpPr/>
          <p:nvPr/>
        </p:nvSpPr>
        <p:spPr>
          <a:xfrm>
            <a:off x="4786313" y="3186113"/>
            <a:ext cx="57150" cy="57150"/>
          </a:xfrm>
          <a:prstGeom prst="ellipse">
            <a:avLst/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37"/>
          <p:cNvSpPr txBox="1"/>
          <p:nvPr/>
        </p:nvSpPr>
        <p:spPr>
          <a:xfrm>
            <a:off x="4903470" y="3146107"/>
            <a:ext cx="8641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Vercel deploy</a:t>
            </a:r>
            <a:endParaRPr sz="1100"/>
          </a:p>
        </p:txBody>
      </p:sp>
      <p:sp>
        <p:nvSpPr>
          <p:cNvPr id="975" name="Google Shape;975;p37"/>
          <p:cNvSpPr/>
          <p:nvPr/>
        </p:nvSpPr>
        <p:spPr>
          <a:xfrm>
            <a:off x="4786313" y="3443288"/>
            <a:ext cx="57150" cy="57150"/>
          </a:xfrm>
          <a:prstGeom prst="ellipse">
            <a:avLst/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37"/>
          <p:cNvSpPr txBox="1"/>
          <p:nvPr/>
        </p:nvSpPr>
        <p:spPr>
          <a:xfrm>
            <a:off x="4903470" y="3403282"/>
            <a:ext cx="844391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真实 URL 上线</a:t>
            </a:r>
            <a:endParaRPr sz="1100"/>
          </a:p>
        </p:txBody>
      </p:sp>
      <p:sp>
        <p:nvSpPr>
          <p:cNvPr id="977" name="Google Shape;977;p37"/>
          <p:cNvSpPr/>
          <p:nvPr/>
        </p:nvSpPr>
        <p:spPr>
          <a:xfrm>
            <a:off x="4743450" y="4057650"/>
            <a:ext cx="1728788" cy="314325"/>
          </a:xfrm>
          <a:prstGeom prst="roundRect">
            <a:avLst>
              <a:gd fmla="val 18182" name="adj"/>
            </a:avLst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37"/>
          <p:cNvSpPr txBox="1"/>
          <p:nvPr/>
        </p:nvSpPr>
        <p:spPr>
          <a:xfrm>
            <a:off x="4997036" y="4151234"/>
            <a:ext cx="1221615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目标：真实可访问 URL</a:t>
            </a:r>
            <a:endParaRPr sz="1100"/>
          </a:p>
        </p:txBody>
      </p:sp>
      <p:sp>
        <p:nvSpPr>
          <p:cNvPr id="979" name="Google Shape;979;p37"/>
          <p:cNvSpPr txBox="1"/>
          <p:nvPr/>
        </p:nvSpPr>
        <p:spPr>
          <a:xfrm>
            <a:off x="5402104" y="4263390"/>
            <a:ext cx="4114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口述演示</a:t>
            </a:r>
            <a:endParaRPr sz="1100"/>
          </a:p>
        </p:txBody>
      </p:sp>
      <p:sp>
        <p:nvSpPr>
          <p:cNvPr id="980" name="Google Shape;980;p37"/>
          <p:cNvSpPr/>
          <p:nvPr/>
        </p:nvSpPr>
        <p:spPr>
          <a:xfrm>
            <a:off x="6615113" y="1428750"/>
            <a:ext cx="1957388" cy="3143250"/>
          </a:xfrm>
          <a:prstGeom prst="roundRect">
            <a:avLst>
              <a:gd fmla="val 5109" name="adj"/>
            </a:avLst>
          </a:prstGeom>
          <a:solidFill>
            <a:srgbClr val="FFFFFF"/>
          </a:solidFill>
          <a:ln cap="flat" cmpd="sng" w="19050">
            <a:solidFill>
              <a:srgbClr val="C961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37"/>
          <p:cNvSpPr/>
          <p:nvPr/>
        </p:nvSpPr>
        <p:spPr>
          <a:xfrm>
            <a:off x="6615113" y="1428750"/>
            <a:ext cx="1957388" cy="42863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37"/>
          <p:cNvSpPr/>
          <p:nvPr/>
        </p:nvSpPr>
        <p:spPr>
          <a:xfrm>
            <a:off x="6757988" y="1585913"/>
            <a:ext cx="514350" cy="200025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37"/>
          <p:cNvSpPr txBox="1"/>
          <p:nvPr/>
        </p:nvSpPr>
        <p:spPr>
          <a:xfrm>
            <a:off x="6820994" y="1636633"/>
            <a:ext cx="388336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4</a:t>
            </a:r>
            <a:endParaRPr sz="1100"/>
          </a:p>
        </p:txBody>
      </p:sp>
      <p:sp>
        <p:nvSpPr>
          <p:cNvPr id="984" name="Google Shape;984;p37"/>
          <p:cNvSpPr/>
          <p:nvPr/>
        </p:nvSpPr>
        <p:spPr>
          <a:xfrm>
            <a:off x="8015288" y="1585913"/>
            <a:ext cx="414338" cy="200025"/>
          </a:xfrm>
          <a:prstGeom prst="roundRect">
            <a:avLst>
              <a:gd fmla="val 50000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37"/>
          <p:cNvSpPr txBox="1"/>
          <p:nvPr/>
        </p:nvSpPr>
        <p:spPr>
          <a:xfrm>
            <a:off x="8064517" y="1636633"/>
            <a:ext cx="315877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8 min</a:t>
            </a:r>
            <a:endParaRPr sz="1100"/>
          </a:p>
        </p:txBody>
      </p:sp>
      <p:sp>
        <p:nvSpPr>
          <p:cNvPr id="986" name="Google Shape;986;p37"/>
          <p:cNvSpPr/>
          <p:nvPr/>
        </p:nvSpPr>
        <p:spPr>
          <a:xfrm>
            <a:off x="6792416" y="1974056"/>
            <a:ext cx="217277" cy="167100"/>
          </a:xfrm>
          <a:custGeom>
            <a:rect b="b" l="l" r="r" t="t"/>
            <a:pathLst>
              <a:path extrusionOk="0" h="222800" w="289703">
                <a:moveTo>
                  <a:pt x="285788" y="135779"/>
                </a:moveTo>
                <a:cubicBezTo>
                  <a:pt x="289703" y="143617"/>
                  <a:pt x="286527" y="153145"/>
                  <a:pt x="278692" y="157067"/>
                </a:cubicBezTo>
                <a:lnTo>
                  <a:pt x="151692" y="220567"/>
                </a:lnTo>
                <a:cubicBezTo>
                  <a:pt x="147224" y="222800"/>
                  <a:pt x="141967" y="222800"/>
                  <a:pt x="137500" y="220567"/>
                </a:cubicBezTo>
                <a:lnTo>
                  <a:pt x="10500" y="157067"/>
                </a:lnTo>
                <a:cubicBezTo>
                  <a:pt x="2951" y="152996"/>
                  <a:pt x="0" y="143666"/>
                  <a:pt x="3836" y="135995"/>
                </a:cubicBezTo>
                <a:cubicBezTo>
                  <a:pt x="7671" y="128324"/>
                  <a:pt x="16906" y="125086"/>
                  <a:pt x="24692" y="128683"/>
                </a:cubicBezTo>
                <a:lnTo>
                  <a:pt x="144596" y="188595"/>
                </a:lnTo>
                <a:lnTo>
                  <a:pt x="264516" y="128667"/>
                </a:lnTo>
                <a:cubicBezTo>
                  <a:pt x="272354" y="124752"/>
                  <a:pt x="281882" y="127928"/>
                  <a:pt x="285804" y="135763"/>
                </a:cubicBezTo>
                <a:moveTo>
                  <a:pt x="144723" y="0"/>
                </a:moveTo>
                <a:cubicBezTo>
                  <a:pt x="145315" y="0"/>
                  <a:pt x="145903" y="37"/>
                  <a:pt x="146485" y="111"/>
                </a:cubicBezTo>
                <a:lnTo>
                  <a:pt x="148247" y="429"/>
                </a:lnTo>
                <a:lnTo>
                  <a:pt x="149612" y="810"/>
                </a:lnTo>
                <a:lnTo>
                  <a:pt x="149803" y="905"/>
                </a:lnTo>
                <a:lnTo>
                  <a:pt x="149993" y="937"/>
                </a:lnTo>
                <a:lnTo>
                  <a:pt x="150454" y="1159"/>
                </a:lnTo>
                <a:lnTo>
                  <a:pt x="151247" y="1461"/>
                </a:lnTo>
                <a:lnTo>
                  <a:pt x="151501" y="1603"/>
                </a:lnTo>
                <a:lnTo>
                  <a:pt x="151692" y="1683"/>
                </a:lnTo>
                <a:lnTo>
                  <a:pt x="278692" y="65183"/>
                </a:lnTo>
                <a:cubicBezTo>
                  <a:pt x="284063" y="67875"/>
                  <a:pt x="287454" y="73367"/>
                  <a:pt x="287454" y="79375"/>
                </a:cubicBezTo>
                <a:cubicBezTo>
                  <a:pt x="287454" y="85383"/>
                  <a:pt x="284063" y="90875"/>
                  <a:pt x="278692" y="93567"/>
                </a:cubicBezTo>
                <a:lnTo>
                  <a:pt x="151692" y="157067"/>
                </a:lnTo>
                <a:cubicBezTo>
                  <a:pt x="147224" y="159300"/>
                  <a:pt x="141967" y="159300"/>
                  <a:pt x="137500" y="157067"/>
                </a:cubicBezTo>
                <a:lnTo>
                  <a:pt x="10500" y="93567"/>
                </a:lnTo>
                <a:cubicBezTo>
                  <a:pt x="5129" y="90875"/>
                  <a:pt x="1738" y="85383"/>
                  <a:pt x="1738" y="79375"/>
                </a:cubicBezTo>
                <a:cubicBezTo>
                  <a:pt x="1738" y="73367"/>
                  <a:pt x="5129" y="67875"/>
                  <a:pt x="10500" y="65183"/>
                </a:cubicBezTo>
                <a:lnTo>
                  <a:pt x="137500" y="1683"/>
                </a:lnTo>
                <a:lnTo>
                  <a:pt x="137674" y="1603"/>
                </a:lnTo>
                <a:lnTo>
                  <a:pt x="137960" y="1445"/>
                </a:lnTo>
                <a:lnTo>
                  <a:pt x="139198" y="937"/>
                </a:lnTo>
                <a:lnTo>
                  <a:pt x="139373" y="905"/>
                </a:lnTo>
                <a:lnTo>
                  <a:pt x="139579" y="810"/>
                </a:lnTo>
                <a:lnTo>
                  <a:pt x="140945" y="429"/>
                </a:lnTo>
                <a:lnTo>
                  <a:pt x="142691" y="111"/>
                </a:lnTo>
                <a:lnTo>
                  <a:pt x="143580" y="32"/>
                </a:lnTo>
                <a:close/>
              </a:path>
            </a:pathLst>
          </a:cu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37"/>
          <p:cNvSpPr txBox="1"/>
          <p:nvPr/>
        </p:nvSpPr>
        <p:spPr>
          <a:xfrm>
            <a:off x="6743700" y="2278856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第二个页面</a:t>
            </a:r>
            <a:endParaRPr sz="1100"/>
          </a:p>
        </p:txBody>
      </p:sp>
      <p:sp>
        <p:nvSpPr>
          <p:cNvPr id="988" name="Google Shape;988;p37"/>
          <p:cNvSpPr/>
          <p:nvPr/>
        </p:nvSpPr>
        <p:spPr>
          <a:xfrm>
            <a:off x="6757988" y="2514600"/>
            <a:ext cx="1671638" cy="7144"/>
          </a:xfrm>
          <a:custGeom>
            <a:rect b="b" l="l" r="r" t="t"/>
            <a:pathLst>
              <a:path extrusionOk="0" h="9525" w="2228850">
                <a:moveTo>
                  <a:pt x="0" y="0"/>
                </a:moveTo>
                <a:lnTo>
                  <a:pt x="2228850" y="0"/>
                </a:lnTo>
              </a:path>
            </a:pathLst>
          </a:custGeom>
          <a:noFill/>
          <a:ln cap="flat" cmpd="sng" w="14275">
            <a:solidFill>
              <a:srgbClr val="F0EDE8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9" name="Google Shape;989;p37"/>
          <p:cNvSpPr/>
          <p:nvPr/>
        </p:nvSpPr>
        <p:spPr>
          <a:xfrm>
            <a:off x="6800850" y="2671763"/>
            <a:ext cx="57150" cy="57150"/>
          </a:xfrm>
          <a:prstGeom prst="ellipse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37"/>
          <p:cNvSpPr txBox="1"/>
          <p:nvPr/>
        </p:nvSpPr>
        <p:spPr>
          <a:xfrm>
            <a:off x="6918008" y="2631757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新 Claude Design 对话</a:t>
            </a:r>
            <a:endParaRPr sz="1100"/>
          </a:p>
        </p:txBody>
      </p:sp>
      <p:sp>
        <p:nvSpPr>
          <p:cNvPr id="991" name="Google Shape;991;p37"/>
          <p:cNvSpPr/>
          <p:nvPr/>
        </p:nvSpPr>
        <p:spPr>
          <a:xfrm>
            <a:off x="6800850" y="2928938"/>
            <a:ext cx="57150" cy="57150"/>
          </a:xfrm>
          <a:prstGeom prst="ellipse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37"/>
          <p:cNvSpPr txBox="1"/>
          <p:nvPr/>
        </p:nvSpPr>
        <p:spPr>
          <a:xfrm>
            <a:off x="6918008" y="2888932"/>
            <a:ext cx="13964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选 Design System 文件</a:t>
            </a:r>
            <a:endParaRPr sz="1100"/>
          </a:p>
        </p:txBody>
      </p:sp>
      <p:sp>
        <p:nvSpPr>
          <p:cNvPr id="993" name="Google Shape;993;p37"/>
          <p:cNvSpPr/>
          <p:nvPr/>
        </p:nvSpPr>
        <p:spPr>
          <a:xfrm>
            <a:off x="6800850" y="3186113"/>
            <a:ext cx="57150" cy="57150"/>
          </a:xfrm>
          <a:prstGeom prst="ellipse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37"/>
          <p:cNvSpPr txBox="1"/>
          <p:nvPr/>
        </p:nvSpPr>
        <p:spPr>
          <a:xfrm>
            <a:off x="6918008" y="3146107"/>
            <a:ext cx="133073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生成 resources.html</a:t>
            </a:r>
            <a:endParaRPr sz="1100"/>
          </a:p>
        </p:txBody>
      </p:sp>
      <p:sp>
        <p:nvSpPr>
          <p:cNvPr id="995" name="Google Shape;995;p37"/>
          <p:cNvSpPr/>
          <p:nvPr/>
        </p:nvSpPr>
        <p:spPr>
          <a:xfrm>
            <a:off x="6800850" y="3443288"/>
            <a:ext cx="57150" cy="57150"/>
          </a:xfrm>
          <a:prstGeom prst="ellipse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37"/>
          <p:cNvSpPr txBox="1"/>
          <p:nvPr/>
        </p:nvSpPr>
        <p:spPr>
          <a:xfrm>
            <a:off x="6918008" y="3403282"/>
            <a:ext cx="13898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import 到 Claude Code</a:t>
            </a:r>
            <a:endParaRPr sz="1100"/>
          </a:p>
        </p:txBody>
      </p:sp>
      <p:sp>
        <p:nvSpPr>
          <p:cNvPr id="997" name="Google Shape;997;p37"/>
          <p:cNvSpPr/>
          <p:nvPr/>
        </p:nvSpPr>
        <p:spPr>
          <a:xfrm>
            <a:off x="6757988" y="4057650"/>
            <a:ext cx="1671638" cy="314325"/>
          </a:xfrm>
          <a:prstGeom prst="roundRect">
            <a:avLst>
              <a:gd fmla="val 18182" name="adj"/>
            </a:avLst>
          </a:prstGeom>
          <a:solidFill>
            <a:srgbClr val="FDF5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37"/>
          <p:cNvSpPr txBox="1"/>
          <p:nvPr/>
        </p:nvSpPr>
        <p:spPr>
          <a:xfrm>
            <a:off x="6919597" y="4151234"/>
            <a:ext cx="134841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产出：风格一致的第二页</a:t>
            </a:r>
            <a:endParaRPr sz="1100"/>
          </a:p>
        </p:txBody>
      </p:sp>
      <p:sp>
        <p:nvSpPr>
          <p:cNvPr id="999" name="Google Shape;999;p37"/>
          <p:cNvSpPr txBox="1"/>
          <p:nvPr/>
        </p:nvSpPr>
        <p:spPr>
          <a:xfrm>
            <a:off x="8348829" y="4958477"/>
            <a:ext cx="376547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13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8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6" name="Google Shape;1006;p38"/>
          <p:cNvGrpSpPr/>
          <p:nvPr/>
        </p:nvGrpSpPr>
        <p:grpSpPr>
          <a:xfrm>
            <a:off x="571500" y="267176"/>
            <a:ext cx="8001000" cy="597218"/>
            <a:chOff x="762000" y="356235"/>
            <a:chExt cx="10668000" cy="796290"/>
          </a:xfrm>
        </p:grpSpPr>
        <p:sp>
          <p:nvSpPr>
            <p:cNvPr id="1007" name="Google Shape;1007;p38"/>
            <p:cNvSpPr txBox="1"/>
            <p:nvPr/>
          </p:nvSpPr>
          <p:spPr>
            <a:xfrm>
              <a:off x="4032856" y="356235"/>
              <a:ext cx="4126287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如何写一个好的 Brief</a:t>
              </a:r>
              <a:endParaRPr sz="1100"/>
            </a:p>
          </p:txBody>
        </p:sp>
        <p:sp>
          <p:nvSpPr>
            <p:cNvPr id="1008" name="Google Shape;1008;p38"/>
            <p:cNvSpPr txBox="1"/>
            <p:nvPr/>
          </p:nvSpPr>
          <p:spPr>
            <a:xfrm>
              <a:off x="4008620" y="774382"/>
              <a:ext cx="4174760" cy="335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给 Claude Design 的四要素 — 缺一不可</a:t>
              </a:r>
              <a:endParaRPr sz="1100"/>
            </a:p>
          </p:txBody>
        </p:sp>
        <p:sp>
          <p:nvSpPr>
            <p:cNvPr id="1009" name="Google Shape;1009;p38"/>
            <p:cNvSpPr/>
            <p:nvPr/>
          </p:nvSpPr>
          <p:spPr>
            <a:xfrm>
              <a:off x="762000" y="1143000"/>
              <a:ext cx="10668000" cy="9525"/>
            </a:xfrm>
            <a:custGeom>
              <a:rect b="b" l="l" r="r" t="t"/>
              <a:pathLst>
                <a:path extrusionOk="0" h="9525" w="10668000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cap="flat" cmpd="sng" w="1427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1010" name="Google Shape;1010;p38"/>
          <p:cNvGrpSpPr/>
          <p:nvPr/>
        </p:nvGrpSpPr>
        <p:grpSpPr>
          <a:xfrm>
            <a:off x="428625" y="1014413"/>
            <a:ext cx="3971925" cy="1800225"/>
            <a:chOff x="571500" y="1352550"/>
            <a:chExt cx="5295900" cy="2400300"/>
          </a:xfrm>
        </p:grpSpPr>
        <p:sp>
          <p:nvSpPr>
            <p:cNvPr id="1011" name="Google Shape;1011;p38"/>
            <p:cNvSpPr/>
            <p:nvPr/>
          </p:nvSpPr>
          <p:spPr>
            <a:xfrm>
              <a:off x="571500" y="1352550"/>
              <a:ext cx="5295900" cy="2400300"/>
            </a:xfrm>
            <a:prstGeom prst="roundRect">
              <a:avLst>
                <a:gd fmla="val 7937" name="adj"/>
              </a:avLst>
            </a:prstGeom>
            <a:solidFill>
              <a:srgbClr val="F0EDE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8"/>
            <p:cNvSpPr/>
            <p:nvPr/>
          </p:nvSpPr>
          <p:spPr>
            <a:xfrm>
              <a:off x="1724025" y="1352550"/>
              <a:ext cx="2609850" cy="514350"/>
            </a:xfrm>
            <a:custGeom>
              <a:rect b="b" l="l" r="r" t="t"/>
              <a:pathLst>
                <a:path extrusionOk="0" h="514350" w="2609850">
                  <a:moveTo>
                    <a:pt x="228600" y="0"/>
                  </a:moveTo>
                  <a:lnTo>
                    <a:pt x="2381250" y="0"/>
                  </a:lnTo>
                  <a:cubicBezTo>
                    <a:pt x="2507502" y="0"/>
                    <a:pt x="2609850" y="102348"/>
                    <a:pt x="2609850" y="228600"/>
                  </a:cubicBezTo>
                  <a:lnTo>
                    <a:pt x="2609850" y="514350"/>
                  </a:lnTo>
                  <a:lnTo>
                    <a:pt x="0" y="514350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8"/>
            <p:cNvSpPr txBox="1"/>
            <p:nvPr/>
          </p:nvSpPr>
          <p:spPr>
            <a:xfrm>
              <a:off x="2367509" y="1448752"/>
              <a:ext cx="13228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① 受众描述 — WHO</a:t>
              </a:r>
              <a:endParaRPr sz="1100"/>
            </a:p>
          </p:txBody>
        </p:sp>
        <p:sp>
          <p:nvSpPr>
            <p:cNvPr id="1014" name="Google Shape;1014;p38"/>
            <p:cNvSpPr/>
            <p:nvPr/>
          </p:nvSpPr>
          <p:spPr>
            <a:xfrm>
              <a:off x="762000" y="2000250"/>
              <a:ext cx="4914900" cy="1562100"/>
            </a:xfrm>
            <a:prstGeom prst="roundRect">
              <a:avLst>
                <a:gd fmla="val 731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8"/>
            <p:cNvSpPr/>
            <p:nvPr/>
          </p:nvSpPr>
          <p:spPr>
            <a:xfrm>
              <a:off x="952500" y="2171700"/>
              <a:ext cx="419100" cy="419100"/>
            </a:xfrm>
            <a:prstGeom prst="roundRect">
              <a:avLst>
                <a:gd fmla="val 20455" name="adj"/>
              </a:avLst>
            </a:prstGeom>
            <a:solidFill>
              <a:srgbClr val="C96133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8"/>
            <p:cNvSpPr/>
            <p:nvPr/>
          </p:nvSpPr>
          <p:spPr>
            <a:xfrm>
              <a:off x="1021797" y="2279650"/>
              <a:ext cx="279941" cy="203200"/>
            </a:xfrm>
            <a:custGeom>
              <a:rect b="b" l="l" r="r" t="t"/>
              <a:pathLst>
                <a:path extrusionOk="0" h="203200" w="279941">
                  <a:moveTo>
                    <a:pt x="140253" y="0"/>
                  </a:moveTo>
                  <a:cubicBezTo>
                    <a:pt x="194736" y="0"/>
                    <a:pt x="240113" y="30848"/>
                    <a:pt x="275699" y="90856"/>
                  </a:cubicBezTo>
                  <a:lnTo>
                    <a:pt x="278493" y="95669"/>
                  </a:lnTo>
                  <a:lnTo>
                    <a:pt x="279064" y="96939"/>
                  </a:lnTo>
                  <a:lnTo>
                    <a:pt x="279445" y="97993"/>
                  </a:lnTo>
                  <a:lnTo>
                    <a:pt x="279623" y="98692"/>
                  </a:lnTo>
                  <a:lnTo>
                    <a:pt x="279801" y="99733"/>
                  </a:lnTo>
                  <a:lnTo>
                    <a:pt x="279941" y="101003"/>
                  </a:lnTo>
                  <a:lnTo>
                    <a:pt x="279941" y="102400"/>
                  </a:lnTo>
                  <a:lnTo>
                    <a:pt x="279763" y="103810"/>
                  </a:lnTo>
                  <a:cubicBezTo>
                    <a:pt x="279679" y="104281"/>
                    <a:pt x="279569" y="104748"/>
                    <a:pt x="279433" y="105207"/>
                  </a:cubicBezTo>
                  <a:lnTo>
                    <a:pt x="278937" y="106578"/>
                  </a:lnTo>
                  <a:lnTo>
                    <a:pt x="278480" y="107531"/>
                  </a:lnTo>
                  <a:lnTo>
                    <a:pt x="278277" y="107912"/>
                  </a:lnTo>
                  <a:cubicBezTo>
                    <a:pt x="243174" y="169329"/>
                    <a:pt x="198267" y="201638"/>
                    <a:pt x="144228" y="203149"/>
                  </a:cubicBezTo>
                  <a:lnTo>
                    <a:pt x="140253" y="203200"/>
                  </a:lnTo>
                  <a:cubicBezTo>
                    <a:pt x="84424" y="203200"/>
                    <a:pt x="38183" y="170828"/>
                    <a:pt x="2230" y="107899"/>
                  </a:cubicBezTo>
                  <a:cubicBezTo>
                    <a:pt x="0" y="103996"/>
                    <a:pt x="0" y="99204"/>
                    <a:pt x="2230" y="95301"/>
                  </a:cubicBezTo>
                  <a:cubicBezTo>
                    <a:pt x="38183" y="32372"/>
                    <a:pt x="84424" y="0"/>
                    <a:pt x="140253" y="0"/>
                  </a:cubicBezTo>
                  <a:close/>
                  <a:moveTo>
                    <a:pt x="140253" y="63500"/>
                  </a:moveTo>
                  <a:cubicBezTo>
                    <a:pt x="119211" y="63500"/>
                    <a:pt x="102153" y="80558"/>
                    <a:pt x="102153" y="101600"/>
                  </a:cubicBezTo>
                  <a:cubicBezTo>
                    <a:pt x="102153" y="122642"/>
                    <a:pt x="119211" y="139700"/>
                    <a:pt x="140253" y="139700"/>
                  </a:cubicBezTo>
                  <a:cubicBezTo>
                    <a:pt x="161295" y="139700"/>
                    <a:pt x="178353" y="122642"/>
                    <a:pt x="178353" y="101600"/>
                  </a:cubicBezTo>
                  <a:cubicBezTo>
                    <a:pt x="178353" y="80558"/>
                    <a:pt x="161295" y="63500"/>
                    <a:pt x="140253" y="63500"/>
                  </a:cubicBezTo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8"/>
            <p:cNvSpPr txBox="1"/>
            <p:nvPr/>
          </p:nvSpPr>
          <p:spPr>
            <a:xfrm>
              <a:off x="1487805" y="223551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目标访客是谁？</a:t>
              </a:r>
              <a:endParaRPr sz="1100"/>
            </a:p>
          </p:txBody>
        </p:sp>
        <p:sp>
          <p:nvSpPr>
            <p:cNvPr id="1018" name="Google Shape;1018;p38"/>
            <p:cNvSpPr txBox="1"/>
            <p:nvPr/>
          </p:nvSpPr>
          <p:spPr>
            <a:xfrm>
              <a:off x="1491615" y="247745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越具体越好，越模糊越通用</a:t>
              </a:r>
              <a:endParaRPr sz="1100"/>
            </a:p>
          </p:txBody>
        </p:sp>
        <p:sp>
          <p:nvSpPr>
            <p:cNvPr id="1019" name="Google Shape;1019;p38"/>
            <p:cNvSpPr/>
            <p:nvPr/>
          </p:nvSpPr>
          <p:spPr>
            <a:xfrm>
              <a:off x="952500" y="2762250"/>
              <a:ext cx="4533900" cy="9525"/>
            </a:xfrm>
            <a:custGeom>
              <a:rect b="b" l="l" r="r" t="t"/>
              <a:pathLst>
                <a:path extrusionOk="0" h="9525" w="4533900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cap="flat" cmpd="sng" w="9525">
              <a:solidFill>
                <a:srgbClr val="F0EDE8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020" name="Google Shape;1020;p38"/>
            <p:cNvSpPr/>
            <p:nvPr/>
          </p:nvSpPr>
          <p:spPr>
            <a:xfrm>
              <a:off x="952500" y="2876550"/>
              <a:ext cx="4533900" cy="514350"/>
            </a:xfrm>
            <a:prstGeom prst="roundRect">
              <a:avLst>
                <a:gd fmla="val 11111" name="adj"/>
              </a:avLst>
            </a:prstGeom>
            <a:solidFill>
              <a:srgbClr val="FFF8F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8"/>
            <p:cNvSpPr txBox="1"/>
            <p:nvPr/>
          </p:nvSpPr>
          <p:spPr>
            <a:xfrm>
              <a:off x="1092518" y="294274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例：</a:t>
              </a:r>
              <a:endParaRPr sz="1100"/>
            </a:p>
          </p:txBody>
        </p:sp>
        <p:sp>
          <p:nvSpPr>
            <p:cNvPr id="1022" name="Google Shape;1022;p38"/>
            <p:cNvSpPr txBox="1"/>
            <p:nvPr/>
          </p:nvSpPr>
          <p:spPr>
            <a:xfrm>
              <a:off x="1397318" y="2942749"/>
              <a:ext cx="3299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"在美国工作的华人工程师，想用 AI 提升工作效率，</a:t>
              </a:r>
              <a:endParaRPr sz="1100"/>
            </a:p>
          </p:txBody>
        </p:sp>
        <p:sp>
          <p:nvSpPr>
            <p:cNvPr id="1023" name="Google Shape;1023;p38"/>
            <p:cNvSpPr txBox="1"/>
            <p:nvPr/>
          </p:nvSpPr>
          <p:spPr>
            <a:xfrm>
              <a:off x="1092518" y="3133249"/>
              <a:ext cx="23885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25-40 岁，有技术背景，重视实用性"</a:t>
              </a:r>
              <a:endParaRPr sz="1100"/>
            </a:p>
          </p:txBody>
        </p:sp>
      </p:grpSp>
      <p:grpSp>
        <p:nvGrpSpPr>
          <p:cNvPr id="1024" name="Google Shape;1024;p38"/>
          <p:cNvGrpSpPr/>
          <p:nvPr/>
        </p:nvGrpSpPr>
        <p:grpSpPr>
          <a:xfrm>
            <a:off x="4743450" y="1014413"/>
            <a:ext cx="3971925" cy="1800225"/>
            <a:chOff x="6324600" y="1352550"/>
            <a:chExt cx="5295900" cy="2400300"/>
          </a:xfrm>
        </p:grpSpPr>
        <p:sp>
          <p:nvSpPr>
            <p:cNvPr id="1025" name="Google Shape;1025;p38"/>
            <p:cNvSpPr/>
            <p:nvPr/>
          </p:nvSpPr>
          <p:spPr>
            <a:xfrm>
              <a:off x="6324600" y="1352550"/>
              <a:ext cx="5295900" cy="2400300"/>
            </a:xfrm>
            <a:prstGeom prst="roundRect">
              <a:avLst>
                <a:gd fmla="val 7937" name="adj"/>
              </a:avLst>
            </a:prstGeom>
            <a:solidFill>
              <a:srgbClr val="EBF0F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8"/>
            <p:cNvSpPr/>
            <p:nvPr/>
          </p:nvSpPr>
          <p:spPr>
            <a:xfrm>
              <a:off x="7477125" y="1352550"/>
              <a:ext cx="2609850" cy="514350"/>
            </a:xfrm>
            <a:custGeom>
              <a:rect b="b" l="l" r="r" t="t"/>
              <a:pathLst>
                <a:path extrusionOk="0" h="514350" w="2609850">
                  <a:moveTo>
                    <a:pt x="228600" y="0"/>
                  </a:moveTo>
                  <a:lnTo>
                    <a:pt x="2381250" y="0"/>
                  </a:lnTo>
                  <a:cubicBezTo>
                    <a:pt x="2507502" y="0"/>
                    <a:pt x="2609850" y="102348"/>
                    <a:pt x="2609850" y="228600"/>
                  </a:cubicBezTo>
                  <a:lnTo>
                    <a:pt x="2609850" y="514350"/>
                  </a:lnTo>
                  <a:lnTo>
                    <a:pt x="0" y="514350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3D7D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8"/>
            <p:cNvSpPr txBox="1"/>
            <p:nvPr/>
          </p:nvSpPr>
          <p:spPr>
            <a:xfrm>
              <a:off x="8136711" y="1448752"/>
              <a:ext cx="12906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② 核心目标 — WHY</a:t>
              </a:r>
              <a:endParaRPr sz="1100"/>
            </a:p>
          </p:txBody>
        </p:sp>
        <p:sp>
          <p:nvSpPr>
            <p:cNvPr id="1028" name="Google Shape;1028;p38"/>
            <p:cNvSpPr/>
            <p:nvPr/>
          </p:nvSpPr>
          <p:spPr>
            <a:xfrm>
              <a:off x="6515100" y="2000250"/>
              <a:ext cx="4914900" cy="1562100"/>
            </a:xfrm>
            <a:prstGeom prst="roundRect">
              <a:avLst>
                <a:gd fmla="val 731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8"/>
            <p:cNvSpPr/>
            <p:nvPr/>
          </p:nvSpPr>
          <p:spPr>
            <a:xfrm>
              <a:off x="6705600" y="2171700"/>
              <a:ext cx="419100" cy="419100"/>
            </a:xfrm>
            <a:prstGeom prst="roundRect">
              <a:avLst>
                <a:gd fmla="val 20455" name="adj"/>
              </a:avLst>
            </a:prstGeom>
            <a:solidFill>
              <a:srgbClr val="3D7DE4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30" name="Google Shape;1030;p38"/>
            <p:cNvGrpSpPr/>
            <p:nvPr/>
          </p:nvGrpSpPr>
          <p:grpSpPr>
            <a:xfrm>
              <a:off x="6787792" y="2254250"/>
              <a:ext cx="254716" cy="254000"/>
              <a:chOff x="6787792" y="2254250"/>
              <a:chExt cx="254716" cy="254000"/>
            </a:xfrm>
          </p:grpSpPr>
          <p:sp>
            <p:nvSpPr>
              <p:cNvPr id="1031" name="Google Shape;1031;p38"/>
              <p:cNvSpPr/>
              <p:nvPr/>
            </p:nvSpPr>
            <p:spPr>
              <a:xfrm>
                <a:off x="6787792" y="2368550"/>
                <a:ext cx="38816" cy="25400"/>
              </a:xfrm>
              <a:custGeom>
                <a:rect b="b" l="l" r="r" t="t"/>
                <a:pathLst>
                  <a:path extrusionOk="0" h="25400" w="38816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3D7DE4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38"/>
              <p:cNvSpPr/>
              <p:nvPr/>
            </p:nvSpPr>
            <p:spPr>
              <a:xfrm>
                <a:off x="6902450" y="2254250"/>
                <a:ext cx="25400" cy="38458"/>
              </a:xfrm>
              <a:custGeom>
                <a:rect b="b" l="l" r="r" t="t"/>
                <a:pathLst>
                  <a:path extrusionOk="0" h="38458" w="25400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3D7DE4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38"/>
              <p:cNvSpPr/>
              <p:nvPr/>
            </p:nvSpPr>
            <p:spPr>
              <a:xfrm>
                <a:off x="7003692" y="2368550"/>
                <a:ext cx="38816" cy="25400"/>
              </a:xfrm>
              <a:custGeom>
                <a:rect b="b" l="l" r="r" t="t"/>
                <a:pathLst>
                  <a:path extrusionOk="0" h="25400" w="38816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3D7DE4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38"/>
              <p:cNvSpPr/>
              <p:nvPr/>
            </p:nvSpPr>
            <p:spPr>
              <a:xfrm>
                <a:off x="6819933" y="2286015"/>
                <a:ext cx="36765" cy="36974"/>
              </a:xfrm>
              <a:custGeom>
                <a:rect b="b" l="l" r="r" t="t"/>
                <a:pathLst>
                  <a:path extrusionOk="0" h="36974" w="36765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3D7DE4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38"/>
              <p:cNvSpPr/>
              <p:nvPr/>
            </p:nvSpPr>
            <p:spPr>
              <a:xfrm>
                <a:off x="6973411" y="2286032"/>
                <a:ext cx="37148" cy="36766"/>
              </a:xfrm>
              <a:custGeom>
                <a:rect b="b" l="l" r="r" t="t"/>
                <a:pathLst>
                  <a:path extrusionOk="0" h="36766" w="37148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3D7DE4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38"/>
              <p:cNvSpPr/>
              <p:nvPr/>
            </p:nvSpPr>
            <p:spPr>
              <a:xfrm>
                <a:off x="6877050" y="2457450"/>
                <a:ext cx="76200" cy="50800"/>
              </a:xfrm>
              <a:custGeom>
                <a:rect b="b" l="l" r="r" t="t"/>
                <a:pathLst>
                  <a:path extrusionOk="0" h="50800" w="762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3D7DE4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38"/>
              <p:cNvSpPr/>
              <p:nvPr/>
            </p:nvSpPr>
            <p:spPr>
              <a:xfrm>
                <a:off x="6832488" y="2305050"/>
                <a:ext cx="165323" cy="139700"/>
              </a:xfrm>
              <a:custGeom>
                <a:rect b="b" l="l" r="r" t="t"/>
                <a:pathLst>
                  <a:path extrusionOk="0" h="139700" w="165323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3D7DE4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38" name="Google Shape;1038;p38"/>
            <p:cNvSpPr txBox="1"/>
            <p:nvPr/>
          </p:nvSpPr>
          <p:spPr>
            <a:xfrm>
              <a:off x="7240905" y="2235518"/>
              <a:ext cx="21045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网站要实现什么目标？</a:t>
              </a:r>
              <a:endParaRPr sz="1100"/>
            </a:p>
          </p:txBody>
        </p:sp>
        <p:sp>
          <p:nvSpPr>
            <p:cNvPr id="1039" name="Google Shape;1039;p38"/>
            <p:cNvSpPr txBox="1"/>
            <p:nvPr/>
          </p:nvSpPr>
          <p:spPr>
            <a:xfrm>
              <a:off x="7244715" y="2477452"/>
              <a:ext cx="27180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转化、品牌、展示、销售…选一个主目标</a:t>
              </a:r>
              <a:endParaRPr sz="1100"/>
            </a:p>
          </p:txBody>
        </p:sp>
        <p:sp>
          <p:nvSpPr>
            <p:cNvPr id="1040" name="Google Shape;1040;p38"/>
            <p:cNvSpPr/>
            <p:nvPr/>
          </p:nvSpPr>
          <p:spPr>
            <a:xfrm>
              <a:off x="6705600" y="2762250"/>
              <a:ext cx="4533900" cy="9525"/>
            </a:xfrm>
            <a:custGeom>
              <a:rect b="b" l="l" r="r" t="t"/>
              <a:pathLst>
                <a:path extrusionOk="0" h="9525" w="4533900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cap="flat" cmpd="sng" w="9525">
              <a:solidFill>
                <a:srgbClr val="EBF0FA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041" name="Google Shape;1041;p38"/>
            <p:cNvSpPr/>
            <p:nvPr/>
          </p:nvSpPr>
          <p:spPr>
            <a:xfrm>
              <a:off x="6705600" y="2876550"/>
              <a:ext cx="4533900" cy="514350"/>
            </a:xfrm>
            <a:prstGeom prst="roundRect">
              <a:avLst>
                <a:gd fmla="val 11111" name="adj"/>
              </a:avLst>
            </a:prstGeom>
            <a:solidFill>
              <a:srgbClr val="F0F4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8"/>
            <p:cNvSpPr txBox="1"/>
            <p:nvPr/>
          </p:nvSpPr>
          <p:spPr>
            <a:xfrm>
              <a:off x="6845618" y="294274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3D7DE4"/>
                  </a:solidFill>
                  <a:latin typeface="Arial"/>
                  <a:ea typeface="Arial"/>
                  <a:cs typeface="Arial"/>
                  <a:sym typeface="Arial"/>
                </a:rPr>
                <a:t>例：</a:t>
              </a:r>
              <a:endParaRPr sz="1100"/>
            </a:p>
          </p:txBody>
        </p:sp>
        <p:sp>
          <p:nvSpPr>
            <p:cNvPr id="1043" name="Google Shape;1043;p38"/>
            <p:cNvSpPr txBox="1"/>
            <p:nvPr/>
          </p:nvSpPr>
          <p:spPr>
            <a:xfrm>
              <a:off x="7150418" y="2942749"/>
              <a:ext cx="28086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"让访客了解课程并点击报名按钮，主目标是</a:t>
              </a:r>
              <a:endParaRPr sz="1100"/>
            </a:p>
          </p:txBody>
        </p:sp>
        <p:sp>
          <p:nvSpPr>
            <p:cNvPr id="1044" name="Google Shape;1044;p38"/>
            <p:cNvSpPr txBox="1"/>
            <p:nvPr/>
          </p:nvSpPr>
          <p:spPr>
            <a:xfrm>
              <a:off x="6845618" y="3133249"/>
              <a:ext cx="22390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转化，次目标是建立讲师个人品牌"</a:t>
              </a:r>
              <a:endParaRPr sz="1100"/>
            </a:p>
          </p:txBody>
        </p:sp>
      </p:grpSp>
      <p:grpSp>
        <p:nvGrpSpPr>
          <p:cNvPr id="1045" name="Google Shape;1045;p38"/>
          <p:cNvGrpSpPr/>
          <p:nvPr/>
        </p:nvGrpSpPr>
        <p:grpSpPr>
          <a:xfrm>
            <a:off x="428625" y="2971800"/>
            <a:ext cx="3971925" cy="1800225"/>
            <a:chOff x="571500" y="3962400"/>
            <a:chExt cx="5295900" cy="2400300"/>
          </a:xfrm>
        </p:grpSpPr>
        <p:sp>
          <p:nvSpPr>
            <p:cNvPr id="1046" name="Google Shape;1046;p38"/>
            <p:cNvSpPr/>
            <p:nvPr/>
          </p:nvSpPr>
          <p:spPr>
            <a:xfrm>
              <a:off x="571500" y="3962400"/>
              <a:ext cx="5295900" cy="2400300"/>
            </a:xfrm>
            <a:prstGeom prst="roundRect">
              <a:avLst>
                <a:gd fmla="val 7937" name="adj"/>
              </a:avLst>
            </a:prstGeom>
            <a:solidFill>
              <a:srgbClr val="F0EDE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38"/>
            <p:cNvSpPr/>
            <p:nvPr/>
          </p:nvSpPr>
          <p:spPr>
            <a:xfrm>
              <a:off x="1724025" y="3962400"/>
              <a:ext cx="2609850" cy="514350"/>
            </a:xfrm>
            <a:custGeom>
              <a:rect b="b" l="l" r="r" t="t"/>
              <a:pathLst>
                <a:path extrusionOk="0" h="514350" w="2609850">
                  <a:moveTo>
                    <a:pt x="228600" y="0"/>
                  </a:moveTo>
                  <a:lnTo>
                    <a:pt x="2381250" y="0"/>
                  </a:lnTo>
                  <a:cubicBezTo>
                    <a:pt x="2507502" y="0"/>
                    <a:pt x="2609850" y="102348"/>
                    <a:pt x="2609850" y="228600"/>
                  </a:cubicBezTo>
                  <a:lnTo>
                    <a:pt x="2609850" y="514350"/>
                  </a:lnTo>
                  <a:lnTo>
                    <a:pt x="0" y="514350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38"/>
            <p:cNvSpPr txBox="1"/>
            <p:nvPr/>
          </p:nvSpPr>
          <p:spPr>
            <a:xfrm>
              <a:off x="2311152" y="4058602"/>
              <a:ext cx="14355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③ 风格偏好 — STYLE</a:t>
              </a:r>
              <a:endParaRPr sz="1100"/>
            </a:p>
          </p:txBody>
        </p:sp>
        <p:sp>
          <p:nvSpPr>
            <p:cNvPr id="1049" name="Google Shape;1049;p38"/>
            <p:cNvSpPr/>
            <p:nvPr/>
          </p:nvSpPr>
          <p:spPr>
            <a:xfrm>
              <a:off x="762000" y="4610100"/>
              <a:ext cx="4914900" cy="1562100"/>
            </a:xfrm>
            <a:prstGeom prst="roundRect">
              <a:avLst>
                <a:gd fmla="val 731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8"/>
            <p:cNvSpPr/>
            <p:nvPr/>
          </p:nvSpPr>
          <p:spPr>
            <a:xfrm>
              <a:off x="952500" y="4781550"/>
              <a:ext cx="419100" cy="419100"/>
            </a:xfrm>
            <a:prstGeom prst="roundRect">
              <a:avLst>
                <a:gd fmla="val 20455" name="adj"/>
              </a:avLst>
            </a:prstGeom>
            <a:solidFill>
              <a:srgbClr val="C96133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51" name="Google Shape;1051;p38"/>
            <p:cNvGrpSpPr/>
            <p:nvPr/>
          </p:nvGrpSpPr>
          <p:grpSpPr>
            <a:xfrm>
              <a:off x="1034692" y="4864100"/>
              <a:ext cx="254716" cy="254358"/>
              <a:chOff x="1034692" y="4864100"/>
              <a:chExt cx="254716" cy="254358"/>
            </a:xfrm>
          </p:grpSpPr>
          <p:sp>
            <p:nvSpPr>
              <p:cNvPr id="1052" name="Google Shape;1052;p38"/>
              <p:cNvSpPr/>
              <p:nvPr/>
            </p:nvSpPr>
            <p:spPr>
              <a:xfrm>
                <a:off x="1098550" y="4927600"/>
                <a:ext cx="127000" cy="127000"/>
              </a:xfrm>
              <a:custGeom>
                <a:rect b="b" l="l" r="r" t="t"/>
                <a:pathLst>
                  <a:path extrusionOk="0" h="127000" w="127000">
                    <a:moveTo>
                      <a:pt x="101600" y="0"/>
                    </a:moveTo>
                    <a:lnTo>
                      <a:pt x="25400" y="0"/>
                    </a:lnTo>
                    <a:cubicBezTo>
                      <a:pt x="11372" y="0"/>
                      <a:pt x="0" y="11372"/>
                      <a:pt x="0" y="25400"/>
                    </a:cubicBezTo>
                    <a:lnTo>
                      <a:pt x="0" y="101600"/>
                    </a:lnTo>
                    <a:cubicBezTo>
                      <a:pt x="0" y="115628"/>
                      <a:pt x="11372" y="127000"/>
                      <a:pt x="25400" y="127000"/>
                    </a:cubicBezTo>
                    <a:lnTo>
                      <a:pt x="101600" y="127000"/>
                    </a:lnTo>
                    <a:cubicBezTo>
                      <a:pt x="115628" y="127000"/>
                      <a:pt x="127000" y="115628"/>
                      <a:pt x="127000" y="101600"/>
                    </a:cubicBezTo>
                    <a:lnTo>
                      <a:pt x="127000" y="25400"/>
                    </a:lnTo>
                    <a:cubicBezTo>
                      <a:pt x="127000" y="11372"/>
                      <a:pt x="115628" y="0"/>
                      <a:pt x="101600" y="0"/>
                    </a:cubicBezTo>
                    <a:close/>
                  </a:path>
                </a:pathLst>
              </a:cu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38"/>
              <p:cNvSpPr/>
              <p:nvPr/>
            </p:nvSpPr>
            <p:spPr>
              <a:xfrm>
                <a:off x="1034692" y="4927600"/>
                <a:ext cx="38816" cy="25400"/>
              </a:xfrm>
              <a:custGeom>
                <a:rect b="b" l="l" r="r" t="t"/>
                <a:pathLst>
                  <a:path extrusionOk="0" h="25400" w="38816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38"/>
              <p:cNvSpPr/>
              <p:nvPr/>
            </p:nvSpPr>
            <p:spPr>
              <a:xfrm>
                <a:off x="1034692" y="5029200"/>
                <a:ext cx="38816" cy="25400"/>
              </a:xfrm>
              <a:custGeom>
                <a:rect b="b" l="l" r="r" t="t"/>
                <a:pathLst>
                  <a:path extrusionOk="0" h="25400" w="38816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38"/>
              <p:cNvSpPr/>
              <p:nvPr/>
            </p:nvSpPr>
            <p:spPr>
              <a:xfrm>
                <a:off x="1098550" y="4864100"/>
                <a:ext cx="25400" cy="38458"/>
              </a:xfrm>
              <a:custGeom>
                <a:rect b="b" l="l" r="r" t="t"/>
                <a:pathLst>
                  <a:path extrusionOk="0" h="38458" w="25400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6" name="Google Shape;1056;p38"/>
              <p:cNvSpPr/>
              <p:nvPr/>
            </p:nvSpPr>
            <p:spPr>
              <a:xfrm>
                <a:off x="1200150" y="4864100"/>
                <a:ext cx="25400" cy="38458"/>
              </a:xfrm>
              <a:custGeom>
                <a:rect b="b" l="l" r="r" t="t"/>
                <a:pathLst>
                  <a:path extrusionOk="0" h="38458" w="25400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7" name="Google Shape;1057;p38"/>
              <p:cNvSpPr/>
              <p:nvPr/>
            </p:nvSpPr>
            <p:spPr>
              <a:xfrm>
                <a:off x="1250592" y="4927600"/>
                <a:ext cx="38816" cy="25400"/>
              </a:xfrm>
              <a:custGeom>
                <a:rect b="b" l="l" r="r" t="t"/>
                <a:pathLst>
                  <a:path extrusionOk="0" h="25400" w="38816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8" name="Google Shape;1058;p38"/>
              <p:cNvSpPr/>
              <p:nvPr/>
            </p:nvSpPr>
            <p:spPr>
              <a:xfrm>
                <a:off x="1250592" y="5029200"/>
                <a:ext cx="38816" cy="25400"/>
              </a:xfrm>
              <a:custGeom>
                <a:rect b="b" l="l" r="r" t="t"/>
                <a:pathLst>
                  <a:path extrusionOk="0" h="25400" w="38816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9" name="Google Shape;1059;p38"/>
              <p:cNvSpPr/>
              <p:nvPr/>
            </p:nvSpPr>
            <p:spPr>
              <a:xfrm>
                <a:off x="1098550" y="5080000"/>
                <a:ext cx="25400" cy="38458"/>
              </a:xfrm>
              <a:custGeom>
                <a:rect b="b" l="l" r="r" t="t"/>
                <a:pathLst>
                  <a:path extrusionOk="0" h="38458" w="25400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38"/>
              <p:cNvSpPr/>
              <p:nvPr/>
            </p:nvSpPr>
            <p:spPr>
              <a:xfrm>
                <a:off x="1200150" y="5080000"/>
                <a:ext cx="25400" cy="38458"/>
              </a:xfrm>
              <a:custGeom>
                <a:rect b="b" l="l" r="r" t="t"/>
                <a:pathLst>
                  <a:path extrusionOk="0" h="38458" w="25400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C961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61" name="Google Shape;1061;p38"/>
            <p:cNvSpPr txBox="1"/>
            <p:nvPr/>
          </p:nvSpPr>
          <p:spPr>
            <a:xfrm>
              <a:off x="1487805" y="4845368"/>
              <a:ext cx="21045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视觉风格是什么感觉？</a:t>
              </a:r>
              <a:endParaRPr sz="1100"/>
            </a:p>
          </p:txBody>
        </p:sp>
        <p:sp>
          <p:nvSpPr>
            <p:cNvPr id="1062" name="Google Shape;1062;p38"/>
            <p:cNvSpPr txBox="1"/>
            <p:nvPr/>
          </p:nvSpPr>
          <p:spPr>
            <a:xfrm>
              <a:off x="1491615" y="5087302"/>
              <a:ext cx="17595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色调 · 风格词 · 参考网站</a:t>
              </a:r>
              <a:endParaRPr sz="1100"/>
            </a:p>
          </p:txBody>
        </p:sp>
        <p:sp>
          <p:nvSpPr>
            <p:cNvPr id="1063" name="Google Shape;1063;p38"/>
            <p:cNvSpPr/>
            <p:nvPr/>
          </p:nvSpPr>
          <p:spPr>
            <a:xfrm>
              <a:off x="952500" y="5372100"/>
              <a:ext cx="4533900" cy="9525"/>
            </a:xfrm>
            <a:custGeom>
              <a:rect b="b" l="l" r="r" t="t"/>
              <a:pathLst>
                <a:path extrusionOk="0" h="9525" w="4533900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cap="flat" cmpd="sng" w="9525">
              <a:solidFill>
                <a:srgbClr val="F0EDE8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064" name="Google Shape;1064;p38"/>
            <p:cNvSpPr/>
            <p:nvPr/>
          </p:nvSpPr>
          <p:spPr>
            <a:xfrm>
              <a:off x="952500" y="5486400"/>
              <a:ext cx="4533900" cy="514350"/>
            </a:xfrm>
            <a:prstGeom prst="roundRect">
              <a:avLst>
                <a:gd fmla="val 11111" name="adj"/>
              </a:avLst>
            </a:prstGeom>
            <a:solidFill>
              <a:srgbClr val="FFF8F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38"/>
            <p:cNvSpPr txBox="1"/>
            <p:nvPr/>
          </p:nvSpPr>
          <p:spPr>
            <a:xfrm>
              <a:off x="1092518" y="555259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例：</a:t>
              </a:r>
              <a:endParaRPr sz="1100"/>
            </a:p>
          </p:txBody>
        </p:sp>
        <p:sp>
          <p:nvSpPr>
            <p:cNvPr id="1066" name="Google Shape;1066;p38"/>
            <p:cNvSpPr txBox="1"/>
            <p:nvPr/>
          </p:nvSpPr>
          <p:spPr>
            <a:xfrm>
              <a:off x="1397318" y="5552599"/>
              <a:ext cx="26662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"专业但不失温度，暖棕色系，大量留白，</a:t>
              </a:r>
              <a:endParaRPr sz="1100"/>
            </a:p>
          </p:txBody>
        </p:sp>
        <p:sp>
          <p:nvSpPr>
            <p:cNvPr id="1067" name="Google Shape;1067;p38"/>
            <p:cNvSpPr txBox="1"/>
            <p:nvPr/>
          </p:nvSpPr>
          <p:spPr>
            <a:xfrm>
              <a:off x="1092518" y="5743099"/>
              <a:ext cx="18189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参考 stripe.com 的简洁感"</a:t>
              </a:r>
              <a:endParaRPr sz="1100"/>
            </a:p>
          </p:txBody>
        </p:sp>
      </p:grpSp>
      <p:grpSp>
        <p:nvGrpSpPr>
          <p:cNvPr id="1068" name="Google Shape;1068;p38"/>
          <p:cNvGrpSpPr/>
          <p:nvPr/>
        </p:nvGrpSpPr>
        <p:grpSpPr>
          <a:xfrm>
            <a:off x="4743450" y="2971800"/>
            <a:ext cx="3971925" cy="1800225"/>
            <a:chOff x="6324600" y="3962400"/>
            <a:chExt cx="5295900" cy="2400300"/>
          </a:xfrm>
        </p:grpSpPr>
        <p:sp>
          <p:nvSpPr>
            <p:cNvPr id="1069" name="Google Shape;1069;p38"/>
            <p:cNvSpPr/>
            <p:nvPr/>
          </p:nvSpPr>
          <p:spPr>
            <a:xfrm>
              <a:off x="6324600" y="3962400"/>
              <a:ext cx="5295900" cy="2400300"/>
            </a:xfrm>
            <a:prstGeom prst="roundRect">
              <a:avLst>
                <a:gd fmla="val 7937" name="adj"/>
              </a:avLst>
            </a:prstGeom>
            <a:solidFill>
              <a:srgbClr val="EDF6F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38"/>
            <p:cNvSpPr/>
            <p:nvPr/>
          </p:nvSpPr>
          <p:spPr>
            <a:xfrm>
              <a:off x="7477125" y="3962400"/>
              <a:ext cx="2609850" cy="514350"/>
            </a:xfrm>
            <a:custGeom>
              <a:rect b="b" l="l" r="r" t="t"/>
              <a:pathLst>
                <a:path extrusionOk="0" h="514350" w="2609850">
                  <a:moveTo>
                    <a:pt x="228600" y="0"/>
                  </a:moveTo>
                  <a:lnTo>
                    <a:pt x="2381250" y="0"/>
                  </a:lnTo>
                  <a:cubicBezTo>
                    <a:pt x="2507502" y="0"/>
                    <a:pt x="2609850" y="102348"/>
                    <a:pt x="2609850" y="228600"/>
                  </a:cubicBezTo>
                  <a:lnTo>
                    <a:pt x="2609850" y="514350"/>
                  </a:lnTo>
                  <a:lnTo>
                    <a:pt x="0" y="514350"/>
                  </a:ln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38"/>
            <p:cNvSpPr txBox="1"/>
            <p:nvPr/>
          </p:nvSpPr>
          <p:spPr>
            <a:xfrm>
              <a:off x="8092430" y="4058602"/>
              <a:ext cx="13792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④ 功能需求 — WHAT</a:t>
              </a:r>
              <a:endParaRPr sz="1100"/>
            </a:p>
          </p:txBody>
        </p:sp>
        <p:sp>
          <p:nvSpPr>
            <p:cNvPr id="1072" name="Google Shape;1072;p38"/>
            <p:cNvSpPr/>
            <p:nvPr/>
          </p:nvSpPr>
          <p:spPr>
            <a:xfrm>
              <a:off x="6515100" y="4610100"/>
              <a:ext cx="4914900" cy="1562100"/>
            </a:xfrm>
            <a:prstGeom prst="roundRect">
              <a:avLst>
                <a:gd fmla="val 731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38"/>
            <p:cNvSpPr/>
            <p:nvPr/>
          </p:nvSpPr>
          <p:spPr>
            <a:xfrm>
              <a:off x="6705600" y="4781550"/>
              <a:ext cx="419100" cy="419100"/>
            </a:xfrm>
            <a:prstGeom prst="roundRect">
              <a:avLst>
                <a:gd fmla="val 20455" name="adj"/>
              </a:avLst>
            </a:prstGeom>
            <a:solidFill>
              <a:srgbClr val="3A9E6A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74" name="Google Shape;1074;p38"/>
            <p:cNvGrpSpPr/>
            <p:nvPr/>
          </p:nvGrpSpPr>
          <p:grpSpPr>
            <a:xfrm>
              <a:off x="6793408" y="4881913"/>
              <a:ext cx="236042" cy="212024"/>
              <a:chOff x="6793408" y="4881913"/>
              <a:chExt cx="236042" cy="212024"/>
            </a:xfrm>
          </p:grpSpPr>
          <p:sp>
            <p:nvSpPr>
              <p:cNvPr id="1075" name="Google Shape;1075;p38"/>
              <p:cNvSpPr/>
              <p:nvPr/>
            </p:nvSpPr>
            <p:spPr>
              <a:xfrm>
                <a:off x="6793408" y="4881913"/>
                <a:ext cx="78529" cy="59624"/>
              </a:xfrm>
              <a:custGeom>
                <a:rect b="b" l="l" r="r" t="t"/>
                <a:pathLst>
                  <a:path extrusionOk="0" h="59624" w="78529">
                    <a:moveTo>
                      <a:pt x="73571" y="4958"/>
                    </a:moveTo>
                    <a:cubicBezTo>
                      <a:pt x="78529" y="9917"/>
                      <a:pt x="78529" y="17956"/>
                      <a:pt x="73571" y="22916"/>
                    </a:cubicBezTo>
                    <a:lnTo>
                      <a:pt x="41821" y="54666"/>
                    </a:lnTo>
                    <a:cubicBezTo>
                      <a:pt x="36861" y="59624"/>
                      <a:pt x="28822" y="59624"/>
                      <a:pt x="23863" y="54666"/>
                    </a:cubicBezTo>
                    <a:lnTo>
                      <a:pt x="4813" y="35616"/>
                    </a:lnTo>
                    <a:cubicBezTo>
                      <a:pt x="0" y="30632"/>
                      <a:pt x="69" y="22711"/>
                      <a:pt x="4968" y="17813"/>
                    </a:cubicBezTo>
                    <a:cubicBezTo>
                      <a:pt x="9866" y="12914"/>
                      <a:pt x="17788" y="12845"/>
                      <a:pt x="22771" y="17658"/>
                    </a:cubicBezTo>
                    <a:lnTo>
                      <a:pt x="32842" y="27729"/>
                    </a:lnTo>
                    <a:lnTo>
                      <a:pt x="55613" y="4958"/>
                    </a:lnTo>
                    <a:cubicBezTo>
                      <a:pt x="60572" y="0"/>
                      <a:pt x="68611" y="0"/>
                      <a:pt x="73571" y="4958"/>
                    </a:cubicBezTo>
                  </a:path>
                </a:pathLst>
              </a:custGeom>
              <a:solidFill>
                <a:srgbClr val="3A9E6A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38"/>
              <p:cNvSpPr/>
              <p:nvPr/>
            </p:nvSpPr>
            <p:spPr>
              <a:xfrm>
                <a:off x="6793408" y="4958113"/>
                <a:ext cx="78529" cy="59624"/>
              </a:xfrm>
              <a:custGeom>
                <a:rect b="b" l="l" r="r" t="t"/>
                <a:pathLst>
                  <a:path extrusionOk="0" h="59624" w="78529">
                    <a:moveTo>
                      <a:pt x="73571" y="4958"/>
                    </a:moveTo>
                    <a:cubicBezTo>
                      <a:pt x="78529" y="9917"/>
                      <a:pt x="78529" y="17956"/>
                      <a:pt x="73571" y="22916"/>
                    </a:cubicBezTo>
                    <a:lnTo>
                      <a:pt x="41821" y="54666"/>
                    </a:lnTo>
                    <a:cubicBezTo>
                      <a:pt x="36861" y="59624"/>
                      <a:pt x="28822" y="59624"/>
                      <a:pt x="23863" y="54666"/>
                    </a:cubicBezTo>
                    <a:lnTo>
                      <a:pt x="4813" y="35616"/>
                    </a:lnTo>
                    <a:cubicBezTo>
                      <a:pt x="0" y="30632"/>
                      <a:pt x="69" y="22711"/>
                      <a:pt x="4968" y="17813"/>
                    </a:cubicBezTo>
                    <a:cubicBezTo>
                      <a:pt x="9866" y="12914"/>
                      <a:pt x="17788" y="12845"/>
                      <a:pt x="22771" y="17658"/>
                    </a:cubicBezTo>
                    <a:lnTo>
                      <a:pt x="32842" y="27729"/>
                    </a:lnTo>
                    <a:lnTo>
                      <a:pt x="55613" y="4958"/>
                    </a:lnTo>
                    <a:cubicBezTo>
                      <a:pt x="60572" y="0"/>
                      <a:pt x="68611" y="0"/>
                      <a:pt x="73571" y="4958"/>
                    </a:cubicBezTo>
                  </a:path>
                </a:pathLst>
              </a:custGeom>
              <a:solidFill>
                <a:srgbClr val="3A9E6A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38"/>
              <p:cNvSpPr/>
              <p:nvPr/>
            </p:nvSpPr>
            <p:spPr>
              <a:xfrm>
                <a:off x="6793408" y="5034313"/>
                <a:ext cx="78529" cy="59624"/>
              </a:xfrm>
              <a:custGeom>
                <a:rect b="b" l="l" r="r" t="t"/>
                <a:pathLst>
                  <a:path extrusionOk="0" h="59624" w="78529">
                    <a:moveTo>
                      <a:pt x="73571" y="4958"/>
                    </a:moveTo>
                    <a:cubicBezTo>
                      <a:pt x="78529" y="9917"/>
                      <a:pt x="78529" y="17956"/>
                      <a:pt x="73571" y="22916"/>
                    </a:cubicBezTo>
                    <a:lnTo>
                      <a:pt x="41821" y="54666"/>
                    </a:lnTo>
                    <a:cubicBezTo>
                      <a:pt x="36861" y="59624"/>
                      <a:pt x="28822" y="59624"/>
                      <a:pt x="23863" y="54666"/>
                    </a:cubicBezTo>
                    <a:lnTo>
                      <a:pt x="4813" y="35616"/>
                    </a:lnTo>
                    <a:cubicBezTo>
                      <a:pt x="0" y="30632"/>
                      <a:pt x="69" y="22711"/>
                      <a:pt x="4968" y="17813"/>
                    </a:cubicBezTo>
                    <a:cubicBezTo>
                      <a:pt x="9866" y="12914"/>
                      <a:pt x="17788" y="12845"/>
                      <a:pt x="22771" y="17658"/>
                    </a:cubicBezTo>
                    <a:lnTo>
                      <a:pt x="32842" y="27729"/>
                    </a:lnTo>
                    <a:lnTo>
                      <a:pt x="55613" y="4958"/>
                    </a:lnTo>
                    <a:cubicBezTo>
                      <a:pt x="60572" y="0"/>
                      <a:pt x="68611" y="0"/>
                      <a:pt x="73571" y="4958"/>
                    </a:cubicBezTo>
                  </a:path>
                </a:pathLst>
              </a:custGeom>
              <a:solidFill>
                <a:srgbClr val="3A9E6A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38"/>
              <p:cNvSpPr/>
              <p:nvPr/>
            </p:nvSpPr>
            <p:spPr>
              <a:xfrm>
                <a:off x="6889750" y="4902200"/>
                <a:ext cx="139700" cy="25400"/>
              </a:xfrm>
              <a:custGeom>
                <a:rect b="b" l="l" r="r" t="t"/>
                <a:pathLst>
                  <a:path extrusionOk="0" h="25400" w="139700">
                    <a:moveTo>
                      <a:pt x="139700" y="12700"/>
                    </a:moveTo>
                    <a:cubicBezTo>
                      <a:pt x="139700" y="19714"/>
                      <a:pt x="134014" y="25400"/>
                      <a:pt x="127000" y="25400"/>
                    </a:cubicBezTo>
                    <a:lnTo>
                      <a:pt x="12700" y="25400"/>
                    </a:lnTo>
                    <a:cubicBezTo>
                      <a:pt x="5686" y="25400"/>
                      <a:pt x="0" y="19714"/>
                      <a:pt x="0" y="12700"/>
                    </a:cubicBezTo>
                    <a:cubicBezTo>
                      <a:pt x="0" y="5686"/>
                      <a:pt x="5686" y="0"/>
                      <a:pt x="12700" y="0"/>
                    </a:cubicBezTo>
                    <a:lnTo>
                      <a:pt x="127000" y="0"/>
                    </a:lnTo>
                    <a:cubicBezTo>
                      <a:pt x="134014" y="0"/>
                      <a:pt x="139700" y="5686"/>
                      <a:pt x="139700" y="12700"/>
                    </a:cubicBezTo>
                  </a:path>
                </a:pathLst>
              </a:custGeom>
              <a:solidFill>
                <a:srgbClr val="3A9E6A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38"/>
              <p:cNvSpPr/>
              <p:nvPr/>
            </p:nvSpPr>
            <p:spPr>
              <a:xfrm>
                <a:off x="6889750" y="4978400"/>
                <a:ext cx="139700" cy="25400"/>
              </a:xfrm>
              <a:custGeom>
                <a:rect b="b" l="l" r="r" t="t"/>
                <a:pathLst>
                  <a:path extrusionOk="0" h="25400" w="139700">
                    <a:moveTo>
                      <a:pt x="139700" y="12700"/>
                    </a:moveTo>
                    <a:cubicBezTo>
                      <a:pt x="139700" y="19714"/>
                      <a:pt x="134014" y="25400"/>
                      <a:pt x="127000" y="25400"/>
                    </a:cubicBezTo>
                    <a:lnTo>
                      <a:pt x="12700" y="25400"/>
                    </a:lnTo>
                    <a:cubicBezTo>
                      <a:pt x="5686" y="25400"/>
                      <a:pt x="0" y="19714"/>
                      <a:pt x="0" y="12700"/>
                    </a:cubicBezTo>
                    <a:cubicBezTo>
                      <a:pt x="0" y="5686"/>
                      <a:pt x="5686" y="0"/>
                      <a:pt x="12700" y="0"/>
                    </a:cubicBezTo>
                    <a:lnTo>
                      <a:pt x="127000" y="0"/>
                    </a:lnTo>
                    <a:cubicBezTo>
                      <a:pt x="134014" y="0"/>
                      <a:pt x="139700" y="5686"/>
                      <a:pt x="139700" y="12700"/>
                    </a:cubicBezTo>
                  </a:path>
                </a:pathLst>
              </a:custGeom>
              <a:solidFill>
                <a:srgbClr val="3A9E6A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38"/>
              <p:cNvSpPr/>
              <p:nvPr/>
            </p:nvSpPr>
            <p:spPr>
              <a:xfrm>
                <a:off x="6889750" y="5054600"/>
                <a:ext cx="139700" cy="25400"/>
              </a:xfrm>
              <a:custGeom>
                <a:rect b="b" l="l" r="r" t="t"/>
                <a:pathLst>
                  <a:path extrusionOk="0" h="25400" w="139700">
                    <a:moveTo>
                      <a:pt x="139700" y="12700"/>
                    </a:moveTo>
                    <a:cubicBezTo>
                      <a:pt x="139700" y="19714"/>
                      <a:pt x="134014" y="25400"/>
                      <a:pt x="127000" y="25400"/>
                    </a:cubicBezTo>
                    <a:lnTo>
                      <a:pt x="12700" y="25400"/>
                    </a:lnTo>
                    <a:cubicBezTo>
                      <a:pt x="5686" y="25400"/>
                      <a:pt x="0" y="19714"/>
                      <a:pt x="0" y="12700"/>
                    </a:cubicBezTo>
                    <a:cubicBezTo>
                      <a:pt x="0" y="5686"/>
                      <a:pt x="5686" y="0"/>
                      <a:pt x="12700" y="0"/>
                    </a:cubicBezTo>
                    <a:lnTo>
                      <a:pt x="127000" y="0"/>
                    </a:lnTo>
                    <a:cubicBezTo>
                      <a:pt x="134014" y="0"/>
                      <a:pt x="139700" y="5686"/>
                      <a:pt x="139700" y="12700"/>
                    </a:cubicBezTo>
                  </a:path>
                </a:pathLst>
              </a:custGeom>
              <a:solidFill>
                <a:srgbClr val="3A9E6A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81" name="Google Shape;1081;p38"/>
            <p:cNvSpPr txBox="1"/>
            <p:nvPr/>
          </p:nvSpPr>
          <p:spPr>
            <a:xfrm>
              <a:off x="7240905" y="4845368"/>
              <a:ext cx="21045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需要哪些页面和功能？</a:t>
              </a:r>
              <a:endParaRPr sz="1100"/>
            </a:p>
          </p:txBody>
        </p:sp>
        <p:sp>
          <p:nvSpPr>
            <p:cNvPr id="1082" name="Google Shape;1082;p38"/>
            <p:cNvSpPr txBox="1"/>
            <p:nvPr/>
          </p:nvSpPr>
          <p:spPr>
            <a:xfrm>
              <a:off x="7244715" y="5087302"/>
              <a:ext cx="25263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页面数量 · 必须有的模块 · 特殊交互</a:t>
              </a:r>
              <a:endParaRPr sz="1100"/>
            </a:p>
          </p:txBody>
        </p:sp>
        <p:sp>
          <p:nvSpPr>
            <p:cNvPr id="1083" name="Google Shape;1083;p38"/>
            <p:cNvSpPr/>
            <p:nvPr/>
          </p:nvSpPr>
          <p:spPr>
            <a:xfrm>
              <a:off x="6705600" y="5372100"/>
              <a:ext cx="4533900" cy="9525"/>
            </a:xfrm>
            <a:custGeom>
              <a:rect b="b" l="l" r="r" t="t"/>
              <a:pathLst>
                <a:path extrusionOk="0" h="9525" w="4533900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cap="flat" cmpd="sng" w="9525">
              <a:solidFill>
                <a:srgbClr val="E8F5EE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084" name="Google Shape;1084;p38"/>
            <p:cNvSpPr/>
            <p:nvPr/>
          </p:nvSpPr>
          <p:spPr>
            <a:xfrm>
              <a:off x="6705600" y="5486400"/>
              <a:ext cx="4533900" cy="514350"/>
            </a:xfrm>
            <a:prstGeom prst="roundRect">
              <a:avLst>
                <a:gd fmla="val 11111" name="adj"/>
              </a:avLst>
            </a:prstGeom>
            <a:solidFill>
              <a:srgbClr val="F0FAF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38"/>
            <p:cNvSpPr txBox="1"/>
            <p:nvPr/>
          </p:nvSpPr>
          <p:spPr>
            <a:xfrm>
              <a:off x="6845618" y="555259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3A9E6A"/>
                  </a:solidFill>
                  <a:latin typeface="Arial"/>
                  <a:ea typeface="Arial"/>
                  <a:cs typeface="Arial"/>
                  <a:sym typeface="Arial"/>
                </a:rPr>
                <a:t>例：</a:t>
              </a:r>
              <a:endParaRPr sz="1100"/>
            </a:p>
          </p:txBody>
        </p:sp>
        <p:sp>
          <p:nvSpPr>
            <p:cNvPr id="1086" name="Google Shape;1086;p38"/>
            <p:cNvSpPr txBox="1"/>
            <p:nvPr/>
          </p:nvSpPr>
          <p:spPr>
            <a:xfrm>
              <a:off x="7150418" y="5552599"/>
              <a:ext cx="25594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"首页+关于+课程介绍共 3 页，首页需要</a:t>
              </a:r>
              <a:endParaRPr sz="1100"/>
            </a:p>
          </p:txBody>
        </p:sp>
        <p:sp>
          <p:nvSpPr>
            <p:cNvPr id="1087" name="Google Shape;1087;p38"/>
            <p:cNvSpPr txBox="1"/>
            <p:nvPr/>
          </p:nvSpPr>
          <p:spPr>
            <a:xfrm>
              <a:off x="6845618" y="5743099"/>
              <a:ext cx="23245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FAQ 区块，访客问题 chatbot 功能"</a:t>
              </a:r>
              <a:endParaRPr sz="1100"/>
            </a:p>
          </p:txBody>
        </p:sp>
      </p:grpSp>
      <p:sp>
        <p:nvSpPr>
          <p:cNvPr id="1088" name="Google Shape;1088;p38"/>
          <p:cNvSpPr txBox="1"/>
          <p:nvPr/>
        </p:nvSpPr>
        <p:spPr>
          <a:xfrm>
            <a:off x="8348829" y="4915614"/>
            <a:ext cx="376547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14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39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39"/>
          <p:cNvSpPr txBox="1"/>
          <p:nvPr/>
        </p:nvSpPr>
        <p:spPr>
          <a:xfrm>
            <a:off x="3148858" y="224314"/>
            <a:ext cx="284628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两个文件，各司其职</a:t>
            </a:r>
            <a:endParaRPr sz="1100"/>
          </a:p>
        </p:txBody>
      </p:sp>
      <p:sp>
        <p:nvSpPr>
          <p:cNvPr id="1096" name="Google Shape;1096;p39"/>
          <p:cNvSpPr txBox="1"/>
          <p:nvPr/>
        </p:nvSpPr>
        <p:spPr>
          <a:xfrm>
            <a:off x="3182684" y="523637"/>
            <a:ext cx="2778633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一个说"做什么"，一个说"怎么看"</a:t>
            </a:r>
            <a:endParaRPr sz="1100"/>
          </a:p>
        </p:txBody>
      </p:sp>
      <p:sp>
        <p:nvSpPr>
          <p:cNvPr id="1097" name="Google Shape;1097;p39"/>
          <p:cNvSpPr/>
          <p:nvPr/>
        </p:nvSpPr>
        <p:spPr>
          <a:xfrm>
            <a:off x="571500" y="800100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8" name="Google Shape;1098;p39"/>
          <p:cNvSpPr/>
          <p:nvPr/>
        </p:nvSpPr>
        <p:spPr>
          <a:xfrm>
            <a:off x="571500" y="914400"/>
            <a:ext cx="3786187" cy="3543300"/>
          </a:xfrm>
          <a:prstGeom prst="roundRect">
            <a:avLst>
              <a:gd fmla="val 2823" name="adj"/>
            </a:avLst>
          </a:prstGeom>
          <a:solidFill>
            <a:srgbClr val="FFFFFF"/>
          </a:solidFill>
          <a:ln cap="flat" cmpd="sng" w="19050">
            <a:solidFill>
              <a:srgbClr val="C961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39"/>
          <p:cNvSpPr/>
          <p:nvPr/>
        </p:nvSpPr>
        <p:spPr>
          <a:xfrm>
            <a:off x="571500" y="914400"/>
            <a:ext cx="3786187" cy="42863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39"/>
          <p:cNvSpPr/>
          <p:nvPr/>
        </p:nvSpPr>
        <p:spPr>
          <a:xfrm>
            <a:off x="785813" y="1085850"/>
            <a:ext cx="342900" cy="342900"/>
          </a:xfrm>
          <a:prstGeom prst="roundRect">
            <a:avLst>
              <a:gd fmla="val 20833" name="adj"/>
            </a:avLst>
          </a:prstGeom>
          <a:solidFill>
            <a:srgbClr val="C96133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1" name="Google Shape;1101;p39"/>
          <p:cNvGrpSpPr/>
          <p:nvPr/>
        </p:nvGrpSpPr>
        <p:grpSpPr>
          <a:xfrm>
            <a:off x="871537" y="1150144"/>
            <a:ext cx="171452" cy="214313"/>
            <a:chOff x="1162049" y="1533525"/>
            <a:chExt cx="228603" cy="285751"/>
          </a:xfrm>
        </p:grpSpPr>
        <p:sp>
          <p:nvSpPr>
            <p:cNvPr id="1102" name="Google Shape;1102;p39"/>
            <p:cNvSpPr/>
            <p:nvPr/>
          </p:nvSpPr>
          <p:spPr>
            <a:xfrm>
              <a:off x="1162049" y="1533525"/>
              <a:ext cx="228603" cy="285751"/>
            </a:xfrm>
            <a:custGeom>
              <a:rect b="b" l="l" r="r" t="t"/>
              <a:pathLst>
                <a:path extrusionOk="0" h="285751" w="228603">
                  <a:moveTo>
                    <a:pt x="114301" y="0"/>
                  </a:moveTo>
                  <a:lnTo>
                    <a:pt x="115973" y="100"/>
                  </a:lnTo>
                  <a:cubicBezTo>
                    <a:pt x="122538" y="874"/>
                    <a:pt x="127715" y="6051"/>
                    <a:pt x="128489" y="12616"/>
                  </a:cubicBezTo>
                  <a:lnTo>
                    <a:pt x="128589" y="14288"/>
                  </a:lnTo>
                  <a:lnTo>
                    <a:pt x="128589" y="71438"/>
                  </a:lnTo>
                  <a:lnTo>
                    <a:pt x="128660" y="73581"/>
                  </a:lnTo>
                  <a:cubicBezTo>
                    <a:pt x="129717" y="87638"/>
                    <a:pt x="140867" y="98825"/>
                    <a:pt x="154921" y="99927"/>
                  </a:cubicBezTo>
                  <a:lnTo>
                    <a:pt x="157164" y="100012"/>
                  </a:lnTo>
                  <a:lnTo>
                    <a:pt x="214314" y="100012"/>
                  </a:lnTo>
                  <a:lnTo>
                    <a:pt x="215985" y="100113"/>
                  </a:lnTo>
                  <a:cubicBezTo>
                    <a:pt x="222550" y="100887"/>
                    <a:pt x="227727" y="106063"/>
                    <a:pt x="228501" y="112628"/>
                  </a:cubicBezTo>
                  <a:lnTo>
                    <a:pt x="228601" y="114300"/>
                  </a:lnTo>
                  <a:lnTo>
                    <a:pt x="228601" y="242888"/>
                  </a:lnTo>
                  <a:cubicBezTo>
                    <a:pt x="228603" y="265584"/>
                    <a:pt x="210911" y="284347"/>
                    <a:pt x="188253" y="285679"/>
                  </a:cubicBezTo>
                  <a:lnTo>
                    <a:pt x="185739" y="285750"/>
                  </a:lnTo>
                  <a:lnTo>
                    <a:pt x="42864" y="285750"/>
                  </a:lnTo>
                  <a:cubicBezTo>
                    <a:pt x="20167" y="285751"/>
                    <a:pt x="1404" y="268060"/>
                    <a:pt x="73" y="245402"/>
                  </a:cubicBezTo>
                  <a:lnTo>
                    <a:pt x="1" y="242888"/>
                  </a:lnTo>
                  <a:lnTo>
                    <a:pt x="1" y="42862"/>
                  </a:lnTo>
                  <a:cubicBezTo>
                    <a:pt x="0" y="20166"/>
                    <a:pt x="17692" y="1403"/>
                    <a:pt x="40349" y="71"/>
                  </a:cubicBezTo>
                  <a:lnTo>
                    <a:pt x="42864" y="0"/>
                  </a:lnTo>
                  <a:close/>
                  <a:moveTo>
                    <a:pt x="157164" y="200025"/>
                  </a:moveTo>
                  <a:lnTo>
                    <a:pt x="71439" y="200025"/>
                  </a:lnTo>
                  <a:cubicBezTo>
                    <a:pt x="63548" y="200025"/>
                    <a:pt x="57151" y="206422"/>
                    <a:pt x="57151" y="214312"/>
                  </a:cubicBezTo>
                  <a:cubicBezTo>
                    <a:pt x="57151" y="222203"/>
                    <a:pt x="63548" y="228600"/>
                    <a:pt x="71439" y="228600"/>
                  </a:cubicBezTo>
                  <a:lnTo>
                    <a:pt x="157164" y="228600"/>
                  </a:lnTo>
                  <a:cubicBezTo>
                    <a:pt x="165055" y="228600"/>
                    <a:pt x="171451" y="222203"/>
                    <a:pt x="171451" y="214312"/>
                  </a:cubicBezTo>
                  <a:cubicBezTo>
                    <a:pt x="171451" y="206422"/>
                    <a:pt x="165055" y="200025"/>
                    <a:pt x="157164" y="200025"/>
                  </a:cubicBezTo>
                  <a:moveTo>
                    <a:pt x="157164" y="142875"/>
                  </a:moveTo>
                  <a:lnTo>
                    <a:pt x="71439" y="142875"/>
                  </a:lnTo>
                  <a:cubicBezTo>
                    <a:pt x="63548" y="142875"/>
                    <a:pt x="57151" y="149272"/>
                    <a:pt x="57151" y="157162"/>
                  </a:cubicBezTo>
                  <a:cubicBezTo>
                    <a:pt x="57151" y="165053"/>
                    <a:pt x="63548" y="171450"/>
                    <a:pt x="71439" y="171450"/>
                  </a:cubicBezTo>
                  <a:lnTo>
                    <a:pt x="157164" y="171450"/>
                  </a:lnTo>
                  <a:cubicBezTo>
                    <a:pt x="165055" y="171450"/>
                    <a:pt x="171451" y="165053"/>
                    <a:pt x="171451" y="157162"/>
                  </a:cubicBezTo>
                  <a:cubicBezTo>
                    <a:pt x="171451" y="149272"/>
                    <a:pt x="165055" y="142875"/>
                    <a:pt x="157164" y="142875"/>
                  </a:cubicBezTo>
                  <a:moveTo>
                    <a:pt x="85726" y="85725"/>
                  </a:moveTo>
                  <a:lnTo>
                    <a:pt x="71439" y="85725"/>
                  </a:lnTo>
                  <a:cubicBezTo>
                    <a:pt x="63548" y="85725"/>
                    <a:pt x="57151" y="92122"/>
                    <a:pt x="57151" y="100012"/>
                  </a:cubicBezTo>
                  <a:cubicBezTo>
                    <a:pt x="57151" y="107903"/>
                    <a:pt x="63548" y="114300"/>
                    <a:pt x="71439" y="114300"/>
                  </a:cubicBezTo>
                  <a:lnTo>
                    <a:pt x="85726" y="114300"/>
                  </a:lnTo>
                  <a:cubicBezTo>
                    <a:pt x="93617" y="114300"/>
                    <a:pt x="100014" y="107903"/>
                    <a:pt x="100014" y="100012"/>
                  </a:cubicBezTo>
                  <a:cubicBezTo>
                    <a:pt x="100014" y="92122"/>
                    <a:pt x="93617" y="85725"/>
                    <a:pt x="85726" y="85725"/>
                  </a:cubicBezTo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9"/>
            <p:cNvSpPr/>
            <p:nvPr/>
          </p:nvSpPr>
          <p:spPr>
            <a:xfrm>
              <a:off x="1319198" y="1547798"/>
              <a:ext cx="57164" cy="57164"/>
            </a:xfrm>
            <a:custGeom>
              <a:rect b="b" l="l" r="r" t="t"/>
              <a:pathLst>
                <a:path extrusionOk="0" h="57164" w="57164">
                  <a:moveTo>
                    <a:pt x="57164" y="57164"/>
                  </a:moveTo>
                  <a:lnTo>
                    <a:pt x="14" y="57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6133"/>
            </a:solidFill>
            <a:ln>
              <a:noFill/>
            </a:ln>
          </p:spPr>
        </p:sp>
      </p:grpSp>
      <p:sp>
        <p:nvSpPr>
          <p:cNvPr id="1104" name="Google Shape;1104;p39"/>
          <p:cNvSpPr txBox="1"/>
          <p:nvPr/>
        </p:nvSpPr>
        <p:spPr>
          <a:xfrm>
            <a:off x="1210151" y="1113711"/>
            <a:ext cx="119217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CLAUDE.md</a:t>
            </a:r>
            <a:endParaRPr sz="1100"/>
          </a:p>
        </p:txBody>
      </p:sp>
      <p:sp>
        <p:nvSpPr>
          <p:cNvPr id="1105" name="Google Shape;1105;p39"/>
          <p:cNvSpPr txBox="1"/>
          <p:nvPr/>
        </p:nvSpPr>
        <p:spPr>
          <a:xfrm>
            <a:off x="1218724" y="1343739"/>
            <a:ext cx="174694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项目说明书 · 给 Claude Code 看</a:t>
            </a:r>
            <a:endParaRPr sz="1100"/>
          </a:p>
        </p:txBody>
      </p:sp>
      <p:sp>
        <p:nvSpPr>
          <p:cNvPr id="1106" name="Google Shape;1106;p39"/>
          <p:cNvSpPr/>
          <p:nvPr/>
        </p:nvSpPr>
        <p:spPr>
          <a:xfrm>
            <a:off x="785813" y="1557338"/>
            <a:ext cx="3357563" cy="7144"/>
          </a:xfrm>
          <a:custGeom>
            <a:rect b="b" l="l" r="r" t="t"/>
            <a:pathLst>
              <a:path extrusionOk="0" h="9525" w="4476750">
                <a:moveTo>
                  <a:pt x="0" y="0"/>
                </a:moveTo>
                <a:lnTo>
                  <a:pt x="4476750" y="0"/>
                </a:lnTo>
              </a:path>
            </a:pathLst>
          </a:custGeom>
          <a:noFill/>
          <a:ln cap="flat" cmpd="sng" w="14275">
            <a:solidFill>
              <a:srgbClr val="F0EDE8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7" name="Google Shape;1107;p39"/>
          <p:cNvSpPr/>
          <p:nvPr/>
        </p:nvSpPr>
        <p:spPr>
          <a:xfrm>
            <a:off x="785813" y="1657350"/>
            <a:ext cx="3429000" cy="428625"/>
          </a:xfrm>
          <a:prstGeom prst="roundRect">
            <a:avLst>
              <a:gd fmla="val 13333" name="adj"/>
            </a:avLst>
          </a:prstGeom>
          <a:solidFill>
            <a:srgbClr val="FDF5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39"/>
          <p:cNvSpPr/>
          <p:nvPr/>
        </p:nvSpPr>
        <p:spPr>
          <a:xfrm>
            <a:off x="785813" y="1657350"/>
            <a:ext cx="28575" cy="428625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39"/>
          <p:cNvSpPr txBox="1"/>
          <p:nvPr/>
        </p:nvSpPr>
        <p:spPr>
          <a:xfrm>
            <a:off x="887969" y="1739861"/>
            <a:ext cx="1366076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品牌定位 &amp; 目标受众</a:t>
            </a:r>
            <a:endParaRPr sz="1100"/>
          </a:p>
        </p:txBody>
      </p:sp>
      <p:sp>
        <p:nvSpPr>
          <p:cNvPr id="1110" name="Google Shape;1110;p39"/>
          <p:cNvSpPr txBox="1"/>
          <p:nvPr/>
        </p:nvSpPr>
        <p:spPr>
          <a:xfrm>
            <a:off x="889397" y="1909167"/>
            <a:ext cx="212865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"北美华人理财顾问，服务湾区工程师"</a:t>
            </a:r>
            <a:endParaRPr sz="1100"/>
          </a:p>
        </p:txBody>
      </p:sp>
      <p:sp>
        <p:nvSpPr>
          <p:cNvPr id="1111" name="Google Shape;1111;p39"/>
          <p:cNvSpPr/>
          <p:nvPr/>
        </p:nvSpPr>
        <p:spPr>
          <a:xfrm>
            <a:off x="785813" y="2171700"/>
            <a:ext cx="3429000" cy="428625"/>
          </a:xfrm>
          <a:prstGeom prst="roundRect">
            <a:avLst>
              <a:gd fmla="val 13333" name="adj"/>
            </a:avLst>
          </a:prstGeom>
          <a:solidFill>
            <a:srgbClr val="FDF5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39"/>
          <p:cNvSpPr/>
          <p:nvPr/>
        </p:nvSpPr>
        <p:spPr>
          <a:xfrm>
            <a:off x="785813" y="2171700"/>
            <a:ext cx="28575" cy="428625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39"/>
          <p:cNvSpPr txBox="1"/>
          <p:nvPr/>
        </p:nvSpPr>
        <p:spPr>
          <a:xfrm>
            <a:off x="887968" y="2254211"/>
            <a:ext cx="1659362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服务描述 &amp; 核心价值主张</a:t>
            </a:r>
            <a:endParaRPr sz="1100"/>
          </a:p>
        </p:txBody>
      </p:sp>
      <p:sp>
        <p:nvSpPr>
          <p:cNvPr id="1114" name="Google Shape;1114;p39"/>
          <p:cNvSpPr txBox="1"/>
          <p:nvPr/>
        </p:nvSpPr>
        <p:spPr>
          <a:xfrm>
            <a:off x="889396" y="2423517"/>
            <a:ext cx="185755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专注 401K / RSU / ISO / 529 规划</a:t>
            </a:r>
            <a:endParaRPr sz="1100"/>
          </a:p>
        </p:txBody>
      </p:sp>
      <p:sp>
        <p:nvSpPr>
          <p:cNvPr id="1115" name="Google Shape;1115;p39"/>
          <p:cNvSpPr/>
          <p:nvPr/>
        </p:nvSpPr>
        <p:spPr>
          <a:xfrm>
            <a:off x="785813" y="2686050"/>
            <a:ext cx="3429000" cy="428625"/>
          </a:xfrm>
          <a:prstGeom prst="roundRect">
            <a:avLst>
              <a:gd fmla="val 13333" name="adj"/>
            </a:avLst>
          </a:prstGeom>
          <a:solidFill>
            <a:srgbClr val="FDF5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39"/>
          <p:cNvSpPr/>
          <p:nvPr/>
        </p:nvSpPr>
        <p:spPr>
          <a:xfrm>
            <a:off x="785813" y="2686050"/>
            <a:ext cx="28575" cy="428625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39"/>
          <p:cNvSpPr txBox="1"/>
          <p:nvPr/>
        </p:nvSpPr>
        <p:spPr>
          <a:xfrm>
            <a:off x="887969" y="2768561"/>
            <a:ext cx="1366076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页面列表 &amp; 必含版块</a:t>
            </a:r>
            <a:endParaRPr sz="1100"/>
          </a:p>
        </p:txBody>
      </p:sp>
      <p:sp>
        <p:nvSpPr>
          <p:cNvPr id="1118" name="Google Shape;1118;p39"/>
          <p:cNvSpPr txBox="1"/>
          <p:nvPr/>
        </p:nvSpPr>
        <p:spPr>
          <a:xfrm>
            <a:off x="889397" y="2937867"/>
            <a:ext cx="186371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index.html 含 Hero / 服务 / CTA</a:t>
            </a:r>
            <a:endParaRPr sz="1100"/>
          </a:p>
        </p:txBody>
      </p:sp>
      <p:sp>
        <p:nvSpPr>
          <p:cNvPr id="1119" name="Google Shape;1119;p39"/>
          <p:cNvSpPr/>
          <p:nvPr/>
        </p:nvSpPr>
        <p:spPr>
          <a:xfrm>
            <a:off x="785813" y="3200400"/>
            <a:ext cx="3429000" cy="428625"/>
          </a:xfrm>
          <a:prstGeom prst="roundRect">
            <a:avLst>
              <a:gd fmla="val 13333" name="adj"/>
            </a:avLst>
          </a:prstGeom>
          <a:solidFill>
            <a:srgbClr val="FDF5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39"/>
          <p:cNvSpPr/>
          <p:nvPr/>
        </p:nvSpPr>
        <p:spPr>
          <a:xfrm>
            <a:off x="785813" y="3200400"/>
            <a:ext cx="28575" cy="428625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39"/>
          <p:cNvSpPr txBox="1"/>
          <p:nvPr/>
        </p:nvSpPr>
        <p:spPr>
          <a:xfrm>
            <a:off x="887968" y="3282910"/>
            <a:ext cx="1072789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语调 &amp; 写作风格</a:t>
            </a:r>
            <a:endParaRPr sz="1100"/>
          </a:p>
        </p:txBody>
      </p:sp>
      <p:sp>
        <p:nvSpPr>
          <p:cNvPr id="1122" name="Google Shape;1122;p39"/>
          <p:cNvSpPr txBox="1"/>
          <p:nvPr/>
        </p:nvSpPr>
        <p:spPr>
          <a:xfrm>
            <a:off x="889397" y="3452217"/>
            <a:ext cx="17466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专业、简洁、有温度，中英双语</a:t>
            </a:r>
            <a:endParaRPr sz="1100"/>
          </a:p>
        </p:txBody>
      </p:sp>
      <p:sp>
        <p:nvSpPr>
          <p:cNvPr id="1123" name="Google Shape;1123;p39"/>
          <p:cNvSpPr/>
          <p:nvPr/>
        </p:nvSpPr>
        <p:spPr>
          <a:xfrm>
            <a:off x="785813" y="3743325"/>
            <a:ext cx="3429000" cy="500063"/>
          </a:xfrm>
          <a:prstGeom prst="roundRect">
            <a:avLst>
              <a:gd fmla="val 11429" name="adj"/>
            </a:avLst>
          </a:prstGeom>
          <a:solidFill>
            <a:srgbClr val="F8F6F3"/>
          </a:solidFill>
          <a:ln cap="flat" cmpd="sng" w="95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4" name="Google Shape;1124;p39"/>
          <p:cNvGrpSpPr/>
          <p:nvPr/>
        </p:nvGrpSpPr>
        <p:grpSpPr>
          <a:xfrm>
            <a:off x="884449" y="3856434"/>
            <a:ext cx="131339" cy="130969"/>
            <a:chOff x="1179266" y="5141912"/>
            <a:chExt cx="175118" cy="174625"/>
          </a:xfrm>
        </p:grpSpPr>
        <p:sp>
          <p:nvSpPr>
            <p:cNvPr id="1125" name="Google Shape;1125;p39"/>
            <p:cNvSpPr/>
            <p:nvPr/>
          </p:nvSpPr>
          <p:spPr>
            <a:xfrm>
              <a:off x="1179266" y="5220494"/>
              <a:ext cx="26686" cy="17462"/>
            </a:xfrm>
            <a:custGeom>
              <a:rect b="b" l="l" r="r" t="t"/>
              <a:pathLst>
                <a:path extrusionOk="0" h="17462" w="26686">
                  <a:moveTo>
                    <a:pt x="17709" y="0"/>
                  </a:moveTo>
                  <a:cubicBezTo>
                    <a:pt x="22328" y="5"/>
                    <a:pt x="26144" y="3608"/>
                    <a:pt x="26415" y="8220"/>
                  </a:cubicBezTo>
                  <a:cubicBezTo>
                    <a:pt x="26686" y="12831"/>
                    <a:pt x="23317" y="16856"/>
                    <a:pt x="18730" y="17401"/>
                  </a:cubicBezTo>
                  <a:lnTo>
                    <a:pt x="17709" y="17462"/>
                  </a:lnTo>
                  <a:lnTo>
                    <a:pt x="8977" y="17462"/>
                  </a:lnTo>
                  <a:cubicBezTo>
                    <a:pt x="4358" y="17457"/>
                    <a:pt x="541" y="13855"/>
                    <a:pt x="271" y="9243"/>
                  </a:cubicBezTo>
                  <a:cubicBezTo>
                    <a:pt x="0" y="4631"/>
                    <a:pt x="3368" y="607"/>
                    <a:pt x="7956" y="61"/>
                  </a:cubicBezTo>
                  <a:lnTo>
                    <a:pt x="8977" y="0"/>
                  </a:lnTo>
                  <a:lnTo>
                    <a:pt x="17709" y="0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9"/>
            <p:cNvSpPr/>
            <p:nvPr/>
          </p:nvSpPr>
          <p:spPr>
            <a:xfrm>
              <a:off x="1258094" y="5141912"/>
              <a:ext cx="17462" cy="26440"/>
            </a:xfrm>
            <a:custGeom>
              <a:rect b="b" l="l" r="r" t="t"/>
              <a:pathLst>
                <a:path extrusionOk="0" h="26440" w="17462">
                  <a:moveTo>
                    <a:pt x="8731" y="0"/>
                  </a:moveTo>
                  <a:cubicBezTo>
                    <a:pt x="13158" y="1"/>
                    <a:pt x="16883" y="3314"/>
                    <a:pt x="17401" y="7710"/>
                  </a:cubicBezTo>
                  <a:lnTo>
                    <a:pt x="17462" y="8731"/>
                  </a:lnTo>
                  <a:lnTo>
                    <a:pt x="17462" y="17462"/>
                  </a:lnTo>
                  <a:cubicBezTo>
                    <a:pt x="17457" y="22082"/>
                    <a:pt x="13855" y="25898"/>
                    <a:pt x="9243" y="26169"/>
                  </a:cubicBezTo>
                  <a:cubicBezTo>
                    <a:pt x="4631" y="26440"/>
                    <a:pt x="607" y="23071"/>
                    <a:pt x="61" y="18484"/>
                  </a:cubicBezTo>
                  <a:lnTo>
                    <a:pt x="0" y="17462"/>
                  </a:lnTo>
                  <a:lnTo>
                    <a:pt x="0" y="8731"/>
                  </a:lnTo>
                  <a:cubicBezTo>
                    <a:pt x="0" y="3909"/>
                    <a:pt x="3909" y="0"/>
                    <a:pt x="8731" y="0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39"/>
            <p:cNvSpPr/>
            <p:nvPr/>
          </p:nvSpPr>
          <p:spPr>
            <a:xfrm>
              <a:off x="1327698" y="5220494"/>
              <a:ext cx="26686" cy="17462"/>
            </a:xfrm>
            <a:custGeom>
              <a:rect b="b" l="l" r="r" t="t"/>
              <a:pathLst>
                <a:path extrusionOk="0" h="17462" w="26686">
                  <a:moveTo>
                    <a:pt x="17709" y="0"/>
                  </a:moveTo>
                  <a:cubicBezTo>
                    <a:pt x="22328" y="5"/>
                    <a:pt x="26144" y="3608"/>
                    <a:pt x="26415" y="8220"/>
                  </a:cubicBezTo>
                  <a:cubicBezTo>
                    <a:pt x="26686" y="12831"/>
                    <a:pt x="23317" y="16856"/>
                    <a:pt x="18730" y="17401"/>
                  </a:cubicBezTo>
                  <a:lnTo>
                    <a:pt x="17709" y="17462"/>
                  </a:lnTo>
                  <a:lnTo>
                    <a:pt x="8977" y="17462"/>
                  </a:lnTo>
                  <a:cubicBezTo>
                    <a:pt x="4358" y="17457"/>
                    <a:pt x="541" y="13855"/>
                    <a:pt x="271" y="9243"/>
                  </a:cubicBezTo>
                  <a:cubicBezTo>
                    <a:pt x="0" y="4631"/>
                    <a:pt x="3368" y="607"/>
                    <a:pt x="7956" y="61"/>
                  </a:cubicBezTo>
                  <a:lnTo>
                    <a:pt x="8977" y="0"/>
                  </a:lnTo>
                  <a:lnTo>
                    <a:pt x="17709" y="0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9"/>
            <p:cNvSpPr/>
            <p:nvPr/>
          </p:nvSpPr>
          <p:spPr>
            <a:xfrm>
              <a:off x="1201363" y="5163751"/>
              <a:ext cx="25276" cy="25420"/>
            </a:xfrm>
            <a:custGeom>
              <a:rect b="b" l="l" r="r" t="t"/>
              <a:pathLst>
                <a:path extrusionOk="0" h="25420" w="25276">
                  <a:moveTo>
                    <a:pt x="3409" y="3421"/>
                  </a:moveTo>
                  <a:cubicBezTo>
                    <a:pt x="6519" y="311"/>
                    <a:pt x="11458" y="0"/>
                    <a:pt x="14934" y="2696"/>
                  </a:cubicBezTo>
                  <a:lnTo>
                    <a:pt x="15755" y="3421"/>
                  </a:lnTo>
                  <a:lnTo>
                    <a:pt x="21866" y="9533"/>
                  </a:lnTo>
                  <a:cubicBezTo>
                    <a:pt x="25116" y="12794"/>
                    <a:pt x="25276" y="18018"/>
                    <a:pt x="22231" y="21471"/>
                  </a:cubicBezTo>
                  <a:cubicBezTo>
                    <a:pt x="19186" y="24924"/>
                    <a:pt x="13983" y="25420"/>
                    <a:pt x="10341" y="22603"/>
                  </a:cubicBezTo>
                  <a:lnTo>
                    <a:pt x="9520" y="21879"/>
                  </a:lnTo>
                  <a:lnTo>
                    <a:pt x="3409" y="15767"/>
                  </a:lnTo>
                  <a:cubicBezTo>
                    <a:pt x="0" y="12357"/>
                    <a:pt x="0" y="6830"/>
                    <a:pt x="3409" y="342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9"/>
            <p:cNvSpPr/>
            <p:nvPr/>
          </p:nvSpPr>
          <p:spPr>
            <a:xfrm>
              <a:off x="1306879" y="5163763"/>
              <a:ext cx="25540" cy="25277"/>
            </a:xfrm>
            <a:custGeom>
              <a:rect b="b" l="l" r="r" t="t"/>
              <a:pathLst>
                <a:path extrusionOk="0" h="25277" w="25540">
                  <a:moveTo>
                    <a:pt x="9653" y="3409"/>
                  </a:moveTo>
                  <a:cubicBezTo>
                    <a:pt x="12914" y="160"/>
                    <a:pt x="18138" y="0"/>
                    <a:pt x="21591" y="3045"/>
                  </a:cubicBezTo>
                  <a:cubicBezTo>
                    <a:pt x="25044" y="6090"/>
                    <a:pt x="25540" y="11293"/>
                    <a:pt x="22723" y="14935"/>
                  </a:cubicBezTo>
                  <a:lnTo>
                    <a:pt x="21999" y="15755"/>
                  </a:lnTo>
                  <a:lnTo>
                    <a:pt x="15887" y="21867"/>
                  </a:lnTo>
                  <a:cubicBezTo>
                    <a:pt x="12626" y="25117"/>
                    <a:pt x="7402" y="25277"/>
                    <a:pt x="3949" y="22232"/>
                  </a:cubicBezTo>
                  <a:cubicBezTo>
                    <a:pt x="496" y="19187"/>
                    <a:pt x="0" y="13984"/>
                    <a:pt x="2816" y="10342"/>
                  </a:cubicBezTo>
                  <a:lnTo>
                    <a:pt x="3541" y="9521"/>
                  </a:lnTo>
                  <a:lnTo>
                    <a:pt x="9653" y="3409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9"/>
            <p:cNvSpPr/>
            <p:nvPr/>
          </p:nvSpPr>
          <p:spPr>
            <a:xfrm>
              <a:off x="1240631" y="5281612"/>
              <a:ext cx="52388" cy="34925"/>
            </a:xfrm>
            <a:custGeom>
              <a:rect b="b" l="l" r="r" t="t"/>
              <a:pathLst>
                <a:path extrusionOk="0" h="34925" w="52388">
                  <a:moveTo>
                    <a:pt x="43656" y="0"/>
                  </a:moveTo>
                  <a:cubicBezTo>
                    <a:pt x="48478" y="0"/>
                    <a:pt x="52388" y="3909"/>
                    <a:pt x="52388" y="8731"/>
                  </a:cubicBezTo>
                  <a:cubicBezTo>
                    <a:pt x="52388" y="23198"/>
                    <a:pt x="40660" y="34925"/>
                    <a:pt x="26194" y="34925"/>
                  </a:cubicBezTo>
                  <a:cubicBezTo>
                    <a:pt x="11727" y="34925"/>
                    <a:pt x="0" y="23198"/>
                    <a:pt x="0" y="8731"/>
                  </a:cubicBezTo>
                  <a:cubicBezTo>
                    <a:pt x="1" y="4305"/>
                    <a:pt x="3314" y="579"/>
                    <a:pt x="7710" y="61"/>
                  </a:cubicBezTo>
                  <a:lnTo>
                    <a:pt x="8731" y="0"/>
                  </a:lnTo>
                  <a:lnTo>
                    <a:pt x="43656" y="0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9"/>
            <p:cNvSpPr/>
            <p:nvPr/>
          </p:nvSpPr>
          <p:spPr>
            <a:xfrm>
              <a:off x="1209995" y="5176838"/>
              <a:ext cx="113660" cy="96044"/>
            </a:xfrm>
            <a:custGeom>
              <a:rect b="b" l="l" r="r" t="t"/>
              <a:pathLst>
                <a:path extrusionOk="0" h="96044" w="113660">
                  <a:moveTo>
                    <a:pt x="56830" y="0"/>
                  </a:moveTo>
                  <a:cubicBezTo>
                    <a:pt x="79379" y="0"/>
                    <a:pt x="99398" y="14429"/>
                    <a:pt x="106529" y="35821"/>
                  </a:cubicBezTo>
                  <a:cubicBezTo>
                    <a:pt x="113660" y="57213"/>
                    <a:pt x="106302" y="80768"/>
                    <a:pt x="88262" y="94297"/>
                  </a:cubicBezTo>
                  <a:cubicBezTo>
                    <a:pt x="87059" y="95201"/>
                    <a:pt x="85642" y="95779"/>
                    <a:pt x="84150" y="95974"/>
                  </a:cubicBezTo>
                  <a:lnTo>
                    <a:pt x="83024" y="96044"/>
                  </a:lnTo>
                  <a:lnTo>
                    <a:pt x="30636" y="96044"/>
                  </a:lnTo>
                  <a:cubicBezTo>
                    <a:pt x="28747" y="96044"/>
                    <a:pt x="26909" y="95431"/>
                    <a:pt x="25397" y="94297"/>
                  </a:cubicBezTo>
                  <a:cubicBezTo>
                    <a:pt x="7358" y="80768"/>
                    <a:pt x="0" y="57213"/>
                    <a:pt x="7131" y="35821"/>
                  </a:cubicBezTo>
                  <a:cubicBezTo>
                    <a:pt x="14261" y="14429"/>
                    <a:pt x="34281" y="0"/>
                    <a:pt x="56830" y="0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2" name="Google Shape;1132;p39"/>
          <p:cNvSpPr txBox="1"/>
          <p:nvPr/>
        </p:nvSpPr>
        <p:spPr>
          <a:xfrm>
            <a:off x="1075134" y="3837980"/>
            <a:ext cx="213050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注意：配色 / 字体 / 间距不写在这里</a:t>
            </a:r>
            <a:endParaRPr sz="1100"/>
          </a:p>
        </p:txBody>
      </p:sp>
      <p:sp>
        <p:nvSpPr>
          <p:cNvPr id="1133" name="Google Shape;1133;p39"/>
          <p:cNvSpPr txBox="1"/>
          <p:nvPr/>
        </p:nvSpPr>
        <p:spPr>
          <a:xfrm>
            <a:off x="1075849" y="4001214"/>
            <a:ext cx="1791223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那是 design-system.html 的职责</a:t>
            </a:r>
            <a:endParaRPr sz="1100"/>
          </a:p>
        </p:txBody>
      </p:sp>
      <p:sp>
        <p:nvSpPr>
          <p:cNvPr id="1134" name="Google Shape;1134;p39"/>
          <p:cNvSpPr/>
          <p:nvPr/>
        </p:nvSpPr>
        <p:spPr>
          <a:xfrm>
            <a:off x="4643438" y="914400"/>
            <a:ext cx="3929063" cy="3543300"/>
          </a:xfrm>
          <a:prstGeom prst="roundRect">
            <a:avLst>
              <a:gd fmla="val 2823" name="adj"/>
            </a:avLst>
          </a:prstGeom>
          <a:solidFill>
            <a:srgbClr val="FFFFFF"/>
          </a:solidFill>
          <a:ln cap="flat" cmpd="sng" w="19050">
            <a:solidFill>
              <a:srgbClr val="3D7D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39"/>
          <p:cNvSpPr/>
          <p:nvPr/>
        </p:nvSpPr>
        <p:spPr>
          <a:xfrm>
            <a:off x="4643438" y="914400"/>
            <a:ext cx="3929063" cy="42863"/>
          </a:xfrm>
          <a:prstGeom prst="roundRect">
            <a:avLst>
              <a:gd fmla="val 500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39"/>
          <p:cNvSpPr/>
          <p:nvPr/>
        </p:nvSpPr>
        <p:spPr>
          <a:xfrm>
            <a:off x="4857750" y="1085850"/>
            <a:ext cx="342900" cy="342900"/>
          </a:xfrm>
          <a:prstGeom prst="roundRect">
            <a:avLst>
              <a:gd fmla="val 20833" name="adj"/>
            </a:avLst>
          </a:prstGeom>
          <a:solidFill>
            <a:srgbClr val="3D7DE4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7" name="Google Shape;1137;p39"/>
          <p:cNvGrpSpPr/>
          <p:nvPr/>
        </p:nvGrpSpPr>
        <p:grpSpPr>
          <a:xfrm>
            <a:off x="4943474" y="1150144"/>
            <a:ext cx="171452" cy="214313"/>
            <a:chOff x="6591299" y="1533525"/>
            <a:chExt cx="228603" cy="285751"/>
          </a:xfrm>
        </p:grpSpPr>
        <p:sp>
          <p:nvSpPr>
            <p:cNvPr id="1138" name="Google Shape;1138;p39"/>
            <p:cNvSpPr/>
            <p:nvPr/>
          </p:nvSpPr>
          <p:spPr>
            <a:xfrm>
              <a:off x="6591299" y="1533525"/>
              <a:ext cx="228603" cy="285751"/>
            </a:xfrm>
            <a:custGeom>
              <a:rect b="b" l="l" r="r" t="t"/>
              <a:pathLst>
                <a:path extrusionOk="0" h="285751" w="228603">
                  <a:moveTo>
                    <a:pt x="114301" y="0"/>
                  </a:moveTo>
                  <a:lnTo>
                    <a:pt x="115973" y="100"/>
                  </a:lnTo>
                  <a:cubicBezTo>
                    <a:pt x="122538" y="874"/>
                    <a:pt x="127715" y="6051"/>
                    <a:pt x="128489" y="12616"/>
                  </a:cubicBezTo>
                  <a:lnTo>
                    <a:pt x="128589" y="14288"/>
                  </a:lnTo>
                  <a:lnTo>
                    <a:pt x="128589" y="71438"/>
                  </a:lnTo>
                  <a:lnTo>
                    <a:pt x="128660" y="73581"/>
                  </a:lnTo>
                  <a:cubicBezTo>
                    <a:pt x="129717" y="87638"/>
                    <a:pt x="140867" y="98825"/>
                    <a:pt x="154921" y="99927"/>
                  </a:cubicBezTo>
                  <a:lnTo>
                    <a:pt x="157164" y="100012"/>
                  </a:lnTo>
                  <a:lnTo>
                    <a:pt x="214314" y="100012"/>
                  </a:lnTo>
                  <a:lnTo>
                    <a:pt x="215985" y="100113"/>
                  </a:lnTo>
                  <a:cubicBezTo>
                    <a:pt x="222550" y="100887"/>
                    <a:pt x="227727" y="106063"/>
                    <a:pt x="228501" y="112628"/>
                  </a:cubicBezTo>
                  <a:lnTo>
                    <a:pt x="228601" y="114300"/>
                  </a:lnTo>
                  <a:lnTo>
                    <a:pt x="228601" y="242888"/>
                  </a:lnTo>
                  <a:cubicBezTo>
                    <a:pt x="228603" y="265584"/>
                    <a:pt x="210911" y="284347"/>
                    <a:pt x="188253" y="285679"/>
                  </a:cubicBezTo>
                  <a:lnTo>
                    <a:pt x="185739" y="285750"/>
                  </a:lnTo>
                  <a:lnTo>
                    <a:pt x="42864" y="285750"/>
                  </a:lnTo>
                  <a:cubicBezTo>
                    <a:pt x="20167" y="285751"/>
                    <a:pt x="1404" y="268060"/>
                    <a:pt x="73" y="245402"/>
                  </a:cubicBezTo>
                  <a:lnTo>
                    <a:pt x="1" y="242888"/>
                  </a:lnTo>
                  <a:lnTo>
                    <a:pt x="1" y="42862"/>
                  </a:lnTo>
                  <a:cubicBezTo>
                    <a:pt x="0" y="20166"/>
                    <a:pt x="17692" y="1403"/>
                    <a:pt x="40349" y="71"/>
                  </a:cubicBezTo>
                  <a:lnTo>
                    <a:pt x="42864" y="0"/>
                  </a:lnTo>
                  <a:close/>
                  <a:moveTo>
                    <a:pt x="92113" y="158677"/>
                  </a:moveTo>
                  <a:cubicBezTo>
                    <a:pt x="85058" y="155154"/>
                    <a:pt x="76483" y="158012"/>
                    <a:pt x="72953" y="165063"/>
                  </a:cubicBezTo>
                  <a:lnTo>
                    <a:pt x="58666" y="193638"/>
                  </a:lnTo>
                  <a:cubicBezTo>
                    <a:pt x="56657" y="197659"/>
                    <a:pt x="56657" y="202391"/>
                    <a:pt x="58666" y="206412"/>
                  </a:cubicBezTo>
                  <a:lnTo>
                    <a:pt x="72953" y="234987"/>
                  </a:lnTo>
                  <a:cubicBezTo>
                    <a:pt x="76483" y="242038"/>
                    <a:pt x="85058" y="244896"/>
                    <a:pt x="92113" y="241373"/>
                  </a:cubicBezTo>
                  <a:lnTo>
                    <a:pt x="93570" y="240544"/>
                  </a:lnTo>
                  <a:cubicBezTo>
                    <a:pt x="99621" y="236566"/>
                    <a:pt x="101739" y="228690"/>
                    <a:pt x="98499" y="222213"/>
                  </a:cubicBezTo>
                  <a:lnTo>
                    <a:pt x="87412" y="200025"/>
                  </a:lnTo>
                  <a:lnTo>
                    <a:pt x="98499" y="177837"/>
                  </a:lnTo>
                  <a:cubicBezTo>
                    <a:pt x="102022" y="170782"/>
                    <a:pt x="99164" y="162207"/>
                    <a:pt x="92113" y="158677"/>
                  </a:cubicBezTo>
                  <a:moveTo>
                    <a:pt x="155649" y="165063"/>
                  </a:moveTo>
                  <a:cubicBezTo>
                    <a:pt x="152119" y="158012"/>
                    <a:pt x="143544" y="155154"/>
                    <a:pt x="136490" y="158677"/>
                  </a:cubicBezTo>
                  <a:lnTo>
                    <a:pt x="135032" y="159506"/>
                  </a:lnTo>
                  <a:cubicBezTo>
                    <a:pt x="128981" y="163484"/>
                    <a:pt x="126863" y="171360"/>
                    <a:pt x="130103" y="177837"/>
                  </a:cubicBezTo>
                  <a:lnTo>
                    <a:pt x="141162" y="200025"/>
                  </a:lnTo>
                  <a:lnTo>
                    <a:pt x="130089" y="222213"/>
                  </a:lnTo>
                  <a:cubicBezTo>
                    <a:pt x="126852" y="229221"/>
                    <a:pt x="129766" y="237532"/>
                    <a:pt x="136670" y="240984"/>
                  </a:cubicBezTo>
                  <a:cubicBezTo>
                    <a:pt x="143574" y="244436"/>
                    <a:pt x="151971" y="241780"/>
                    <a:pt x="155635" y="234987"/>
                  </a:cubicBezTo>
                  <a:lnTo>
                    <a:pt x="169923" y="206412"/>
                  </a:lnTo>
                  <a:cubicBezTo>
                    <a:pt x="171932" y="202391"/>
                    <a:pt x="171932" y="197659"/>
                    <a:pt x="169923" y="193638"/>
                  </a:cubicBezTo>
                  <a:close/>
                </a:path>
              </a:pathLst>
            </a:custGeom>
            <a:solidFill>
              <a:srgbClr val="3D7D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39"/>
            <p:cNvSpPr/>
            <p:nvPr/>
          </p:nvSpPr>
          <p:spPr>
            <a:xfrm>
              <a:off x="6748448" y="1547798"/>
              <a:ext cx="57164" cy="57164"/>
            </a:xfrm>
            <a:custGeom>
              <a:rect b="b" l="l" r="r" t="t"/>
              <a:pathLst>
                <a:path extrusionOk="0" h="57164" w="57164">
                  <a:moveTo>
                    <a:pt x="57164" y="57164"/>
                  </a:moveTo>
                  <a:lnTo>
                    <a:pt x="14" y="57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7DE4"/>
            </a:solidFill>
            <a:ln>
              <a:noFill/>
            </a:ln>
          </p:spPr>
        </p:sp>
      </p:grpSp>
      <p:sp>
        <p:nvSpPr>
          <p:cNvPr id="1140" name="Google Shape;1140;p39"/>
          <p:cNvSpPr txBox="1"/>
          <p:nvPr/>
        </p:nvSpPr>
        <p:spPr>
          <a:xfrm>
            <a:off x="5282089" y="1113711"/>
            <a:ext cx="2235072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design-system.html</a:t>
            </a:r>
            <a:endParaRPr sz="1100"/>
          </a:p>
        </p:txBody>
      </p:sp>
      <p:sp>
        <p:nvSpPr>
          <p:cNvPr id="1141" name="Google Shape;1141;p39"/>
          <p:cNvSpPr txBox="1"/>
          <p:nvPr/>
        </p:nvSpPr>
        <p:spPr>
          <a:xfrm>
            <a:off x="5290661" y="1343739"/>
            <a:ext cx="162617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样式手册 · 给 Claude Code 看</a:t>
            </a:r>
            <a:endParaRPr sz="1100"/>
          </a:p>
        </p:txBody>
      </p:sp>
      <p:sp>
        <p:nvSpPr>
          <p:cNvPr id="1142" name="Google Shape;1142;p39"/>
          <p:cNvSpPr/>
          <p:nvPr/>
        </p:nvSpPr>
        <p:spPr>
          <a:xfrm>
            <a:off x="4857750" y="1557338"/>
            <a:ext cx="3500438" cy="7144"/>
          </a:xfrm>
          <a:custGeom>
            <a:rect b="b" l="l" r="r" t="t"/>
            <a:pathLst>
              <a:path extrusionOk="0" h="9525" w="4667250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cap="flat" cmpd="sng" w="14275">
            <a:solidFill>
              <a:srgbClr val="EBF0F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3" name="Google Shape;1143;p39"/>
          <p:cNvSpPr/>
          <p:nvPr/>
        </p:nvSpPr>
        <p:spPr>
          <a:xfrm>
            <a:off x="4857750" y="1657350"/>
            <a:ext cx="3571875" cy="428625"/>
          </a:xfrm>
          <a:prstGeom prst="roundRect">
            <a:avLst>
              <a:gd fmla="val 13333" name="adj"/>
            </a:avLst>
          </a:prstGeom>
          <a:solidFill>
            <a:srgbClr val="EBF0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39"/>
          <p:cNvSpPr/>
          <p:nvPr/>
        </p:nvSpPr>
        <p:spPr>
          <a:xfrm>
            <a:off x="4857750" y="1657350"/>
            <a:ext cx="28575" cy="428625"/>
          </a:xfrm>
          <a:prstGeom prst="roundRect">
            <a:avLst>
              <a:gd fmla="val 500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39"/>
          <p:cNvSpPr txBox="1"/>
          <p:nvPr/>
        </p:nvSpPr>
        <p:spPr>
          <a:xfrm>
            <a:off x="4959906" y="1739861"/>
            <a:ext cx="610862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颜色系统</a:t>
            </a:r>
            <a:endParaRPr sz="1100"/>
          </a:p>
        </p:txBody>
      </p:sp>
      <p:sp>
        <p:nvSpPr>
          <p:cNvPr id="1146" name="Google Shape;1146;p39"/>
          <p:cNvSpPr txBox="1"/>
          <p:nvPr/>
        </p:nvSpPr>
        <p:spPr>
          <a:xfrm>
            <a:off x="4962049" y="1915239"/>
            <a:ext cx="2239780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--primary: #C96133; --accent: #3D7DE4</a:t>
            </a:r>
            <a:endParaRPr sz="1100"/>
          </a:p>
        </p:txBody>
      </p:sp>
      <p:sp>
        <p:nvSpPr>
          <p:cNvPr id="1147" name="Google Shape;1147;p39"/>
          <p:cNvSpPr/>
          <p:nvPr/>
        </p:nvSpPr>
        <p:spPr>
          <a:xfrm>
            <a:off x="4857750" y="2171700"/>
            <a:ext cx="3571875" cy="428625"/>
          </a:xfrm>
          <a:prstGeom prst="roundRect">
            <a:avLst>
              <a:gd fmla="val 13333" name="adj"/>
            </a:avLst>
          </a:prstGeom>
          <a:solidFill>
            <a:srgbClr val="EBF0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39"/>
          <p:cNvSpPr/>
          <p:nvPr/>
        </p:nvSpPr>
        <p:spPr>
          <a:xfrm>
            <a:off x="4857750" y="2171700"/>
            <a:ext cx="28575" cy="428625"/>
          </a:xfrm>
          <a:prstGeom prst="roundRect">
            <a:avLst>
              <a:gd fmla="val 500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39"/>
          <p:cNvSpPr txBox="1"/>
          <p:nvPr/>
        </p:nvSpPr>
        <p:spPr>
          <a:xfrm>
            <a:off x="4959906" y="2254211"/>
            <a:ext cx="610862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字体规范</a:t>
            </a:r>
            <a:endParaRPr sz="1100"/>
          </a:p>
        </p:txBody>
      </p:sp>
      <p:sp>
        <p:nvSpPr>
          <p:cNvPr id="1150" name="Google Shape;1150;p39"/>
          <p:cNvSpPr txBox="1"/>
          <p:nvPr/>
        </p:nvSpPr>
        <p:spPr>
          <a:xfrm>
            <a:off x="4962049" y="2429589"/>
            <a:ext cx="21650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标题 36px 700 · 正文 18px 400 · 行高 1.6</a:t>
            </a:r>
            <a:endParaRPr sz="1100"/>
          </a:p>
        </p:txBody>
      </p:sp>
      <p:sp>
        <p:nvSpPr>
          <p:cNvPr id="1151" name="Google Shape;1151;p39"/>
          <p:cNvSpPr/>
          <p:nvPr/>
        </p:nvSpPr>
        <p:spPr>
          <a:xfrm>
            <a:off x="4857750" y="2686050"/>
            <a:ext cx="3571875" cy="428625"/>
          </a:xfrm>
          <a:prstGeom prst="roundRect">
            <a:avLst>
              <a:gd fmla="val 13333" name="adj"/>
            </a:avLst>
          </a:prstGeom>
          <a:solidFill>
            <a:srgbClr val="EBF0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39"/>
          <p:cNvSpPr/>
          <p:nvPr/>
        </p:nvSpPr>
        <p:spPr>
          <a:xfrm>
            <a:off x="4857750" y="2686050"/>
            <a:ext cx="28575" cy="428625"/>
          </a:xfrm>
          <a:prstGeom prst="roundRect">
            <a:avLst>
              <a:gd fmla="val 500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39"/>
          <p:cNvSpPr txBox="1"/>
          <p:nvPr/>
        </p:nvSpPr>
        <p:spPr>
          <a:xfrm>
            <a:off x="4959906" y="2768561"/>
            <a:ext cx="610862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间距系统</a:t>
            </a:r>
            <a:endParaRPr sz="1100"/>
          </a:p>
        </p:txBody>
      </p:sp>
      <p:sp>
        <p:nvSpPr>
          <p:cNvPr id="1154" name="Google Shape;1154;p39"/>
          <p:cNvSpPr txBox="1"/>
          <p:nvPr/>
        </p:nvSpPr>
        <p:spPr>
          <a:xfrm>
            <a:off x="4962049" y="2943939"/>
            <a:ext cx="238354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卡片内边距 24px · 版块间距 64px · 圆角 12px</a:t>
            </a:r>
            <a:endParaRPr sz="1100"/>
          </a:p>
        </p:txBody>
      </p:sp>
      <p:sp>
        <p:nvSpPr>
          <p:cNvPr id="1155" name="Google Shape;1155;p39"/>
          <p:cNvSpPr/>
          <p:nvPr/>
        </p:nvSpPr>
        <p:spPr>
          <a:xfrm>
            <a:off x="4857750" y="3200400"/>
            <a:ext cx="3571875" cy="428625"/>
          </a:xfrm>
          <a:prstGeom prst="roundRect">
            <a:avLst>
              <a:gd fmla="val 13333" name="adj"/>
            </a:avLst>
          </a:prstGeom>
          <a:solidFill>
            <a:srgbClr val="EBF0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39"/>
          <p:cNvSpPr/>
          <p:nvPr/>
        </p:nvSpPr>
        <p:spPr>
          <a:xfrm>
            <a:off x="4857750" y="3200400"/>
            <a:ext cx="28575" cy="428625"/>
          </a:xfrm>
          <a:prstGeom prst="roundRect">
            <a:avLst>
              <a:gd fmla="val 500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39"/>
          <p:cNvSpPr txBox="1"/>
          <p:nvPr/>
        </p:nvSpPr>
        <p:spPr>
          <a:xfrm>
            <a:off x="4959906" y="3282910"/>
            <a:ext cx="610862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组件规则</a:t>
            </a:r>
            <a:endParaRPr sz="1100"/>
          </a:p>
        </p:txBody>
      </p:sp>
      <p:sp>
        <p:nvSpPr>
          <p:cNvPr id="1158" name="Google Shape;1158;p39"/>
          <p:cNvSpPr txBox="1"/>
          <p:nvPr/>
        </p:nvSpPr>
        <p:spPr>
          <a:xfrm>
            <a:off x="4962049" y="3458289"/>
            <a:ext cx="278034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主按钮 primary 色 · 卡片白底 border 1px · 阴影规范</a:t>
            </a:r>
            <a:endParaRPr sz="1100"/>
          </a:p>
        </p:txBody>
      </p:sp>
      <p:sp>
        <p:nvSpPr>
          <p:cNvPr id="1159" name="Google Shape;1159;p39"/>
          <p:cNvSpPr/>
          <p:nvPr/>
        </p:nvSpPr>
        <p:spPr>
          <a:xfrm>
            <a:off x="4857750" y="3743325"/>
            <a:ext cx="3571875" cy="500063"/>
          </a:xfrm>
          <a:prstGeom prst="roundRect">
            <a:avLst>
              <a:gd fmla="val 11429" name="adj"/>
            </a:avLst>
          </a:prstGeom>
          <a:solidFill>
            <a:srgbClr val="F0F4FF"/>
          </a:solidFill>
          <a:ln cap="flat" cmpd="sng" w="9525">
            <a:solidFill>
              <a:srgbClr val="3D7D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0" name="Google Shape;1160;p39"/>
          <p:cNvGrpSpPr/>
          <p:nvPr/>
        </p:nvGrpSpPr>
        <p:grpSpPr>
          <a:xfrm>
            <a:off x="4956387" y="3856434"/>
            <a:ext cx="131338" cy="130969"/>
            <a:chOff x="6608516" y="5141912"/>
            <a:chExt cx="175118" cy="174625"/>
          </a:xfrm>
        </p:grpSpPr>
        <p:sp>
          <p:nvSpPr>
            <p:cNvPr id="1161" name="Google Shape;1161;p39"/>
            <p:cNvSpPr/>
            <p:nvPr/>
          </p:nvSpPr>
          <p:spPr>
            <a:xfrm>
              <a:off x="6608516" y="5220494"/>
              <a:ext cx="26686" cy="17462"/>
            </a:xfrm>
            <a:custGeom>
              <a:rect b="b" l="l" r="r" t="t"/>
              <a:pathLst>
                <a:path extrusionOk="0" h="17462" w="26686">
                  <a:moveTo>
                    <a:pt x="17709" y="0"/>
                  </a:moveTo>
                  <a:cubicBezTo>
                    <a:pt x="22328" y="5"/>
                    <a:pt x="26144" y="3608"/>
                    <a:pt x="26415" y="8220"/>
                  </a:cubicBezTo>
                  <a:cubicBezTo>
                    <a:pt x="26686" y="12831"/>
                    <a:pt x="23317" y="16856"/>
                    <a:pt x="18730" y="17401"/>
                  </a:cubicBezTo>
                  <a:lnTo>
                    <a:pt x="17709" y="17462"/>
                  </a:lnTo>
                  <a:lnTo>
                    <a:pt x="8977" y="17462"/>
                  </a:lnTo>
                  <a:cubicBezTo>
                    <a:pt x="4358" y="17457"/>
                    <a:pt x="541" y="13855"/>
                    <a:pt x="271" y="9243"/>
                  </a:cubicBezTo>
                  <a:cubicBezTo>
                    <a:pt x="0" y="4631"/>
                    <a:pt x="3368" y="607"/>
                    <a:pt x="7956" y="61"/>
                  </a:cubicBezTo>
                  <a:lnTo>
                    <a:pt x="8977" y="0"/>
                  </a:lnTo>
                  <a:lnTo>
                    <a:pt x="17709" y="0"/>
                  </a:lnTo>
                  <a:close/>
                </a:path>
              </a:pathLst>
            </a:custGeom>
            <a:solidFill>
              <a:srgbClr val="3D7D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39"/>
            <p:cNvSpPr/>
            <p:nvPr/>
          </p:nvSpPr>
          <p:spPr>
            <a:xfrm>
              <a:off x="6687344" y="5141912"/>
              <a:ext cx="17462" cy="26440"/>
            </a:xfrm>
            <a:custGeom>
              <a:rect b="b" l="l" r="r" t="t"/>
              <a:pathLst>
                <a:path extrusionOk="0" h="26440" w="17462">
                  <a:moveTo>
                    <a:pt x="8731" y="0"/>
                  </a:moveTo>
                  <a:cubicBezTo>
                    <a:pt x="13158" y="1"/>
                    <a:pt x="16883" y="3314"/>
                    <a:pt x="17401" y="7710"/>
                  </a:cubicBezTo>
                  <a:lnTo>
                    <a:pt x="17462" y="8731"/>
                  </a:lnTo>
                  <a:lnTo>
                    <a:pt x="17462" y="17462"/>
                  </a:lnTo>
                  <a:cubicBezTo>
                    <a:pt x="17457" y="22082"/>
                    <a:pt x="13855" y="25898"/>
                    <a:pt x="9243" y="26169"/>
                  </a:cubicBezTo>
                  <a:cubicBezTo>
                    <a:pt x="4631" y="26440"/>
                    <a:pt x="607" y="23071"/>
                    <a:pt x="61" y="18484"/>
                  </a:cubicBezTo>
                  <a:lnTo>
                    <a:pt x="0" y="17462"/>
                  </a:lnTo>
                  <a:lnTo>
                    <a:pt x="0" y="8731"/>
                  </a:lnTo>
                  <a:cubicBezTo>
                    <a:pt x="0" y="3909"/>
                    <a:pt x="3909" y="0"/>
                    <a:pt x="8731" y="0"/>
                  </a:cubicBezTo>
                  <a:close/>
                </a:path>
              </a:pathLst>
            </a:custGeom>
            <a:solidFill>
              <a:srgbClr val="3D7D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39"/>
            <p:cNvSpPr/>
            <p:nvPr/>
          </p:nvSpPr>
          <p:spPr>
            <a:xfrm>
              <a:off x="6756948" y="5220494"/>
              <a:ext cx="26686" cy="17462"/>
            </a:xfrm>
            <a:custGeom>
              <a:rect b="b" l="l" r="r" t="t"/>
              <a:pathLst>
                <a:path extrusionOk="0" h="17462" w="26686">
                  <a:moveTo>
                    <a:pt x="17709" y="0"/>
                  </a:moveTo>
                  <a:cubicBezTo>
                    <a:pt x="22328" y="5"/>
                    <a:pt x="26144" y="3608"/>
                    <a:pt x="26415" y="8220"/>
                  </a:cubicBezTo>
                  <a:cubicBezTo>
                    <a:pt x="26686" y="12831"/>
                    <a:pt x="23317" y="16856"/>
                    <a:pt x="18730" y="17401"/>
                  </a:cubicBezTo>
                  <a:lnTo>
                    <a:pt x="17709" y="17462"/>
                  </a:lnTo>
                  <a:lnTo>
                    <a:pt x="8977" y="17462"/>
                  </a:lnTo>
                  <a:cubicBezTo>
                    <a:pt x="4358" y="17457"/>
                    <a:pt x="541" y="13855"/>
                    <a:pt x="271" y="9243"/>
                  </a:cubicBezTo>
                  <a:cubicBezTo>
                    <a:pt x="0" y="4631"/>
                    <a:pt x="3368" y="607"/>
                    <a:pt x="7956" y="61"/>
                  </a:cubicBezTo>
                  <a:lnTo>
                    <a:pt x="8977" y="0"/>
                  </a:lnTo>
                  <a:lnTo>
                    <a:pt x="17709" y="0"/>
                  </a:lnTo>
                  <a:close/>
                </a:path>
              </a:pathLst>
            </a:custGeom>
            <a:solidFill>
              <a:srgbClr val="3D7D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39"/>
            <p:cNvSpPr/>
            <p:nvPr/>
          </p:nvSpPr>
          <p:spPr>
            <a:xfrm>
              <a:off x="6630613" y="5163751"/>
              <a:ext cx="25276" cy="25420"/>
            </a:xfrm>
            <a:custGeom>
              <a:rect b="b" l="l" r="r" t="t"/>
              <a:pathLst>
                <a:path extrusionOk="0" h="25420" w="25276">
                  <a:moveTo>
                    <a:pt x="3409" y="3421"/>
                  </a:moveTo>
                  <a:cubicBezTo>
                    <a:pt x="6519" y="311"/>
                    <a:pt x="11458" y="0"/>
                    <a:pt x="14934" y="2696"/>
                  </a:cubicBezTo>
                  <a:lnTo>
                    <a:pt x="15755" y="3421"/>
                  </a:lnTo>
                  <a:lnTo>
                    <a:pt x="21866" y="9533"/>
                  </a:lnTo>
                  <a:cubicBezTo>
                    <a:pt x="25116" y="12794"/>
                    <a:pt x="25276" y="18018"/>
                    <a:pt x="22231" y="21471"/>
                  </a:cubicBezTo>
                  <a:cubicBezTo>
                    <a:pt x="19186" y="24924"/>
                    <a:pt x="13983" y="25420"/>
                    <a:pt x="10341" y="22603"/>
                  </a:cubicBezTo>
                  <a:lnTo>
                    <a:pt x="9520" y="21879"/>
                  </a:lnTo>
                  <a:lnTo>
                    <a:pt x="3409" y="15767"/>
                  </a:lnTo>
                  <a:cubicBezTo>
                    <a:pt x="0" y="12357"/>
                    <a:pt x="0" y="6830"/>
                    <a:pt x="3409" y="3421"/>
                  </a:cubicBezTo>
                  <a:close/>
                </a:path>
              </a:pathLst>
            </a:custGeom>
            <a:solidFill>
              <a:srgbClr val="3D7D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39"/>
            <p:cNvSpPr/>
            <p:nvPr/>
          </p:nvSpPr>
          <p:spPr>
            <a:xfrm>
              <a:off x="6736129" y="5163763"/>
              <a:ext cx="25540" cy="25277"/>
            </a:xfrm>
            <a:custGeom>
              <a:rect b="b" l="l" r="r" t="t"/>
              <a:pathLst>
                <a:path extrusionOk="0" h="25277" w="25540">
                  <a:moveTo>
                    <a:pt x="9653" y="3409"/>
                  </a:moveTo>
                  <a:cubicBezTo>
                    <a:pt x="12914" y="160"/>
                    <a:pt x="18138" y="0"/>
                    <a:pt x="21591" y="3045"/>
                  </a:cubicBezTo>
                  <a:cubicBezTo>
                    <a:pt x="25044" y="6090"/>
                    <a:pt x="25540" y="11293"/>
                    <a:pt x="22723" y="14935"/>
                  </a:cubicBezTo>
                  <a:lnTo>
                    <a:pt x="21999" y="15755"/>
                  </a:lnTo>
                  <a:lnTo>
                    <a:pt x="15887" y="21867"/>
                  </a:lnTo>
                  <a:cubicBezTo>
                    <a:pt x="12626" y="25117"/>
                    <a:pt x="7402" y="25277"/>
                    <a:pt x="3949" y="22232"/>
                  </a:cubicBezTo>
                  <a:cubicBezTo>
                    <a:pt x="496" y="19187"/>
                    <a:pt x="0" y="13984"/>
                    <a:pt x="2816" y="10342"/>
                  </a:cubicBezTo>
                  <a:lnTo>
                    <a:pt x="3541" y="9521"/>
                  </a:lnTo>
                  <a:lnTo>
                    <a:pt x="9653" y="3409"/>
                  </a:lnTo>
                  <a:close/>
                </a:path>
              </a:pathLst>
            </a:custGeom>
            <a:solidFill>
              <a:srgbClr val="3D7D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9"/>
            <p:cNvSpPr/>
            <p:nvPr/>
          </p:nvSpPr>
          <p:spPr>
            <a:xfrm>
              <a:off x="6669881" y="5281612"/>
              <a:ext cx="52388" cy="34925"/>
            </a:xfrm>
            <a:custGeom>
              <a:rect b="b" l="l" r="r" t="t"/>
              <a:pathLst>
                <a:path extrusionOk="0" h="34925" w="52388">
                  <a:moveTo>
                    <a:pt x="43656" y="0"/>
                  </a:moveTo>
                  <a:cubicBezTo>
                    <a:pt x="48478" y="0"/>
                    <a:pt x="52388" y="3909"/>
                    <a:pt x="52388" y="8731"/>
                  </a:cubicBezTo>
                  <a:cubicBezTo>
                    <a:pt x="52388" y="23198"/>
                    <a:pt x="40660" y="34925"/>
                    <a:pt x="26194" y="34925"/>
                  </a:cubicBezTo>
                  <a:cubicBezTo>
                    <a:pt x="11727" y="34925"/>
                    <a:pt x="0" y="23198"/>
                    <a:pt x="0" y="8731"/>
                  </a:cubicBezTo>
                  <a:cubicBezTo>
                    <a:pt x="1" y="4305"/>
                    <a:pt x="3314" y="579"/>
                    <a:pt x="7710" y="61"/>
                  </a:cubicBezTo>
                  <a:lnTo>
                    <a:pt x="8731" y="0"/>
                  </a:lnTo>
                  <a:lnTo>
                    <a:pt x="43656" y="0"/>
                  </a:lnTo>
                  <a:close/>
                </a:path>
              </a:pathLst>
            </a:custGeom>
            <a:solidFill>
              <a:srgbClr val="3D7D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9"/>
            <p:cNvSpPr/>
            <p:nvPr/>
          </p:nvSpPr>
          <p:spPr>
            <a:xfrm>
              <a:off x="6639245" y="5176838"/>
              <a:ext cx="113660" cy="96044"/>
            </a:xfrm>
            <a:custGeom>
              <a:rect b="b" l="l" r="r" t="t"/>
              <a:pathLst>
                <a:path extrusionOk="0" h="96044" w="113660">
                  <a:moveTo>
                    <a:pt x="56830" y="0"/>
                  </a:moveTo>
                  <a:cubicBezTo>
                    <a:pt x="79379" y="0"/>
                    <a:pt x="99398" y="14429"/>
                    <a:pt x="106529" y="35821"/>
                  </a:cubicBezTo>
                  <a:cubicBezTo>
                    <a:pt x="113660" y="57213"/>
                    <a:pt x="106302" y="80768"/>
                    <a:pt x="88262" y="94297"/>
                  </a:cubicBezTo>
                  <a:cubicBezTo>
                    <a:pt x="87059" y="95201"/>
                    <a:pt x="85642" y="95779"/>
                    <a:pt x="84150" y="95974"/>
                  </a:cubicBezTo>
                  <a:lnTo>
                    <a:pt x="83024" y="96044"/>
                  </a:lnTo>
                  <a:lnTo>
                    <a:pt x="30636" y="96044"/>
                  </a:lnTo>
                  <a:cubicBezTo>
                    <a:pt x="28747" y="96044"/>
                    <a:pt x="26909" y="95431"/>
                    <a:pt x="25397" y="94297"/>
                  </a:cubicBezTo>
                  <a:cubicBezTo>
                    <a:pt x="7358" y="80768"/>
                    <a:pt x="0" y="57213"/>
                    <a:pt x="7131" y="35821"/>
                  </a:cubicBezTo>
                  <a:cubicBezTo>
                    <a:pt x="14261" y="14429"/>
                    <a:pt x="34281" y="0"/>
                    <a:pt x="56830" y="0"/>
                  </a:cubicBezTo>
                  <a:close/>
                </a:path>
              </a:pathLst>
            </a:custGeom>
            <a:solidFill>
              <a:srgbClr val="3D7D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8" name="Google Shape;1168;p39"/>
          <p:cNvSpPr txBox="1"/>
          <p:nvPr/>
        </p:nvSpPr>
        <p:spPr>
          <a:xfrm>
            <a:off x="5147072" y="3837980"/>
            <a:ext cx="249927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这是给 Claude Code 看的，不是给访客看的</a:t>
            </a:r>
            <a:endParaRPr sz="1100"/>
          </a:p>
        </p:txBody>
      </p:sp>
      <p:sp>
        <p:nvSpPr>
          <p:cNvPr id="1169" name="Google Shape;1169;p39"/>
          <p:cNvSpPr txBox="1"/>
          <p:nvPr/>
        </p:nvSpPr>
        <p:spPr>
          <a:xfrm>
            <a:off x="5147786" y="4001214"/>
            <a:ext cx="222252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Design System 导出后直接放入项目根目录</a:t>
            </a:r>
            <a:endParaRPr sz="1100"/>
          </a:p>
        </p:txBody>
      </p:sp>
      <p:sp>
        <p:nvSpPr>
          <p:cNvPr id="1170" name="Google Shape;1170;p39"/>
          <p:cNvSpPr/>
          <p:nvPr/>
        </p:nvSpPr>
        <p:spPr>
          <a:xfrm>
            <a:off x="571500" y="4614863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95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171" name="Google Shape;1171;p39"/>
          <p:cNvGrpSpPr/>
          <p:nvPr/>
        </p:nvGrpSpPr>
        <p:grpSpPr>
          <a:xfrm>
            <a:off x="3932633" y="4732726"/>
            <a:ext cx="110641" cy="110626"/>
            <a:chOff x="5243510" y="6310301"/>
            <a:chExt cx="147521" cy="147502"/>
          </a:xfrm>
        </p:grpSpPr>
        <p:sp>
          <p:nvSpPr>
            <p:cNvPr id="1172" name="Google Shape;1172;p39"/>
            <p:cNvSpPr/>
            <p:nvPr/>
          </p:nvSpPr>
          <p:spPr>
            <a:xfrm>
              <a:off x="5282635" y="6349227"/>
              <a:ext cx="64838" cy="64838"/>
            </a:xfrm>
            <a:custGeom>
              <a:rect b="b" l="l" r="r" t="t"/>
              <a:pathLst>
                <a:path extrusionOk="0" h="64838" w="64838">
                  <a:moveTo>
                    <a:pt x="61740" y="3099"/>
                  </a:moveTo>
                  <a:cubicBezTo>
                    <a:pt x="64838" y="6198"/>
                    <a:pt x="64838" y="11223"/>
                    <a:pt x="61740" y="14322"/>
                  </a:cubicBezTo>
                  <a:lnTo>
                    <a:pt x="14115" y="61947"/>
                  </a:lnTo>
                  <a:cubicBezTo>
                    <a:pt x="12122" y="64011"/>
                    <a:pt x="9170" y="64838"/>
                    <a:pt x="6395" y="64112"/>
                  </a:cubicBezTo>
                  <a:cubicBezTo>
                    <a:pt x="3620" y="63385"/>
                    <a:pt x="1453" y="61218"/>
                    <a:pt x="726" y="58443"/>
                  </a:cubicBezTo>
                  <a:cubicBezTo>
                    <a:pt x="0" y="55668"/>
                    <a:pt x="828" y="52717"/>
                    <a:pt x="2891" y="50724"/>
                  </a:cubicBezTo>
                  <a:lnTo>
                    <a:pt x="50516" y="3099"/>
                  </a:lnTo>
                  <a:cubicBezTo>
                    <a:pt x="53616" y="0"/>
                    <a:pt x="58640" y="0"/>
                    <a:pt x="61740" y="3099"/>
                  </a:cubicBezTo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9"/>
            <p:cNvSpPr/>
            <p:nvPr/>
          </p:nvSpPr>
          <p:spPr>
            <a:xfrm>
              <a:off x="5298581" y="6310301"/>
              <a:ext cx="92450" cy="88255"/>
            </a:xfrm>
            <a:custGeom>
              <a:rect b="b" l="l" r="r" t="t"/>
              <a:pathLst>
                <a:path extrusionOk="0" h="88255" w="92450">
                  <a:moveTo>
                    <a:pt x="73853" y="13957"/>
                  </a:moveTo>
                  <a:cubicBezTo>
                    <a:pt x="92450" y="32563"/>
                    <a:pt x="92442" y="62717"/>
                    <a:pt x="73440" y="81696"/>
                  </a:cubicBezTo>
                  <a:lnTo>
                    <a:pt x="69201" y="85379"/>
                  </a:lnTo>
                  <a:cubicBezTo>
                    <a:pt x="65892" y="88255"/>
                    <a:pt x="60877" y="87903"/>
                    <a:pt x="58001" y="84593"/>
                  </a:cubicBezTo>
                  <a:cubicBezTo>
                    <a:pt x="55126" y="81283"/>
                    <a:pt x="55478" y="76269"/>
                    <a:pt x="58787" y="73393"/>
                  </a:cubicBezTo>
                  <a:lnTo>
                    <a:pt x="62621" y="70091"/>
                  </a:lnTo>
                  <a:cubicBezTo>
                    <a:pt x="68576" y="64137"/>
                    <a:pt x="71921" y="56061"/>
                    <a:pt x="71921" y="47640"/>
                  </a:cubicBezTo>
                  <a:cubicBezTo>
                    <a:pt x="71921" y="39219"/>
                    <a:pt x="68576" y="31143"/>
                    <a:pt x="62621" y="25189"/>
                  </a:cubicBezTo>
                  <a:cubicBezTo>
                    <a:pt x="50223" y="12783"/>
                    <a:pt x="30117" y="12783"/>
                    <a:pt x="18116" y="24760"/>
                  </a:cubicBezTo>
                  <a:lnTo>
                    <a:pt x="14440" y="29015"/>
                  </a:lnTo>
                  <a:cubicBezTo>
                    <a:pt x="12586" y="31161"/>
                    <a:pt x="9727" y="32156"/>
                    <a:pt x="6940" y="31623"/>
                  </a:cubicBezTo>
                  <a:cubicBezTo>
                    <a:pt x="4154" y="31090"/>
                    <a:pt x="1864" y="29111"/>
                    <a:pt x="932" y="26432"/>
                  </a:cubicBezTo>
                  <a:cubicBezTo>
                    <a:pt x="0" y="23752"/>
                    <a:pt x="568" y="20779"/>
                    <a:pt x="2423" y="18633"/>
                  </a:cubicBezTo>
                  <a:lnTo>
                    <a:pt x="6495" y="13949"/>
                  </a:lnTo>
                  <a:cubicBezTo>
                    <a:pt x="15428" y="5017"/>
                    <a:pt x="27543" y="0"/>
                    <a:pt x="40175" y="1"/>
                  </a:cubicBezTo>
                  <a:cubicBezTo>
                    <a:pt x="52808" y="3"/>
                    <a:pt x="64922" y="5023"/>
                    <a:pt x="73853" y="13957"/>
                  </a:cubicBezTo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9"/>
            <p:cNvSpPr/>
            <p:nvPr/>
          </p:nvSpPr>
          <p:spPr>
            <a:xfrm>
              <a:off x="5243510" y="6364967"/>
              <a:ext cx="87794" cy="92836"/>
            </a:xfrm>
            <a:custGeom>
              <a:rect b="b" l="l" r="r" t="t"/>
              <a:pathLst>
                <a:path extrusionOk="0" h="92836" w="87794">
                  <a:moveTo>
                    <a:pt x="29768" y="3591"/>
                  </a:moveTo>
                  <a:cubicBezTo>
                    <a:pt x="32667" y="6877"/>
                    <a:pt x="32354" y="11890"/>
                    <a:pt x="29070" y="14791"/>
                  </a:cubicBezTo>
                  <a:lnTo>
                    <a:pt x="25236" y="18164"/>
                  </a:lnTo>
                  <a:cubicBezTo>
                    <a:pt x="19242" y="24085"/>
                    <a:pt x="15868" y="32159"/>
                    <a:pt x="15868" y="40584"/>
                  </a:cubicBezTo>
                  <a:cubicBezTo>
                    <a:pt x="15868" y="49009"/>
                    <a:pt x="19242" y="57083"/>
                    <a:pt x="25236" y="63003"/>
                  </a:cubicBezTo>
                  <a:cubicBezTo>
                    <a:pt x="37686" y="75322"/>
                    <a:pt x="57691" y="75456"/>
                    <a:pt x="70305" y="63305"/>
                  </a:cubicBezTo>
                  <a:lnTo>
                    <a:pt x="73004" y="59669"/>
                  </a:lnTo>
                  <a:cubicBezTo>
                    <a:pt x="74697" y="57392"/>
                    <a:pt x="77476" y="56191"/>
                    <a:pt x="80295" y="56519"/>
                  </a:cubicBezTo>
                  <a:cubicBezTo>
                    <a:pt x="83113" y="56846"/>
                    <a:pt x="85543" y="58653"/>
                    <a:pt x="86668" y="61258"/>
                  </a:cubicBezTo>
                  <a:cubicBezTo>
                    <a:pt x="87794" y="63862"/>
                    <a:pt x="87445" y="66870"/>
                    <a:pt x="85752" y="69147"/>
                  </a:cubicBezTo>
                  <a:lnTo>
                    <a:pt x="82600" y="73385"/>
                  </a:lnTo>
                  <a:lnTo>
                    <a:pt x="81807" y="74290"/>
                  </a:lnTo>
                  <a:cubicBezTo>
                    <a:pt x="63038" y="92836"/>
                    <a:pt x="32844" y="92836"/>
                    <a:pt x="14076" y="74290"/>
                  </a:cubicBezTo>
                  <a:cubicBezTo>
                    <a:pt x="5068" y="65386"/>
                    <a:pt x="0" y="53246"/>
                    <a:pt x="3" y="40580"/>
                  </a:cubicBezTo>
                  <a:cubicBezTo>
                    <a:pt x="3" y="27919"/>
                    <a:pt x="5067" y="15783"/>
                    <a:pt x="14401" y="6575"/>
                  </a:cubicBezTo>
                  <a:lnTo>
                    <a:pt x="18561" y="2900"/>
                  </a:lnTo>
                  <a:cubicBezTo>
                    <a:pt x="21845" y="0"/>
                    <a:pt x="26858" y="309"/>
                    <a:pt x="29760" y="3591"/>
                  </a:cubicBezTo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5" name="Google Shape;1175;p39"/>
          <p:cNvSpPr txBox="1"/>
          <p:nvPr/>
        </p:nvSpPr>
        <p:spPr>
          <a:xfrm>
            <a:off x="4103370" y="4746308"/>
            <a:ext cx="353901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CLAUDE.md 说"做什么"，design-system.html 说"怎么看"</a:t>
            </a:r>
            <a:endParaRPr sz="1100"/>
          </a:p>
        </p:txBody>
      </p:sp>
      <p:sp>
        <p:nvSpPr>
          <p:cNvPr id="1176" name="Google Shape;1176;p39"/>
          <p:cNvSpPr txBox="1"/>
          <p:nvPr/>
        </p:nvSpPr>
        <p:spPr>
          <a:xfrm>
            <a:off x="8348829" y="4958477"/>
            <a:ext cx="376547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15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40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0"/>
          <p:cNvSpPr txBox="1"/>
          <p:nvPr/>
        </p:nvSpPr>
        <p:spPr>
          <a:xfrm>
            <a:off x="2651996" y="224314"/>
            <a:ext cx="38400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Vercel — 你的网站住在这里</a:t>
            </a:r>
            <a:endParaRPr sz="1100"/>
          </a:p>
        </p:txBody>
      </p:sp>
      <p:sp>
        <p:nvSpPr>
          <p:cNvPr id="1184" name="Google Shape;1184;p40"/>
          <p:cNvSpPr txBox="1"/>
          <p:nvPr/>
        </p:nvSpPr>
        <p:spPr>
          <a:xfrm>
            <a:off x="2839283" y="523637"/>
            <a:ext cx="3465433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免费静态托管平台 · Claude Code 部署首选</a:t>
            </a:r>
            <a:endParaRPr sz="1100"/>
          </a:p>
        </p:txBody>
      </p:sp>
      <p:sp>
        <p:nvSpPr>
          <p:cNvPr id="1185" name="Google Shape;1185;p40"/>
          <p:cNvSpPr/>
          <p:nvPr/>
        </p:nvSpPr>
        <p:spPr>
          <a:xfrm>
            <a:off x="571500" y="800100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6" name="Google Shape;1186;p40"/>
          <p:cNvSpPr/>
          <p:nvPr/>
        </p:nvSpPr>
        <p:spPr>
          <a:xfrm>
            <a:off x="571500" y="942975"/>
            <a:ext cx="2428875" cy="3571875"/>
          </a:xfrm>
          <a:prstGeom prst="roundRect">
            <a:avLst>
              <a:gd fmla="val 4118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40"/>
          <p:cNvSpPr/>
          <p:nvPr/>
        </p:nvSpPr>
        <p:spPr>
          <a:xfrm>
            <a:off x="571500" y="942975"/>
            <a:ext cx="2428875" cy="35719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40"/>
          <p:cNvSpPr txBox="1"/>
          <p:nvPr/>
        </p:nvSpPr>
        <p:spPr>
          <a:xfrm>
            <a:off x="2406894" y="1088708"/>
            <a:ext cx="490611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1189" name="Google Shape;1189;p40"/>
          <p:cNvSpPr/>
          <p:nvPr/>
        </p:nvSpPr>
        <p:spPr>
          <a:xfrm>
            <a:off x="757238" y="1114425"/>
            <a:ext cx="342900" cy="342900"/>
          </a:xfrm>
          <a:prstGeom prst="roundRect">
            <a:avLst>
              <a:gd fmla="val 20833" name="adj"/>
            </a:avLst>
          </a:prstGeom>
          <a:solidFill>
            <a:srgbClr val="C96133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0" name="Google Shape;1190;p40"/>
          <p:cNvGrpSpPr/>
          <p:nvPr/>
        </p:nvGrpSpPr>
        <p:grpSpPr>
          <a:xfrm>
            <a:off x="849742" y="1166482"/>
            <a:ext cx="167001" cy="226852"/>
            <a:chOff x="1132990" y="1555309"/>
            <a:chExt cx="222668" cy="302469"/>
          </a:xfrm>
        </p:grpSpPr>
        <p:sp>
          <p:nvSpPr>
            <p:cNvPr id="1191" name="Google Shape;1191;p40"/>
            <p:cNvSpPr/>
            <p:nvPr/>
          </p:nvSpPr>
          <p:spPr>
            <a:xfrm>
              <a:off x="1152525" y="1600198"/>
              <a:ext cx="143438" cy="143978"/>
            </a:xfrm>
            <a:custGeom>
              <a:rect b="b" l="l" r="r" t="t"/>
              <a:pathLst>
                <a:path extrusionOk="0" h="143978" w="143438">
                  <a:moveTo>
                    <a:pt x="71438" y="2"/>
                  </a:moveTo>
                  <a:cubicBezTo>
                    <a:pt x="110489" y="0"/>
                    <a:pt x="142305" y="31356"/>
                    <a:pt x="142872" y="70403"/>
                  </a:cubicBezTo>
                  <a:cubicBezTo>
                    <a:pt x="143438" y="109450"/>
                    <a:pt x="112545" y="141716"/>
                    <a:pt x="73510" y="142847"/>
                  </a:cubicBezTo>
                  <a:cubicBezTo>
                    <a:pt x="34475" y="143978"/>
                    <a:pt x="1766" y="113555"/>
                    <a:pt x="71" y="74540"/>
                  </a:cubicBezTo>
                  <a:lnTo>
                    <a:pt x="0" y="71440"/>
                  </a:lnTo>
                  <a:lnTo>
                    <a:pt x="71" y="68339"/>
                  </a:lnTo>
                  <a:cubicBezTo>
                    <a:pt x="1731" y="30129"/>
                    <a:pt x="33191" y="4"/>
                    <a:pt x="71438" y="2"/>
                  </a:cubicBezTo>
                  <a:close/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40"/>
            <p:cNvSpPr/>
            <p:nvPr/>
          </p:nvSpPr>
          <p:spPr>
            <a:xfrm>
              <a:off x="1132990" y="1555309"/>
              <a:ext cx="222668" cy="253331"/>
            </a:xfrm>
            <a:custGeom>
              <a:rect b="b" l="l" r="r" t="t"/>
              <a:pathLst>
                <a:path extrusionOk="0" h="253331" w="222668">
                  <a:moveTo>
                    <a:pt x="135736" y="9200"/>
                  </a:moveTo>
                  <a:cubicBezTo>
                    <a:pt x="139666" y="2360"/>
                    <a:pt x="148396" y="0"/>
                    <a:pt x="155238" y="3928"/>
                  </a:cubicBezTo>
                  <a:cubicBezTo>
                    <a:pt x="197719" y="28345"/>
                    <a:pt x="222668" y="74750"/>
                    <a:pt x="219604" y="123653"/>
                  </a:cubicBezTo>
                  <a:cubicBezTo>
                    <a:pt x="216541" y="172555"/>
                    <a:pt x="185995" y="215484"/>
                    <a:pt x="140799" y="234407"/>
                  </a:cubicBezTo>
                  <a:cubicBezTo>
                    <a:pt x="95602" y="253331"/>
                    <a:pt x="43583" y="244971"/>
                    <a:pt x="6591" y="212840"/>
                  </a:cubicBezTo>
                  <a:cubicBezTo>
                    <a:pt x="633" y="207664"/>
                    <a:pt x="0" y="198638"/>
                    <a:pt x="5176" y="192680"/>
                  </a:cubicBezTo>
                  <a:cubicBezTo>
                    <a:pt x="10353" y="186723"/>
                    <a:pt x="19378" y="186090"/>
                    <a:pt x="25336" y="191266"/>
                  </a:cubicBezTo>
                  <a:cubicBezTo>
                    <a:pt x="54121" y="216268"/>
                    <a:pt x="94599" y="222773"/>
                    <a:pt x="129768" y="208048"/>
                  </a:cubicBezTo>
                  <a:cubicBezTo>
                    <a:pt x="164938" y="193323"/>
                    <a:pt x="188706" y="159919"/>
                    <a:pt x="191091" y="121866"/>
                  </a:cubicBezTo>
                  <a:cubicBezTo>
                    <a:pt x="193476" y="83813"/>
                    <a:pt x="174063" y="47703"/>
                    <a:pt x="141008" y="28703"/>
                  </a:cubicBezTo>
                  <a:cubicBezTo>
                    <a:pt x="134167" y="24772"/>
                    <a:pt x="131807" y="16042"/>
                    <a:pt x="135736" y="9200"/>
                  </a:cubicBezTo>
                  <a:close/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40"/>
            <p:cNvSpPr/>
            <p:nvPr/>
          </p:nvSpPr>
          <p:spPr>
            <a:xfrm>
              <a:off x="1209675" y="1771650"/>
              <a:ext cx="28575" cy="86128"/>
            </a:xfrm>
            <a:custGeom>
              <a:rect b="b" l="l" r="r" t="t"/>
              <a:pathLst>
                <a:path extrusionOk="0" h="86128" w="28575">
                  <a:moveTo>
                    <a:pt x="14288" y="0"/>
                  </a:moveTo>
                  <a:cubicBezTo>
                    <a:pt x="21531" y="1"/>
                    <a:pt x="27628" y="5422"/>
                    <a:pt x="28475" y="12616"/>
                  </a:cubicBezTo>
                  <a:lnTo>
                    <a:pt x="28575" y="14288"/>
                  </a:lnTo>
                  <a:lnTo>
                    <a:pt x="28575" y="71438"/>
                  </a:lnTo>
                  <a:cubicBezTo>
                    <a:pt x="28567" y="78997"/>
                    <a:pt x="22671" y="85242"/>
                    <a:pt x="15125" y="85685"/>
                  </a:cubicBezTo>
                  <a:cubicBezTo>
                    <a:pt x="7578" y="86128"/>
                    <a:pt x="993" y="80616"/>
                    <a:pt x="100" y="73109"/>
                  </a:cubicBezTo>
                  <a:lnTo>
                    <a:pt x="0" y="71438"/>
                  </a:lnTo>
                  <a:lnTo>
                    <a:pt x="0" y="14288"/>
                  </a:lnTo>
                  <a:cubicBezTo>
                    <a:pt x="0" y="6397"/>
                    <a:pt x="6397" y="0"/>
                    <a:pt x="14288" y="0"/>
                  </a:cubicBezTo>
                  <a:close/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40"/>
            <p:cNvSpPr/>
            <p:nvPr/>
          </p:nvSpPr>
          <p:spPr>
            <a:xfrm>
              <a:off x="1152122" y="1828800"/>
              <a:ext cx="143680" cy="28575"/>
            </a:xfrm>
            <a:custGeom>
              <a:rect b="b" l="l" r="r" t="t"/>
              <a:pathLst>
                <a:path extrusionOk="0" h="28575" w="143680">
                  <a:moveTo>
                    <a:pt x="128990" y="0"/>
                  </a:moveTo>
                  <a:cubicBezTo>
                    <a:pt x="136550" y="8"/>
                    <a:pt x="142794" y="5904"/>
                    <a:pt x="143237" y="13450"/>
                  </a:cubicBezTo>
                  <a:cubicBezTo>
                    <a:pt x="143680" y="20997"/>
                    <a:pt x="138168" y="27582"/>
                    <a:pt x="130662" y="28475"/>
                  </a:cubicBezTo>
                  <a:lnTo>
                    <a:pt x="128990" y="28575"/>
                  </a:lnTo>
                  <a:lnTo>
                    <a:pt x="14690" y="28575"/>
                  </a:lnTo>
                  <a:cubicBezTo>
                    <a:pt x="7131" y="28567"/>
                    <a:pt x="886" y="22671"/>
                    <a:pt x="443" y="15125"/>
                  </a:cubicBezTo>
                  <a:cubicBezTo>
                    <a:pt x="0" y="7578"/>
                    <a:pt x="5512" y="993"/>
                    <a:pt x="13018" y="100"/>
                  </a:cubicBezTo>
                  <a:lnTo>
                    <a:pt x="14690" y="0"/>
                  </a:lnTo>
                  <a:lnTo>
                    <a:pt x="128990" y="0"/>
                  </a:lnTo>
                  <a:close/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5" name="Google Shape;1195;p40"/>
          <p:cNvSpPr txBox="1"/>
          <p:nvPr/>
        </p:nvSpPr>
        <p:spPr>
          <a:xfrm>
            <a:off x="742950" y="1535906"/>
            <a:ext cx="12966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什么是 Vercel？</a:t>
            </a:r>
            <a:endParaRPr sz="1100"/>
          </a:p>
        </p:txBody>
      </p:sp>
      <p:sp>
        <p:nvSpPr>
          <p:cNvPr id="1196" name="Google Shape;1196;p40"/>
          <p:cNvSpPr txBox="1"/>
          <p:nvPr/>
        </p:nvSpPr>
        <p:spPr>
          <a:xfrm>
            <a:off x="747951" y="1735574"/>
            <a:ext cx="820368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WHAT IS VERCEL</a:t>
            </a:r>
            <a:endParaRPr sz="1100"/>
          </a:p>
        </p:txBody>
      </p:sp>
      <p:sp>
        <p:nvSpPr>
          <p:cNvPr id="1197" name="Google Shape;1197;p40"/>
          <p:cNvSpPr/>
          <p:nvPr/>
        </p:nvSpPr>
        <p:spPr>
          <a:xfrm>
            <a:off x="757238" y="1928813"/>
            <a:ext cx="2057400" cy="7144"/>
          </a:xfrm>
          <a:custGeom>
            <a:rect b="b" l="l" r="r" t="t"/>
            <a:pathLst>
              <a:path extrusionOk="0" h="9525" w="2743200">
                <a:moveTo>
                  <a:pt x="0" y="0"/>
                </a:moveTo>
                <a:lnTo>
                  <a:pt x="2743200" y="0"/>
                </a:lnTo>
              </a:path>
            </a:pathLst>
          </a:custGeom>
          <a:noFill/>
          <a:ln cap="flat" cmpd="sng" w="95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8" name="Google Shape;1198;p40"/>
          <p:cNvSpPr txBox="1"/>
          <p:nvPr/>
        </p:nvSpPr>
        <p:spPr>
          <a:xfrm>
            <a:off x="745807" y="2045970"/>
            <a:ext cx="1403033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专为前端设计的云平台</a:t>
            </a:r>
            <a:endParaRPr sz="1100"/>
          </a:p>
        </p:txBody>
      </p:sp>
      <p:sp>
        <p:nvSpPr>
          <p:cNvPr id="1199" name="Google Shape;1199;p40"/>
          <p:cNvSpPr txBox="1"/>
          <p:nvPr/>
        </p:nvSpPr>
        <p:spPr>
          <a:xfrm>
            <a:off x="746521" y="2252067"/>
            <a:ext cx="12352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把 HTML/CSS/JS 文件</a:t>
            </a:r>
            <a:endParaRPr sz="1100"/>
          </a:p>
        </p:txBody>
      </p:sp>
      <p:sp>
        <p:nvSpPr>
          <p:cNvPr id="1200" name="Google Shape;1200;p40"/>
          <p:cNvSpPr txBox="1"/>
          <p:nvPr/>
        </p:nvSpPr>
        <p:spPr>
          <a:xfrm>
            <a:off x="746522" y="2409230"/>
            <a:ext cx="125372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变成全球可访问的网站</a:t>
            </a:r>
            <a:endParaRPr sz="1100"/>
          </a:p>
        </p:txBody>
      </p:sp>
      <p:sp>
        <p:nvSpPr>
          <p:cNvPr id="1201" name="Google Shape;1201;p40"/>
          <p:cNvSpPr/>
          <p:nvPr/>
        </p:nvSpPr>
        <p:spPr>
          <a:xfrm>
            <a:off x="757238" y="2671763"/>
            <a:ext cx="2057400" cy="7144"/>
          </a:xfrm>
          <a:custGeom>
            <a:rect b="b" l="l" r="r" t="t"/>
            <a:pathLst>
              <a:path extrusionOk="0" h="9525" w="2743200">
                <a:moveTo>
                  <a:pt x="0" y="0"/>
                </a:moveTo>
                <a:lnTo>
                  <a:pt x="2743200" y="0"/>
                </a:lnTo>
              </a:path>
            </a:pathLst>
          </a:custGeom>
          <a:noFill/>
          <a:ln cap="flat" cmpd="sng" w="95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2" name="Google Shape;1202;p40"/>
          <p:cNvSpPr txBox="1"/>
          <p:nvPr/>
        </p:nvSpPr>
        <p:spPr>
          <a:xfrm>
            <a:off x="745808" y="2774632"/>
            <a:ext cx="117530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为什么选 Vercel？</a:t>
            </a:r>
            <a:endParaRPr sz="1100"/>
          </a:p>
        </p:txBody>
      </p:sp>
      <p:sp>
        <p:nvSpPr>
          <p:cNvPr id="1203" name="Google Shape;1203;p40"/>
          <p:cNvSpPr/>
          <p:nvPr/>
        </p:nvSpPr>
        <p:spPr>
          <a:xfrm>
            <a:off x="807244" y="3036094"/>
            <a:ext cx="42863" cy="42863"/>
          </a:xfrm>
          <a:prstGeom prst="ellipse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40"/>
          <p:cNvSpPr txBox="1"/>
          <p:nvPr/>
        </p:nvSpPr>
        <p:spPr>
          <a:xfrm>
            <a:off x="903684" y="2995017"/>
            <a:ext cx="92717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自动 HTTPS 证书</a:t>
            </a:r>
            <a:endParaRPr sz="1100"/>
          </a:p>
        </p:txBody>
      </p:sp>
      <p:sp>
        <p:nvSpPr>
          <p:cNvPr id="1205" name="Google Shape;1205;p40"/>
          <p:cNvSpPr/>
          <p:nvPr/>
        </p:nvSpPr>
        <p:spPr>
          <a:xfrm>
            <a:off x="807244" y="3250406"/>
            <a:ext cx="42863" cy="42863"/>
          </a:xfrm>
          <a:prstGeom prst="ellipse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40"/>
          <p:cNvSpPr txBox="1"/>
          <p:nvPr/>
        </p:nvSpPr>
        <p:spPr>
          <a:xfrm>
            <a:off x="903684" y="3209330"/>
            <a:ext cx="79161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全球 CDN 加速</a:t>
            </a:r>
            <a:endParaRPr sz="1100"/>
          </a:p>
        </p:txBody>
      </p:sp>
      <p:sp>
        <p:nvSpPr>
          <p:cNvPr id="1207" name="Google Shape;1207;p40"/>
          <p:cNvSpPr/>
          <p:nvPr/>
        </p:nvSpPr>
        <p:spPr>
          <a:xfrm>
            <a:off x="807244" y="3464719"/>
            <a:ext cx="42863" cy="42863"/>
          </a:xfrm>
          <a:prstGeom prst="ellipse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40"/>
          <p:cNvSpPr txBox="1"/>
          <p:nvPr/>
        </p:nvSpPr>
        <p:spPr>
          <a:xfrm>
            <a:off x="903684" y="3423642"/>
            <a:ext cx="117362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GitHub 推送自动部署</a:t>
            </a:r>
            <a:endParaRPr sz="1100"/>
          </a:p>
        </p:txBody>
      </p:sp>
      <p:sp>
        <p:nvSpPr>
          <p:cNvPr id="1209" name="Google Shape;1209;p40"/>
          <p:cNvSpPr/>
          <p:nvPr/>
        </p:nvSpPr>
        <p:spPr>
          <a:xfrm>
            <a:off x="807244" y="3679031"/>
            <a:ext cx="42863" cy="42863"/>
          </a:xfrm>
          <a:prstGeom prst="ellipse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40"/>
          <p:cNvSpPr txBox="1"/>
          <p:nvPr/>
        </p:nvSpPr>
        <p:spPr>
          <a:xfrm>
            <a:off x="903684" y="3637955"/>
            <a:ext cx="88403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支持自定义域名</a:t>
            </a:r>
            <a:endParaRPr sz="1100"/>
          </a:p>
        </p:txBody>
      </p:sp>
      <p:sp>
        <p:nvSpPr>
          <p:cNvPr id="1211" name="Google Shape;1211;p40"/>
          <p:cNvSpPr/>
          <p:nvPr/>
        </p:nvSpPr>
        <p:spPr>
          <a:xfrm>
            <a:off x="3357563" y="942975"/>
            <a:ext cx="2428875" cy="3571875"/>
          </a:xfrm>
          <a:prstGeom prst="roundRect">
            <a:avLst>
              <a:gd fmla="val 4118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40"/>
          <p:cNvSpPr/>
          <p:nvPr/>
        </p:nvSpPr>
        <p:spPr>
          <a:xfrm>
            <a:off x="3357563" y="942975"/>
            <a:ext cx="2428875" cy="35719"/>
          </a:xfrm>
          <a:prstGeom prst="roundRect">
            <a:avLst>
              <a:gd fmla="val 500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40"/>
          <p:cNvSpPr txBox="1"/>
          <p:nvPr/>
        </p:nvSpPr>
        <p:spPr>
          <a:xfrm>
            <a:off x="5072191" y="1088708"/>
            <a:ext cx="611377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1214" name="Google Shape;1214;p40"/>
          <p:cNvSpPr/>
          <p:nvPr/>
        </p:nvSpPr>
        <p:spPr>
          <a:xfrm>
            <a:off x="3543300" y="1114425"/>
            <a:ext cx="342900" cy="342900"/>
          </a:xfrm>
          <a:prstGeom prst="roundRect">
            <a:avLst>
              <a:gd fmla="val 20833" name="adj"/>
            </a:avLst>
          </a:prstGeom>
          <a:solidFill>
            <a:srgbClr val="3D7DE4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0"/>
          <p:cNvSpPr/>
          <p:nvPr/>
        </p:nvSpPr>
        <p:spPr>
          <a:xfrm>
            <a:off x="3607592" y="1173919"/>
            <a:ext cx="225638" cy="226518"/>
          </a:xfrm>
          <a:custGeom>
            <a:rect b="b" l="l" r="r" t="t"/>
            <a:pathLst>
              <a:path extrusionOk="0" h="302024" w="300850">
                <a:moveTo>
                  <a:pt x="214314" y="25545"/>
                </a:moveTo>
                <a:cubicBezTo>
                  <a:pt x="274362" y="60214"/>
                  <a:pt x="300850" y="132991"/>
                  <a:pt x="277135" y="198146"/>
                </a:cubicBezTo>
                <a:cubicBezTo>
                  <a:pt x="253420" y="263301"/>
                  <a:pt x="186348" y="302024"/>
                  <a:pt x="118064" y="289983"/>
                </a:cubicBezTo>
                <a:cubicBezTo>
                  <a:pt x="49781" y="277941"/>
                  <a:pt x="0" y="218612"/>
                  <a:pt x="2" y="149275"/>
                </a:cubicBezTo>
                <a:lnTo>
                  <a:pt x="73" y="144646"/>
                </a:lnTo>
                <a:cubicBezTo>
                  <a:pt x="1701" y="94454"/>
                  <a:pt x="29560" y="48801"/>
                  <a:pt x="73452" y="24400"/>
                </a:cubicBezTo>
                <a:cubicBezTo>
                  <a:pt x="117344" y="0"/>
                  <a:pt x="170824" y="435"/>
                  <a:pt x="214314" y="25545"/>
                </a:cubicBezTo>
                <a:moveTo>
                  <a:pt x="124403" y="110599"/>
                </a:moveTo>
                <a:cubicBezTo>
                  <a:pt x="118824" y="105021"/>
                  <a:pt x="109780" y="105021"/>
                  <a:pt x="104200" y="110599"/>
                </a:cubicBezTo>
                <a:lnTo>
                  <a:pt x="75625" y="139174"/>
                </a:lnTo>
                <a:cubicBezTo>
                  <a:pt x="70048" y="144753"/>
                  <a:pt x="70048" y="153797"/>
                  <a:pt x="75625" y="159376"/>
                </a:cubicBezTo>
                <a:lnTo>
                  <a:pt x="104200" y="187951"/>
                </a:lnTo>
                <a:cubicBezTo>
                  <a:pt x="109780" y="193529"/>
                  <a:pt x="118824" y="193529"/>
                  <a:pt x="124403" y="187951"/>
                </a:cubicBezTo>
                <a:lnTo>
                  <a:pt x="125589" y="186608"/>
                </a:lnTo>
                <a:cubicBezTo>
                  <a:pt x="130001" y="180921"/>
                  <a:pt x="129493" y="172839"/>
                  <a:pt x="124403" y="167749"/>
                </a:cubicBezTo>
                <a:lnTo>
                  <a:pt x="105944" y="149275"/>
                </a:lnTo>
                <a:lnTo>
                  <a:pt x="124403" y="130801"/>
                </a:lnTo>
                <a:cubicBezTo>
                  <a:pt x="129981" y="125222"/>
                  <a:pt x="129981" y="116178"/>
                  <a:pt x="124403" y="110599"/>
                </a:cubicBezTo>
                <a:moveTo>
                  <a:pt x="181553" y="110599"/>
                </a:moveTo>
                <a:cubicBezTo>
                  <a:pt x="175974" y="105021"/>
                  <a:pt x="166930" y="105021"/>
                  <a:pt x="161350" y="110599"/>
                </a:cubicBezTo>
                <a:lnTo>
                  <a:pt x="160165" y="111942"/>
                </a:lnTo>
                <a:cubicBezTo>
                  <a:pt x="155753" y="117629"/>
                  <a:pt x="156261" y="125711"/>
                  <a:pt x="161350" y="130801"/>
                </a:cubicBezTo>
                <a:lnTo>
                  <a:pt x="179810" y="149275"/>
                </a:lnTo>
                <a:lnTo>
                  <a:pt x="161350" y="167749"/>
                </a:lnTo>
                <a:cubicBezTo>
                  <a:pt x="155936" y="173355"/>
                  <a:pt x="156013" y="182266"/>
                  <a:pt x="161525" y="187777"/>
                </a:cubicBezTo>
                <a:cubicBezTo>
                  <a:pt x="167036" y="193288"/>
                  <a:pt x="175947" y="193366"/>
                  <a:pt x="181553" y="187951"/>
                </a:cubicBezTo>
                <a:lnTo>
                  <a:pt x="210128" y="159376"/>
                </a:lnTo>
                <a:cubicBezTo>
                  <a:pt x="215706" y="153797"/>
                  <a:pt x="215706" y="144753"/>
                  <a:pt x="210128" y="139174"/>
                </a:cubicBezTo>
                <a:close/>
              </a:path>
            </a:pathLst>
          </a:cu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0"/>
          <p:cNvSpPr txBox="1"/>
          <p:nvPr/>
        </p:nvSpPr>
        <p:spPr>
          <a:xfrm>
            <a:off x="3529013" y="1535906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能做什么？</a:t>
            </a:r>
            <a:endParaRPr sz="1100"/>
          </a:p>
        </p:txBody>
      </p:sp>
      <p:sp>
        <p:nvSpPr>
          <p:cNvPr id="1217" name="Google Shape;1217;p40"/>
          <p:cNvSpPr txBox="1"/>
          <p:nvPr/>
        </p:nvSpPr>
        <p:spPr>
          <a:xfrm>
            <a:off x="3534014" y="1735574"/>
            <a:ext cx="674587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CAPABILITIES</a:t>
            </a:r>
            <a:endParaRPr sz="1100"/>
          </a:p>
        </p:txBody>
      </p:sp>
      <p:sp>
        <p:nvSpPr>
          <p:cNvPr id="1218" name="Google Shape;1218;p40"/>
          <p:cNvSpPr/>
          <p:nvPr/>
        </p:nvSpPr>
        <p:spPr>
          <a:xfrm>
            <a:off x="3543300" y="1928813"/>
            <a:ext cx="2057400" cy="7144"/>
          </a:xfrm>
          <a:custGeom>
            <a:rect b="b" l="l" r="r" t="t"/>
            <a:pathLst>
              <a:path extrusionOk="0" h="9525" w="2743200">
                <a:moveTo>
                  <a:pt x="0" y="0"/>
                </a:moveTo>
                <a:lnTo>
                  <a:pt x="2743200" y="0"/>
                </a:lnTo>
              </a:path>
            </a:pathLst>
          </a:custGeom>
          <a:noFill/>
          <a:ln cap="flat" cmpd="sng" w="95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9" name="Google Shape;1219;p40"/>
          <p:cNvSpPr/>
          <p:nvPr/>
        </p:nvSpPr>
        <p:spPr>
          <a:xfrm>
            <a:off x="3543300" y="2028825"/>
            <a:ext cx="2057400" cy="371475"/>
          </a:xfrm>
          <a:prstGeom prst="roundRect">
            <a:avLst>
              <a:gd fmla="val 15385" name="adj"/>
            </a:avLst>
          </a:prstGeom>
          <a:solidFill>
            <a:srgbClr val="EBF0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40"/>
          <p:cNvSpPr/>
          <p:nvPr/>
        </p:nvSpPr>
        <p:spPr>
          <a:xfrm>
            <a:off x="3543300" y="2028825"/>
            <a:ext cx="28575" cy="371475"/>
          </a:xfrm>
          <a:prstGeom prst="roundRect">
            <a:avLst>
              <a:gd fmla="val 500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40"/>
          <p:cNvSpPr txBox="1"/>
          <p:nvPr/>
        </p:nvSpPr>
        <p:spPr>
          <a:xfrm>
            <a:off x="3646170" y="2081689"/>
            <a:ext cx="850963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静态网站托管</a:t>
            </a:r>
            <a:endParaRPr sz="1100"/>
          </a:p>
        </p:txBody>
      </p:sp>
      <p:sp>
        <p:nvSpPr>
          <p:cNvPr id="1222" name="Google Shape;1222;p40"/>
          <p:cNvSpPr txBox="1"/>
          <p:nvPr/>
        </p:nvSpPr>
        <p:spPr>
          <a:xfrm>
            <a:off x="3647599" y="2236709"/>
            <a:ext cx="158419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HTML + CSS + JS · 即传即上线</a:t>
            </a:r>
            <a:endParaRPr sz="1100"/>
          </a:p>
        </p:txBody>
      </p:sp>
      <p:sp>
        <p:nvSpPr>
          <p:cNvPr id="1223" name="Google Shape;1223;p40"/>
          <p:cNvSpPr/>
          <p:nvPr/>
        </p:nvSpPr>
        <p:spPr>
          <a:xfrm>
            <a:off x="3543300" y="2486025"/>
            <a:ext cx="2057400" cy="371475"/>
          </a:xfrm>
          <a:prstGeom prst="roundRect">
            <a:avLst>
              <a:gd fmla="val 15385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40"/>
          <p:cNvSpPr/>
          <p:nvPr/>
        </p:nvSpPr>
        <p:spPr>
          <a:xfrm>
            <a:off x="3543300" y="2486025"/>
            <a:ext cx="28575" cy="371475"/>
          </a:xfrm>
          <a:prstGeom prst="roundRect">
            <a:avLst>
              <a:gd fmla="val 50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40"/>
          <p:cNvSpPr txBox="1"/>
          <p:nvPr/>
        </p:nvSpPr>
        <p:spPr>
          <a:xfrm>
            <a:off x="3646170" y="2538889"/>
            <a:ext cx="103728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GitHub 自动部署</a:t>
            </a:r>
            <a:endParaRPr sz="1100"/>
          </a:p>
        </p:txBody>
      </p:sp>
      <p:sp>
        <p:nvSpPr>
          <p:cNvPr id="1226" name="Google Shape;1226;p40"/>
          <p:cNvSpPr txBox="1"/>
          <p:nvPr/>
        </p:nvSpPr>
        <p:spPr>
          <a:xfrm>
            <a:off x="3647599" y="2693909"/>
            <a:ext cx="1095387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push = 自动发布更新</a:t>
            </a:r>
            <a:endParaRPr sz="1100"/>
          </a:p>
        </p:txBody>
      </p:sp>
      <p:sp>
        <p:nvSpPr>
          <p:cNvPr id="1227" name="Google Shape;1227;p40"/>
          <p:cNvSpPr/>
          <p:nvPr/>
        </p:nvSpPr>
        <p:spPr>
          <a:xfrm>
            <a:off x="3543300" y="2943225"/>
            <a:ext cx="2057400" cy="371475"/>
          </a:xfrm>
          <a:prstGeom prst="roundRect">
            <a:avLst>
              <a:gd fmla="val 15385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40"/>
          <p:cNvSpPr/>
          <p:nvPr/>
        </p:nvSpPr>
        <p:spPr>
          <a:xfrm>
            <a:off x="3543300" y="2943225"/>
            <a:ext cx="28575" cy="371475"/>
          </a:xfrm>
          <a:prstGeom prst="roundRect">
            <a:avLst>
              <a:gd fmla="val 50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40"/>
          <p:cNvSpPr txBox="1"/>
          <p:nvPr/>
        </p:nvSpPr>
        <p:spPr>
          <a:xfrm>
            <a:off x="3646170" y="2996089"/>
            <a:ext cx="114079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Preview 分支预览</a:t>
            </a:r>
            <a:endParaRPr sz="1100"/>
          </a:p>
        </p:txBody>
      </p:sp>
      <p:sp>
        <p:nvSpPr>
          <p:cNvPr id="1230" name="Google Shape;1230;p40"/>
          <p:cNvSpPr txBox="1"/>
          <p:nvPr/>
        </p:nvSpPr>
        <p:spPr>
          <a:xfrm>
            <a:off x="3647599" y="3151109"/>
            <a:ext cx="1170146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每个分支独立预览链接</a:t>
            </a:r>
            <a:endParaRPr sz="1100"/>
          </a:p>
        </p:txBody>
      </p:sp>
      <p:sp>
        <p:nvSpPr>
          <p:cNvPr id="1231" name="Google Shape;1231;p40"/>
          <p:cNvSpPr/>
          <p:nvPr/>
        </p:nvSpPr>
        <p:spPr>
          <a:xfrm>
            <a:off x="3543300" y="3400425"/>
            <a:ext cx="2057400" cy="371475"/>
          </a:xfrm>
          <a:prstGeom prst="roundRect">
            <a:avLst>
              <a:gd fmla="val 15385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40"/>
          <p:cNvSpPr/>
          <p:nvPr/>
        </p:nvSpPr>
        <p:spPr>
          <a:xfrm>
            <a:off x="3543300" y="3400425"/>
            <a:ext cx="28575" cy="371475"/>
          </a:xfrm>
          <a:prstGeom prst="roundRect">
            <a:avLst>
              <a:gd fmla="val 50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40"/>
          <p:cNvSpPr txBox="1"/>
          <p:nvPr/>
        </p:nvSpPr>
        <p:spPr>
          <a:xfrm>
            <a:off x="3646170" y="3453289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自定义域名</a:t>
            </a:r>
            <a:endParaRPr sz="1100"/>
          </a:p>
        </p:txBody>
      </p:sp>
      <p:sp>
        <p:nvSpPr>
          <p:cNvPr id="1234" name="Google Shape;1234;p40"/>
          <p:cNvSpPr txBox="1"/>
          <p:nvPr/>
        </p:nvSpPr>
        <p:spPr>
          <a:xfrm>
            <a:off x="3647599" y="3608309"/>
            <a:ext cx="94011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绑定你自己的域名</a:t>
            </a:r>
            <a:endParaRPr sz="1100"/>
          </a:p>
        </p:txBody>
      </p:sp>
      <p:sp>
        <p:nvSpPr>
          <p:cNvPr id="1235" name="Google Shape;1235;p40"/>
          <p:cNvSpPr/>
          <p:nvPr/>
        </p:nvSpPr>
        <p:spPr>
          <a:xfrm>
            <a:off x="6143625" y="942975"/>
            <a:ext cx="2428875" cy="3571875"/>
          </a:xfrm>
          <a:prstGeom prst="roundRect">
            <a:avLst>
              <a:gd fmla="val 4118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40"/>
          <p:cNvSpPr/>
          <p:nvPr/>
        </p:nvSpPr>
        <p:spPr>
          <a:xfrm>
            <a:off x="6143625" y="942975"/>
            <a:ext cx="2428875" cy="35719"/>
          </a:xfrm>
          <a:prstGeom prst="roundRect">
            <a:avLst>
              <a:gd fmla="val 50000" name="adj"/>
            </a:avLst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40"/>
          <p:cNvSpPr txBox="1"/>
          <p:nvPr/>
        </p:nvSpPr>
        <p:spPr>
          <a:xfrm>
            <a:off x="7858253" y="1088708"/>
            <a:ext cx="611377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rgbClr val="3A9E6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1238" name="Google Shape;1238;p40"/>
          <p:cNvSpPr/>
          <p:nvPr/>
        </p:nvSpPr>
        <p:spPr>
          <a:xfrm>
            <a:off x="6329363" y="1114425"/>
            <a:ext cx="342900" cy="342900"/>
          </a:xfrm>
          <a:prstGeom prst="roundRect">
            <a:avLst>
              <a:gd fmla="val 20833" name="adj"/>
            </a:avLst>
          </a:prstGeom>
          <a:solidFill>
            <a:srgbClr val="3A9E6A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9" name="Google Shape;1239;p40"/>
          <p:cNvGrpSpPr/>
          <p:nvPr/>
        </p:nvGrpSpPr>
        <p:grpSpPr>
          <a:xfrm>
            <a:off x="6397402" y="1178719"/>
            <a:ext cx="206712" cy="213544"/>
            <a:chOff x="8529869" y="1571625"/>
            <a:chExt cx="275616" cy="284725"/>
          </a:xfrm>
        </p:grpSpPr>
        <p:sp>
          <p:nvSpPr>
            <p:cNvPr id="1240" name="Google Shape;1240;p40"/>
            <p:cNvSpPr/>
            <p:nvPr/>
          </p:nvSpPr>
          <p:spPr>
            <a:xfrm>
              <a:off x="8675837" y="1742832"/>
              <a:ext cx="129648" cy="113518"/>
            </a:xfrm>
            <a:custGeom>
              <a:rect b="b" l="l" r="r" t="t"/>
              <a:pathLst>
                <a:path extrusionOk="0" h="113518" w="129648">
                  <a:moveTo>
                    <a:pt x="99012" y="0"/>
                  </a:moveTo>
                  <a:lnTo>
                    <a:pt x="127102" y="48663"/>
                  </a:lnTo>
                  <a:cubicBezTo>
                    <a:pt x="129448" y="52730"/>
                    <a:pt x="129648" y="57690"/>
                    <a:pt x="127638" y="61933"/>
                  </a:cubicBezTo>
                  <a:cubicBezTo>
                    <a:pt x="125628" y="66177"/>
                    <a:pt x="121662" y="69163"/>
                    <a:pt x="117029" y="69923"/>
                  </a:cubicBezTo>
                  <a:lnTo>
                    <a:pt x="115414" y="70080"/>
                  </a:lnTo>
                  <a:lnTo>
                    <a:pt x="113814" y="70066"/>
                  </a:lnTo>
                  <a:lnTo>
                    <a:pt x="71909" y="67351"/>
                  </a:lnTo>
                  <a:lnTo>
                    <a:pt x="53292" y="105013"/>
                  </a:lnTo>
                  <a:cubicBezTo>
                    <a:pt x="51242" y="109151"/>
                    <a:pt x="47320" y="112044"/>
                    <a:pt x="42761" y="112781"/>
                  </a:cubicBezTo>
                  <a:cubicBezTo>
                    <a:pt x="38202" y="113518"/>
                    <a:pt x="33568" y="112008"/>
                    <a:pt x="30318" y="108728"/>
                  </a:cubicBezTo>
                  <a:lnTo>
                    <a:pt x="29146" y="107385"/>
                  </a:lnTo>
                  <a:lnTo>
                    <a:pt x="28118" y="105813"/>
                  </a:lnTo>
                  <a:lnTo>
                    <a:pt x="0" y="57136"/>
                  </a:lnTo>
                  <a:cubicBezTo>
                    <a:pt x="40125" y="54628"/>
                    <a:pt x="76763" y="33485"/>
                    <a:pt x="99012" y="0"/>
                  </a:cubicBez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40"/>
            <p:cNvSpPr/>
            <p:nvPr/>
          </p:nvSpPr>
          <p:spPr>
            <a:xfrm>
              <a:off x="8529869" y="1742818"/>
              <a:ext cx="129737" cy="113375"/>
            </a:xfrm>
            <a:custGeom>
              <a:rect b="b" l="l" r="r" t="t"/>
              <a:pathLst>
                <a:path extrusionOk="0" h="113375" w="129737">
                  <a:moveTo>
                    <a:pt x="129737" y="57150"/>
                  </a:moveTo>
                  <a:lnTo>
                    <a:pt x="101648" y="105842"/>
                  </a:lnTo>
                  <a:cubicBezTo>
                    <a:pt x="99339" y="109844"/>
                    <a:pt x="95238" y="112484"/>
                    <a:pt x="90639" y="112929"/>
                  </a:cubicBezTo>
                  <a:cubicBezTo>
                    <a:pt x="86039" y="113375"/>
                    <a:pt x="81508" y="111570"/>
                    <a:pt x="78474" y="108085"/>
                  </a:cubicBezTo>
                  <a:lnTo>
                    <a:pt x="77388" y="106656"/>
                  </a:lnTo>
                  <a:lnTo>
                    <a:pt x="76474" y="105027"/>
                  </a:lnTo>
                  <a:lnTo>
                    <a:pt x="57843" y="67380"/>
                  </a:lnTo>
                  <a:lnTo>
                    <a:pt x="15966" y="70094"/>
                  </a:lnTo>
                  <a:cubicBezTo>
                    <a:pt x="11284" y="70396"/>
                    <a:pt x="6752" y="68381"/>
                    <a:pt x="3838" y="64703"/>
                  </a:cubicBezTo>
                  <a:cubicBezTo>
                    <a:pt x="924" y="61026"/>
                    <a:pt x="0" y="56153"/>
                    <a:pt x="1364" y="51664"/>
                  </a:cubicBezTo>
                  <a:lnTo>
                    <a:pt x="1936" y="50135"/>
                  </a:lnTo>
                  <a:lnTo>
                    <a:pt x="2650" y="48706"/>
                  </a:lnTo>
                  <a:lnTo>
                    <a:pt x="30768" y="0"/>
                  </a:lnTo>
                  <a:cubicBezTo>
                    <a:pt x="53002" y="33484"/>
                    <a:pt x="89623" y="54637"/>
                    <a:pt x="129737" y="57164"/>
                  </a:cubicBez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40"/>
            <p:cNvSpPr/>
            <p:nvPr/>
          </p:nvSpPr>
          <p:spPr>
            <a:xfrm>
              <a:off x="8567737" y="1571625"/>
              <a:ext cx="200027" cy="200111"/>
            </a:xfrm>
            <a:custGeom>
              <a:rect b="b" l="l" r="r" t="t"/>
              <a:pathLst>
                <a:path extrusionOk="0" h="200111" w="200027">
                  <a:moveTo>
                    <a:pt x="100013" y="0"/>
                  </a:moveTo>
                  <a:lnTo>
                    <a:pt x="103442" y="57"/>
                  </a:lnTo>
                  <a:cubicBezTo>
                    <a:pt x="157312" y="1905"/>
                    <a:pt x="200027" y="46111"/>
                    <a:pt x="200026" y="100012"/>
                  </a:cubicBezTo>
                  <a:lnTo>
                    <a:pt x="199983" y="102770"/>
                  </a:lnTo>
                  <a:lnTo>
                    <a:pt x="199883" y="105513"/>
                  </a:lnTo>
                  <a:lnTo>
                    <a:pt x="199626" y="109014"/>
                  </a:lnTo>
                  <a:lnTo>
                    <a:pt x="199254" y="112471"/>
                  </a:lnTo>
                  <a:lnTo>
                    <a:pt x="198911" y="115014"/>
                  </a:lnTo>
                  <a:cubicBezTo>
                    <a:pt x="197971" y="121182"/>
                    <a:pt x="196455" y="127247"/>
                    <a:pt x="194382" y="133131"/>
                  </a:cubicBezTo>
                  <a:lnTo>
                    <a:pt x="192725" y="137531"/>
                  </a:lnTo>
                  <a:lnTo>
                    <a:pt x="190539" y="142504"/>
                  </a:lnTo>
                  <a:cubicBezTo>
                    <a:pt x="174026" y="177681"/>
                    <a:pt x="138632" y="200111"/>
                    <a:pt x="99772" y="200025"/>
                  </a:cubicBezTo>
                  <a:cubicBezTo>
                    <a:pt x="60911" y="199939"/>
                    <a:pt x="25617" y="177354"/>
                    <a:pt x="9259" y="142103"/>
                  </a:cubicBezTo>
                  <a:lnTo>
                    <a:pt x="7402" y="137860"/>
                  </a:lnTo>
                  <a:lnTo>
                    <a:pt x="6659" y="135960"/>
                  </a:lnTo>
                  <a:lnTo>
                    <a:pt x="5516" y="132859"/>
                  </a:lnTo>
                  <a:lnTo>
                    <a:pt x="4159" y="128659"/>
                  </a:lnTo>
                  <a:cubicBezTo>
                    <a:pt x="3674" y="127032"/>
                    <a:pt x="3231" y="125393"/>
                    <a:pt x="2830" y="123744"/>
                  </a:cubicBezTo>
                  <a:lnTo>
                    <a:pt x="1973" y="119872"/>
                  </a:lnTo>
                  <a:lnTo>
                    <a:pt x="1272" y="116000"/>
                  </a:lnTo>
                  <a:lnTo>
                    <a:pt x="987" y="114014"/>
                  </a:lnTo>
                  <a:lnTo>
                    <a:pt x="430" y="109399"/>
                  </a:lnTo>
                  <a:lnTo>
                    <a:pt x="87" y="104184"/>
                  </a:lnTo>
                  <a:lnTo>
                    <a:pt x="1" y="100012"/>
                  </a:lnTo>
                  <a:cubicBezTo>
                    <a:pt x="0" y="46111"/>
                    <a:pt x="42715" y="1905"/>
                    <a:pt x="96584" y="57"/>
                  </a:cubicBezTo>
                  <a:lnTo>
                    <a:pt x="100013" y="0"/>
                  </a:ln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3" name="Google Shape;1243;p40"/>
          <p:cNvSpPr txBox="1"/>
          <p:nvPr/>
        </p:nvSpPr>
        <p:spPr>
          <a:xfrm>
            <a:off x="6315075" y="1535906"/>
            <a:ext cx="15898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Hobby 计划（免费）</a:t>
            </a:r>
            <a:endParaRPr sz="1100"/>
          </a:p>
        </p:txBody>
      </p:sp>
      <p:sp>
        <p:nvSpPr>
          <p:cNvPr id="1244" name="Google Shape;1244;p40"/>
          <p:cNvSpPr txBox="1"/>
          <p:nvPr/>
        </p:nvSpPr>
        <p:spPr>
          <a:xfrm>
            <a:off x="6320076" y="1735574"/>
            <a:ext cx="88765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3A9E6A"/>
                </a:solidFill>
                <a:latin typeface="Arial"/>
                <a:ea typeface="Arial"/>
                <a:cs typeface="Arial"/>
                <a:sym typeface="Arial"/>
              </a:rPr>
              <a:t>FREE TIER LIMITS</a:t>
            </a:r>
            <a:endParaRPr sz="1100"/>
          </a:p>
        </p:txBody>
      </p:sp>
      <p:sp>
        <p:nvSpPr>
          <p:cNvPr id="1245" name="Google Shape;1245;p40"/>
          <p:cNvSpPr/>
          <p:nvPr/>
        </p:nvSpPr>
        <p:spPr>
          <a:xfrm>
            <a:off x="6329363" y="1928813"/>
            <a:ext cx="2057400" cy="7144"/>
          </a:xfrm>
          <a:custGeom>
            <a:rect b="b" l="l" r="r" t="t"/>
            <a:pathLst>
              <a:path extrusionOk="0" h="9525" w="2743200">
                <a:moveTo>
                  <a:pt x="0" y="0"/>
                </a:moveTo>
                <a:lnTo>
                  <a:pt x="2743200" y="0"/>
                </a:lnTo>
              </a:path>
            </a:pathLst>
          </a:custGeom>
          <a:noFill/>
          <a:ln cap="flat" cmpd="sng" w="95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6" name="Google Shape;1246;p40"/>
          <p:cNvSpPr txBox="1"/>
          <p:nvPr/>
        </p:nvSpPr>
        <p:spPr>
          <a:xfrm>
            <a:off x="6318647" y="2037755"/>
            <a:ext cx="39019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A9E6A"/>
                </a:solidFill>
                <a:latin typeface="Arial"/>
                <a:ea typeface="Arial"/>
                <a:cs typeface="Arial"/>
                <a:sym typeface="Arial"/>
              </a:rPr>
              <a:t>✓ 包含</a:t>
            </a:r>
            <a:endParaRPr sz="1100"/>
          </a:p>
        </p:txBody>
      </p:sp>
      <p:sp>
        <p:nvSpPr>
          <p:cNvPr id="1247" name="Google Shape;1247;p40"/>
          <p:cNvSpPr/>
          <p:nvPr/>
        </p:nvSpPr>
        <p:spPr>
          <a:xfrm>
            <a:off x="6379369" y="2278856"/>
            <a:ext cx="42863" cy="42863"/>
          </a:xfrm>
          <a:prstGeom prst="ellipse">
            <a:avLst/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40"/>
          <p:cNvSpPr txBox="1"/>
          <p:nvPr/>
        </p:nvSpPr>
        <p:spPr>
          <a:xfrm>
            <a:off x="6476524" y="2243852"/>
            <a:ext cx="71008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无限静态项目</a:t>
            </a:r>
            <a:endParaRPr sz="1100"/>
          </a:p>
        </p:txBody>
      </p:sp>
      <p:sp>
        <p:nvSpPr>
          <p:cNvPr id="1249" name="Google Shape;1249;p40"/>
          <p:cNvSpPr/>
          <p:nvPr/>
        </p:nvSpPr>
        <p:spPr>
          <a:xfrm>
            <a:off x="6379369" y="2478881"/>
            <a:ext cx="42863" cy="42863"/>
          </a:xfrm>
          <a:prstGeom prst="ellipse">
            <a:avLst/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40"/>
          <p:cNvSpPr txBox="1"/>
          <p:nvPr/>
        </p:nvSpPr>
        <p:spPr>
          <a:xfrm>
            <a:off x="6476524" y="2443877"/>
            <a:ext cx="819353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100GB 带宽 / 月</a:t>
            </a:r>
            <a:endParaRPr sz="1100"/>
          </a:p>
        </p:txBody>
      </p:sp>
      <p:sp>
        <p:nvSpPr>
          <p:cNvPr id="1251" name="Google Shape;1251;p40"/>
          <p:cNvSpPr/>
          <p:nvPr/>
        </p:nvSpPr>
        <p:spPr>
          <a:xfrm>
            <a:off x="6379369" y="2678906"/>
            <a:ext cx="42863" cy="42863"/>
          </a:xfrm>
          <a:prstGeom prst="ellipse">
            <a:avLst/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40"/>
          <p:cNvSpPr txBox="1"/>
          <p:nvPr/>
        </p:nvSpPr>
        <p:spPr>
          <a:xfrm>
            <a:off x="6476524" y="2643902"/>
            <a:ext cx="922865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自动 HTTPS + CDN</a:t>
            </a:r>
            <a:endParaRPr sz="1100"/>
          </a:p>
        </p:txBody>
      </p:sp>
      <p:sp>
        <p:nvSpPr>
          <p:cNvPr id="1253" name="Google Shape;1253;p40"/>
          <p:cNvSpPr/>
          <p:nvPr/>
        </p:nvSpPr>
        <p:spPr>
          <a:xfrm>
            <a:off x="6329363" y="2871788"/>
            <a:ext cx="2057400" cy="7144"/>
          </a:xfrm>
          <a:custGeom>
            <a:rect b="b" l="l" r="r" t="t"/>
            <a:pathLst>
              <a:path extrusionOk="0" h="9525" w="2743200">
                <a:moveTo>
                  <a:pt x="0" y="0"/>
                </a:moveTo>
                <a:lnTo>
                  <a:pt x="2743200" y="0"/>
                </a:lnTo>
              </a:path>
            </a:pathLst>
          </a:custGeom>
          <a:noFill/>
          <a:ln cap="flat" cmpd="sng" w="95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4" name="Google Shape;1254;p40"/>
          <p:cNvSpPr txBox="1"/>
          <p:nvPr/>
        </p:nvSpPr>
        <p:spPr>
          <a:xfrm>
            <a:off x="6318647" y="2952155"/>
            <a:ext cx="39019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D44545"/>
                </a:solidFill>
                <a:latin typeface="Arial"/>
                <a:ea typeface="Arial"/>
                <a:cs typeface="Arial"/>
                <a:sym typeface="Arial"/>
              </a:rPr>
              <a:t>⚠ 注意</a:t>
            </a:r>
            <a:endParaRPr sz="1100"/>
          </a:p>
        </p:txBody>
      </p:sp>
      <p:sp>
        <p:nvSpPr>
          <p:cNvPr id="1255" name="Google Shape;1255;p40"/>
          <p:cNvSpPr/>
          <p:nvPr/>
        </p:nvSpPr>
        <p:spPr>
          <a:xfrm>
            <a:off x="6379369" y="3193256"/>
            <a:ext cx="42863" cy="42863"/>
          </a:xfrm>
          <a:prstGeom prst="ellipse">
            <a:avLst/>
          </a:prstGeom>
          <a:solidFill>
            <a:srgbClr val="D4454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40"/>
          <p:cNvSpPr txBox="1"/>
          <p:nvPr/>
        </p:nvSpPr>
        <p:spPr>
          <a:xfrm>
            <a:off x="6476524" y="3158252"/>
            <a:ext cx="105513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仅限个人非商业用途</a:t>
            </a:r>
            <a:endParaRPr sz="1100"/>
          </a:p>
        </p:txBody>
      </p:sp>
      <p:sp>
        <p:nvSpPr>
          <p:cNvPr id="1257" name="Google Shape;1257;p40"/>
          <p:cNvSpPr/>
          <p:nvPr/>
        </p:nvSpPr>
        <p:spPr>
          <a:xfrm>
            <a:off x="6379369" y="3393281"/>
            <a:ext cx="42863" cy="42863"/>
          </a:xfrm>
          <a:prstGeom prst="ellipse">
            <a:avLst/>
          </a:prstGeom>
          <a:solidFill>
            <a:srgbClr val="D4454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40"/>
          <p:cNvSpPr txBox="1"/>
          <p:nvPr/>
        </p:nvSpPr>
        <p:spPr>
          <a:xfrm>
            <a:off x="6476524" y="3358277"/>
            <a:ext cx="123340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Serverless 函数有配额</a:t>
            </a:r>
            <a:endParaRPr sz="1100"/>
          </a:p>
        </p:txBody>
      </p:sp>
      <p:sp>
        <p:nvSpPr>
          <p:cNvPr id="1259" name="Google Shape;1259;p40"/>
          <p:cNvSpPr/>
          <p:nvPr/>
        </p:nvSpPr>
        <p:spPr>
          <a:xfrm>
            <a:off x="6379369" y="3593306"/>
            <a:ext cx="42863" cy="42863"/>
          </a:xfrm>
          <a:prstGeom prst="ellipse">
            <a:avLst/>
          </a:prstGeom>
          <a:solidFill>
            <a:srgbClr val="D4454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40"/>
          <p:cNvSpPr txBox="1"/>
          <p:nvPr/>
        </p:nvSpPr>
        <p:spPr>
          <a:xfrm>
            <a:off x="6476524" y="3558302"/>
            <a:ext cx="104938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团队协作需升级 Pro</a:t>
            </a:r>
            <a:endParaRPr sz="1100"/>
          </a:p>
        </p:txBody>
      </p:sp>
      <p:sp>
        <p:nvSpPr>
          <p:cNvPr id="1261" name="Google Shape;1261;p40"/>
          <p:cNvSpPr/>
          <p:nvPr/>
        </p:nvSpPr>
        <p:spPr>
          <a:xfrm>
            <a:off x="571500" y="4672013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95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2" name="Google Shape;1262;p40"/>
          <p:cNvSpPr txBox="1"/>
          <p:nvPr/>
        </p:nvSpPr>
        <p:spPr>
          <a:xfrm>
            <a:off x="3236262" y="4760595"/>
            <a:ext cx="267147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学习阶段免费够用 · 正式商用项目再考虑升级</a:t>
            </a:r>
            <a:endParaRPr sz="1100"/>
          </a:p>
        </p:txBody>
      </p:sp>
      <p:sp>
        <p:nvSpPr>
          <p:cNvPr id="1263" name="Google Shape;1263;p40"/>
          <p:cNvSpPr txBox="1"/>
          <p:nvPr/>
        </p:nvSpPr>
        <p:spPr>
          <a:xfrm>
            <a:off x="8348829" y="4958477"/>
            <a:ext cx="376547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16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1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1"/>
          <p:cNvSpPr/>
          <p:nvPr/>
        </p:nvSpPr>
        <p:spPr>
          <a:xfrm>
            <a:off x="6858000" y="-714375"/>
            <a:ext cx="2857500" cy="2857500"/>
          </a:xfrm>
          <a:prstGeom prst="ellipse">
            <a:avLst/>
          </a:prstGeom>
          <a:solidFill>
            <a:srgbClr val="F0EDE8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41"/>
          <p:cNvSpPr/>
          <p:nvPr/>
        </p:nvSpPr>
        <p:spPr>
          <a:xfrm>
            <a:off x="7429500" y="-142875"/>
            <a:ext cx="1714500" cy="1714500"/>
          </a:xfrm>
          <a:prstGeom prst="ellipse">
            <a:avLst/>
          </a:prstGeom>
          <a:solidFill>
            <a:srgbClr val="E8DDD5">
              <a:alpha val="4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41"/>
          <p:cNvSpPr/>
          <p:nvPr/>
        </p:nvSpPr>
        <p:spPr>
          <a:xfrm>
            <a:off x="-571500" y="3429000"/>
            <a:ext cx="2571750" cy="2571750"/>
          </a:xfrm>
          <a:prstGeom prst="ellipse">
            <a:avLst/>
          </a:prstGeom>
          <a:solidFill>
            <a:srgbClr val="F0EDE8">
              <a:alpha val="4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3" name="Google Shape;1273;p41"/>
          <p:cNvGrpSpPr/>
          <p:nvPr/>
        </p:nvGrpSpPr>
        <p:grpSpPr>
          <a:xfrm>
            <a:off x="4057650" y="1057275"/>
            <a:ext cx="1028700" cy="1028700"/>
            <a:chOff x="5410200" y="1409700"/>
            <a:chExt cx="1371600" cy="1371600"/>
          </a:xfrm>
        </p:grpSpPr>
        <p:sp>
          <p:nvSpPr>
            <p:cNvPr id="1274" name="Google Shape;1274;p41"/>
            <p:cNvSpPr/>
            <p:nvPr/>
          </p:nvSpPr>
          <p:spPr>
            <a:xfrm>
              <a:off x="5410200" y="1409700"/>
              <a:ext cx="1371600" cy="1371600"/>
            </a:xfrm>
            <a:prstGeom prst="ellipse">
              <a:avLst/>
            </a:prstGeom>
            <a:solidFill>
              <a:srgbClr val="C96133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41"/>
            <p:cNvSpPr/>
            <p:nvPr/>
          </p:nvSpPr>
          <p:spPr>
            <a:xfrm>
              <a:off x="5543550" y="1543050"/>
              <a:ext cx="1104900" cy="1104900"/>
            </a:xfrm>
            <a:prstGeom prst="ellipse">
              <a:avLst/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41"/>
            <p:cNvSpPr/>
            <p:nvPr/>
          </p:nvSpPr>
          <p:spPr>
            <a:xfrm>
              <a:off x="5972173" y="1908732"/>
              <a:ext cx="309574" cy="373536"/>
            </a:xfrm>
            <a:custGeom>
              <a:rect b="b" l="l" r="r" t="t"/>
              <a:pathLst>
                <a:path extrusionOk="0" h="373536" w="309574">
                  <a:moveTo>
                    <a:pt x="2" y="21668"/>
                  </a:moveTo>
                  <a:lnTo>
                    <a:pt x="2" y="351868"/>
                  </a:lnTo>
                  <a:cubicBezTo>
                    <a:pt x="0" y="359345"/>
                    <a:pt x="4042" y="366239"/>
                    <a:pt x="10569" y="369888"/>
                  </a:cubicBezTo>
                  <a:cubicBezTo>
                    <a:pt x="17096" y="373536"/>
                    <a:pt x="25085" y="373369"/>
                    <a:pt x="31454" y="369451"/>
                  </a:cubicBezTo>
                  <a:lnTo>
                    <a:pt x="299741" y="204351"/>
                  </a:lnTo>
                  <a:cubicBezTo>
                    <a:pt x="305851" y="200597"/>
                    <a:pt x="309574" y="193939"/>
                    <a:pt x="309574" y="186768"/>
                  </a:cubicBezTo>
                  <a:cubicBezTo>
                    <a:pt x="309574" y="179597"/>
                    <a:pt x="305851" y="172939"/>
                    <a:pt x="299741" y="169185"/>
                  </a:cubicBezTo>
                  <a:lnTo>
                    <a:pt x="31454" y="4085"/>
                  </a:lnTo>
                  <a:cubicBezTo>
                    <a:pt x="25085" y="167"/>
                    <a:pt x="17096" y="0"/>
                    <a:pt x="10569" y="3649"/>
                  </a:cubicBezTo>
                  <a:cubicBezTo>
                    <a:pt x="4042" y="7297"/>
                    <a:pt x="0" y="14191"/>
                    <a:pt x="2" y="216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7" name="Google Shape;1277;p41"/>
          <p:cNvGrpSpPr/>
          <p:nvPr/>
        </p:nvGrpSpPr>
        <p:grpSpPr>
          <a:xfrm>
            <a:off x="3416213" y="2108835"/>
            <a:ext cx="2311575" cy="791528"/>
            <a:chOff x="4554950" y="2811780"/>
            <a:chExt cx="3082100" cy="1055370"/>
          </a:xfrm>
        </p:grpSpPr>
        <p:sp>
          <p:nvSpPr>
            <p:cNvPr id="1278" name="Google Shape;1278;p41"/>
            <p:cNvSpPr txBox="1"/>
            <p:nvPr/>
          </p:nvSpPr>
          <p:spPr>
            <a:xfrm>
              <a:off x="4946142" y="2811780"/>
              <a:ext cx="2299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7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现在先看</a:t>
              </a:r>
              <a:endParaRPr sz="1100"/>
            </a:p>
          </p:txBody>
        </p:sp>
        <p:sp>
          <p:nvSpPr>
            <p:cNvPr id="1279" name="Google Shape;1279;p41"/>
            <p:cNvSpPr txBox="1"/>
            <p:nvPr/>
          </p:nvSpPr>
          <p:spPr>
            <a:xfrm>
              <a:off x="4554950" y="3501390"/>
              <a:ext cx="30821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课后照提示词自己做一遍</a:t>
              </a:r>
              <a:endParaRPr sz="1100"/>
            </a:p>
          </p:txBody>
        </p:sp>
      </p:grpSp>
      <p:sp>
        <p:nvSpPr>
          <p:cNvPr id="1280" name="Google Shape;1280;p41"/>
          <p:cNvSpPr/>
          <p:nvPr/>
        </p:nvSpPr>
        <p:spPr>
          <a:xfrm>
            <a:off x="3143250" y="2957513"/>
            <a:ext cx="2857500" cy="7144"/>
          </a:xfrm>
          <a:custGeom>
            <a:rect b="b" l="l" r="r" t="t"/>
            <a:pathLst>
              <a:path extrusionOk="0" h="9525" w="3810000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281" name="Google Shape;1281;p41"/>
          <p:cNvGrpSpPr/>
          <p:nvPr/>
        </p:nvGrpSpPr>
        <p:grpSpPr>
          <a:xfrm>
            <a:off x="3186113" y="3171825"/>
            <a:ext cx="3629025" cy="1078706"/>
            <a:chOff x="4248150" y="4229100"/>
            <a:chExt cx="4838700" cy="1438275"/>
          </a:xfrm>
        </p:grpSpPr>
        <p:grpSp>
          <p:nvGrpSpPr>
            <p:cNvPr id="1282" name="Google Shape;1282;p41"/>
            <p:cNvGrpSpPr/>
            <p:nvPr/>
          </p:nvGrpSpPr>
          <p:grpSpPr>
            <a:xfrm>
              <a:off x="4248150" y="4229100"/>
              <a:ext cx="3524250" cy="371475"/>
              <a:chOff x="4248150" y="4229100"/>
              <a:chExt cx="3524250" cy="371475"/>
            </a:xfrm>
          </p:grpSpPr>
          <p:sp>
            <p:nvSpPr>
              <p:cNvPr id="1283" name="Google Shape;1283;p41"/>
              <p:cNvSpPr/>
              <p:nvPr/>
            </p:nvSpPr>
            <p:spPr>
              <a:xfrm>
                <a:off x="4248150" y="4229100"/>
                <a:ext cx="342900" cy="342900"/>
              </a:xfrm>
              <a:prstGeom prst="ellipse">
                <a:avLst/>
              </a:prstGeom>
              <a:solidFill>
                <a:srgbClr val="3A9E6A">
                  <a:alpha val="14901"/>
                </a:srgbClr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41"/>
              <p:cNvSpPr/>
              <p:nvPr/>
            </p:nvSpPr>
            <p:spPr>
              <a:xfrm>
                <a:off x="4305300" y="4286250"/>
                <a:ext cx="228600" cy="228600"/>
              </a:xfrm>
              <a:prstGeom prst="ellipse">
                <a:avLst/>
              </a:prstGeom>
              <a:solidFill>
                <a:srgbClr val="3A9E6A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41"/>
              <p:cNvSpPr txBox="1"/>
              <p:nvPr/>
            </p:nvSpPr>
            <p:spPr>
              <a:xfrm>
                <a:off x="4384790" y="4352449"/>
                <a:ext cx="6962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7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100"/>
              </a:p>
            </p:txBody>
          </p:sp>
          <p:sp>
            <p:nvSpPr>
              <p:cNvPr id="1286" name="Google Shape;1286;p41"/>
              <p:cNvSpPr txBox="1"/>
              <p:nvPr/>
            </p:nvSpPr>
            <p:spPr>
              <a:xfrm>
                <a:off x="4667250" y="4295775"/>
                <a:ext cx="31051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100" u="none" cap="none" strike="noStrike">
                    <a:solidFill>
                      <a:srgbClr val="1E1E1E"/>
                    </a:solidFill>
                    <a:latin typeface="Arial"/>
                    <a:ea typeface="Arial"/>
                    <a:cs typeface="Arial"/>
                    <a:sym typeface="Arial"/>
                  </a:rPr>
                  <a:t>上课专心看演示，不用同步操作</a:t>
                </a:r>
                <a:endParaRPr sz="1100"/>
              </a:p>
            </p:txBody>
          </p:sp>
        </p:grpSp>
        <p:grpSp>
          <p:nvGrpSpPr>
            <p:cNvPr id="1287" name="Google Shape;1287;p41"/>
            <p:cNvGrpSpPr/>
            <p:nvPr/>
          </p:nvGrpSpPr>
          <p:grpSpPr>
            <a:xfrm>
              <a:off x="4248150" y="4762500"/>
              <a:ext cx="4838700" cy="371475"/>
              <a:chOff x="4248150" y="4762500"/>
              <a:chExt cx="4838700" cy="371475"/>
            </a:xfrm>
          </p:grpSpPr>
          <p:sp>
            <p:nvSpPr>
              <p:cNvPr id="1288" name="Google Shape;1288;p41"/>
              <p:cNvSpPr/>
              <p:nvPr/>
            </p:nvSpPr>
            <p:spPr>
              <a:xfrm>
                <a:off x="4248150" y="4762500"/>
                <a:ext cx="342900" cy="342900"/>
              </a:xfrm>
              <a:prstGeom prst="ellipse">
                <a:avLst/>
              </a:prstGeom>
              <a:solidFill>
                <a:srgbClr val="3A9E6A">
                  <a:alpha val="14901"/>
                </a:srgbClr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41"/>
              <p:cNvSpPr/>
              <p:nvPr/>
            </p:nvSpPr>
            <p:spPr>
              <a:xfrm>
                <a:off x="4305300" y="4819650"/>
                <a:ext cx="228600" cy="228600"/>
              </a:xfrm>
              <a:prstGeom prst="ellipse">
                <a:avLst/>
              </a:prstGeom>
              <a:solidFill>
                <a:srgbClr val="3A9E6A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41"/>
              <p:cNvSpPr txBox="1"/>
              <p:nvPr/>
            </p:nvSpPr>
            <p:spPr>
              <a:xfrm>
                <a:off x="4366100" y="4885849"/>
                <a:ext cx="1070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7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100"/>
              </a:p>
            </p:txBody>
          </p:sp>
          <p:sp>
            <p:nvSpPr>
              <p:cNvPr id="1291" name="Google Shape;1291;p41"/>
              <p:cNvSpPr txBox="1"/>
              <p:nvPr/>
            </p:nvSpPr>
            <p:spPr>
              <a:xfrm>
                <a:off x="4667250" y="4829175"/>
                <a:ext cx="44196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100" u="none" cap="none" strike="noStrike">
                    <a:solidFill>
                      <a:srgbClr val="1E1E1E"/>
                    </a:solidFill>
                    <a:latin typeface="Arial"/>
                    <a:ea typeface="Arial"/>
                    <a:cs typeface="Arial"/>
                    <a:sym typeface="Arial"/>
                  </a:rPr>
                  <a:t>课后按学员专区「跟我做提示词」自己跑一遍</a:t>
                </a:r>
                <a:endParaRPr sz="1100"/>
              </a:p>
            </p:txBody>
          </p:sp>
        </p:grpSp>
        <p:grpSp>
          <p:nvGrpSpPr>
            <p:cNvPr id="1292" name="Google Shape;1292;p41"/>
            <p:cNvGrpSpPr/>
            <p:nvPr/>
          </p:nvGrpSpPr>
          <p:grpSpPr>
            <a:xfrm>
              <a:off x="4248150" y="5295900"/>
              <a:ext cx="3086100" cy="371475"/>
              <a:chOff x="4248150" y="5295900"/>
              <a:chExt cx="3086100" cy="371475"/>
            </a:xfrm>
          </p:grpSpPr>
          <p:sp>
            <p:nvSpPr>
              <p:cNvPr id="1293" name="Google Shape;1293;p41"/>
              <p:cNvSpPr/>
              <p:nvPr/>
            </p:nvSpPr>
            <p:spPr>
              <a:xfrm>
                <a:off x="4248150" y="5295900"/>
                <a:ext cx="342900" cy="342900"/>
              </a:xfrm>
              <a:prstGeom prst="ellipse">
                <a:avLst/>
              </a:prstGeom>
              <a:solidFill>
                <a:srgbClr val="3A9E6A">
                  <a:alpha val="14901"/>
                </a:srgbClr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41"/>
              <p:cNvSpPr/>
              <p:nvPr/>
            </p:nvSpPr>
            <p:spPr>
              <a:xfrm>
                <a:off x="4305300" y="5353050"/>
                <a:ext cx="228600" cy="228600"/>
              </a:xfrm>
              <a:prstGeom prst="ellipse">
                <a:avLst/>
              </a:prstGeom>
              <a:solidFill>
                <a:srgbClr val="3A9E6A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41"/>
              <p:cNvSpPr txBox="1"/>
              <p:nvPr/>
            </p:nvSpPr>
            <p:spPr>
              <a:xfrm>
                <a:off x="4366100" y="5419249"/>
                <a:ext cx="1070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7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100"/>
              </a:p>
            </p:txBody>
          </p:sp>
          <p:sp>
            <p:nvSpPr>
              <p:cNvPr id="1296" name="Google Shape;1296;p41"/>
              <p:cNvSpPr txBox="1"/>
              <p:nvPr/>
            </p:nvSpPr>
            <p:spPr>
              <a:xfrm>
                <a:off x="4667250" y="5362575"/>
                <a:ext cx="2667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100" u="none" cap="none" strike="noStrike">
                    <a:solidFill>
                      <a:srgbClr val="1E1E1E"/>
                    </a:solidFill>
                    <a:latin typeface="Arial"/>
                    <a:ea typeface="Arial"/>
                    <a:cs typeface="Arial"/>
                    <a:sym typeface="Arial"/>
                  </a:rPr>
                  <a:t>有问题随时举手，不要憋着</a:t>
                </a:r>
                <a:endParaRPr sz="1100"/>
              </a:p>
            </p:txBody>
          </p:sp>
        </p:grpSp>
      </p:grpSp>
      <p:sp>
        <p:nvSpPr>
          <p:cNvPr id="1297" name="Google Shape;1297;p41"/>
          <p:cNvSpPr/>
          <p:nvPr/>
        </p:nvSpPr>
        <p:spPr>
          <a:xfrm>
            <a:off x="2143125" y="4443413"/>
            <a:ext cx="4857750" cy="314325"/>
          </a:xfrm>
          <a:prstGeom prst="roundRect">
            <a:avLst>
              <a:gd fmla="val 50000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41"/>
          <p:cNvSpPr txBox="1"/>
          <p:nvPr/>
        </p:nvSpPr>
        <p:spPr>
          <a:xfrm>
            <a:off x="2925065" y="4539139"/>
            <a:ext cx="329386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⏰ 课后约 30 分钟 · 提示词一步步带你做出自己的网站</a:t>
            </a:r>
            <a:endParaRPr sz="1100"/>
          </a:p>
        </p:txBody>
      </p:sp>
      <p:sp>
        <p:nvSpPr>
          <p:cNvPr id="1299" name="Google Shape;1299;p41"/>
          <p:cNvSpPr txBox="1"/>
          <p:nvPr/>
        </p:nvSpPr>
        <p:spPr>
          <a:xfrm>
            <a:off x="8348829" y="4915614"/>
            <a:ext cx="376547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17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2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2"/>
          <p:cNvSpPr/>
          <p:nvPr/>
        </p:nvSpPr>
        <p:spPr>
          <a:xfrm>
            <a:off x="6858000" y="-785812"/>
            <a:ext cx="2857500" cy="2857500"/>
          </a:xfrm>
          <a:prstGeom prst="ellipse">
            <a:avLst/>
          </a:prstGeom>
          <a:solidFill>
            <a:srgbClr val="F0EDE8">
              <a:alpha val="3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2"/>
          <p:cNvSpPr/>
          <p:nvPr/>
        </p:nvSpPr>
        <p:spPr>
          <a:xfrm>
            <a:off x="-428625" y="3500438"/>
            <a:ext cx="2286000" cy="2286000"/>
          </a:xfrm>
          <a:prstGeom prst="ellipse">
            <a:avLst/>
          </a:prstGeom>
          <a:solidFill>
            <a:srgbClr val="EBF0FA">
              <a:alpha val="2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42"/>
          <p:cNvSpPr/>
          <p:nvPr/>
        </p:nvSpPr>
        <p:spPr>
          <a:xfrm>
            <a:off x="3943350" y="214313"/>
            <a:ext cx="1257300" cy="242888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42"/>
          <p:cNvSpPr txBox="1"/>
          <p:nvPr/>
        </p:nvSpPr>
        <p:spPr>
          <a:xfrm>
            <a:off x="4111650" y="280392"/>
            <a:ext cx="9207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☆ 彩蛋 BONUS ☆</a:t>
            </a:r>
            <a:endParaRPr sz="1100"/>
          </a:p>
        </p:txBody>
      </p:sp>
      <p:sp>
        <p:nvSpPr>
          <p:cNvPr id="1310" name="Google Shape;1310;p42"/>
          <p:cNvSpPr txBox="1"/>
          <p:nvPr/>
        </p:nvSpPr>
        <p:spPr>
          <a:xfrm>
            <a:off x="2791172" y="526494"/>
            <a:ext cx="3561656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Claude Design 能做更多</a:t>
            </a:r>
            <a:endParaRPr sz="1100"/>
          </a:p>
        </p:txBody>
      </p:sp>
      <p:sp>
        <p:nvSpPr>
          <p:cNvPr id="1311" name="Google Shape;1311;p42"/>
          <p:cNvSpPr txBox="1"/>
          <p:nvPr/>
        </p:nvSpPr>
        <p:spPr>
          <a:xfrm>
            <a:off x="2659976" y="864394"/>
            <a:ext cx="38240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你学会了今天的流程，加这些只是换个 brief 的问题</a:t>
            </a:r>
            <a:endParaRPr sz="1100"/>
          </a:p>
        </p:txBody>
      </p:sp>
      <p:sp>
        <p:nvSpPr>
          <p:cNvPr id="1312" name="Google Shape;1312;p42"/>
          <p:cNvSpPr/>
          <p:nvPr/>
        </p:nvSpPr>
        <p:spPr>
          <a:xfrm>
            <a:off x="571500" y="1128713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3" name="Google Shape;1313;p42"/>
          <p:cNvSpPr/>
          <p:nvPr/>
        </p:nvSpPr>
        <p:spPr>
          <a:xfrm>
            <a:off x="571500" y="1243013"/>
            <a:ext cx="2543175" cy="2843213"/>
          </a:xfrm>
          <a:prstGeom prst="roundRect">
            <a:avLst>
              <a:gd fmla="val 3933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42"/>
          <p:cNvSpPr/>
          <p:nvPr/>
        </p:nvSpPr>
        <p:spPr>
          <a:xfrm>
            <a:off x="571500" y="1243013"/>
            <a:ext cx="2543175" cy="35719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42"/>
          <p:cNvSpPr txBox="1"/>
          <p:nvPr/>
        </p:nvSpPr>
        <p:spPr>
          <a:xfrm>
            <a:off x="2521194" y="1417320"/>
            <a:ext cx="490611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1316" name="Google Shape;1316;p42"/>
          <p:cNvSpPr/>
          <p:nvPr/>
        </p:nvSpPr>
        <p:spPr>
          <a:xfrm>
            <a:off x="757238" y="1414463"/>
            <a:ext cx="400050" cy="400050"/>
          </a:xfrm>
          <a:prstGeom prst="roundRect">
            <a:avLst>
              <a:gd fmla="val 25000" name="adj"/>
            </a:avLst>
          </a:prstGeom>
          <a:solidFill>
            <a:srgbClr val="C96133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42"/>
          <p:cNvSpPr/>
          <p:nvPr/>
        </p:nvSpPr>
        <p:spPr>
          <a:xfrm>
            <a:off x="860822" y="1518047"/>
            <a:ext cx="192881" cy="192881"/>
          </a:xfrm>
          <a:custGeom>
            <a:rect b="b" l="l" r="r" t="t"/>
            <a:pathLst>
              <a:path extrusionOk="0" h="257175" w="257175">
                <a:moveTo>
                  <a:pt x="128588" y="28575"/>
                </a:moveTo>
                <a:cubicBezTo>
                  <a:pt x="136478" y="28575"/>
                  <a:pt x="142875" y="34972"/>
                  <a:pt x="142875" y="42862"/>
                </a:cubicBezTo>
                <a:cubicBezTo>
                  <a:pt x="142875" y="50753"/>
                  <a:pt x="136478" y="57150"/>
                  <a:pt x="128588" y="57150"/>
                </a:cubicBezTo>
                <a:lnTo>
                  <a:pt x="42862" y="57150"/>
                </a:lnTo>
                <a:cubicBezTo>
                  <a:pt x="34972" y="57150"/>
                  <a:pt x="28575" y="63547"/>
                  <a:pt x="28575" y="71438"/>
                </a:cubicBezTo>
                <a:lnTo>
                  <a:pt x="28575" y="214312"/>
                </a:lnTo>
                <a:cubicBezTo>
                  <a:pt x="28575" y="222203"/>
                  <a:pt x="34972" y="228600"/>
                  <a:pt x="42862" y="228600"/>
                </a:cubicBezTo>
                <a:lnTo>
                  <a:pt x="185738" y="228600"/>
                </a:lnTo>
                <a:cubicBezTo>
                  <a:pt x="193628" y="228600"/>
                  <a:pt x="200025" y="222203"/>
                  <a:pt x="200025" y="214312"/>
                </a:cubicBezTo>
                <a:lnTo>
                  <a:pt x="200025" y="128588"/>
                </a:lnTo>
                <a:cubicBezTo>
                  <a:pt x="200025" y="120697"/>
                  <a:pt x="206422" y="114300"/>
                  <a:pt x="214312" y="114300"/>
                </a:cubicBezTo>
                <a:cubicBezTo>
                  <a:pt x="222203" y="114300"/>
                  <a:pt x="228600" y="120697"/>
                  <a:pt x="228600" y="128588"/>
                </a:cubicBezTo>
                <a:lnTo>
                  <a:pt x="228600" y="214312"/>
                </a:lnTo>
                <a:cubicBezTo>
                  <a:pt x="228600" y="237985"/>
                  <a:pt x="209410" y="257175"/>
                  <a:pt x="185738" y="257175"/>
                </a:cubicBezTo>
                <a:lnTo>
                  <a:pt x="42862" y="257175"/>
                </a:lnTo>
                <a:cubicBezTo>
                  <a:pt x="19190" y="257175"/>
                  <a:pt x="0" y="237985"/>
                  <a:pt x="0" y="214312"/>
                </a:cubicBezTo>
                <a:lnTo>
                  <a:pt x="0" y="71438"/>
                </a:lnTo>
                <a:cubicBezTo>
                  <a:pt x="0" y="47765"/>
                  <a:pt x="19190" y="28575"/>
                  <a:pt x="42862" y="28575"/>
                </a:cubicBezTo>
                <a:close/>
                <a:moveTo>
                  <a:pt x="171450" y="0"/>
                </a:moveTo>
                <a:lnTo>
                  <a:pt x="242888" y="0"/>
                </a:lnTo>
                <a:lnTo>
                  <a:pt x="243959" y="43"/>
                </a:lnTo>
                <a:lnTo>
                  <a:pt x="245759" y="286"/>
                </a:lnTo>
                <a:lnTo>
                  <a:pt x="247345" y="714"/>
                </a:lnTo>
                <a:lnTo>
                  <a:pt x="248931" y="1343"/>
                </a:lnTo>
                <a:lnTo>
                  <a:pt x="250331" y="2086"/>
                </a:lnTo>
                <a:lnTo>
                  <a:pt x="251703" y="3043"/>
                </a:lnTo>
                <a:lnTo>
                  <a:pt x="252989" y="4186"/>
                </a:lnTo>
                <a:cubicBezTo>
                  <a:pt x="253503" y="4691"/>
                  <a:pt x="253965" y="5224"/>
                  <a:pt x="254375" y="5786"/>
                </a:cubicBezTo>
                <a:lnTo>
                  <a:pt x="255389" y="7358"/>
                </a:lnTo>
                <a:lnTo>
                  <a:pt x="256161" y="8987"/>
                </a:lnTo>
                <a:lnTo>
                  <a:pt x="256661" y="10487"/>
                </a:lnTo>
                <a:lnTo>
                  <a:pt x="257089" y="12602"/>
                </a:lnTo>
                <a:lnTo>
                  <a:pt x="257175" y="14288"/>
                </a:lnTo>
                <a:lnTo>
                  <a:pt x="257175" y="85725"/>
                </a:lnTo>
                <a:cubicBezTo>
                  <a:pt x="257175" y="93616"/>
                  <a:pt x="250778" y="100012"/>
                  <a:pt x="242888" y="100012"/>
                </a:cubicBezTo>
                <a:cubicBezTo>
                  <a:pt x="234997" y="100012"/>
                  <a:pt x="228600" y="93616"/>
                  <a:pt x="228600" y="85725"/>
                </a:cubicBezTo>
                <a:lnTo>
                  <a:pt x="228600" y="48778"/>
                </a:lnTo>
                <a:lnTo>
                  <a:pt x="124401" y="152976"/>
                </a:lnTo>
                <a:cubicBezTo>
                  <a:pt x="118795" y="158391"/>
                  <a:pt x="109884" y="158313"/>
                  <a:pt x="104373" y="152802"/>
                </a:cubicBezTo>
                <a:cubicBezTo>
                  <a:pt x="98862" y="147291"/>
                  <a:pt x="98784" y="138380"/>
                  <a:pt x="104199" y="132774"/>
                </a:cubicBezTo>
                <a:lnTo>
                  <a:pt x="208369" y="28575"/>
                </a:lnTo>
                <a:lnTo>
                  <a:pt x="171450" y="28575"/>
                </a:lnTo>
                <a:cubicBezTo>
                  <a:pt x="163559" y="28575"/>
                  <a:pt x="157162" y="22178"/>
                  <a:pt x="157162" y="14288"/>
                </a:cubicBezTo>
                <a:cubicBezTo>
                  <a:pt x="157162" y="6397"/>
                  <a:pt x="163559" y="0"/>
                  <a:pt x="171450" y="0"/>
                </a:cubicBezTo>
              </a:path>
            </a:pathLst>
          </a:cu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42"/>
          <p:cNvSpPr txBox="1"/>
          <p:nvPr/>
        </p:nvSpPr>
        <p:spPr>
          <a:xfrm>
            <a:off x="741521" y="1909524"/>
            <a:ext cx="970813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PPT 下载区</a:t>
            </a:r>
            <a:endParaRPr sz="1100"/>
          </a:p>
        </p:txBody>
      </p:sp>
      <p:sp>
        <p:nvSpPr>
          <p:cNvPr id="1319" name="Google Shape;1319;p42"/>
          <p:cNvSpPr txBox="1"/>
          <p:nvPr/>
        </p:nvSpPr>
        <p:spPr>
          <a:xfrm>
            <a:off x="747951" y="2121337"/>
            <a:ext cx="1207247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PDF / SLIDE DOWNLOAD</a:t>
            </a:r>
            <a:endParaRPr sz="1100"/>
          </a:p>
        </p:txBody>
      </p:sp>
      <p:sp>
        <p:nvSpPr>
          <p:cNvPr id="1320" name="Google Shape;1320;p42"/>
          <p:cNvSpPr/>
          <p:nvPr/>
        </p:nvSpPr>
        <p:spPr>
          <a:xfrm>
            <a:off x="757238" y="2314575"/>
            <a:ext cx="2171700" cy="7144"/>
          </a:xfrm>
          <a:custGeom>
            <a:rect b="b" l="l" r="r" t="t"/>
            <a:pathLst>
              <a:path extrusionOk="0" h="9525" w="2895600">
                <a:moveTo>
                  <a:pt x="0" y="0"/>
                </a:moveTo>
                <a:lnTo>
                  <a:pt x="2895600" y="0"/>
                </a:lnTo>
              </a:path>
            </a:pathLst>
          </a:custGeom>
          <a:noFill/>
          <a:ln cap="flat" cmpd="sng" w="95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1" name="Google Shape;1321;p42"/>
          <p:cNvSpPr txBox="1"/>
          <p:nvPr/>
        </p:nvSpPr>
        <p:spPr>
          <a:xfrm>
            <a:off x="745808" y="2417445"/>
            <a:ext cx="12650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课程幻灯片封面卡片</a:t>
            </a:r>
            <a:endParaRPr sz="1100"/>
          </a:p>
        </p:txBody>
      </p:sp>
      <p:sp>
        <p:nvSpPr>
          <p:cNvPr id="1322" name="Google Shape;1322;p42"/>
          <p:cNvSpPr txBox="1"/>
          <p:nvPr/>
        </p:nvSpPr>
        <p:spPr>
          <a:xfrm>
            <a:off x="746522" y="2580680"/>
            <a:ext cx="16727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每节 PPT 封面预览 + 一键下载</a:t>
            </a:r>
            <a:endParaRPr sz="1100"/>
          </a:p>
        </p:txBody>
      </p:sp>
      <p:sp>
        <p:nvSpPr>
          <p:cNvPr id="1323" name="Google Shape;1323;p42"/>
          <p:cNvSpPr txBox="1"/>
          <p:nvPr/>
        </p:nvSpPr>
        <p:spPr>
          <a:xfrm>
            <a:off x="746522" y="2737842"/>
            <a:ext cx="17466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访客在页面就能下载，不用问你</a:t>
            </a:r>
            <a:endParaRPr sz="1100"/>
          </a:p>
        </p:txBody>
      </p:sp>
      <p:sp>
        <p:nvSpPr>
          <p:cNvPr id="1324" name="Google Shape;1324;p42"/>
          <p:cNvSpPr/>
          <p:nvPr/>
        </p:nvSpPr>
        <p:spPr>
          <a:xfrm>
            <a:off x="757238" y="3014663"/>
            <a:ext cx="1200150" cy="200025"/>
          </a:xfrm>
          <a:prstGeom prst="roundRect">
            <a:avLst>
              <a:gd fmla="val 50000" name="adj"/>
            </a:avLst>
          </a:prstGeom>
          <a:solidFill>
            <a:srgbClr val="C96133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42"/>
          <p:cNvSpPr txBox="1"/>
          <p:nvPr/>
        </p:nvSpPr>
        <p:spPr>
          <a:xfrm>
            <a:off x="891059" y="3064312"/>
            <a:ext cx="932507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纯静态 · 无需后端</a:t>
            </a:r>
            <a:endParaRPr sz="1100"/>
          </a:p>
        </p:txBody>
      </p:sp>
      <p:sp>
        <p:nvSpPr>
          <p:cNvPr id="1326" name="Google Shape;1326;p42"/>
          <p:cNvSpPr/>
          <p:nvPr/>
        </p:nvSpPr>
        <p:spPr>
          <a:xfrm>
            <a:off x="757238" y="3328988"/>
            <a:ext cx="2185988" cy="600075"/>
          </a:xfrm>
          <a:prstGeom prst="roundRect">
            <a:avLst>
              <a:gd fmla="val 9524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42"/>
          <p:cNvSpPr/>
          <p:nvPr/>
        </p:nvSpPr>
        <p:spPr>
          <a:xfrm>
            <a:off x="857250" y="3414713"/>
            <a:ext cx="571500" cy="414338"/>
          </a:xfrm>
          <a:prstGeom prst="roundRect">
            <a:avLst>
              <a:gd fmla="val 10345" name="adj"/>
            </a:avLst>
          </a:prstGeom>
          <a:solidFill>
            <a:srgbClr val="C96133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42"/>
          <p:cNvSpPr txBox="1"/>
          <p:nvPr/>
        </p:nvSpPr>
        <p:spPr>
          <a:xfrm>
            <a:off x="1082954" y="3605093"/>
            <a:ext cx="120092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S4</a:t>
            </a:r>
            <a:endParaRPr sz="1100"/>
          </a:p>
        </p:txBody>
      </p:sp>
      <p:sp>
        <p:nvSpPr>
          <p:cNvPr id="1329" name="Google Shape;1329;p42"/>
          <p:cNvSpPr txBox="1"/>
          <p:nvPr/>
        </p:nvSpPr>
        <p:spPr>
          <a:xfrm>
            <a:off x="1526619" y="3442930"/>
            <a:ext cx="846266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Session 4 幻灯片</a:t>
            </a:r>
            <a:endParaRPr sz="1100"/>
          </a:p>
        </p:txBody>
      </p:sp>
      <p:sp>
        <p:nvSpPr>
          <p:cNvPr id="1330" name="Google Shape;1330;p42"/>
          <p:cNvSpPr/>
          <p:nvPr/>
        </p:nvSpPr>
        <p:spPr>
          <a:xfrm>
            <a:off x="1535906" y="3586163"/>
            <a:ext cx="571500" cy="157163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42"/>
          <p:cNvSpPr txBox="1"/>
          <p:nvPr/>
        </p:nvSpPr>
        <p:spPr>
          <a:xfrm>
            <a:off x="1608646" y="3620452"/>
            <a:ext cx="426021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下载 PDF</a:t>
            </a:r>
            <a:endParaRPr sz="1100"/>
          </a:p>
        </p:txBody>
      </p:sp>
      <p:sp>
        <p:nvSpPr>
          <p:cNvPr id="1332" name="Google Shape;1332;p42"/>
          <p:cNvSpPr/>
          <p:nvPr/>
        </p:nvSpPr>
        <p:spPr>
          <a:xfrm>
            <a:off x="3300413" y="1243013"/>
            <a:ext cx="2543175" cy="2843213"/>
          </a:xfrm>
          <a:prstGeom prst="roundRect">
            <a:avLst>
              <a:gd fmla="val 3933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42"/>
          <p:cNvSpPr/>
          <p:nvPr/>
        </p:nvSpPr>
        <p:spPr>
          <a:xfrm>
            <a:off x="3300413" y="1243013"/>
            <a:ext cx="2543175" cy="35719"/>
          </a:xfrm>
          <a:prstGeom prst="roundRect">
            <a:avLst>
              <a:gd fmla="val 500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42"/>
          <p:cNvSpPr txBox="1"/>
          <p:nvPr/>
        </p:nvSpPr>
        <p:spPr>
          <a:xfrm>
            <a:off x="5129341" y="1417320"/>
            <a:ext cx="611377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1335" name="Google Shape;1335;p42"/>
          <p:cNvSpPr/>
          <p:nvPr/>
        </p:nvSpPr>
        <p:spPr>
          <a:xfrm>
            <a:off x="3486150" y="1414463"/>
            <a:ext cx="400050" cy="400050"/>
          </a:xfrm>
          <a:prstGeom prst="roundRect">
            <a:avLst>
              <a:gd fmla="val 25000" name="adj"/>
            </a:avLst>
          </a:prstGeom>
          <a:solidFill>
            <a:srgbClr val="3D7DE4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42"/>
          <p:cNvSpPr/>
          <p:nvPr/>
        </p:nvSpPr>
        <p:spPr>
          <a:xfrm>
            <a:off x="3621881" y="1517512"/>
            <a:ext cx="160741" cy="193951"/>
          </a:xfrm>
          <a:custGeom>
            <a:rect b="b" l="l" r="r" t="t"/>
            <a:pathLst>
              <a:path extrusionOk="0" h="258602" w="214321">
                <a:moveTo>
                  <a:pt x="1" y="15001"/>
                </a:moveTo>
                <a:lnTo>
                  <a:pt x="1" y="243601"/>
                </a:lnTo>
                <a:cubicBezTo>
                  <a:pt x="0" y="248778"/>
                  <a:pt x="2799" y="253550"/>
                  <a:pt x="7317" y="256076"/>
                </a:cubicBezTo>
                <a:cubicBezTo>
                  <a:pt x="11835" y="258602"/>
                  <a:pt x="17367" y="258486"/>
                  <a:pt x="21776" y="255774"/>
                </a:cubicBezTo>
                <a:lnTo>
                  <a:pt x="207513" y="141474"/>
                </a:lnTo>
                <a:cubicBezTo>
                  <a:pt x="211743" y="138875"/>
                  <a:pt x="214321" y="134266"/>
                  <a:pt x="214321" y="129301"/>
                </a:cubicBezTo>
                <a:cubicBezTo>
                  <a:pt x="214321" y="124336"/>
                  <a:pt x="211743" y="119727"/>
                  <a:pt x="207513" y="117128"/>
                </a:cubicBezTo>
                <a:lnTo>
                  <a:pt x="21776" y="2828"/>
                </a:lnTo>
                <a:cubicBezTo>
                  <a:pt x="17367" y="116"/>
                  <a:pt x="11835" y="0"/>
                  <a:pt x="7317" y="2526"/>
                </a:cubicBezTo>
                <a:cubicBezTo>
                  <a:pt x="2799" y="5052"/>
                  <a:pt x="0" y="9824"/>
                  <a:pt x="1" y="15001"/>
                </a:cubicBezTo>
                <a:close/>
              </a:path>
            </a:pathLst>
          </a:cu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42"/>
          <p:cNvSpPr txBox="1"/>
          <p:nvPr/>
        </p:nvSpPr>
        <p:spPr>
          <a:xfrm>
            <a:off x="3470434" y="1909524"/>
            <a:ext cx="980301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动画视频区</a:t>
            </a:r>
            <a:endParaRPr sz="1100"/>
          </a:p>
        </p:txBody>
      </p:sp>
      <p:sp>
        <p:nvSpPr>
          <p:cNvPr id="1338" name="Google Shape;1338;p42"/>
          <p:cNvSpPr txBox="1"/>
          <p:nvPr/>
        </p:nvSpPr>
        <p:spPr>
          <a:xfrm>
            <a:off x="3476864" y="2121337"/>
            <a:ext cx="882044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VIDEO EXPLAINER</a:t>
            </a:r>
            <a:endParaRPr sz="1100"/>
          </a:p>
        </p:txBody>
      </p:sp>
      <p:sp>
        <p:nvSpPr>
          <p:cNvPr id="1339" name="Google Shape;1339;p42"/>
          <p:cNvSpPr/>
          <p:nvPr/>
        </p:nvSpPr>
        <p:spPr>
          <a:xfrm>
            <a:off x="3486150" y="2314575"/>
            <a:ext cx="2171700" cy="7144"/>
          </a:xfrm>
          <a:custGeom>
            <a:rect b="b" l="l" r="r" t="t"/>
            <a:pathLst>
              <a:path extrusionOk="0" h="9525" w="2895600">
                <a:moveTo>
                  <a:pt x="0" y="0"/>
                </a:moveTo>
                <a:lnTo>
                  <a:pt x="2895600" y="0"/>
                </a:lnTo>
              </a:path>
            </a:pathLst>
          </a:custGeom>
          <a:noFill/>
          <a:ln cap="flat" cmpd="sng" w="95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0" name="Google Shape;1340;p42"/>
          <p:cNvSpPr txBox="1"/>
          <p:nvPr/>
        </p:nvSpPr>
        <p:spPr>
          <a:xfrm>
            <a:off x="3474720" y="2417445"/>
            <a:ext cx="1409933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工作流 Explainer 视频</a:t>
            </a:r>
            <a:endParaRPr sz="1100"/>
          </a:p>
        </p:txBody>
      </p:sp>
      <p:sp>
        <p:nvSpPr>
          <p:cNvPr id="1341" name="Google Shape;1341;p42"/>
          <p:cNvSpPr txBox="1"/>
          <p:nvPr/>
        </p:nvSpPr>
        <p:spPr>
          <a:xfrm>
            <a:off x="3475434" y="2580680"/>
            <a:ext cx="14632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嵌入 YouTube/Vimeo 视频</a:t>
            </a:r>
            <a:endParaRPr sz="1100"/>
          </a:p>
        </p:txBody>
      </p:sp>
      <p:sp>
        <p:nvSpPr>
          <p:cNvPr id="1342" name="Google Shape;1342;p42"/>
          <p:cNvSpPr txBox="1"/>
          <p:nvPr/>
        </p:nvSpPr>
        <p:spPr>
          <a:xfrm>
            <a:off x="3475434" y="2737842"/>
            <a:ext cx="137695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讲解你的服务流程和价值</a:t>
            </a:r>
            <a:endParaRPr sz="1100"/>
          </a:p>
        </p:txBody>
      </p:sp>
      <p:sp>
        <p:nvSpPr>
          <p:cNvPr id="1343" name="Google Shape;1343;p42"/>
          <p:cNvSpPr/>
          <p:nvPr/>
        </p:nvSpPr>
        <p:spPr>
          <a:xfrm>
            <a:off x="3486150" y="3014663"/>
            <a:ext cx="1200150" cy="200025"/>
          </a:xfrm>
          <a:prstGeom prst="roundRect">
            <a:avLst>
              <a:gd fmla="val 50000" name="adj"/>
            </a:avLst>
          </a:prstGeom>
          <a:solidFill>
            <a:srgbClr val="3D7DE4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42"/>
          <p:cNvSpPr txBox="1"/>
          <p:nvPr/>
        </p:nvSpPr>
        <p:spPr>
          <a:xfrm>
            <a:off x="3533064" y="3064312"/>
            <a:ext cx="1106322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iframe 嵌入 · 零成本</a:t>
            </a:r>
            <a:endParaRPr sz="1100"/>
          </a:p>
        </p:txBody>
      </p:sp>
      <p:sp>
        <p:nvSpPr>
          <p:cNvPr id="1345" name="Google Shape;1345;p42"/>
          <p:cNvSpPr/>
          <p:nvPr/>
        </p:nvSpPr>
        <p:spPr>
          <a:xfrm>
            <a:off x="3486150" y="3328988"/>
            <a:ext cx="2185988" cy="600075"/>
          </a:xfrm>
          <a:prstGeom prst="roundRect">
            <a:avLst>
              <a:gd fmla="val 9524" name="adj"/>
            </a:avLst>
          </a:prstGeom>
          <a:solidFill>
            <a:srgbClr val="1A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42"/>
          <p:cNvSpPr/>
          <p:nvPr/>
        </p:nvSpPr>
        <p:spPr>
          <a:xfrm>
            <a:off x="4421981" y="3471863"/>
            <a:ext cx="314325" cy="314325"/>
          </a:xfrm>
          <a:prstGeom prst="ellipse">
            <a:avLst/>
          </a:prstGeom>
          <a:solidFill>
            <a:srgbClr val="3D7DE4">
              <a:alpha val="9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42"/>
          <p:cNvSpPr/>
          <p:nvPr/>
        </p:nvSpPr>
        <p:spPr>
          <a:xfrm>
            <a:off x="4529138" y="3571875"/>
            <a:ext cx="128588" cy="114300"/>
          </a:xfrm>
          <a:custGeom>
            <a:rect b="b" l="l" r="r" t="t"/>
            <a:pathLst>
              <a:path extrusionOk="0" h="152400" w="171450">
                <a:moveTo>
                  <a:pt x="0" y="0"/>
                </a:moveTo>
                <a:lnTo>
                  <a:pt x="0" y="152400"/>
                </a:lnTo>
                <a:lnTo>
                  <a:pt x="17145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48" name="Google Shape;1348;p42"/>
          <p:cNvSpPr txBox="1"/>
          <p:nvPr/>
        </p:nvSpPr>
        <p:spPr>
          <a:xfrm>
            <a:off x="4193998" y="3805118"/>
            <a:ext cx="770293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工作流演示 · 2:30</a:t>
            </a:r>
            <a:endParaRPr sz="1100"/>
          </a:p>
        </p:txBody>
      </p:sp>
      <p:sp>
        <p:nvSpPr>
          <p:cNvPr id="1349" name="Google Shape;1349;p42"/>
          <p:cNvSpPr/>
          <p:nvPr/>
        </p:nvSpPr>
        <p:spPr>
          <a:xfrm>
            <a:off x="6029325" y="1243013"/>
            <a:ext cx="2543175" cy="2843213"/>
          </a:xfrm>
          <a:prstGeom prst="roundRect">
            <a:avLst>
              <a:gd fmla="val 3933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42"/>
          <p:cNvSpPr/>
          <p:nvPr/>
        </p:nvSpPr>
        <p:spPr>
          <a:xfrm>
            <a:off x="6029325" y="1243013"/>
            <a:ext cx="2543175" cy="35719"/>
          </a:xfrm>
          <a:prstGeom prst="roundRect">
            <a:avLst>
              <a:gd fmla="val 50000" name="adj"/>
            </a:avLst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42"/>
          <p:cNvSpPr txBox="1"/>
          <p:nvPr/>
        </p:nvSpPr>
        <p:spPr>
          <a:xfrm>
            <a:off x="7858253" y="1417320"/>
            <a:ext cx="611377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rgbClr val="3A9E6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1352" name="Google Shape;1352;p42"/>
          <p:cNvSpPr/>
          <p:nvPr/>
        </p:nvSpPr>
        <p:spPr>
          <a:xfrm>
            <a:off x="6215063" y="1414463"/>
            <a:ext cx="400050" cy="400050"/>
          </a:xfrm>
          <a:prstGeom prst="roundRect">
            <a:avLst>
              <a:gd fmla="val 25000" name="adj"/>
            </a:avLst>
          </a:prstGeom>
          <a:solidFill>
            <a:srgbClr val="3A9E6A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42"/>
          <p:cNvSpPr/>
          <p:nvPr/>
        </p:nvSpPr>
        <p:spPr>
          <a:xfrm>
            <a:off x="6307931" y="1518047"/>
            <a:ext cx="214313" cy="204098"/>
          </a:xfrm>
          <a:custGeom>
            <a:rect b="b" l="l" r="r" t="t"/>
            <a:pathLst>
              <a:path extrusionOk="0" h="272131" w="285750">
                <a:moveTo>
                  <a:pt x="228600" y="0"/>
                </a:moveTo>
                <a:cubicBezTo>
                  <a:pt x="260163" y="0"/>
                  <a:pt x="285750" y="25587"/>
                  <a:pt x="285750" y="57150"/>
                </a:cubicBezTo>
                <a:lnTo>
                  <a:pt x="285750" y="171450"/>
                </a:lnTo>
                <a:cubicBezTo>
                  <a:pt x="285750" y="203013"/>
                  <a:pt x="260163" y="228600"/>
                  <a:pt x="228600" y="228600"/>
                </a:cubicBezTo>
                <a:lnTo>
                  <a:pt x="161106" y="228600"/>
                </a:lnTo>
                <a:lnTo>
                  <a:pt x="93069" y="269419"/>
                </a:lnTo>
                <a:cubicBezTo>
                  <a:pt x="88905" y="271918"/>
                  <a:pt x="83758" y="272131"/>
                  <a:pt x="79402" y="269985"/>
                </a:cubicBezTo>
                <a:cubicBezTo>
                  <a:pt x="75047" y="267839"/>
                  <a:pt x="72079" y="263628"/>
                  <a:pt x="71523" y="258804"/>
                </a:cubicBezTo>
                <a:lnTo>
                  <a:pt x="71438" y="257175"/>
                </a:lnTo>
                <a:lnTo>
                  <a:pt x="71438" y="228600"/>
                </a:lnTo>
                <a:lnTo>
                  <a:pt x="57150" y="228600"/>
                </a:lnTo>
                <a:cubicBezTo>
                  <a:pt x="26698" y="228600"/>
                  <a:pt x="1594" y="204722"/>
                  <a:pt x="71" y="174308"/>
                </a:cubicBezTo>
                <a:lnTo>
                  <a:pt x="0" y="171450"/>
                </a:ln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  <a:moveTo>
                  <a:pt x="188595" y="132674"/>
                </a:moveTo>
                <a:cubicBezTo>
                  <a:pt x="182961" y="127151"/>
                  <a:pt x="173916" y="127241"/>
                  <a:pt x="168392" y="132874"/>
                </a:cubicBezTo>
                <a:cubicBezTo>
                  <a:pt x="161674" y="139733"/>
                  <a:pt x="152477" y="143599"/>
                  <a:pt x="142875" y="143599"/>
                </a:cubicBezTo>
                <a:cubicBezTo>
                  <a:pt x="133273" y="143599"/>
                  <a:pt x="124076" y="139733"/>
                  <a:pt x="117358" y="132874"/>
                </a:cubicBezTo>
                <a:cubicBezTo>
                  <a:pt x="111810" y="127375"/>
                  <a:pt x="102875" y="127350"/>
                  <a:pt x="97297" y="132818"/>
                </a:cubicBezTo>
                <a:cubicBezTo>
                  <a:pt x="91719" y="138287"/>
                  <a:pt x="91567" y="147221"/>
                  <a:pt x="96955" y="152876"/>
                </a:cubicBezTo>
                <a:cubicBezTo>
                  <a:pt x="109048" y="165216"/>
                  <a:pt x="125598" y="172170"/>
                  <a:pt x="142875" y="172170"/>
                </a:cubicBezTo>
                <a:cubicBezTo>
                  <a:pt x="160152" y="172170"/>
                  <a:pt x="176702" y="165216"/>
                  <a:pt x="188795" y="152876"/>
                </a:cubicBezTo>
                <a:cubicBezTo>
                  <a:pt x="194318" y="147242"/>
                  <a:pt x="194228" y="138198"/>
                  <a:pt x="188595" y="132674"/>
                </a:cubicBezTo>
                <a:moveTo>
                  <a:pt x="107299" y="71438"/>
                </a:moveTo>
                <a:lnTo>
                  <a:pt x="107156" y="71438"/>
                </a:lnTo>
                <a:cubicBezTo>
                  <a:pt x="99265" y="71438"/>
                  <a:pt x="92869" y="77834"/>
                  <a:pt x="92869" y="85725"/>
                </a:cubicBezTo>
                <a:cubicBezTo>
                  <a:pt x="92869" y="93616"/>
                  <a:pt x="99265" y="100012"/>
                  <a:pt x="107156" y="100012"/>
                </a:cubicBezTo>
                <a:lnTo>
                  <a:pt x="107299" y="100012"/>
                </a:lnTo>
                <a:cubicBezTo>
                  <a:pt x="115190" y="100012"/>
                  <a:pt x="121587" y="93616"/>
                  <a:pt x="121587" y="85725"/>
                </a:cubicBezTo>
                <a:cubicBezTo>
                  <a:pt x="121587" y="77834"/>
                  <a:pt x="115190" y="71438"/>
                  <a:pt x="107299" y="71438"/>
                </a:cubicBezTo>
                <a:moveTo>
                  <a:pt x="178737" y="71438"/>
                </a:moveTo>
                <a:lnTo>
                  <a:pt x="178594" y="71438"/>
                </a:lnTo>
                <a:cubicBezTo>
                  <a:pt x="170703" y="71438"/>
                  <a:pt x="164306" y="77834"/>
                  <a:pt x="164306" y="85725"/>
                </a:cubicBezTo>
                <a:cubicBezTo>
                  <a:pt x="164306" y="93616"/>
                  <a:pt x="170703" y="100012"/>
                  <a:pt x="178594" y="100012"/>
                </a:cubicBezTo>
                <a:lnTo>
                  <a:pt x="178737" y="100012"/>
                </a:lnTo>
                <a:cubicBezTo>
                  <a:pt x="186627" y="100012"/>
                  <a:pt x="193024" y="93616"/>
                  <a:pt x="193024" y="85725"/>
                </a:cubicBezTo>
                <a:cubicBezTo>
                  <a:pt x="193024" y="77834"/>
                  <a:pt x="186627" y="71438"/>
                  <a:pt x="178737" y="71438"/>
                </a:cubicBezTo>
              </a:path>
            </a:pathLst>
          </a:cu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42"/>
          <p:cNvSpPr txBox="1"/>
          <p:nvPr/>
        </p:nvSpPr>
        <p:spPr>
          <a:xfrm>
            <a:off x="6199346" y="1909524"/>
            <a:ext cx="818993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AI 问答区</a:t>
            </a:r>
            <a:endParaRPr sz="1100"/>
          </a:p>
        </p:txBody>
      </p:sp>
      <p:sp>
        <p:nvSpPr>
          <p:cNvPr id="1355" name="Google Shape;1355;p42"/>
          <p:cNvSpPr txBox="1"/>
          <p:nvPr/>
        </p:nvSpPr>
        <p:spPr>
          <a:xfrm>
            <a:off x="6205776" y="2121337"/>
            <a:ext cx="842795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3A9E6A"/>
                </a:solidFill>
                <a:latin typeface="Arial"/>
                <a:ea typeface="Arial"/>
                <a:cs typeface="Arial"/>
                <a:sym typeface="Arial"/>
              </a:rPr>
              <a:t>AI CHATBOT Q&amp;A</a:t>
            </a:r>
            <a:endParaRPr sz="1100"/>
          </a:p>
        </p:txBody>
      </p:sp>
      <p:sp>
        <p:nvSpPr>
          <p:cNvPr id="1356" name="Google Shape;1356;p42"/>
          <p:cNvSpPr/>
          <p:nvPr/>
        </p:nvSpPr>
        <p:spPr>
          <a:xfrm>
            <a:off x="6215063" y="2314575"/>
            <a:ext cx="2171700" cy="7144"/>
          </a:xfrm>
          <a:custGeom>
            <a:rect b="b" l="l" r="r" t="t"/>
            <a:pathLst>
              <a:path extrusionOk="0" h="9525" w="2895600">
                <a:moveTo>
                  <a:pt x="0" y="0"/>
                </a:moveTo>
                <a:lnTo>
                  <a:pt x="2895600" y="0"/>
                </a:lnTo>
              </a:path>
            </a:pathLst>
          </a:custGeom>
          <a:noFill/>
          <a:ln cap="flat" cmpd="sng" w="95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7" name="Google Shape;1357;p42"/>
          <p:cNvSpPr txBox="1"/>
          <p:nvPr/>
        </p:nvSpPr>
        <p:spPr>
          <a:xfrm>
            <a:off x="6203633" y="2417445"/>
            <a:ext cx="126501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访客直接问专业问题</a:t>
            </a:r>
            <a:endParaRPr sz="1100"/>
          </a:p>
        </p:txBody>
      </p:sp>
      <p:sp>
        <p:nvSpPr>
          <p:cNvPr id="1358" name="Google Shape;1358;p42"/>
          <p:cNvSpPr txBox="1"/>
          <p:nvPr/>
        </p:nvSpPr>
        <p:spPr>
          <a:xfrm>
            <a:off x="6204347" y="2580680"/>
            <a:ext cx="14755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401K / RSU / ISO 有问必答</a:t>
            </a:r>
            <a:endParaRPr sz="1100"/>
          </a:p>
        </p:txBody>
      </p:sp>
      <p:sp>
        <p:nvSpPr>
          <p:cNvPr id="1359" name="Google Shape;1359;p42"/>
          <p:cNvSpPr txBox="1"/>
          <p:nvPr/>
        </p:nvSpPr>
        <p:spPr>
          <a:xfrm>
            <a:off x="6204347" y="2737842"/>
            <a:ext cx="162341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S2 知识库作 system prompt</a:t>
            </a:r>
            <a:endParaRPr sz="1100"/>
          </a:p>
        </p:txBody>
      </p:sp>
      <p:sp>
        <p:nvSpPr>
          <p:cNvPr id="1360" name="Google Shape;1360;p42"/>
          <p:cNvSpPr/>
          <p:nvPr/>
        </p:nvSpPr>
        <p:spPr>
          <a:xfrm>
            <a:off x="6215063" y="3014663"/>
            <a:ext cx="1200150" cy="200025"/>
          </a:xfrm>
          <a:prstGeom prst="roundRect">
            <a:avLst>
              <a:gd fmla="val 50000" name="adj"/>
            </a:avLst>
          </a:prstGeom>
          <a:solidFill>
            <a:srgbClr val="3A9E6A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42"/>
          <p:cNvSpPr txBox="1"/>
          <p:nvPr/>
        </p:nvSpPr>
        <p:spPr>
          <a:xfrm>
            <a:off x="6320849" y="3064312"/>
            <a:ext cx="988577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3A9E6A"/>
                </a:solidFill>
                <a:latin typeface="Arial"/>
                <a:ea typeface="Arial"/>
                <a:cs typeface="Arial"/>
                <a:sym typeface="Arial"/>
              </a:rPr>
              <a:t>7×24 小时 · 全自动</a:t>
            </a:r>
            <a:endParaRPr sz="1100"/>
          </a:p>
        </p:txBody>
      </p:sp>
      <p:sp>
        <p:nvSpPr>
          <p:cNvPr id="1362" name="Google Shape;1362;p42"/>
          <p:cNvSpPr/>
          <p:nvPr/>
        </p:nvSpPr>
        <p:spPr>
          <a:xfrm>
            <a:off x="6215063" y="3328988"/>
            <a:ext cx="2185988" cy="600075"/>
          </a:xfrm>
          <a:prstGeom prst="roundRect">
            <a:avLst>
              <a:gd fmla="val 9524" name="adj"/>
            </a:avLst>
          </a:prstGeom>
          <a:solidFill>
            <a:srgbClr val="F0FF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42"/>
          <p:cNvSpPr/>
          <p:nvPr/>
        </p:nvSpPr>
        <p:spPr>
          <a:xfrm>
            <a:off x="6300788" y="3400425"/>
            <a:ext cx="1285875" cy="214313"/>
          </a:xfrm>
          <a:prstGeom prst="roundRect">
            <a:avLst>
              <a:gd fmla="val 20000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42"/>
          <p:cNvSpPr txBox="1"/>
          <p:nvPr/>
        </p:nvSpPr>
        <p:spPr>
          <a:xfrm>
            <a:off x="6441100" y="3476506"/>
            <a:ext cx="1005251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RSU 什么时候卖最划算？</a:t>
            </a:r>
            <a:endParaRPr sz="1100"/>
          </a:p>
        </p:txBody>
      </p:sp>
      <p:sp>
        <p:nvSpPr>
          <p:cNvPr id="1365" name="Google Shape;1365;p42"/>
          <p:cNvSpPr/>
          <p:nvPr/>
        </p:nvSpPr>
        <p:spPr>
          <a:xfrm>
            <a:off x="6457950" y="3671888"/>
            <a:ext cx="1428750" cy="214313"/>
          </a:xfrm>
          <a:prstGeom prst="roundRect">
            <a:avLst>
              <a:gd fmla="val 20000" name="adj"/>
            </a:avLst>
          </a:prstGeom>
          <a:solidFill>
            <a:srgbClr val="3A9E6A">
              <a:alpha val="1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42"/>
          <p:cNvSpPr txBox="1"/>
          <p:nvPr/>
        </p:nvSpPr>
        <p:spPr>
          <a:xfrm>
            <a:off x="6556739" y="3747968"/>
            <a:ext cx="1231171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3A9E6A"/>
                </a:solidFill>
                <a:latin typeface="Arial"/>
                <a:ea typeface="Arial"/>
                <a:cs typeface="Arial"/>
                <a:sym typeface="Arial"/>
              </a:rPr>
              <a:t>需看 vest 时的税率和股价...</a:t>
            </a:r>
            <a:endParaRPr sz="1100"/>
          </a:p>
        </p:txBody>
      </p:sp>
      <p:sp>
        <p:nvSpPr>
          <p:cNvPr id="1367" name="Google Shape;1367;p42"/>
          <p:cNvSpPr/>
          <p:nvPr/>
        </p:nvSpPr>
        <p:spPr>
          <a:xfrm>
            <a:off x="571500" y="4200525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95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8" name="Google Shape;1368;p42"/>
          <p:cNvSpPr txBox="1"/>
          <p:nvPr/>
        </p:nvSpPr>
        <p:spPr>
          <a:xfrm>
            <a:off x="2541764" y="4311611"/>
            <a:ext cx="4060472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PPT、视频、AI 问答——这些都是 Claude Design 一个工具做出来的</a:t>
            </a:r>
            <a:endParaRPr sz="1100"/>
          </a:p>
        </p:txBody>
      </p:sp>
      <p:sp>
        <p:nvSpPr>
          <p:cNvPr id="1369" name="Google Shape;1369;p42"/>
          <p:cNvSpPr txBox="1"/>
          <p:nvPr/>
        </p:nvSpPr>
        <p:spPr>
          <a:xfrm>
            <a:off x="3137981" y="4523780"/>
            <a:ext cx="28680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你学会了今天的流程，加这些只是换个 brief 的问题</a:t>
            </a:r>
            <a:endParaRPr sz="1100"/>
          </a:p>
        </p:txBody>
      </p:sp>
      <p:sp>
        <p:nvSpPr>
          <p:cNvPr id="1370" name="Google Shape;1370;p42"/>
          <p:cNvSpPr txBox="1"/>
          <p:nvPr/>
        </p:nvSpPr>
        <p:spPr>
          <a:xfrm>
            <a:off x="8348829" y="4958477"/>
            <a:ext cx="376547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18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43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43"/>
          <p:cNvSpPr/>
          <p:nvPr/>
        </p:nvSpPr>
        <p:spPr>
          <a:xfrm>
            <a:off x="6858000" y="-714375"/>
            <a:ext cx="3143250" cy="3143250"/>
          </a:xfrm>
          <a:prstGeom prst="ellipse">
            <a:avLst/>
          </a:prstGeom>
          <a:solidFill>
            <a:srgbClr val="E8F5EE">
              <a:alpha val="3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43"/>
          <p:cNvSpPr/>
          <p:nvPr/>
        </p:nvSpPr>
        <p:spPr>
          <a:xfrm>
            <a:off x="-714375" y="3143250"/>
            <a:ext cx="2571750" cy="2571750"/>
          </a:xfrm>
          <a:prstGeom prst="ellipse">
            <a:avLst/>
          </a:prstGeom>
          <a:solidFill>
            <a:srgbClr val="F0EDE8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43"/>
          <p:cNvSpPr/>
          <p:nvPr/>
        </p:nvSpPr>
        <p:spPr>
          <a:xfrm>
            <a:off x="3786188" y="200025"/>
            <a:ext cx="1571625" cy="242888"/>
          </a:xfrm>
          <a:prstGeom prst="roundRect">
            <a:avLst>
              <a:gd fmla="val 50000" name="adj"/>
            </a:avLst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0" name="Google Shape;1380;p43"/>
          <p:cNvGrpSpPr/>
          <p:nvPr/>
        </p:nvGrpSpPr>
        <p:grpSpPr>
          <a:xfrm>
            <a:off x="3880844" y="285752"/>
            <a:ext cx="105366" cy="100009"/>
            <a:chOff x="5174459" y="381002"/>
            <a:chExt cx="140488" cy="133345"/>
          </a:xfrm>
        </p:grpSpPr>
        <p:sp>
          <p:nvSpPr>
            <p:cNvPr id="1381" name="Google Shape;1381;p43"/>
            <p:cNvSpPr/>
            <p:nvPr/>
          </p:nvSpPr>
          <p:spPr>
            <a:xfrm>
              <a:off x="5269706" y="466727"/>
              <a:ext cx="45241" cy="47620"/>
            </a:xfrm>
            <a:custGeom>
              <a:rect b="b" l="l" r="r" t="t"/>
              <a:pathLst>
                <a:path extrusionOk="0" h="47620" w="45241">
                  <a:moveTo>
                    <a:pt x="7144" y="30954"/>
                  </a:moveTo>
                  <a:cubicBezTo>
                    <a:pt x="3198" y="30954"/>
                    <a:pt x="0" y="27756"/>
                    <a:pt x="0" y="23810"/>
                  </a:cubicBezTo>
                  <a:cubicBezTo>
                    <a:pt x="0" y="19865"/>
                    <a:pt x="3198" y="16666"/>
                    <a:pt x="7144" y="16666"/>
                  </a:cubicBezTo>
                  <a:cubicBezTo>
                    <a:pt x="11089" y="16666"/>
                    <a:pt x="14288" y="13468"/>
                    <a:pt x="14288" y="9523"/>
                  </a:cubicBezTo>
                  <a:cubicBezTo>
                    <a:pt x="14288" y="0"/>
                    <a:pt x="28575" y="0"/>
                    <a:pt x="28575" y="9523"/>
                  </a:cubicBezTo>
                  <a:cubicBezTo>
                    <a:pt x="28575" y="13468"/>
                    <a:pt x="31773" y="16666"/>
                    <a:pt x="35719" y="16666"/>
                  </a:cubicBezTo>
                  <a:cubicBezTo>
                    <a:pt x="45241" y="16666"/>
                    <a:pt x="45241" y="30954"/>
                    <a:pt x="35719" y="30954"/>
                  </a:cubicBezTo>
                  <a:cubicBezTo>
                    <a:pt x="31773" y="30954"/>
                    <a:pt x="28575" y="34152"/>
                    <a:pt x="28575" y="38098"/>
                  </a:cubicBezTo>
                  <a:cubicBezTo>
                    <a:pt x="28575" y="47620"/>
                    <a:pt x="14288" y="47620"/>
                    <a:pt x="14288" y="38098"/>
                  </a:cubicBezTo>
                  <a:cubicBezTo>
                    <a:pt x="14288" y="34152"/>
                    <a:pt x="11089" y="30954"/>
                    <a:pt x="7144" y="3095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43"/>
            <p:cNvSpPr/>
            <p:nvPr/>
          </p:nvSpPr>
          <p:spPr>
            <a:xfrm>
              <a:off x="5174459" y="395290"/>
              <a:ext cx="104770" cy="102391"/>
            </a:xfrm>
            <a:custGeom>
              <a:rect b="b" l="l" r="r" t="t"/>
              <a:pathLst>
                <a:path extrusionOk="0" h="102391" w="104770">
                  <a:moveTo>
                    <a:pt x="9523" y="45241"/>
                  </a:moveTo>
                  <a:cubicBezTo>
                    <a:pt x="29250" y="45241"/>
                    <a:pt x="45241" y="29250"/>
                    <a:pt x="45241" y="9523"/>
                  </a:cubicBezTo>
                  <a:cubicBezTo>
                    <a:pt x="45241" y="0"/>
                    <a:pt x="59529" y="0"/>
                    <a:pt x="59529" y="9523"/>
                  </a:cubicBezTo>
                  <a:cubicBezTo>
                    <a:pt x="59529" y="29250"/>
                    <a:pt x="75521" y="45241"/>
                    <a:pt x="95248" y="45241"/>
                  </a:cubicBezTo>
                  <a:cubicBezTo>
                    <a:pt x="104770" y="45241"/>
                    <a:pt x="104770" y="59529"/>
                    <a:pt x="95248" y="59529"/>
                  </a:cubicBezTo>
                  <a:cubicBezTo>
                    <a:pt x="75521" y="59529"/>
                    <a:pt x="59529" y="75521"/>
                    <a:pt x="59529" y="95248"/>
                  </a:cubicBezTo>
                  <a:cubicBezTo>
                    <a:pt x="59529" y="99193"/>
                    <a:pt x="56331" y="102391"/>
                    <a:pt x="52385" y="102391"/>
                  </a:cubicBezTo>
                  <a:cubicBezTo>
                    <a:pt x="48440" y="102391"/>
                    <a:pt x="45241" y="99193"/>
                    <a:pt x="45241" y="95248"/>
                  </a:cubicBezTo>
                  <a:cubicBezTo>
                    <a:pt x="45241" y="75521"/>
                    <a:pt x="29250" y="59529"/>
                    <a:pt x="9523" y="59529"/>
                  </a:cubicBezTo>
                  <a:cubicBezTo>
                    <a:pt x="0" y="59529"/>
                    <a:pt x="0" y="45241"/>
                    <a:pt x="9523" y="4524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43"/>
            <p:cNvSpPr/>
            <p:nvPr/>
          </p:nvSpPr>
          <p:spPr>
            <a:xfrm>
              <a:off x="5269706" y="381002"/>
              <a:ext cx="45241" cy="47620"/>
            </a:xfrm>
            <a:custGeom>
              <a:rect b="b" l="l" r="r" t="t"/>
              <a:pathLst>
                <a:path extrusionOk="0" h="47620" w="45241">
                  <a:moveTo>
                    <a:pt x="7144" y="30954"/>
                  </a:moveTo>
                  <a:cubicBezTo>
                    <a:pt x="3198" y="30954"/>
                    <a:pt x="0" y="27756"/>
                    <a:pt x="0" y="23810"/>
                  </a:cubicBezTo>
                  <a:cubicBezTo>
                    <a:pt x="0" y="19865"/>
                    <a:pt x="3198" y="16666"/>
                    <a:pt x="7144" y="16666"/>
                  </a:cubicBezTo>
                  <a:cubicBezTo>
                    <a:pt x="11089" y="16666"/>
                    <a:pt x="14288" y="13468"/>
                    <a:pt x="14288" y="9523"/>
                  </a:cubicBezTo>
                  <a:cubicBezTo>
                    <a:pt x="14288" y="0"/>
                    <a:pt x="28575" y="0"/>
                    <a:pt x="28575" y="9523"/>
                  </a:cubicBezTo>
                  <a:cubicBezTo>
                    <a:pt x="28575" y="13468"/>
                    <a:pt x="31773" y="16666"/>
                    <a:pt x="35719" y="16666"/>
                  </a:cubicBezTo>
                  <a:cubicBezTo>
                    <a:pt x="45241" y="16666"/>
                    <a:pt x="45241" y="30954"/>
                    <a:pt x="35719" y="30954"/>
                  </a:cubicBezTo>
                  <a:cubicBezTo>
                    <a:pt x="31773" y="30954"/>
                    <a:pt x="28575" y="34152"/>
                    <a:pt x="28575" y="38098"/>
                  </a:cubicBezTo>
                  <a:cubicBezTo>
                    <a:pt x="28575" y="47620"/>
                    <a:pt x="14288" y="47620"/>
                    <a:pt x="14288" y="38098"/>
                  </a:cubicBezTo>
                  <a:cubicBezTo>
                    <a:pt x="14288" y="34152"/>
                    <a:pt x="11089" y="30954"/>
                    <a:pt x="7144" y="3095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4" name="Google Shape;1384;p43"/>
          <p:cNvSpPr txBox="1"/>
          <p:nvPr/>
        </p:nvSpPr>
        <p:spPr>
          <a:xfrm>
            <a:off x="4063401" y="266105"/>
            <a:ext cx="116007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 B 彩蛋 BONUS</a:t>
            </a:r>
            <a:endParaRPr sz="1100"/>
          </a:p>
        </p:txBody>
      </p:sp>
      <p:sp>
        <p:nvSpPr>
          <p:cNvPr id="1385" name="Google Shape;1385;p43"/>
          <p:cNvSpPr txBox="1"/>
          <p:nvPr/>
        </p:nvSpPr>
        <p:spPr>
          <a:xfrm>
            <a:off x="3373001" y="512207"/>
            <a:ext cx="2397998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AI 问答区上线了</a:t>
            </a:r>
            <a:endParaRPr sz="1100"/>
          </a:p>
        </p:txBody>
      </p:sp>
      <p:sp>
        <p:nvSpPr>
          <p:cNvPr id="1386" name="Google Shape;1386;p43"/>
          <p:cNvSpPr txBox="1"/>
          <p:nvPr/>
        </p:nvSpPr>
        <p:spPr>
          <a:xfrm>
            <a:off x="2573714" y="850106"/>
            <a:ext cx="39965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访客问 401K / RSU，网站直接回答——你不在线也没关系</a:t>
            </a:r>
            <a:endParaRPr sz="1100"/>
          </a:p>
        </p:txBody>
      </p:sp>
      <p:sp>
        <p:nvSpPr>
          <p:cNvPr id="1387" name="Google Shape;1387;p43"/>
          <p:cNvSpPr/>
          <p:nvPr/>
        </p:nvSpPr>
        <p:spPr>
          <a:xfrm>
            <a:off x="571500" y="1128713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8" name="Google Shape;1388;p43"/>
          <p:cNvSpPr/>
          <p:nvPr/>
        </p:nvSpPr>
        <p:spPr>
          <a:xfrm>
            <a:off x="571500" y="1257300"/>
            <a:ext cx="2714625" cy="2786063"/>
          </a:xfrm>
          <a:prstGeom prst="roundRect">
            <a:avLst>
              <a:gd fmla="val 3684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43"/>
          <p:cNvSpPr/>
          <p:nvPr/>
        </p:nvSpPr>
        <p:spPr>
          <a:xfrm>
            <a:off x="571500" y="1257300"/>
            <a:ext cx="2714625" cy="35719"/>
          </a:xfrm>
          <a:prstGeom prst="roundRect">
            <a:avLst>
              <a:gd fmla="val 50000" name="adj"/>
            </a:avLst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43"/>
          <p:cNvSpPr txBox="1"/>
          <p:nvPr/>
        </p:nvSpPr>
        <p:spPr>
          <a:xfrm>
            <a:off x="1630672" y="1455896"/>
            <a:ext cx="567707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3A9E6A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endParaRPr sz="1100"/>
          </a:p>
        </p:txBody>
      </p:sp>
      <p:sp>
        <p:nvSpPr>
          <p:cNvPr id="1391" name="Google Shape;1391;p43"/>
          <p:cNvSpPr/>
          <p:nvPr/>
        </p:nvSpPr>
        <p:spPr>
          <a:xfrm>
            <a:off x="757238" y="1428750"/>
            <a:ext cx="371475" cy="371475"/>
          </a:xfrm>
          <a:prstGeom prst="roundRect">
            <a:avLst>
              <a:gd fmla="val 23077" name="adj"/>
            </a:avLst>
          </a:prstGeom>
          <a:solidFill>
            <a:srgbClr val="3A9E6A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2" name="Google Shape;1392;p43"/>
          <p:cNvGrpSpPr/>
          <p:nvPr/>
        </p:nvGrpSpPr>
        <p:grpSpPr>
          <a:xfrm>
            <a:off x="846533" y="1507331"/>
            <a:ext cx="192882" cy="214313"/>
            <a:chOff x="1128711" y="2009775"/>
            <a:chExt cx="257176" cy="285750"/>
          </a:xfrm>
        </p:grpSpPr>
        <p:sp>
          <p:nvSpPr>
            <p:cNvPr id="1393" name="Google Shape;1393;p43"/>
            <p:cNvSpPr/>
            <p:nvPr/>
          </p:nvSpPr>
          <p:spPr>
            <a:xfrm>
              <a:off x="1128712" y="2205957"/>
              <a:ext cx="257175" cy="89568"/>
            </a:xfrm>
            <a:custGeom>
              <a:rect b="b" l="l" r="r" t="t"/>
              <a:pathLst>
                <a:path extrusionOk="0" h="89568" w="257175">
                  <a:moveTo>
                    <a:pt x="0" y="0"/>
                  </a:moveTo>
                  <a:cubicBezTo>
                    <a:pt x="28118" y="21531"/>
                    <a:pt x="74781" y="32418"/>
                    <a:pt x="128588" y="32418"/>
                  </a:cubicBezTo>
                  <a:cubicBezTo>
                    <a:pt x="182308" y="32418"/>
                    <a:pt x="228957" y="21560"/>
                    <a:pt x="257175" y="243"/>
                  </a:cubicBezTo>
                  <a:lnTo>
                    <a:pt x="257175" y="32418"/>
                  </a:lnTo>
                  <a:cubicBezTo>
                    <a:pt x="257175" y="67066"/>
                    <a:pt x="201525" y="88654"/>
                    <a:pt x="132974" y="89540"/>
                  </a:cubicBezTo>
                  <a:lnTo>
                    <a:pt x="128588" y="89568"/>
                  </a:lnTo>
                  <a:cubicBezTo>
                    <a:pt x="58036" y="89568"/>
                    <a:pt x="0" y="67808"/>
                    <a:pt x="0" y="32418"/>
                  </a:cubicBez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43"/>
            <p:cNvSpPr/>
            <p:nvPr/>
          </p:nvSpPr>
          <p:spPr>
            <a:xfrm>
              <a:off x="1128712" y="2120232"/>
              <a:ext cx="257175" cy="89568"/>
            </a:xfrm>
            <a:custGeom>
              <a:rect b="b" l="l" r="r" t="t"/>
              <a:pathLst>
                <a:path extrusionOk="0" h="89568" w="257175">
                  <a:moveTo>
                    <a:pt x="0" y="0"/>
                  </a:moveTo>
                  <a:cubicBezTo>
                    <a:pt x="28118" y="21531"/>
                    <a:pt x="74781" y="32418"/>
                    <a:pt x="128588" y="32418"/>
                  </a:cubicBezTo>
                  <a:cubicBezTo>
                    <a:pt x="182308" y="32418"/>
                    <a:pt x="228957" y="21560"/>
                    <a:pt x="257175" y="243"/>
                  </a:cubicBezTo>
                  <a:lnTo>
                    <a:pt x="257175" y="32418"/>
                  </a:lnTo>
                  <a:cubicBezTo>
                    <a:pt x="257175" y="67808"/>
                    <a:pt x="199139" y="89568"/>
                    <a:pt x="128588" y="89568"/>
                  </a:cubicBezTo>
                  <a:cubicBezTo>
                    <a:pt x="60036" y="89568"/>
                    <a:pt x="3286" y="69023"/>
                    <a:pt x="300" y="35347"/>
                  </a:cubicBezTo>
                  <a:lnTo>
                    <a:pt x="71" y="33904"/>
                  </a:lnTo>
                  <a:lnTo>
                    <a:pt x="0" y="32418"/>
                  </a:ln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43"/>
            <p:cNvSpPr/>
            <p:nvPr/>
          </p:nvSpPr>
          <p:spPr>
            <a:xfrm>
              <a:off x="1128711" y="2009775"/>
              <a:ext cx="257176" cy="114300"/>
            </a:xfrm>
            <a:custGeom>
              <a:rect b="b" l="l" r="r" t="t"/>
              <a:pathLst>
                <a:path extrusionOk="0" h="114300" w="257176">
                  <a:moveTo>
                    <a:pt x="128589" y="0"/>
                  </a:moveTo>
                  <a:cubicBezTo>
                    <a:pt x="143462" y="0"/>
                    <a:pt x="157792" y="972"/>
                    <a:pt x="171123" y="2829"/>
                  </a:cubicBezTo>
                  <a:lnTo>
                    <a:pt x="177823" y="3843"/>
                  </a:lnTo>
                  <a:cubicBezTo>
                    <a:pt x="185824" y="5177"/>
                    <a:pt x="193378" y="6834"/>
                    <a:pt x="200483" y="8815"/>
                  </a:cubicBezTo>
                  <a:lnTo>
                    <a:pt x="206770" y="10687"/>
                  </a:lnTo>
                  <a:lnTo>
                    <a:pt x="207841" y="11030"/>
                  </a:lnTo>
                  <a:cubicBezTo>
                    <a:pt x="211730" y="12308"/>
                    <a:pt x="215566" y="13738"/>
                    <a:pt x="219343" y="15316"/>
                  </a:cubicBezTo>
                  <a:lnTo>
                    <a:pt x="222186" y="16545"/>
                  </a:lnTo>
                  <a:cubicBezTo>
                    <a:pt x="227282" y="18850"/>
                    <a:pt x="231887" y="21374"/>
                    <a:pt x="236002" y="24117"/>
                  </a:cubicBezTo>
                  <a:cubicBezTo>
                    <a:pt x="237574" y="25165"/>
                    <a:pt x="239064" y="26237"/>
                    <a:pt x="240474" y="27332"/>
                  </a:cubicBezTo>
                  <a:cubicBezTo>
                    <a:pt x="244045" y="30103"/>
                    <a:pt x="247256" y="33309"/>
                    <a:pt x="250032" y="36876"/>
                  </a:cubicBezTo>
                  <a:lnTo>
                    <a:pt x="251333" y="38705"/>
                  </a:lnTo>
                  <a:cubicBezTo>
                    <a:pt x="251999" y="39705"/>
                    <a:pt x="252614" y="40710"/>
                    <a:pt x="253176" y="41719"/>
                  </a:cubicBezTo>
                  <a:lnTo>
                    <a:pt x="254176" y="43705"/>
                  </a:lnTo>
                  <a:cubicBezTo>
                    <a:pt x="255728" y="47039"/>
                    <a:pt x="256681" y="50516"/>
                    <a:pt x="257033" y="54135"/>
                  </a:cubicBezTo>
                  <a:lnTo>
                    <a:pt x="257176" y="57150"/>
                  </a:lnTo>
                  <a:cubicBezTo>
                    <a:pt x="257176" y="92540"/>
                    <a:pt x="199140" y="114300"/>
                    <a:pt x="128589" y="114300"/>
                  </a:cubicBezTo>
                  <a:cubicBezTo>
                    <a:pt x="60037" y="114300"/>
                    <a:pt x="3287" y="93755"/>
                    <a:pt x="301" y="60079"/>
                  </a:cubicBezTo>
                  <a:cubicBezTo>
                    <a:pt x="101" y="59116"/>
                    <a:pt x="0" y="58134"/>
                    <a:pt x="1" y="57150"/>
                  </a:cubicBezTo>
                  <a:lnTo>
                    <a:pt x="73" y="55664"/>
                  </a:lnTo>
                  <a:lnTo>
                    <a:pt x="301" y="54235"/>
                  </a:lnTo>
                  <a:cubicBezTo>
                    <a:pt x="3230" y="21288"/>
                    <a:pt x="57594" y="900"/>
                    <a:pt x="124131" y="29"/>
                  </a:cubicBezTo>
                  <a:close/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6" name="Google Shape;1396;p43"/>
          <p:cNvSpPr txBox="1"/>
          <p:nvPr/>
        </p:nvSpPr>
        <p:spPr>
          <a:xfrm>
            <a:off x="742950" y="1907381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技术实现</a:t>
            </a:r>
            <a:endParaRPr sz="1100"/>
          </a:p>
        </p:txBody>
      </p:sp>
      <p:sp>
        <p:nvSpPr>
          <p:cNvPr id="1397" name="Google Shape;1397;p43"/>
          <p:cNvSpPr txBox="1"/>
          <p:nvPr/>
        </p:nvSpPr>
        <p:spPr>
          <a:xfrm>
            <a:off x="747951" y="2107049"/>
            <a:ext cx="764298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3A9E6A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endParaRPr sz="1100"/>
          </a:p>
        </p:txBody>
      </p:sp>
      <p:sp>
        <p:nvSpPr>
          <p:cNvPr id="1398" name="Google Shape;1398;p43"/>
          <p:cNvSpPr/>
          <p:nvPr/>
        </p:nvSpPr>
        <p:spPr>
          <a:xfrm>
            <a:off x="757238" y="2300288"/>
            <a:ext cx="2328863" cy="7144"/>
          </a:xfrm>
          <a:custGeom>
            <a:rect b="b" l="l" r="r" t="t"/>
            <a:pathLst>
              <a:path extrusionOk="0" h="9525" w="3105150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cap="flat" cmpd="sng" w="95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9" name="Google Shape;1399;p43"/>
          <p:cNvSpPr/>
          <p:nvPr/>
        </p:nvSpPr>
        <p:spPr>
          <a:xfrm>
            <a:off x="757238" y="2414588"/>
            <a:ext cx="2343150" cy="371475"/>
          </a:xfrm>
          <a:prstGeom prst="roundRect">
            <a:avLst>
              <a:gd fmla="val 15385" name="adj"/>
            </a:avLst>
          </a:prstGeom>
          <a:solidFill>
            <a:srgbClr val="3A9E6A">
              <a:alpha val="784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43"/>
          <p:cNvSpPr/>
          <p:nvPr/>
        </p:nvSpPr>
        <p:spPr>
          <a:xfrm>
            <a:off x="757238" y="2414588"/>
            <a:ext cx="28575" cy="371475"/>
          </a:xfrm>
          <a:prstGeom prst="roundRect">
            <a:avLst>
              <a:gd fmla="val 50000" name="adj"/>
            </a:avLst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43"/>
          <p:cNvSpPr txBox="1"/>
          <p:nvPr/>
        </p:nvSpPr>
        <p:spPr>
          <a:xfrm>
            <a:off x="847963" y="2471381"/>
            <a:ext cx="607304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3A9E6A"/>
                </a:solidFill>
                <a:latin typeface="Arial"/>
                <a:ea typeface="Arial"/>
                <a:cs typeface="Arial"/>
                <a:sym typeface="Arial"/>
              </a:rPr>
              <a:t>① S2 知识库</a:t>
            </a:r>
            <a:endParaRPr sz="1100"/>
          </a:p>
        </p:txBody>
      </p:sp>
      <p:sp>
        <p:nvSpPr>
          <p:cNvPr id="1402" name="Google Shape;1402;p43"/>
          <p:cNvSpPr txBox="1"/>
          <p:nvPr/>
        </p:nvSpPr>
        <p:spPr>
          <a:xfrm>
            <a:off x="847249" y="2615327"/>
            <a:ext cx="2481310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401K / RSU / ISO 专业内容注入 system prompt</a:t>
            </a:r>
            <a:endParaRPr sz="1100"/>
          </a:p>
        </p:txBody>
      </p:sp>
      <p:sp>
        <p:nvSpPr>
          <p:cNvPr id="1403" name="Google Shape;1403;p43"/>
          <p:cNvSpPr/>
          <p:nvPr/>
        </p:nvSpPr>
        <p:spPr>
          <a:xfrm>
            <a:off x="757238" y="2857500"/>
            <a:ext cx="2343150" cy="371475"/>
          </a:xfrm>
          <a:prstGeom prst="roundRect">
            <a:avLst>
              <a:gd fmla="val 15385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43"/>
          <p:cNvSpPr/>
          <p:nvPr/>
        </p:nvSpPr>
        <p:spPr>
          <a:xfrm>
            <a:off x="757238" y="2857500"/>
            <a:ext cx="28575" cy="371475"/>
          </a:xfrm>
          <a:prstGeom prst="roundRect">
            <a:avLst>
              <a:gd fmla="val 50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43"/>
          <p:cNvSpPr txBox="1"/>
          <p:nvPr/>
        </p:nvSpPr>
        <p:spPr>
          <a:xfrm>
            <a:off x="847964" y="2914293"/>
            <a:ext cx="646553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② Claude API</a:t>
            </a:r>
            <a:endParaRPr sz="1100"/>
          </a:p>
        </p:txBody>
      </p:sp>
      <p:sp>
        <p:nvSpPr>
          <p:cNvPr id="1406" name="Google Shape;1406;p43"/>
          <p:cNvSpPr txBox="1"/>
          <p:nvPr/>
        </p:nvSpPr>
        <p:spPr>
          <a:xfrm>
            <a:off x="847249" y="3058239"/>
            <a:ext cx="181997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访客问题 → Claude 回答 → 网站显示</a:t>
            </a:r>
            <a:endParaRPr sz="1100"/>
          </a:p>
        </p:txBody>
      </p:sp>
      <p:sp>
        <p:nvSpPr>
          <p:cNvPr id="1407" name="Google Shape;1407;p43"/>
          <p:cNvSpPr/>
          <p:nvPr/>
        </p:nvSpPr>
        <p:spPr>
          <a:xfrm>
            <a:off x="757238" y="3300413"/>
            <a:ext cx="2343150" cy="371475"/>
          </a:xfrm>
          <a:prstGeom prst="roundRect">
            <a:avLst>
              <a:gd fmla="val 15385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43"/>
          <p:cNvSpPr/>
          <p:nvPr/>
        </p:nvSpPr>
        <p:spPr>
          <a:xfrm>
            <a:off x="757238" y="3300413"/>
            <a:ext cx="28575" cy="371475"/>
          </a:xfrm>
          <a:prstGeom prst="roundRect">
            <a:avLst>
              <a:gd fmla="val 50000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43"/>
          <p:cNvSpPr txBox="1"/>
          <p:nvPr/>
        </p:nvSpPr>
        <p:spPr>
          <a:xfrm>
            <a:off x="847963" y="3357205"/>
            <a:ext cx="83158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③ Claude Design</a:t>
            </a:r>
            <a:endParaRPr sz="1100"/>
          </a:p>
        </p:txBody>
      </p:sp>
      <p:sp>
        <p:nvSpPr>
          <p:cNvPr id="1410" name="Google Shape;1410;p43"/>
          <p:cNvSpPr txBox="1"/>
          <p:nvPr/>
        </p:nvSpPr>
        <p:spPr>
          <a:xfrm>
            <a:off x="847249" y="3501152"/>
            <a:ext cx="1302412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网站底部嵌入对话窗口 UI</a:t>
            </a:r>
            <a:endParaRPr sz="1100"/>
          </a:p>
        </p:txBody>
      </p:sp>
      <p:sp>
        <p:nvSpPr>
          <p:cNvPr id="1411" name="Google Shape;1411;p43"/>
          <p:cNvSpPr/>
          <p:nvPr/>
        </p:nvSpPr>
        <p:spPr>
          <a:xfrm>
            <a:off x="3500438" y="1257300"/>
            <a:ext cx="5072063" cy="2786063"/>
          </a:xfrm>
          <a:prstGeom prst="roundRect">
            <a:avLst>
              <a:gd fmla="val 3590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43"/>
          <p:cNvSpPr/>
          <p:nvPr/>
        </p:nvSpPr>
        <p:spPr>
          <a:xfrm>
            <a:off x="3500438" y="1257300"/>
            <a:ext cx="5072063" cy="35719"/>
          </a:xfrm>
          <a:prstGeom prst="roundRect">
            <a:avLst>
              <a:gd fmla="val 500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43"/>
          <p:cNvSpPr/>
          <p:nvPr/>
        </p:nvSpPr>
        <p:spPr>
          <a:xfrm>
            <a:off x="3514725" y="1307306"/>
            <a:ext cx="5043488" cy="371475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43"/>
          <p:cNvSpPr/>
          <p:nvPr/>
        </p:nvSpPr>
        <p:spPr>
          <a:xfrm>
            <a:off x="3629025" y="1378744"/>
            <a:ext cx="228600" cy="228600"/>
          </a:xfrm>
          <a:prstGeom prst="ellipse">
            <a:avLst/>
          </a:prstGeom>
          <a:solidFill>
            <a:srgbClr val="3D7DE4">
              <a:alpha val="1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43"/>
          <p:cNvSpPr/>
          <p:nvPr/>
        </p:nvSpPr>
        <p:spPr>
          <a:xfrm>
            <a:off x="3671888" y="1428750"/>
            <a:ext cx="142875" cy="136066"/>
          </a:xfrm>
          <a:custGeom>
            <a:rect b="b" l="l" r="r" t="t"/>
            <a:pathLst>
              <a:path extrusionOk="0" h="181421" w="190500">
                <a:moveTo>
                  <a:pt x="152400" y="0"/>
                </a:moveTo>
                <a:cubicBezTo>
                  <a:pt x="173442" y="0"/>
                  <a:pt x="190500" y="17058"/>
                  <a:pt x="190500" y="38100"/>
                </a:cubicBezTo>
                <a:lnTo>
                  <a:pt x="190500" y="114300"/>
                </a:lnTo>
                <a:cubicBezTo>
                  <a:pt x="190500" y="135342"/>
                  <a:pt x="173442" y="152400"/>
                  <a:pt x="152400" y="152400"/>
                </a:cubicBezTo>
                <a:lnTo>
                  <a:pt x="107404" y="152400"/>
                </a:lnTo>
                <a:lnTo>
                  <a:pt x="62046" y="179613"/>
                </a:lnTo>
                <a:cubicBezTo>
                  <a:pt x="59270" y="181279"/>
                  <a:pt x="55839" y="181421"/>
                  <a:pt x="52935" y="179990"/>
                </a:cubicBezTo>
                <a:cubicBezTo>
                  <a:pt x="50031" y="178559"/>
                  <a:pt x="48053" y="175752"/>
                  <a:pt x="47682" y="172536"/>
                </a:cubicBezTo>
                <a:lnTo>
                  <a:pt x="47625" y="171450"/>
                </a:lnTo>
                <a:lnTo>
                  <a:pt x="47625" y="152400"/>
                </a:lnTo>
                <a:lnTo>
                  <a:pt x="38100" y="152400"/>
                </a:lnTo>
                <a:cubicBezTo>
                  <a:pt x="17798" y="152400"/>
                  <a:pt x="1063" y="136481"/>
                  <a:pt x="48" y="116205"/>
                </a:cubicBezTo>
                <a:lnTo>
                  <a:pt x="0" y="114300"/>
                </a:ln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  <a:moveTo>
                  <a:pt x="125730" y="88449"/>
                </a:moveTo>
                <a:cubicBezTo>
                  <a:pt x="121974" y="84767"/>
                  <a:pt x="115944" y="84827"/>
                  <a:pt x="112262" y="88583"/>
                </a:cubicBezTo>
                <a:cubicBezTo>
                  <a:pt x="107783" y="93155"/>
                  <a:pt x="101651" y="95732"/>
                  <a:pt x="95250" y="95732"/>
                </a:cubicBezTo>
                <a:cubicBezTo>
                  <a:pt x="88849" y="95732"/>
                  <a:pt x="82717" y="93155"/>
                  <a:pt x="78238" y="88583"/>
                </a:cubicBezTo>
                <a:cubicBezTo>
                  <a:pt x="74540" y="84916"/>
                  <a:pt x="68583" y="84900"/>
                  <a:pt x="64865" y="88546"/>
                </a:cubicBezTo>
                <a:cubicBezTo>
                  <a:pt x="61146" y="92191"/>
                  <a:pt x="61045" y="98147"/>
                  <a:pt x="64637" y="101917"/>
                </a:cubicBezTo>
                <a:cubicBezTo>
                  <a:pt x="72698" y="110144"/>
                  <a:pt x="83732" y="114780"/>
                  <a:pt x="95250" y="114780"/>
                </a:cubicBezTo>
                <a:cubicBezTo>
                  <a:pt x="106768" y="114780"/>
                  <a:pt x="117802" y="110144"/>
                  <a:pt x="125863" y="101917"/>
                </a:cubicBezTo>
                <a:cubicBezTo>
                  <a:pt x="129545" y="98161"/>
                  <a:pt x="129485" y="92132"/>
                  <a:pt x="125730" y="88449"/>
                </a:cubicBezTo>
                <a:moveTo>
                  <a:pt x="71533" y="47625"/>
                </a:moveTo>
                <a:lnTo>
                  <a:pt x="71438" y="47625"/>
                </a:lnTo>
                <a:cubicBezTo>
                  <a:pt x="66177" y="47625"/>
                  <a:pt x="61912" y="51889"/>
                  <a:pt x="61912" y="57150"/>
                </a:cubicBezTo>
                <a:cubicBezTo>
                  <a:pt x="61912" y="62411"/>
                  <a:pt x="66177" y="66675"/>
                  <a:pt x="71438" y="66675"/>
                </a:cubicBezTo>
                <a:lnTo>
                  <a:pt x="71533" y="66675"/>
                </a:lnTo>
                <a:cubicBezTo>
                  <a:pt x="76793" y="66675"/>
                  <a:pt x="81058" y="62411"/>
                  <a:pt x="81058" y="57150"/>
                </a:cubicBezTo>
                <a:cubicBezTo>
                  <a:pt x="81058" y="51889"/>
                  <a:pt x="76793" y="47625"/>
                  <a:pt x="71533" y="47625"/>
                </a:cubicBezTo>
                <a:moveTo>
                  <a:pt x="119158" y="47625"/>
                </a:moveTo>
                <a:lnTo>
                  <a:pt x="119062" y="47625"/>
                </a:lnTo>
                <a:cubicBezTo>
                  <a:pt x="113802" y="47625"/>
                  <a:pt x="109538" y="51889"/>
                  <a:pt x="109538" y="57150"/>
                </a:cubicBezTo>
                <a:cubicBezTo>
                  <a:pt x="109538" y="62411"/>
                  <a:pt x="113802" y="66675"/>
                  <a:pt x="119062" y="66675"/>
                </a:cubicBezTo>
                <a:lnTo>
                  <a:pt x="119158" y="66675"/>
                </a:lnTo>
                <a:cubicBezTo>
                  <a:pt x="124418" y="66675"/>
                  <a:pt x="128683" y="62411"/>
                  <a:pt x="128683" y="57150"/>
                </a:cubicBezTo>
                <a:cubicBezTo>
                  <a:pt x="128683" y="51889"/>
                  <a:pt x="124418" y="47625"/>
                  <a:pt x="119158" y="47625"/>
                </a:cubicBezTo>
              </a:path>
            </a:pathLst>
          </a:cu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43"/>
          <p:cNvSpPr txBox="1"/>
          <p:nvPr/>
        </p:nvSpPr>
        <p:spPr>
          <a:xfrm>
            <a:off x="3946922" y="1380530"/>
            <a:ext cx="68779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AI 理财顾问</a:t>
            </a:r>
            <a:endParaRPr sz="1100"/>
          </a:p>
        </p:txBody>
      </p:sp>
      <p:sp>
        <p:nvSpPr>
          <p:cNvPr id="1417" name="Google Shape;1417;p43"/>
          <p:cNvSpPr txBox="1"/>
          <p:nvPr/>
        </p:nvSpPr>
        <p:spPr>
          <a:xfrm>
            <a:off x="3949065" y="1534478"/>
            <a:ext cx="29810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3A9E6A"/>
                </a:solidFill>
                <a:latin typeface="Arial"/>
                <a:ea typeface="Arial"/>
                <a:cs typeface="Arial"/>
                <a:sym typeface="Arial"/>
              </a:rPr>
              <a:t>● 在线</a:t>
            </a:r>
            <a:endParaRPr sz="1100"/>
          </a:p>
        </p:txBody>
      </p:sp>
      <p:sp>
        <p:nvSpPr>
          <p:cNvPr id="1418" name="Google Shape;1418;p43"/>
          <p:cNvSpPr txBox="1"/>
          <p:nvPr/>
        </p:nvSpPr>
        <p:spPr>
          <a:xfrm>
            <a:off x="7211491" y="1435537"/>
            <a:ext cx="1155984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由 Austin 的知识库驱动</a:t>
            </a:r>
            <a:endParaRPr sz="1100"/>
          </a:p>
        </p:txBody>
      </p:sp>
      <p:sp>
        <p:nvSpPr>
          <p:cNvPr id="1419" name="Google Shape;1419;p43"/>
          <p:cNvSpPr/>
          <p:nvPr/>
        </p:nvSpPr>
        <p:spPr>
          <a:xfrm>
            <a:off x="3643313" y="1785938"/>
            <a:ext cx="3786188" cy="542925"/>
          </a:xfrm>
          <a:prstGeom prst="roundRect">
            <a:avLst>
              <a:gd fmla="val 13158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43"/>
          <p:cNvSpPr txBox="1"/>
          <p:nvPr/>
        </p:nvSpPr>
        <p:spPr>
          <a:xfrm>
            <a:off x="3747611" y="1843802"/>
            <a:ext cx="53325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访客 Lisa</a:t>
            </a:r>
            <a:endParaRPr sz="1100"/>
          </a:p>
        </p:txBody>
      </p:sp>
      <p:sp>
        <p:nvSpPr>
          <p:cNvPr id="1421" name="Google Shape;1421;p43"/>
          <p:cNvSpPr txBox="1"/>
          <p:nvPr/>
        </p:nvSpPr>
        <p:spPr>
          <a:xfrm>
            <a:off x="3747611" y="2008109"/>
            <a:ext cx="203275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我的 RSU 刚 vest 了 10 万美元，湾区，</a:t>
            </a:r>
            <a:endParaRPr sz="1100"/>
          </a:p>
        </p:txBody>
      </p:sp>
      <p:sp>
        <p:nvSpPr>
          <p:cNvPr id="1422" name="Google Shape;1422;p43"/>
          <p:cNvSpPr txBox="1"/>
          <p:nvPr/>
        </p:nvSpPr>
        <p:spPr>
          <a:xfrm>
            <a:off x="3747611" y="2165271"/>
            <a:ext cx="1699213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今年 W2 约 30 万，怎么处理税？</a:t>
            </a:r>
            <a:endParaRPr sz="1100"/>
          </a:p>
        </p:txBody>
      </p:sp>
      <p:sp>
        <p:nvSpPr>
          <p:cNvPr id="1423" name="Google Shape;1423;p43"/>
          <p:cNvSpPr txBox="1"/>
          <p:nvPr/>
        </p:nvSpPr>
        <p:spPr>
          <a:xfrm>
            <a:off x="7267158" y="2233493"/>
            <a:ext cx="241637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14:23</a:t>
            </a:r>
            <a:endParaRPr sz="1100"/>
          </a:p>
        </p:txBody>
      </p:sp>
      <p:sp>
        <p:nvSpPr>
          <p:cNvPr id="1424" name="Google Shape;1424;p43"/>
          <p:cNvSpPr/>
          <p:nvPr/>
        </p:nvSpPr>
        <p:spPr>
          <a:xfrm>
            <a:off x="3643313" y="2443163"/>
            <a:ext cx="4071938" cy="971550"/>
          </a:xfrm>
          <a:prstGeom prst="roundRect">
            <a:avLst>
              <a:gd fmla="val 7353" name="adj"/>
            </a:avLst>
          </a:prstGeom>
          <a:solidFill>
            <a:srgbClr val="EBF5F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43"/>
          <p:cNvSpPr/>
          <p:nvPr/>
        </p:nvSpPr>
        <p:spPr>
          <a:xfrm>
            <a:off x="3643313" y="2443163"/>
            <a:ext cx="21431" cy="971550"/>
          </a:xfrm>
          <a:prstGeom prst="roundRect">
            <a:avLst>
              <a:gd fmla="val 33333" name="adj"/>
            </a:avLst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43"/>
          <p:cNvSpPr/>
          <p:nvPr/>
        </p:nvSpPr>
        <p:spPr>
          <a:xfrm>
            <a:off x="3714750" y="2493169"/>
            <a:ext cx="142875" cy="142875"/>
          </a:xfrm>
          <a:prstGeom prst="ellipse">
            <a:avLst/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43"/>
          <p:cNvSpPr txBox="1"/>
          <p:nvPr/>
        </p:nvSpPr>
        <p:spPr>
          <a:xfrm>
            <a:off x="3746764" y="2538532"/>
            <a:ext cx="78848" cy="10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sz="1100"/>
          </a:p>
        </p:txBody>
      </p:sp>
      <p:sp>
        <p:nvSpPr>
          <p:cNvPr id="1428" name="Google Shape;1428;p43"/>
          <p:cNvSpPr txBox="1"/>
          <p:nvPr/>
        </p:nvSpPr>
        <p:spPr>
          <a:xfrm>
            <a:off x="3905489" y="2514243"/>
            <a:ext cx="596089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3A9E6A"/>
                </a:solidFill>
                <a:latin typeface="Arial"/>
                <a:ea typeface="Arial"/>
                <a:cs typeface="Arial"/>
                <a:sym typeface="Arial"/>
              </a:rPr>
              <a:t>AI 理财顾问</a:t>
            </a:r>
            <a:endParaRPr sz="1100"/>
          </a:p>
        </p:txBody>
      </p:sp>
      <p:sp>
        <p:nvSpPr>
          <p:cNvPr id="1429" name="Google Shape;1429;p43"/>
          <p:cNvSpPr txBox="1"/>
          <p:nvPr/>
        </p:nvSpPr>
        <p:spPr>
          <a:xfrm>
            <a:off x="3676174" y="2679621"/>
            <a:ext cx="263082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RSU vest 时按普通收入征税。30 万 W2 + 10 万 RSU</a:t>
            </a:r>
            <a:endParaRPr sz="1100"/>
          </a:p>
        </p:txBody>
      </p:sp>
      <p:sp>
        <p:nvSpPr>
          <p:cNvPr id="1430" name="Google Shape;1430;p43"/>
          <p:cNvSpPr txBox="1"/>
          <p:nvPr/>
        </p:nvSpPr>
        <p:spPr>
          <a:xfrm>
            <a:off x="3676174" y="2836784"/>
            <a:ext cx="2044256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= 联邦边际税率约 35%，加州约 13.3%。</a:t>
            </a:r>
            <a:endParaRPr sz="1100"/>
          </a:p>
        </p:txBody>
      </p:sp>
      <p:sp>
        <p:nvSpPr>
          <p:cNvPr id="1431" name="Google Shape;1431;p43"/>
          <p:cNvSpPr txBox="1"/>
          <p:nvPr/>
        </p:nvSpPr>
        <p:spPr>
          <a:xfrm>
            <a:off x="3676174" y="2993946"/>
            <a:ext cx="2561820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建议：① 确认雇主已预扣税，② 持有 1 年转 LTCG，</a:t>
            </a:r>
            <a:endParaRPr sz="1100"/>
          </a:p>
        </p:txBody>
      </p:sp>
      <p:sp>
        <p:nvSpPr>
          <p:cNvPr id="1432" name="Google Shape;1432;p43"/>
          <p:cNvSpPr txBox="1"/>
          <p:nvPr/>
        </p:nvSpPr>
        <p:spPr>
          <a:xfrm>
            <a:off x="3676174" y="3151109"/>
            <a:ext cx="1411676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③ 考虑 401K 补缴降低 AGI。</a:t>
            </a:r>
            <a:endParaRPr sz="1100"/>
          </a:p>
        </p:txBody>
      </p:sp>
      <p:sp>
        <p:nvSpPr>
          <p:cNvPr id="1433" name="Google Shape;1433;p43"/>
          <p:cNvSpPr txBox="1"/>
          <p:nvPr/>
        </p:nvSpPr>
        <p:spPr>
          <a:xfrm>
            <a:off x="7552908" y="3319343"/>
            <a:ext cx="241637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14:23</a:t>
            </a:r>
            <a:endParaRPr sz="1100"/>
          </a:p>
        </p:txBody>
      </p:sp>
      <p:sp>
        <p:nvSpPr>
          <p:cNvPr id="1434" name="Google Shape;1434;p43"/>
          <p:cNvSpPr/>
          <p:nvPr/>
        </p:nvSpPr>
        <p:spPr>
          <a:xfrm>
            <a:off x="3643313" y="3543300"/>
            <a:ext cx="4071938" cy="328613"/>
          </a:xfrm>
          <a:prstGeom prst="roundRect">
            <a:avLst>
              <a:gd fmla="val 17391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43"/>
          <p:cNvSpPr txBox="1"/>
          <p:nvPr/>
        </p:nvSpPr>
        <p:spPr>
          <a:xfrm>
            <a:off x="3776186" y="3651171"/>
            <a:ext cx="183147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BDBDBD"/>
                </a:solidFill>
                <a:latin typeface="Arial"/>
                <a:ea typeface="Arial"/>
                <a:cs typeface="Arial"/>
                <a:sym typeface="Arial"/>
              </a:rPr>
              <a:t>问我任何 401K / RSU / ISO 问题...</a:t>
            </a:r>
            <a:endParaRPr sz="1100"/>
          </a:p>
        </p:txBody>
      </p:sp>
      <p:sp>
        <p:nvSpPr>
          <p:cNvPr id="1436" name="Google Shape;1436;p43"/>
          <p:cNvSpPr/>
          <p:nvPr/>
        </p:nvSpPr>
        <p:spPr>
          <a:xfrm>
            <a:off x="7472363" y="3607594"/>
            <a:ext cx="200025" cy="200025"/>
          </a:xfrm>
          <a:prstGeom prst="ellipse">
            <a:avLst/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43"/>
          <p:cNvSpPr/>
          <p:nvPr/>
        </p:nvSpPr>
        <p:spPr>
          <a:xfrm>
            <a:off x="7529513" y="3657600"/>
            <a:ext cx="100013" cy="100013"/>
          </a:xfrm>
          <a:custGeom>
            <a:rect b="b" l="l" r="r" t="t"/>
            <a:pathLst>
              <a:path extrusionOk="0" h="133350" w="133350">
                <a:moveTo>
                  <a:pt x="0" y="0"/>
                </a:moveTo>
                <a:lnTo>
                  <a:pt x="0" y="133350"/>
                </a:lnTo>
                <a:lnTo>
                  <a:pt x="133350" y="666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38" name="Google Shape;1438;p43"/>
          <p:cNvSpPr/>
          <p:nvPr/>
        </p:nvSpPr>
        <p:spPr>
          <a:xfrm>
            <a:off x="571500" y="4186238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95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9" name="Google Shape;1439;p43"/>
          <p:cNvSpPr/>
          <p:nvPr/>
        </p:nvSpPr>
        <p:spPr>
          <a:xfrm>
            <a:off x="1714500" y="4314825"/>
            <a:ext cx="5715000" cy="414338"/>
          </a:xfrm>
          <a:prstGeom prst="roundRect">
            <a:avLst>
              <a:gd fmla="val 20690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43"/>
          <p:cNvSpPr txBox="1"/>
          <p:nvPr/>
        </p:nvSpPr>
        <p:spPr>
          <a:xfrm>
            <a:off x="2856057" y="4396264"/>
            <a:ext cx="343188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S2 是武器，S4 是展台，加上 chatbot 是真正的 AI 产品</a:t>
            </a:r>
            <a:endParaRPr sz="1100"/>
          </a:p>
        </p:txBody>
      </p:sp>
      <p:sp>
        <p:nvSpPr>
          <p:cNvPr id="1441" name="Google Shape;1441;p43"/>
          <p:cNvSpPr txBox="1"/>
          <p:nvPr/>
        </p:nvSpPr>
        <p:spPr>
          <a:xfrm>
            <a:off x="2986302" y="4572714"/>
            <a:ext cx="3171396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7×24 小时 · 知识库作 system prompt · 课后找我单独聊实现</a:t>
            </a:r>
            <a:endParaRPr sz="1100"/>
          </a:p>
        </p:txBody>
      </p:sp>
      <p:sp>
        <p:nvSpPr>
          <p:cNvPr id="1442" name="Google Shape;1442;p43"/>
          <p:cNvSpPr txBox="1"/>
          <p:nvPr/>
        </p:nvSpPr>
        <p:spPr>
          <a:xfrm>
            <a:off x="8348829" y="4958477"/>
            <a:ext cx="376547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19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44"/>
          <p:cNvSpPr/>
          <p:nvPr/>
        </p:nvSpPr>
        <p:spPr>
          <a:xfrm>
            <a:off x="0" y="-2500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44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44"/>
          <p:cNvSpPr txBox="1"/>
          <p:nvPr/>
        </p:nvSpPr>
        <p:spPr>
          <a:xfrm>
            <a:off x="2318167" y="224314"/>
            <a:ext cx="4507667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Demo C：你已经有了——直接提取</a:t>
            </a:r>
            <a:endParaRPr sz="1100"/>
          </a:p>
        </p:txBody>
      </p:sp>
      <p:sp>
        <p:nvSpPr>
          <p:cNvPr id="1450" name="Google Shape;1450;p44"/>
          <p:cNvSpPr txBox="1"/>
          <p:nvPr/>
        </p:nvSpPr>
        <p:spPr>
          <a:xfrm>
            <a:off x="2726323" y="537924"/>
            <a:ext cx="3691355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已有 PPT / 品牌规范 / 设计稿？不用从零开始</a:t>
            </a:r>
            <a:endParaRPr sz="1100"/>
          </a:p>
        </p:txBody>
      </p:sp>
      <p:sp>
        <p:nvSpPr>
          <p:cNvPr id="1451" name="Google Shape;1451;p44"/>
          <p:cNvSpPr/>
          <p:nvPr/>
        </p:nvSpPr>
        <p:spPr>
          <a:xfrm>
            <a:off x="571500" y="814388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2" name="Google Shape;1452;p44"/>
          <p:cNvSpPr txBox="1"/>
          <p:nvPr/>
        </p:nvSpPr>
        <p:spPr>
          <a:xfrm>
            <a:off x="2190150" y="1046901"/>
            <a:ext cx="4790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演示：上传本课 PPT → 提取 Design System → 直接在 Claude Design 建新 PPT</a:t>
            </a:r>
            <a:endParaRPr sz="1100"/>
          </a:p>
        </p:txBody>
      </p:sp>
      <p:sp>
        <p:nvSpPr>
          <p:cNvPr id="1453" name="Google Shape;1453;p44"/>
          <p:cNvSpPr/>
          <p:nvPr/>
        </p:nvSpPr>
        <p:spPr>
          <a:xfrm>
            <a:off x="3114675" y="2857500"/>
            <a:ext cx="300038" cy="7144"/>
          </a:xfrm>
          <a:custGeom>
            <a:rect b="b" l="l" r="r" t="t"/>
            <a:pathLst>
              <a:path extrusionOk="0" h="9525" w="400050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cap="flat" cmpd="sng" w="285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4" name="Google Shape;1454;p44"/>
          <p:cNvSpPr/>
          <p:nvPr/>
        </p:nvSpPr>
        <p:spPr>
          <a:xfrm>
            <a:off x="3414713" y="2807494"/>
            <a:ext cx="114300" cy="100013"/>
          </a:xfrm>
          <a:custGeom>
            <a:rect b="b" l="l" r="r" t="t"/>
            <a:pathLst>
              <a:path extrusionOk="0" h="133350" w="152400">
                <a:moveTo>
                  <a:pt x="0" y="0"/>
                </a:moveTo>
                <a:lnTo>
                  <a:pt x="15240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C96133">
              <a:alpha val="50196"/>
            </a:srgbClr>
          </a:solidFill>
          <a:ln>
            <a:noFill/>
          </a:ln>
        </p:spPr>
      </p:sp>
      <p:sp>
        <p:nvSpPr>
          <p:cNvPr id="1455" name="Google Shape;1455;p44"/>
          <p:cNvSpPr/>
          <p:nvPr/>
        </p:nvSpPr>
        <p:spPr>
          <a:xfrm>
            <a:off x="5743575" y="2857500"/>
            <a:ext cx="300038" cy="7144"/>
          </a:xfrm>
          <a:custGeom>
            <a:rect b="b" l="l" r="r" t="t"/>
            <a:pathLst>
              <a:path extrusionOk="0" h="9525" w="400050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cap="flat" cmpd="sng" w="285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6" name="Google Shape;1456;p44"/>
          <p:cNvSpPr/>
          <p:nvPr/>
        </p:nvSpPr>
        <p:spPr>
          <a:xfrm>
            <a:off x="6043613" y="2807494"/>
            <a:ext cx="114300" cy="100013"/>
          </a:xfrm>
          <a:custGeom>
            <a:rect b="b" l="l" r="r" t="t"/>
            <a:pathLst>
              <a:path extrusionOk="0" h="133350" w="152400">
                <a:moveTo>
                  <a:pt x="0" y="0"/>
                </a:moveTo>
                <a:lnTo>
                  <a:pt x="15240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C96133">
              <a:alpha val="50196"/>
            </a:srgbClr>
          </a:solidFill>
          <a:ln>
            <a:noFill/>
          </a:ln>
        </p:spPr>
      </p:sp>
      <p:sp>
        <p:nvSpPr>
          <p:cNvPr id="1457" name="Google Shape;1457;p44"/>
          <p:cNvSpPr/>
          <p:nvPr/>
        </p:nvSpPr>
        <p:spPr>
          <a:xfrm>
            <a:off x="1500188" y="1443038"/>
            <a:ext cx="685800" cy="685800"/>
          </a:xfrm>
          <a:prstGeom prst="ellipse">
            <a:avLst/>
          </a:prstGeom>
          <a:solidFill>
            <a:srgbClr val="C96133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44"/>
          <p:cNvSpPr/>
          <p:nvPr/>
        </p:nvSpPr>
        <p:spPr>
          <a:xfrm>
            <a:off x="1585913" y="1528763"/>
            <a:ext cx="514350" cy="514350"/>
          </a:xfrm>
          <a:prstGeom prst="ellipse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44"/>
          <p:cNvSpPr txBox="1"/>
          <p:nvPr/>
        </p:nvSpPr>
        <p:spPr>
          <a:xfrm>
            <a:off x="1746718" y="1609487"/>
            <a:ext cx="1927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1460" name="Google Shape;1460;p44"/>
          <p:cNvSpPr txBox="1"/>
          <p:nvPr/>
        </p:nvSpPr>
        <p:spPr>
          <a:xfrm>
            <a:off x="1751260" y="1809869"/>
            <a:ext cx="183655" cy="10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 sz="1100"/>
          </a:p>
        </p:txBody>
      </p:sp>
      <p:sp>
        <p:nvSpPr>
          <p:cNvPr id="1461" name="Google Shape;1461;p44"/>
          <p:cNvSpPr/>
          <p:nvPr/>
        </p:nvSpPr>
        <p:spPr>
          <a:xfrm>
            <a:off x="1843088" y="2043113"/>
            <a:ext cx="7144" cy="242888"/>
          </a:xfrm>
          <a:custGeom>
            <a:rect b="b" l="l" r="r" t="t"/>
            <a:pathLst>
              <a:path extrusionOk="0" h="323850" w="9525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/>
          <a:ln cap="flat" cmpd="sng" w="19050">
            <a:solidFill>
              <a:srgbClr val="C96133">
                <a:alpha val="40000"/>
              </a:srgbClr>
            </a:solidFill>
            <a:prstDash val="dashDot"/>
            <a:round/>
            <a:headEnd len="sm" w="sm" type="none"/>
            <a:tailEnd len="sm" w="sm" type="none"/>
          </a:ln>
        </p:spPr>
      </p:sp>
      <p:sp>
        <p:nvSpPr>
          <p:cNvPr id="1462" name="Google Shape;1462;p44"/>
          <p:cNvSpPr/>
          <p:nvPr/>
        </p:nvSpPr>
        <p:spPr>
          <a:xfrm>
            <a:off x="571500" y="2286000"/>
            <a:ext cx="2543175" cy="2428875"/>
          </a:xfrm>
          <a:prstGeom prst="roundRect">
            <a:avLst>
              <a:gd fmla="val 4118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44"/>
          <p:cNvSpPr/>
          <p:nvPr/>
        </p:nvSpPr>
        <p:spPr>
          <a:xfrm>
            <a:off x="571500" y="2286000"/>
            <a:ext cx="2543175" cy="42863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44"/>
          <p:cNvSpPr/>
          <p:nvPr/>
        </p:nvSpPr>
        <p:spPr>
          <a:xfrm>
            <a:off x="757238" y="2457450"/>
            <a:ext cx="371475" cy="371475"/>
          </a:xfrm>
          <a:prstGeom prst="roundRect">
            <a:avLst>
              <a:gd fmla="val 23077" name="adj"/>
            </a:avLst>
          </a:prstGeom>
          <a:solidFill>
            <a:srgbClr val="C96133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5" name="Google Shape;1465;p44"/>
          <p:cNvGrpSpPr/>
          <p:nvPr/>
        </p:nvGrpSpPr>
        <p:grpSpPr>
          <a:xfrm>
            <a:off x="847724" y="2524125"/>
            <a:ext cx="190502" cy="238126"/>
            <a:chOff x="1130299" y="3365500"/>
            <a:chExt cx="254003" cy="317501"/>
          </a:xfrm>
        </p:grpSpPr>
        <p:sp>
          <p:nvSpPr>
            <p:cNvPr id="1466" name="Google Shape;1466;p44"/>
            <p:cNvSpPr/>
            <p:nvPr/>
          </p:nvSpPr>
          <p:spPr>
            <a:xfrm>
              <a:off x="1130299" y="3365500"/>
              <a:ext cx="254003" cy="317501"/>
            </a:xfrm>
            <a:custGeom>
              <a:rect b="b" l="l" r="r" t="t"/>
              <a:pathLst>
                <a:path extrusionOk="0" h="317501" w="254003">
                  <a:moveTo>
                    <a:pt x="127001" y="0"/>
                  </a:moveTo>
                  <a:lnTo>
                    <a:pt x="128859" y="111"/>
                  </a:lnTo>
                  <a:cubicBezTo>
                    <a:pt x="136153" y="971"/>
                    <a:pt x="141905" y="6723"/>
                    <a:pt x="142765" y="14018"/>
                  </a:cubicBezTo>
                  <a:lnTo>
                    <a:pt x="142876" y="15875"/>
                  </a:lnTo>
                  <a:lnTo>
                    <a:pt x="142876" y="79375"/>
                  </a:lnTo>
                  <a:lnTo>
                    <a:pt x="142956" y="81756"/>
                  </a:lnTo>
                  <a:cubicBezTo>
                    <a:pt x="144130" y="97376"/>
                    <a:pt x="156519" y="109805"/>
                    <a:pt x="172134" y="111030"/>
                  </a:cubicBezTo>
                  <a:lnTo>
                    <a:pt x="174626" y="111125"/>
                  </a:lnTo>
                  <a:lnTo>
                    <a:pt x="238126" y="111125"/>
                  </a:lnTo>
                  <a:lnTo>
                    <a:pt x="239984" y="111236"/>
                  </a:lnTo>
                  <a:cubicBezTo>
                    <a:pt x="247278" y="112096"/>
                    <a:pt x="253030" y="117848"/>
                    <a:pt x="253890" y="125143"/>
                  </a:cubicBezTo>
                  <a:lnTo>
                    <a:pt x="254001" y="127000"/>
                  </a:lnTo>
                  <a:lnTo>
                    <a:pt x="254001" y="269875"/>
                  </a:lnTo>
                  <a:cubicBezTo>
                    <a:pt x="254003" y="295093"/>
                    <a:pt x="234345" y="315941"/>
                    <a:pt x="209170" y="317421"/>
                  </a:cubicBezTo>
                  <a:lnTo>
                    <a:pt x="206376" y="317500"/>
                  </a:lnTo>
                  <a:lnTo>
                    <a:pt x="47626" y="317500"/>
                  </a:lnTo>
                  <a:cubicBezTo>
                    <a:pt x="22408" y="317501"/>
                    <a:pt x="1560" y="297844"/>
                    <a:pt x="81" y="272669"/>
                  </a:cubicBezTo>
                  <a:lnTo>
                    <a:pt x="1" y="269875"/>
                  </a:lnTo>
                  <a:lnTo>
                    <a:pt x="1" y="47625"/>
                  </a:lnTo>
                  <a:cubicBezTo>
                    <a:pt x="0" y="22407"/>
                    <a:pt x="19657" y="1559"/>
                    <a:pt x="44832" y="79"/>
                  </a:cubicBezTo>
                  <a:lnTo>
                    <a:pt x="47626" y="0"/>
                  </a:lnTo>
                  <a:close/>
                  <a:moveTo>
                    <a:pt x="127001" y="142875"/>
                  </a:moveTo>
                  <a:lnTo>
                    <a:pt x="125573" y="142938"/>
                  </a:lnTo>
                  <a:lnTo>
                    <a:pt x="124652" y="143050"/>
                  </a:lnTo>
                  <a:lnTo>
                    <a:pt x="122779" y="143447"/>
                  </a:lnTo>
                  <a:lnTo>
                    <a:pt x="121112" y="144002"/>
                  </a:lnTo>
                  <a:lnTo>
                    <a:pt x="119318" y="144859"/>
                  </a:lnTo>
                  <a:lnTo>
                    <a:pt x="117556" y="145987"/>
                  </a:lnTo>
                  <a:cubicBezTo>
                    <a:pt x="116926" y="146455"/>
                    <a:pt x="116332" y="146970"/>
                    <a:pt x="115778" y="147526"/>
                  </a:cubicBezTo>
                  <a:lnTo>
                    <a:pt x="76090" y="187214"/>
                  </a:lnTo>
                  <a:cubicBezTo>
                    <a:pt x="69893" y="193413"/>
                    <a:pt x="69893" y="203462"/>
                    <a:pt x="76090" y="209661"/>
                  </a:cubicBezTo>
                  <a:lnTo>
                    <a:pt x="77583" y="210979"/>
                  </a:lnTo>
                  <a:cubicBezTo>
                    <a:pt x="83902" y="215881"/>
                    <a:pt x="92882" y="215316"/>
                    <a:pt x="98538" y="209661"/>
                  </a:cubicBezTo>
                  <a:lnTo>
                    <a:pt x="111126" y="197072"/>
                  </a:lnTo>
                  <a:lnTo>
                    <a:pt x="111126" y="254000"/>
                  </a:lnTo>
                  <a:cubicBezTo>
                    <a:pt x="111126" y="262768"/>
                    <a:pt x="118234" y="269875"/>
                    <a:pt x="127001" y="269875"/>
                  </a:cubicBezTo>
                  <a:cubicBezTo>
                    <a:pt x="135769" y="269875"/>
                    <a:pt x="142876" y="262768"/>
                    <a:pt x="142876" y="254000"/>
                  </a:cubicBezTo>
                  <a:lnTo>
                    <a:pt x="142876" y="197088"/>
                  </a:lnTo>
                  <a:lnTo>
                    <a:pt x="155465" y="209661"/>
                  </a:lnTo>
                  <a:cubicBezTo>
                    <a:pt x="161694" y="215677"/>
                    <a:pt x="171596" y="215591"/>
                    <a:pt x="177719" y="209468"/>
                  </a:cubicBezTo>
                  <a:cubicBezTo>
                    <a:pt x="183843" y="203344"/>
                    <a:pt x="183929" y="193443"/>
                    <a:pt x="177913" y="187214"/>
                  </a:cubicBezTo>
                  <a:lnTo>
                    <a:pt x="138225" y="147526"/>
                  </a:lnTo>
                  <a:lnTo>
                    <a:pt x="136923" y="146368"/>
                  </a:lnTo>
                  <a:lnTo>
                    <a:pt x="135272" y="145193"/>
                  </a:lnTo>
                  <a:lnTo>
                    <a:pt x="133717" y="144367"/>
                  </a:lnTo>
                  <a:lnTo>
                    <a:pt x="131970" y="143669"/>
                  </a:lnTo>
                  <a:lnTo>
                    <a:pt x="130192" y="143193"/>
                  </a:lnTo>
                  <a:lnTo>
                    <a:pt x="128192" y="142923"/>
                  </a:lnTo>
                  <a:close/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44"/>
            <p:cNvSpPr/>
            <p:nvPr/>
          </p:nvSpPr>
          <p:spPr>
            <a:xfrm>
              <a:off x="1304909" y="3381359"/>
              <a:ext cx="63516" cy="63516"/>
            </a:xfrm>
            <a:custGeom>
              <a:rect b="b" l="l" r="r" t="t"/>
              <a:pathLst>
                <a:path extrusionOk="0" h="63516" w="63516">
                  <a:moveTo>
                    <a:pt x="63516" y="63516"/>
                  </a:moveTo>
                  <a:lnTo>
                    <a:pt x="16" y="63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96133"/>
            </a:solidFill>
            <a:ln>
              <a:noFill/>
            </a:ln>
          </p:spPr>
        </p:sp>
      </p:grpSp>
      <p:sp>
        <p:nvSpPr>
          <p:cNvPr id="1468" name="Google Shape;1468;p44"/>
          <p:cNvSpPr txBox="1"/>
          <p:nvPr/>
        </p:nvSpPr>
        <p:spPr>
          <a:xfrm>
            <a:off x="740093" y="288321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上传</a:t>
            </a:r>
            <a:endParaRPr sz="1100"/>
          </a:p>
        </p:txBody>
      </p:sp>
      <p:sp>
        <p:nvSpPr>
          <p:cNvPr id="1469" name="Google Shape;1469;p44"/>
          <p:cNvSpPr txBox="1"/>
          <p:nvPr/>
        </p:nvSpPr>
        <p:spPr>
          <a:xfrm>
            <a:off x="746522" y="3123605"/>
            <a:ext cx="47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UPLOAD</a:t>
            </a:r>
            <a:endParaRPr sz="1100"/>
          </a:p>
        </p:txBody>
      </p:sp>
      <p:sp>
        <p:nvSpPr>
          <p:cNvPr id="1470" name="Google Shape;1470;p44"/>
          <p:cNvSpPr/>
          <p:nvPr/>
        </p:nvSpPr>
        <p:spPr>
          <a:xfrm>
            <a:off x="757238" y="3328988"/>
            <a:ext cx="2214563" cy="7144"/>
          </a:xfrm>
          <a:custGeom>
            <a:rect b="b" l="l" r="r" t="t"/>
            <a:pathLst>
              <a:path extrusionOk="0" h="9525" w="2952750">
                <a:moveTo>
                  <a:pt x="0" y="0"/>
                </a:moveTo>
                <a:lnTo>
                  <a:pt x="2952750" y="0"/>
                </a:lnTo>
              </a:path>
            </a:pathLst>
          </a:custGeom>
          <a:noFill/>
          <a:ln cap="flat" cmpd="sng" w="14275">
            <a:solidFill>
              <a:srgbClr val="F0EDE8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1" name="Google Shape;1471;p44"/>
          <p:cNvSpPr txBox="1"/>
          <p:nvPr/>
        </p:nvSpPr>
        <p:spPr>
          <a:xfrm>
            <a:off x="745094" y="3440073"/>
            <a:ext cx="1595468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上传 PPT / 截图 / 设计稿</a:t>
            </a:r>
            <a:endParaRPr sz="1100"/>
          </a:p>
        </p:txBody>
      </p:sp>
      <p:sp>
        <p:nvSpPr>
          <p:cNvPr id="1472" name="Google Shape;1472;p44"/>
          <p:cNvSpPr txBox="1"/>
          <p:nvPr/>
        </p:nvSpPr>
        <p:spPr>
          <a:xfrm>
            <a:off x="745094" y="3640098"/>
            <a:ext cx="1099673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到 Claude Design</a:t>
            </a:r>
            <a:endParaRPr sz="1100"/>
          </a:p>
        </p:txBody>
      </p:sp>
      <p:sp>
        <p:nvSpPr>
          <p:cNvPr id="1473" name="Google Shape;1473;p44"/>
          <p:cNvSpPr txBox="1"/>
          <p:nvPr/>
        </p:nvSpPr>
        <p:spPr>
          <a:xfrm>
            <a:off x="746522" y="3909417"/>
            <a:ext cx="16911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支持 .pptx / .pdf / 图片格式</a:t>
            </a:r>
            <a:endParaRPr sz="1100"/>
          </a:p>
        </p:txBody>
      </p:sp>
      <p:sp>
        <p:nvSpPr>
          <p:cNvPr id="1474" name="Google Shape;1474;p44"/>
          <p:cNvSpPr txBox="1"/>
          <p:nvPr/>
        </p:nvSpPr>
        <p:spPr>
          <a:xfrm>
            <a:off x="746521" y="4080867"/>
            <a:ext cx="20670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告诉 Claude："提取 Design System"</a:t>
            </a:r>
            <a:endParaRPr sz="1100"/>
          </a:p>
        </p:txBody>
      </p:sp>
      <p:sp>
        <p:nvSpPr>
          <p:cNvPr id="1475" name="Google Shape;1475;p44"/>
          <p:cNvSpPr/>
          <p:nvPr/>
        </p:nvSpPr>
        <p:spPr>
          <a:xfrm>
            <a:off x="757238" y="4357688"/>
            <a:ext cx="2214563" cy="214313"/>
          </a:xfrm>
          <a:prstGeom prst="roundRect">
            <a:avLst>
              <a:gd fmla="val 50000" name="adj"/>
            </a:avLst>
          </a:prstGeom>
          <a:solidFill>
            <a:srgbClr val="F0EDE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44"/>
          <p:cNvSpPr txBox="1"/>
          <p:nvPr/>
        </p:nvSpPr>
        <p:spPr>
          <a:xfrm>
            <a:off x="828014" y="4415552"/>
            <a:ext cx="207300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Claude Design 识别色彩 / 字体 / 版式</a:t>
            </a:r>
            <a:endParaRPr sz="1100"/>
          </a:p>
        </p:txBody>
      </p:sp>
      <p:sp>
        <p:nvSpPr>
          <p:cNvPr id="1477" name="Google Shape;1477;p44"/>
          <p:cNvSpPr/>
          <p:nvPr/>
        </p:nvSpPr>
        <p:spPr>
          <a:xfrm>
            <a:off x="4129088" y="1443038"/>
            <a:ext cx="685800" cy="685800"/>
          </a:xfrm>
          <a:prstGeom prst="ellipse">
            <a:avLst/>
          </a:prstGeom>
          <a:solidFill>
            <a:srgbClr val="C96133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44"/>
          <p:cNvSpPr/>
          <p:nvPr/>
        </p:nvSpPr>
        <p:spPr>
          <a:xfrm>
            <a:off x="4214813" y="1528763"/>
            <a:ext cx="514350" cy="514350"/>
          </a:xfrm>
          <a:prstGeom prst="ellipse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44"/>
          <p:cNvSpPr txBox="1"/>
          <p:nvPr/>
        </p:nvSpPr>
        <p:spPr>
          <a:xfrm>
            <a:off x="4351896" y="1609487"/>
            <a:ext cx="240184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1480" name="Google Shape;1480;p44"/>
          <p:cNvSpPr txBox="1"/>
          <p:nvPr/>
        </p:nvSpPr>
        <p:spPr>
          <a:xfrm>
            <a:off x="4380160" y="1809869"/>
            <a:ext cx="183655" cy="10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 sz="1100"/>
          </a:p>
        </p:txBody>
      </p:sp>
      <p:sp>
        <p:nvSpPr>
          <p:cNvPr id="1481" name="Google Shape;1481;p44"/>
          <p:cNvSpPr/>
          <p:nvPr/>
        </p:nvSpPr>
        <p:spPr>
          <a:xfrm>
            <a:off x="4471988" y="2043113"/>
            <a:ext cx="7144" cy="242888"/>
          </a:xfrm>
          <a:custGeom>
            <a:rect b="b" l="l" r="r" t="t"/>
            <a:pathLst>
              <a:path extrusionOk="0" h="323850" w="9525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/>
          <a:ln cap="flat" cmpd="sng" w="19050">
            <a:solidFill>
              <a:srgbClr val="3D7DE4">
                <a:alpha val="40000"/>
              </a:srgbClr>
            </a:solidFill>
            <a:prstDash val="dashDot"/>
            <a:round/>
            <a:headEnd len="sm" w="sm" type="none"/>
            <a:tailEnd len="sm" w="sm" type="none"/>
          </a:ln>
        </p:spPr>
      </p:sp>
      <p:sp>
        <p:nvSpPr>
          <p:cNvPr id="1482" name="Google Shape;1482;p44"/>
          <p:cNvSpPr/>
          <p:nvPr/>
        </p:nvSpPr>
        <p:spPr>
          <a:xfrm>
            <a:off x="3200400" y="2286000"/>
            <a:ext cx="2543175" cy="2428875"/>
          </a:xfrm>
          <a:prstGeom prst="roundRect">
            <a:avLst>
              <a:gd fmla="val 4118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44"/>
          <p:cNvSpPr/>
          <p:nvPr/>
        </p:nvSpPr>
        <p:spPr>
          <a:xfrm>
            <a:off x="3200400" y="2286000"/>
            <a:ext cx="2543175" cy="42863"/>
          </a:xfrm>
          <a:prstGeom prst="roundRect">
            <a:avLst>
              <a:gd fmla="val 500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44"/>
          <p:cNvSpPr/>
          <p:nvPr/>
        </p:nvSpPr>
        <p:spPr>
          <a:xfrm>
            <a:off x="3386138" y="2457450"/>
            <a:ext cx="371475" cy="371475"/>
          </a:xfrm>
          <a:prstGeom prst="roundRect">
            <a:avLst>
              <a:gd fmla="val 23077" name="adj"/>
            </a:avLst>
          </a:prstGeom>
          <a:solidFill>
            <a:srgbClr val="3D7DE4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44"/>
          <p:cNvSpPr/>
          <p:nvPr/>
        </p:nvSpPr>
        <p:spPr>
          <a:xfrm>
            <a:off x="3452813" y="2524125"/>
            <a:ext cx="238125" cy="238368"/>
          </a:xfrm>
          <a:custGeom>
            <a:rect b="b" l="l" r="r" t="t"/>
            <a:pathLst>
              <a:path extrusionOk="0" h="317824" w="317500">
                <a:moveTo>
                  <a:pt x="158750" y="0"/>
                </a:moveTo>
                <a:cubicBezTo>
                  <a:pt x="246031" y="0"/>
                  <a:pt x="317500" y="63532"/>
                  <a:pt x="317500" y="142875"/>
                </a:cubicBezTo>
                <a:cubicBezTo>
                  <a:pt x="317500" y="164322"/>
                  <a:pt x="307975" y="184785"/>
                  <a:pt x="291243" y="199644"/>
                </a:cubicBezTo>
                <a:cubicBezTo>
                  <a:pt x="274892" y="214154"/>
                  <a:pt x="252952" y="222250"/>
                  <a:pt x="230188" y="222250"/>
                </a:cubicBezTo>
                <a:lnTo>
                  <a:pt x="190246" y="222250"/>
                </a:lnTo>
                <a:cubicBezTo>
                  <a:pt x="182960" y="222133"/>
                  <a:pt x="176529" y="226991"/>
                  <a:pt x="174651" y="234033"/>
                </a:cubicBezTo>
                <a:cubicBezTo>
                  <a:pt x="172774" y="241074"/>
                  <a:pt x="175931" y="248489"/>
                  <a:pt x="182309" y="252016"/>
                </a:cubicBezTo>
                <a:cubicBezTo>
                  <a:pt x="183420" y="252631"/>
                  <a:pt x="184454" y="253377"/>
                  <a:pt x="185388" y="254238"/>
                </a:cubicBezTo>
                <a:cubicBezTo>
                  <a:pt x="196517" y="264508"/>
                  <a:pt x="200152" y="280581"/>
                  <a:pt x="194525" y="294639"/>
                </a:cubicBezTo>
                <a:cubicBezTo>
                  <a:pt x="188898" y="308698"/>
                  <a:pt x="175177" y="317824"/>
                  <a:pt x="160036" y="317579"/>
                </a:cubicBezTo>
                <a:lnTo>
                  <a:pt x="157559" y="317437"/>
                </a:lnTo>
                <a:lnTo>
                  <a:pt x="158639" y="317500"/>
                </a:lnTo>
                <a:lnTo>
                  <a:pt x="154305" y="317437"/>
                </a:lnTo>
                <a:cubicBezTo>
                  <a:pt x="70168" y="315119"/>
                  <a:pt x="2381" y="247333"/>
                  <a:pt x="63" y="163195"/>
                </a:cubicBezTo>
                <a:lnTo>
                  <a:pt x="0" y="158750"/>
                </a:lnTo>
                <a:cubicBezTo>
                  <a:pt x="0" y="71072"/>
                  <a:pt x="71072" y="0"/>
                  <a:pt x="158750" y="0"/>
                </a:cubicBezTo>
                <a:moveTo>
                  <a:pt x="103188" y="103188"/>
                </a:moveTo>
                <a:cubicBezTo>
                  <a:pt x="86572" y="103182"/>
                  <a:pt x="72763" y="115988"/>
                  <a:pt x="71517" y="132556"/>
                </a:cubicBezTo>
                <a:lnTo>
                  <a:pt x="71438" y="134938"/>
                </a:lnTo>
                <a:cubicBezTo>
                  <a:pt x="71438" y="152473"/>
                  <a:pt x="85652" y="166688"/>
                  <a:pt x="103188" y="166688"/>
                </a:cubicBezTo>
                <a:cubicBezTo>
                  <a:pt x="120723" y="166688"/>
                  <a:pt x="134938" y="152473"/>
                  <a:pt x="134938" y="134938"/>
                </a:cubicBezTo>
                <a:cubicBezTo>
                  <a:pt x="134938" y="117402"/>
                  <a:pt x="120723" y="103188"/>
                  <a:pt x="103188" y="103188"/>
                </a:cubicBezTo>
                <a:moveTo>
                  <a:pt x="230188" y="103188"/>
                </a:moveTo>
                <a:cubicBezTo>
                  <a:pt x="213572" y="103182"/>
                  <a:pt x="199763" y="115988"/>
                  <a:pt x="198517" y="132556"/>
                </a:cubicBezTo>
                <a:lnTo>
                  <a:pt x="198438" y="134938"/>
                </a:lnTo>
                <a:cubicBezTo>
                  <a:pt x="198438" y="152473"/>
                  <a:pt x="212652" y="166688"/>
                  <a:pt x="230188" y="166688"/>
                </a:cubicBezTo>
                <a:cubicBezTo>
                  <a:pt x="247723" y="166688"/>
                  <a:pt x="261938" y="152473"/>
                  <a:pt x="261938" y="134938"/>
                </a:cubicBezTo>
                <a:cubicBezTo>
                  <a:pt x="261938" y="117402"/>
                  <a:pt x="247723" y="103188"/>
                  <a:pt x="230188" y="103188"/>
                </a:cubicBezTo>
                <a:moveTo>
                  <a:pt x="166688" y="55563"/>
                </a:moveTo>
                <a:cubicBezTo>
                  <a:pt x="150072" y="55557"/>
                  <a:pt x="136263" y="68363"/>
                  <a:pt x="135017" y="84931"/>
                </a:cubicBezTo>
                <a:lnTo>
                  <a:pt x="134938" y="87313"/>
                </a:lnTo>
                <a:cubicBezTo>
                  <a:pt x="134938" y="104848"/>
                  <a:pt x="149152" y="119062"/>
                  <a:pt x="166688" y="119062"/>
                </a:cubicBezTo>
                <a:cubicBezTo>
                  <a:pt x="184223" y="119062"/>
                  <a:pt x="198438" y="104848"/>
                  <a:pt x="198438" y="87313"/>
                </a:cubicBezTo>
                <a:cubicBezTo>
                  <a:pt x="198438" y="69777"/>
                  <a:pt x="184223" y="55563"/>
                  <a:pt x="166688" y="55563"/>
                </a:cubicBezTo>
              </a:path>
            </a:pathLst>
          </a:cu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44"/>
          <p:cNvSpPr txBox="1"/>
          <p:nvPr/>
        </p:nvSpPr>
        <p:spPr>
          <a:xfrm>
            <a:off x="3368993" y="288321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提取</a:t>
            </a:r>
            <a:endParaRPr sz="1100"/>
          </a:p>
        </p:txBody>
      </p:sp>
      <p:sp>
        <p:nvSpPr>
          <p:cNvPr id="1487" name="Google Shape;1487;p44"/>
          <p:cNvSpPr txBox="1"/>
          <p:nvPr/>
        </p:nvSpPr>
        <p:spPr>
          <a:xfrm>
            <a:off x="3375422" y="3123605"/>
            <a:ext cx="5195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EXTRACT</a:t>
            </a:r>
            <a:endParaRPr sz="1100"/>
          </a:p>
        </p:txBody>
      </p:sp>
      <p:sp>
        <p:nvSpPr>
          <p:cNvPr id="1488" name="Google Shape;1488;p44"/>
          <p:cNvSpPr/>
          <p:nvPr/>
        </p:nvSpPr>
        <p:spPr>
          <a:xfrm>
            <a:off x="3386138" y="3328988"/>
            <a:ext cx="2214563" cy="7144"/>
          </a:xfrm>
          <a:custGeom>
            <a:rect b="b" l="l" r="r" t="t"/>
            <a:pathLst>
              <a:path extrusionOk="0" h="9525" w="2952750">
                <a:moveTo>
                  <a:pt x="0" y="0"/>
                </a:moveTo>
                <a:lnTo>
                  <a:pt x="2952750" y="0"/>
                </a:lnTo>
              </a:path>
            </a:pathLst>
          </a:custGeom>
          <a:noFill/>
          <a:ln cap="flat" cmpd="sng" w="14275">
            <a:solidFill>
              <a:srgbClr val="EBF0F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9" name="Google Shape;1489;p44"/>
          <p:cNvSpPr txBox="1"/>
          <p:nvPr/>
        </p:nvSpPr>
        <p:spPr>
          <a:xfrm>
            <a:off x="3373993" y="3440073"/>
            <a:ext cx="1721161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输出结构化 Design System</a:t>
            </a:r>
            <a:endParaRPr sz="1100"/>
          </a:p>
        </p:txBody>
      </p:sp>
      <p:sp>
        <p:nvSpPr>
          <p:cNvPr id="1490" name="Google Shape;1490;p44"/>
          <p:cNvSpPr txBox="1"/>
          <p:nvPr/>
        </p:nvSpPr>
        <p:spPr>
          <a:xfrm>
            <a:off x="3373993" y="3640098"/>
            <a:ext cx="1015877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Markdown 格式</a:t>
            </a:r>
            <a:endParaRPr sz="1100"/>
          </a:p>
        </p:txBody>
      </p:sp>
      <p:sp>
        <p:nvSpPr>
          <p:cNvPr id="1491" name="Google Shape;1491;p44"/>
          <p:cNvSpPr txBox="1"/>
          <p:nvPr/>
        </p:nvSpPr>
        <p:spPr>
          <a:xfrm>
            <a:off x="3375422" y="3909417"/>
            <a:ext cx="103807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包含精确 hex 色值</a:t>
            </a:r>
            <a:endParaRPr sz="1100"/>
          </a:p>
        </p:txBody>
      </p:sp>
      <p:sp>
        <p:nvSpPr>
          <p:cNvPr id="1492" name="Google Shape;1492;p44"/>
          <p:cNvSpPr txBox="1"/>
          <p:nvPr/>
        </p:nvSpPr>
        <p:spPr>
          <a:xfrm>
            <a:off x="3375422" y="4080867"/>
            <a:ext cx="129069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字体 / 间距 / 组件规则</a:t>
            </a:r>
            <a:endParaRPr sz="1100"/>
          </a:p>
        </p:txBody>
      </p:sp>
      <p:sp>
        <p:nvSpPr>
          <p:cNvPr id="1493" name="Google Shape;1493;p44"/>
          <p:cNvSpPr/>
          <p:nvPr/>
        </p:nvSpPr>
        <p:spPr>
          <a:xfrm>
            <a:off x="3386138" y="4357688"/>
            <a:ext cx="2214563" cy="214313"/>
          </a:xfrm>
          <a:prstGeom prst="roundRect">
            <a:avLst>
              <a:gd fmla="val 50000" name="adj"/>
            </a:avLst>
          </a:prstGeom>
          <a:solidFill>
            <a:srgbClr val="EBF0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44"/>
          <p:cNvSpPr txBox="1"/>
          <p:nvPr/>
        </p:nvSpPr>
        <p:spPr>
          <a:xfrm>
            <a:off x="3861477" y="4415552"/>
            <a:ext cx="1263883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结构化 · 精确 · 可复用</a:t>
            </a:r>
            <a:endParaRPr sz="1100"/>
          </a:p>
        </p:txBody>
      </p:sp>
      <p:sp>
        <p:nvSpPr>
          <p:cNvPr id="1495" name="Google Shape;1495;p44"/>
          <p:cNvSpPr/>
          <p:nvPr/>
        </p:nvSpPr>
        <p:spPr>
          <a:xfrm>
            <a:off x="6757988" y="1443038"/>
            <a:ext cx="685800" cy="685800"/>
          </a:xfrm>
          <a:prstGeom prst="ellipse">
            <a:avLst/>
          </a:prstGeom>
          <a:solidFill>
            <a:srgbClr val="3A9E6A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44"/>
          <p:cNvSpPr/>
          <p:nvPr/>
        </p:nvSpPr>
        <p:spPr>
          <a:xfrm>
            <a:off x="6843713" y="1528763"/>
            <a:ext cx="514350" cy="514350"/>
          </a:xfrm>
          <a:prstGeom prst="ellipse">
            <a:avLst/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44"/>
          <p:cNvSpPr txBox="1"/>
          <p:nvPr/>
        </p:nvSpPr>
        <p:spPr>
          <a:xfrm>
            <a:off x="6980796" y="1609487"/>
            <a:ext cx="240184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1498" name="Google Shape;1498;p44"/>
          <p:cNvSpPr txBox="1"/>
          <p:nvPr/>
        </p:nvSpPr>
        <p:spPr>
          <a:xfrm>
            <a:off x="7009060" y="1809869"/>
            <a:ext cx="183655" cy="10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 sz="1100"/>
          </a:p>
        </p:txBody>
      </p:sp>
      <p:sp>
        <p:nvSpPr>
          <p:cNvPr id="1499" name="Google Shape;1499;p44"/>
          <p:cNvSpPr/>
          <p:nvPr/>
        </p:nvSpPr>
        <p:spPr>
          <a:xfrm>
            <a:off x="7100888" y="2043113"/>
            <a:ext cx="7144" cy="242888"/>
          </a:xfrm>
          <a:custGeom>
            <a:rect b="b" l="l" r="r" t="t"/>
            <a:pathLst>
              <a:path extrusionOk="0" h="323850" w="9525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/>
          <a:ln cap="flat" cmpd="sng" w="19050">
            <a:solidFill>
              <a:srgbClr val="3A9E6A">
                <a:alpha val="40000"/>
              </a:srgbClr>
            </a:solidFill>
            <a:prstDash val="dashDot"/>
            <a:round/>
            <a:headEnd len="sm" w="sm" type="none"/>
            <a:tailEnd len="sm" w="sm" type="none"/>
          </a:ln>
        </p:spPr>
      </p:sp>
      <p:sp>
        <p:nvSpPr>
          <p:cNvPr id="1500" name="Google Shape;1500;p44"/>
          <p:cNvSpPr/>
          <p:nvPr/>
        </p:nvSpPr>
        <p:spPr>
          <a:xfrm>
            <a:off x="5829300" y="2286000"/>
            <a:ext cx="2743200" cy="2428875"/>
          </a:xfrm>
          <a:prstGeom prst="roundRect">
            <a:avLst>
              <a:gd fmla="val 4118" name="adj"/>
            </a:avLst>
          </a:prstGeom>
          <a:solidFill>
            <a:srgbClr val="FFFFFF"/>
          </a:solidFill>
          <a:ln cap="flat" cmpd="sng" w="19050">
            <a:solidFill>
              <a:srgbClr val="3A9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44"/>
          <p:cNvSpPr/>
          <p:nvPr/>
        </p:nvSpPr>
        <p:spPr>
          <a:xfrm>
            <a:off x="5829300" y="2286000"/>
            <a:ext cx="2743200" cy="42863"/>
          </a:xfrm>
          <a:prstGeom prst="roundRect">
            <a:avLst>
              <a:gd fmla="val 50000" name="adj"/>
            </a:avLst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44"/>
          <p:cNvSpPr/>
          <p:nvPr/>
        </p:nvSpPr>
        <p:spPr>
          <a:xfrm>
            <a:off x="6015038" y="2457450"/>
            <a:ext cx="371475" cy="371475"/>
          </a:xfrm>
          <a:prstGeom prst="roundRect">
            <a:avLst>
              <a:gd fmla="val 23077" name="adj"/>
            </a:avLst>
          </a:prstGeom>
          <a:solidFill>
            <a:srgbClr val="3A9E6A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03" name="Google Shape;1503;p44"/>
          <p:cNvGrpSpPr/>
          <p:nvPr/>
        </p:nvGrpSpPr>
        <p:grpSpPr>
          <a:xfrm>
            <a:off x="6077748" y="2532067"/>
            <a:ext cx="234148" cy="222242"/>
            <a:chOff x="8103664" y="3376089"/>
            <a:chExt cx="312197" cy="296323"/>
          </a:xfrm>
        </p:grpSpPr>
        <p:sp>
          <p:nvSpPr>
            <p:cNvPr id="1504" name="Google Shape;1504;p44"/>
            <p:cNvSpPr/>
            <p:nvPr/>
          </p:nvSpPr>
          <p:spPr>
            <a:xfrm>
              <a:off x="8315325" y="3566589"/>
              <a:ext cx="100536" cy="105823"/>
            </a:xfrm>
            <a:custGeom>
              <a:rect b="b" l="l" r="r" t="t"/>
              <a:pathLst>
                <a:path extrusionOk="0" h="105823" w="100536">
                  <a:moveTo>
                    <a:pt x="15875" y="68786"/>
                  </a:moveTo>
                  <a:cubicBezTo>
                    <a:pt x="7107" y="68786"/>
                    <a:pt x="0" y="61679"/>
                    <a:pt x="0" y="52911"/>
                  </a:cubicBezTo>
                  <a:cubicBezTo>
                    <a:pt x="0" y="44144"/>
                    <a:pt x="7107" y="37036"/>
                    <a:pt x="15875" y="37036"/>
                  </a:cubicBezTo>
                  <a:cubicBezTo>
                    <a:pt x="24643" y="37036"/>
                    <a:pt x="31750" y="29929"/>
                    <a:pt x="31750" y="21161"/>
                  </a:cubicBezTo>
                  <a:cubicBezTo>
                    <a:pt x="31750" y="0"/>
                    <a:pt x="63500" y="0"/>
                    <a:pt x="63500" y="21161"/>
                  </a:cubicBezTo>
                  <a:cubicBezTo>
                    <a:pt x="63500" y="29929"/>
                    <a:pt x="70607" y="37036"/>
                    <a:pt x="79375" y="37036"/>
                  </a:cubicBezTo>
                  <a:cubicBezTo>
                    <a:pt x="100536" y="37036"/>
                    <a:pt x="100536" y="68786"/>
                    <a:pt x="79375" y="68786"/>
                  </a:cubicBezTo>
                  <a:cubicBezTo>
                    <a:pt x="70607" y="68786"/>
                    <a:pt x="63500" y="75894"/>
                    <a:pt x="63500" y="84661"/>
                  </a:cubicBezTo>
                  <a:cubicBezTo>
                    <a:pt x="63500" y="105823"/>
                    <a:pt x="31750" y="105823"/>
                    <a:pt x="31750" y="84661"/>
                  </a:cubicBezTo>
                  <a:cubicBezTo>
                    <a:pt x="31750" y="75894"/>
                    <a:pt x="24643" y="68786"/>
                    <a:pt x="15875" y="68786"/>
                  </a:cubicBezTo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44"/>
            <p:cNvSpPr/>
            <p:nvPr/>
          </p:nvSpPr>
          <p:spPr>
            <a:xfrm>
              <a:off x="8103664" y="3407839"/>
              <a:ext cx="232823" cy="227536"/>
            </a:xfrm>
            <a:custGeom>
              <a:rect b="b" l="l" r="r" t="t"/>
              <a:pathLst>
                <a:path extrusionOk="0" h="227536" w="232823">
                  <a:moveTo>
                    <a:pt x="21161" y="100536"/>
                  </a:moveTo>
                  <a:cubicBezTo>
                    <a:pt x="64999" y="100536"/>
                    <a:pt x="100536" y="64999"/>
                    <a:pt x="100536" y="21161"/>
                  </a:cubicBezTo>
                  <a:cubicBezTo>
                    <a:pt x="100536" y="0"/>
                    <a:pt x="132286" y="0"/>
                    <a:pt x="132286" y="21161"/>
                  </a:cubicBezTo>
                  <a:cubicBezTo>
                    <a:pt x="132286" y="64999"/>
                    <a:pt x="167824" y="100536"/>
                    <a:pt x="211661" y="100536"/>
                  </a:cubicBezTo>
                  <a:cubicBezTo>
                    <a:pt x="232823" y="100536"/>
                    <a:pt x="232823" y="132286"/>
                    <a:pt x="211661" y="132286"/>
                  </a:cubicBezTo>
                  <a:cubicBezTo>
                    <a:pt x="167824" y="132286"/>
                    <a:pt x="132286" y="167824"/>
                    <a:pt x="132286" y="211661"/>
                  </a:cubicBezTo>
                  <a:cubicBezTo>
                    <a:pt x="132286" y="220429"/>
                    <a:pt x="125179" y="227536"/>
                    <a:pt x="116411" y="227536"/>
                  </a:cubicBezTo>
                  <a:cubicBezTo>
                    <a:pt x="107644" y="227536"/>
                    <a:pt x="100536" y="220429"/>
                    <a:pt x="100536" y="211661"/>
                  </a:cubicBezTo>
                  <a:cubicBezTo>
                    <a:pt x="100536" y="167824"/>
                    <a:pt x="64999" y="132286"/>
                    <a:pt x="21161" y="132286"/>
                  </a:cubicBezTo>
                  <a:cubicBezTo>
                    <a:pt x="0" y="132286"/>
                    <a:pt x="0" y="100536"/>
                    <a:pt x="21161" y="100536"/>
                  </a:cubicBezTo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44"/>
            <p:cNvSpPr/>
            <p:nvPr/>
          </p:nvSpPr>
          <p:spPr>
            <a:xfrm>
              <a:off x="8315325" y="3376089"/>
              <a:ext cx="100536" cy="105823"/>
            </a:xfrm>
            <a:custGeom>
              <a:rect b="b" l="l" r="r" t="t"/>
              <a:pathLst>
                <a:path extrusionOk="0" h="105823" w="100536">
                  <a:moveTo>
                    <a:pt x="15875" y="68786"/>
                  </a:moveTo>
                  <a:cubicBezTo>
                    <a:pt x="7107" y="68786"/>
                    <a:pt x="0" y="61679"/>
                    <a:pt x="0" y="52911"/>
                  </a:cubicBezTo>
                  <a:cubicBezTo>
                    <a:pt x="0" y="44144"/>
                    <a:pt x="7107" y="37036"/>
                    <a:pt x="15875" y="37036"/>
                  </a:cubicBezTo>
                  <a:cubicBezTo>
                    <a:pt x="24643" y="37036"/>
                    <a:pt x="31750" y="29929"/>
                    <a:pt x="31750" y="21161"/>
                  </a:cubicBezTo>
                  <a:cubicBezTo>
                    <a:pt x="31750" y="0"/>
                    <a:pt x="63500" y="0"/>
                    <a:pt x="63500" y="21161"/>
                  </a:cubicBezTo>
                  <a:cubicBezTo>
                    <a:pt x="63500" y="29929"/>
                    <a:pt x="70607" y="37036"/>
                    <a:pt x="79375" y="37036"/>
                  </a:cubicBezTo>
                  <a:cubicBezTo>
                    <a:pt x="100536" y="37036"/>
                    <a:pt x="100536" y="68786"/>
                    <a:pt x="79375" y="68786"/>
                  </a:cubicBezTo>
                  <a:cubicBezTo>
                    <a:pt x="70607" y="68786"/>
                    <a:pt x="63500" y="75894"/>
                    <a:pt x="63500" y="84661"/>
                  </a:cubicBezTo>
                  <a:cubicBezTo>
                    <a:pt x="63500" y="105823"/>
                    <a:pt x="31750" y="105823"/>
                    <a:pt x="31750" y="84661"/>
                  </a:cubicBezTo>
                  <a:cubicBezTo>
                    <a:pt x="31750" y="75894"/>
                    <a:pt x="24643" y="68786"/>
                    <a:pt x="15875" y="68786"/>
                  </a:cubicBezTo>
                </a:path>
              </a:pathLst>
            </a:cu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7" name="Google Shape;1507;p44"/>
          <p:cNvSpPr txBox="1"/>
          <p:nvPr/>
        </p:nvSpPr>
        <p:spPr>
          <a:xfrm>
            <a:off x="5997892" y="2883218"/>
            <a:ext cx="8623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就地新建</a:t>
            </a:r>
            <a:endParaRPr sz="1100"/>
          </a:p>
        </p:txBody>
      </p:sp>
      <p:sp>
        <p:nvSpPr>
          <p:cNvPr id="1508" name="Google Shape;1508;p44"/>
          <p:cNvSpPr txBox="1"/>
          <p:nvPr/>
        </p:nvSpPr>
        <p:spPr>
          <a:xfrm>
            <a:off x="6004322" y="3123605"/>
            <a:ext cx="623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A9E6A"/>
                </a:solidFill>
                <a:latin typeface="Arial"/>
                <a:ea typeface="Arial"/>
                <a:cs typeface="Arial"/>
                <a:sym typeface="Arial"/>
              </a:rPr>
              <a:t>BUILD NEW</a:t>
            </a:r>
            <a:endParaRPr sz="1100"/>
          </a:p>
        </p:txBody>
      </p:sp>
      <p:sp>
        <p:nvSpPr>
          <p:cNvPr id="1509" name="Google Shape;1509;p44"/>
          <p:cNvSpPr/>
          <p:nvPr/>
        </p:nvSpPr>
        <p:spPr>
          <a:xfrm>
            <a:off x="6015038" y="3328988"/>
            <a:ext cx="2414588" cy="7144"/>
          </a:xfrm>
          <a:custGeom>
            <a:rect b="b" l="l" r="r" t="t"/>
            <a:pathLst>
              <a:path extrusionOk="0" h="9525" w="3219450">
                <a:moveTo>
                  <a:pt x="0" y="0"/>
                </a:moveTo>
                <a:lnTo>
                  <a:pt x="3219450" y="0"/>
                </a:lnTo>
              </a:path>
            </a:pathLst>
          </a:custGeom>
          <a:noFill/>
          <a:ln cap="flat" cmpd="sng" w="14275">
            <a:solidFill>
              <a:srgbClr val="E8F5EE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0" name="Google Shape;1510;p44"/>
          <p:cNvSpPr txBox="1"/>
          <p:nvPr/>
        </p:nvSpPr>
        <p:spPr>
          <a:xfrm>
            <a:off x="6002894" y="3440073"/>
            <a:ext cx="1420892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留在 Claude Design 里</a:t>
            </a:r>
            <a:endParaRPr sz="1100"/>
          </a:p>
        </p:txBody>
      </p:sp>
      <p:sp>
        <p:nvSpPr>
          <p:cNvPr id="1511" name="Google Shape;1511;p44"/>
          <p:cNvSpPr txBox="1"/>
          <p:nvPr/>
        </p:nvSpPr>
        <p:spPr>
          <a:xfrm>
            <a:off x="6002894" y="3640098"/>
            <a:ext cx="862251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无需切换工具</a:t>
            </a:r>
            <a:endParaRPr sz="1100"/>
          </a:p>
        </p:txBody>
      </p:sp>
      <p:sp>
        <p:nvSpPr>
          <p:cNvPr id="1512" name="Google Shape;1512;p44"/>
          <p:cNvSpPr txBox="1"/>
          <p:nvPr/>
        </p:nvSpPr>
        <p:spPr>
          <a:xfrm>
            <a:off x="6004321" y="3909417"/>
            <a:ext cx="166038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新建对话 · 选 Design System</a:t>
            </a:r>
            <a:endParaRPr sz="1100"/>
          </a:p>
        </p:txBody>
      </p:sp>
      <p:sp>
        <p:nvSpPr>
          <p:cNvPr id="1513" name="Google Shape;1513;p44"/>
          <p:cNvSpPr txBox="1"/>
          <p:nvPr/>
        </p:nvSpPr>
        <p:spPr>
          <a:xfrm>
            <a:off x="6004322" y="4080867"/>
            <a:ext cx="193765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让 AI 直接建新 PPT · 风格自动一致</a:t>
            </a:r>
            <a:endParaRPr sz="1100"/>
          </a:p>
        </p:txBody>
      </p:sp>
      <p:sp>
        <p:nvSpPr>
          <p:cNvPr id="1514" name="Google Shape;1514;p44"/>
          <p:cNvSpPr/>
          <p:nvPr/>
        </p:nvSpPr>
        <p:spPr>
          <a:xfrm>
            <a:off x="6015038" y="4357688"/>
            <a:ext cx="2414588" cy="214313"/>
          </a:xfrm>
          <a:prstGeom prst="roundRect">
            <a:avLst>
              <a:gd fmla="val 50000" name="adj"/>
            </a:avLst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44"/>
          <p:cNvSpPr txBox="1"/>
          <p:nvPr/>
        </p:nvSpPr>
        <p:spPr>
          <a:xfrm>
            <a:off x="6258286" y="4415552"/>
            <a:ext cx="192809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在 Design 里直接建 → 风格立刻一致</a:t>
            </a:r>
            <a:endParaRPr sz="1100"/>
          </a:p>
        </p:txBody>
      </p:sp>
      <p:sp>
        <p:nvSpPr>
          <p:cNvPr id="1516" name="Google Shape;1516;p44"/>
          <p:cNvSpPr txBox="1"/>
          <p:nvPr/>
        </p:nvSpPr>
        <p:spPr>
          <a:xfrm>
            <a:off x="8320076" y="4958477"/>
            <a:ext cx="40530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20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45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45"/>
          <p:cNvSpPr txBox="1"/>
          <p:nvPr/>
        </p:nvSpPr>
        <p:spPr>
          <a:xfrm>
            <a:off x="3148858" y="224314"/>
            <a:ext cx="284628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两条路，同一个结论</a:t>
            </a:r>
            <a:endParaRPr sz="1100"/>
          </a:p>
        </p:txBody>
      </p:sp>
      <p:sp>
        <p:nvSpPr>
          <p:cNvPr id="1524" name="Google Shape;1524;p45"/>
          <p:cNvSpPr txBox="1"/>
          <p:nvPr/>
        </p:nvSpPr>
        <p:spPr>
          <a:xfrm>
            <a:off x="3160091" y="537924"/>
            <a:ext cx="2823818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先做 → 抽取 Design System → 复用</a:t>
            </a:r>
            <a:endParaRPr sz="1100"/>
          </a:p>
        </p:txBody>
      </p:sp>
      <p:sp>
        <p:nvSpPr>
          <p:cNvPr id="1525" name="Google Shape;1525;p45"/>
          <p:cNvSpPr/>
          <p:nvPr/>
        </p:nvSpPr>
        <p:spPr>
          <a:xfrm>
            <a:off x="571500" y="814388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6" name="Google Shape;1526;p45"/>
          <p:cNvSpPr/>
          <p:nvPr/>
        </p:nvSpPr>
        <p:spPr>
          <a:xfrm>
            <a:off x="571500" y="942975"/>
            <a:ext cx="3814762" cy="2900363"/>
          </a:xfrm>
          <a:prstGeom prst="roundRect">
            <a:avLst>
              <a:gd fmla="val 3941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45"/>
          <p:cNvSpPr/>
          <p:nvPr/>
        </p:nvSpPr>
        <p:spPr>
          <a:xfrm>
            <a:off x="571500" y="942975"/>
            <a:ext cx="3814762" cy="50006"/>
          </a:xfrm>
          <a:prstGeom prst="roundRect">
            <a:avLst>
              <a:gd fmla="val 42857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45"/>
          <p:cNvSpPr/>
          <p:nvPr/>
        </p:nvSpPr>
        <p:spPr>
          <a:xfrm>
            <a:off x="800100" y="1128713"/>
            <a:ext cx="371475" cy="371475"/>
          </a:xfrm>
          <a:prstGeom prst="roundRect">
            <a:avLst>
              <a:gd fmla="val 23077" name="adj"/>
            </a:avLst>
          </a:prstGeom>
          <a:solidFill>
            <a:srgbClr val="C96133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9" name="Google Shape;1529;p45"/>
          <p:cNvGrpSpPr/>
          <p:nvPr/>
        </p:nvGrpSpPr>
        <p:grpSpPr>
          <a:xfrm>
            <a:off x="862811" y="1203329"/>
            <a:ext cx="234148" cy="222242"/>
            <a:chOff x="1150414" y="1604439"/>
            <a:chExt cx="312197" cy="296323"/>
          </a:xfrm>
        </p:grpSpPr>
        <p:sp>
          <p:nvSpPr>
            <p:cNvPr id="1530" name="Google Shape;1530;p45"/>
            <p:cNvSpPr/>
            <p:nvPr/>
          </p:nvSpPr>
          <p:spPr>
            <a:xfrm>
              <a:off x="1362075" y="1794939"/>
              <a:ext cx="100536" cy="105823"/>
            </a:xfrm>
            <a:custGeom>
              <a:rect b="b" l="l" r="r" t="t"/>
              <a:pathLst>
                <a:path extrusionOk="0" h="105823" w="100536">
                  <a:moveTo>
                    <a:pt x="15875" y="68786"/>
                  </a:moveTo>
                  <a:cubicBezTo>
                    <a:pt x="7107" y="68786"/>
                    <a:pt x="0" y="61679"/>
                    <a:pt x="0" y="52911"/>
                  </a:cubicBezTo>
                  <a:cubicBezTo>
                    <a:pt x="0" y="44144"/>
                    <a:pt x="7107" y="37036"/>
                    <a:pt x="15875" y="37036"/>
                  </a:cubicBezTo>
                  <a:cubicBezTo>
                    <a:pt x="24643" y="37036"/>
                    <a:pt x="31750" y="29929"/>
                    <a:pt x="31750" y="21161"/>
                  </a:cubicBezTo>
                  <a:cubicBezTo>
                    <a:pt x="31750" y="0"/>
                    <a:pt x="63500" y="0"/>
                    <a:pt x="63500" y="21161"/>
                  </a:cubicBezTo>
                  <a:cubicBezTo>
                    <a:pt x="63500" y="29929"/>
                    <a:pt x="70607" y="37036"/>
                    <a:pt x="79375" y="37036"/>
                  </a:cubicBezTo>
                  <a:cubicBezTo>
                    <a:pt x="100536" y="37036"/>
                    <a:pt x="100536" y="68786"/>
                    <a:pt x="79375" y="68786"/>
                  </a:cubicBezTo>
                  <a:cubicBezTo>
                    <a:pt x="70607" y="68786"/>
                    <a:pt x="63500" y="75894"/>
                    <a:pt x="63500" y="84661"/>
                  </a:cubicBezTo>
                  <a:cubicBezTo>
                    <a:pt x="63500" y="105823"/>
                    <a:pt x="31750" y="105823"/>
                    <a:pt x="31750" y="84661"/>
                  </a:cubicBezTo>
                  <a:cubicBezTo>
                    <a:pt x="31750" y="75894"/>
                    <a:pt x="24643" y="68786"/>
                    <a:pt x="15875" y="68786"/>
                  </a:cubicBezTo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45"/>
            <p:cNvSpPr/>
            <p:nvPr/>
          </p:nvSpPr>
          <p:spPr>
            <a:xfrm>
              <a:off x="1150414" y="1636189"/>
              <a:ext cx="232823" cy="227536"/>
            </a:xfrm>
            <a:custGeom>
              <a:rect b="b" l="l" r="r" t="t"/>
              <a:pathLst>
                <a:path extrusionOk="0" h="227536" w="232823">
                  <a:moveTo>
                    <a:pt x="21161" y="100536"/>
                  </a:moveTo>
                  <a:cubicBezTo>
                    <a:pt x="64999" y="100536"/>
                    <a:pt x="100536" y="64999"/>
                    <a:pt x="100536" y="21161"/>
                  </a:cubicBezTo>
                  <a:cubicBezTo>
                    <a:pt x="100536" y="0"/>
                    <a:pt x="132286" y="0"/>
                    <a:pt x="132286" y="21161"/>
                  </a:cubicBezTo>
                  <a:cubicBezTo>
                    <a:pt x="132286" y="64999"/>
                    <a:pt x="167824" y="100536"/>
                    <a:pt x="211661" y="100536"/>
                  </a:cubicBezTo>
                  <a:cubicBezTo>
                    <a:pt x="232823" y="100536"/>
                    <a:pt x="232823" y="132286"/>
                    <a:pt x="211661" y="132286"/>
                  </a:cubicBezTo>
                  <a:cubicBezTo>
                    <a:pt x="167824" y="132286"/>
                    <a:pt x="132286" y="167824"/>
                    <a:pt x="132286" y="211661"/>
                  </a:cubicBezTo>
                  <a:cubicBezTo>
                    <a:pt x="132286" y="220429"/>
                    <a:pt x="125179" y="227536"/>
                    <a:pt x="116411" y="227536"/>
                  </a:cubicBezTo>
                  <a:cubicBezTo>
                    <a:pt x="107644" y="227536"/>
                    <a:pt x="100536" y="220429"/>
                    <a:pt x="100536" y="211661"/>
                  </a:cubicBezTo>
                  <a:cubicBezTo>
                    <a:pt x="100536" y="167824"/>
                    <a:pt x="64999" y="132286"/>
                    <a:pt x="21161" y="132286"/>
                  </a:cubicBezTo>
                  <a:cubicBezTo>
                    <a:pt x="0" y="132286"/>
                    <a:pt x="0" y="100536"/>
                    <a:pt x="21161" y="100536"/>
                  </a:cubicBezTo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45"/>
            <p:cNvSpPr/>
            <p:nvPr/>
          </p:nvSpPr>
          <p:spPr>
            <a:xfrm>
              <a:off x="1362075" y="1604439"/>
              <a:ext cx="100536" cy="105823"/>
            </a:xfrm>
            <a:custGeom>
              <a:rect b="b" l="l" r="r" t="t"/>
              <a:pathLst>
                <a:path extrusionOk="0" h="105823" w="100536">
                  <a:moveTo>
                    <a:pt x="15875" y="68786"/>
                  </a:moveTo>
                  <a:cubicBezTo>
                    <a:pt x="7107" y="68786"/>
                    <a:pt x="0" y="61679"/>
                    <a:pt x="0" y="52911"/>
                  </a:cubicBezTo>
                  <a:cubicBezTo>
                    <a:pt x="0" y="44144"/>
                    <a:pt x="7107" y="37036"/>
                    <a:pt x="15875" y="37036"/>
                  </a:cubicBezTo>
                  <a:cubicBezTo>
                    <a:pt x="24643" y="37036"/>
                    <a:pt x="31750" y="29929"/>
                    <a:pt x="31750" y="21161"/>
                  </a:cubicBezTo>
                  <a:cubicBezTo>
                    <a:pt x="31750" y="0"/>
                    <a:pt x="63500" y="0"/>
                    <a:pt x="63500" y="21161"/>
                  </a:cubicBezTo>
                  <a:cubicBezTo>
                    <a:pt x="63500" y="29929"/>
                    <a:pt x="70607" y="37036"/>
                    <a:pt x="79375" y="37036"/>
                  </a:cubicBezTo>
                  <a:cubicBezTo>
                    <a:pt x="100536" y="37036"/>
                    <a:pt x="100536" y="68786"/>
                    <a:pt x="79375" y="68786"/>
                  </a:cubicBezTo>
                  <a:cubicBezTo>
                    <a:pt x="70607" y="68786"/>
                    <a:pt x="63500" y="75894"/>
                    <a:pt x="63500" y="84661"/>
                  </a:cubicBezTo>
                  <a:cubicBezTo>
                    <a:pt x="63500" y="105823"/>
                    <a:pt x="31750" y="105823"/>
                    <a:pt x="31750" y="84661"/>
                  </a:cubicBezTo>
                  <a:cubicBezTo>
                    <a:pt x="31750" y="75894"/>
                    <a:pt x="24643" y="68786"/>
                    <a:pt x="15875" y="68786"/>
                  </a:cubicBezTo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3" name="Google Shape;1533;p45"/>
          <p:cNvSpPr txBox="1"/>
          <p:nvPr/>
        </p:nvSpPr>
        <p:spPr>
          <a:xfrm>
            <a:off x="1253014" y="1149429"/>
            <a:ext cx="9342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全新项目</a:t>
            </a:r>
            <a:endParaRPr sz="1100"/>
          </a:p>
        </p:txBody>
      </p:sp>
      <p:sp>
        <p:nvSpPr>
          <p:cNvPr id="1534" name="Google Shape;1534;p45"/>
          <p:cNvSpPr txBox="1"/>
          <p:nvPr/>
        </p:nvSpPr>
        <p:spPr>
          <a:xfrm>
            <a:off x="1260871" y="1373386"/>
            <a:ext cx="140591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从零开始 · Demo A 演示</a:t>
            </a:r>
            <a:endParaRPr sz="1100"/>
          </a:p>
        </p:txBody>
      </p:sp>
      <p:sp>
        <p:nvSpPr>
          <p:cNvPr id="1535" name="Google Shape;1535;p45"/>
          <p:cNvSpPr/>
          <p:nvPr/>
        </p:nvSpPr>
        <p:spPr>
          <a:xfrm>
            <a:off x="800100" y="1600200"/>
            <a:ext cx="3443288" cy="7144"/>
          </a:xfrm>
          <a:custGeom>
            <a:rect b="b" l="l" r="r" t="t"/>
            <a:pathLst>
              <a:path extrusionOk="0" h="9525" w="4591050">
                <a:moveTo>
                  <a:pt x="0" y="0"/>
                </a:moveTo>
                <a:lnTo>
                  <a:pt x="4591050" y="0"/>
                </a:lnTo>
              </a:path>
            </a:pathLst>
          </a:custGeom>
          <a:noFill/>
          <a:ln cap="flat" cmpd="sng" w="14275">
            <a:solidFill>
              <a:srgbClr val="F0EDE8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6" name="Google Shape;1536;p45"/>
          <p:cNvSpPr/>
          <p:nvPr/>
        </p:nvSpPr>
        <p:spPr>
          <a:xfrm>
            <a:off x="800100" y="1714500"/>
            <a:ext cx="3443288" cy="328613"/>
          </a:xfrm>
          <a:prstGeom prst="roundRect">
            <a:avLst>
              <a:gd fmla="val 17391" name="adj"/>
            </a:avLst>
          </a:prstGeom>
          <a:solidFill>
            <a:srgbClr val="FDF5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45"/>
          <p:cNvSpPr/>
          <p:nvPr/>
        </p:nvSpPr>
        <p:spPr>
          <a:xfrm>
            <a:off x="800100" y="1714500"/>
            <a:ext cx="28575" cy="328613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45"/>
          <p:cNvSpPr txBox="1"/>
          <p:nvPr/>
        </p:nvSpPr>
        <p:spPr>
          <a:xfrm>
            <a:off x="902256" y="1754148"/>
            <a:ext cx="2568551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1. Brief → Claude Design → 首页视觉稿</a:t>
            </a:r>
            <a:endParaRPr sz="1100"/>
          </a:p>
        </p:txBody>
      </p:sp>
      <p:sp>
        <p:nvSpPr>
          <p:cNvPr id="1539" name="Google Shape;1539;p45"/>
          <p:cNvSpPr txBox="1"/>
          <p:nvPr/>
        </p:nvSpPr>
        <p:spPr>
          <a:xfrm>
            <a:off x="904399" y="1900952"/>
            <a:ext cx="2337542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从描述目标受众开始，AI 帮你做所有设计决策</a:t>
            </a:r>
            <a:endParaRPr sz="1100"/>
          </a:p>
        </p:txBody>
      </p:sp>
      <p:sp>
        <p:nvSpPr>
          <p:cNvPr id="1540" name="Google Shape;1540;p45"/>
          <p:cNvSpPr txBox="1"/>
          <p:nvPr/>
        </p:nvSpPr>
        <p:spPr>
          <a:xfrm>
            <a:off x="787241" y="2062401"/>
            <a:ext cx="10704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1541" name="Google Shape;1541;p45"/>
          <p:cNvSpPr/>
          <p:nvPr/>
        </p:nvSpPr>
        <p:spPr>
          <a:xfrm>
            <a:off x="800100" y="2243138"/>
            <a:ext cx="3443288" cy="328613"/>
          </a:xfrm>
          <a:prstGeom prst="roundRect">
            <a:avLst>
              <a:gd fmla="val 17391" name="adj"/>
            </a:avLst>
          </a:prstGeom>
          <a:solidFill>
            <a:srgbClr val="FDF5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45"/>
          <p:cNvSpPr/>
          <p:nvPr/>
        </p:nvSpPr>
        <p:spPr>
          <a:xfrm>
            <a:off x="800100" y="2243138"/>
            <a:ext cx="28575" cy="328613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p45"/>
          <p:cNvSpPr txBox="1"/>
          <p:nvPr/>
        </p:nvSpPr>
        <p:spPr>
          <a:xfrm>
            <a:off x="902256" y="2282786"/>
            <a:ext cx="2487897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2. "提取 Design System" → 保存文件</a:t>
            </a:r>
            <a:endParaRPr sz="1100"/>
          </a:p>
        </p:txBody>
      </p:sp>
      <p:sp>
        <p:nvSpPr>
          <p:cNvPr id="1544" name="Google Shape;1544;p45"/>
          <p:cNvSpPr txBox="1"/>
          <p:nvPr/>
        </p:nvSpPr>
        <p:spPr>
          <a:xfrm>
            <a:off x="904399" y="2429589"/>
            <a:ext cx="2377797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做完第一页就提取，写下精确的 hex / px 规则</a:t>
            </a:r>
            <a:endParaRPr sz="1100"/>
          </a:p>
        </p:txBody>
      </p:sp>
      <p:sp>
        <p:nvSpPr>
          <p:cNvPr id="1545" name="Google Shape;1545;p45"/>
          <p:cNvSpPr txBox="1"/>
          <p:nvPr/>
        </p:nvSpPr>
        <p:spPr>
          <a:xfrm>
            <a:off x="787241" y="2591039"/>
            <a:ext cx="10704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1546" name="Google Shape;1546;p45"/>
          <p:cNvSpPr/>
          <p:nvPr/>
        </p:nvSpPr>
        <p:spPr>
          <a:xfrm>
            <a:off x="800100" y="2771775"/>
            <a:ext cx="3443288" cy="328613"/>
          </a:xfrm>
          <a:prstGeom prst="roundRect">
            <a:avLst>
              <a:gd fmla="val 17391" name="adj"/>
            </a:avLst>
          </a:prstGeom>
          <a:solidFill>
            <a:srgbClr val="FDF5F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45"/>
          <p:cNvSpPr/>
          <p:nvPr/>
        </p:nvSpPr>
        <p:spPr>
          <a:xfrm>
            <a:off x="800100" y="2771775"/>
            <a:ext cx="28575" cy="328613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45"/>
          <p:cNvSpPr txBox="1"/>
          <p:nvPr/>
        </p:nvSpPr>
        <p:spPr>
          <a:xfrm>
            <a:off x="902256" y="2811423"/>
            <a:ext cx="2451236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3. 新对话粘贴 → 加新页面风格不跑偏</a:t>
            </a:r>
            <a:endParaRPr sz="1100"/>
          </a:p>
        </p:txBody>
      </p:sp>
      <p:sp>
        <p:nvSpPr>
          <p:cNvPr id="1549" name="Google Shape;1549;p45"/>
          <p:cNvSpPr txBox="1"/>
          <p:nvPr/>
        </p:nvSpPr>
        <p:spPr>
          <a:xfrm>
            <a:off x="904399" y="2958227"/>
            <a:ext cx="241230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Claude 不记对话，但 Design System 文件记得</a:t>
            </a:r>
            <a:endParaRPr sz="1100"/>
          </a:p>
        </p:txBody>
      </p:sp>
      <p:sp>
        <p:nvSpPr>
          <p:cNvPr id="1550" name="Google Shape;1550;p45"/>
          <p:cNvSpPr txBox="1"/>
          <p:nvPr/>
        </p:nvSpPr>
        <p:spPr>
          <a:xfrm>
            <a:off x="787241" y="3119676"/>
            <a:ext cx="10704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1551" name="Google Shape;1551;p45"/>
          <p:cNvSpPr/>
          <p:nvPr/>
        </p:nvSpPr>
        <p:spPr>
          <a:xfrm>
            <a:off x="800100" y="3300413"/>
            <a:ext cx="3443288" cy="328613"/>
          </a:xfrm>
          <a:prstGeom prst="roundRect">
            <a:avLst>
              <a:gd fmla="val 17391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45"/>
          <p:cNvSpPr txBox="1"/>
          <p:nvPr/>
        </p:nvSpPr>
        <p:spPr>
          <a:xfrm>
            <a:off x="1035834" y="3340060"/>
            <a:ext cx="2971820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备注：Claude Design import 到 Claude Code</a:t>
            </a:r>
            <a:endParaRPr sz="1100"/>
          </a:p>
        </p:txBody>
      </p:sp>
      <p:sp>
        <p:nvSpPr>
          <p:cNvPr id="1553" name="Google Shape;1553;p45"/>
          <p:cNvSpPr txBox="1"/>
          <p:nvPr/>
        </p:nvSpPr>
        <p:spPr>
          <a:xfrm>
            <a:off x="1588752" y="3486864"/>
            <a:ext cx="1865983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单击 Share → Claude Code 一键导入</a:t>
            </a:r>
            <a:endParaRPr sz="1100"/>
          </a:p>
        </p:txBody>
      </p:sp>
      <p:sp>
        <p:nvSpPr>
          <p:cNvPr id="1554" name="Google Shape;1554;p45"/>
          <p:cNvSpPr/>
          <p:nvPr/>
        </p:nvSpPr>
        <p:spPr>
          <a:xfrm>
            <a:off x="4686300" y="942975"/>
            <a:ext cx="3886200" cy="2900363"/>
          </a:xfrm>
          <a:prstGeom prst="roundRect">
            <a:avLst>
              <a:gd fmla="val 3941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45"/>
          <p:cNvSpPr/>
          <p:nvPr/>
        </p:nvSpPr>
        <p:spPr>
          <a:xfrm>
            <a:off x="4686300" y="942975"/>
            <a:ext cx="3886200" cy="50006"/>
          </a:xfrm>
          <a:prstGeom prst="roundRect">
            <a:avLst>
              <a:gd fmla="val 42857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45"/>
          <p:cNvSpPr/>
          <p:nvPr/>
        </p:nvSpPr>
        <p:spPr>
          <a:xfrm>
            <a:off x="4914900" y="1128713"/>
            <a:ext cx="371475" cy="371475"/>
          </a:xfrm>
          <a:prstGeom prst="roundRect">
            <a:avLst>
              <a:gd fmla="val 23077" name="adj"/>
            </a:avLst>
          </a:prstGeom>
          <a:solidFill>
            <a:srgbClr val="3D7DE4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45"/>
          <p:cNvSpPr/>
          <p:nvPr/>
        </p:nvSpPr>
        <p:spPr>
          <a:xfrm>
            <a:off x="4992191" y="1231106"/>
            <a:ext cx="217277" cy="167100"/>
          </a:xfrm>
          <a:custGeom>
            <a:rect b="b" l="l" r="r" t="t"/>
            <a:pathLst>
              <a:path extrusionOk="0" h="222800" w="289703">
                <a:moveTo>
                  <a:pt x="285788" y="135779"/>
                </a:moveTo>
                <a:cubicBezTo>
                  <a:pt x="289703" y="143617"/>
                  <a:pt x="286527" y="153145"/>
                  <a:pt x="278692" y="157067"/>
                </a:cubicBezTo>
                <a:lnTo>
                  <a:pt x="151692" y="220567"/>
                </a:lnTo>
                <a:cubicBezTo>
                  <a:pt x="147224" y="222800"/>
                  <a:pt x="141967" y="222800"/>
                  <a:pt x="137500" y="220567"/>
                </a:cubicBezTo>
                <a:lnTo>
                  <a:pt x="10500" y="157067"/>
                </a:lnTo>
                <a:cubicBezTo>
                  <a:pt x="2951" y="152996"/>
                  <a:pt x="0" y="143666"/>
                  <a:pt x="3836" y="135995"/>
                </a:cubicBezTo>
                <a:cubicBezTo>
                  <a:pt x="7671" y="128324"/>
                  <a:pt x="16906" y="125086"/>
                  <a:pt x="24692" y="128683"/>
                </a:cubicBezTo>
                <a:lnTo>
                  <a:pt x="144596" y="188595"/>
                </a:lnTo>
                <a:lnTo>
                  <a:pt x="264516" y="128667"/>
                </a:lnTo>
                <a:cubicBezTo>
                  <a:pt x="272354" y="124752"/>
                  <a:pt x="281882" y="127928"/>
                  <a:pt x="285804" y="135763"/>
                </a:cubicBezTo>
                <a:moveTo>
                  <a:pt x="144723" y="0"/>
                </a:moveTo>
                <a:cubicBezTo>
                  <a:pt x="145315" y="0"/>
                  <a:pt x="145903" y="37"/>
                  <a:pt x="146485" y="111"/>
                </a:cubicBezTo>
                <a:lnTo>
                  <a:pt x="148247" y="429"/>
                </a:lnTo>
                <a:lnTo>
                  <a:pt x="149612" y="810"/>
                </a:lnTo>
                <a:lnTo>
                  <a:pt x="149803" y="905"/>
                </a:lnTo>
                <a:lnTo>
                  <a:pt x="149993" y="937"/>
                </a:lnTo>
                <a:lnTo>
                  <a:pt x="150454" y="1159"/>
                </a:lnTo>
                <a:lnTo>
                  <a:pt x="151247" y="1460"/>
                </a:lnTo>
                <a:lnTo>
                  <a:pt x="151501" y="1603"/>
                </a:lnTo>
                <a:lnTo>
                  <a:pt x="151692" y="1683"/>
                </a:lnTo>
                <a:lnTo>
                  <a:pt x="278692" y="65183"/>
                </a:lnTo>
                <a:cubicBezTo>
                  <a:pt x="284063" y="67875"/>
                  <a:pt x="287454" y="73367"/>
                  <a:pt x="287454" y="79375"/>
                </a:cubicBezTo>
                <a:cubicBezTo>
                  <a:pt x="287454" y="85383"/>
                  <a:pt x="284063" y="90875"/>
                  <a:pt x="278692" y="93567"/>
                </a:cubicBezTo>
                <a:lnTo>
                  <a:pt x="151692" y="157067"/>
                </a:lnTo>
                <a:cubicBezTo>
                  <a:pt x="147224" y="159300"/>
                  <a:pt x="141967" y="159300"/>
                  <a:pt x="137500" y="157067"/>
                </a:cubicBezTo>
                <a:lnTo>
                  <a:pt x="10500" y="93567"/>
                </a:lnTo>
                <a:cubicBezTo>
                  <a:pt x="5129" y="90875"/>
                  <a:pt x="1738" y="85383"/>
                  <a:pt x="1738" y="79375"/>
                </a:cubicBezTo>
                <a:cubicBezTo>
                  <a:pt x="1738" y="73367"/>
                  <a:pt x="5129" y="67875"/>
                  <a:pt x="10500" y="65183"/>
                </a:cubicBezTo>
                <a:lnTo>
                  <a:pt x="137500" y="1683"/>
                </a:lnTo>
                <a:lnTo>
                  <a:pt x="137674" y="1603"/>
                </a:lnTo>
                <a:lnTo>
                  <a:pt x="137960" y="1445"/>
                </a:lnTo>
                <a:lnTo>
                  <a:pt x="139198" y="937"/>
                </a:lnTo>
                <a:lnTo>
                  <a:pt x="139373" y="905"/>
                </a:lnTo>
                <a:lnTo>
                  <a:pt x="139579" y="810"/>
                </a:lnTo>
                <a:lnTo>
                  <a:pt x="140945" y="429"/>
                </a:lnTo>
                <a:lnTo>
                  <a:pt x="142691" y="111"/>
                </a:lnTo>
                <a:lnTo>
                  <a:pt x="143580" y="32"/>
                </a:lnTo>
                <a:close/>
              </a:path>
            </a:pathLst>
          </a:cu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45"/>
          <p:cNvSpPr txBox="1"/>
          <p:nvPr/>
        </p:nvSpPr>
        <p:spPr>
          <a:xfrm>
            <a:off x="5367814" y="1149429"/>
            <a:ext cx="9342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已有项目</a:t>
            </a:r>
            <a:endParaRPr sz="1100"/>
          </a:p>
        </p:txBody>
      </p:sp>
      <p:sp>
        <p:nvSpPr>
          <p:cNvPr id="1559" name="Google Shape;1559;p45"/>
          <p:cNvSpPr txBox="1"/>
          <p:nvPr/>
        </p:nvSpPr>
        <p:spPr>
          <a:xfrm>
            <a:off x="5375672" y="1373386"/>
            <a:ext cx="140591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直接提取 · Demo C 演示</a:t>
            </a:r>
            <a:endParaRPr sz="1100"/>
          </a:p>
        </p:txBody>
      </p:sp>
      <p:sp>
        <p:nvSpPr>
          <p:cNvPr id="1560" name="Google Shape;1560;p45"/>
          <p:cNvSpPr/>
          <p:nvPr/>
        </p:nvSpPr>
        <p:spPr>
          <a:xfrm>
            <a:off x="4914900" y="1600200"/>
            <a:ext cx="3500438" cy="7144"/>
          </a:xfrm>
          <a:custGeom>
            <a:rect b="b" l="l" r="r" t="t"/>
            <a:pathLst>
              <a:path extrusionOk="0" h="9525" w="4667250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cap="flat" cmpd="sng" w="14275">
            <a:solidFill>
              <a:srgbClr val="EBF0F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1" name="Google Shape;1561;p45"/>
          <p:cNvSpPr/>
          <p:nvPr/>
        </p:nvSpPr>
        <p:spPr>
          <a:xfrm>
            <a:off x="4914900" y="1714500"/>
            <a:ext cx="3514725" cy="328613"/>
          </a:xfrm>
          <a:prstGeom prst="roundRect">
            <a:avLst>
              <a:gd fmla="val 17391" name="adj"/>
            </a:avLst>
          </a:prstGeom>
          <a:solidFill>
            <a:srgbClr val="EBF0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45"/>
          <p:cNvSpPr/>
          <p:nvPr/>
        </p:nvSpPr>
        <p:spPr>
          <a:xfrm>
            <a:off x="4914900" y="1714500"/>
            <a:ext cx="28575" cy="328613"/>
          </a:xfrm>
          <a:prstGeom prst="roundRect">
            <a:avLst>
              <a:gd fmla="val 500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45"/>
          <p:cNvSpPr txBox="1"/>
          <p:nvPr/>
        </p:nvSpPr>
        <p:spPr>
          <a:xfrm>
            <a:off x="5017056" y="1754148"/>
            <a:ext cx="1696023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1. 上传 PPT / 截图 / 代码</a:t>
            </a:r>
            <a:endParaRPr sz="1100"/>
          </a:p>
        </p:txBody>
      </p:sp>
      <p:sp>
        <p:nvSpPr>
          <p:cNvPr id="1564" name="Google Shape;1564;p45"/>
          <p:cNvSpPr txBox="1"/>
          <p:nvPr/>
        </p:nvSpPr>
        <p:spPr>
          <a:xfrm>
            <a:off x="5019199" y="1900952"/>
            <a:ext cx="2285786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已有的品牌资产都可以上传给 Claude Design</a:t>
            </a:r>
            <a:endParaRPr sz="1100"/>
          </a:p>
        </p:txBody>
      </p:sp>
      <p:sp>
        <p:nvSpPr>
          <p:cNvPr id="1565" name="Google Shape;1565;p45"/>
          <p:cNvSpPr txBox="1"/>
          <p:nvPr/>
        </p:nvSpPr>
        <p:spPr>
          <a:xfrm>
            <a:off x="4902041" y="2062401"/>
            <a:ext cx="10704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1566" name="Google Shape;1566;p45"/>
          <p:cNvSpPr/>
          <p:nvPr/>
        </p:nvSpPr>
        <p:spPr>
          <a:xfrm>
            <a:off x="4914900" y="2243138"/>
            <a:ext cx="3514725" cy="328613"/>
          </a:xfrm>
          <a:prstGeom prst="roundRect">
            <a:avLst>
              <a:gd fmla="val 17391" name="adj"/>
            </a:avLst>
          </a:prstGeom>
          <a:solidFill>
            <a:srgbClr val="EBF0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45"/>
          <p:cNvSpPr/>
          <p:nvPr/>
        </p:nvSpPr>
        <p:spPr>
          <a:xfrm>
            <a:off x="4914900" y="2243138"/>
            <a:ext cx="28575" cy="328613"/>
          </a:xfrm>
          <a:prstGeom prst="roundRect">
            <a:avLst>
              <a:gd fmla="val 500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45"/>
          <p:cNvSpPr txBox="1"/>
          <p:nvPr/>
        </p:nvSpPr>
        <p:spPr>
          <a:xfrm>
            <a:off x="5017056" y="2282786"/>
            <a:ext cx="2553886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2. Claude Design 提取 Design System</a:t>
            </a:r>
            <a:endParaRPr sz="1100"/>
          </a:p>
        </p:txBody>
      </p:sp>
      <p:sp>
        <p:nvSpPr>
          <p:cNvPr id="1569" name="Google Shape;1569;p45"/>
          <p:cNvSpPr txBox="1"/>
          <p:nvPr/>
        </p:nvSpPr>
        <p:spPr>
          <a:xfrm>
            <a:off x="5019199" y="2429589"/>
            <a:ext cx="2498562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识别色彩 / 字体 / 版式 / 组件，输出 Markdown</a:t>
            </a:r>
            <a:endParaRPr sz="1100"/>
          </a:p>
        </p:txBody>
      </p:sp>
      <p:sp>
        <p:nvSpPr>
          <p:cNvPr id="1570" name="Google Shape;1570;p45"/>
          <p:cNvSpPr txBox="1"/>
          <p:nvPr/>
        </p:nvSpPr>
        <p:spPr>
          <a:xfrm>
            <a:off x="4902041" y="2591039"/>
            <a:ext cx="10704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1571" name="Google Shape;1571;p45"/>
          <p:cNvSpPr/>
          <p:nvPr/>
        </p:nvSpPr>
        <p:spPr>
          <a:xfrm>
            <a:off x="4914900" y="2771775"/>
            <a:ext cx="3514725" cy="328613"/>
          </a:xfrm>
          <a:prstGeom prst="roundRect">
            <a:avLst>
              <a:gd fmla="val 17391" name="adj"/>
            </a:avLst>
          </a:prstGeom>
          <a:solidFill>
            <a:srgbClr val="EBF0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45"/>
          <p:cNvSpPr/>
          <p:nvPr/>
        </p:nvSpPr>
        <p:spPr>
          <a:xfrm>
            <a:off x="4914900" y="2771775"/>
            <a:ext cx="28575" cy="328613"/>
          </a:xfrm>
          <a:prstGeom prst="roundRect">
            <a:avLst>
              <a:gd fmla="val 500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45"/>
          <p:cNvSpPr txBox="1"/>
          <p:nvPr/>
        </p:nvSpPr>
        <p:spPr>
          <a:xfrm>
            <a:off x="5017056" y="2811423"/>
            <a:ext cx="2011306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3. 保存文件 → 新对话粘贴即用</a:t>
            </a:r>
            <a:endParaRPr sz="1100"/>
          </a:p>
        </p:txBody>
      </p:sp>
      <p:sp>
        <p:nvSpPr>
          <p:cNvPr id="1574" name="Google Shape;1574;p45"/>
          <p:cNvSpPr txBox="1"/>
          <p:nvPr/>
        </p:nvSpPr>
        <p:spPr>
          <a:xfrm>
            <a:off x="5019199" y="2958227"/>
            <a:ext cx="2222528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做任何新 feature，风格与原品牌完全一致</a:t>
            </a:r>
            <a:endParaRPr sz="1100"/>
          </a:p>
        </p:txBody>
      </p:sp>
      <p:sp>
        <p:nvSpPr>
          <p:cNvPr id="1575" name="Google Shape;1575;p45"/>
          <p:cNvSpPr txBox="1"/>
          <p:nvPr/>
        </p:nvSpPr>
        <p:spPr>
          <a:xfrm>
            <a:off x="4902041" y="3119676"/>
            <a:ext cx="10704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100"/>
          </a:p>
        </p:txBody>
      </p:sp>
      <p:sp>
        <p:nvSpPr>
          <p:cNvPr id="1576" name="Google Shape;1576;p45"/>
          <p:cNvSpPr/>
          <p:nvPr/>
        </p:nvSpPr>
        <p:spPr>
          <a:xfrm>
            <a:off x="4914900" y="3300413"/>
            <a:ext cx="3514725" cy="328613"/>
          </a:xfrm>
          <a:prstGeom prst="roundRect">
            <a:avLst>
              <a:gd fmla="val 17391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45"/>
          <p:cNvSpPr txBox="1"/>
          <p:nvPr/>
        </p:nvSpPr>
        <p:spPr>
          <a:xfrm>
            <a:off x="5252342" y="3340060"/>
            <a:ext cx="2839841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备注：sync 命令反向同步回 Claude Design</a:t>
            </a:r>
            <a:endParaRPr sz="1100"/>
          </a:p>
        </p:txBody>
      </p:sp>
      <p:sp>
        <p:nvSpPr>
          <p:cNvPr id="1578" name="Google Shape;1578;p45"/>
          <p:cNvSpPr txBox="1"/>
          <p:nvPr/>
        </p:nvSpPr>
        <p:spPr>
          <a:xfrm>
            <a:off x="6055561" y="3486864"/>
            <a:ext cx="123340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代码改了→设计稿也更新</a:t>
            </a:r>
            <a:endParaRPr sz="1100"/>
          </a:p>
        </p:txBody>
      </p:sp>
      <p:sp>
        <p:nvSpPr>
          <p:cNvPr id="1579" name="Google Shape;1579;p45"/>
          <p:cNvSpPr/>
          <p:nvPr/>
        </p:nvSpPr>
        <p:spPr>
          <a:xfrm>
            <a:off x="571500" y="3986213"/>
            <a:ext cx="8001000" cy="528638"/>
          </a:xfrm>
          <a:prstGeom prst="roundRect">
            <a:avLst>
              <a:gd fmla="val 18919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45"/>
          <p:cNvSpPr/>
          <p:nvPr/>
        </p:nvSpPr>
        <p:spPr>
          <a:xfrm>
            <a:off x="888236" y="4175522"/>
            <a:ext cx="195549" cy="150390"/>
          </a:xfrm>
          <a:custGeom>
            <a:rect b="b" l="l" r="r" t="t"/>
            <a:pathLst>
              <a:path extrusionOk="0" h="200520" w="260732">
                <a:moveTo>
                  <a:pt x="257209" y="122201"/>
                </a:moveTo>
                <a:cubicBezTo>
                  <a:pt x="260732" y="129256"/>
                  <a:pt x="257874" y="137831"/>
                  <a:pt x="250823" y="141361"/>
                </a:cubicBezTo>
                <a:lnTo>
                  <a:pt x="136523" y="198511"/>
                </a:lnTo>
                <a:cubicBezTo>
                  <a:pt x="132502" y="200520"/>
                  <a:pt x="127770" y="200520"/>
                  <a:pt x="123750" y="198511"/>
                </a:cubicBezTo>
                <a:lnTo>
                  <a:pt x="9450" y="141361"/>
                </a:lnTo>
                <a:cubicBezTo>
                  <a:pt x="2656" y="137697"/>
                  <a:pt x="0" y="129299"/>
                  <a:pt x="3452" y="122395"/>
                </a:cubicBezTo>
                <a:cubicBezTo>
                  <a:pt x="6904" y="115491"/>
                  <a:pt x="15215" y="112577"/>
                  <a:pt x="22223" y="115814"/>
                </a:cubicBezTo>
                <a:lnTo>
                  <a:pt x="130136" y="169736"/>
                </a:lnTo>
                <a:lnTo>
                  <a:pt x="238064" y="115800"/>
                </a:lnTo>
                <a:cubicBezTo>
                  <a:pt x="245119" y="112277"/>
                  <a:pt x="253694" y="115135"/>
                  <a:pt x="257224" y="122187"/>
                </a:cubicBezTo>
                <a:moveTo>
                  <a:pt x="130250" y="0"/>
                </a:moveTo>
                <a:cubicBezTo>
                  <a:pt x="130784" y="0"/>
                  <a:pt x="131313" y="33"/>
                  <a:pt x="131836" y="100"/>
                </a:cubicBezTo>
                <a:lnTo>
                  <a:pt x="133422" y="386"/>
                </a:lnTo>
                <a:lnTo>
                  <a:pt x="134651" y="729"/>
                </a:lnTo>
                <a:lnTo>
                  <a:pt x="134822" y="814"/>
                </a:lnTo>
                <a:lnTo>
                  <a:pt x="134994" y="843"/>
                </a:lnTo>
                <a:lnTo>
                  <a:pt x="135408" y="1043"/>
                </a:lnTo>
                <a:lnTo>
                  <a:pt x="136123" y="1314"/>
                </a:lnTo>
                <a:lnTo>
                  <a:pt x="136351" y="1443"/>
                </a:lnTo>
                <a:lnTo>
                  <a:pt x="136523" y="1514"/>
                </a:lnTo>
                <a:lnTo>
                  <a:pt x="250823" y="58664"/>
                </a:lnTo>
                <a:cubicBezTo>
                  <a:pt x="255656" y="61087"/>
                  <a:pt x="258708" y="66031"/>
                  <a:pt x="258708" y="71438"/>
                </a:cubicBezTo>
                <a:cubicBezTo>
                  <a:pt x="258708" y="76844"/>
                  <a:pt x="255656" y="81788"/>
                  <a:pt x="250823" y="84211"/>
                </a:cubicBezTo>
                <a:lnTo>
                  <a:pt x="136523" y="141361"/>
                </a:lnTo>
                <a:cubicBezTo>
                  <a:pt x="132502" y="143370"/>
                  <a:pt x="127770" y="143370"/>
                  <a:pt x="123750" y="141361"/>
                </a:cubicBezTo>
                <a:lnTo>
                  <a:pt x="9450" y="84211"/>
                </a:lnTo>
                <a:cubicBezTo>
                  <a:pt x="4616" y="81788"/>
                  <a:pt x="1564" y="76844"/>
                  <a:pt x="1564" y="71438"/>
                </a:cubicBezTo>
                <a:cubicBezTo>
                  <a:pt x="1564" y="66031"/>
                  <a:pt x="4616" y="61087"/>
                  <a:pt x="9450" y="58664"/>
                </a:cubicBezTo>
                <a:lnTo>
                  <a:pt x="123750" y="1514"/>
                </a:lnTo>
                <a:lnTo>
                  <a:pt x="123907" y="1443"/>
                </a:lnTo>
                <a:lnTo>
                  <a:pt x="124164" y="1300"/>
                </a:lnTo>
                <a:lnTo>
                  <a:pt x="125278" y="843"/>
                </a:lnTo>
                <a:lnTo>
                  <a:pt x="125436" y="814"/>
                </a:lnTo>
                <a:lnTo>
                  <a:pt x="125621" y="729"/>
                </a:lnTo>
                <a:lnTo>
                  <a:pt x="126850" y="386"/>
                </a:lnTo>
                <a:lnTo>
                  <a:pt x="128422" y="100"/>
                </a:lnTo>
                <a:lnTo>
                  <a:pt x="129222" y="29"/>
                </a:lnTo>
                <a:close/>
              </a:path>
            </a:pathLst>
          </a:cu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45"/>
          <p:cNvSpPr txBox="1"/>
          <p:nvPr/>
        </p:nvSpPr>
        <p:spPr>
          <a:xfrm>
            <a:off x="2549427" y="4066937"/>
            <a:ext cx="4045147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 System 保存在文件里，不在某个对话里</a:t>
            </a:r>
            <a:endParaRPr sz="1100"/>
          </a:p>
        </p:txBody>
      </p:sp>
      <p:sp>
        <p:nvSpPr>
          <p:cNvPr id="1582" name="Google Shape;1582;p45"/>
          <p:cNvSpPr txBox="1"/>
          <p:nvPr/>
        </p:nvSpPr>
        <p:spPr>
          <a:xfrm>
            <a:off x="2812352" y="4289108"/>
            <a:ext cx="351929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Claude 没有记忆 · 但你的设计决策有——只要你把它写成文件</a:t>
            </a:r>
            <a:endParaRPr sz="1100"/>
          </a:p>
        </p:txBody>
      </p:sp>
      <p:sp>
        <p:nvSpPr>
          <p:cNvPr id="1583" name="Google Shape;1583;p45"/>
          <p:cNvSpPr txBox="1"/>
          <p:nvPr/>
        </p:nvSpPr>
        <p:spPr>
          <a:xfrm>
            <a:off x="8348829" y="4958477"/>
            <a:ext cx="376547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21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4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46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46"/>
          <p:cNvSpPr txBox="1"/>
          <p:nvPr/>
        </p:nvSpPr>
        <p:spPr>
          <a:xfrm>
            <a:off x="3459397" y="224314"/>
            <a:ext cx="2225207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这周的实战作业</a:t>
            </a:r>
            <a:endParaRPr sz="1100"/>
          </a:p>
        </p:txBody>
      </p:sp>
      <p:sp>
        <p:nvSpPr>
          <p:cNvPr id="1591" name="Google Shape;1591;p46"/>
          <p:cNvSpPr txBox="1"/>
          <p:nvPr/>
        </p:nvSpPr>
        <p:spPr>
          <a:xfrm>
            <a:off x="3200757" y="537924"/>
            <a:ext cx="2742485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全流程跑一遍，换成你自己的领域</a:t>
            </a:r>
            <a:endParaRPr sz="1100"/>
          </a:p>
        </p:txBody>
      </p:sp>
      <p:sp>
        <p:nvSpPr>
          <p:cNvPr id="1592" name="Google Shape;1592;p46"/>
          <p:cNvSpPr/>
          <p:nvPr/>
        </p:nvSpPr>
        <p:spPr>
          <a:xfrm>
            <a:off x="571500" y="814388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3" name="Google Shape;1593;p46"/>
          <p:cNvSpPr/>
          <p:nvPr/>
        </p:nvSpPr>
        <p:spPr>
          <a:xfrm>
            <a:off x="571500" y="928688"/>
            <a:ext cx="3893344" cy="5715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46"/>
          <p:cNvSpPr/>
          <p:nvPr/>
        </p:nvSpPr>
        <p:spPr>
          <a:xfrm>
            <a:off x="571500" y="928688"/>
            <a:ext cx="35719" cy="571500"/>
          </a:xfrm>
          <a:prstGeom prst="roundRect">
            <a:avLst>
              <a:gd fmla="val 4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46"/>
          <p:cNvSpPr/>
          <p:nvPr/>
        </p:nvSpPr>
        <p:spPr>
          <a:xfrm>
            <a:off x="700088" y="1085850"/>
            <a:ext cx="257175" cy="257175"/>
          </a:xfrm>
          <a:prstGeom prst="ellipse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46"/>
          <p:cNvSpPr txBox="1"/>
          <p:nvPr/>
        </p:nvSpPr>
        <p:spPr>
          <a:xfrm>
            <a:off x="796543" y="1160145"/>
            <a:ext cx="6426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1597" name="Google Shape;1597;p46"/>
          <p:cNvSpPr txBox="1"/>
          <p:nvPr/>
        </p:nvSpPr>
        <p:spPr>
          <a:xfrm>
            <a:off x="1044416" y="1040844"/>
            <a:ext cx="142314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选一个你熟悉的领域</a:t>
            </a:r>
            <a:endParaRPr sz="1100"/>
          </a:p>
        </p:txBody>
      </p:sp>
      <p:sp>
        <p:nvSpPr>
          <p:cNvPr id="1598" name="Google Shape;1598;p46"/>
          <p:cNvSpPr txBox="1"/>
          <p:nvPr/>
        </p:nvSpPr>
        <p:spPr>
          <a:xfrm>
            <a:off x="1046559" y="1230511"/>
            <a:ext cx="257228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不限主题：理财 / 法律 / 教育 / 健身 / 移民……</a:t>
            </a:r>
            <a:endParaRPr sz="1100"/>
          </a:p>
        </p:txBody>
      </p:sp>
      <p:sp>
        <p:nvSpPr>
          <p:cNvPr id="1599" name="Google Shape;1599;p46"/>
          <p:cNvSpPr/>
          <p:nvPr/>
        </p:nvSpPr>
        <p:spPr>
          <a:xfrm>
            <a:off x="571500" y="1585913"/>
            <a:ext cx="3893344" cy="5715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46"/>
          <p:cNvSpPr/>
          <p:nvPr/>
        </p:nvSpPr>
        <p:spPr>
          <a:xfrm>
            <a:off x="571500" y="1585913"/>
            <a:ext cx="35719" cy="571500"/>
          </a:xfrm>
          <a:prstGeom prst="roundRect">
            <a:avLst>
              <a:gd fmla="val 4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46"/>
          <p:cNvSpPr/>
          <p:nvPr/>
        </p:nvSpPr>
        <p:spPr>
          <a:xfrm>
            <a:off x="700088" y="1743075"/>
            <a:ext cx="257175" cy="257175"/>
          </a:xfrm>
          <a:prstGeom prst="ellipse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46"/>
          <p:cNvSpPr txBox="1"/>
          <p:nvPr/>
        </p:nvSpPr>
        <p:spPr>
          <a:xfrm>
            <a:off x="779291" y="1817370"/>
            <a:ext cx="9877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1603" name="Google Shape;1603;p46"/>
          <p:cNvSpPr txBox="1"/>
          <p:nvPr/>
        </p:nvSpPr>
        <p:spPr>
          <a:xfrm>
            <a:off x="1044416" y="1698069"/>
            <a:ext cx="9262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写产品 Brief</a:t>
            </a:r>
            <a:endParaRPr sz="1100"/>
          </a:p>
        </p:txBody>
      </p:sp>
      <p:sp>
        <p:nvSpPr>
          <p:cNvPr id="1604" name="Google Shape;1604;p46"/>
          <p:cNvSpPr txBox="1"/>
          <p:nvPr/>
        </p:nvSpPr>
        <p:spPr>
          <a:xfrm>
            <a:off x="1046559" y="1887736"/>
            <a:ext cx="22950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受众 / 目标 / 风格参考 / 页面内容四要素</a:t>
            </a:r>
            <a:endParaRPr sz="1100"/>
          </a:p>
        </p:txBody>
      </p:sp>
      <p:sp>
        <p:nvSpPr>
          <p:cNvPr id="1605" name="Google Shape;1605;p46"/>
          <p:cNvSpPr/>
          <p:nvPr/>
        </p:nvSpPr>
        <p:spPr>
          <a:xfrm>
            <a:off x="571500" y="2243138"/>
            <a:ext cx="3893344" cy="571500"/>
          </a:xfrm>
          <a:prstGeom prst="roundRect">
            <a:avLst>
              <a:gd fmla="val 12500" name="adj"/>
            </a:avLst>
          </a:prstGeom>
          <a:solidFill>
            <a:srgbClr val="FDF5F1"/>
          </a:solidFill>
          <a:ln cap="flat" cmpd="sng" w="19050">
            <a:solidFill>
              <a:srgbClr val="C961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46"/>
          <p:cNvSpPr/>
          <p:nvPr/>
        </p:nvSpPr>
        <p:spPr>
          <a:xfrm>
            <a:off x="571500" y="2243138"/>
            <a:ext cx="35719" cy="571500"/>
          </a:xfrm>
          <a:prstGeom prst="roundRect">
            <a:avLst>
              <a:gd fmla="val 4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46"/>
          <p:cNvSpPr/>
          <p:nvPr/>
        </p:nvSpPr>
        <p:spPr>
          <a:xfrm>
            <a:off x="700088" y="2400300"/>
            <a:ext cx="257175" cy="257175"/>
          </a:xfrm>
          <a:prstGeom prst="ellipse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46"/>
          <p:cNvSpPr txBox="1"/>
          <p:nvPr/>
        </p:nvSpPr>
        <p:spPr>
          <a:xfrm>
            <a:off x="779291" y="2474595"/>
            <a:ext cx="9877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1609" name="Google Shape;1609;p46"/>
          <p:cNvSpPr txBox="1"/>
          <p:nvPr/>
        </p:nvSpPr>
        <p:spPr>
          <a:xfrm>
            <a:off x="1044416" y="2355294"/>
            <a:ext cx="29758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Claude Design 首页 + 提取 Design System</a:t>
            </a:r>
            <a:endParaRPr sz="1100"/>
          </a:p>
        </p:txBody>
      </p:sp>
      <p:sp>
        <p:nvSpPr>
          <p:cNvPr id="1610" name="Google Shape;1610;p46"/>
          <p:cNvSpPr txBox="1"/>
          <p:nvPr/>
        </p:nvSpPr>
        <p:spPr>
          <a:xfrm>
            <a:off x="1046559" y="2544961"/>
            <a:ext cx="331166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生成视觉稿 → 迭代满意 → "提取 Design System" → 保存文件</a:t>
            </a:r>
            <a:endParaRPr sz="1100"/>
          </a:p>
        </p:txBody>
      </p:sp>
      <p:sp>
        <p:nvSpPr>
          <p:cNvPr id="1611" name="Google Shape;1611;p46"/>
          <p:cNvSpPr/>
          <p:nvPr/>
        </p:nvSpPr>
        <p:spPr>
          <a:xfrm>
            <a:off x="4679156" y="928688"/>
            <a:ext cx="3893344" cy="5715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46"/>
          <p:cNvSpPr/>
          <p:nvPr/>
        </p:nvSpPr>
        <p:spPr>
          <a:xfrm>
            <a:off x="4679156" y="928688"/>
            <a:ext cx="35719" cy="571500"/>
          </a:xfrm>
          <a:prstGeom prst="roundRect">
            <a:avLst>
              <a:gd fmla="val 400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46"/>
          <p:cNvSpPr/>
          <p:nvPr/>
        </p:nvSpPr>
        <p:spPr>
          <a:xfrm>
            <a:off x="4807744" y="1085850"/>
            <a:ext cx="257175" cy="257175"/>
          </a:xfrm>
          <a:prstGeom prst="ellipse">
            <a:avLst/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46"/>
          <p:cNvSpPr txBox="1"/>
          <p:nvPr/>
        </p:nvSpPr>
        <p:spPr>
          <a:xfrm>
            <a:off x="4886947" y="1160145"/>
            <a:ext cx="9877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1615" name="Google Shape;1615;p46"/>
          <p:cNvSpPr txBox="1"/>
          <p:nvPr/>
        </p:nvSpPr>
        <p:spPr>
          <a:xfrm>
            <a:off x="5152073" y="1040844"/>
            <a:ext cx="124458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Claude Code 首页</a:t>
            </a:r>
            <a:endParaRPr sz="1100"/>
          </a:p>
        </p:txBody>
      </p:sp>
      <p:sp>
        <p:nvSpPr>
          <p:cNvPr id="1616" name="Google Shape;1616;p46"/>
          <p:cNvSpPr txBox="1"/>
          <p:nvPr/>
        </p:nvSpPr>
        <p:spPr>
          <a:xfrm>
            <a:off x="5154216" y="1230511"/>
            <a:ext cx="323156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import 视觉稿 + 粘贴 DS → 生成 CLAUDE.md + index.html</a:t>
            </a:r>
            <a:endParaRPr sz="1100"/>
          </a:p>
        </p:txBody>
      </p:sp>
      <p:sp>
        <p:nvSpPr>
          <p:cNvPr id="1617" name="Google Shape;1617;p46"/>
          <p:cNvSpPr/>
          <p:nvPr/>
        </p:nvSpPr>
        <p:spPr>
          <a:xfrm>
            <a:off x="4679156" y="1585913"/>
            <a:ext cx="3893344" cy="571500"/>
          </a:xfrm>
          <a:prstGeom prst="roundRect">
            <a:avLst>
              <a:gd fmla="val 12500" name="adj"/>
            </a:avLst>
          </a:prstGeom>
          <a:solidFill>
            <a:srgbClr val="EBF0FA"/>
          </a:solidFill>
          <a:ln cap="flat" cmpd="sng" w="19050">
            <a:solidFill>
              <a:srgbClr val="3D7D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46"/>
          <p:cNvSpPr/>
          <p:nvPr/>
        </p:nvSpPr>
        <p:spPr>
          <a:xfrm>
            <a:off x="4679156" y="1585913"/>
            <a:ext cx="35719" cy="571500"/>
          </a:xfrm>
          <a:prstGeom prst="roundRect">
            <a:avLst>
              <a:gd fmla="val 40000" name="adj"/>
            </a:avLst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46"/>
          <p:cNvSpPr/>
          <p:nvPr/>
        </p:nvSpPr>
        <p:spPr>
          <a:xfrm>
            <a:off x="4807744" y="1743075"/>
            <a:ext cx="257175" cy="257175"/>
          </a:xfrm>
          <a:prstGeom prst="ellipse">
            <a:avLst/>
          </a:prstGeom>
          <a:solidFill>
            <a:srgbClr val="3D7D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46"/>
          <p:cNvSpPr txBox="1"/>
          <p:nvPr/>
        </p:nvSpPr>
        <p:spPr>
          <a:xfrm>
            <a:off x="4886947" y="1817370"/>
            <a:ext cx="9877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/>
          </a:p>
        </p:txBody>
      </p:sp>
      <p:sp>
        <p:nvSpPr>
          <p:cNvPr id="1621" name="Google Shape;1621;p46"/>
          <p:cNvSpPr txBox="1"/>
          <p:nvPr/>
        </p:nvSpPr>
        <p:spPr>
          <a:xfrm>
            <a:off x="5152073" y="1698069"/>
            <a:ext cx="251002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新 Claude Design 对话做第二个页面</a:t>
            </a:r>
            <a:endParaRPr sz="1100"/>
          </a:p>
        </p:txBody>
      </p:sp>
      <p:sp>
        <p:nvSpPr>
          <p:cNvPr id="1622" name="Google Shape;1622;p46"/>
          <p:cNvSpPr txBox="1"/>
          <p:nvPr/>
        </p:nvSpPr>
        <p:spPr>
          <a:xfrm>
            <a:off x="5154216" y="1887736"/>
            <a:ext cx="32192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3D7DE4"/>
                </a:solidFill>
                <a:latin typeface="Arial"/>
                <a:ea typeface="Arial"/>
                <a:cs typeface="Arial"/>
                <a:sym typeface="Arial"/>
              </a:rPr>
              <a:t>选 Design System 文件 → 生成 resources.html → import</a:t>
            </a:r>
            <a:endParaRPr sz="1100"/>
          </a:p>
        </p:txBody>
      </p:sp>
      <p:sp>
        <p:nvSpPr>
          <p:cNvPr id="1623" name="Google Shape;1623;p46"/>
          <p:cNvSpPr/>
          <p:nvPr/>
        </p:nvSpPr>
        <p:spPr>
          <a:xfrm>
            <a:off x="4679156" y="2243138"/>
            <a:ext cx="3893344" cy="5715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46"/>
          <p:cNvSpPr/>
          <p:nvPr/>
        </p:nvSpPr>
        <p:spPr>
          <a:xfrm>
            <a:off x="4679156" y="2243138"/>
            <a:ext cx="35719" cy="571500"/>
          </a:xfrm>
          <a:prstGeom prst="roundRect">
            <a:avLst>
              <a:gd fmla="val 40000" name="adj"/>
            </a:avLst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46"/>
          <p:cNvSpPr/>
          <p:nvPr/>
        </p:nvSpPr>
        <p:spPr>
          <a:xfrm>
            <a:off x="4807744" y="2400300"/>
            <a:ext cx="257175" cy="257175"/>
          </a:xfrm>
          <a:prstGeom prst="ellipse">
            <a:avLst/>
          </a:prstGeom>
          <a:solidFill>
            <a:srgbClr val="3A9E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46"/>
          <p:cNvSpPr txBox="1"/>
          <p:nvPr/>
        </p:nvSpPr>
        <p:spPr>
          <a:xfrm>
            <a:off x="4886947" y="2474595"/>
            <a:ext cx="9877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/>
          </a:p>
        </p:txBody>
      </p:sp>
      <p:sp>
        <p:nvSpPr>
          <p:cNvPr id="1627" name="Google Shape;1627;p46"/>
          <p:cNvSpPr txBox="1"/>
          <p:nvPr/>
        </p:nvSpPr>
        <p:spPr>
          <a:xfrm>
            <a:off x="5152073" y="2355294"/>
            <a:ext cx="220725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Git + Vercel 部署 → 发到学员群</a:t>
            </a:r>
            <a:endParaRPr sz="1100"/>
          </a:p>
        </p:txBody>
      </p:sp>
      <p:sp>
        <p:nvSpPr>
          <p:cNvPr id="1628" name="Google Shape;1628;p46"/>
          <p:cNvSpPr txBox="1"/>
          <p:nvPr/>
        </p:nvSpPr>
        <p:spPr>
          <a:xfrm>
            <a:off x="5154216" y="2544961"/>
            <a:ext cx="20485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截图 + URL 发到群里，Austin 帮你看</a:t>
            </a:r>
            <a:endParaRPr sz="1100"/>
          </a:p>
        </p:txBody>
      </p:sp>
      <p:sp>
        <p:nvSpPr>
          <p:cNvPr id="1629" name="Google Shape;1629;p46"/>
          <p:cNvSpPr/>
          <p:nvPr/>
        </p:nvSpPr>
        <p:spPr>
          <a:xfrm>
            <a:off x="571500" y="2971800"/>
            <a:ext cx="8001000" cy="642938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46"/>
          <p:cNvSpPr/>
          <p:nvPr/>
        </p:nvSpPr>
        <p:spPr>
          <a:xfrm>
            <a:off x="571500" y="2971800"/>
            <a:ext cx="42863" cy="642938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1" name="Google Shape;1631;p46"/>
          <p:cNvGrpSpPr/>
          <p:nvPr/>
        </p:nvGrpSpPr>
        <p:grpSpPr>
          <a:xfrm>
            <a:off x="783105" y="3158280"/>
            <a:ext cx="199160" cy="178894"/>
            <a:chOff x="1044140" y="4211040"/>
            <a:chExt cx="265547" cy="238526"/>
          </a:xfrm>
        </p:grpSpPr>
        <p:sp>
          <p:nvSpPr>
            <p:cNvPr id="1632" name="Google Shape;1632;p46"/>
            <p:cNvSpPr/>
            <p:nvPr/>
          </p:nvSpPr>
          <p:spPr>
            <a:xfrm>
              <a:off x="1044140" y="4211040"/>
              <a:ext cx="88345" cy="67076"/>
            </a:xfrm>
            <a:custGeom>
              <a:rect b="b" l="l" r="r" t="t"/>
              <a:pathLst>
                <a:path extrusionOk="0" h="67076" w="88345">
                  <a:moveTo>
                    <a:pt x="82767" y="5578"/>
                  </a:moveTo>
                  <a:cubicBezTo>
                    <a:pt x="88345" y="11157"/>
                    <a:pt x="88345" y="20201"/>
                    <a:pt x="82767" y="25780"/>
                  </a:cubicBezTo>
                  <a:lnTo>
                    <a:pt x="47048" y="61499"/>
                  </a:lnTo>
                  <a:cubicBezTo>
                    <a:pt x="41469" y="67076"/>
                    <a:pt x="32425" y="67076"/>
                    <a:pt x="26846" y="61499"/>
                  </a:cubicBezTo>
                  <a:lnTo>
                    <a:pt x="5415" y="40068"/>
                  </a:lnTo>
                  <a:cubicBezTo>
                    <a:pt x="0" y="34461"/>
                    <a:pt x="77" y="25550"/>
                    <a:pt x="5589" y="20039"/>
                  </a:cubicBezTo>
                  <a:cubicBezTo>
                    <a:pt x="11100" y="14528"/>
                    <a:pt x="20011" y="14451"/>
                    <a:pt x="25617" y="19865"/>
                  </a:cubicBezTo>
                  <a:lnTo>
                    <a:pt x="36947" y="31195"/>
                  </a:lnTo>
                  <a:lnTo>
                    <a:pt x="62565" y="5578"/>
                  </a:lnTo>
                  <a:cubicBezTo>
                    <a:pt x="68144" y="0"/>
                    <a:pt x="77188" y="0"/>
                    <a:pt x="82767" y="5578"/>
                  </a:cubicBezTo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46"/>
            <p:cNvSpPr/>
            <p:nvPr/>
          </p:nvSpPr>
          <p:spPr>
            <a:xfrm>
              <a:off x="1044140" y="4296765"/>
              <a:ext cx="88345" cy="67076"/>
            </a:xfrm>
            <a:custGeom>
              <a:rect b="b" l="l" r="r" t="t"/>
              <a:pathLst>
                <a:path extrusionOk="0" h="67076" w="88345">
                  <a:moveTo>
                    <a:pt x="82767" y="5578"/>
                  </a:moveTo>
                  <a:cubicBezTo>
                    <a:pt x="88345" y="11157"/>
                    <a:pt x="88345" y="20201"/>
                    <a:pt x="82767" y="25780"/>
                  </a:cubicBezTo>
                  <a:lnTo>
                    <a:pt x="47048" y="61499"/>
                  </a:lnTo>
                  <a:cubicBezTo>
                    <a:pt x="41469" y="67076"/>
                    <a:pt x="32425" y="67076"/>
                    <a:pt x="26846" y="61499"/>
                  </a:cubicBezTo>
                  <a:lnTo>
                    <a:pt x="5415" y="40068"/>
                  </a:lnTo>
                  <a:cubicBezTo>
                    <a:pt x="0" y="34461"/>
                    <a:pt x="77" y="25550"/>
                    <a:pt x="5589" y="20039"/>
                  </a:cubicBezTo>
                  <a:cubicBezTo>
                    <a:pt x="11100" y="14528"/>
                    <a:pt x="20011" y="14451"/>
                    <a:pt x="25617" y="19865"/>
                  </a:cubicBezTo>
                  <a:lnTo>
                    <a:pt x="36947" y="31195"/>
                  </a:lnTo>
                  <a:lnTo>
                    <a:pt x="62565" y="5578"/>
                  </a:lnTo>
                  <a:cubicBezTo>
                    <a:pt x="68144" y="0"/>
                    <a:pt x="77188" y="0"/>
                    <a:pt x="82767" y="5578"/>
                  </a:cubicBezTo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46"/>
            <p:cNvSpPr/>
            <p:nvPr/>
          </p:nvSpPr>
          <p:spPr>
            <a:xfrm>
              <a:off x="1044140" y="4382490"/>
              <a:ext cx="88345" cy="67076"/>
            </a:xfrm>
            <a:custGeom>
              <a:rect b="b" l="l" r="r" t="t"/>
              <a:pathLst>
                <a:path extrusionOk="0" h="67076" w="88345">
                  <a:moveTo>
                    <a:pt x="82767" y="5578"/>
                  </a:moveTo>
                  <a:cubicBezTo>
                    <a:pt x="88345" y="11157"/>
                    <a:pt x="88345" y="20201"/>
                    <a:pt x="82767" y="25780"/>
                  </a:cubicBezTo>
                  <a:lnTo>
                    <a:pt x="47048" y="61499"/>
                  </a:lnTo>
                  <a:cubicBezTo>
                    <a:pt x="41469" y="67076"/>
                    <a:pt x="32425" y="67076"/>
                    <a:pt x="26846" y="61499"/>
                  </a:cubicBezTo>
                  <a:lnTo>
                    <a:pt x="5415" y="40068"/>
                  </a:lnTo>
                  <a:cubicBezTo>
                    <a:pt x="0" y="34461"/>
                    <a:pt x="77" y="25550"/>
                    <a:pt x="5589" y="20039"/>
                  </a:cubicBezTo>
                  <a:cubicBezTo>
                    <a:pt x="11100" y="14528"/>
                    <a:pt x="20011" y="14451"/>
                    <a:pt x="25617" y="19865"/>
                  </a:cubicBezTo>
                  <a:lnTo>
                    <a:pt x="36947" y="31195"/>
                  </a:lnTo>
                  <a:lnTo>
                    <a:pt x="62565" y="5578"/>
                  </a:lnTo>
                  <a:cubicBezTo>
                    <a:pt x="68144" y="0"/>
                    <a:pt x="77188" y="0"/>
                    <a:pt x="82767" y="5578"/>
                  </a:cubicBezTo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46"/>
            <p:cNvSpPr/>
            <p:nvPr/>
          </p:nvSpPr>
          <p:spPr>
            <a:xfrm>
              <a:off x="1152525" y="4233862"/>
              <a:ext cx="157162" cy="28575"/>
            </a:xfrm>
            <a:custGeom>
              <a:rect b="b" l="l" r="r" t="t"/>
              <a:pathLst>
                <a:path extrusionOk="0" h="28575" w="157162">
                  <a:moveTo>
                    <a:pt x="157162" y="14288"/>
                  </a:moveTo>
                  <a:cubicBezTo>
                    <a:pt x="157162" y="22178"/>
                    <a:pt x="150766" y="28575"/>
                    <a:pt x="142875" y="28575"/>
                  </a:cubicBezTo>
                  <a:lnTo>
                    <a:pt x="14288" y="28575"/>
                  </a:lnTo>
                  <a:cubicBezTo>
                    <a:pt x="6397" y="28575"/>
                    <a:pt x="0" y="22178"/>
                    <a:pt x="0" y="14288"/>
                  </a:cubicBezTo>
                  <a:cubicBezTo>
                    <a:pt x="0" y="6397"/>
                    <a:pt x="6397" y="0"/>
                    <a:pt x="14288" y="0"/>
                  </a:cubicBezTo>
                  <a:lnTo>
                    <a:pt x="142875" y="0"/>
                  </a:lnTo>
                  <a:cubicBezTo>
                    <a:pt x="150766" y="0"/>
                    <a:pt x="157162" y="6397"/>
                    <a:pt x="157162" y="14288"/>
                  </a:cubicBezTo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46"/>
            <p:cNvSpPr/>
            <p:nvPr/>
          </p:nvSpPr>
          <p:spPr>
            <a:xfrm>
              <a:off x="1152525" y="4319588"/>
              <a:ext cx="157162" cy="28575"/>
            </a:xfrm>
            <a:custGeom>
              <a:rect b="b" l="l" r="r" t="t"/>
              <a:pathLst>
                <a:path extrusionOk="0" h="28575" w="157162">
                  <a:moveTo>
                    <a:pt x="157162" y="14288"/>
                  </a:moveTo>
                  <a:cubicBezTo>
                    <a:pt x="157162" y="22178"/>
                    <a:pt x="150766" y="28575"/>
                    <a:pt x="142875" y="28575"/>
                  </a:cubicBezTo>
                  <a:lnTo>
                    <a:pt x="14288" y="28575"/>
                  </a:lnTo>
                  <a:cubicBezTo>
                    <a:pt x="6397" y="28575"/>
                    <a:pt x="0" y="22178"/>
                    <a:pt x="0" y="14288"/>
                  </a:cubicBezTo>
                  <a:cubicBezTo>
                    <a:pt x="0" y="6397"/>
                    <a:pt x="6397" y="0"/>
                    <a:pt x="14288" y="0"/>
                  </a:cubicBezTo>
                  <a:lnTo>
                    <a:pt x="142875" y="0"/>
                  </a:lnTo>
                  <a:cubicBezTo>
                    <a:pt x="150766" y="0"/>
                    <a:pt x="157162" y="6397"/>
                    <a:pt x="157162" y="14288"/>
                  </a:cubicBezTo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46"/>
            <p:cNvSpPr/>
            <p:nvPr/>
          </p:nvSpPr>
          <p:spPr>
            <a:xfrm>
              <a:off x="1152525" y="4405312"/>
              <a:ext cx="157162" cy="28575"/>
            </a:xfrm>
            <a:custGeom>
              <a:rect b="b" l="l" r="r" t="t"/>
              <a:pathLst>
                <a:path extrusionOk="0" h="28575" w="157162">
                  <a:moveTo>
                    <a:pt x="157162" y="14288"/>
                  </a:moveTo>
                  <a:cubicBezTo>
                    <a:pt x="157162" y="22178"/>
                    <a:pt x="150766" y="28575"/>
                    <a:pt x="142875" y="28575"/>
                  </a:cubicBezTo>
                  <a:lnTo>
                    <a:pt x="14288" y="28575"/>
                  </a:lnTo>
                  <a:cubicBezTo>
                    <a:pt x="6397" y="28575"/>
                    <a:pt x="0" y="22178"/>
                    <a:pt x="0" y="14288"/>
                  </a:cubicBezTo>
                  <a:cubicBezTo>
                    <a:pt x="0" y="6397"/>
                    <a:pt x="6397" y="0"/>
                    <a:pt x="14288" y="0"/>
                  </a:cubicBezTo>
                  <a:lnTo>
                    <a:pt x="142875" y="0"/>
                  </a:lnTo>
                  <a:cubicBezTo>
                    <a:pt x="150766" y="0"/>
                    <a:pt x="157162" y="6397"/>
                    <a:pt x="157162" y="14288"/>
                  </a:cubicBezTo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8" name="Google Shape;1638;p46"/>
          <p:cNvSpPr txBox="1"/>
          <p:nvPr/>
        </p:nvSpPr>
        <p:spPr>
          <a:xfrm>
            <a:off x="1100138" y="3071813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核心交付</a:t>
            </a:r>
            <a:endParaRPr sz="1100"/>
          </a:p>
        </p:txBody>
      </p:sp>
      <p:sp>
        <p:nvSpPr>
          <p:cNvPr id="1639" name="Google Shape;1639;p46"/>
          <p:cNvSpPr txBox="1"/>
          <p:nvPr/>
        </p:nvSpPr>
        <p:spPr>
          <a:xfrm>
            <a:off x="1102281" y="3275767"/>
            <a:ext cx="4933348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两个风格一致的页面（index.html + resources.html）+ 一个真实 Vercel URL</a:t>
            </a:r>
            <a:endParaRPr sz="1100"/>
          </a:p>
        </p:txBody>
      </p:sp>
      <p:sp>
        <p:nvSpPr>
          <p:cNvPr id="1640" name="Google Shape;1640;p46"/>
          <p:cNvSpPr txBox="1"/>
          <p:nvPr/>
        </p:nvSpPr>
        <p:spPr>
          <a:xfrm>
            <a:off x="1103709" y="3452217"/>
            <a:ext cx="413730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加分项：design-system.md 文件一起提交，证明你会提取 Design System</a:t>
            </a:r>
            <a:endParaRPr sz="1100"/>
          </a:p>
        </p:txBody>
      </p:sp>
      <p:sp>
        <p:nvSpPr>
          <p:cNvPr id="1641" name="Google Shape;1641;p46"/>
          <p:cNvSpPr/>
          <p:nvPr/>
        </p:nvSpPr>
        <p:spPr>
          <a:xfrm>
            <a:off x="571500" y="3757613"/>
            <a:ext cx="2500313" cy="514350"/>
          </a:xfrm>
          <a:prstGeom prst="roundRect">
            <a:avLst>
              <a:gd fmla="val 13889" name="adj"/>
            </a:avLst>
          </a:prstGeom>
          <a:solidFill>
            <a:srgbClr val="F8F6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46"/>
          <p:cNvSpPr txBox="1"/>
          <p:nvPr/>
        </p:nvSpPr>
        <p:spPr>
          <a:xfrm>
            <a:off x="1516226" y="3840123"/>
            <a:ext cx="610862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截止时间</a:t>
            </a:r>
            <a:endParaRPr sz="1100"/>
          </a:p>
        </p:txBody>
      </p:sp>
      <p:sp>
        <p:nvSpPr>
          <p:cNvPr id="1643" name="Google Shape;1643;p46"/>
          <p:cNvSpPr txBox="1"/>
          <p:nvPr/>
        </p:nvSpPr>
        <p:spPr>
          <a:xfrm>
            <a:off x="1153001" y="4031933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下节课之前发到学员群</a:t>
            </a:r>
            <a:endParaRPr sz="1100"/>
          </a:p>
        </p:txBody>
      </p:sp>
      <p:sp>
        <p:nvSpPr>
          <p:cNvPr id="1644" name="Google Shape;1644;p46"/>
          <p:cNvSpPr/>
          <p:nvPr/>
        </p:nvSpPr>
        <p:spPr>
          <a:xfrm>
            <a:off x="3300413" y="3757613"/>
            <a:ext cx="2714625" cy="514350"/>
          </a:xfrm>
          <a:prstGeom prst="roundRect">
            <a:avLst>
              <a:gd fmla="val 13889" name="adj"/>
            </a:avLst>
          </a:prstGeom>
          <a:solidFill>
            <a:srgbClr val="F8F6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46"/>
          <p:cNvSpPr txBox="1"/>
          <p:nvPr/>
        </p:nvSpPr>
        <p:spPr>
          <a:xfrm>
            <a:off x="4352294" y="3840123"/>
            <a:ext cx="610862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领域自选</a:t>
            </a:r>
            <a:endParaRPr sz="1100"/>
          </a:p>
        </p:txBody>
      </p:sp>
      <p:sp>
        <p:nvSpPr>
          <p:cNvPr id="1646" name="Google Shape;1646;p46"/>
          <p:cNvSpPr txBox="1"/>
          <p:nvPr/>
        </p:nvSpPr>
        <p:spPr>
          <a:xfrm>
            <a:off x="3719608" y="4031933"/>
            <a:ext cx="18762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不用是理财——换成你自己擅长的</a:t>
            </a:r>
            <a:endParaRPr sz="1100"/>
          </a:p>
        </p:txBody>
      </p:sp>
      <p:sp>
        <p:nvSpPr>
          <p:cNvPr id="1647" name="Google Shape;1647;p46"/>
          <p:cNvSpPr/>
          <p:nvPr/>
        </p:nvSpPr>
        <p:spPr>
          <a:xfrm>
            <a:off x="6243638" y="3757613"/>
            <a:ext cx="2328863" cy="514350"/>
          </a:xfrm>
          <a:prstGeom prst="roundRect">
            <a:avLst>
              <a:gd fmla="val 13889" name="adj"/>
            </a:avLst>
          </a:prstGeom>
          <a:solidFill>
            <a:srgbClr val="FDF5F1"/>
          </a:solidFill>
          <a:ln cap="flat" cmpd="sng" w="9525">
            <a:solidFill>
              <a:srgbClr val="C961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46"/>
          <p:cNvSpPr txBox="1"/>
          <p:nvPr/>
        </p:nvSpPr>
        <p:spPr>
          <a:xfrm>
            <a:off x="7102638" y="3840123"/>
            <a:ext cx="610862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遇到问题</a:t>
            </a:r>
            <a:endParaRPr sz="1100"/>
          </a:p>
        </p:txBody>
      </p:sp>
      <p:sp>
        <p:nvSpPr>
          <p:cNvPr id="1649" name="Google Shape;1649;p46"/>
          <p:cNvSpPr txBox="1"/>
          <p:nvPr/>
        </p:nvSpPr>
        <p:spPr>
          <a:xfrm>
            <a:off x="6535674" y="4031933"/>
            <a:ext cx="174479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微信 elitecoach101 找 Austin</a:t>
            </a:r>
            <a:endParaRPr sz="1100"/>
          </a:p>
        </p:txBody>
      </p:sp>
      <p:sp>
        <p:nvSpPr>
          <p:cNvPr id="1650" name="Google Shape;1650;p46"/>
          <p:cNvSpPr/>
          <p:nvPr/>
        </p:nvSpPr>
        <p:spPr>
          <a:xfrm>
            <a:off x="571500" y="4414838"/>
            <a:ext cx="8001000" cy="7144"/>
          </a:xfrm>
          <a:custGeom>
            <a:rect b="b" l="l" r="r" t="t"/>
            <a:pathLst>
              <a:path extrusionOk="0" h="9525" w="10668000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cap="flat" cmpd="sng" w="95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1" name="Google Shape;1651;p46"/>
          <p:cNvSpPr txBox="1"/>
          <p:nvPr/>
        </p:nvSpPr>
        <p:spPr>
          <a:xfrm>
            <a:off x="2749915" y="4503420"/>
            <a:ext cx="364417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步骤 3 和 5 是新的——Design System 让两个页面风格自动一致</a:t>
            </a:r>
            <a:endParaRPr sz="1100"/>
          </a:p>
        </p:txBody>
      </p:sp>
      <p:sp>
        <p:nvSpPr>
          <p:cNvPr id="1652" name="Google Shape;1652;p46"/>
          <p:cNvSpPr txBox="1"/>
          <p:nvPr/>
        </p:nvSpPr>
        <p:spPr>
          <a:xfrm>
            <a:off x="8320076" y="4958477"/>
            <a:ext cx="40530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22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4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47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47"/>
          <p:cNvSpPr txBox="1"/>
          <p:nvPr/>
        </p:nvSpPr>
        <p:spPr>
          <a:xfrm>
            <a:off x="1616211" y="1364456"/>
            <a:ext cx="5911578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100" u="none" cap="none" strike="noStrike">
                <a:solidFill>
                  <a:srgbClr val="C96133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 sz="1100"/>
          </a:p>
        </p:txBody>
      </p:sp>
      <p:sp>
        <p:nvSpPr>
          <p:cNvPr id="1660" name="Google Shape;1660;p47"/>
          <p:cNvSpPr/>
          <p:nvPr/>
        </p:nvSpPr>
        <p:spPr>
          <a:xfrm>
            <a:off x="4114800" y="857250"/>
            <a:ext cx="914400" cy="914400"/>
          </a:xfrm>
          <a:prstGeom prst="roundRect">
            <a:avLst>
              <a:gd fmla="val 21875" name="adj"/>
            </a:avLst>
          </a:prstGeom>
          <a:solidFill>
            <a:srgbClr val="C96133">
              <a:alpha val="784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47"/>
          <p:cNvSpPr/>
          <p:nvPr/>
        </p:nvSpPr>
        <p:spPr>
          <a:xfrm>
            <a:off x="4262438" y="1004888"/>
            <a:ext cx="619258" cy="622069"/>
          </a:xfrm>
          <a:custGeom>
            <a:rect b="b" l="l" r="r" t="t"/>
            <a:pathLst>
              <a:path extrusionOk="0" h="829425" w="825678">
                <a:moveTo>
                  <a:pt x="412750" y="0"/>
                </a:moveTo>
                <a:cubicBezTo>
                  <a:pt x="640712" y="0"/>
                  <a:pt x="825500" y="184788"/>
                  <a:pt x="825500" y="412750"/>
                </a:cubicBezTo>
                <a:cubicBezTo>
                  <a:pt x="825678" y="638225"/>
                  <a:pt x="644883" y="822119"/>
                  <a:pt x="419437" y="825772"/>
                </a:cubicBezTo>
                <a:cubicBezTo>
                  <a:pt x="193992" y="829425"/>
                  <a:pt x="7333" y="651486"/>
                  <a:pt x="206" y="426123"/>
                </a:cubicBezTo>
                <a:lnTo>
                  <a:pt x="0" y="412750"/>
                </a:lnTo>
                <a:lnTo>
                  <a:pt x="165" y="401193"/>
                </a:lnTo>
                <a:cubicBezTo>
                  <a:pt x="6274" y="178597"/>
                  <a:pt x="188627" y="0"/>
                  <a:pt x="412750" y="0"/>
                </a:cubicBezTo>
                <a:close/>
                <a:moveTo>
                  <a:pt x="412750" y="536575"/>
                </a:moveTo>
                <a:cubicBezTo>
                  <a:pt x="391825" y="536578"/>
                  <a:pt x="374212" y="552239"/>
                  <a:pt x="371764" y="573021"/>
                </a:cubicBezTo>
                <a:lnTo>
                  <a:pt x="371475" y="577850"/>
                </a:lnTo>
                <a:lnTo>
                  <a:pt x="371764" y="583092"/>
                </a:lnTo>
                <a:cubicBezTo>
                  <a:pt x="374234" y="603855"/>
                  <a:pt x="391840" y="619492"/>
                  <a:pt x="412750" y="619492"/>
                </a:cubicBezTo>
                <a:cubicBezTo>
                  <a:pt x="433660" y="619492"/>
                  <a:pt x="451266" y="603855"/>
                  <a:pt x="453736" y="583092"/>
                </a:cubicBezTo>
                <a:lnTo>
                  <a:pt x="454025" y="578263"/>
                </a:lnTo>
                <a:lnTo>
                  <a:pt x="453736" y="573021"/>
                </a:lnTo>
                <a:cubicBezTo>
                  <a:pt x="451288" y="552239"/>
                  <a:pt x="433675" y="536578"/>
                  <a:pt x="412750" y="536575"/>
                </a:cubicBezTo>
                <a:close/>
                <a:moveTo>
                  <a:pt x="469214" y="261147"/>
                </a:moveTo>
                <a:cubicBezTo>
                  <a:pt x="418342" y="235139"/>
                  <a:pt x="356259" y="247587"/>
                  <a:pt x="319345" y="291195"/>
                </a:cubicBezTo>
                <a:cubicBezTo>
                  <a:pt x="305154" y="307819"/>
                  <a:pt x="306382" y="332623"/>
                  <a:pt x="322146" y="347763"/>
                </a:cubicBezTo>
                <a:cubicBezTo>
                  <a:pt x="337910" y="362903"/>
                  <a:pt x="362744" y="363129"/>
                  <a:pt x="378781" y="348278"/>
                </a:cubicBezTo>
                <a:lnTo>
                  <a:pt x="385839" y="340849"/>
                </a:lnTo>
                <a:cubicBezTo>
                  <a:pt x="398310" y="329401"/>
                  <a:pt x="416591" y="326931"/>
                  <a:pt x="431654" y="334658"/>
                </a:cubicBezTo>
                <a:cubicBezTo>
                  <a:pt x="447935" y="342897"/>
                  <a:pt x="456873" y="360850"/>
                  <a:pt x="453636" y="378808"/>
                </a:cubicBezTo>
                <a:cubicBezTo>
                  <a:pt x="450399" y="396766"/>
                  <a:pt x="435754" y="410467"/>
                  <a:pt x="417620" y="412502"/>
                </a:cubicBezTo>
                <a:lnTo>
                  <a:pt x="408045" y="412998"/>
                </a:lnTo>
                <a:cubicBezTo>
                  <a:pt x="386246" y="415396"/>
                  <a:pt x="370129" y="434423"/>
                  <a:pt x="371348" y="456319"/>
                </a:cubicBezTo>
                <a:cubicBezTo>
                  <a:pt x="372567" y="478216"/>
                  <a:pt x="390696" y="495336"/>
                  <a:pt x="412626" y="495300"/>
                </a:cubicBezTo>
                <a:cubicBezTo>
                  <a:pt x="469947" y="495472"/>
                  <a:pt x="519893" y="456280"/>
                  <a:pt x="533358" y="400563"/>
                </a:cubicBezTo>
                <a:cubicBezTo>
                  <a:pt x="546824" y="344846"/>
                  <a:pt x="520288" y="287170"/>
                  <a:pt x="469214" y="261147"/>
                </a:cubicBezTo>
                <a:close/>
              </a:path>
            </a:pathLst>
          </a:cu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47"/>
          <p:cNvSpPr/>
          <p:nvPr/>
        </p:nvSpPr>
        <p:spPr>
          <a:xfrm>
            <a:off x="2571750" y="2614613"/>
            <a:ext cx="4000500" cy="7144"/>
          </a:xfrm>
          <a:custGeom>
            <a:rect b="b" l="l" r="r" t="t"/>
            <a:pathLst>
              <a:path extrusionOk="0" h="9525" w="5334000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3" name="Google Shape;1663;p47"/>
          <p:cNvSpPr/>
          <p:nvPr/>
        </p:nvSpPr>
        <p:spPr>
          <a:xfrm>
            <a:off x="2000250" y="4177578"/>
            <a:ext cx="5143500" cy="60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427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47"/>
          <p:cNvSpPr/>
          <p:nvPr/>
        </p:nvSpPr>
        <p:spPr>
          <a:xfrm>
            <a:off x="2000250" y="2757488"/>
            <a:ext cx="42863" cy="600075"/>
          </a:xfrm>
          <a:prstGeom prst="roundRect">
            <a:avLst>
              <a:gd fmla="val 50000" name="adj"/>
            </a:avLst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47"/>
          <p:cNvSpPr txBox="1"/>
          <p:nvPr/>
        </p:nvSpPr>
        <p:spPr>
          <a:xfrm>
            <a:off x="2631044" y="4299921"/>
            <a:ext cx="303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微信</a:t>
            </a:r>
            <a:endParaRPr sz="1100"/>
          </a:p>
        </p:txBody>
      </p:sp>
      <p:sp>
        <p:nvSpPr>
          <p:cNvPr id="1666" name="Google Shape;1666;p47"/>
          <p:cNvSpPr txBox="1"/>
          <p:nvPr/>
        </p:nvSpPr>
        <p:spPr>
          <a:xfrm>
            <a:off x="3058239" y="4287776"/>
            <a:ext cx="1035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elitecoach101</a:t>
            </a:r>
            <a:endParaRPr sz="1100"/>
          </a:p>
        </p:txBody>
      </p:sp>
      <p:sp>
        <p:nvSpPr>
          <p:cNvPr id="1667" name="Google Shape;1667;p47"/>
          <p:cNvSpPr/>
          <p:nvPr/>
        </p:nvSpPr>
        <p:spPr>
          <a:xfrm>
            <a:off x="4429125" y="2828925"/>
            <a:ext cx="7144" cy="457200"/>
          </a:xfrm>
          <a:custGeom>
            <a:rect b="b" l="l" r="r" t="t"/>
            <a:pathLst>
              <a:path extrusionOk="0" h="609600" w="9525">
                <a:moveTo>
                  <a:pt x="0" y="0"/>
                </a:moveTo>
                <a:lnTo>
                  <a:pt x="0" y="609600"/>
                </a:lnTo>
              </a:path>
            </a:pathLst>
          </a:custGeom>
          <a:noFill/>
          <a:ln cap="flat" cmpd="sng" w="95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8" name="Google Shape;1668;p47"/>
          <p:cNvSpPr txBox="1"/>
          <p:nvPr/>
        </p:nvSpPr>
        <p:spPr>
          <a:xfrm>
            <a:off x="4617006" y="4299921"/>
            <a:ext cx="303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邮件</a:t>
            </a:r>
            <a:endParaRPr sz="1100"/>
          </a:p>
        </p:txBody>
      </p:sp>
      <p:sp>
        <p:nvSpPr>
          <p:cNvPr id="1669" name="Google Shape;1669;p47"/>
          <p:cNvSpPr txBox="1"/>
          <p:nvPr/>
        </p:nvSpPr>
        <p:spPr>
          <a:xfrm>
            <a:off x="5044916" y="4293849"/>
            <a:ext cx="2067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austin.aicourse@gmail.com</a:t>
            </a:r>
            <a:endParaRPr sz="1100"/>
          </a:p>
        </p:txBody>
      </p:sp>
      <p:sp>
        <p:nvSpPr>
          <p:cNvPr id="1670" name="Google Shape;1670;p47"/>
          <p:cNvSpPr txBox="1"/>
          <p:nvPr/>
        </p:nvSpPr>
        <p:spPr>
          <a:xfrm>
            <a:off x="3800341" y="4547809"/>
            <a:ext cx="1543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作业做完，发邮件给 Austin</a:t>
            </a:r>
            <a:endParaRPr sz="1100"/>
          </a:p>
        </p:txBody>
      </p:sp>
      <p:sp>
        <p:nvSpPr>
          <p:cNvPr id="1671" name="Google Shape;1671;p47"/>
          <p:cNvSpPr txBox="1"/>
          <p:nvPr/>
        </p:nvSpPr>
        <p:spPr>
          <a:xfrm>
            <a:off x="8320076" y="4958477"/>
            <a:ext cx="40530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23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4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48"/>
          <p:cNvSpPr/>
          <p:nvPr/>
        </p:nvSpPr>
        <p:spPr>
          <a:xfrm>
            <a:off x="0" y="0"/>
            <a:ext cx="9144000" cy="35719"/>
          </a:xfrm>
          <a:prstGeom prst="rect">
            <a:avLst/>
          </a:prstGeom>
          <a:solidFill>
            <a:srgbClr val="C961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78" name="Google Shape;1678;p48"/>
          <p:cNvGrpSpPr/>
          <p:nvPr/>
        </p:nvGrpSpPr>
        <p:grpSpPr>
          <a:xfrm>
            <a:off x="571500" y="210026"/>
            <a:ext cx="8001000" cy="597218"/>
            <a:chOff x="762000" y="280035"/>
            <a:chExt cx="10668000" cy="796290"/>
          </a:xfrm>
        </p:grpSpPr>
        <p:sp>
          <p:nvSpPr>
            <p:cNvPr id="1679" name="Google Shape;1679;p48"/>
            <p:cNvSpPr txBox="1"/>
            <p:nvPr/>
          </p:nvSpPr>
          <p:spPr>
            <a:xfrm>
              <a:off x="5233606" y="280035"/>
              <a:ext cx="1724787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0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参考资料</a:t>
              </a:r>
              <a:endParaRPr sz="1100"/>
            </a:p>
          </p:txBody>
        </p:sp>
        <p:sp>
          <p:nvSpPr>
            <p:cNvPr id="1680" name="Google Shape;1680;p48"/>
            <p:cNvSpPr txBox="1"/>
            <p:nvPr/>
          </p:nvSpPr>
          <p:spPr>
            <a:xfrm>
              <a:off x="4762500" y="714375"/>
              <a:ext cx="2667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今天课程涉及的工具与链接</a:t>
              </a:r>
              <a:endParaRPr sz="1100"/>
            </a:p>
          </p:txBody>
        </p:sp>
        <p:sp>
          <p:nvSpPr>
            <p:cNvPr id="1681" name="Google Shape;1681;p48"/>
            <p:cNvSpPr/>
            <p:nvPr/>
          </p:nvSpPr>
          <p:spPr>
            <a:xfrm>
              <a:off x="762000" y="1066800"/>
              <a:ext cx="10668000" cy="9525"/>
            </a:xfrm>
            <a:custGeom>
              <a:rect b="b" l="l" r="r" t="t"/>
              <a:pathLst>
                <a:path extrusionOk="0" h="9525" w="10668000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cap="flat" cmpd="sng" w="1427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</p:sp>
      </p:grpSp>
      <p:grpSp>
        <p:nvGrpSpPr>
          <p:cNvPr id="1682" name="Google Shape;1682;p48"/>
          <p:cNvGrpSpPr/>
          <p:nvPr/>
        </p:nvGrpSpPr>
        <p:grpSpPr>
          <a:xfrm>
            <a:off x="571500" y="914400"/>
            <a:ext cx="2571750" cy="1857375"/>
            <a:chOff x="762000" y="1219200"/>
            <a:chExt cx="3429000" cy="2476500"/>
          </a:xfrm>
        </p:grpSpPr>
        <p:sp>
          <p:nvSpPr>
            <p:cNvPr id="1683" name="Google Shape;1683;p48"/>
            <p:cNvSpPr/>
            <p:nvPr/>
          </p:nvSpPr>
          <p:spPr>
            <a:xfrm>
              <a:off x="762000" y="1219200"/>
              <a:ext cx="3429000" cy="2476500"/>
            </a:xfrm>
            <a:prstGeom prst="roundRect">
              <a:avLst>
                <a:gd fmla="val 5385" name="adj"/>
              </a:avLst>
            </a:prstGeom>
            <a:solidFill>
              <a:srgbClr val="FFFFFF"/>
            </a:solidFill>
            <a:ln cap="flat" cmpd="sng" w="1427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48"/>
            <p:cNvSpPr/>
            <p:nvPr/>
          </p:nvSpPr>
          <p:spPr>
            <a:xfrm>
              <a:off x="762000" y="1219200"/>
              <a:ext cx="3429000" cy="47625"/>
            </a:xfrm>
            <a:prstGeom prst="roundRect">
              <a:avLst>
                <a:gd fmla="val 40000" name="adj"/>
              </a:avLst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48"/>
            <p:cNvSpPr/>
            <p:nvPr/>
          </p:nvSpPr>
          <p:spPr>
            <a:xfrm>
              <a:off x="3048000" y="1371600"/>
              <a:ext cx="990600" cy="228600"/>
            </a:xfrm>
            <a:prstGeom prst="roundRect">
              <a:avLst>
                <a:gd fmla="val 50000" name="adj"/>
              </a:avLst>
            </a:prstGeom>
            <a:solidFill>
              <a:srgbClr val="F0EDE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48"/>
            <p:cNvSpPr txBox="1"/>
            <p:nvPr/>
          </p:nvSpPr>
          <p:spPr>
            <a:xfrm>
              <a:off x="3117818" y="1426845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今日核心工具</a:t>
              </a:r>
              <a:endParaRPr sz="1100"/>
            </a:p>
          </p:txBody>
        </p:sp>
        <p:sp>
          <p:nvSpPr>
            <p:cNvPr id="1687" name="Google Shape;1687;p48"/>
            <p:cNvSpPr/>
            <p:nvPr/>
          </p:nvSpPr>
          <p:spPr>
            <a:xfrm>
              <a:off x="1028700" y="1466850"/>
              <a:ext cx="495300" cy="495300"/>
            </a:xfrm>
            <a:prstGeom prst="roundRect">
              <a:avLst>
                <a:gd fmla="val 23077" name="adj"/>
              </a:avLst>
            </a:prstGeom>
            <a:solidFill>
              <a:srgbClr val="C96133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48"/>
            <p:cNvSpPr/>
            <p:nvPr/>
          </p:nvSpPr>
          <p:spPr>
            <a:xfrm>
              <a:off x="1149350" y="1587500"/>
              <a:ext cx="254000" cy="254260"/>
            </a:xfrm>
            <a:custGeom>
              <a:rect b="b" l="l" r="r" t="t"/>
              <a:pathLst>
                <a:path extrusionOk="0" h="254260" w="254000">
                  <a:moveTo>
                    <a:pt x="127000" y="0"/>
                  </a:moveTo>
                  <a:cubicBezTo>
                    <a:pt x="196825" y="0"/>
                    <a:pt x="254000" y="50825"/>
                    <a:pt x="254000" y="114300"/>
                  </a:cubicBezTo>
                  <a:cubicBezTo>
                    <a:pt x="254000" y="131458"/>
                    <a:pt x="246380" y="147828"/>
                    <a:pt x="232994" y="159715"/>
                  </a:cubicBezTo>
                  <a:cubicBezTo>
                    <a:pt x="219913" y="171323"/>
                    <a:pt x="202362" y="177800"/>
                    <a:pt x="184150" y="177800"/>
                  </a:cubicBezTo>
                  <a:lnTo>
                    <a:pt x="152197" y="177800"/>
                  </a:lnTo>
                  <a:cubicBezTo>
                    <a:pt x="146368" y="177706"/>
                    <a:pt x="141223" y="181593"/>
                    <a:pt x="139721" y="187226"/>
                  </a:cubicBezTo>
                  <a:cubicBezTo>
                    <a:pt x="138219" y="192859"/>
                    <a:pt x="140745" y="198791"/>
                    <a:pt x="145847" y="201613"/>
                  </a:cubicBezTo>
                  <a:cubicBezTo>
                    <a:pt x="146736" y="202104"/>
                    <a:pt x="147563" y="202701"/>
                    <a:pt x="148311" y="203391"/>
                  </a:cubicBezTo>
                  <a:cubicBezTo>
                    <a:pt x="157214" y="211606"/>
                    <a:pt x="160122" y="224464"/>
                    <a:pt x="155620" y="235712"/>
                  </a:cubicBezTo>
                  <a:cubicBezTo>
                    <a:pt x="151118" y="246959"/>
                    <a:pt x="140142" y="254260"/>
                    <a:pt x="128029" y="254064"/>
                  </a:cubicBezTo>
                  <a:lnTo>
                    <a:pt x="126048" y="253949"/>
                  </a:lnTo>
                  <a:lnTo>
                    <a:pt x="126911" y="254000"/>
                  </a:lnTo>
                  <a:lnTo>
                    <a:pt x="123444" y="253949"/>
                  </a:lnTo>
                  <a:cubicBezTo>
                    <a:pt x="56134" y="252095"/>
                    <a:pt x="1905" y="197866"/>
                    <a:pt x="51" y="130556"/>
                  </a:cubicBezTo>
                  <a:lnTo>
                    <a:pt x="0" y="127000"/>
                  </a:lnTo>
                  <a:cubicBezTo>
                    <a:pt x="0" y="56858"/>
                    <a:pt x="56858" y="0"/>
                    <a:pt x="127000" y="0"/>
                  </a:cubicBezTo>
                  <a:moveTo>
                    <a:pt x="82550" y="82550"/>
                  </a:moveTo>
                  <a:cubicBezTo>
                    <a:pt x="69258" y="82546"/>
                    <a:pt x="58210" y="92790"/>
                    <a:pt x="57213" y="106045"/>
                  </a:cubicBezTo>
                  <a:lnTo>
                    <a:pt x="57150" y="107950"/>
                  </a:lnTo>
                  <a:cubicBezTo>
                    <a:pt x="57150" y="121978"/>
                    <a:pt x="68522" y="133350"/>
                    <a:pt x="82550" y="133350"/>
                  </a:cubicBezTo>
                  <a:cubicBezTo>
                    <a:pt x="96578" y="133350"/>
                    <a:pt x="107950" y="121978"/>
                    <a:pt x="107950" y="107950"/>
                  </a:cubicBezTo>
                  <a:cubicBezTo>
                    <a:pt x="107950" y="93922"/>
                    <a:pt x="96578" y="82550"/>
                    <a:pt x="82550" y="82550"/>
                  </a:cubicBezTo>
                  <a:moveTo>
                    <a:pt x="184150" y="82550"/>
                  </a:moveTo>
                  <a:cubicBezTo>
                    <a:pt x="170858" y="82546"/>
                    <a:pt x="159810" y="92790"/>
                    <a:pt x="158814" y="106045"/>
                  </a:cubicBezTo>
                  <a:lnTo>
                    <a:pt x="158750" y="107950"/>
                  </a:lnTo>
                  <a:cubicBezTo>
                    <a:pt x="158750" y="121978"/>
                    <a:pt x="170122" y="133350"/>
                    <a:pt x="184150" y="133350"/>
                  </a:cubicBezTo>
                  <a:cubicBezTo>
                    <a:pt x="198178" y="133350"/>
                    <a:pt x="209550" y="121978"/>
                    <a:pt x="209550" y="107950"/>
                  </a:cubicBezTo>
                  <a:cubicBezTo>
                    <a:pt x="209550" y="93922"/>
                    <a:pt x="198178" y="82550"/>
                    <a:pt x="184150" y="82550"/>
                  </a:cubicBezTo>
                  <a:moveTo>
                    <a:pt x="133350" y="44450"/>
                  </a:moveTo>
                  <a:cubicBezTo>
                    <a:pt x="120058" y="44446"/>
                    <a:pt x="109010" y="54690"/>
                    <a:pt x="108013" y="67945"/>
                  </a:cubicBezTo>
                  <a:lnTo>
                    <a:pt x="107950" y="69850"/>
                  </a:lnTo>
                  <a:cubicBezTo>
                    <a:pt x="107950" y="83878"/>
                    <a:pt x="119322" y="95250"/>
                    <a:pt x="133350" y="95250"/>
                  </a:cubicBezTo>
                  <a:cubicBezTo>
                    <a:pt x="147378" y="95250"/>
                    <a:pt x="158750" y="83878"/>
                    <a:pt x="158750" y="69850"/>
                  </a:cubicBezTo>
                  <a:cubicBezTo>
                    <a:pt x="158750" y="55822"/>
                    <a:pt x="147378" y="44450"/>
                    <a:pt x="133350" y="44450"/>
                  </a:cubicBezTo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48"/>
            <p:cNvSpPr txBox="1"/>
            <p:nvPr/>
          </p:nvSpPr>
          <p:spPr>
            <a:xfrm>
              <a:off x="1638300" y="1504950"/>
              <a:ext cx="1510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Claude Design</a:t>
              </a:r>
              <a:endParaRPr sz="1100"/>
            </a:p>
          </p:txBody>
        </p:sp>
        <p:sp>
          <p:nvSpPr>
            <p:cNvPr id="1690" name="Google Shape;1690;p48"/>
            <p:cNvSpPr txBox="1"/>
            <p:nvPr/>
          </p:nvSpPr>
          <p:spPr>
            <a:xfrm>
              <a:off x="1644968" y="1771174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AI 视觉设计工具</a:t>
              </a:r>
              <a:endParaRPr sz="1100"/>
            </a:p>
          </p:txBody>
        </p:sp>
        <p:sp>
          <p:nvSpPr>
            <p:cNvPr id="1691" name="Google Shape;1691;p48"/>
            <p:cNvSpPr/>
            <p:nvPr/>
          </p:nvSpPr>
          <p:spPr>
            <a:xfrm>
              <a:off x="952500" y="2114550"/>
              <a:ext cx="3086100" cy="9525"/>
            </a:xfrm>
            <a:custGeom>
              <a:rect b="b" l="l" r="r" t="t"/>
              <a:pathLst>
                <a:path extrusionOk="0" h="9525" w="3086100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cap="flat" cmpd="sng" w="9525">
              <a:solidFill>
                <a:srgbClr val="F0EDE8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692" name="Google Shape;1692;p48"/>
            <p:cNvSpPr/>
            <p:nvPr/>
          </p:nvSpPr>
          <p:spPr>
            <a:xfrm>
              <a:off x="952500" y="2228850"/>
              <a:ext cx="3048000" cy="304800"/>
            </a:xfrm>
            <a:prstGeom prst="roundRect">
              <a:avLst>
                <a:gd fmla="val 25000" name="adj"/>
              </a:avLst>
            </a:prstGeom>
            <a:solidFill>
              <a:srgbClr val="F0EDE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48"/>
            <p:cNvSpPr txBox="1"/>
            <p:nvPr/>
          </p:nvSpPr>
          <p:spPr>
            <a:xfrm>
              <a:off x="2078352" y="2307431"/>
              <a:ext cx="7962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C96133"/>
                  </a:solidFill>
                  <a:latin typeface="Consolas"/>
                  <a:ea typeface="Consolas"/>
                  <a:cs typeface="Consolas"/>
                  <a:sym typeface="Consolas"/>
                </a:rPr>
                <a:t>claude.ai</a:t>
              </a:r>
              <a:endParaRPr sz="1100"/>
            </a:p>
          </p:txBody>
        </p:sp>
        <p:sp>
          <p:nvSpPr>
            <p:cNvPr id="1694" name="Google Shape;1694;p48"/>
            <p:cNvSpPr/>
            <p:nvPr/>
          </p:nvSpPr>
          <p:spPr>
            <a:xfrm>
              <a:off x="1019175" y="2714625"/>
              <a:ext cx="57150" cy="57150"/>
            </a:xfrm>
            <a:prstGeom prst="ellipse">
              <a:avLst/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48"/>
            <p:cNvSpPr txBox="1"/>
            <p:nvPr/>
          </p:nvSpPr>
          <p:spPr>
            <a:xfrm>
              <a:off x="1148715" y="2667952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生成配色方案 · 页面布局</a:t>
              </a:r>
              <a:endParaRPr sz="1100"/>
            </a:p>
          </p:txBody>
        </p:sp>
        <p:sp>
          <p:nvSpPr>
            <p:cNvPr id="1696" name="Google Shape;1696;p48"/>
            <p:cNvSpPr/>
            <p:nvPr/>
          </p:nvSpPr>
          <p:spPr>
            <a:xfrm>
              <a:off x="1019175" y="2981325"/>
              <a:ext cx="57150" cy="57150"/>
            </a:xfrm>
            <a:prstGeom prst="ellipse">
              <a:avLst/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48"/>
            <p:cNvSpPr txBox="1"/>
            <p:nvPr/>
          </p:nvSpPr>
          <p:spPr>
            <a:xfrm>
              <a:off x="1148715" y="2934652"/>
              <a:ext cx="1997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输出设计规范给 Claude Code</a:t>
              </a:r>
              <a:endParaRPr sz="1100"/>
            </a:p>
          </p:txBody>
        </p:sp>
        <p:sp>
          <p:nvSpPr>
            <p:cNvPr id="1698" name="Google Shape;1698;p48"/>
            <p:cNvSpPr/>
            <p:nvPr/>
          </p:nvSpPr>
          <p:spPr>
            <a:xfrm>
              <a:off x="1019175" y="3248025"/>
              <a:ext cx="57150" cy="57150"/>
            </a:xfrm>
            <a:prstGeom prst="ellipse">
              <a:avLst/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48"/>
            <p:cNvSpPr txBox="1"/>
            <p:nvPr/>
          </p:nvSpPr>
          <p:spPr>
            <a:xfrm>
              <a:off x="1148715" y="3201352"/>
              <a:ext cx="20662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免费 · 无需安装 · 浏览器直用</a:t>
              </a:r>
              <a:endParaRPr sz="1100"/>
            </a:p>
          </p:txBody>
        </p:sp>
      </p:grpSp>
      <p:grpSp>
        <p:nvGrpSpPr>
          <p:cNvPr id="1700" name="Google Shape;1700;p48"/>
          <p:cNvGrpSpPr/>
          <p:nvPr/>
        </p:nvGrpSpPr>
        <p:grpSpPr>
          <a:xfrm>
            <a:off x="3286125" y="914400"/>
            <a:ext cx="2571750" cy="900113"/>
            <a:chOff x="4381500" y="1219200"/>
            <a:chExt cx="3429000" cy="1200150"/>
          </a:xfrm>
        </p:grpSpPr>
        <p:sp>
          <p:nvSpPr>
            <p:cNvPr id="1701" name="Google Shape;1701;p48"/>
            <p:cNvSpPr/>
            <p:nvPr/>
          </p:nvSpPr>
          <p:spPr>
            <a:xfrm>
              <a:off x="4381500" y="1219200"/>
              <a:ext cx="3429000" cy="120015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 cap="flat" cmpd="sng" w="1427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48"/>
            <p:cNvSpPr/>
            <p:nvPr/>
          </p:nvSpPr>
          <p:spPr>
            <a:xfrm>
              <a:off x="4381500" y="1219200"/>
              <a:ext cx="3429000" cy="47625"/>
            </a:xfrm>
            <a:prstGeom prst="roundRect">
              <a:avLst>
                <a:gd fmla="val 40000" name="adj"/>
              </a:avLst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48"/>
            <p:cNvSpPr/>
            <p:nvPr/>
          </p:nvSpPr>
          <p:spPr>
            <a:xfrm>
              <a:off x="4572000" y="1343025"/>
              <a:ext cx="685800" cy="209550"/>
            </a:xfrm>
            <a:prstGeom prst="roundRect">
              <a:avLst>
                <a:gd fmla="val 50000" name="adj"/>
              </a:avLst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48"/>
            <p:cNvSpPr txBox="1"/>
            <p:nvPr/>
          </p:nvSpPr>
          <p:spPr>
            <a:xfrm>
              <a:off x="4637787" y="1388745"/>
              <a:ext cx="5542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YouTube</a:t>
              </a:r>
              <a:endParaRPr sz="1100"/>
            </a:p>
          </p:txBody>
        </p:sp>
        <p:sp>
          <p:nvSpPr>
            <p:cNvPr id="1705" name="Google Shape;1705;p48"/>
            <p:cNvSpPr/>
            <p:nvPr/>
          </p:nvSpPr>
          <p:spPr>
            <a:xfrm>
              <a:off x="5314950" y="1314450"/>
              <a:ext cx="342900" cy="342900"/>
            </a:xfrm>
            <a:prstGeom prst="roundRect">
              <a:avLst>
                <a:gd fmla="val 22222" name="adj"/>
              </a:avLst>
            </a:prstGeom>
            <a:solidFill>
              <a:srgbClr val="FF0000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48"/>
            <p:cNvSpPr/>
            <p:nvPr/>
          </p:nvSpPr>
          <p:spPr>
            <a:xfrm>
              <a:off x="5419724" y="1385333"/>
              <a:ext cx="166694" cy="201135"/>
            </a:xfrm>
            <a:custGeom>
              <a:rect b="b" l="l" r="r" t="t"/>
              <a:pathLst>
                <a:path extrusionOk="0" h="201135" w="166694">
                  <a:moveTo>
                    <a:pt x="1" y="11667"/>
                  </a:moveTo>
                  <a:lnTo>
                    <a:pt x="1" y="189467"/>
                  </a:lnTo>
                  <a:cubicBezTo>
                    <a:pt x="0" y="193494"/>
                    <a:pt x="2177" y="197206"/>
                    <a:pt x="5691" y="199170"/>
                  </a:cubicBezTo>
                  <a:cubicBezTo>
                    <a:pt x="9205" y="201135"/>
                    <a:pt x="13507" y="201045"/>
                    <a:pt x="16937" y="198935"/>
                  </a:cubicBezTo>
                  <a:lnTo>
                    <a:pt x="161399" y="110035"/>
                  </a:lnTo>
                  <a:cubicBezTo>
                    <a:pt x="164689" y="108014"/>
                    <a:pt x="166694" y="104429"/>
                    <a:pt x="166694" y="100567"/>
                  </a:cubicBezTo>
                  <a:cubicBezTo>
                    <a:pt x="166694" y="96706"/>
                    <a:pt x="164689" y="93121"/>
                    <a:pt x="161399" y="91100"/>
                  </a:cubicBezTo>
                  <a:lnTo>
                    <a:pt x="16937" y="2200"/>
                  </a:lnTo>
                  <a:cubicBezTo>
                    <a:pt x="13507" y="90"/>
                    <a:pt x="9205" y="0"/>
                    <a:pt x="5691" y="1965"/>
                  </a:cubicBezTo>
                  <a:cubicBezTo>
                    <a:pt x="2177" y="3929"/>
                    <a:pt x="0" y="7641"/>
                    <a:pt x="1" y="11667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48"/>
            <p:cNvSpPr txBox="1"/>
            <p:nvPr/>
          </p:nvSpPr>
          <p:spPr>
            <a:xfrm>
              <a:off x="5738812" y="1345406"/>
              <a:ext cx="8221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推荐视频 1</a:t>
              </a:r>
              <a:endParaRPr sz="1100"/>
            </a:p>
          </p:txBody>
        </p:sp>
        <p:sp>
          <p:nvSpPr>
            <p:cNvPr id="1708" name="Google Shape;1708;p48"/>
            <p:cNvSpPr txBox="1"/>
            <p:nvPr/>
          </p:nvSpPr>
          <p:spPr>
            <a:xfrm>
              <a:off x="5741670" y="1531620"/>
              <a:ext cx="11664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Claude Design 参考</a:t>
              </a:r>
              <a:endParaRPr sz="1100"/>
            </a:p>
          </p:txBody>
        </p:sp>
        <p:sp>
          <p:nvSpPr>
            <p:cNvPr id="1709" name="Google Shape;1709;p48"/>
            <p:cNvSpPr/>
            <p:nvPr/>
          </p:nvSpPr>
          <p:spPr>
            <a:xfrm>
              <a:off x="4572000" y="1695450"/>
              <a:ext cx="3048000" cy="9525"/>
            </a:xfrm>
            <a:custGeom>
              <a:rect b="b" l="l" r="r" t="t"/>
              <a:pathLst>
                <a:path extrusionOk="0" h="9525" w="3048000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cap="flat" cmpd="sng" w="9525">
              <a:solidFill>
                <a:srgbClr val="FFE0E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10" name="Google Shape;1710;p48"/>
            <p:cNvSpPr/>
            <p:nvPr/>
          </p:nvSpPr>
          <p:spPr>
            <a:xfrm>
              <a:off x="4572000" y="1771650"/>
              <a:ext cx="3048000" cy="266700"/>
            </a:xfrm>
            <a:prstGeom prst="roundRect">
              <a:avLst>
                <a:gd fmla="val 25000" name="adj"/>
              </a:avLst>
            </a:prstGeom>
            <a:solidFill>
              <a:srgbClr val="FFF0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48"/>
            <p:cNvSpPr txBox="1"/>
            <p:nvPr/>
          </p:nvSpPr>
          <p:spPr>
            <a:xfrm>
              <a:off x="5261265" y="1837849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youtu.be/trtd977aArU</a:t>
              </a:r>
              <a:endParaRPr sz="1100"/>
            </a:p>
          </p:txBody>
        </p:sp>
        <p:sp>
          <p:nvSpPr>
            <p:cNvPr id="1712" name="Google Shape;1712;p48"/>
            <p:cNvSpPr txBox="1"/>
            <p:nvPr/>
          </p:nvSpPr>
          <p:spPr>
            <a:xfrm>
              <a:off x="4560570" y="2188845"/>
              <a:ext cx="23165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youtube.com/watch?v=trtd977aArU</a:t>
              </a:r>
              <a:endParaRPr sz="1100"/>
            </a:p>
          </p:txBody>
        </p:sp>
      </p:grpSp>
      <p:grpSp>
        <p:nvGrpSpPr>
          <p:cNvPr id="1713" name="Google Shape;1713;p48"/>
          <p:cNvGrpSpPr/>
          <p:nvPr/>
        </p:nvGrpSpPr>
        <p:grpSpPr>
          <a:xfrm>
            <a:off x="3286125" y="1871663"/>
            <a:ext cx="2571750" cy="900113"/>
            <a:chOff x="4381500" y="2495550"/>
            <a:chExt cx="3429000" cy="1200150"/>
          </a:xfrm>
        </p:grpSpPr>
        <p:sp>
          <p:nvSpPr>
            <p:cNvPr id="1714" name="Google Shape;1714;p48"/>
            <p:cNvSpPr/>
            <p:nvPr/>
          </p:nvSpPr>
          <p:spPr>
            <a:xfrm>
              <a:off x="4381500" y="2495550"/>
              <a:ext cx="3429000" cy="120015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 cap="flat" cmpd="sng" w="1427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48"/>
            <p:cNvSpPr/>
            <p:nvPr/>
          </p:nvSpPr>
          <p:spPr>
            <a:xfrm>
              <a:off x="4381500" y="2495550"/>
              <a:ext cx="3429000" cy="47625"/>
            </a:xfrm>
            <a:prstGeom prst="roundRect">
              <a:avLst>
                <a:gd fmla="val 40000" name="adj"/>
              </a:avLst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48"/>
            <p:cNvSpPr/>
            <p:nvPr/>
          </p:nvSpPr>
          <p:spPr>
            <a:xfrm>
              <a:off x="4572000" y="2619375"/>
              <a:ext cx="685800" cy="209550"/>
            </a:xfrm>
            <a:prstGeom prst="roundRect">
              <a:avLst>
                <a:gd fmla="val 50000" name="adj"/>
              </a:avLst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48"/>
            <p:cNvSpPr txBox="1"/>
            <p:nvPr/>
          </p:nvSpPr>
          <p:spPr>
            <a:xfrm>
              <a:off x="4637787" y="2665095"/>
              <a:ext cx="5542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YouTube</a:t>
              </a:r>
              <a:endParaRPr sz="1100"/>
            </a:p>
          </p:txBody>
        </p:sp>
        <p:sp>
          <p:nvSpPr>
            <p:cNvPr id="1718" name="Google Shape;1718;p48"/>
            <p:cNvSpPr/>
            <p:nvPr/>
          </p:nvSpPr>
          <p:spPr>
            <a:xfrm>
              <a:off x="5314950" y="2590800"/>
              <a:ext cx="342900" cy="342900"/>
            </a:xfrm>
            <a:prstGeom prst="roundRect">
              <a:avLst>
                <a:gd fmla="val 22222" name="adj"/>
              </a:avLst>
            </a:prstGeom>
            <a:solidFill>
              <a:srgbClr val="FF0000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48"/>
            <p:cNvSpPr/>
            <p:nvPr/>
          </p:nvSpPr>
          <p:spPr>
            <a:xfrm>
              <a:off x="5419724" y="2661683"/>
              <a:ext cx="166694" cy="201135"/>
            </a:xfrm>
            <a:custGeom>
              <a:rect b="b" l="l" r="r" t="t"/>
              <a:pathLst>
                <a:path extrusionOk="0" h="201135" w="166694">
                  <a:moveTo>
                    <a:pt x="1" y="11667"/>
                  </a:moveTo>
                  <a:lnTo>
                    <a:pt x="1" y="189467"/>
                  </a:lnTo>
                  <a:cubicBezTo>
                    <a:pt x="0" y="193494"/>
                    <a:pt x="2177" y="197206"/>
                    <a:pt x="5691" y="199170"/>
                  </a:cubicBezTo>
                  <a:cubicBezTo>
                    <a:pt x="9205" y="201135"/>
                    <a:pt x="13507" y="201045"/>
                    <a:pt x="16937" y="198935"/>
                  </a:cubicBezTo>
                  <a:lnTo>
                    <a:pt x="161399" y="110035"/>
                  </a:lnTo>
                  <a:cubicBezTo>
                    <a:pt x="164689" y="108014"/>
                    <a:pt x="166694" y="104429"/>
                    <a:pt x="166694" y="100567"/>
                  </a:cubicBezTo>
                  <a:cubicBezTo>
                    <a:pt x="166694" y="96706"/>
                    <a:pt x="164689" y="93121"/>
                    <a:pt x="161399" y="91100"/>
                  </a:cubicBezTo>
                  <a:lnTo>
                    <a:pt x="16937" y="2200"/>
                  </a:lnTo>
                  <a:cubicBezTo>
                    <a:pt x="13507" y="90"/>
                    <a:pt x="9205" y="0"/>
                    <a:pt x="5691" y="1965"/>
                  </a:cubicBezTo>
                  <a:cubicBezTo>
                    <a:pt x="2177" y="3929"/>
                    <a:pt x="0" y="7641"/>
                    <a:pt x="1" y="11667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48"/>
            <p:cNvSpPr txBox="1"/>
            <p:nvPr/>
          </p:nvSpPr>
          <p:spPr>
            <a:xfrm>
              <a:off x="5738812" y="2621756"/>
              <a:ext cx="8653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推荐视频 2</a:t>
              </a:r>
              <a:endParaRPr sz="1100"/>
            </a:p>
          </p:txBody>
        </p:sp>
        <p:sp>
          <p:nvSpPr>
            <p:cNvPr id="1721" name="Google Shape;1721;p48"/>
            <p:cNvSpPr txBox="1"/>
            <p:nvPr/>
          </p:nvSpPr>
          <p:spPr>
            <a:xfrm>
              <a:off x="5741670" y="2807970"/>
              <a:ext cx="11664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Claude Design 参考</a:t>
              </a:r>
              <a:endParaRPr sz="1100"/>
            </a:p>
          </p:txBody>
        </p:sp>
        <p:sp>
          <p:nvSpPr>
            <p:cNvPr id="1722" name="Google Shape;1722;p48"/>
            <p:cNvSpPr/>
            <p:nvPr/>
          </p:nvSpPr>
          <p:spPr>
            <a:xfrm>
              <a:off x="4572000" y="2971800"/>
              <a:ext cx="3048000" cy="9525"/>
            </a:xfrm>
            <a:custGeom>
              <a:rect b="b" l="l" r="r" t="t"/>
              <a:pathLst>
                <a:path extrusionOk="0" h="9525" w="3048000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cap="flat" cmpd="sng" w="9525">
              <a:solidFill>
                <a:srgbClr val="FFE0E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23" name="Google Shape;1723;p48"/>
            <p:cNvSpPr/>
            <p:nvPr/>
          </p:nvSpPr>
          <p:spPr>
            <a:xfrm>
              <a:off x="4572000" y="3048000"/>
              <a:ext cx="3048000" cy="266700"/>
            </a:xfrm>
            <a:prstGeom prst="roundRect">
              <a:avLst>
                <a:gd fmla="val 25000" name="adj"/>
              </a:avLst>
            </a:prstGeom>
            <a:solidFill>
              <a:srgbClr val="FFF0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48"/>
            <p:cNvSpPr txBox="1"/>
            <p:nvPr/>
          </p:nvSpPr>
          <p:spPr>
            <a:xfrm>
              <a:off x="5250051" y="3114199"/>
              <a:ext cx="16918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youtu.be/5jXwHYfccvw</a:t>
              </a:r>
              <a:endParaRPr sz="1100"/>
            </a:p>
          </p:txBody>
        </p:sp>
        <p:sp>
          <p:nvSpPr>
            <p:cNvPr id="1725" name="Google Shape;1725;p48"/>
            <p:cNvSpPr txBox="1"/>
            <p:nvPr/>
          </p:nvSpPr>
          <p:spPr>
            <a:xfrm>
              <a:off x="4560570" y="3465195"/>
              <a:ext cx="23362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youtube.com/watch?v=5jXwHYfccvw</a:t>
              </a:r>
              <a:endParaRPr sz="1100"/>
            </a:p>
          </p:txBody>
        </p:sp>
      </p:grpSp>
      <p:grpSp>
        <p:nvGrpSpPr>
          <p:cNvPr id="1726" name="Google Shape;1726;p48"/>
          <p:cNvGrpSpPr/>
          <p:nvPr/>
        </p:nvGrpSpPr>
        <p:grpSpPr>
          <a:xfrm>
            <a:off x="6000750" y="914400"/>
            <a:ext cx="2571750" cy="1857375"/>
            <a:chOff x="8001000" y="1219200"/>
            <a:chExt cx="3429000" cy="2476500"/>
          </a:xfrm>
        </p:grpSpPr>
        <p:sp>
          <p:nvSpPr>
            <p:cNvPr id="1727" name="Google Shape;1727;p48"/>
            <p:cNvSpPr/>
            <p:nvPr/>
          </p:nvSpPr>
          <p:spPr>
            <a:xfrm>
              <a:off x="8001000" y="1219200"/>
              <a:ext cx="3429000" cy="2476500"/>
            </a:xfrm>
            <a:prstGeom prst="roundRect">
              <a:avLst>
                <a:gd fmla="val 5385" name="adj"/>
              </a:avLst>
            </a:prstGeom>
            <a:solidFill>
              <a:srgbClr val="FFFFFF"/>
            </a:solidFill>
            <a:ln cap="flat" cmpd="sng" w="1427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48"/>
            <p:cNvSpPr/>
            <p:nvPr/>
          </p:nvSpPr>
          <p:spPr>
            <a:xfrm>
              <a:off x="8001000" y="1219200"/>
              <a:ext cx="3429000" cy="47625"/>
            </a:xfrm>
            <a:prstGeom prst="roundRect">
              <a:avLst>
                <a:gd fmla="val 40000" name="adj"/>
              </a:avLst>
            </a:pr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48"/>
            <p:cNvSpPr/>
            <p:nvPr/>
          </p:nvSpPr>
          <p:spPr>
            <a:xfrm>
              <a:off x="10287000" y="1371600"/>
              <a:ext cx="990600" cy="228600"/>
            </a:xfrm>
            <a:prstGeom prst="roundRect">
              <a:avLst>
                <a:gd fmla="val 50000" name="adj"/>
              </a:avLst>
            </a:prstGeom>
            <a:solidFill>
              <a:srgbClr val="E8F5E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48"/>
            <p:cNvSpPr txBox="1"/>
            <p:nvPr/>
          </p:nvSpPr>
          <p:spPr>
            <a:xfrm>
              <a:off x="10494836" y="142684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3A9E6A"/>
                  </a:solidFill>
                  <a:latin typeface="Arial"/>
                  <a:ea typeface="Arial"/>
                  <a:cs typeface="Arial"/>
                  <a:sym typeface="Arial"/>
                </a:rPr>
                <a:t>部署平台</a:t>
              </a:r>
              <a:endParaRPr sz="1100"/>
            </a:p>
          </p:txBody>
        </p:sp>
        <p:sp>
          <p:nvSpPr>
            <p:cNvPr id="1731" name="Google Shape;1731;p48"/>
            <p:cNvSpPr/>
            <p:nvPr/>
          </p:nvSpPr>
          <p:spPr>
            <a:xfrm>
              <a:off x="8267700" y="1466850"/>
              <a:ext cx="495300" cy="495300"/>
            </a:xfrm>
            <a:prstGeom prst="roundRect">
              <a:avLst>
                <a:gd fmla="val 23077" name="adj"/>
              </a:avLst>
            </a:prstGeom>
            <a:solidFill>
              <a:srgbClr val="3A9E6A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32" name="Google Shape;1732;p48"/>
            <p:cNvGrpSpPr/>
            <p:nvPr/>
          </p:nvGrpSpPr>
          <p:grpSpPr>
            <a:xfrm>
              <a:off x="8387477" y="1587830"/>
              <a:ext cx="255728" cy="253327"/>
              <a:chOff x="8387477" y="1587830"/>
              <a:chExt cx="255728" cy="253327"/>
            </a:xfrm>
          </p:grpSpPr>
          <p:sp>
            <p:nvSpPr>
              <p:cNvPr id="1733" name="Google Shape;1733;p48"/>
              <p:cNvSpPr/>
              <p:nvPr/>
            </p:nvSpPr>
            <p:spPr>
              <a:xfrm>
                <a:off x="8524634" y="1765300"/>
                <a:ext cx="107112" cy="75857"/>
              </a:xfrm>
              <a:custGeom>
                <a:rect b="b" l="l" r="r" t="t"/>
                <a:pathLst>
                  <a:path extrusionOk="0" h="75857" w="107112">
                    <a:moveTo>
                      <a:pt x="107112" y="0"/>
                    </a:moveTo>
                    <a:cubicBezTo>
                      <a:pt x="88254" y="43206"/>
                      <a:pt x="47016" y="72411"/>
                      <a:pt x="0" y="75857"/>
                    </a:cubicBezTo>
                    <a:cubicBezTo>
                      <a:pt x="3252" y="75082"/>
                      <a:pt x="6068" y="73056"/>
                      <a:pt x="7836" y="70218"/>
                    </a:cubicBezTo>
                    <a:cubicBezTo>
                      <a:pt x="21335" y="48595"/>
                      <a:pt x="31122" y="24865"/>
                      <a:pt x="36792" y="13"/>
                    </a:cubicBezTo>
                    <a:close/>
                  </a:path>
                </a:pathLst>
              </a:custGeom>
              <a:solidFill>
                <a:srgbClr val="3A9E6A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4" name="Google Shape;1734;p48"/>
              <p:cNvSpPr/>
              <p:nvPr/>
            </p:nvSpPr>
            <p:spPr>
              <a:xfrm>
                <a:off x="8398954" y="1765300"/>
                <a:ext cx="107099" cy="75857"/>
              </a:xfrm>
              <a:custGeom>
                <a:rect b="b" l="l" r="r" t="t"/>
                <a:pathLst>
                  <a:path extrusionOk="0" h="75857" w="107099">
                    <a:moveTo>
                      <a:pt x="70320" y="0"/>
                    </a:moveTo>
                    <a:cubicBezTo>
                      <a:pt x="75987" y="24861"/>
                      <a:pt x="85774" y="48599"/>
                      <a:pt x="99276" y="70231"/>
                    </a:cubicBezTo>
                    <a:cubicBezTo>
                      <a:pt x="101043" y="73061"/>
                      <a:pt x="103854" y="75082"/>
                      <a:pt x="107099" y="75857"/>
                    </a:cubicBezTo>
                    <a:cubicBezTo>
                      <a:pt x="60088" y="72406"/>
                      <a:pt x="18856" y="43202"/>
                      <a:pt x="0" y="0"/>
                    </a:cubicBezTo>
                    <a:close/>
                  </a:path>
                </a:pathLst>
              </a:custGeom>
              <a:solidFill>
                <a:srgbClr val="3A9E6A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5" name="Google Shape;1735;p48"/>
              <p:cNvSpPr/>
              <p:nvPr/>
            </p:nvSpPr>
            <p:spPr>
              <a:xfrm>
                <a:off x="8495411" y="1765300"/>
                <a:ext cx="39878" cy="49327"/>
              </a:xfrm>
              <a:custGeom>
                <a:rect b="b" l="l" r="r" t="t"/>
                <a:pathLst>
                  <a:path extrusionOk="0" h="49327" w="39878">
                    <a:moveTo>
                      <a:pt x="39878" y="0"/>
                    </a:moveTo>
                    <a:cubicBezTo>
                      <a:pt x="35422" y="17245"/>
                      <a:pt x="28718" y="33829"/>
                      <a:pt x="19939" y="49327"/>
                    </a:cubicBezTo>
                    <a:cubicBezTo>
                      <a:pt x="11160" y="33829"/>
                      <a:pt x="4456" y="17245"/>
                      <a:pt x="0" y="0"/>
                    </a:cubicBezTo>
                  </a:path>
                </a:pathLst>
              </a:custGeom>
              <a:solidFill>
                <a:srgbClr val="3A9E6A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6" name="Google Shape;1736;p48"/>
              <p:cNvSpPr/>
              <p:nvPr/>
            </p:nvSpPr>
            <p:spPr>
              <a:xfrm>
                <a:off x="8387477" y="1689100"/>
                <a:ext cx="77505" cy="50800"/>
              </a:xfrm>
              <a:custGeom>
                <a:rect b="b" l="l" r="r" t="t"/>
                <a:pathLst>
                  <a:path extrusionOk="0" h="50800" w="77505">
                    <a:moveTo>
                      <a:pt x="77505" y="0"/>
                    </a:moveTo>
                    <a:cubicBezTo>
                      <a:pt x="75617" y="16881"/>
                      <a:pt x="75617" y="33919"/>
                      <a:pt x="77505" y="50800"/>
                    </a:cubicBezTo>
                    <a:lnTo>
                      <a:pt x="3438" y="50800"/>
                    </a:lnTo>
                    <a:cubicBezTo>
                      <a:pt x="9" y="34041"/>
                      <a:pt x="0" y="16762"/>
                      <a:pt x="3413" y="0"/>
                    </a:cubicBezTo>
                    <a:close/>
                  </a:path>
                </a:pathLst>
              </a:custGeom>
              <a:solidFill>
                <a:srgbClr val="3A9E6A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7" name="Google Shape;1737;p48"/>
              <p:cNvSpPr/>
              <p:nvPr/>
            </p:nvSpPr>
            <p:spPr>
              <a:xfrm>
                <a:off x="8488435" y="1689100"/>
                <a:ext cx="53831" cy="50800"/>
              </a:xfrm>
              <a:custGeom>
                <a:rect b="b" l="l" r="r" t="t"/>
                <a:pathLst>
                  <a:path extrusionOk="0" h="50800" w="53831">
                    <a:moveTo>
                      <a:pt x="51706" y="0"/>
                    </a:moveTo>
                    <a:cubicBezTo>
                      <a:pt x="53831" y="16867"/>
                      <a:pt x="53831" y="33933"/>
                      <a:pt x="51706" y="50800"/>
                    </a:cubicBezTo>
                    <a:lnTo>
                      <a:pt x="2125" y="50800"/>
                    </a:lnTo>
                    <a:cubicBezTo>
                      <a:pt x="0" y="33933"/>
                      <a:pt x="0" y="16867"/>
                      <a:pt x="2125" y="0"/>
                    </a:cubicBezTo>
                    <a:close/>
                  </a:path>
                </a:pathLst>
              </a:custGeom>
              <a:solidFill>
                <a:srgbClr val="3A9E6A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8" name="Google Shape;1738;p48"/>
              <p:cNvSpPr/>
              <p:nvPr/>
            </p:nvSpPr>
            <p:spPr>
              <a:xfrm>
                <a:off x="8565718" y="1689100"/>
                <a:ext cx="77487" cy="50800"/>
              </a:xfrm>
              <a:custGeom>
                <a:rect b="b" l="l" r="r" t="t"/>
                <a:pathLst>
                  <a:path extrusionOk="0" h="50800" w="77487">
                    <a:moveTo>
                      <a:pt x="74092" y="0"/>
                    </a:moveTo>
                    <a:cubicBezTo>
                      <a:pt x="77487" y="16764"/>
                      <a:pt x="77479" y="34039"/>
                      <a:pt x="74066" y="50800"/>
                    </a:cubicBezTo>
                    <a:lnTo>
                      <a:pt x="0" y="50800"/>
                    </a:lnTo>
                    <a:cubicBezTo>
                      <a:pt x="1892" y="33922"/>
                      <a:pt x="1892" y="16891"/>
                      <a:pt x="0" y="0"/>
                    </a:cubicBezTo>
                    <a:close/>
                  </a:path>
                </a:pathLst>
              </a:custGeom>
              <a:solidFill>
                <a:srgbClr val="3A9E6A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9" name="Google Shape;1739;p48"/>
              <p:cNvSpPr/>
              <p:nvPr/>
            </p:nvSpPr>
            <p:spPr>
              <a:xfrm>
                <a:off x="8398916" y="1587843"/>
                <a:ext cx="107125" cy="75857"/>
              </a:xfrm>
              <a:custGeom>
                <a:rect b="b" l="l" r="r" t="t"/>
                <a:pathLst>
                  <a:path extrusionOk="0" h="75857" w="107125">
                    <a:moveTo>
                      <a:pt x="107125" y="0"/>
                    </a:moveTo>
                    <a:cubicBezTo>
                      <a:pt x="103882" y="781"/>
                      <a:pt x="101076" y="2806"/>
                      <a:pt x="99314" y="5639"/>
                    </a:cubicBezTo>
                    <a:cubicBezTo>
                      <a:pt x="85814" y="27266"/>
                      <a:pt x="76027" y="51000"/>
                      <a:pt x="70358" y="75857"/>
                    </a:cubicBezTo>
                    <a:lnTo>
                      <a:pt x="0" y="75857"/>
                    </a:lnTo>
                    <a:cubicBezTo>
                      <a:pt x="18691" y="33080"/>
                      <a:pt x="59323" y="3987"/>
                      <a:pt x="105842" y="76"/>
                    </a:cubicBezTo>
                    <a:close/>
                  </a:path>
                </a:pathLst>
              </a:custGeom>
              <a:solidFill>
                <a:srgbClr val="3A9E6A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0" name="Google Shape;1740;p48"/>
              <p:cNvSpPr/>
              <p:nvPr/>
            </p:nvSpPr>
            <p:spPr>
              <a:xfrm>
                <a:off x="8495411" y="1614373"/>
                <a:ext cx="39878" cy="49340"/>
              </a:xfrm>
              <a:custGeom>
                <a:rect b="b" l="l" r="r" t="t"/>
                <a:pathLst>
                  <a:path extrusionOk="0" h="49340" w="39878">
                    <a:moveTo>
                      <a:pt x="19939" y="0"/>
                    </a:moveTo>
                    <a:cubicBezTo>
                      <a:pt x="28719" y="15501"/>
                      <a:pt x="35423" y="32090"/>
                      <a:pt x="39878" y="49340"/>
                    </a:cubicBezTo>
                    <a:lnTo>
                      <a:pt x="0" y="49340"/>
                    </a:lnTo>
                    <a:cubicBezTo>
                      <a:pt x="4318" y="32614"/>
                      <a:pt x="10795" y="16320"/>
                      <a:pt x="19431" y="864"/>
                    </a:cubicBezTo>
                    <a:close/>
                  </a:path>
                </a:pathLst>
              </a:custGeom>
              <a:solidFill>
                <a:srgbClr val="3A9E6A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1" name="Google Shape;1741;p48"/>
              <p:cNvSpPr/>
              <p:nvPr/>
            </p:nvSpPr>
            <p:spPr>
              <a:xfrm>
                <a:off x="8524659" y="1587830"/>
                <a:ext cx="107125" cy="75870"/>
              </a:xfrm>
              <a:custGeom>
                <a:rect b="b" l="l" r="r" t="t"/>
                <a:pathLst>
                  <a:path extrusionOk="0" h="75870" w="107125">
                    <a:moveTo>
                      <a:pt x="0" y="0"/>
                    </a:moveTo>
                    <a:cubicBezTo>
                      <a:pt x="47013" y="3472"/>
                      <a:pt x="88245" y="32674"/>
                      <a:pt x="107125" y="75870"/>
                    </a:cubicBezTo>
                    <a:lnTo>
                      <a:pt x="36767" y="75870"/>
                    </a:lnTo>
                    <a:cubicBezTo>
                      <a:pt x="31099" y="51008"/>
                      <a:pt x="21312" y="27270"/>
                      <a:pt x="7810" y="5639"/>
                    </a:cubicBezTo>
                    <a:cubicBezTo>
                      <a:pt x="6283" y="3191"/>
                      <a:pt x="3967" y="1337"/>
                      <a:pt x="1245" y="381"/>
                    </a:cubicBezTo>
                    <a:close/>
                  </a:path>
                </a:pathLst>
              </a:custGeom>
              <a:solidFill>
                <a:srgbClr val="3A9E6A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42" name="Google Shape;1742;p48"/>
            <p:cNvSpPr txBox="1"/>
            <p:nvPr/>
          </p:nvSpPr>
          <p:spPr>
            <a:xfrm>
              <a:off x="8877300" y="1504950"/>
              <a:ext cx="7396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Vercel</a:t>
              </a:r>
              <a:endParaRPr sz="1100"/>
            </a:p>
          </p:txBody>
        </p:sp>
        <p:sp>
          <p:nvSpPr>
            <p:cNvPr id="1743" name="Google Shape;1743;p48"/>
            <p:cNvSpPr txBox="1"/>
            <p:nvPr/>
          </p:nvSpPr>
          <p:spPr>
            <a:xfrm>
              <a:off x="8883968" y="177117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免费静态网站托管</a:t>
              </a:r>
              <a:endParaRPr sz="1100"/>
            </a:p>
          </p:txBody>
        </p:sp>
        <p:sp>
          <p:nvSpPr>
            <p:cNvPr id="1744" name="Google Shape;1744;p48"/>
            <p:cNvSpPr/>
            <p:nvPr/>
          </p:nvSpPr>
          <p:spPr>
            <a:xfrm>
              <a:off x="8191500" y="2114550"/>
              <a:ext cx="3086100" cy="9525"/>
            </a:xfrm>
            <a:custGeom>
              <a:rect b="b" l="l" r="r" t="t"/>
              <a:pathLst>
                <a:path extrusionOk="0" h="9525" w="3086100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cap="flat" cmpd="sng" w="9525">
              <a:solidFill>
                <a:srgbClr val="E8F5EE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45" name="Google Shape;1745;p48"/>
            <p:cNvSpPr/>
            <p:nvPr/>
          </p:nvSpPr>
          <p:spPr>
            <a:xfrm>
              <a:off x="8191500" y="2228850"/>
              <a:ext cx="3048000" cy="304800"/>
            </a:xfrm>
            <a:prstGeom prst="roundRect">
              <a:avLst>
                <a:gd fmla="val 25000" name="adj"/>
              </a:avLst>
            </a:prstGeom>
            <a:solidFill>
              <a:srgbClr val="E8F5E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48"/>
            <p:cNvSpPr txBox="1"/>
            <p:nvPr/>
          </p:nvSpPr>
          <p:spPr>
            <a:xfrm>
              <a:off x="9231091" y="2307431"/>
              <a:ext cx="9688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3A9E6A"/>
                  </a:solidFill>
                  <a:latin typeface="Consolas"/>
                  <a:ea typeface="Consolas"/>
                  <a:cs typeface="Consolas"/>
                  <a:sym typeface="Consolas"/>
                </a:rPr>
                <a:t>vercel.com</a:t>
              </a:r>
              <a:endParaRPr sz="1100"/>
            </a:p>
          </p:txBody>
        </p:sp>
        <p:sp>
          <p:nvSpPr>
            <p:cNvPr id="1747" name="Google Shape;1747;p48"/>
            <p:cNvSpPr/>
            <p:nvPr/>
          </p:nvSpPr>
          <p:spPr>
            <a:xfrm>
              <a:off x="8258175" y="2714625"/>
              <a:ext cx="57150" cy="57150"/>
            </a:xfrm>
            <a:prstGeom prst="ellipse">
              <a:avLst/>
            </a:pr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48"/>
            <p:cNvSpPr txBox="1"/>
            <p:nvPr/>
          </p:nvSpPr>
          <p:spPr>
            <a:xfrm>
              <a:off x="8387715" y="2667952"/>
              <a:ext cx="15908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免费托管 · 自动 HTTPS</a:t>
              </a:r>
              <a:endParaRPr sz="1100"/>
            </a:p>
          </p:txBody>
        </p:sp>
        <p:sp>
          <p:nvSpPr>
            <p:cNvPr id="1749" name="Google Shape;1749;p48"/>
            <p:cNvSpPr/>
            <p:nvPr/>
          </p:nvSpPr>
          <p:spPr>
            <a:xfrm>
              <a:off x="8258175" y="2981325"/>
              <a:ext cx="57150" cy="57150"/>
            </a:xfrm>
            <a:prstGeom prst="ellipse">
              <a:avLst/>
            </a:pr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48"/>
            <p:cNvSpPr txBox="1"/>
            <p:nvPr/>
          </p:nvSpPr>
          <p:spPr>
            <a:xfrm>
              <a:off x="8387715" y="2934652"/>
              <a:ext cx="20202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GitHub 集成 · push 自动部署</a:t>
              </a:r>
              <a:endParaRPr sz="1100"/>
            </a:p>
          </p:txBody>
        </p:sp>
        <p:sp>
          <p:nvSpPr>
            <p:cNvPr id="1751" name="Google Shape;1751;p48"/>
            <p:cNvSpPr/>
            <p:nvPr/>
          </p:nvSpPr>
          <p:spPr>
            <a:xfrm>
              <a:off x="8258175" y="3248025"/>
              <a:ext cx="57150" cy="57150"/>
            </a:xfrm>
            <a:prstGeom prst="ellipse">
              <a:avLst/>
            </a:pr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48"/>
            <p:cNvSpPr txBox="1"/>
            <p:nvPr/>
          </p:nvSpPr>
          <p:spPr>
            <a:xfrm>
              <a:off x="8387715" y="3201352"/>
              <a:ext cx="19282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自定义域名 · 全球 CDN 加速</a:t>
              </a:r>
              <a:endParaRPr sz="1100"/>
            </a:p>
          </p:txBody>
        </p:sp>
      </p:grpSp>
      <p:grpSp>
        <p:nvGrpSpPr>
          <p:cNvPr id="1753" name="Google Shape;1753;p48"/>
          <p:cNvGrpSpPr/>
          <p:nvPr/>
        </p:nvGrpSpPr>
        <p:grpSpPr>
          <a:xfrm>
            <a:off x="571500" y="2914650"/>
            <a:ext cx="2571750" cy="1800225"/>
            <a:chOff x="762000" y="3886200"/>
            <a:chExt cx="3429000" cy="2400300"/>
          </a:xfrm>
        </p:grpSpPr>
        <p:sp>
          <p:nvSpPr>
            <p:cNvPr id="1754" name="Google Shape;1754;p48"/>
            <p:cNvSpPr/>
            <p:nvPr/>
          </p:nvSpPr>
          <p:spPr>
            <a:xfrm>
              <a:off x="762000" y="3886200"/>
              <a:ext cx="3429000" cy="2400300"/>
            </a:xfrm>
            <a:prstGeom prst="roundRect">
              <a:avLst>
                <a:gd fmla="val 5556" name="adj"/>
              </a:avLst>
            </a:prstGeom>
            <a:solidFill>
              <a:srgbClr val="FFFFFF"/>
            </a:solidFill>
            <a:ln cap="flat" cmpd="sng" w="1427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48"/>
            <p:cNvSpPr/>
            <p:nvPr/>
          </p:nvSpPr>
          <p:spPr>
            <a:xfrm>
              <a:off x="762000" y="3886200"/>
              <a:ext cx="3429000" cy="47625"/>
            </a:xfrm>
            <a:prstGeom prst="roundRect">
              <a:avLst>
                <a:gd fmla="val 40000" name="adj"/>
              </a:avLst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48"/>
            <p:cNvSpPr/>
            <p:nvPr/>
          </p:nvSpPr>
          <p:spPr>
            <a:xfrm>
              <a:off x="2857500" y="4038600"/>
              <a:ext cx="1181100" cy="228600"/>
            </a:xfrm>
            <a:prstGeom prst="roundRect">
              <a:avLst>
                <a:gd fmla="val 50000" name="adj"/>
              </a:avLst>
            </a:prstGeom>
            <a:solidFill>
              <a:srgbClr val="F0EDE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48"/>
            <p:cNvSpPr txBox="1"/>
            <p:nvPr/>
          </p:nvSpPr>
          <p:spPr>
            <a:xfrm>
              <a:off x="3160586" y="409384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C96133"/>
                  </a:solidFill>
                  <a:latin typeface="Arial"/>
                  <a:ea typeface="Arial"/>
                  <a:cs typeface="Arial"/>
                  <a:sym typeface="Arial"/>
                </a:rPr>
                <a:t>官方文档</a:t>
              </a:r>
              <a:endParaRPr sz="1100"/>
            </a:p>
          </p:txBody>
        </p:sp>
        <p:sp>
          <p:nvSpPr>
            <p:cNvPr id="1758" name="Google Shape;1758;p48"/>
            <p:cNvSpPr/>
            <p:nvPr/>
          </p:nvSpPr>
          <p:spPr>
            <a:xfrm>
              <a:off x="1028700" y="4133850"/>
              <a:ext cx="495300" cy="495300"/>
            </a:xfrm>
            <a:prstGeom prst="roundRect">
              <a:avLst>
                <a:gd fmla="val 23077" name="adj"/>
              </a:avLst>
            </a:prstGeom>
            <a:solidFill>
              <a:srgbClr val="C96133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48"/>
            <p:cNvSpPr/>
            <p:nvPr/>
          </p:nvSpPr>
          <p:spPr>
            <a:xfrm>
              <a:off x="1149350" y="4272042"/>
              <a:ext cx="254000" cy="211625"/>
            </a:xfrm>
            <a:custGeom>
              <a:rect b="b" l="l" r="r" t="t"/>
              <a:pathLst>
                <a:path extrusionOk="0" h="211625" w="254000">
                  <a:moveTo>
                    <a:pt x="247650" y="22260"/>
                  </a:moveTo>
                  <a:cubicBezTo>
                    <a:pt x="251118" y="24262"/>
                    <a:pt x="253438" y="27783"/>
                    <a:pt x="253911" y="31760"/>
                  </a:cubicBezTo>
                  <a:lnTo>
                    <a:pt x="254000" y="33258"/>
                  </a:lnTo>
                  <a:lnTo>
                    <a:pt x="254000" y="198358"/>
                  </a:lnTo>
                  <a:cubicBezTo>
                    <a:pt x="254000" y="202895"/>
                    <a:pt x="251579" y="207088"/>
                    <a:pt x="247650" y="209357"/>
                  </a:cubicBezTo>
                  <a:cubicBezTo>
                    <a:pt x="243720" y="211625"/>
                    <a:pt x="238879" y="211625"/>
                    <a:pt x="234950" y="209356"/>
                  </a:cubicBezTo>
                  <a:cubicBezTo>
                    <a:pt x="205731" y="192484"/>
                    <a:pt x="170041" y="191218"/>
                    <a:pt x="139700" y="205978"/>
                  </a:cubicBezTo>
                  <a:lnTo>
                    <a:pt x="139700" y="13268"/>
                  </a:lnTo>
                  <a:cubicBezTo>
                    <a:pt x="175221" y="0"/>
                    <a:pt x="214813" y="3298"/>
                    <a:pt x="247650" y="22260"/>
                  </a:cubicBezTo>
                  <a:moveTo>
                    <a:pt x="114300" y="13281"/>
                  </a:moveTo>
                  <a:lnTo>
                    <a:pt x="114313" y="205991"/>
                  </a:lnTo>
                  <a:cubicBezTo>
                    <a:pt x="85201" y="191819"/>
                    <a:pt x="51079" y="192371"/>
                    <a:pt x="22441" y="207477"/>
                  </a:cubicBezTo>
                  <a:lnTo>
                    <a:pt x="18288" y="209763"/>
                  </a:lnTo>
                  <a:lnTo>
                    <a:pt x="16980" y="210322"/>
                  </a:lnTo>
                  <a:lnTo>
                    <a:pt x="16358" y="210525"/>
                  </a:lnTo>
                  <a:lnTo>
                    <a:pt x="14961" y="210855"/>
                  </a:lnTo>
                  <a:lnTo>
                    <a:pt x="14186" y="210982"/>
                  </a:lnTo>
                  <a:lnTo>
                    <a:pt x="12700" y="211058"/>
                  </a:lnTo>
                  <a:lnTo>
                    <a:pt x="12167" y="211058"/>
                  </a:lnTo>
                  <a:lnTo>
                    <a:pt x="10770" y="210906"/>
                  </a:lnTo>
                  <a:lnTo>
                    <a:pt x="9792" y="210728"/>
                  </a:lnTo>
                  <a:lnTo>
                    <a:pt x="8420" y="210322"/>
                  </a:lnTo>
                  <a:lnTo>
                    <a:pt x="6820" y="209610"/>
                  </a:lnTo>
                  <a:lnTo>
                    <a:pt x="5613" y="208899"/>
                  </a:lnTo>
                  <a:lnTo>
                    <a:pt x="4483" y="208048"/>
                  </a:lnTo>
                  <a:lnTo>
                    <a:pt x="3721" y="207337"/>
                  </a:lnTo>
                  <a:lnTo>
                    <a:pt x="2794" y="206296"/>
                  </a:lnTo>
                  <a:lnTo>
                    <a:pt x="1981" y="205165"/>
                  </a:lnTo>
                  <a:lnTo>
                    <a:pt x="1702" y="204708"/>
                  </a:lnTo>
                  <a:lnTo>
                    <a:pt x="1295" y="203946"/>
                  </a:lnTo>
                  <a:lnTo>
                    <a:pt x="737" y="202638"/>
                  </a:lnTo>
                  <a:lnTo>
                    <a:pt x="533" y="202016"/>
                  </a:lnTo>
                  <a:lnTo>
                    <a:pt x="203" y="200619"/>
                  </a:lnTo>
                  <a:lnTo>
                    <a:pt x="76" y="199844"/>
                  </a:lnTo>
                  <a:lnTo>
                    <a:pt x="25" y="199222"/>
                  </a:lnTo>
                  <a:lnTo>
                    <a:pt x="0" y="33258"/>
                  </a:lnTo>
                  <a:cubicBezTo>
                    <a:pt x="0" y="28721"/>
                    <a:pt x="2421" y="24529"/>
                    <a:pt x="6350" y="22260"/>
                  </a:cubicBezTo>
                  <a:cubicBezTo>
                    <a:pt x="39189" y="3302"/>
                    <a:pt x="78781" y="9"/>
                    <a:pt x="114300" y="13281"/>
                  </a:cubicBezTo>
                </a:path>
              </a:pathLst>
            </a:cu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48"/>
            <p:cNvSpPr txBox="1"/>
            <p:nvPr/>
          </p:nvSpPr>
          <p:spPr>
            <a:xfrm>
              <a:off x="1640205" y="4188142"/>
              <a:ext cx="21045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Anthropic 开发者文档</a:t>
              </a:r>
              <a:endParaRPr sz="1100"/>
            </a:p>
          </p:txBody>
        </p:sp>
        <p:sp>
          <p:nvSpPr>
            <p:cNvPr id="1761" name="Google Shape;1761;p48"/>
            <p:cNvSpPr txBox="1"/>
            <p:nvPr/>
          </p:nvSpPr>
          <p:spPr>
            <a:xfrm>
              <a:off x="1644968" y="4438174"/>
              <a:ext cx="20753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Claude Code · API · CLAUDE.md</a:t>
              </a:r>
              <a:endParaRPr sz="1100"/>
            </a:p>
          </p:txBody>
        </p:sp>
        <p:sp>
          <p:nvSpPr>
            <p:cNvPr id="1762" name="Google Shape;1762;p48"/>
            <p:cNvSpPr/>
            <p:nvPr/>
          </p:nvSpPr>
          <p:spPr>
            <a:xfrm>
              <a:off x="952500" y="4762500"/>
              <a:ext cx="3086100" cy="9525"/>
            </a:xfrm>
            <a:custGeom>
              <a:rect b="b" l="l" r="r" t="t"/>
              <a:pathLst>
                <a:path extrusionOk="0" h="9525" w="3086100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cap="flat" cmpd="sng" w="9525">
              <a:solidFill>
                <a:srgbClr val="F0EDE8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63" name="Google Shape;1763;p48"/>
            <p:cNvSpPr/>
            <p:nvPr/>
          </p:nvSpPr>
          <p:spPr>
            <a:xfrm>
              <a:off x="952500" y="4876800"/>
              <a:ext cx="3048000" cy="304800"/>
            </a:xfrm>
            <a:prstGeom prst="roundRect">
              <a:avLst>
                <a:gd fmla="val 25000" name="adj"/>
              </a:avLst>
            </a:prstGeom>
            <a:solidFill>
              <a:srgbClr val="F0EDE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48"/>
            <p:cNvSpPr txBox="1"/>
            <p:nvPr/>
          </p:nvSpPr>
          <p:spPr>
            <a:xfrm>
              <a:off x="1727738" y="4971574"/>
              <a:ext cx="14975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C96133"/>
                  </a:solidFill>
                  <a:latin typeface="Consolas"/>
                  <a:ea typeface="Consolas"/>
                  <a:cs typeface="Consolas"/>
                  <a:sym typeface="Consolas"/>
                </a:rPr>
                <a:t>docs.anthropic.com</a:t>
              </a:r>
              <a:endParaRPr sz="1100"/>
            </a:p>
          </p:txBody>
        </p:sp>
        <p:sp>
          <p:nvSpPr>
            <p:cNvPr id="1765" name="Google Shape;1765;p48"/>
            <p:cNvSpPr/>
            <p:nvPr/>
          </p:nvSpPr>
          <p:spPr>
            <a:xfrm>
              <a:off x="1019175" y="5362575"/>
              <a:ext cx="57150" cy="57150"/>
            </a:xfrm>
            <a:prstGeom prst="ellipse">
              <a:avLst/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48"/>
            <p:cNvSpPr txBox="1"/>
            <p:nvPr/>
          </p:nvSpPr>
          <p:spPr>
            <a:xfrm>
              <a:off x="1148715" y="5315902"/>
              <a:ext cx="1843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Claude Code 完整参数手册</a:t>
              </a:r>
              <a:endParaRPr sz="1100"/>
            </a:p>
          </p:txBody>
        </p:sp>
        <p:sp>
          <p:nvSpPr>
            <p:cNvPr id="1767" name="Google Shape;1767;p48"/>
            <p:cNvSpPr/>
            <p:nvPr/>
          </p:nvSpPr>
          <p:spPr>
            <a:xfrm>
              <a:off x="1019175" y="5629275"/>
              <a:ext cx="57150" cy="57150"/>
            </a:xfrm>
            <a:prstGeom prst="ellipse">
              <a:avLst/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48"/>
            <p:cNvSpPr txBox="1"/>
            <p:nvPr/>
          </p:nvSpPr>
          <p:spPr>
            <a:xfrm>
              <a:off x="1148715" y="5582602"/>
              <a:ext cx="17825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CLAUDE.md 官方格式说明</a:t>
              </a:r>
              <a:endParaRPr sz="1100"/>
            </a:p>
          </p:txBody>
        </p:sp>
        <p:sp>
          <p:nvSpPr>
            <p:cNvPr id="1769" name="Google Shape;1769;p48"/>
            <p:cNvSpPr/>
            <p:nvPr/>
          </p:nvSpPr>
          <p:spPr>
            <a:xfrm>
              <a:off x="1019175" y="5895975"/>
              <a:ext cx="57150" cy="57150"/>
            </a:xfrm>
            <a:prstGeom prst="ellipse">
              <a:avLst/>
            </a:prstGeom>
            <a:solidFill>
              <a:srgbClr val="C961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48"/>
            <p:cNvSpPr txBox="1"/>
            <p:nvPr/>
          </p:nvSpPr>
          <p:spPr>
            <a:xfrm>
              <a:off x="1148715" y="5849302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API 密钥申请 · 模型文档</a:t>
              </a:r>
              <a:endParaRPr sz="1100"/>
            </a:p>
          </p:txBody>
        </p:sp>
      </p:grpSp>
      <p:grpSp>
        <p:nvGrpSpPr>
          <p:cNvPr id="1771" name="Google Shape;1771;p48"/>
          <p:cNvGrpSpPr/>
          <p:nvPr/>
        </p:nvGrpSpPr>
        <p:grpSpPr>
          <a:xfrm>
            <a:off x="3286125" y="2914650"/>
            <a:ext cx="2571750" cy="1800225"/>
            <a:chOff x="4381500" y="3886200"/>
            <a:chExt cx="3429000" cy="2400300"/>
          </a:xfrm>
        </p:grpSpPr>
        <p:sp>
          <p:nvSpPr>
            <p:cNvPr id="1772" name="Google Shape;1772;p48"/>
            <p:cNvSpPr/>
            <p:nvPr/>
          </p:nvSpPr>
          <p:spPr>
            <a:xfrm>
              <a:off x="4381500" y="3886200"/>
              <a:ext cx="3429000" cy="2400300"/>
            </a:xfrm>
            <a:prstGeom prst="roundRect">
              <a:avLst>
                <a:gd fmla="val 5556" name="adj"/>
              </a:avLst>
            </a:prstGeom>
            <a:solidFill>
              <a:srgbClr val="FFFFFF"/>
            </a:solidFill>
            <a:ln cap="flat" cmpd="sng" w="1427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48"/>
            <p:cNvSpPr/>
            <p:nvPr/>
          </p:nvSpPr>
          <p:spPr>
            <a:xfrm>
              <a:off x="4381500" y="3886200"/>
              <a:ext cx="3429000" cy="47625"/>
            </a:xfrm>
            <a:prstGeom prst="roundRect">
              <a:avLst>
                <a:gd fmla="val 40000" name="adj"/>
              </a:avLst>
            </a:prstGeom>
            <a:solidFill>
              <a:srgbClr val="3D7D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48"/>
            <p:cNvSpPr/>
            <p:nvPr/>
          </p:nvSpPr>
          <p:spPr>
            <a:xfrm>
              <a:off x="6477000" y="4038600"/>
              <a:ext cx="1181100" cy="228600"/>
            </a:xfrm>
            <a:prstGeom prst="roundRect">
              <a:avLst>
                <a:gd fmla="val 50000" name="adj"/>
              </a:avLst>
            </a:prstGeom>
            <a:solidFill>
              <a:srgbClr val="EBF0F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48"/>
            <p:cNvSpPr txBox="1"/>
            <p:nvPr/>
          </p:nvSpPr>
          <p:spPr>
            <a:xfrm>
              <a:off x="6780085" y="409384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3D7DE4"/>
                  </a:solidFill>
                  <a:latin typeface="Arial"/>
                  <a:ea typeface="Arial"/>
                  <a:cs typeface="Arial"/>
                  <a:sym typeface="Arial"/>
                </a:rPr>
                <a:t>课程资源</a:t>
              </a:r>
              <a:endParaRPr sz="1100"/>
            </a:p>
          </p:txBody>
        </p:sp>
        <p:sp>
          <p:nvSpPr>
            <p:cNvPr id="1776" name="Google Shape;1776;p48"/>
            <p:cNvSpPr/>
            <p:nvPr/>
          </p:nvSpPr>
          <p:spPr>
            <a:xfrm>
              <a:off x="4648200" y="4133850"/>
              <a:ext cx="495300" cy="495300"/>
            </a:xfrm>
            <a:prstGeom prst="roundRect">
              <a:avLst>
                <a:gd fmla="val 23077" name="adj"/>
              </a:avLst>
            </a:prstGeom>
            <a:solidFill>
              <a:srgbClr val="3D7DE4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48"/>
            <p:cNvSpPr/>
            <p:nvPr/>
          </p:nvSpPr>
          <p:spPr>
            <a:xfrm>
              <a:off x="4753483" y="4279900"/>
              <a:ext cx="282067" cy="203200"/>
            </a:xfrm>
            <a:custGeom>
              <a:rect b="b" l="l" r="r" t="t"/>
              <a:pathLst>
                <a:path extrusionOk="0" h="203200" w="282067">
                  <a:moveTo>
                    <a:pt x="231267" y="119774"/>
                  </a:moveTo>
                  <a:lnTo>
                    <a:pt x="231267" y="152400"/>
                  </a:lnTo>
                  <a:cubicBezTo>
                    <a:pt x="231267" y="182855"/>
                    <a:pt x="190563" y="203200"/>
                    <a:pt x="142367" y="203200"/>
                  </a:cubicBezTo>
                  <a:cubicBezTo>
                    <a:pt x="94170" y="203200"/>
                    <a:pt x="53467" y="182855"/>
                    <a:pt x="53467" y="152400"/>
                  </a:cubicBezTo>
                  <a:lnTo>
                    <a:pt x="53467" y="119774"/>
                  </a:lnTo>
                  <a:lnTo>
                    <a:pt x="128219" y="149670"/>
                  </a:lnTo>
                  <a:cubicBezTo>
                    <a:pt x="136364" y="152931"/>
                    <a:pt x="145386" y="153280"/>
                    <a:pt x="153759" y="150660"/>
                  </a:cubicBezTo>
                  <a:lnTo>
                    <a:pt x="156515" y="149670"/>
                  </a:lnTo>
                  <a:close/>
                  <a:moveTo>
                    <a:pt x="256667" y="82245"/>
                  </a:moveTo>
                  <a:lnTo>
                    <a:pt x="147079" y="126086"/>
                  </a:lnTo>
                  <a:cubicBezTo>
                    <a:pt x="144054" y="127294"/>
                    <a:pt x="140680" y="127294"/>
                    <a:pt x="137655" y="126086"/>
                  </a:cubicBezTo>
                  <a:lnTo>
                    <a:pt x="10655" y="75286"/>
                  </a:lnTo>
                  <a:cubicBezTo>
                    <a:pt x="0" y="71031"/>
                    <a:pt x="0" y="55969"/>
                    <a:pt x="10655" y="51714"/>
                  </a:cubicBezTo>
                  <a:lnTo>
                    <a:pt x="137655" y="914"/>
                  </a:lnTo>
                  <a:cubicBezTo>
                    <a:pt x="138654" y="513"/>
                    <a:pt x="139699" y="240"/>
                    <a:pt x="140767" y="102"/>
                  </a:cubicBezTo>
                  <a:lnTo>
                    <a:pt x="142367" y="0"/>
                  </a:lnTo>
                  <a:lnTo>
                    <a:pt x="143967" y="102"/>
                  </a:lnTo>
                  <a:cubicBezTo>
                    <a:pt x="145035" y="240"/>
                    <a:pt x="146080" y="513"/>
                    <a:pt x="147079" y="914"/>
                  </a:cubicBezTo>
                  <a:lnTo>
                    <a:pt x="274485" y="51879"/>
                  </a:lnTo>
                  <a:lnTo>
                    <a:pt x="275857" y="52578"/>
                  </a:lnTo>
                  <a:lnTo>
                    <a:pt x="277114" y="53442"/>
                  </a:lnTo>
                  <a:lnTo>
                    <a:pt x="278232" y="54407"/>
                  </a:lnTo>
                  <a:lnTo>
                    <a:pt x="279184" y="55448"/>
                  </a:lnTo>
                  <a:lnTo>
                    <a:pt x="279629" y="56007"/>
                  </a:lnTo>
                  <a:lnTo>
                    <a:pt x="280556" y="57468"/>
                  </a:lnTo>
                  <a:lnTo>
                    <a:pt x="281216" y="58928"/>
                  </a:lnTo>
                  <a:lnTo>
                    <a:pt x="281648" y="60223"/>
                  </a:lnTo>
                  <a:lnTo>
                    <a:pt x="281965" y="61938"/>
                  </a:lnTo>
                  <a:lnTo>
                    <a:pt x="282042" y="62675"/>
                  </a:lnTo>
                  <a:lnTo>
                    <a:pt x="282067" y="139700"/>
                  </a:lnTo>
                  <a:cubicBezTo>
                    <a:pt x="282067" y="146714"/>
                    <a:pt x="276381" y="152400"/>
                    <a:pt x="269367" y="152400"/>
                  </a:cubicBezTo>
                  <a:cubicBezTo>
                    <a:pt x="262353" y="152400"/>
                    <a:pt x="256667" y="146714"/>
                    <a:pt x="256667" y="139700"/>
                  </a:cubicBezTo>
                  <a:close/>
                </a:path>
              </a:pathLst>
            </a:custGeom>
            <a:solidFill>
              <a:srgbClr val="3D7D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48"/>
            <p:cNvSpPr txBox="1"/>
            <p:nvPr/>
          </p:nvSpPr>
          <p:spPr>
            <a:xfrm>
              <a:off x="5259705" y="4188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课程门户</a:t>
              </a:r>
              <a:endParaRPr sz="1100"/>
            </a:p>
          </p:txBody>
        </p:sp>
        <p:sp>
          <p:nvSpPr>
            <p:cNvPr id="1779" name="Google Shape;1779;p48"/>
            <p:cNvSpPr txBox="1"/>
            <p:nvPr/>
          </p:nvSpPr>
          <p:spPr>
            <a:xfrm>
              <a:off x="5264468" y="4438174"/>
              <a:ext cx="15128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课件 · 录播 · 学员 Q&amp;A</a:t>
              </a:r>
              <a:endParaRPr sz="1100"/>
            </a:p>
          </p:txBody>
        </p:sp>
        <p:sp>
          <p:nvSpPr>
            <p:cNvPr id="1780" name="Google Shape;1780;p48"/>
            <p:cNvSpPr/>
            <p:nvPr/>
          </p:nvSpPr>
          <p:spPr>
            <a:xfrm>
              <a:off x="4572000" y="4762500"/>
              <a:ext cx="3086100" cy="9525"/>
            </a:xfrm>
            <a:custGeom>
              <a:rect b="b" l="l" r="r" t="t"/>
              <a:pathLst>
                <a:path extrusionOk="0" h="9525" w="3086100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cap="flat" cmpd="sng" w="9525">
              <a:solidFill>
                <a:srgbClr val="EBF0FA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81" name="Google Shape;1781;p48"/>
            <p:cNvSpPr/>
            <p:nvPr/>
          </p:nvSpPr>
          <p:spPr>
            <a:xfrm>
              <a:off x="4572000" y="4876800"/>
              <a:ext cx="3048000" cy="304800"/>
            </a:xfrm>
            <a:prstGeom prst="roundRect">
              <a:avLst>
                <a:gd fmla="val 25000" name="adj"/>
              </a:avLst>
            </a:prstGeom>
            <a:solidFill>
              <a:srgbClr val="EBF0F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48"/>
            <p:cNvSpPr txBox="1"/>
            <p:nvPr/>
          </p:nvSpPr>
          <p:spPr>
            <a:xfrm>
              <a:off x="4863117" y="4979670"/>
              <a:ext cx="24657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3D7DE4"/>
                  </a:solidFill>
                  <a:latin typeface="Consolas"/>
                  <a:ea typeface="Consolas"/>
                  <a:cs typeface="Consolas"/>
                  <a:sym typeface="Consolas"/>
                </a:rPr>
                <a:t>austinxyz.github.io/course-portal/</a:t>
              </a:r>
              <a:endParaRPr sz="1100"/>
            </a:p>
          </p:txBody>
        </p:sp>
        <p:sp>
          <p:nvSpPr>
            <p:cNvPr id="1783" name="Google Shape;1783;p48"/>
            <p:cNvSpPr/>
            <p:nvPr/>
          </p:nvSpPr>
          <p:spPr>
            <a:xfrm>
              <a:off x="4638675" y="5362575"/>
              <a:ext cx="57150" cy="57150"/>
            </a:xfrm>
            <a:prstGeom prst="ellipse">
              <a:avLst/>
            </a:prstGeom>
            <a:solidFill>
              <a:srgbClr val="3D7D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48"/>
            <p:cNvSpPr txBox="1"/>
            <p:nvPr/>
          </p:nvSpPr>
          <p:spPr>
            <a:xfrm>
              <a:off x="4768215" y="5315902"/>
              <a:ext cx="14221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PPT 下载 · 录播回看</a:t>
              </a:r>
              <a:endParaRPr sz="1100"/>
            </a:p>
          </p:txBody>
        </p:sp>
        <p:sp>
          <p:nvSpPr>
            <p:cNvPr id="1785" name="Google Shape;1785;p48"/>
            <p:cNvSpPr/>
            <p:nvPr/>
          </p:nvSpPr>
          <p:spPr>
            <a:xfrm>
              <a:off x="4638675" y="5629275"/>
              <a:ext cx="57150" cy="57150"/>
            </a:xfrm>
            <a:prstGeom prst="ellipse">
              <a:avLst/>
            </a:prstGeom>
            <a:solidFill>
              <a:srgbClr val="3D7D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48"/>
            <p:cNvSpPr txBox="1"/>
            <p:nvPr/>
          </p:nvSpPr>
          <p:spPr>
            <a:xfrm>
              <a:off x="4768215" y="558260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CLAUDE.md 模板下载</a:t>
              </a:r>
              <a:endParaRPr sz="1100"/>
            </a:p>
          </p:txBody>
        </p:sp>
        <p:sp>
          <p:nvSpPr>
            <p:cNvPr id="1787" name="Google Shape;1787;p48"/>
            <p:cNvSpPr/>
            <p:nvPr/>
          </p:nvSpPr>
          <p:spPr>
            <a:xfrm>
              <a:off x="4638675" y="5895975"/>
              <a:ext cx="57150" cy="57150"/>
            </a:xfrm>
            <a:prstGeom prst="ellipse">
              <a:avLst/>
            </a:prstGeom>
            <a:solidFill>
              <a:srgbClr val="3D7D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48"/>
            <p:cNvSpPr txBox="1"/>
            <p:nvPr/>
          </p:nvSpPr>
          <p:spPr>
            <a:xfrm>
              <a:off x="4768215" y="58493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历届学员作品 Demo 展示</a:t>
              </a:r>
              <a:endParaRPr sz="1100"/>
            </a:p>
          </p:txBody>
        </p:sp>
      </p:grpSp>
      <p:grpSp>
        <p:nvGrpSpPr>
          <p:cNvPr id="1789" name="Google Shape;1789;p48"/>
          <p:cNvGrpSpPr/>
          <p:nvPr/>
        </p:nvGrpSpPr>
        <p:grpSpPr>
          <a:xfrm>
            <a:off x="6000750" y="2914650"/>
            <a:ext cx="2571750" cy="1800225"/>
            <a:chOff x="8001000" y="3886200"/>
            <a:chExt cx="3429000" cy="2400300"/>
          </a:xfrm>
        </p:grpSpPr>
        <p:sp>
          <p:nvSpPr>
            <p:cNvPr id="1790" name="Google Shape;1790;p48"/>
            <p:cNvSpPr/>
            <p:nvPr/>
          </p:nvSpPr>
          <p:spPr>
            <a:xfrm>
              <a:off x="8001000" y="3886200"/>
              <a:ext cx="3429000" cy="2400300"/>
            </a:xfrm>
            <a:prstGeom prst="roundRect">
              <a:avLst>
                <a:gd fmla="val 5556" name="adj"/>
              </a:avLst>
            </a:prstGeom>
            <a:solidFill>
              <a:srgbClr val="FFFFFF"/>
            </a:solidFill>
            <a:ln cap="flat" cmpd="sng" w="14275">
              <a:solidFill>
                <a:srgbClr val="E0D8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48"/>
            <p:cNvSpPr/>
            <p:nvPr/>
          </p:nvSpPr>
          <p:spPr>
            <a:xfrm>
              <a:off x="8001000" y="3886200"/>
              <a:ext cx="3429000" cy="47625"/>
            </a:xfrm>
            <a:prstGeom prst="roundRect">
              <a:avLst>
                <a:gd fmla="val 40000" name="adj"/>
              </a:avLst>
            </a:pr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48"/>
            <p:cNvSpPr/>
            <p:nvPr/>
          </p:nvSpPr>
          <p:spPr>
            <a:xfrm>
              <a:off x="10096500" y="4038600"/>
              <a:ext cx="1181100" cy="228600"/>
            </a:xfrm>
            <a:prstGeom prst="roundRect">
              <a:avLst>
                <a:gd fmla="val 50000" name="adj"/>
              </a:avLst>
            </a:prstGeom>
            <a:solidFill>
              <a:srgbClr val="E8F5E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48"/>
            <p:cNvSpPr txBox="1"/>
            <p:nvPr/>
          </p:nvSpPr>
          <p:spPr>
            <a:xfrm>
              <a:off x="10320226" y="4093845"/>
              <a:ext cx="7336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3A9E6A"/>
                  </a:solidFill>
                  <a:latin typeface="Arial"/>
                  <a:ea typeface="Arial"/>
                  <a:cs typeface="Arial"/>
                  <a:sym typeface="Arial"/>
                </a:rPr>
                <a:t>报名 &amp; 社群</a:t>
              </a:r>
              <a:endParaRPr sz="1100"/>
            </a:p>
          </p:txBody>
        </p:sp>
        <p:sp>
          <p:nvSpPr>
            <p:cNvPr id="1794" name="Google Shape;1794;p48"/>
            <p:cNvSpPr/>
            <p:nvPr/>
          </p:nvSpPr>
          <p:spPr>
            <a:xfrm>
              <a:off x="8267700" y="4133850"/>
              <a:ext cx="495300" cy="495300"/>
            </a:xfrm>
            <a:prstGeom prst="roundRect">
              <a:avLst>
                <a:gd fmla="val 23077" name="adj"/>
              </a:avLst>
            </a:prstGeom>
            <a:solidFill>
              <a:srgbClr val="3A9E6A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95" name="Google Shape;1795;p48"/>
            <p:cNvGrpSpPr/>
            <p:nvPr/>
          </p:nvGrpSpPr>
          <p:grpSpPr>
            <a:xfrm>
              <a:off x="8426450" y="4254500"/>
              <a:ext cx="177800" cy="254000"/>
              <a:chOff x="8426450" y="4254500"/>
              <a:chExt cx="177800" cy="254000"/>
            </a:xfrm>
          </p:grpSpPr>
          <p:sp>
            <p:nvSpPr>
              <p:cNvPr id="1796" name="Google Shape;1796;p48"/>
              <p:cNvSpPr/>
              <p:nvPr/>
            </p:nvSpPr>
            <p:spPr>
              <a:xfrm>
                <a:off x="8451850" y="4254500"/>
                <a:ext cx="127000" cy="127000"/>
              </a:xfrm>
              <a:custGeom>
                <a:rect b="b" l="l" r="r" t="t"/>
                <a:pathLst>
                  <a:path extrusionOk="0" h="127000" w="127000">
                    <a:moveTo>
                      <a:pt x="63500" y="0"/>
                    </a:moveTo>
                    <a:cubicBezTo>
                      <a:pt x="98570" y="0"/>
                      <a:pt x="127000" y="28430"/>
                      <a:pt x="127000" y="63500"/>
                    </a:cubicBezTo>
                    <a:cubicBezTo>
                      <a:pt x="127000" y="98570"/>
                      <a:pt x="98570" y="127000"/>
                      <a:pt x="63500" y="127000"/>
                    </a:cubicBezTo>
                    <a:cubicBezTo>
                      <a:pt x="28430" y="127000"/>
                      <a:pt x="0" y="98570"/>
                      <a:pt x="0" y="63500"/>
                    </a:cubicBezTo>
                    <a:lnTo>
                      <a:pt x="63" y="60744"/>
                    </a:lnTo>
                    <a:cubicBezTo>
                      <a:pt x="1539" y="26779"/>
                      <a:pt x="29503" y="2"/>
                      <a:pt x="63500" y="0"/>
                    </a:cubicBezTo>
                    <a:close/>
                  </a:path>
                </a:pathLst>
              </a:custGeom>
              <a:solidFill>
                <a:srgbClr val="3A9E6A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7" name="Google Shape;1797;p48"/>
              <p:cNvSpPr/>
              <p:nvPr/>
            </p:nvSpPr>
            <p:spPr>
              <a:xfrm>
                <a:off x="8426450" y="4406900"/>
                <a:ext cx="177800" cy="101600"/>
              </a:xfrm>
              <a:custGeom>
                <a:rect b="b" l="l" r="r" t="t"/>
                <a:pathLst>
                  <a:path extrusionOk="0" h="101600" w="177800">
                    <a:moveTo>
                      <a:pt x="114300" y="0"/>
                    </a:moveTo>
                    <a:cubicBezTo>
                      <a:pt x="149370" y="0"/>
                      <a:pt x="177800" y="28430"/>
                      <a:pt x="177800" y="63500"/>
                    </a:cubicBezTo>
                    <a:lnTo>
                      <a:pt x="177800" y="76200"/>
                    </a:lnTo>
                    <a:cubicBezTo>
                      <a:pt x="177800" y="90228"/>
                      <a:pt x="166428" y="101600"/>
                      <a:pt x="1524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3A9E6A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98" name="Google Shape;1798;p48"/>
            <p:cNvSpPr txBox="1"/>
            <p:nvPr/>
          </p:nvSpPr>
          <p:spPr>
            <a:xfrm>
              <a:off x="8879205" y="4188142"/>
              <a:ext cx="13074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1E1E1E"/>
                  </a:solidFill>
                  <a:latin typeface="Arial"/>
                  <a:ea typeface="Arial"/>
                  <a:cs typeface="Arial"/>
                  <a:sym typeface="Arial"/>
                </a:rPr>
                <a:t>讲武堂 &amp; 社群</a:t>
              </a:r>
              <a:endParaRPr sz="1100"/>
            </a:p>
          </p:txBody>
        </p:sp>
        <p:sp>
          <p:nvSpPr>
            <p:cNvPr id="1799" name="Google Shape;1799;p48"/>
            <p:cNvSpPr txBox="1"/>
            <p:nvPr/>
          </p:nvSpPr>
          <p:spPr>
            <a:xfrm>
              <a:off x="8883968" y="4438174"/>
              <a:ext cx="13490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9E9E9E"/>
                  </a:solidFill>
                  <a:latin typeface="Arial"/>
                  <a:ea typeface="Arial"/>
                  <a:cs typeface="Arial"/>
                  <a:sym typeface="Arial"/>
                </a:rPr>
                <a:t>报名 · 微信群 · 讲师</a:t>
              </a:r>
              <a:endParaRPr sz="1100"/>
            </a:p>
          </p:txBody>
        </p:sp>
        <p:sp>
          <p:nvSpPr>
            <p:cNvPr id="1800" name="Google Shape;1800;p48"/>
            <p:cNvSpPr/>
            <p:nvPr/>
          </p:nvSpPr>
          <p:spPr>
            <a:xfrm>
              <a:off x="8191500" y="4762500"/>
              <a:ext cx="3086100" cy="9525"/>
            </a:xfrm>
            <a:custGeom>
              <a:rect b="b" l="l" r="r" t="t"/>
              <a:pathLst>
                <a:path extrusionOk="0" h="9525" w="3086100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cap="flat" cmpd="sng" w="9525">
              <a:solidFill>
                <a:srgbClr val="E8F5EE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801" name="Google Shape;1801;p48"/>
            <p:cNvSpPr/>
            <p:nvPr/>
          </p:nvSpPr>
          <p:spPr>
            <a:xfrm>
              <a:off x="8191500" y="4876800"/>
              <a:ext cx="3048000" cy="304800"/>
            </a:xfrm>
            <a:prstGeom prst="roundRect">
              <a:avLst>
                <a:gd fmla="val 25000" name="adj"/>
              </a:avLst>
            </a:prstGeom>
            <a:solidFill>
              <a:srgbClr val="E8F5E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48"/>
            <p:cNvSpPr txBox="1"/>
            <p:nvPr/>
          </p:nvSpPr>
          <p:spPr>
            <a:xfrm>
              <a:off x="9063925" y="4971574"/>
              <a:ext cx="13031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3A9E6A"/>
                  </a:solidFill>
                  <a:latin typeface="Consolas"/>
                  <a:ea typeface="Consolas"/>
                  <a:cs typeface="Consolas"/>
                  <a:sym typeface="Consolas"/>
                </a:rPr>
                <a:t>elitecoach101.com</a:t>
              </a:r>
              <a:endParaRPr sz="1100"/>
            </a:p>
          </p:txBody>
        </p:sp>
        <p:sp>
          <p:nvSpPr>
            <p:cNvPr id="1803" name="Google Shape;1803;p48"/>
            <p:cNvSpPr/>
            <p:nvPr/>
          </p:nvSpPr>
          <p:spPr>
            <a:xfrm>
              <a:off x="8258175" y="5362575"/>
              <a:ext cx="57150" cy="57150"/>
            </a:xfrm>
            <a:prstGeom prst="ellipse">
              <a:avLst/>
            </a:pr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48"/>
            <p:cNvSpPr txBox="1"/>
            <p:nvPr/>
          </p:nvSpPr>
          <p:spPr>
            <a:xfrm>
              <a:off x="8387715" y="5315902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课程报名 · 下期预告</a:t>
              </a:r>
              <a:endParaRPr sz="1100"/>
            </a:p>
          </p:txBody>
        </p:sp>
        <p:sp>
          <p:nvSpPr>
            <p:cNvPr id="1805" name="Google Shape;1805;p48"/>
            <p:cNvSpPr/>
            <p:nvPr/>
          </p:nvSpPr>
          <p:spPr>
            <a:xfrm>
              <a:off x="8258175" y="5629275"/>
              <a:ext cx="57150" cy="57150"/>
            </a:xfrm>
            <a:prstGeom prst="ellipse">
              <a:avLst/>
            </a:pr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48"/>
            <p:cNvSpPr txBox="1"/>
            <p:nvPr/>
          </p:nvSpPr>
          <p:spPr>
            <a:xfrm>
              <a:off x="8387715" y="5582602"/>
              <a:ext cx="21122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微信 elitecoach101 · 作业提交</a:t>
              </a:r>
              <a:endParaRPr sz="1100"/>
            </a:p>
          </p:txBody>
        </p:sp>
        <p:sp>
          <p:nvSpPr>
            <p:cNvPr id="1807" name="Google Shape;1807;p48"/>
            <p:cNvSpPr/>
            <p:nvPr/>
          </p:nvSpPr>
          <p:spPr>
            <a:xfrm>
              <a:off x="8258175" y="5895975"/>
              <a:ext cx="57150" cy="57150"/>
            </a:xfrm>
            <a:prstGeom prst="ellipse">
              <a:avLst/>
            </a:prstGeom>
            <a:solidFill>
              <a:srgbClr val="3A9E6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48"/>
            <p:cNvSpPr txBox="1"/>
            <p:nvPr/>
          </p:nvSpPr>
          <p:spPr>
            <a:xfrm>
              <a:off x="8387715" y="5849302"/>
              <a:ext cx="23959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5A5A5A"/>
                  </a:solidFill>
                  <a:latin typeface="Arial"/>
                  <a:ea typeface="Arial"/>
                  <a:cs typeface="Arial"/>
                  <a:sym typeface="Arial"/>
                </a:rPr>
                <a:t>邮件 austin.aicourse@gmail.com</a:t>
              </a:r>
              <a:endParaRPr sz="1100"/>
            </a:p>
          </p:txBody>
        </p:sp>
      </p:grpSp>
      <p:sp>
        <p:nvSpPr>
          <p:cNvPr id="1809" name="Google Shape;1809;p48"/>
          <p:cNvSpPr txBox="1"/>
          <p:nvPr/>
        </p:nvSpPr>
        <p:spPr>
          <a:xfrm>
            <a:off x="8320076" y="4915614"/>
            <a:ext cx="40530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24 / 24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1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