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今天我们要做一件很酷的事——把炒股分析这件事，变成一套可以重复使用的 AI 工具。我叫 Austin，这是我们 AI 超能力课程的第三节。今天的主角是这四个 Skill：/chen-scan、/stock-analyze、/stock-entry、/stock-exit——从找股票到离场，全流程 AI 辅助。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先给大家看一下今天的时间安排。我们会用 10 分钟做一个热身演示，然后用大约 45 分钟讲理论，核心是三个框架。接下来最重头的是 30 分钟的 Skill 工程——我会当场把一个 Skill 从零写出来，让大家看清楚每一行 prompt 的用意。最后 10 分钟 Q&amp;A。总共 110 分钟，我们节奏会比较紧，但内容很实用。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炒股这件事，痛点其实很明显。你每天要看多少信息？财报、新闻、技术图形、行业报告——光是收集数据就要几个小时。更大的问题是，就算你有方法论，执行的时候情绪会干扰你。今天我们要解决的就是这个问题：让 AI 帮你做信息收集和初步筛选，你只需要做最后的决策。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这是今天整个系统的架构图，四个 Skill 串成一条流水线。/chen-scan 先扫描，找出候选股；/stock-analyze 做深度分析；/stock-entry 帮你算入场点；/stock-exit 告诉你什么时候该走。每个 Skill 都有明确的输入和输出，可以单独用，也可以串起来用。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陈云新是一位在国内有影响力的投资人，他有一套非常系统的选股框架。我们今天要做的，就是把他的方法论转化成 AI Skill。他的核心是三个东西：七大赛道、九大翻倍股特征、还有一套完整的进出场逻辑。大家可以先有个整体印象，后面我们会逐一拆解。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陈云新方法的第一步是选对赛道。他认为翻倍股不是随机出现的，它们集中在七个结构性机会赛道里。AI 和半导体、医疗创新、清洁能源、消费升级等等。选对赛道，就是把自己放在顺风位置上。我们的 /chen-scan 会扫描所有七大赛道，帮你找到处于上升期的候选股。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光选对赛道还不够，赛道里也有好股和坏股。陈云新总结了九个翻倍股的共同特征——从财务加速、机构资金流入，到技术图形突破。你不需要每个都记住，因为 AI 帮你检查。但理解背后的逻辑很重要，这样你才知道 Skill 在做什么判断。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SEPA 是 Mark Minervini 的框架，解决的是"什么时候买"这个问题。核心是五个条件必须同时满足：Stage 2 上升期、EPS 加速增长、价格强势、机构资金流入、还有轴心点突破。最关键的是第五步——在突破轴心点的时候才入场，这是降低风险、提高胜率的核心逻辑。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BAIT 是我们自己整理的基本面评分框架，四个维度：商业质量、增长加速、行业顺风、时机。每个维度打 1 到 10 分，总分超过 28 分才值得写分析报告。这个框架解决的是"这家公司基本面够不够强"的问题，它在 /stock-analyze 里面是核心评分逻辑。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Moneyball 讲的是非对称风险。简单说就是：上涨空间 vs 下跌风险，至少要有 2:1 的比例，才值得入场。左边是上涨目标，右边是止损位，中间这个 R/R 就是风险回报比。赢家多赚、输家少亏，这就是为什么少数几笔大赢能弥补多次小亏的原因。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刚才讲了三个框架，现在我们把它们和 Skill 对应起来。这张表很重要——它告诉你每个 Skill 背后依赖的是什么方法论。/chen-scan 用的是陈云新框架，/stock-entry 用的是 SEPA 加 Moneyball，/stock-analyze 用的是 BAIT。不是 AI 在乱猜，是把专家逻辑系统化了。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我们的系统有三层。最底层是 Python 数据层，负责从 API 拉取真实数据。中间是 LLM 分析层，.md 文件里写的 prompt 就是分析框架。最上面是用户调用层，就是你在 Claude 里打 /chen-scan 的那一刻。三层分离的好处我们下一页马上讲。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这个两层分离的架构是今天最重要的工程原则之一。Python 层稳定、可测试、不依赖 AI；LLM 层灵活、自然语言定义逻辑。最直接的好处是：你想换一个分析框架，只改 .md 文件，Python 不动；你想接一个新的数据源，只改 Python，prompt 不动。这个思路不只适用于炒股，任何专家方法都能这么做。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好，理论讲完了。现在我们来做最重要的部分——我把 /chen-scan 删掉，当场重新写一个。大家跟着看，不用自己敲，但要注意观察几件事：为什么要先写角色定义？输出格式是怎么决定的？第一次运行结果不对的时候怎么 debug？这 30 分钟是今天含金量最高的部分。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Skill 写完不等于写对。我们用三步验证法来确认它真的能用。第一步先跑 Python 脚本，不开 AI，确认数据是准确的。第二步才运行 Skill，检查格式对不对、逻辑对不对、结论能不能用。第三步喂坏数据，看它怎么处理边界情况。这三步按顺序走，能帮你快速定位问题在哪一层。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演示结束，我们来做个总结。写 Skill 有五个核心原则：先搞清楚需求、数据层和分析层分离、三步验证法、prompt 当代码用 git 管理、这套架构适用于任何领域。今天你学到的不只是炒股 AI，你学到的是把任何专业知识系统化为 AI 工具的方法。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最后来看一眼整个系统的全貌。三层模块：扫描层找候选股，分析层做评分和报告，决策层给出入场和离场建议。整条流水线走下来，手动做要 3 到 5 小时的事，用这套系统不超过 30 分钟。这就是 AI 超能力的意思——不是替代你思考，是帮你把重复的部分自动化。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今天的作业是写一个 /market-daily Skill，给你选的一个赛道做每日市场速报。三步走：先想清楚需求，再写 prompt 文件，然后运行截图发到群里。难度是入门级，预计 60 分钟。哪怕结果不完美，能跑起来就算完成。有问题随时问助教，截止时间是下次课前 48 小时。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所有资料都整理好了。代码在 GitHub：stock-analysis-lite，课程群置顶有下载链接。Lite-Kit 里面有四个 Skill 模板和数据脚本，跟我做·提示词.md 有逐步导读。方法论出处：SEPA 来自 Minervini，Moneyball 逻辑来自 O'Neil，陈云新方法课程里有整理版。有问题先查文档，文档里找不到再问群。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好，现在是大家的时间。有什么问题？关于框架、关于 Skill 工程、关于作业怎么做都可以问。没有蠢问题，问出来才是真的学到了。我们有 10 分钟 Q&amp;A，之后还可以在群里继续讨论。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【讲师现场揭晓——内容保密】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4572000" cy="762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4343400" y="0"/>
            <a:ext cx="38100" cy="6858000"/>
          </a:xfrm>
          <a:prstGeom prst="rect">
            <a:avLst/>
          </a:prstGeom>
          <a:solidFill>
            <a:srgbClr val="E0D8D0"/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190500" y="1333500"/>
            <a:ext cx="4191000" cy="4191000"/>
          </a:xfrm>
          <a:prstGeom prst="ellipse">
            <a:avLst/>
          </a:prstGeom>
          <a:solidFill>
            <a:srgbClr val="C96133">
              <a:alpha val="8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762000" y="1905000"/>
            <a:ext cx="3048000" cy="3048000"/>
          </a:xfrm>
          <a:prstGeom prst="ellipse">
            <a:avLst/>
          </a:prstGeom>
          <a:solidFill>
            <a:srgbClr val="C96133">
              <a:alpha val="7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1333500" y="2476500"/>
            <a:ext cx="1905000" cy="1905000"/>
          </a:xfrm>
          <a:prstGeom prst="ellipse">
            <a:avLst/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898293" y="2172652"/>
            <a:ext cx="7754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SESSION 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72435" y="2727960"/>
            <a:ext cx="202713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Claude Code 超能力课程</a:t>
            </a:r>
          </a:p>
        </p:txBody>
      </p:sp>
      <p:sp>
        <p:nvSpPr>
          <p:cNvPr id="11" name="Polygon 11"/>
          <p:cNvSpPr/>
          <p:nvPr/>
        </p:nvSpPr>
        <p:spPr>
          <a:xfrm>
            <a:off x="2171700" y="2762250"/>
            <a:ext cx="381000" cy="762000"/>
          </a:xfrm>
          <a:custGeom>
            <a:avLst/>
            <a:gdLst/>
            <a:ahLst/>
            <a:cxnLst/>
            <a:rect l="l" t="t" r="r" b="b"/>
            <a:pathLst>
              <a:path w="381000" h="762000">
                <a:moveTo>
                  <a:pt x="228600" y="0"/>
                </a:moveTo>
                <a:lnTo>
                  <a:pt x="0" y="381000"/>
                </a:lnTo>
                <a:lnTo>
                  <a:pt x="190500" y="381000"/>
                </a:lnTo>
                <a:lnTo>
                  <a:pt x="152400" y="762000"/>
                </a:lnTo>
                <a:lnTo>
                  <a:pt x="381000" y="381000"/>
                </a:lnTo>
                <a:lnTo>
                  <a:pt x="190500" y="381000"/>
                </a:lnTo>
                <a:close/>
              </a:path>
            </a:pathLst>
          </a:custGeom>
          <a:solidFill>
            <a:srgbClr val="C96133">
              <a:alpha val="60000"/>
            </a:srgbClr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524000" y="4000500"/>
            <a:ext cx="152400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2012930" y="410765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第三节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5535" y="4736306"/>
            <a:ext cx="17209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Austin · austinxyz.ai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116979" y="50191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2026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13045" y="1917382"/>
            <a:ext cx="23191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用 AI 把专家方法变成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280660" y="2308860"/>
            <a:ext cx="2135534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炒股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80660" y="3070860"/>
            <a:ext cx="2683002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分析系统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334000" y="3810000"/>
            <a:ext cx="762000" cy="38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5313045" y="4108132"/>
            <a:ext cx="424705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专家方法 → AI Skill → 你的日常买卖工具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20665" y="4839652"/>
            <a:ext cx="10464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ticker-scan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63665" y="4839652"/>
            <a:ext cx="12151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stock-analyze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892415" y="4839652"/>
            <a:ext cx="10848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stock-entry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30665" y="4839652"/>
            <a:ext cx="9621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stock-exit</a:t>
            </a:r>
          </a:p>
        </p:txBody>
      </p:sp>
      <p:sp>
        <p:nvSpPr>
          <p:cNvPr id="25" name="Rectangle 25"/>
          <p:cNvSpPr/>
          <p:nvPr/>
        </p:nvSpPr>
        <p:spPr>
          <a:xfrm>
            <a:off x="4572000" y="6819900"/>
            <a:ext cx="7620000" cy="381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255289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今天的路线图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65810"/>
            <a:ext cx="333413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SESSION 3 · 约 110 分钟 · 控制在 2 小时内</a:t>
            </a:r>
          </a:p>
        </p:txBody>
      </p:sp>
      <p:sp>
        <p:nvSpPr>
          <p:cNvPr id="7" name="Line 7"/>
          <p:cNvSpPr/>
          <p:nvPr/>
        </p:nvSpPr>
        <p:spPr>
          <a:xfrm>
            <a:off x="1066800" y="1238250"/>
            <a:ext cx="9525" cy="5048250"/>
          </a:xfrm>
          <a:custGeom>
            <a:avLst/>
            <a:gdLst/>
            <a:ahLst/>
            <a:cxnLst/>
            <a:rect l="l" t="t" r="r" b="b"/>
            <a:pathLst>
              <a:path w="9525" h="5048250">
                <a:moveTo>
                  <a:pt x="0" y="0"/>
                </a:moveTo>
                <a:lnTo>
                  <a:pt x="0" y="504825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9906000" y="1238250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0434814" y="1546860"/>
            <a:ext cx="847373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110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644188" y="2235518"/>
            <a:ext cx="4286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分钟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18970" y="2601278"/>
            <a:ext cx="47906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TOTAL</a:t>
            </a:r>
          </a:p>
        </p:txBody>
      </p:sp>
      <p:sp>
        <p:nvSpPr>
          <p:cNvPr id="12" name="Ellipse 12"/>
          <p:cNvSpPr/>
          <p:nvPr/>
        </p:nvSpPr>
        <p:spPr>
          <a:xfrm>
            <a:off x="876300" y="1314450"/>
            <a:ext cx="381000" cy="3810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79191" y="1450181"/>
            <a:ext cx="1752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409700" y="12192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1409700" y="1219200"/>
            <a:ext cx="57150" cy="5524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583055" y="13211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现场演示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6865" y="1553528"/>
            <a:ext cx="41671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先看结果：4 Skill 跑完整炒股分析，开场10分钟看懂整个系统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763000" y="13144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890212" y="1391602"/>
            <a:ext cx="4694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min</a:t>
            </a:r>
          </a:p>
        </p:txBody>
      </p:sp>
      <p:sp>
        <p:nvSpPr>
          <p:cNvPr id="20" name="Ellipse 20"/>
          <p:cNvSpPr/>
          <p:nvPr/>
        </p:nvSpPr>
        <p:spPr>
          <a:xfrm>
            <a:off x="876300" y="2266950"/>
            <a:ext cx="381000" cy="381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957626" y="240268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409700" y="2171700"/>
            <a:ext cx="81915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1409700" y="2171700"/>
            <a:ext cx="57150" cy="6477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583055" y="2292668"/>
            <a:ext cx="148347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第一幕：方法论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86865" y="2534602"/>
            <a:ext cx="55780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热门赛道选股核心体系 + SEPA / BAIT / Moneyball 三大框架——4个Skill背后的逻辑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763000" y="22669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8870085" y="234410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45 min</a:t>
            </a:r>
          </a:p>
        </p:txBody>
      </p:sp>
      <p:sp>
        <p:nvSpPr>
          <p:cNvPr id="28" name="Ellipse 28"/>
          <p:cNvSpPr/>
          <p:nvPr/>
        </p:nvSpPr>
        <p:spPr>
          <a:xfrm>
            <a:off x="876300" y="3314700"/>
            <a:ext cx="381000" cy="381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957626" y="345043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409700" y="3219450"/>
            <a:ext cx="81915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1409700" y="3219450"/>
            <a:ext cx="57150" cy="6477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1583055" y="3340418"/>
            <a:ext cx="175260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第二幕：Skill 工程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586865" y="3582352"/>
            <a:ext cx="50182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数据层 + LLM 分析层架构；怎么测试；现场从零写 /ticker-scan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763000" y="331470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870085" y="339185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30 min</a:t>
            </a:r>
          </a:p>
        </p:txBody>
      </p:sp>
      <p:sp>
        <p:nvSpPr>
          <p:cNvPr id="36" name="Ellipse 36"/>
          <p:cNvSpPr/>
          <p:nvPr/>
        </p:nvSpPr>
        <p:spPr>
          <a:xfrm>
            <a:off x="876300" y="4362450"/>
            <a:ext cx="381000" cy="3810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957626" y="449818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409700" y="42672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1409700" y="4267200"/>
            <a:ext cx="57150" cy="5524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1583055" y="4369118"/>
            <a:ext cx="15145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系统预览 + 作业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586865" y="4601528"/>
            <a:ext cx="38604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展示完整 15+ Skills 系统，发布作业：写 /market-daily</a:t>
            </a:r>
          </a:p>
        </p:txBody>
      </p:sp>
      <p:sp>
        <p:nvSpPr>
          <p:cNvPr id="42" name="Rectangle 42"/>
          <p:cNvSpPr/>
          <p:nvPr/>
        </p:nvSpPr>
        <p:spPr>
          <a:xfrm>
            <a:off x="8763000" y="43624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890212" y="4439602"/>
            <a:ext cx="4694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min</a:t>
            </a:r>
          </a:p>
        </p:txBody>
      </p:sp>
      <p:sp>
        <p:nvSpPr>
          <p:cNvPr id="44" name="Ellipse 44"/>
          <p:cNvSpPr/>
          <p:nvPr/>
        </p:nvSpPr>
        <p:spPr>
          <a:xfrm>
            <a:off x="876300" y="5314950"/>
            <a:ext cx="381000" cy="38100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957626" y="545068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409700" y="52197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1409700" y="5219700"/>
            <a:ext cx="57150" cy="552450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583055" y="5321618"/>
            <a:ext cx="54150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Q &amp; A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86865" y="55540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答疑时间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763000" y="53149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9E9E9E">
              <a:alpha val="15000"/>
            </a:srgbClr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8890212" y="5392102"/>
            <a:ext cx="4694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 min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02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480947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为什么炒股需要 AI 系统？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430682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上了炒股课，但还是不知道 "什么时候买、什么时候卖"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238250"/>
            <a:ext cx="3448050" cy="3238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238250"/>
            <a:ext cx="34480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1819275" y="1619250"/>
            <a:ext cx="952500" cy="952500"/>
          </a:xfrm>
          <a:prstGeom prst="ellipse">
            <a:avLst/>
          </a:prstGeom>
          <a:solidFill>
            <a:srgbClr val="D44545">
              <a:alpha val="10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2105216" y="1840230"/>
            <a:ext cx="380619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62444" y="28698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方法知道，判断难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41859" y="32313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有框架，但每次都要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24012" y="3440906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花几小时手动分析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06166" y="36504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还容易看漏细节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4371975" y="1238250"/>
            <a:ext cx="3448050" cy="3238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6" name="Rectangle 16"/>
          <p:cNvSpPr/>
          <p:nvPr/>
        </p:nvSpPr>
        <p:spPr>
          <a:xfrm>
            <a:off x="4371975" y="1238250"/>
            <a:ext cx="34480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17" name="Ellipse 17"/>
          <p:cNvSpPr/>
          <p:nvPr/>
        </p:nvSpPr>
        <p:spPr>
          <a:xfrm>
            <a:off x="5619750" y="1619250"/>
            <a:ext cx="952500" cy="952500"/>
          </a:xfrm>
          <a:prstGeom prst="ellipse">
            <a:avLst/>
          </a:prstGeom>
          <a:solidFill>
            <a:srgbClr val="D44545">
              <a:alpha val="10000"/>
            </a:srgbClr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5848350" y="2190750"/>
            <a:ext cx="152400" cy="285750"/>
          </a:xfrm>
          <a:prstGeom prst="roundRect">
            <a:avLst>
              <a:gd name="adj" fmla="val 18750"/>
            </a:avLst>
          </a:prstGeom>
          <a:solidFill>
            <a:srgbClr val="D44545">
              <a:alpha val="50000"/>
            </a:srgbClr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6038850" y="2000250"/>
            <a:ext cx="152400" cy="476250"/>
          </a:xfrm>
          <a:prstGeom prst="roundRect">
            <a:avLst>
              <a:gd name="adj" fmla="val 18750"/>
            </a:avLst>
          </a:prstGeom>
          <a:solidFill>
            <a:srgbClr val="D44545">
              <a:alpha val="70000"/>
            </a:srgbClr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6229350" y="2095500"/>
            <a:ext cx="152400" cy="381000"/>
          </a:xfrm>
          <a:prstGeom prst="roundRect">
            <a:avLst>
              <a:gd name="adj" fmla="val 1875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5062918" y="28698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信息太多，筛选累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79444" y="3231356"/>
            <a:ext cx="20331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 股 5000+ 只，美股数万只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095875" y="344090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每天新闻、财报、技术信号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88794" y="365045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根本看不过来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172450" y="1238250"/>
            <a:ext cx="3448050" cy="3238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6" name="Rectangle 26"/>
          <p:cNvSpPr/>
          <p:nvPr/>
        </p:nvSpPr>
        <p:spPr>
          <a:xfrm>
            <a:off x="8172450" y="1238250"/>
            <a:ext cx="34480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27" name="Ellipse 27"/>
          <p:cNvSpPr/>
          <p:nvPr/>
        </p:nvSpPr>
        <p:spPr>
          <a:xfrm>
            <a:off x="9420225" y="1619250"/>
            <a:ext cx="952500" cy="952500"/>
          </a:xfrm>
          <a:prstGeom prst="ellipse">
            <a:avLst/>
          </a:prstGeom>
          <a:solidFill>
            <a:srgbClr val="D44545">
              <a:alpha val="10000"/>
            </a:srgbClr>
          </a:solidFill>
          <a:ln>
            <a:noFill/>
          </a:ln>
        </p:spPr>
      </p:sp>
      <p:sp>
        <p:nvSpPr>
          <p:cNvPr id="28" name="Line 28"/>
          <p:cNvSpPr/>
          <p:nvPr/>
        </p:nvSpPr>
        <p:spPr>
          <a:xfrm>
            <a:off x="9896475" y="1762125"/>
            <a:ext cx="9525" cy="666750"/>
          </a:xfrm>
          <a:custGeom>
            <a:avLst/>
            <a:gdLst/>
            <a:ahLst/>
            <a:cxnLst/>
            <a:rect l="l" t="t" r="r" b="b"/>
            <a:pathLst>
              <a:path w="9525"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w="28575" cap="rnd">
            <a:solidFill>
              <a:srgbClr val="D44545"/>
            </a:solidFill>
          </a:ln>
        </p:spPr>
      </p:sp>
      <p:sp>
        <p:nvSpPr>
          <p:cNvPr id="29" name="Line 29"/>
          <p:cNvSpPr/>
          <p:nvPr/>
        </p:nvSpPr>
        <p:spPr>
          <a:xfrm>
            <a:off x="9620250" y="1952625"/>
            <a:ext cx="552450" cy="9525"/>
          </a:xfrm>
          <a:custGeom>
            <a:avLst/>
            <a:gdLst/>
            <a:ahLst/>
            <a:cxnLst/>
            <a:rect l="l" t="t" r="r" b="b"/>
            <a:pathLst>
              <a:path w="552450" h="952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28575" cap="rnd">
            <a:solidFill>
              <a:srgbClr val="D44545"/>
            </a:solidFill>
          </a:ln>
        </p:spPr>
      </p:sp>
      <p:sp>
        <p:nvSpPr>
          <p:cNvPr id="30" name="Ellipse 30"/>
          <p:cNvSpPr/>
          <p:nvPr/>
        </p:nvSpPr>
        <p:spPr>
          <a:xfrm>
            <a:off x="9505950" y="2076450"/>
            <a:ext cx="228600" cy="228600"/>
          </a:xfrm>
          <a:prstGeom prst="ellipse">
            <a:avLst/>
          </a:prstGeom>
          <a:noFill/>
          <a:ln w="23812">
            <a:solidFill>
              <a:srgbClr val="D44545"/>
            </a:solidFill>
          </a:ln>
        </p:spPr>
      </p:sp>
      <p:sp>
        <p:nvSpPr>
          <p:cNvPr id="31" name="Ellipse 31"/>
          <p:cNvSpPr/>
          <p:nvPr/>
        </p:nvSpPr>
        <p:spPr>
          <a:xfrm>
            <a:off x="10058400" y="2000250"/>
            <a:ext cx="228600" cy="228600"/>
          </a:xfrm>
          <a:prstGeom prst="ellipse">
            <a:avLst/>
          </a:prstGeom>
          <a:noFill/>
          <a:ln w="23812">
            <a:solidFill>
              <a:srgbClr val="D44545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8863394" y="28698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情绪干扰，纪律差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978503" y="32313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贪心时追高，恐惧时割肉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978503" y="34409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止损是规则，但总忍不住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945642" y="3650456"/>
            <a:ext cx="19016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"再等一下" 往往代价惨重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984986" y="4631055"/>
            <a:ext cx="22202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↓</a:t>
            </a:r>
          </a:p>
        </p:txBody>
      </p:sp>
      <p:sp>
        <p:nvSpPr>
          <p:cNvPr id="37" name="Rectangle 37"/>
          <p:cNvSpPr/>
          <p:nvPr/>
        </p:nvSpPr>
        <p:spPr>
          <a:xfrm>
            <a:off x="571500" y="4953000"/>
            <a:ext cx="11049000" cy="762000"/>
          </a:xfrm>
          <a:prstGeom prst="roundRect">
            <a:avLst>
              <a:gd name="adj" fmla="val 15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5905500" y="5128260"/>
            <a:ext cx="3810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解法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583209" y="5384482"/>
            <a:ext cx="70255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把专家方法封装进 AI Skill — 系统化判断、自动筛选、规则执行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03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4870132" y="507682"/>
            <a:ext cx="245173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先看结果，再理解原理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908641" y="832485"/>
            <a:ext cx="437471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4-Skill 完整买卖流水线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1435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09800"/>
            <a:ext cx="2438400" cy="2286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68580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75481" y="2115502"/>
            <a:ext cx="1635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96567" y="2091214"/>
            <a:ext cx="12739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7421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赛道扫描</a:t>
            </a:r>
          </a:p>
        </p:txBody>
      </p:sp>
      <p:sp>
        <p:nvSpPr>
          <p:cNvPr id="13" name="Line 13"/>
          <p:cNvSpPr/>
          <p:nvPr/>
        </p:nvSpPr>
        <p:spPr>
          <a:xfrm>
            <a:off x="819150" y="2952750"/>
            <a:ext cx="1828800" cy="9525"/>
          </a:xfrm>
          <a:custGeom>
            <a:avLst/>
            <a:gdLst/>
            <a:ahLst/>
            <a:cxnLst/>
            <a:rect l="l" t="t" r="r" b="b"/>
            <a:pathLst>
              <a:path w="1828800" h="952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05815" y="3106102"/>
            <a:ext cx="12764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扫 七大热门赛道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5815" y="3334702"/>
            <a:ext cx="140684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价格 / 成交量筛选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05815" y="3563302"/>
            <a:ext cx="12304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输出候选股清单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6675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49209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8502" y="4725352"/>
            <a:ext cx="18300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候选股清单 (Markdown)</a:t>
            </a:r>
          </a:p>
        </p:txBody>
      </p:sp>
      <p:sp>
        <p:nvSpPr>
          <p:cNvPr id="20" name="Polygon 20"/>
          <p:cNvSpPr/>
          <p:nvPr/>
        </p:nvSpPr>
        <p:spPr>
          <a:xfrm>
            <a:off x="3143250" y="3409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1" name="Line 21"/>
          <p:cNvSpPr/>
          <p:nvPr/>
        </p:nvSpPr>
        <p:spPr>
          <a:xfrm>
            <a:off x="2952750" y="3524250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3812">
            <a:solidFill>
              <a:srgbClr val="C96133"/>
            </a:solidFill>
          </a:ln>
        </p:spPr>
      </p:sp>
      <p:sp>
        <p:nvSpPr>
          <p:cNvPr id="22" name="Rectangle 22"/>
          <p:cNvSpPr/>
          <p:nvPr/>
        </p:nvSpPr>
        <p:spPr>
          <a:xfrm>
            <a:off x="339090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339090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3390900" y="2209800"/>
            <a:ext cx="2438400" cy="2286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5" name="Ellipse 25"/>
          <p:cNvSpPr/>
          <p:nvPr/>
        </p:nvSpPr>
        <p:spPr>
          <a:xfrm>
            <a:off x="356235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631904" y="2115502"/>
            <a:ext cx="203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865579" y="2091214"/>
            <a:ext cx="14890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25076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深度分析</a:t>
            </a:r>
          </a:p>
        </p:txBody>
      </p:sp>
      <p:sp>
        <p:nvSpPr>
          <p:cNvPr id="29" name="Line 29"/>
          <p:cNvSpPr/>
          <p:nvPr/>
        </p:nvSpPr>
        <p:spPr>
          <a:xfrm>
            <a:off x="3581400" y="2952750"/>
            <a:ext cx="2076450" cy="9525"/>
          </a:xfrm>
          <a:custGeom>
            <a:avLst/>
            <a:gdLst/>
            <a:ahLst/>
            <a:cxnLst/>
            <a:rect l="l" t="t" r="r" b="b"/>
            <a:pathLst>
              <a:path w="2076450" h="9525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568065" y="3106102"/>
            <a:ext cx="12688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BAIT 基本面评分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68065" y="3334702"/>
            <a:ext cx="13071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SEPA 技术面确认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568065" y="35633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综合研究报告</a:t>
            </a:r>
          </a:p>
        </p:txBody>
      </p:sp>
      <p:sp>
        <p:nvSpPr>
          <p:cNvPr id="33" name="Rectangle 33"/>
          <p:cNvSpPr/>
          <p:nvPr/>
        </p:nvSpPr>
        <p:spPr>
          <a:xfrm>
            <a:off x="354330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436864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14542" y="4725352"/>
            <a:ext cx="19911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个股分析报告 (Markdown)</a:t>
            </a:r>
          </a:p>
        </p:txBody>
      </p:sp>
      <p:sp>
        <p:nvSpPr>
          <p:cNvPr id="36" name="Polygon 36"/>
          <p:cNvSpPr/>
          <p:nvPr/>
        </p:nvSpPr>
        <p:spPr>
          <a:xfrm>
            <a:off x="6019800" y="3409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37" name="Line 37"/>
          <p:cNvSpPr/>
          <p:nvPr/>
        </p:nvSpPr>
        <p:spPr>
          <a:xfrm>
            <a:off x="5829300" y="3524250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3812">
            <a:solidFill>
              <a:srgbClr val="3D7DE4"/>
            </a:solidFill>
          </a:ln>
        </p:spPr>
      </p:sp>
      <p:sp>
        <p:nvSpPr>
          <p:cNvPr id="38" name="Rectangle 38"/>
          <p:cNvSpPr/>
          <p:nvPr/>
        </p:nvSpPr>
        <p:spPr>
          <a:xfrm>
            <a:off x="626745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626745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6267450" y="2209800"/>
            <a:ext cx="2438400" cy="2286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1" name="Ellipse 41"/>
          <p:cNvSpPr/>
          <p:nvPr/>
        </p:nvSpPr>
        <p:spPr>
          <a:xfrm>
            <a:off x="643890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6508454" y="2115502"/>
            <a:ext cx="203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25227" y="2091214"/>
            <a:ext cx="13228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12731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入场决策</a:t>
            </a:r>
          </a:p>
        </p:txBody>
      </p:sp>
      <p:sp>
        <p:nvSpPr>
          <p:cNvPr id="45" name="Line 45"/>
          <p:cNvSpPr/>
          <p:nvPr/>
        </p:nvSpPr>
        <p:spPr>
          <a:xfrm>
            <a:off x="6457950" y="2952750"/>
            <a:ext cx="2076450" cy="9525"/>
          </a:xfrm>
          <a:custGeom>
            <a:avLst/>
            <a:gdLst/>
            <a:ahLst/>
            <a:cxnLst/>
            <a:rect l="l" t="t" r="r" b="b"/>
            <a:pathLst>
              <a:path w="2076450" h="9525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6444615" y="3106102"/>
            <a:ext cx="14605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SEPA 入场时机确认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615" y="3334702"/>
            <a:ext cx="152185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Moneyball R/R 计算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444615" y="3563302"/>
            <a:ext cx="140684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仓位 + 止损位建议</a:t>
            </a:r>
          </a:p>
        </p:txBody>
      </p:sp>
      <p:sp>
        <p:nvSpPr>
          <p:cNvPr id="49" name="Rectangle 49"/>
          <p:cNvSpPr/>
          <p:nvPr/>
        </p:nvSpPr>
        <p:spPr>
          <a:xfrm>
            <a:off x="641985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724519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652112" y="4725352"/>
            <a:ext cx="16690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入场方案 (Markdown)</a:t>
            </a:r>
          </a:p>
        </p:txBody>
      </p:sp>
      <p:sp>
        <p:nvSpPr>
          <p:cNvPr id="52" name="Polygon 52"/>
          <p:cNvSpPr/>
          <p:nvPr/>
        </p:nvSpPr>
        <p:spPr>
          <a:xfrm>
            <a:off x="8896350" y="3409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3" name="Line 53"/>
          <p:cNvSpPr/>
          <p:nvPr/>
        </p:nvSpPr>
        <p:spPr>
          <a:xfrm>
            <a:off x="8705850" y="3524250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3812">
            <a:solidFill>
              <a:srgbClr val="3A9E6A"/>
            </a:solidFill>
          </a:ln>
        </p:spPr>
      </p:sp>
      <p:sp>
        <p:nvSpPr>
          <p:cNvPr id="54" name="Rectangle 54"/>
          <p:cNvSpPr/>
          <p:nvPr/>
        </p:nvSpPr>
        <p:spPr>
          <a:xfrm>
            <a:off x="914400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5" name="Rectangle 55"/>
          <p:cNvSpPr/>
          <p:nvPr/>
        </p:nvSpPr>
        <p:spPr>
          <a:xfrm>
            <a:off x="914400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56" name="Rectangle 56"/>
          <p:cNvSpPr/>
          <p:nvPr/>
        </p:nvSpPr>
        <p:spPr>
          <a:xfrm>
            <a:off x="9144000" y="2209800"/>
            <a:ext cx="2438400" cy="228600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57" name="Ellipse 57"/>
          <p:cNvSpPr/>
          <p:nvPr/>
        </p:nvSpPr>
        <p:spPr>
          <a:xfrm>
            <a:off x="931545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9385004" y="2115502"/>
            <a:ext cx="203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779987" y="2091214"/>
            <a:ext cx="116642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/stock-exit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00386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退出管理</a:t>
            </a:r>
          </a:p>
        </p:txBody>
      </p:sp>
      <p:sp>
        <p:nvSpPr>
          <p:cNvPr id="61" name="Line 61"/>
          <p:cNvSpPr/>
          <p:nvPr/>
        </p:nvSpPr>
        <p:spPr>
          <a:xfrm>
            <a:off x="9334500" y="2952750"/>
            <a:ext cx="2076450" cy="9525"/>
          </a:xfrm>
          <a:custGeom>
            <a:avLst/>
            <a:gdLst/>
            <a:ahLst/>
            <a:cxnLst/>
            <a:rect l="l" t="t" r="r" b="b"/>
            <a:pathLst>
              <a:path w="2076450" h="9525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2" name="TextBox 62"/>
          <p:cNvSpPr txBox="1"/>
          <p:nvPr/>
        </p:nvSpPr>
        <p:spPr>
          <a:xfrm>
            <a:off x="9321165" y="31061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止损触发检查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321165" y="33347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止盈节奏计划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321165" y="3563302"/>
            <a:ext cx="15371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Stage 3/4 清仓信号</a:t>
            </a:r>
          </a:p>
        </p:txBody>
      </p:sp>
      <p:sp>
        <p:nvSpPr>
          <p:cNvPr id="65" name="Rectangle 65"/>
          <p:cNvSpPr/>
          <p:nvPr/>
        </p:nvSpPr>
        <p:spPr>
          <a:xfrm>
            <a:off x="929640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1012174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367642" y="4725352"/>
            <a:ext cx="19911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退出分析报告 (Markdown)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463986" y="6042660"/>
            <a:ext cx="326402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数据来源：yfinance · 无需配置复杂 MCP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04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420909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热门赛道选股体系总览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36846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基金经理视角 · 解决 "在哪里找股" 的系统方法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238250"/>
            <a:ext cx="2647950" cy="514350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238250"/>
            <a:ext cx="2647950" cy="762000"/>
          </a:xfrm>
          <a:prstGeom prst="roundRect">
            <a:avLst>
              <a:gd name="adj" fmla="val 17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695450"/>
            <a:ext cx="2647950" cy="3048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591763" y="1312545"/>
            <a:ext cx="607424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5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2709" y="1767364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基金经理思维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23900" y="2171700"/>
            <a:ext cx="2343150" cy="762000"/>
          </a:xfrm>
          <a:prstGeom prst="roundRect">
            <a:avLst>
              <a:gd name="adj" fmla="val 1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584055" y="2304574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核心原则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98759" y="24965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基本面为主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5406" y="27060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技术面辅助确认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8665" y="31632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先看公司质地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8665" y="34109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再看技术时机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8665" y="3658552"/>
            <a:ext cx="9237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不炒消息股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8665" y="39062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不追热点题材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8665" y="41538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仓位管理严格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23900" y="5810250"/>
            <a:ext cx="2343150" cy="438150"/>
          </a:xfrm>
          <a:prstGeom prst="roundRect">
            <a:avLst>
              <a:gd name="adj" fmla="val 17391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399080" y="596360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思维框架基础</a:t>
            </a:r>
          </a:p>
        </p:txBody>
      </p:sp>
      <p:sp>
        <p:nvSpPr>
          <p:cNvPr id="23" name="Rectangle 23"/>
          <p:cNvSpPr/>
          <p:nvPr/>
        </p:nvSpPr>
        <p:spPr>
          <a:xfrm>
            <a:off x="3505200" y="1238250"/>
            <a:ext cx="2647950" cy="514350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4" name="Rectangle 24"/>
          <p:cNvSpPr/>
          <p:nvPr/>
        </p:nvSpPr>
        <p:spPr>
          <a:xfrm>
            <a:off x="3505200" y="1238250"/>
            <a:ext cx="2647950" cy="762000"/>
          </a:xfrm>
          <a:prstGeom prst="roundRect">
            <a:avLst>
              <a:gd name="adj" fmla="val 17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3505200" y="1695450"/>
            <a:ext cx="2647950" cy="3048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4450704" y="1312545"/>
            <a:ext cx="75694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5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28647" y="176736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七大结构性赛道</a:t>
            </a:r>
          </a:p>
        </p:txBody>
      </p:sp>
      <p:sp>
        <p:nvSpPr>
          <p:cNvPr id="28" name="Rectangle 28"/>
          <p:cNvSpPr/>
          <p:nvPr/>
        </p:nvSpPr>
        <p:spPr>
          <a:xfrm>
            <a:off x="3657600" y="2171700"/>
            <a:ext cx="2343150" cy="762000"/>
          </a:xfrm>
          <a:prstGeom prst="roundRect">
            <a:avLst>
              <a:gd name="adj" fmla="val 10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4442996" y="2304574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结构性机会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79106" y="249650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长周期主题驱动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432459" y="27060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非短期炒作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682365" y="3163252"/>
            <a:ext cx="12458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存储 HBM/DRAM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682365" y="3410902"/>
            <a:ext cx="6170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光互连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682365" y="3658552"/>
            <a:ext cx="7704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卫星通信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82365" y="3906202"/>
            <a:ext cx="7704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电网升级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682365" y="4153852"/>
            <a:ext cx="15831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封测 · 矿产 · 房地产</a:t>
            </a:r>
          </a:p>
        </p:txBody>
      </p:sp>
      <p:sp>
        <p:nvSpPr>
          <p:cNvPr id="37" name="Rectangle 37"/>
          <p:cNvSpPr/>
          <p:nvPr/>
        </p:nvSpPr>
        <p:spPr>
          <a:xfrm>
            <a:off x="3657600" y="5810250"/>
            <a:ext cx="2343150" cy="438150"/>
          </a:xfrm>
          <a:prstGeom prst="roundRect">
            <a:avLst>
              <a:gd name="adj" fmla="val 17391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413290" y="59636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在哪里找股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438900" y="1238250"/>
            <a:ext cx="2647950" cy="514350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6438900" y="1238250"/>
            <a:ext cx="2647950" cy="762000"/>
          </a:xfrm>
          <a:prstGeom prst="roundRect">
            <a:avLst>
              <a:gd name="adj" fmla="val 175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1" name="Rectangle 41"/>
          <p:cNvSpPr/>
          <p:nvPr/>
        </p:nvSpPr>
        <p:spPr>
          <a:xfrm>
            <a:off x="6438900" y="1695450"/>
            <a:ext cx="2647950" cy="3048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7384404" y="1312545"/>
            <a:ext cx="75694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5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62347" y="176736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九大翻倍股特征</a:t>
            </a:r>
          </a:p>
        </p:txBody>
      </p:sp>
      <p:sp>
        <p:nvSpPr>
          <p:cNvPr id="44" name="Rectangle 44"/>
          <p:cNvSpPr/>
          <p:nvPr/>
        </p:nvSpPr>
        <p:spPr>
          <a:xfrm>
            <a:off x="6591300" y="2171700"/>
            <a:ext cx="2343150" cy="762000"/>
          </a:xfrm>
          <a:prstGeom prst="roundRect">
            <a:avLst>
              <a:gd name="adj" fmla="val 1000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7451455" y="2304574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特征组合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442835" y="24965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价值低估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82778" y="270605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+ 催化剂 + 技术突破口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616065" y="3163252"/>
            <a:ext cx="16138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PEG &lt; 1，PE 低于行业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616065" y="34109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确定性催化剂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616065" y="3658552"/>
            <a:ext cx="13685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Stage 2 技术启动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616065" y="39062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机构建仓信号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616065" y="41538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行业龙头地位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591300" y="5810250"/>
            <a:ext cx="2343150" cy="438150"/>
          </a:xfrm>
          <a:prstGeom prst="roundRect">
            <a:avLst>
              <a:gd name="adj" fmla="val 17391"/>
            </a:avLst>
          </a:prstGeom>
          <a:solidFill>
            <a:srgbClr val="3A9E6A">
              <a:alpha val="10000"/>
            </a:srgbClr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427500" y="59636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选哪只股</a:t>
            </a:r>
          </a:p>
        </p:txBody>
      </p:sp>
      <p:sp>
        <p:nvSpPr>
          <p:cNvPr id="55" name="Rectangle 55"/>
          <p:cNvSpPr/>
          <p:nvPr/>
        </p:nvSpPr>
        <p:spPr>
          <a:xfrm>
            <a:off x="9372600" y="1238250"/>
            <a:ext cx="2438400" cy="5143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6" name="Rectangle 56"/>
          <p:cNvSpPr/>
          <p:nvPr/>
        </p:nvSpPr>
        <p:spPr>
          <a:xfrm>
            <a:off x="9372600" y="1238250"/>
            <a:ext cx="2438400" cy="762000"/>
          </a:xfrm>
          <a:prstGeom prst="roundRect">
            <a:avLst>
              <a:gd name="adj" fmla="val 175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7" name="Rectangle 57"/>
          <p:cNvSpPr/>
          <p:nvPr/>
        </p:nvSpPr>
        <p:spPr>
          <a:xfrm>
            <a:off x="9372600" y="1695450"/>
            <a:ext cx="2438400" cy="3048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10213329" y="1312545"/>
            <a:ext cx="75694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C96133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086796" y="17673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一句话定位</a:t>
            </a:r>
          </a:p>
        </p:txBody>
      </p:sp>
      <p:sp>
        <p:nvSpPr>
          <p:cNvPr id="60" name="Rectangle 60"/>
          <p:cNvSpPr/>
          <p:nvPr/>
        </p:nvSpPr>
        <p:spPr>
          <a:xfrm>
            <a:off x="9525000" y="2171700"/>
            <a:ext cx="2133600" cy="1143000"/>
          </a:xfrm>
          <a:prstGeom prst="roundRect">
            <a:avLst>
              <a:gd name="adj" fmla="val 666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10501261" y="2279332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"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953577" y="2578418"/>
            <a:ext cx="127644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在正确的赛道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057090" y="28070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找对的股票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511665" y="35061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热门赛道方法论解决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511665" y="3734752"/>
            <a:ext cx="12688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"在哪里找"的问题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511665" y="4077652"/>
            <a:ext cx="16062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SEPA / Moneyball 解决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511665" y="4306252"/>
            <a:ext cx="11154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"什么时候买卖"</a:t>
            </a:r>
          </a:p>
        </p:txBody>
      </p:sp>
      <p:sp>
        <p:nvSpPr>
          <p:cNvPr id="68" name="Rectangle 68"/>
          <p:cNvSpPr/>
          <p:nvPr/>
        </p:nvSpPr>
        <p:spPr>
          <a:xfrm>
            <a:off x="9525000" y="5810250"/>
            <a:ext cx="2133600" cy="438150"/>
          </a:xfrm>
          <a:prstGeom prst="roundRect">
            <a:avLst>
              <a:gd name="adj" fmla="val 17391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69" name="TextBox 69"/>
          <p:cNvSpPr txBox="1"/>
          <p:nvPr/>
        </p:nvSpPr>
        <p:spPr>
          <a:xfrm>
            <a:off x="10256425" y="59636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系统定位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05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3429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93370"/>
            <a:ext cx="263728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七大结构性赛道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97706"/>
            <a:ext cx="44566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长周期主题驱动 · 非短期炒作 · /ticker-scan 覆盖所有赛道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141922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1571625" y="1447800"/>
            <a:ext cx="647700" cy="495300"/>
          </a:xfrm>
          <a:prstGeom prst="roundRect">
            <a:avLst>
              <a:gd name="adj" fmla="val 7692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11" name="Line 11"/>
          <p:cNvSpPr/>
          <p:nvPr/>
        </p:nvSpPr>
        <p:spPr>
          <a:xfrm>
            <a:off x="1285875" y="15430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2" name="Line 12"/>
          <p:cNvSpPr/>
          <p:nvPr/>
        </p:nvSpPr>
        <p:spPr>
          <a:xfrm>
            <a:off x="1285875" y="16573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3" name="Line 13"/>
          <p:cNvSpPr/>
          <p:nvPr/>
        </p:nvSpPr>
        <p:spPr>
          <a:xfrm>
            <a:off x="2162175" y="15430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4" name="Line 14"/>
          <p:cNvSpPr/>
          <p:nvPr/>
        </p:nvSpPr>
        <p:spPr>
          <a:xfrm>
            <a:off x="2162175" y="16573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756379" y="1769745"/>
            <a:ext cx="2781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HBM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43388" y="2159318"/>
            <a:ext cx="150417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存储 HBM/DRAM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98082" y="2428399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AI 算力核心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17057" y="2656999"/>
            <a:ext cx="115683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GPU 内存需求爆发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66897" y="2847499"/>
            <a:ext cx="10571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HBM3e 供不应求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340995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340995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425767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23" name="Polyline 23"/>
          <p:cNvSpPr/>
          <p:nvPr/>
        </p:nvSpPr>
        <p:spPr>
          <a:xfrm>
            <a:off x="4381500" y="1447800"/>
            <a:ext cx="762000" cy="342900"/>
          </a:xfrm>
          <a:custGeom>
            <a:avLst/>
            <a:gdLst/>
            <a:ahLst/>
            <a:cxnLst/>
            <a:rect l="l" t="t" r="r" b="b"/>
            <a:pathLst>
              <a:path w="762000" h="342900">
                <a:moveTo>
                  <a:pt x="0" y="342900"/>
                </a:moveTo>
                <a:lnTo>
                  <a:pt x="190500" y="0"/>
                </a:lnTo>
                <a:lnTo>
                  <a:pt x="381000" y="247650"/>
                </a:lnTo>
                <a:lnTo>
                  <a:pt x="571500" y="0"/>
                </a:lnTo>
                <a:lnTo>
                  <a:pt x="762000" y="247650"/>
                </a:lnTo>
              </a:path>
            </a:pathLst>
          </a:custGeom>
          <a:noFill/>
          <a:ln w="28575" cap="rnd">
            <a:solidFill>
              <a:srgbClr val="3D7DE4"/>
            </a:solidFill>
            <a:round/>
          </a:ln>
        </p:spPr>
      </p:sp>
      <p:sp>
        <p:nvSpPr>
          <p:cNvPr id="24" name="TextBox 24"/>
          <p:cNvSpPr txBox="1"/>
          <p:nvPr/>
        </p:nvSpPr>
        <p:spPr>
          <a:xfrm>
            <a:off x="4406241" y="215931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光互连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198227" y="2428399"/>
            <a:ext cx="1071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数据中心光网络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009549" y="2656999"/>
            <a:ext cx="14487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超大规模数据中心扩建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080748" y="284749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光模块需求持续高增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24840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624840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709612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A9E6A">
              <a:alpha val="10000"/>
            </a:srgbClr>
          </a:solidFill>
          <a:ln>
            <a:noFill/>
          </a:ln>
        </p:spPr>
      </p:sp>
      <p:sp>
        <p:nvSpPr>
          <p:cNvPr id="31" name="Ellipse 31"/>
          <p:cNvSpPr/>
          <p:nvPr/>
        </p:nvSpPr>
        <p:spPr>
          <a:xfrm>
            <a:off x="7381875" y="1409700"/>
            <a:ext cx="381000" cy="381000"/>
          </a:xfrm>
          <a:prstGeom prst="ellipse">
            <a:avLst/>
          </a:prstGeom>
          <a:noFill/>
          <a:ln w="23812">
            <a:solidFill>
              <a:srgbClr val="3A9E6A"/>
            </a:solidFill>
          </a:ln>
        </p:spPr>
      </p:sp>
      <p:sp>
        <p:nvSpPr>
          <p:cNvPr id="32" name="Ellipse 32"/>
          <p:cNvSpPr/>
          <p:nvPr/>
        </p:nvSpPr>
        <p:spPr>
          <a:xfrm>
            <a:off x="7458075" y="1485900"/>
            <a:ext cx="228600" cy="228600"/>
          </a:xfrm>
          <a:prstGeom prst="ellipse">
            <a:avLst/>
          </a:prstGeom>
          <a:noFill/>
          <a:ln w="19050">
            <a:solidFill>
              <a:srgbClr val="3A9E6A"/>
            </a:solidFill>
          </a:ln>
        </p:spPr>
      </p:sp>
      <p:sp>
        <p:nvSpPr>
          <p:cNvPr id="33" name="Line 33"/>
          <p:cNvSpPr/>
          <p:nvPr/>
        </p:nvSpPr>
        <p:spPr>
          <a:xfrm>
            <a:off x="7572375" y="1790700"/>
            <a:ext cx="9525" cy="209550"/>
          </a:xfrm>
          <a:custGeom>
            <a:avLst/>
            <a:gdLst/>
            <a:ahLst/>
            <a:cxnLst/>
            <a:rect l="l" t="t" r="r" b="b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3812" cap="rnd">
            <a:solidFill>
              <a:srgbClr val="3A9E6A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7141178" y="21593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卫星通信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111436" y="2428399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低轨卫星网络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833759" y="2656999"/>
            <a:ext cx="14772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Starlink 竞争格局重塑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990398" y="284749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商业航天政策驱动</a:t>
            </a:r>
          </a:p>
        </p:txBody>
      </p:sp>
      <p:sp>
        <p:nvSpPr>
          <p:cNvPr id="38" name="Rectangle 38"/>
          <p:cNvSpPr/>
          <p:nvPr/>
        </p:nvSpPr>
        <p:spPr>
          <a:xfrm>
            <a:off x="908685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908685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993457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41" name="Polygon 41"/>
          <p:cNvSpPr/>
          <p:nvPr/>
        </p:nvSpPr>
        <p:spPr>
          <a:xfrm>
            <a:off x="10334625" y="1409700"/>
            <a:ext cx="285750" cy="666750"/>
          </a:xfrm>
          <a:custGeom>
            <a:avLst/>
            <a:gdLst/>
            <a:ahLst/>
            <a:cxnLst/>
            <a:rect l="l" t="t" r="r" b="b"/>
            <a:pathLst>
              <a:path w="285750" h="666750">
                <a:moveTo>
                  <a:pt x="219075" y="0"/>
                </a:moveTo>
                <a:lnTo>
                  <a:pt x="0" y="333375"/>
                </a:lnTo>
                <a:lnTo>
                  <a:pt x="123825" y="333375"/>
                </a:lnTo>
                <a:lnTo>
                  <a:pt x="28575" y="666750"/>
                </a:lnTo>
                <a:lnTo>
                  <a:pt x="285750" y="285750"/>
                </a:lnTo>
                <a:lnTo>
                  <a:pt x="142875" y="285750"/>
                </a:lnTo>
                <a:close/>
              </a:path>
            </a:pathLst>
          </a:custGeom>
          <a:solidFill>
            <a:srgbClr val="C96133">
              <a:alpha val="70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9979628" y="21593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电网升级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863913" y="2428399"/>
            <a:ext cx="109382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变压器 / 开关柜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757648" y="265699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老旧电网现代化改造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746968" y="2847499"/>
            <a:ext cx="13277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AI 数据中心电力需求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514475" y="3714750"/>
            <a:ext cx="28384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1514475" y="3714750"/>
            <a:ext cx="2838450" cy="57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2362200" y="3981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2514600" y="4114800"/>
            <a:ext cx="647700" cy="495300"/>
          </a:xfrm>
          <a:prstGeom prst="roundRect">
            <a:avLst>
              <a:gd name="adj" fmla="val 7692"/>
            </a:avLst>
          </a:prstGeom>
          <a:noFill/>
          <a:ln w="19050">
            <a:solidFill>
              <a:srgbClr val="3D7DE4"/>
            </a:solidFill>
          </a:ln>
        </p:spPr>
      </p:sp>
      <p:sp>
        <p:nvSpPr>
          <p:cNvPr id="50" name="Line 50"/>
          <p:cNvSpPr/>
          <p:nvPr/>
        </p:nvSpPr>
        <p:spPr>
          <a:xfrm>
            <a:off x="2590800" y="42481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1" name="Line 51"/>
          <p:cNvSpPr/>
          <p:nvPr/>
        </p:nvSpPr>
        <p:spPr>
          <a:xfrm>
            <a:off x="2590800" y="43624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2" name="Line 52"/>
          <p:cNvSpPr/>
          <p:nvPr/>
        </p:nvSpPr>
        <p:spPr>
          <a:xfrm>
            <a:off x="2590800" y="44767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2590489" y="4826318"/>
            <a:ext cx="68642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封测 IC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547521" y="50953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半导体后端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2098965" y="532399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先进封装 CoWoS 供不应求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2351722" y="551449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国产替代持续推进</a:t>
            </a:r>
          </a:p>
        </p:txBody>
      </p:sp>
      <p:sp>
        <p:nvSpPr>
          <p:cNvPr id="57" name="Rectangle 57"/>
          <p:cNvSpPr/>
          <p:nvPr/>
        </p:nvSpPr>
        <p:spPr>
          <a:xfrm>
            <a:off x="4676775" y="3714750"/>
            <a:ext cx="28384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8" name="Rectangle 58"/>
          <p:cNvSpPr/>
          <p:nvPr/>
        </p:nvSpPr>
        <p:spPr>
          <a:xfrm>
            <a:off x="4676775" y="3714750"/>
            <a:ext cx="2838450" cy="571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9" name="Rectangle 59"/>
          <p:cNvSpPr/>
          <p:nvPr/>
        </p:nvSpPr>
        <p:spPr>
          <a:xfrm>
            <a:off x="5524500" y="3981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A9E6A">
              <a:alpha val="10000"/>
            </a:srgbClr>
          </a:solidFill>
          <a:ln>
            <a:noFill/>
          </a:ln>
        </p:spPr>
      </p:sp>
      <p:sp>
        <p:nvSpPr>
          <p:cNvPr id="60" name="Polygon 60"/>
          <p:cNvSpPr/>
          <p:nvPr/>
        </p:nvSpPr>
        <p:spPr>
          <a:xfrm>
            <a:off x="5810250" y="40767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381000" y="257175"/>
                </a:lnTo>
                <a:lnTo>
                  <a:pt x="190500" y="381000"/>
                </a:lnTo>
                <a:lnTo>
                  <a:pt x="0" y="257175"/>
                </a:lnTo>
                <a:close/>
              </a:path>
            </a:pathLst>
          </a:custGeom>
          <a:noFill/>
          <a:ln w="23812">
            <a:solidFill>
              <a:srgbClr val="3A9E6A"/>
            </a:solidFill>
          </a:ln>
        </p:spPr>
      </p:sp>
      <p:sp>
        <p:nvSpPr>
          <p:cNvPr id="61" name="Polygon 61"/>
          <p:cNvSpPr/>
          <p:nvPr/>
        </p:nvSpPr>
        <p:spPr>
          <a:xfrm>
            <a:off x="5857875" y="419100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lnTo>
                  <a:pt x="285750" y="190500"/>
                </a:lnTo>
                <a:lnTo>
                  <a:pt x="142875" y="285750"/>
                </a:lnTo>
                <a:lnTo>
                  <a:pt x="0" y="190500"/>
                </a:lnTo>
                <a:close/>
              </a:path>
            </a:pathLst>
          </a:custGeom>
          <a:solidFill>
            <a:srgbClr val="3A9E6A">
              <a:alpha val="30000"/>
            </a:srgbClr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5664803" y="48263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矿产资源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612634" y="5095399"/>
            <a:ext cx="9667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铜 / 锂 / 稀土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421463" y="5323999"/>
            <a:ext cx="13490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新能源 + AI 推动需求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442823" y="551449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供应链地缘战略资源</a:t>
            </a:r>
          </a:p>
        </p:txBody>
      </p:sp>
      <p:sp>
        <p:nvSpPr>
          <p:cNvPr id="66" name="Rectangle 66"/>
          <p:cNvSpPr/>
          <p:nvPr/>
        </p:nvSpPr>
        <p:spPr>
          <a:xfrm>
            <a:off x="7839075" y="3714750"/>
            <a:ext cx="28384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67" name="Rectangle 67"/>
          <p:cNvSpPr/>
          <p:nvPr/>
        </p:nvSpPr>
        <p:spPr>
          <a:xfrm>
            <a:off x="7839075" y="3714750"/>
            <a:ext cx="2838450" cy="57150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68" name="Rectangle 68"/>
          <p:cNvSpPr/>
          <p:nvPr/>
        </p:nvSpPr>
        <p:spPr>
          <a:xfrm>
            <a:off x="8686800" y="3981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9E9E9E">
              <a:alpha val="10000"/>
            </a:srgbClr>
          </a:solidFill>
          <a:ln>
            <a:noFill/>
          </a:ln>
        </p:spPr>
      </p:sp>
      <p:sp>
        <p:nvSpPr>
          <p:cNvPr id="69" name="Rectangle 69"/>
          <p:cNvSpPr/>
          <p:nvPr/>
        </p:nvSpPr>
        <p:spPr>
          <a:xfrm>
            <a:off x="8877300" y="4171950"/>
            <a:ext cx="571500" cy="476250"/>
          </a:xfrm>
          <a:prstGeom prst="roundRect">
            <a:avLst>
              <a:gd name="adj" fmla="val 6000"/>
            </a:avLst>
          </a:prstGeom>
          <a:noFill/>
          <a:ln w="23812">
            <a:solidFill>
              <a:srgbClr val="9E9E9E"/>
            </a:solidFill>
          </a:ln>
        </p:spPr>
      </p:sp>
      <p:sp>
        <p:nvSpPr>
          <p:cNvPr id="70" name="Rectangle 70"/>
          <p:cNvSpPr/>
          <p:nvPr/>
        </p:nvSpPr>
        <p:spPr>
          <a:xfrm>
            <a:off x="8943975" y="4229100"/>
            <a:ext cx="95250" cy="114300"/>
          </a:xfrm>
          <a:prstGeom prst="roundRect">
            <a:avLst>
              <a:gd name="adj" fmla="val 10000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</p:sp>
      <p:sp>
        <p:nvSpPr>
          <p:cNvPr id="71" name="Rectangle 71"/>
          <p:cNvSpPr/>
          <p:nvPr/>
        </p:nvSpPr>
        <p:spPr>
          <a:xfrm>
            <a:off x="9115425" y="4229100"/>
            <a:ext cx="95250" cy="114300"/>
          </a:xfrm>
          <a:prstGeom prst="roundRect">
            <a:avLst>
              <a:gd name="adj" fmla="val 10000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</p:sp>
      <p:sp>
        <p:nvSpPr>
          <p:cNvPr id="72" name="Rectangle 72"/>
          <p:cNvSpPr/>
          <p:nvPr/>
        </p:nvSpPr>
        <p:spPr>
          <a:xfrm>
            <a:off x="9029700" y="4457700"/>
            <a:ext cx="114300" cy="171450"/>
          </a:xfrm>
          <a:prstGeom prst="roundRect">
            <a:avLst>
              <a:gd name="adj" fmla="val 8333"/>
            </a:avLst>
          </a:prstGeom>
          <a:solidFill>
            <a:srgbClr val="9E9E9E">
              <a:alpha val="80000"/>
            </a:srgbClr>
          </a:solidFill>
          <a:ln>
            <a:noFill/>
          </a:ln>
        </p:spPr>
      </p:sp>
      <p:sp>
        <p:nvSpPr>
          <p:cNvPr id="73" name="TextBox 73"/>
          <p:cNvSpPr txBox="1"/>
          <p:nvPr/>
        </p:nvSpPr>
        <p:spPr>
          <a:xfrm>
            <a:off x="8723590" y="48263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房地产周期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946880" y="509539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困境反转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533924" y="5323999"/>
            <a:ext cx="14487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政策刺激驱动估值修复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605123" y="551449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选龙头等待困境反转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06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93370"/>
            <a:ext cx="263728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九大翻倍股特征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78656"/>
            <a:ext cx="40458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价值低估 + 催化剂确定 + 技术突破口 — 三重共振才出手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00965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00965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762000" y="1295400"/>
            <a:ext cx="533400" cy="5334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38161" y="14506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$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84008" y="127206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价值低估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87818" y="1513999"/>
            <a:ext cx="14451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PEG &lt; 1，PE 低于行业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87818" y="1704499"/>
            <a:ext cx="18759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市场尚未充分定价的优质公司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23900" y="22288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452705" y="2323624"/>
            <a:ext cx="18189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安全边际充足才有上涨空间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43400" y="100965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4343400" y="100965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4533900" y="1295400"/>
            <a:ext cx="533400" cy="5334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19" name="Polygon 19"/>
          <p:cNvSpPr/>
          <p:nvPr/>
        </p:nvSpPr>
        <p:spPr>
          <a:xfrm>
            <a:off x="4724400" y="1409700"/>
            <a:ext cx="152400" cy="228600"/>
          </a:xfrm>
          <a:custGeom>
            <a:avLst/>
            <a:gdLst/>
            <a:ahLst/>
            <a:cxnLst/>
            <a:rect l="l" t="t" r="r" b="b"/>
            <a:pathLst>
              <a:path w="152400" h="228600">
                <a:moveTo>
                  <a:pt x="76200" y="0"/>
                </a:moveTo>
                <a:lnTo>
                  <a:pt x="152400" y="228600"/>
                </a:lnTo>
                <a:lnTo>
                  <a:pt x="76200" y="190500"/>
                </a:lnTo>
                <a:lnTo>
                  <a:pt x="0" y="228600"/>
                </a:lnTo>
                <a:close/>
              </a:path>
            </a:pathLst>
          </a:custGeom>
          <a:solidFill>
            <a:srgbClr val="3D7DE4">
              <a:alpha val="70000"/>
            </a:srgbClr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5355908" y="12720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催化剂确定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59718" y="1513999"/>
            <a:ext cx="15648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订单 / 政策 / 业绩拐点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59718" y="1704499"/>
            <a:ext cx="18759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有明确事件驱动，而非靠猜测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495800" y="22288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224605" y="2323624"/>
            <a:ext cx="18189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时间窗口内有具体触发事件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115300" y="100965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6" name="Rectangle 26"/>
          <p:cNvSpPr/>
          <p:nvPr/>
        </p:nvSpPr>
        <p:spPr>
          <a:xfrm>
            <a:off x="8115300" y="100965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27" name="Ellipse 27"/>
          <p:cNvSpPr/>
          <p:nvPr/>
        </p:nvSpPr>
        <p:spPr>
          <a:xfrm>
            <a:off x="8305800" y="1295400"/>
            <a:ext cx="533400" cy="5334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28" name="Polyline 28"/>
          <p:cNvSpPr/>
          <p:nvPr/>
        </p:nvSpPr>
        <p:spPr>
          <a:xfrm>
            <a:off x="8439150" y="1447800"/>
            <a:ext cx="323850" cy="247650"/>
          </a:xfrm>
          <a:custGeom>
            <a:avLst/>
            <a:gdLst/>
            <a:ahLst/>
            <a:cxnLst/>
            <a:rect l="l" t="t" r="r" b="b"/>
            <a:pathLst>
              <a:path w="323850" h="247650">
                <a:moveTo>
                  <a:pt x="0" y="247650"/>
                </a:moveTo>
                <a:lnTo>
                  <a:pt x="95250" y="123825"/>
                </a:lnTo>
                <a:lnTo>
                  <a:pt x="209550" y="190500"/>
                </a:lnTo>
                <a:lnTo>
                  <a:pt x="323850" y="0"/>
                </a:lnTo>
              </a:path>
            </a:pathLst>
          </a:custGeom>
          <a:noFill/>
          <a:ln w="23812" cap="rnd">
            <a:solidFill>
              <a:srgbClr val="3A9E6A"/>
            </a:solidFill>
            <a:round/>
          </a:ln>
        </p:spPr>
      </p:sp>
      <p:sp>
        <p:nvSpPr>
          <p:cNvPr id="29" name="Polygon 29"/>
          <p:cNvSpPr/>
          <p:nvPr/>
        </p:nvSpPr>
        <p:spPr>
          <a:xfrm>
            <a:off x="8705850" y="1409700"/>
            <a:ext cx="95250" cy="114300"/>
          </a:xfrm>
          <a:custGeom>
            <a:avLst/>
            <a:gdLst/>
            <a:ahLst/>
            <a:cxnLst/>
            <a:rect l="l" t="t" r="r" b="b"/>
            <a:pathLst>
              <a:path w="95250" h="114300">
                <a:moveTo>
                  <a:pt x="0" y="0"/>
                </a:moveTo>
                <a:lnTo>
                  <a:pt x="95250" y="38100"/>
                </a:lnTo>
                <a:lnTo>
                  <a:pt x="3810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127808" y="12720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技术突破口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31618" y="1513999"/>
            <a:ext cx="120596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Stage 2 启动信号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31618" y="1704499"/>
            <a:ext cx="205394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50MA 向上穿越 200MA 确认趋势</a:t>
            </a:r>
          </a:p>
        </p:txBody>
      </p:sp>
      <p:sp>
        <p:nvSpPr>
          <p:cNvPr id="33" name="Rectangle 33"/>
          <p:cNvSpPr/>
          <p:nvPr/>
        </p:nvSpPr>
        <p:spPr>
          <a:xfrm>
            <a:off x="8267700" y="22288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8925484" y="2323624"/>
            <a:ext cx="19610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VCP / 杯柄突破 + 成交量放大</a:t>
            </a:r>
          </a:p>
        </p:txBody>
      </p:sp>
      <p:sp>
        <p:nvSpPr>
          <p:cNvPr id="35" name="Rectangle 35"/>
          <p:cNvSpPr/>
          <p:nvPr/>
        </p:nvSpPr>
        <p:spPr>
          <a:xfrm>
            <a:off x="571500" y="2847975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571500" y="2847975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7" name="Ellipse 37"/>
          <p:cNvSpPr/>
          <p:nvPr/>
        </p:nvSpPr>
        <p:spPr>
          <a:xfrm>
            <a:off x="762000" y="3133725"/>
            <a:ext cx="533400" cy="5334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876300" y="3276600"/>
            <a:ext cx="304800" cy="247650"/>
          </a:xfrm>
          <a:prstGeom prst="roundRect">
            <a:avLst>
              <a:gd name="adj" fmla="val 7692"/>
            </a:avLst>
          </a:prstGeom>
          <a:noFill/>
          <a:ln w="19050">
            <a:solidFill>
              <a:srgbClr val="C96133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923925" y="3333750"/>
            <a:ext cx="57150" cy="76200"/>
          </a:xfrm>
          <a:prstGeom prst="roundRect">
            <a:avLst>
              <a:gd name="adj" fmla="val 16667"/>
            </a:avLst>
          </a:pr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1057275" y="3333750"/>
            <a:ext cx="57150" cy="76200"/>
          </a:xfrm>
          <a:prstGeom prst="roundRect">
            <a:avLst>
              <a:gd name="adj" fmla="val 16667"/>
            </a:avLst>
          </a:prstGeom>
          <a:solidFill>
            <a:srgbClr val="C96133">
              <a:alpha val="50000"/>
            </a:srgbClr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1584008" y="3110389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机构建仓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587818" y="3352324"/>
            <a:ext cx="1071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大单净买入放量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587818" y="3542824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聪明钱在入场，跟对资金流</a:t>
            </a:r>
          </a:p>
        </p:txBody>
      </p:sp>
      <p:sp>
        <p:nvSpPr>
          <p:cNvPr id="44" name="Rectangle 44"/>
          <p:cNvSpPr/>
          <p:nvPr/>
        </p:nvSpPr>
        <p:spPr>
          <a:xfrm>
            <a:off x="723900" y="4067175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1441491" y="4161949"/>
            <a:ext cx="18414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异动量 + 连续净流入为信号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343400" y="2847975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4343400" y="2847975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8" name="Ellipse 48"/>
          <p:cNvSpPr/>
          <p:nvPr/>
        </p:nvSpPr>
        <p:spPr>
          <a:xfrm>
            <a:off x="4533900" y="3133725"/>
            <a:ext cx="533400" cy="5334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49" name="Polygon 49"/>
          <p:cNvSpPr/>
          <p:nvPr/>
        </p:nvSpPr>
        <p:spPr>
          <a:xfrm>
            <a:off x="4629150" y="3181350"/>
            <a:ext cx="342900" cy="323850"/>
          </a:xfrm>
          <a:custGeom>
            <a:avLst/>
            <a:gdLst/>
            <a:ahLst/>
            <a:cxnLst/>
            <a:rect l="l" t="t" r="r" b="b"/>
            <a:pathLst>
              <a:path w="342900" h="323850">
                <a:moveTo>
                  <a:pt x="171450" y="0"/>
                </a:moveTo>
                <a:lnTo>
                  <a:pt x="209550" y="123825"/>
                </a:lnTo>
                <a:lnTo>
                  <a:pt x="342900" y="123825"/>
                </a:lnTo>
                <a:lnTo>
                  <a:pt x="238125" y="200025"/>
                </a:lnTo>
                <a:lnTo>
                  <a:pt x="276225" y="323850"/>
                </a:lnTo>
                <a:lnTo>
                  <a:pt x="171450" y="247650"/>
                </a:lnTo>
                <a:lnTo>
                  <a:pt x="66675" y="323850"/>
                </a:lnTo>
                <a:lnTo>
                  <a:pt x="104775" y="200025"/>
                </a:lnTo>
                <a:lnTo>
                  <a:pt x="0" y="123825"/>
                </a:lnTo>
                <a:lnTo>
                  <a:pt x="133350" y="123825"/>
                </a:lnTo>
                <a:close/>
              </a:path>
            </a:pathLst>
          </a:custGeom>
          <a:solidFill>
            <a:srgbClr val="3D7DE4">
              <a:alpha val="70000"/>
            </a:srgbClr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5355908" y="3110389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行业龙头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359718" y="3352324"/>
            <a:ext cx="12433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市占率第一 / 第二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59718" y="3542824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护城河宽，定价权强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495800" y="4067175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5149846" y="4161949"/>
            <a:ext cx="196850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行业出现景气，龙头最先受益</a:t>
            </a:r>
          </a:p>
        </p:txBody>
      </p:sp>
      <p:sp>
        <p:nvSpPr>
          <p:cNvPr id="55" name="Rectangle 55"/>
          <p:cNvSpPr/>
          <p:nvPr/>
        </p:nvSpPr>
        <p:spPr>
          <a:xfrm>
            <a:off x="8115300" y="2847975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6" name="Rectangle 56"/>
          <p:cNvSpPr/>
          <p:nvPr/>
        </p:nvSpPr>
        <p:spPr>
          <a:xfrm>
            <a:off x="8115300" y="2847975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7" name="Ellipse 57"/>
          <p:cNvSpPr/>
          <p:nvPr/>
        </p:nvSpPr>
        <p:spPr>
          <a:xfrm>
            <a:off x="8305800" y="3133725"/>
            <a:ext cx="533400" cy="5334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58" name="Ellipse 58"/>
          <p:cNvSpPr/>
          <p:nvPr/>
        </p:nvSpPr>
        <p:spPr>
          <a:xfrm>
            <a:off x="8420100" y="3248025"/>
            <a:ext cx="304800" cy="304800"/>
          </a:xfrm>
          <a:prstGeom prst="ellipse">
            <a:avLst/>
          </a:prstGeom>
          <a:noFill/>
          <a:ln w="23812">
            <a:solidFill>
              <a:srgbClr val="3A9E6A"/>
            </a:solidFill>
          </a:ln>
        </p:spPr>
      </p:sp>
      <p:sp>
        <p:nvSpPr>
          <p:cNvPr id="59" name="Polyline 59"/>
          <p:cNvSpPr/>
          <p:nvPr/>
        </p:nvSpPr>
        <p:spPr>
          <a:xfrm>
            <a:off x="8486775" y="3333750"/>
            <a:ext cx="180975" cy="123825"/>
          </a:xfrm>
          <a:custGeom>
            <a:avLst/>
            <a:gdLst/>
            <a:ahLst/>
            <a:cxnLst/>
            <a:rect l="l" t="t" r="r" b="b"/>
            <a:pathLst>
              <a:path w="180975" h="123825">
                <a:moveTo>
                  <a:pt x="0" y="66675"/>
                </a:moveTo>
                <a:lnTo>
                  <a:pt x="57150" y="123825"/>
                </a:lnTo>
                <a:lnTo>
                  <a:pt x="180975" y="0"/>
                </a:lnTo>
              </a:path>
            </a:pathLst>
          </a:custGeom>
          <a:noFill/>
          <a:ln w="23812" cap="rnd">
            <a:solidFill>
              <a:srgbClr val="3A9E6A"/>
            </a:solidFill>
            <a:round/>
          </a:ln>
        </p:spPr>
      </p:sp>
      <p:sp>
        <p:nvSpPr>
          <p:cNvPr id="60" name="TextBox 60"/>
          <p:cNvSpPr txBox="1"/>
          <p:nvPr/>
        </p:nvSpPr>
        <p:spPr>
          <a:xfrm>
            <a:off x="9127808" y="3110389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资产负债健康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131618" y="3352324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低负债率，高自由现金流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131618" y="3542824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不靠借债维持增长</a:t>
            </a:r>
          </a:p>
        </p:txBody>
      </p:sp>
      <p:sp>
        <p:nvSpPr>
          <p:cNvPr id="63" name="Rectangle 63"/>
          <p:cNvSpPr/>
          <p:nvPr/>
        </p:nvSpPr>
        <p:spPr>
          <a:xfrm>
            <a:off x="8267700" y="4067175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8764751" y="4161949"/>
            <a:ext cx="22824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FCF 持续正向，负债率 &lt; 行业均值</a:t>
            </a:r>
          </a:p>
        </p:txBody>
      </p:sp>
      <p:sp>
        <p:nvSpPr>
          <p:cNvPr id="65" name="Rectangle 65"/>
          <p:cNvSpPr/>
          <p:nvPr/>
        </p:nvSpPr>
        <p:spPr>
          <a:xfrm>
            <a:off x="571500" y="468630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66" name="Rectangle 66"/>
          <p:cNvSpPr/>
          <p:nvPr/>
        </p:nvSpPr>
        <p:spPr>
          <a:xfrm>
            <a:off x="571500" y="468630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67" name="Ellipse 67"/>
          <p:cNvSpPr/>
          <p:nvPr/>
        </p:nvSpPr>
        <p:spPr>
          <a:xfrm>
            <a:off x="762000" y="4972050"/>
            <a:ext cx="533400" cy="533400"/>
          </a:xfrm>
          <a:prstGeom prst="ellipse">
            <a:avLst/>
          </a:prstGeom>
          <a:solidFill>
            <a:srgbClr val="9E9E9E">
              <a:alpha val="12000"/>
            </a:srgbClr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941475" y="5127308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✎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584008" y="494871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管理层可信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587818" y="5190649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历史兑现承诺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587818" y="538114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说到做到，股权激励合理</a:t>
            </a:r>
          </a:p>
        </p:txBody>
      </p:sp>
      <p:sp>
        <p:nvSpPr>
          <p:cNvPr id="72" name="Rectangle 72"/>
          <p:cNvSpPr/>
          <p:nvPr/>
        </p:nvSpPr>
        <p:spPr>
          <a:xfrm>
            <a:off x="723900" y="58864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5F5F5"/>
          </a:solidFill>
          <a:ln>
            <a:noFill/>
          </a:ln>
        </p:spPr>
      </p:sp>
      <p:sp>
        <p:nvSpPr>
          <p:cNvPr id="73" name="TextBox 73"/>
          <p:cNvSpPr txBox="1"/>
          <p:nvPr/>
        </p:nvSpPr>
        <p:spPr>
          <a:xfrm>
            <a:off x="1516251" y="5981224"/>
            <a:ext cx="16918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过去 3 年业绩指引完成率</a:t>
            </a:r>
          </a:p>
        </p:txBody>
      </p:sp>
      <p:sp>
        <p:nvSpPr>
          <p:cNvPr id="74" name="Rectangle 74"/>
          <p:cNvSpPr/>
          <p:nvPr/>
        </p:nvSpPr>
        <p:spPr>
          <a:xfrm>
            <a:off x="4343400" y="468630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75" name="Rectangle 75"/>
          <p:cNvSpPr/>
          <p:nvPr/>
        </p:nvSpPr>
        <p:spPr>
          <a:xfrm>
            <a:off x="4343400" y="468630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76" name="Ellipse 76"/>
          <p:cNvSpPr/>
          <p:nvPr/>
        </p:nvSpPr>
        <p:spPr>
          <a:xfrm>
            <a:off x="4533900" y="4972050"/>
            <a:ext cx="533400" cy="5334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77" name="Freeform 77"/>
          <p:cNvSpPr/>
          <p:nvPr/>
        </p:nvSpPr>
        <p:spPr>
          <a:xfrm>
            <a:off x="4648200" y="5067300"/>
            <a:ext cx="304800" cy="361950"/>
          </a:xfrm>
          <a:custGeom>
            <a:avLst/>
            <a:gdLst/>
            <a:ahLst/>
            <a:cxnLst/>
            <a:rect l="l" t="t" r="r" b="b"/>
            <a:pathLst>
              <a:path w="304800" h="361950">
                <a:moveTo>
                  <a:pt x="152400" y="0"/>
                </a:moveTo>
                <a:lnTo>
                  <a:pt x="304800" y="76200"/>
                </a:lnTo>
                <a:lnTo>
                  <a:pt x="304800" y="228600"/>
                </a:lnTo>
                <a:cubicBezTo>
                  <a:pt x="304800" y="314325"/>
                  <a:pt x="152400" y="361950"/>
                  <a:pt x="152400" y="361950"/>
                </a:cubicBezTo>
                <a:cubicBezTo>
                  <a:pt x="152400" y="361950"/>
                  <a:pt x="0" y="314325"/>
                  <a:pt x="0" y="228600"/>
                </a:cubicBezTo>
                <a:lnTo>
                  <a:pt x="0" y="76200"/>
                </a:lnTo>
                <a:close/>
              </a:path>
            </a:pathLst>
          </a:custGeom>
          <a:noFill/>
          <a:ln w="23812">
            <a:solidFill>
              <a:srgbClr val="C96133"/>
            </a:solidFill>
            <a:round/>
          </a:ln>
        </p:spPr>
      </p:sp>
      <p:sp>
        <p:nvSpPr>
          <p:cNvPr id="78" name="TextBox 78"/>
          <p:cNvSpPr txBox="1"/>
          <p:nvPr/>
        </p:nvSpPr>
        <p:spPr>
          <a:xfrm>
            <a:off x="5355908" y="494871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护城河宽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5359718" y="5190649"/>
            <a:ext cx="13928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技术壁垒 / 网络效应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5359718" y="538114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竞争对手难以复制的优势</a:t>
            </a:r>
          </a:p>
        </p:txBody>
      </p:sp>
      <p:sp>
        <p:nvSpPr>
          <p:cNvPr id="81" name="Rectangle 81"/>
          <p:cNvSpPr/>
          <p:nvPr/>
        </p:nvSpPr>
        <p:spPr>
          <a:xfrm>
            <a:off x="4495800" y="58864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82" name="TextBox 82"/>
          <p:cNvSpPr txBox="1"/>
          <p:nvPr/>
        </p:nvSpPr>
        <p:spPr>
          <a:xfrm>
            <a:off x="5202178" y="5981224"/>
            <a:ext cx="186384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专利 / 客户黏性 / 规模效应</a:t>
            </a:r>
          </a:p>
        </p:txBody>
      </p:sp>
      <p:sp>
        <p:nvSpPr>
          <p:cNvPr id="83" name="Rectangle 83"/>
          <p:cNvSpPr/>
          <p:nvPr/>
        </p:nvSpPr>
        <p:spPr>
          <a:xfrm>
            <a:off x="8115300" y="468630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4" name="Rectangle 84"/>
          <p:cNvSpPr/>
          <p:nvPr/>
        </p:nvSpPr>
        <p:spPr>
          <a:xfrm>
            <a:off x="8115300" y="468630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85" name="Ellipse 85"/>
          <p:cNvSpPr/>
          <p:nvPr/>
        </p:nvSpPr>
        <p:spPr>
          <a:xfrm>
            <a:off x="8305800" y="4972050"/>
            <a:ext cx="533400" cy="5334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86" name="Rectangle 86"/>
          <p:cNvSpPr/>
          <p:nvPr/>
        </p:nvSpPr>
        <p:spPr>
          <a:xfrm>
            <a:off x="8410575" y="5086350"/>
            <a:ext cx="323850" cy="247650"/>
          </a:xfrm>
          <a:prstGeom prst="roundRect">
            <a:avLst>
              <a:gd name="adj" fmla="val 23077"/>
            </a:avLst>
          </a:prstGeom>
          <a:noFill/>
          <a:ln w="23812">
            <a:solidFill>
              <a:srgbClr val="3D7DE4"/>
            </a:solidFill>
          </a:ln>
        </p:spPr>
      </p:sp>
      <p:sp>
        <p:nvSpPr>
          <p:cNvPr id="87" name="Ellipse 87"/>
          <p:cNvSpPr/>
          <p:nvPr/>
        </p:nvSpPr>
        <p:spPr>
          <a:xfrm>
            <a:off x="8462962" y="5186362"/>
            <a:ext cx="47625" cy="476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88" name="Ellipse 88"/>
          <p:cNvSpPr/>
          <p:nvPr/>
        </p:nvSpPr>
        <p:spPr>
          <a:xfrm>
            <a:off x="8548688" y="5186362"/>
            <a:ext cx="47625" cy="476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89" name="Ellipse 89"/>
          <p:cNvSpPr/>
          <p:nvPr/>
        </p:nvSpPr>
        <p:spPr>
          <a:xfrm>
            <a:off x="8634412" y="5186362"/>
            <a:ext cx="47625" cy="476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90" name="TextBox 90"/>
          <p:cNvSpPr txBox="1"/>
          <p:nvPr/>
        </p:nvSpPr>
        <p:spPr>
          <a:xfrm>
            <a:off x="9127808" y="494871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叙事清晰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9131618" y="519064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一句话说清为什么涨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9131618" y="538114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投资论文经得起反驳</a:t>
            </a:r>
          </a:p>
        </p:txBody>
      </p:sp>
      <p:sp>
        <p:nvSpPr>
          <p:cNvPr id="93" name="Rectangle 93"/>
          <p:cNvSpPr/>
          <p:nvPr/>
        </p:nvSpPr>
        <p:spPr>
          <a:xfrm>
            <a:off x="8267700" y="58864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94" name="TextBox 94"/>
          <p:cNvSpPr txBox="1"/>
          <p:nvPr/>
        </p:nvSpPr>
        <p:spPr>
          <a:xfrm>
            <a:off x="8947912" y="5981224"/>
            <a:ext cx="191617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能告诉朋友：我买它因为...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07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5596171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SEPA — 技术面：什么时候买？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715479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Stage Analysis / EPS Acceleration / Price Action / Accumulation · /stock-entry 依据</a:t>
            </a:r>
          </a:p>
        </p:txBody>
      </p:sp>
      <p:sp>
        <p:nvSpPr>
          <p:cNvPr id="7" name="Line 7"/>
          <p:cNvSpPr/>
          <p:nvPr/>
        </p:nvSpPr>
        <p:spPr>
          <a:xfrm>
            <a:off x="1333500" y="1695450"/>
            <a:ext cx="9715500" cy="9525"/>
          </a:xfrm>
          <a:custGeom>
            <a:avLst/>
            <a:gdLst/>
            <a:ahLst/>
            <a:cxnLst/>
            <a:rect l="l" t="t" r="r" b="b"/>
            <a:pathLst>
              <a:path w="9715500" h="9525">
                <a:moveTo>
                  <a:pt x="0" y="0"/>
                </a:moveTo>
                <a:lnTo>
                  <a:pt x="9715500" y="0"/>
                </a:lnTo>
              </a:path>
            </a:pathLst>
          </a:custGeom>
          <a:noFill/>
          <a:ln w="19050">
            <a:solidFill>
              <a:srgbClr val="E0D8D0"/>
            </a:solidFill>
            <a:custDash>
              <a:ds d="400000" sp="300000"/>
            </a:custDash>
          </a:ln>
        </p:spPr>
      </p:sp>
      <p:sp>
        <p:nvSpPr>
          <p:cNvPr id="8" name="Ellipse 8"/>
          <p:cNvSpPr/>
          <p:nvPr/>
        </p:nvSpPr>
        <p:spPr>
          <a:xfrm>
            <a:off x="13906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86007" y="15935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0" name="Line 10"/>
          <p:cNvSpPr/>
          <p:nvPr/>
        </p:nvSpPr>
        <p:spPr>
          <a:xfrm>
            <a:off x="17145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11" name="Rectangle 11"/>
          <p:cNvSpPr/>
          <p:nvPr/>
        </p:nvSpPr>
        <p:spPr>
          <a:xfrm>
            <a:off x="5715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5715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121510" y="2567464"/>
            <a:ext cx="118597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Stage 2 确认</a:t>
            </a:r>
          </a:p>
        </p:txBody>
      </p:sp>
      <p:sp>
        <p:nvSpPr>
          <p:cNvPr id="14" name="Line 14"/>
          <p:cNvSpPr/>
          <p:nvPr/>
        </p:nvSpPr>
        <p:spPr>
          <a:xfrm>
            <a:off x="7239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710565" y="30108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上升趋势确立：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10565" y="3258502"/>
            <a:ext cx="9851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50MA &gt; 150MA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10565" y="3487102"/>
            <a:ext cx="106946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150MA &gt; 200MA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0565" y="371570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价格在 50MA 上方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239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4173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18105" y="569690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趋势方向确认</a:t>
            </a:r>
          </a:p>
        </p:txBody>
      </p:sp>
      <p:sp>
        <p:nvSpPr>
          <p:cNvPr id="22" name="Ellipse 22"/>
          <p:cNvSpPr/>
          <p:nvPr/>
        </p:nvSpPr>
        <p:spPr>
          <a:xfrm>
            <a:off x="38290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39927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4" name="Line 24"/>
          <p:cNvSpPr/>
          <p:nvPr/>
        </p:nvSpPr>
        <p:spPr>
          <a:xfrm>
            <a:off x="41529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25" name="Rectangle 25"/>
          <p:cNvSpPr/>
          <p:nvPr/>
        </p:nvSpPr>
        <p:spPr>
          <a:xfrm>
            <a:off x="30099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6" name="Rectangle 26"/>
          <p:cNvSpPr/>
          <p:nvPr/>
        </p:nvSpPr>
        <p:spPr>
          <a:xfrm>
            <a:off x="30099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3750547" y="2567464"/>
            <a:ext cx="8047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EPS 增速</a:t>
            </a:r>
          </a:p>
        </p:txBody>
      </p:sp>
      <p:sp>
        <p:nvSpPr>
          <p:cNvPr id="28" name="Line 28"/>
          <p:cNvSpPr/>
          <p:nvPr/>
        </p:nvSpPr>
        <p:spPr>
          <a:xfrm>
            <a:off x="31623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3148965" y="30108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盈利加速增长：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148965" y="3258502"/>
            <a:ext cx="70908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YoY ≥ 20%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48965" y="34871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连续季度加速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148965" y="37157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机构预期上调</a:t>
            </a:r>
          </a:p>
        </p:txBody>
      </p:sp>
      <p:sp>
        <p:nvSpPr>
          <p:cNvPr id="33" name="Rectangle 33"/>
          <p:cNvSpPr/>
          <p:nvPr/>
        </p:nvSpPr>
        <p:spPr>
          <a:xfrm>
            <a:off x="31623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38557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737015" y="5696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基本面动能</a:t>
            </a:r>
          </a:p>
        </p:txBody>
      </p:sp>
      <p:sp>
        <p:nvSpPr>
          <p:cNvPr id="36" name="Ellipse 36"/>
          <p:cNvSpPr/>
          <p:nvPr/>
        </p:nvSpPr>
        <p:spPr>
          <a:xfrm>
            <a:off x="62674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64311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38" name="Line 38"/>
          <p:cNvSpPr/>
          <p:nvPr/>
        </p:nvSpPr>
        <p:spPr>
          <a:xfrm>
            <a:off x="65913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39" name="Rectangle 39"/>
          <p:cNvSpPr/>
          <p:nvPr/>
        </p:nvSpPr>
        <p:spPr>
          <a:xfrm>
            <a:off x="54483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54483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184059" y="256746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趋势模板</a:t>
            </a:r>
          </a:p>
        </p:txBody>
      </p:sp>
      <p:sp>
        <p:nvSpPr>
          <p:cNvPr id="42" name="Line 42"/>
          <p:cNvSpPr/>
          <p:nvPr/>
        </p:nvSpPr>
        <p:spPr>
          <a:xfrm>
            <a:off x="56007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5587365" y="30108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8 项清单打分：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87365" y="325850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≥ 5 项通过入场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87365" y="348710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≥ 7 项强烈信号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587365" y="371570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&lt; 5 项继续等待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6007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62941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175415" y="5696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综合健康度</a:t>
            </a:r>
          </a:p>
        </p:txBody>
      </p:sp>
      <p:sp>
        <p:nvSpPr>
          <p:cNvPr id="50" name="Ellipse 50"/>
          <p:cNvSpPr/>
          <p:nvPr/>
        </p:nvSpPr>
        <p:spPr>
          <a:xfrm>
            <a:off x="87058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88695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2" name="Line 52"/>
          <p:cNvSpPr/>
          <p:nvPr/>
        </p:nvSpPr>
        <p:spPr>
          <a:xfrm>
            <a:off x="90297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53" name="Rectangle 53"/>
          <p:cNvSpPr/>
          <p:nvPr/>
        </p:nvSpPr>
        <p:spPr>
          <a:xfrm>
            <a:off x="78867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4" name="Rectangle 54"/>
          <p:cNvSpPr/>
          <p:nvPr/>
        </p:nvSpPr>
        <p:spPr>
          <a:xfrm>
            <a:off x="78867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8524696" y="25674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轴心点识别</a:t>
            </a:r>
          </a:p>
        </p:txBody>
      </p:sp>
      <p:sp>
        <p:nvSpPr>
          <p:cNvPr id="56" name="Line 56"/>
          <p:cNvSpPr/>
          <p:nvPr/>
        </p:nvSpPr>
        <p:spPr>
          <a:xfrm>
            <a:off x="80391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8025765" y="30108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形态选择：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025765" y="3258502"/>
            <a:ext cx="9391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VCP 缩量整理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025765" y="34871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杯柄突破点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025765" y="371570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平台整理后突破</a:t>
            </a:r>
          </a:p>
        </p:txBody>
      </p:sp>
      <p:sp>
        <p:nvSpPr>
          <p:cNvPr id="61" name="Rectangle 61"/>
          <p:cNvSpPr/>
          <p:nvPr/>
        </p:nvSpPr>
        <p:spPr>
          <a:xfrm>
            <a:off x="80391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87325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613815" y="5696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精确入场点</a:t>
            </a:r>
          </a:p>
        </p:txBody>
      </p:sp>
      <p:sp>
        <p:nvSpPr>
          <p:cNvPr id="64" name="Ellipse 64"/>
          <p:cNvSpPr/>
          <p:nvPr/>
        </p:nvSpPr>
        <p:spPr>
          <a:xfrm>
            <a:off x="10725150" y="1371600"/>
            <a:ext cx="647700" cy="647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108888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6" name="Line 66"/>
          <p:cNvSpPr/>
          <p:nvPr/>
        </p:nvSpPr>
        <p:spPr>
          <a:xfrm>
            <a:off x="110490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C96133"/>
            </a:solidFill>
            <a:custDash>
              <a:ds d="200000" sp="150000"/>
            </a:custDash>
          </a:ln>
        </p:spPr>
      </p:sp>
      <p:sp>
        <p:nvSpPr>
          <p:cNvPr id="67" name="Rectangle 67"/>
          <p:cNvSpPr/>
          <p:nvPr/>
        </p:nvSpPr>
        <p:spPr>
          <a:xfrm>
            <a:off x="9944100" y="2266950"/>
            <a:ext cx="1905000" cy="3810000"/>
          </a:xfrm>
          <a:prstGeom prst="roundRect">
            <a:avLst>
              <a:gd name="adj" fmla="val 6000"/>
            </a:avLst>
          </a:prstGeom>
          <a:solidFill>
            <a:srgbClr val="FFF8F5"/>
          </a:solidFill>
          <a:ln w="14288">
            <a:solidFill>
              <a:srgbClr val="C96133"/>
            </a:solidFill>
          </a:ln>
        </p:spPr>
      </p:sp>
      <p:sp>
        <p:nvSpPr>
          <p:cNvPr id="68" name="Rectangle 68"/>
          <p:cNvSpPr/>
          <p:nvPr/>
        </p:nvSpPr>
        <p:spPr>
          <a:xfrm>
            <a:off x="9944100" y="2266950"/>
            <a:ext cx="19050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9" name="TextBox 69"/>
          <p:cNvSpPr txBox="1"/>
          <p:nvPr/>
        </p:nvSpPr>
        <p:spPr>
          <a:xfrm>
            <a:off x="10489359" y="256746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突破确认</a:t>
            </a:r>
          </a:p>
        </p:txBody>
      </p:sp>
      <p:sp>
        <p:nvSpPr>
          <p:cNvPr id="70" name="Line 70"/>
          <p:cNvSpPr/>
          <p:nvPr/>
        </p:nvSpPr>
        <p:spPr>
          <a:xfrm>
            <a:off x="10096500" y="2838450"/>
            <a:ext cx="1600200" cy="9525"/>
          </a:xfrm>
          <a:custGeom>
            <a:avLst/>
            <a:gdLst/>
            <a:ahLst/>
            <a:cxnLst/>
            <a:rect l="l" t="t" r="r" b="b"/>
            <a:pathLst>
              <a:path w="1600200" h="9525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1" name="TextBox 71"/>
          <p:cNvSpPr txBox="1"/>
          <p:nvPr/>
        </p:nvSpPr>
        <p:spPr>
          <a:xfrm>
            <a:off x="10083165" y="30108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入场触发：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0083165" y="3258502"/>
            <a:ext cx="100812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量 ≥ 1.5× 均量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083165" y="3487102"/>
            <a:ext cx="11768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轴心点上方 0-3%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0083165" y="3715702"/>
            <a:ext cx="7029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R/R ≥ 2:1</a:t>
            </a:r>
          </a:p>
        </p:txBody>
      </p:sp>
      <p:sp>
        <p:nvSpPr>
          <p:cNvPr id="75" name="Rectangle 75"/>
          <p:cNvSpPr/>
          <p:nvPr/>
        </p:nvSpPr>
        <p:spPr>
          <a:xfrm>
            <a:off x="10096500" y="5391150"/>
            <a:ext cx="1600200" cy="533400"/>
          </a:xfrm>
          <a:prstGeom prst="roundRect">
            <a:avLst>
              <a:gd name="adj" fmla="val 14286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6" name="TextBox 76"/>
          <p:cNvSpPr txBox="1"/>
          <p:nvPr/>
        </p:nvSpPr>
        <p:spPr>
          <a:xfrm>
            <a:off x="10741819" y="55144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触发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0561225" y="56969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买入执行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08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425050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BAIT — 基本面评分系统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699706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Business Quality · Acceleration · Industry Tailwind · Timing · /stock-analyze 依据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43000"/>
            <a:ext cx="5429250" cy="2571750"/>
          </a:xfrm>
          <a:prstGeom prst="roundRect">
            <a:avLst>
              <a:gd name="adj" fmla="val 5185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762000" y="1028700"/>
            <a:ext cx="1524000" cy="342900"/>
          </a:xfrm>
          <a:prstGeom prst="roundRect">
            <a:avLst>
              <a:gd name="adj" fmla="val 22222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950563" y="1110139"/>
            <a:ext cx="11468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B · 商业质量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23900" y="1314450"/>
            <a:ext cx="5124450" cy="2266950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74865" y="1672590"/>
            <a:ext cx="526771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800" b="1" dirty="0">
                <a:solidFill>
                  <a:srgbClr val="C96133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B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83055" y="1616392"/>
            <a:ext cx="169049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Business Quality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85912" y="1878806"/>
            <a:ext cx="23781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护城河宽度 · 行业地位 · 定价权</a:t>
            </a:r>
          </a:p>
        </p:txBody>
      </p:sp>
      <p:sp>
        <p:nvSpPr>
          <p:cNvPr id="14" name="Line 14"/>
          <p:cNvSpPr/>
          <p:nvPr/>
        </p:nvSpPr>
        <p:spPr>
          <a:xfrm>
            <a:off x="1600200" y="215265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586865" y="2306002"/>
            <a:ext cx="23882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市占率第一/第二，竞争格局稳定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86865" y="251555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毛利率持续高于行业均值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6865" y="2725102"/>
            <a:ext cx="20585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ROE &gt; 15%，资本回报率优秀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87818" y="3171349"/>
            <a:ext cx="19834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评分标准：1-10分，&gt;7 才考虑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191250" y="1143000"/>
            <a:ext cx="5429250" cy="2571750"/>
          </a:xfrm>
          <a:prstGeom prst="roundRect">
            <a:avLst>
              <a:gd name="adj" fmla="val 5185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6381750" y="1028700"/>
            <a:ext cx="1524000" cy="342900"/>
          </a:xfrm>
          <a:prstGeom prst="roundRect">
            <a:avLst>
              <a:gd name="adj" fmla="val 22222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6570313" y="1110139"/>
            <a:ext cx="11468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 · 增长加速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343650" y="1314450"/>
            <a:ext cx="5124450" cy="2266950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594615" y="1672590"/>
            <a:ext cx="526771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800" b="1" dirty="0">
                <a:solidFill>
                  <a:srgbClr val="3D7DE4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202805" y="1616392"/>
            <a:ext cx="129714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Acceleration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05662" y="1878806"/>
            <a:ext cx="18605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营收 / 利润增速环比加速</a:t>
            </a:r>
          </a:p>
        </p:txBody>
      </p:sp>
      <p:sp>
        <p:nvSpPr>
          <p:cNvPr id="26" name="Line 26"/>
          <p:cNvSpPr/>
          <p:nvPr/>
        </p:nvSpPr>
        <p:spPr>
          <a:xfrm>
            <a:off x="7219950" y="215265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206615" y="2306002"/>
            <a:ext cx="197424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连续 2 季度 EPS YoY ≥ 20%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206615" y="2515552"/>
            <a:ext cx="16905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营收增速加速，非放缓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06615" y="2725102"/>
            <a:ext cx="24266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机构预期上调，超预期比率 &gt; 60%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07568" y="3171349"/>
            <a:ext cx="226006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评分标准：1-10分，&gt;6 + 趋势向上</a:t>
            </a:r>
          </a:p>
        </p:txBody>
      </p:sp>
      <p:sp>
        <p:nvSpPr>
          <p:cNvPr id="31" name="Rectangle 31"/>
          <p:cNvSpPr/>
          <p:nvPr/>
        </p:nvSpPr>
        <p:spPr>
          <a:xfrm>
            <a:off x="571500" y="3905250"/>
            <a:ext cx="5429250" cy="2571750"/>
          </a:xfrm>
          <a:prstGeom prst="roundRect">
            <a:avLst>
              <a:gd name="adj" fmla="val 5185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762000" y="3790950"/>
            <a:ext cx="1524000" cy="342900"/>
          </a:xfrm>
          <a:prstGeom prst="roundRect">
            <a:avLst>
              <a:gd name="adj" fmla="val 22222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975003" y="3872389"/>
            <a:ext cx="109799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I · 行业顺风</a:t>
            </a:r>
          </a:p>
        </p:txBody>
      </p:sp>
      <p:sp>
        <p:nvSpPr>
          <p:cNvPr id="34" name="Rectangle 34"/>
          <p:cNvSpPr/>
          <p:nvPr/>
        </p:nvSpPr>
        <p:spPr>
          <a:xfrm>
            <a:off x="723900" y="4076700"/>
            <a:ext cx="5124450" cy="2266950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1066876" y="4434840"/>
            <a:ext cx="342748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800" b="1" dirty="0">
                <a:solidFill>
                  <a:srgbClr val="3A9E6A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I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583055" y="4378642"/>
            <a:ext cx="175260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Industry Tailwind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585912" y="4641056"/>
            <a:ext cx="20495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政策 / 科技 / 周期三重驱动</a:t>
            </a:r>
          </a:p>
        </p:txBody>
      </p:sp>
      <p:sp>
        <p:nvSpPr>
          <p:cNvPr id="38" name="Line 38"/>
          <p:cNvSpPr/>
          <p:nvPr/>
        </p:nvSpPr>
        <p:spPr>
          <a:xfrm>
            <a:off x="1600200" y="491490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1586865" y="5068252"/>
            <a:ext cx="28560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行业处于 热门赛道方法论 七大赛道之一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86865" y="5277802"/>
            <a:ext cx="146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政策/监管趋势向好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586865" y="5487352"/>
            <a:ext cx="177488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行业订单/需求可见性强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587818" y="5895499"/>
            <a:ext cx="20731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评分标准：1-10分，顺风则加分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191250" y="3905250"/>
            <a:ext cx="5429250" cy="2571750"/>
          </a:xfrm>
          <a:prstGeom prst="roundRect">
            <a:avLst>
              <a:gd name="adj" fmla="val 5185"/>
            </a:avLst>
          </a:prstGeom>
          <a:solidFill>
            <a:srgbClr val="F5F5F0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6381750" y="3790950"/>
            <a:ext cx="1524000" cy="342900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6765837" y="3872389"/>
            <a:ext cx="7558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T · 时机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343650" y="4076700"/>
            <a:ext cx="5124450" cy="2266950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594615" y="4434840"/>
            <a:ext cx="526771" cy="975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800" b="1" dirty="0">
                <a:solidFill>
                  <a:srgbClr val="5A5A5A">
                    <a:alphaMod val="12000"/>
                  </a:srgbClr>
                </a:solidFill>
                <a:latin typeface="Arial"/>
                <a:ea typeface="Microsoft YaHei"/>
                <a:cs typeface="Arial"/>
              </a:rPr>
              <a:t>T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202805" y="4378642"/>
            <a:ext cx="195963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Timing Opportunity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205662" y="4641056"/>
            <a:ext cx="16962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价值低估 + 近期催化剂</a:t>
            </a:r>
          </a:p>
        </p:txBody>
      </p:sp>
      <p:sp>
        <p:nvSpPr>
          <p:cNvPr id="50" name="Line 50"/>
          <p:cNvSpPr/>
          <p:nvPr/>
        </p:nvSpPr>
        <p:spPr>
          <a:xfrm>
            <a:off x="7219950" y="491490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7206615" y="5068252"/>
            <a:ext cx="154486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PE/PB 低于历史均值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206615" y="5277802"/>
            <a:ext cx="16675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6 个月内有明确催化剂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206615" y="5487352"/>
            <a:ext cx="20125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Stage 2 形态确认（SEPA）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207568" y="5895499"/>
            <a:ext cx="23871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四项总分 &gt; 28 / 40 才触发分析报告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09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66700"/>
            <a:ext cx="5715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74320"/>
            <a:ext cx="4771949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Moneyball — 非对称风险评估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59606"/>
            <a:ext cx="57053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上涨空间 vs 下跌风险 ≥ 2:1 才考虑入场 · /stock-entry + /stock-exit 依据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952500"/>
            <a:ext cx="5334000" cy="419100"/>
          </a:xfrm>
          <a:prstGeom prst="roundRect">
            <a:avLst>
              <a:gd name="adj" fmla="val 22727"/>
            </a:avLst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337559" y="1081564"/>
            <a:ext cx="180188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↑ 上涨空间 · UPSIDE</a:t>
            </a:r>
          </a:p>
        </p:txBody>
      </p:sp>
      <p:sp>
        <p:nvSpPr>
          <p:cNvPr id="9" name="Rectangle 9"/>
          <p:cNvSpPr/>
          <p:nvPr/>
        </p:nvSpPr>
        <p:spPr>
          <a:xfrm>
            <a:off x="6286500" y="952500"/>
            <a:ext cx="5334000" cy="419100"/>
          </a:xfrm>
          <a:prstGeom prst="roundRect">
            <a:avLst>
              <a:gd name="adj" fmla="val 22727"/>
            </a:avLst>
          </a:prstGeom>
          <a:solidFill>
            <a:srgbClr val="D44545">
              <a:alpha val="12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905916" y="1081564"/>
            <a:ext cx="20951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↓ 下跌风险 · DOWNSIDE</a:t>
            </a:r>
          </a:p>
        </p:txBody>
      </p:sp>
      <p:sp>
        <p:nvSpPr>
          <p:cNvPr id="11" name="Line 11"/>
          <p:cNvSpPr/>
          <p:nvPr/>
        </p:nvSpPr>
        <p:spPr>
          <a:xfrm>
            <a:off x="6096000" y="1476375"/>
            <a:ext cx="9525" cy="3933825"/>
          </a:xfrm>
          <a:custGeom>
            <a:avLst/>
            <a:gdLst/>
            <a:ahLst/>
            <a:cxnLst/>
            <a:rect l="l" t="t" r="r" b="b"/>
            <a:pathLst>
              <a:path w="9525" h="3933825">
                <a:moveTo>
                  <a:pt x="0" y="0"/>
                </a:moveTo>
                <a:lnTo>
                  <a:pt x="0" y="3933825"/>
                </a:lnTo>
              </a:path>
            </a:pathLst>
          </a:custGeom>
          <a:noFill/>
          <a:ln w="19050">
            <a:solidFill>
              <a:srgbClr val="E0D8D0"/>
            </a:solidFill>
            <a:custDash>
              <a:ds d="300000" sp="300000"/>
            </a:custDash>
          </a:ln>
        </p:spPr>
      </p:sp>
      <p:sp>
        <p:nvSpPr>
          <p:cNvPr id="12" name="Ellipse 12"/>
          <p:cNvSpPr/>
          <p:nvPr/>
        </p:nvSpPr>
        <p:spPr>
          <a:xfrm>
            <a:off x="5829300" y="3181350"/>
            <a:ext cx="533400" cy="533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D8D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5960265" y="3380899"/>
            <a:ext cx="271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R/R</a:t>
            </a:r>
          </a:p>
        </p:txBody>
      </p:sp>
      <p:sp>
        <p:nvSpPr>
          <p:cNvPr id="14" name="Rectangle 14"/>
          <p:cNvSpPr/>
          <p:nvPr/>
        </p:nvSpPr>
        <p:spPr>
          <a:xfrm>
            <a:off x="571500" y="15049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5" name="Line 15"/>
          <p:cNvSpPr/>
          <p:nvPr/>
        </p:nvSpPr>
        <p:spPr>
          <a:xfrm>
            <a:off x="647700" y="1695450"/>
            <a:ext cx="9525" cy="647700"/>
          </a:xfrm>
          <a:custGeom>
            <a:avLst/>
            <a:gdLst/>
            <a:ahLst/>
            <a:cxnLst/>
            <a:rect l="l" t="t" r="r" b="b"/>
            <a:pathLst>
              <a:path w="952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/>
          <a:ln w="57150" cap="rnd">
            <a:solidFill>
              <a:srgbClr val="3A9E6A"/>
            </a:solidFill>
          </a:ln>
        </p:spPr>
      </p:sp>
      <p:sp>
        <p:nvSpPr>
          <p:cNvPr id="16" name="Ellipse 16"/>
          <p:cNvSpPr/>
          <p:nvPr/>
        </p:nvSpPr>
        <p:spPr>
          <a:xfrm>
            <a:off x="819150" y="1809750"/>
            <a:ext cx="419100" cy="419100"/>
          </a:xfrm>
          <a:prstGeom prst="ellipse">
            <a:avLst/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17" name="Polyline 17"/>
          <p:cNvSpPr/>
          <p:nvPr/>
        </p:nvSpPr>
        <p:spPr>
          <a:xfrm>
            <a:off x="914400" y="1943100"/>
            <a:ext cx="247650" cy="171450"/>
          </a:xfrm>
          <a:custGeom>
            <a:avLst/>
            <a:gdLst/>
            <a:ahLst/>
            <a:cxnLst/>
            <a:rect l="l" t="t" r="r" b="b"/>
            <a:pathLst>
              <a:path w="247650" h="171450">
                <a:moveTo>
                  <a:pt x="0" y="171450"/>
                </a:moveTo>
                <a:lnTo>
                  <a:pt x="76200" y="76200"/>
                </a:lnTo>
                <a:lnTo>
                  <a:pt x="152400" y="133350"/>
                </a:lnTo>
                <a:lnTo>
                  <a:pt x="247650" y="0"/>
                </a:lnTo>
              </a:path>
            </a:pathLst>
          </a:custGeom>
          <a:noFill/>
          <a:ln w="23812" cap="rnd">
            <a:solidFill>
              <a:srgbClr val="3A9E6A"/>
            </a:solidFill>
            <a:round/>
          </a:ln>
        </p:spPr>
      </p:sp>
      <p:sp>
        <p:nvSpPr>
          <p:cNvPr id="18" name="Polygon 18"/>
          <p:cNvSpPr/>
          <p:nvPr/>
        </p:nvSpPr>
        <p:spPr>
          <a:xfrm>
            <a:off x="1123950" y="1905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76200" h="114300">
                <a:moveTo>
                  <a:pt x="0" y="0"/>
                </a:moveTo>
                <a:lnTo>
                  <a:pt x="76200" y="38100"/>
                </a:lnTo>
                <a:lnTo>
                  <a:pt x="3810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1393508" y="1748314"/>
            <a:ext cx="151837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目标一：+15–20%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96365" y="1982152"/>
            <a:ext cx="24726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到达后减仓 50%，移动止损至成本价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96365" y="219170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锁定已有收益，剩余仓位继续持有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71500" y="26479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3" name="Line 23"/>
          <p:cNvSpPr/>
          <p:nvPr/>
        </p:nvSpPr>
        <p:spPr>
          <a:xfrm>
            <a:off x="647700" y="2838450"/>
            <a:ext cx="9525" cy="647700"/>
          </a:xfrm>
          <a:custGeom>
            <a:avLst/>
            <a:gdLst/>
            <a:ahLst/>
            <a:cxnLst/>
            <a:rect l="l" t="t" r="r" b="b"/>
            <a:pathLst>
              <a:path w="952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/>
          <a:ln w="57150" cap="rnd">
            <a:solidFill>
              <a:srgbClr val="3A9E6A"/>
            </a:solidFill>
          </a:ln>
        </p:spPr>
      </p:sp>
      <p:sp>
        <p:nvSpPr>
          <p:cNvPr id="24" name="Ellipse 24"/>
          <p:cNvSpPr/>
          <p:nvPr/>
        </p:nvSpPr>
        <p:spPr>
          <a:xfrm>
            <a:off x="819150" y="2952750"/>
            <a:ext cx="419100" cy="419100"/>
          </a:xfrm>
          <a:prstGeom prst="ellipse">
            <a:avLst/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25" name="Polyline 25"/>
          <p:cNvSpPr/>
          <p:nvPr/>
        </p:nvSpPr>
        <p:spPr>
          <a:xfrm>
            <a:off x="914400" y="3086100"/>
            <a:ext cx="247650" cy="171450"/>
          </a:xfrm>
          <a:custGeom>
            <a:avLst/>
            <a:gdLst/>
            <a:ahLst/>
            <a:cxnLst/>
            <a:rect l="l" t="t" r="r" b="b"/>
            <a:pathLst>
              <a:path w="247650" h="171450">
                <a:moveTo>
                  <a:pt x="0" y="171450"/>
                </a:moveTo>
                <a:lnTo>
                  <a:pt x="76200" y="76200"/>
                </a:lnTo>
                <a:lnTo>
                  <a:pt x="152400" y="133350"/>
                </a:lnTo>
                <a:lnTo>
                  <a:pt x="247650" y="0"/>
                </a:lnTo>
              </a:path>
            </a:pathLst>
          </a:custGeom>
          <a:noFill/>
          <a:ln w="23812" cap="rnd">
            <a:solidFill>
              <a:srgbClr val="3A9E6A"/>
            </a:solidFill>
            <a:round/>
          </a:ln>
        </p:spPr>
      </p:sp>
      <p:sp>
        <p:nvSpPr>
          <p:cNvPr id="26" name="Polygon 26"/>
          <p:cNvSpPr/>
          <p:nvPr/>
        </p:nvSpPr>
        <p:spPr>
          <a:xfrm>
            <a:off x="1123950" y="3048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76200" h="114300">
                <a:moveTo>
                  <a:pt x="0" y="0"/>
                </a:moveTo>
                <a:lnTo>
                  <a:pt x="76200" y="38100"/>
                </a:lnTo>
                <a:lnTo>
                  <a:pt x="3810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393508" y="2891314"/>
            <a:ext cx="156725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目标二：+30–50%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96365" y="3125152"/>
            <a:ext cx="21659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减仓至 25%，剩余跟随趋势持有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96365" y="3334702"/>
            <a:ext cx="20509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等待 Stage 3 信号出现再清仓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71500" y="37909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31" name="Line 31"/>
          <p:cNvSpPr/>
          <p:nvPr/>
        </p:nvSpPr>
        <p:spPr>
          <a:xfrm>
            <a:off x="647700" y="3981450"/>
            <a:ext cx="9525" cy="647700"/>
          </a:xfrm>
          <a:custGeom>
            <a:avLst/>
            <a:gdLst/>
            <a:ahLst/>
            <a:cxnLst/>
            <a:rect l="l" t="t" r="r" b="b"/>
            <a:pathLst>
              <a:path w="952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/>
          <a:ln w="57150" cap="rnd">
            <a:solidFill>
              <a:srgbClr val="3A9E6A"/>
            </a:solidFill>
          </a:ln>
        </p:spPr>
      </p:sp>
      <p:sp>
        <p:nvSpPr>
          <p:cNvPr id="32" name="Ellipse 32"/>
          <p:cNvSpPr/>
          <p:nvPr/>
        </p:nvSpPr>
        <p:spPr>
          <a:xfrm>
            <a:off x="819150" y="4095750"/>
            <a:ext cx="419100" cy="419100"/>
          </a:xfrm>
          <a:prstGeom prst="ellipse">
            <a:avLst/>
          </a:prstGeom>
          <a:solidFill>
            <a:srgbClr val="3A9E6A">
              <a:alpha val="25000"/>
            </a:srgbClr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866637" y="4216718"/>
            <a:ext cx="3241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2:1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93508" y="4015264"/>
            <a:ext cx="14988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R/R ≥ 2:1 才入场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96365" y="4249102"/>
            <a:ext cx="30860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计算：(目标1 - 入场价) ÷ (入场价 - 止损位)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96365" y="44586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低于 2:1 不入场，等待更好的时机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286500" y="15049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8" name="Line 38"/>
          <p:cNvSpPr/>
          <p:nvPr/>
        </p:nvSpPr>
        <p:spPr>
          <a:xfrm>
            <a:off x="11544300" y="1695450"/>
            <a:ext cx="9525" cy="647700"/>
          </a:xfrm>
          <a:custGeom>
            <a:avLst/>
            <a:gdLst/>
            <a:ahLst/>
            <a:cxnLst/>
            <a:rect l="l" t="t" r="r" b="b"/>
            <a:pathLst>
              <a:path w="952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/>
          <a:ln w="57150" cap="rnd">
            <a:solidFill>
              <a:srgbClr val="D44545"/>
            </a:solidFill>
          </a:ln>
        </p:spPr>
      </p:sp>
      <p:sp>
        <p:nvSpPr>
          <p:cNvPr id="39" name="Ellipse 39"/>
          <p:cNvSpPr/>
          <p:nvPr/>
        </p:nvSpPr>
        <p:spPr>
          <a:xfrm>
            <a:off x="10953750" y="1809750"/>
            <a:ext cx="419100" cy="419100"/>
          </a:xfrm>
          <a:prstGeom prst="ellipse">
            <a:avLst/>
          </a:prstGeom>
          <a:solidFill>
            <a:srgbClr val="D44545">
              <a:alpha val="15000"/>
            </a:srgbClr>
          </a:solidFill>
          <a:ln>
            <a:noFill/>
          </a:ln>
        </p:spPr>
      </p:sp>
      <p:sp>
        <p:nvSpPr>
          <p:cNvPr id="40" name="Line 40"/>
          <p:cNvSpPr/>
          <p:nvPr/>
        </p:nvSpPr>
        <p:spPr>
          <a:xfrm>
            <a:off x="11068050" y="19240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3812" cap="rnd">
            <a:solidFill>
              <a:srgbClr val="D44545"/>
            </a:solidFill>
          </a:ln>
        </p:spPr>
      </p:sp>
      <p:sp>
        <p:nvSpPr>
          <p:cNvPr id="41" name="Line 41"/>
          <p:cNvSpPr/>
          <p:nvPr/>
        </p:nvSpPr>
        <p:spPr>
          <a:xfrm>
            <a:off x="11068050" y="19240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noFill/>
          <a:ln w="23812" cap="rnd">
            <a:solidFill>
              <a:srgbClr val="D44545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9231743" y="1748314"/>
            <a:ext cx="154769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轴心止损：-5–8%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963358" y="1982152"/>
            <a:ext cx="18132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止损位 = 轴心点下方 5–8%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216390" y="219170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或近期关键支撑位下方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286500" y="26479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6" name="Line 46"/>
          <p:cNvSpPr/>
          <p:nvPr/>
        </p:nvSpPr>
        <p:spPr>
          <a:xfrm>
            <a:off x="11544300" y="2838450"/>
            <a:ext cx="9525" cy="647700"/>
          </a:xfrm>
          <a:custGeom>
            <a:avLst/>
            <a:gdLst/>
            <a:ahLst/>
            <a:cxnLst/>
            <a:rect l="l" t="t" r="r" b="b"/>
            <a:pathLst>
              <a:path w="952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/>
          <a:ln w="57150" cap="rnd">
            <a:solidFill>
              <a:srgbClr val="D44545"/>
            </a:solidFill>
          </a:ln>
        </p:spPr>
      </p:sp>
      <p:sp>
        <p:nvSpPr>
          <p:cNvPr id="47" name="Ellipse 47"/>
          <p:cNvSpPr/>
          <p:nvPr/>
        </p:nvSpPr>
        <p:spPr>
          <a:xfrm>
            <a:off x="10953750" y="2952750"/>
            <a:ext cx="419100" cy="419100"/>
          </a:xfrm>
          <a:prstGeom prst="ellipse">
            <a:avLst/>
          </a:prstGeom>
          <a:solidFill>
            <a:srgbClr val="D44545">
              <a:alpha val="15000"/>
            </a:srgbClr>
          </a:solidFill>
          <a:ln>
            <a:noFill/>
          </a:ln>
        </p:spPr>
      </p:sp>
      <p:sp>
        <p:nvSpPr>
          <p:cNvPr id="48" name="Line 48"/>
          <p:cNvSpPr/>
          <p:nvPr/>
        </p:nvSpPr>
        <p:spPr>
          <a:xfrm>
            <a:off x="11068050" y="30670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3812" cap="rnd">
            <a:solidFill>
              <a:srgbClr val="D44545"/>
            </a:solidFill>
          </a:ln>
        </p:spPr>
      </p:sp>
      <p:sp>
        <p:nvSpPr>
          <p:cNvPr id="49" name="Line 49"/>
          <p:cNvSpPr/>
          <p:nvPr/>
        </p:nvSpPr>
        <p:spPr>
          <a:xfrm>
            <a:off x="11068050" y="30670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noFill/>
          <a:ln w="23812" cap="rnd">
            <a:solidFill>
              <a:srgbClr val="D44545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9378386" y="289131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硬止损触发条件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357616" y="3125152"/>
            <a:ext cx="24189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收盘价跌破 50MA（Stage 2 期间）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909685" y="3334702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论文破坏（核心假设证伪）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286500" y="3790950"/>
            <a:ext cx="5334000" cy="1028700"/>
          </a:xfrm>
          <a:prstGeom prst="roundRect">
            <a:avLst>
              <a:gd name="adj" fmla="val 9259"/>
            </a:avLst>
          </a:prstGeom>
          <a:solidFill>
            <a:srgbClr val="FFF0F0"/>
          </a:solidFill>
          <a:ln w="14288">
            <a:solidFill>
              <a:srgbClr val="D44545"/>
            </a:solidFill>
          </a:ln>
        </p:spPr>
      </p:sp>
      <p:sp>
        <p:nvSpPr>
          <p:cNvPr id="54" name="Line 54"/>
          <p:cNvSpPr/>
          <p:nvPr/>
        </p:nvSpPr>
        <p:spPr>
          <a:xfrm>
            <a:off x="11544300" y="3981450"/>
            <a:ext cx="9525" cy="647700"/>
          </a:xfrm>
          <a:custGeom>
            <a:avLst/>
            <a:gdLst/>
            <a:ahLst/>
            <a:cxnLst/>
            <a:rect l="l" t="t" r="r" b="b"/>
            <a:pathLst>
              <a:path w="9525" h="647700">
                <a:moveTo>
                  <a:pt x="0" y="0"/>
                </a:moveTo>
                <a:lnTo>
                  <a:pt x="0" y="647700"/>
                </a:lnTo>
              </a:path>
            </a:pathLst>
          </a:custGeom>
          <a:noFill/>
          <a:ln w="57150" cap="rnd">
            <a:solidFill>
              <a:srgbClr val="D44545"/>
            </a:solidFill>
          </a:ln>
        </p:spPr>
      </p:sp>
      <p:sp>
        <p:nvSpPr>
          <p:cNvPr id="55" name="Ellipse 55"/>
          <p:cNvSpPr/>
          <p:nvPr/>
        </p:nvSpPr>
        <p:spPr>
          <a:xfrm>
            <a:off x="10953750" y="4095750"/>
            <a:ext cx="419100" cy="419100"/>
          </a:xfrm>
          <a:prstGeom prst="ellipse">
            <a:avLst/>
          </a:prstGeom>
          <a:solidFill>
            <a:srgbClr val="D44545">
              <a:alpha val="25000"/>
            </a:srgbClr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11054126" y="4241006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2%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879799" y="4015264"/>
            <a:ext cx="189964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单笔亏损 ≤ 总资金 2%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158258" y="4249102"/>
            <a:ext cx="26183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股数 = (总资金 × 2%) ÷ (入场 - 止损)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96275" y="4458652"/>
            <a:ext cx="24803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止损是规则，不是讨论，触发即执行</a:t>
            </a:r>
          </a:p>
        </p:txBody>
      </p:sp>
      <p:sp>
        <p:nvSpPr>
          <p:cNvPr id="60" name="Rectangle 60"/>
          <p:cNvSpPr/>
          <p:nvPr/>
        </p:nvSpPr>
        <p:spPr>
          <a:xfrm>
            <a:off x="571500" y="5467350"/>
            <a:ext cx="11049000" cy="647700"/>
          </a:xfrm>
          <a:prstGeom prst="roundRect">
            <a:avLst>
              <a:gd name="adj" fmla="val 14706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61" name="Ellipse 61"/>
          <p:cNvSpPr/>
          <p:nvPr/>
        </p:nvSpPr>
        <p:spPr>
          <a:xfrm>
            <a:off x="876300" y="5619750"/>
            <a:ext cx="342900" cy="342900"/>
          </a:xfrm>
          <a:prstGeom prst="ellipse">
            <a:avLst/>
          </a:prstGeom>
          <a:noFill/>
          <a:ln w="23812">
            <a:solidFill>
              <a:srgbClr val="C96133"/>
            </a:solidFill>
          </a:ln>
        </p:spPr>
      </p:sp>
      <p:sp>
        <p:nvSpPr>
          <p:cNvPr id="62" name="Ellipse 62"/>
          <p:cNvSpPr/>
          <p:nvPr/>
        </p:nvSpPr>
        <p:spPr>
          <a:xfrm>
            <a:off x="952500" y="5695950"/>
            <a:ext cx="190500" cy="190500"/>
          </a:xfrm>
          <a:prstGeom prst="ellipse">
            <a:avLst/>
          </a:prstGeom>
          <a:noFill/>
          <a:ln w="19050">
            <a:solidFill>
              <a:srgbClr val="C96133"/>
            </a:solidFill>
          </a:ln>
        </p:spPr>
      </p:sp>
      <p:sp>
        <p:nvSpPr>
          <p:cNvPr id="63" name="Ellipse 63"/>
          <p:cNvSpPr/>
          <p:nvPr/>
        </p:nvSpPr>
        <p:spPr>
          <a:xfrm>
            <a:off x="1019175" y="5762625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1395412" y="56126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核心原则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395412" y="5822156"/>
            <a:ext cx="533566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赢家多赚（慢慢减仓） · 输家少亏（快速止损） · 几笔大赢弥补多次小亏</a:t>
            </a:r>
          </a:p>
        </p:txBody>
      </p:sp>
      <p:sp>
        <p:nvSpPr>
          <p:cNvPr id="66" name="Rectangle 66"/>
          <p:cNvSpPr/>
          <p:nvPr/>
        </p:nvSpPr>
        <p:spPr>
          <a:xfrm>
            <a:off x="571500" y="6800850"/>
            <a:ext cx="5486400" cy="381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67" name="Rectangle 67"/>
          <p:cNvSpPr/>
          <p:nvPr/>
        </p:nvSpPr>
        <p:spPr>
          <a:xfrm>
            <a:off x="6134100" y="6800850"/>
            <a:ext cx="5486400" cy="3810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10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356731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框架 × Skill 对应表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40965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每个 Skill 背后有明确的方法论依据 — 不是 AI 在乱猜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43000"/>
            <a:ext cx="11049000" cy="4286250"/>
          </a:xfrm>
          <a:prstGeom prst="roundRect">
            <a:avLst>
              <a:gd name="adj" fmla="val 889"/>
            </a:avLst>
          </a:prstGeom>
          <a:noFill/>
          <a:ln w="19050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43000"/>
            <a:ext cx="11049000" cy="533400"/>
          </a:xfrm>
          <a:prstGeom prst="roundRect">
            <a:avLst>
              <a:gd name="adj" fmla="val 7143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447800"/>
            <a:ext cx="110490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337191" y="134540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框架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191887" y="1345406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解决的核心问题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091791" y="1345406"/>
            <a:ext cx="7704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对应 Skill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89419" y="13454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862191" y="134540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课上</a:t>
            </a:r>
          </a:p>
        </p:txBody>
      </p:sp>
      <p:sp>
        <p:nvSpPr>
          <p:cNvPr id="15" name="Line 15"/>
          <p:cNvSpPr/>
          <p:nvPr/>
        </p:nvSpPr>
        <p:spPr>
          <a:xfrm>
            <a:off x="24765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6" name="Line 16"/>
          <p:cNvSpPr/>
          <p:nvPr/>
        </p:nvSpPr>
        <p:spPr>
          <a:xfrm>
            <a:off x="51435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7" name="Line 17"/>
          <p:cNvSpPr/>
          <p:nvPr/>
        </p:nvSpPr>
        <p:spPr>
          <a:xfrm>
            <a:off x="78105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8" name="Line 18"/>
          <p:cNvSpPr/>
          <p:nvPr/>
        </p:nvSpPr>
        <p:spPr>
          <a:xfrm>
            <a:off x="102870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9" name="Line 19"/>
          <p:cNvSpPr/>
          <p:nvPr/>
        </p:nvSpPr>
        <p:spPr>
          <a:xfrm>
            <a:off x="571500" y="22479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" name="Rectangle 20"/>
          <p:cNvSpPr/>
          <p:nvPr/>
        </p:nvSpPr>
        <p:spPr>
          <a:xfrm>
            <a:off x="581025" y="1685925"/>
            <a:ext cx="11029950" cy="552450"/>
          </a:xfrm>
          <a:prstGeom prst="rect">
            <a:avLst/>
          </a:prstGeom>
          <a:solidFill>
            <a:srgbClr val="FFF8F5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581025" y="1685925"/>
            <a:ext cx="38100" cy="5524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51510" y="175641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热门赛道方法论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4368" y="199024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热门赛道选股方法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556510" y="1899285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在哪里找股？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24462" y="1840706"/>
            <a:ext cx="11240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26368" y="204739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扫七大赛道，输出候选股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892415" y="1915478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每周定期扫描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122119" y="1907381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主讲</a:t>
            </a:r>
          </a:p>
        </p:txBody>
      </p:sp>
      <p:sp>
        <p:nvSpPr>
          <p:cNvPr id="29" name="Line 29"/>
          <p:cNvSpPr/>
          <p:nvPr/>
        </p:nvSpPr>
        <p:spPr>
          <a:xfrm>
            <a:off x="571500" y="2971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581025" y="2257425"/>
            <a:ext cx="11029950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651510" y="2346960"/>
            <a:ext cx="43533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SEPA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4368" y="2561749"/>
            <a:ext cx="181186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Stage + EPS + Price + Acc.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556510" y="2480310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什么时候买？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224462" y="2421731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226368" y="2628424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入场区间 · 轴心点确认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892415" y="24965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准备入场前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22119" y="2488406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介绍</a:t>
            </a:r>
          </a:p>
        </p:txBody>
      </p:sp>
      <p:sp>
        <p:nvSpPr>
          <p:cNvPr id="38" name="Line 38"/>
          <p:cNvSpPr/>
          <p:nvPr/>
        </p:nvSpPr>
        <p:spPr>
          <a:xfrm>
            <a:off x="571500" y="36957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581025" y="2981325"/>
            <a:ext cx="11029950" cy="704850"/>
          </a:xfrm>
          <a:prstGeom prst="rect">
            <a:avLst/>
          </a:prstGeom>
          <a:solidFill>
            <a:srgbClr val="F9F9F9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51510" y="3070860"/>
            <a:ext cx="38932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BAIT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54368" y="3285649"/>
            <a:ext cx="243842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Business · Acc. · Industry · Timing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556510" y="3204210"/>
            <a:ext cx="15026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基本面够不够强？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224462" y="3145631"/>
            <a:ext cx="13138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226368" y="3352324"/>
            <a:ext cx="16125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综合评分 + 深度分析报告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892415" y="32204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选出候选股后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122119" y="3212306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介绍</a:t>
            </a:r>
          </a:p>
        </p:txBody>
      </p:sp>
      <p:sp>
        <p:nvSpPr>
          <p:cNvPr id="47" name="Line 47"/>
          <p:cNvSpPr/>
          <p:nvPr/>
        </p:nvSpPr>
        <p:spPr>
          <a:xfrm>
            <a:off x="571500" y="44196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8" name="Rectangle 48"/>
          <p:cNvSpPr/>
          <p:nvPr/>
        </p:nvSpPr>
        <p:spPr>
          <a:xfrm>
            <a:off x="581025" y="3705225"/>
            <a:ext cx="11029950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651510" y="3794760"/>
            <a:ext cx="8861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Moneyball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54368" y="40095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非对称风险评估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556510" y="3928110"/>
            <a:ext cx="1732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上涨 vs 下跌 ≥ 2:1？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24462" y="3831431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224462" y="4021931"/>
            <a:ext cx="117584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+ /stock-exit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892415" y="3944302"/>
            <a:ext cx="11231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入场前 + 持仓中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122119" y="3936206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介绍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81025" y="4429125"/>
            <a:ext cx="11029950" cy="9906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651510" y="4537710"/>
            <a:ext cx="8953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Synthesis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54368" y="47524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五框架协作总览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556510" y="4652010"/>
            <a:ext cx="1686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系统如何协作运转？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224462" y="4593431"/>
            <a:ext cx="14169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全套 4 Skill 流水线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225415" y="4801552"/>
            <a:ext cx="21659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scan → analyze → entry → exit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892415" y="466820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收尾时一张图展示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203656" y="466010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预告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2770556" y="5653564"/>
            <a:ext cx="665088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→ 4 个 Skill 背后各自依赖不同框架——不是 AI 在乱猜，是把专家逻辑系统化了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1398948" y="6554152"/>
            <a:ext cx="4253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11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93370"/>
            <a:ext cx="421988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架构：两层分离设计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97706"/>
            <a:ext cx="50317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Python 数据层（取数）+ LLM 分析层（判断）— 各司其职，互不干扰</a:t>
            </a:r>
          </a:p>
        </p:txBody>
      </p:sp>
      <p:sp>
        <p:nvSpPr>
          <p:cNvPr id="7" name="Rectangle 7"/>
          <p:cNvSpPr/>
          <p:nvPr/>
        </p:nvSpPr>
        <p:spPr>
          <a:xfrm>
            <a:off x="381000" y="1028700"/>
            <a:ext cx="381000" cy="1238250"/>
          </a:xfrm>
          <a:prstGeom prst="roundRect">
            <a:avLst>
              <a:gd name="adj" fmla="val 2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466369" y="1140142"/>
            <a:ext cx="21026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0777" y="1530191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用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0777" y="1673066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户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0777" y="1815941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调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0777" y="1958816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用</a:t>
            </a:r>
          </a:p>
        </p:txBody>
      </p:sp>
      <p:sp>
        <p:nvSpPr>
          <p:cNvPr id="13" name="Rectangle 13"/>
          <p:cNvSpPr/>
          <p:nvPr/>
        </p:nvSpPr>
        <p:spPr>
          <a:xfrm>
            <a:off x="914400" y="1028700"/>
            <a:ext cx="10896600" cy="1238250"/>
          </a:xfrm>
          <a:prstGeom prst="roundRect">
            <a:avLst>
              <a:gd name="adj" fmla="val 9231"/>
            </a:avLst>
          </a:prstGeom>
          <a:solidFill>
            <a:srgbClr val="F0EDE8"/>
          </a:solidFill>
          <a:ln w="14288">
            <a:solidFill>
              <a:srgbClr val="C96133"/>
            </a:solidFill>
            <a:custDash>
              <a:ds d="400000" sp="266666"/>
            </a:custDash>
          </a:ln>
        </p:spPr>
      </p:sp>
      <p:sp>
        <p:nvSpPr>
          <p:cNvPr id="14" name="TextBox 14"/>
          <p:cNvSpPr txBox="1"/>
          <p:nvPr/>
        </p:nvSpPr>
        <p:spPr>
          <a:xfrm>
            <a:off x="4689356" y="1113949"/>
            <a:ext cx="28132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用户调用层 · SLASH COMMAND INTERFACE</a:t>
            </a:r>
          </a:p>
        </p:txBody>
      </p:sp>
      <p:sp>
        <p:nvSpPr>
          <p:cNvPr id="15" name="Rectangle 15"/>
          <p:cNvSpPr/>
          <p:nvPr/>
        </p:nvSpPr>
        <p:spPr>
          <a:xfrm>
            <a:off x="1066800" y="1314450"/>
            <a:ext cx="23241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1053465" y="1467802"/>
            <a:ext cx="10491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55370" y="1693545"/>
            <a:ext cx="12255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扫七大赛道 → 候选股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55370" y="1884045"/>
            <a:ext cx="10284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ticker-scan.md</a:t>
            </a:r>
          </a:p>
        </p:txBody>
      </p:sp>
      <p:sp>
        <p:nvSpPr>
          <p:cNvPr id="19" name="Rectangle 19"/>
          <p:cNvSpPr/>
          <p:nvPr/>
        </p:nvSpPr>
        <p:spPr>
          <a:xfrm>
            <a:off x="3543300" y="1314450"/>
            <a:ext cx="23241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3529965" y="1467802"/>
            <a:ext cx="12262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31870" y="16935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深度分析报告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531870" y="1884045"/>
            <a:ext cx="117300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stock-analyze.md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019800" y="1314450"/>
            <a:ext cx="23241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6006465" y="1467802"/>
            <a:ext cx="10894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008370" y="1693545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入场方案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008370" y="1884045"/>
            <a:ext cx="10612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stock-entry.md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496300" y="1314450"/>
            <a:ext cx="31623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8482965" y="1467802"/>
            <a:ext cx="9605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/stock-exit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484870" y="16935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退出管理分析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484870" y="1884045"/>
            <a:ext cx="9561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stock-exit.md</a:t>
            </a:r>
          </a:p>
        </p:txBody>
      </p:sp>
      <p:sp>
        <p:nvSpPr>
          <p:cNvPr id="31" name="Line 31"/>
          <p:cNvSpPr/>
          <p:nvPr/>
        </p:nvSpPr>
        <p:spPr>
          <a:xfrm>
            <a:off x="6096000" y="2266950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32" name="Polygon 32"/>
          <p:cNvSpPr/>
          <p:nvPr/>
        </p:nvSpPr>
        <p:spPr>
          <a:xfrm>
            <a:off x="6038850" y="24193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57150" y="114300"/>
                </a:moveTo>
                <a:lnTo>
                  <a:pt x="0" y="0"/>
                </a:lnTo>
                <a:lnTo>
                  <a:pt x="11430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381000" y="2552700"/>
            <a:ext cx="381000" cy="1524000"/>
          </a:xfrm>
          <a:prstGeom prst="roundRect">
            <a:avLst>
              <a:gd name="adj" fmla="val 2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40491" y="2673668"/>
            <a:ext cx="26201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27887" y="3016091"/>
            <a:ext cx="8722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27887" y="3158966"/>
            <a:ext cx="8722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15838" y="3301841"/>
            <a:ext cx="11132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M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00777" y="3492341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层</a:t>
            </a:r>
          </a:p>
        </p:txBody>
      </p:sp>
      <p:sp>
        <p:nvSpPr>
          <p:cNvPr id="39" name="Rectangle 39"/>
          <p:cNvSpPr/>
          <p:nvPr/>
        </p:nvSpPr>
        <p:spPr>
          <a:xfrm>
            <a:off x="914400" y="2552700"/>
            <a:ext cx="10896600" cy="1524000"/>
          </a:xfrm>
          <a:prstGeom prst="roundRect">
            <a:avLst>
              <a:gd name="adj" fmla="val 7500"/>
            </a:avLst>
          </a:prstGeom>
          <a:solidFill>
            <a:srgbClr val="EBF2FF"/>
          </a:solidFill>
          <a:ln w="14288">
            <a:solidFill>
              <a:srgbClr val="3D7DE4"/>
            </a:solidFill>
            <a:custDash>
              <a:ds d="400000" sp="266666"/>
            </a:custDash>
          </a:ln>
        </p:spPr>
      </p:sp>
      <p:sp>
        <p:nvSpPr>
          <p:cNvPr id="40" name="TextBox 40"/>
          <p:cNvSpPr txBox="1"/>
          <p:nvPr/>
        </p:nvSpPr>
        <p:spPr>
          <a:xfrm>
            <a:off x="4083805" y="2637949"/>
            <a:ext cx="402439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LLM 分析层 · CLAUDE REASONING ENGINE · .md SKILL FILES</a:t>
            </a:r>
          </a:p>
        </p:txBody>
      </p:sp>
      <p:sp>
        <p:nvSpPr>
          <p:cNvPr id="41" name="Rectangle 41"/>
          <p:cNvSpPr/>
          <p:nvPr/>
        </p:nvSpPr>
        <p:spPr>
          <a:xfrm>
            <a:off x="1066800" y="2838450"/>
            <a:ext cx="476250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2829937" y="2964656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接收结构化数据</a:t>
            </a:r>
          </a:p>
        </p:txBody>
      </p:sp>
      <p:sp>
        <p:nvSpPr>
          <p:cNvPr id="43" name="Line 43"/>
          <p:cNvSpPr/>
          <p:nvPr/>
        </p:nvSpPr>
        <p:spPr>
          <a:xfrm>
            <a:off x="1219200" y="3200400"/>
            <a:ext cx="4457700" cy="9525"/>
          </a:xfrm>
          <a:custGeom>
            <a:avLst/>
            <a:gdLst/>
            <a:ahLst/>
            <a:cxnLst/>
            <a:rect l="l" t="t" r="r" b="b"/>
            <a:pathLst>
              <a:path w="4457700" h="9525">
                <a:moveTo>
                  <a:pt x="0" y="0"/>
                </a:moveTo>
                <a:lnTo>
                  <a:pt x="44577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206818" y="3304699"/>
            <a:ext cx="28157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读取 Python 脚本输出的 JSON / 表格数据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06818" y="3495199"/>
            <a:ext cx="25096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按 Skill 内嵌的框架逻辑逐项打分分析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06818" y="3685699"/>
            <a:ext cx="231026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输出结构化研究报告 (Markdown)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981700" y="2838450"/>
            <a:ext cx="567690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48" name="TextBox 48"/>
          <p:cNvSpPr txBox="1"/>
          <p:nvPr/>
        </p:nvSpPr>
        <p:spPr>
          <a:xfrm>
            <a:off x="8374559" y="29646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灵活可调整</a:t>
            </a:r>
          </a:p>
        </p:txBody>
      </p:sp>
      <p:sp>
        <p:nvSpPr>
          <p:cNvPr id="49" name="Line 49"/>
          <p:cNvSpPr/>
          <p:nvPr/>
        </p:nvSpPr>
        <p:spPr>
          <a:xfrm>
            <a:off x="6134100" y="3200400"/>
            <a:ext cx="5372100" cy="9525"/>
          </a:xfrm>
          <a:custGeom>
            <a:avLst/>
            <a:gdLst/>
            <a:ahLst/>
            <a:cxnLst/>
            <a:rect l="l" t="t" r="r" b="b"/>
            <a:pathLst>
              <a:path w="5372100" h="9525">
                <a:moveTo>
                  <a:pt x="0" y="0"/>
                </a:moveTo>
                <a:lnTo>
                  <a:pt x="53721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6121718" y="3304699"/>
            <a:ext cx="28086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改框架 → 只改 .md prompt，不动 Python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121718" y="3495199"/>
            <a:ext cx="21607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换分析角度 → 修改评分标准即可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121718" y="3685699"/>
            <a:ext cx="21393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自然语言描述逻辑，无需懂代码</a:t>
            </a:r>
          </a:p>
        </p:txBody>
      </p:sp>
      <p:sp>
        <p:nvSpPr>
          <p:cNvPr id="53" name="Line 53"/>
          <p:cNvSpPr/>
          <p:nvPr/>
        </p:nvSpPr>
        <p:spPr>
          <a:xfrm>
            <a:off x="6096000" y="4076700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54" name="Polygon 54"/>
          <p:cNvSpPr/>
          <p:nvPr/>
        </p:nvSpPr>
        <p:spPr>
          <a:xfrm>
            <a:off x="6038850" y="4229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57150" y="114300"/>
                </a:moveTo>
                <a:lnTo>
                  <a:pt x="0" y="0"/>
                </a:lnTo>
                <a:lnTo>
                  <a:pt x="11430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55" name="Rectangle 55"/>
          <p:cNvSpPr/>
          <p:nvPr/>
        </p:nvSpPr>
        <p:spPr>
          <a:xfrm>
            <a:off x="381000" y="4362450"/>
            <a:ext cx="381000" cy="1333500"/>
          </a:xfrm>
          <a:prstGeom prst="roundRect">
            <a:avLst>
              <a:gd name="adj" fmla="val 20000"/>
            </a:avLst>
          </a:prstGeom>
          <a:solidFill>
            <a:srgbClr val="C96133">
              <a:alpha val="70000"/>
            </a:srgbClr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440491" y="4483418"/>
            <a:ext cx="26201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00777" y="4825841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数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00777" y="4968716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据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00777" y="5111591"/>
            <a:ext cx="1414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层</a:t>
            </a:r>
          </a:p>
        </p:txBody>
      </p:sp>
      <p:sp>
        <p:nvSpPr>
          <p:cNvPr id="60" name="Rectangle 60"/>
          <p:cNvSpPr/>
          <p:nvPr/>
        </p:nvSpPr>
        <p:spPr>
          <a:xfrm>
            <a:off x="914400" y="4362450"/>
            <a:ext cx="10896600" cy="1333500"/>
          </a:xfrm>
          <a:prstGeom prst="roundRect">
            <a:avLst>
              <a:gd name="adj" fmla="val 8571"/>
            </a:avLst>
          </a:prstGeom>
          <a:solidFill>
            <a:srgbClr val="FFF3EE"/>
          </a:solidFill>
          <a:ln w="14288">
            <a:solidFill>
              <a:srgbClr val="C96133"/>
            </a:solidFill>
            <a:custDash>
              <a:ds d="400000" sp="266666"/>
            </a:custDash>
          </a:ln>
        </p:spPr>
      </p:sp>
      <p:sp>
        <p:nvSpPr>
          <p:cNvPr id="61" name="TextBox 61"/>
          <p:cNvSpPr txBox="1"/>
          <p:nvPr/>
        </p:nvSpPr>
        <p:spPr>
          <a:xfrm>
            <a:off x="4005308" y="4447699"/>
            <a:ext cx="41813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Python 数据层 · ticker_scan.py · 稳定 · 可测试 · 不依赖 AI</a:t>
            </a:r>
          </a:p>
        </p:txBody>
      </p:sp>
      <p:sp>
        <p:nvSpPr>
          <p:cNvPr id="62" name="Rectangle 62"/>
          <p:cNvSpPr/>
          <p:nvPr/>
        </p:nvSpPr>
        <p:spPr>
          <a:xfrm>
            <a:off x="1066800" y="4648200"/>
            <a:ext cx="24193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63" name="TextBox 63"/>
          <p:cNvSpPr txBox="1"/>
          <p:nvPr/>
        </p:nvSpPr>
        <p:spPr>
          <a:xfrm>
            <a:off x="1780080" y="476345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拉取价格数据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207770" y="4989195"/>
            <a:ext cx="211940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yfinance.history(period="3mo")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207770" y="5179695"/>
            <a:ext cx="10875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OHLCV + 复权处理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207770" y="5351145"/>
            <a:ext cx="125187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批量处理多个 ticker</a:t>
            </a:r>
          </a:p>
        </p:txBody>
      </p:sp>
      <p:sp>
        <p:nvSpPr>
          <p:cNvPr id="67" name="Rectangle 67"/>
          <p:cNvSpPr/>
          <p:nvPr/>
        </p:nvSpPr>
        <p:spPr>
          <a:xfrm>
            <a:off x="3638550" y="4648200"/>
            <a:ext cx="24193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4351830" y="476345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计算技术指标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3779520" y="4989195"/>
            <a:ext cx="1383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50MA / 150MA / 200MA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3779520" y="5179695"/>
            <a:ext cx="104813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成交量均值 · ATR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779520" y="535114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52 周高低点</a:t>
            </a:r>
          </a:p>
        </p:txBody>
      </p:sp>
      <p:sp>
        <p:nvSpPr>
          <p:cNvPr id="72" name="Rectangle 72"/>
          <p:cNvSpPr/>
          <p:nvPr/>
        </p:nvSpPr>
        <p:spPr>
          <a:xfrm>
            <a:off x="6210300" y="4648200"/>
            <a:ext cx="24193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73" name="TextBox 73"/>
          <p:cNvSpPr txBox="1"/>
          <p:nvPr/>
        </p:nvSpPr>
        <p:spPr>
          <a:xfrm>
            <a:off x="6923580" y="476345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赛道筛选逻辑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351270" y="4989195"/>
            <a:ext cx="9429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按行业分类过滤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351270" y="51796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量价条件初筛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6351270" y="5351145"/>
            <a:ext cx="10547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输出 JSON / 表格</a:t>
            </a:r>
          </a:p>
        </p:txBody>
      </p:sp>
      <p:sp>
        <p:nvSpPr>
          <p:cNvPr id="77" name="Rectangle 77"/>
          <p:cNvSpPr/>
          <p:nvPr/>
        </p:nvSpPr>
        <p:spPr>
          <a:xfrm>
            <a:off x="8782050" y="4648200"/>
            <a:ext cx="28765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78" name="TextBox 78"/>
          <p:cNvSpPr txBox="1"/>
          <p:nvPr/>
        </p:nvSpPr>
        <p:spPr>
          <a:xfrm>
            <a:off x="9804440" y="476345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独立可测试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8923020" y="4989195"/>
            <a:ext cx="20405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ticker_scan.py 单独运行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8923020" y="5179695"/>
            <a:ext cx="14884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验证数据正确性不需要 AI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8923020" y="535114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结果稳定，无随机性</a:t>
            </a:r>
          </a:p>
        </p:txBody>
      </p:sp>
      <p:sp>
        <p:nvSpPr>
          <p:cNvPr id="82" name="Rectangle 82"/>
          <p:cNvSpPr/>
          <p:nvPr/>
        </p:nvSpPr>
        <p:spPr>
          <a:xfrm>
            <a:off x="381000" y="5848350"/>
            <a:ext cx="381000" cy="571500"/>
          </a:xfrm>
          <a:prstGeom prst="roundRect">
            <a:avLst>
              <a:gd name="adj" fmla="val 2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83" name="TextBox 83"/>
          <p:cNvSpPr txBox="1"/>
          <p:nvPr/>
        </p:nvSpPr>
        <p:spPr>
          <a:xfrm>
            <a:off x="497423" y="6026468"/>
            <a:ext cx="14815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⇧</a:t>
            </a:r>
          </a:p>
        </p:txBody>
      </p:sp>
      <p:sp>
        <p:nvSpPr>
          <p:cNvPr id="84" name="Rectangle 84"/>
          <p:cNvSpPr/>
          <p:nvPr/>
        </p:nvSpPr>
        <p:spPr>
          <a:xfrm>
            <a:off x="914400" y="5848350"/>
            <a:ext cx="10896600" cy="571500"/>
          </a:xfrm>
          <a:prstGeom prst="roundRect">
            <a:avLst>
              <a:gd name="adj" fmla="val 16667"/>
            </a:avLst>
          </a:prstGeom>
          <a:solidFill>
            <a:srgbClr val="F5F5F0"/>
          </a:solidFill>
          <a:ln w="14288">
            <a:solidFill>
              <a:srgbClr val="E0D8D0"/>
            </a:solidFill>
            <a:custDash>
              <a:ds d="400000" sp="266666"/>
            </a:custDash>
          </a:ln>
        </p:spPr>
      </p:sp>
      <p:sp>
        <p:nvSpPr>
          <p:cNvPr id="85" name="TextBox 85"/>
          <p:cNvSpPr txBox="1"/>
          <p:nvPr/>
        </p:nvSpPr>
        <p:spPr>
          <a:xfrm>
            <a:off x="5339277" y="5941695"/>
            <a:ext cx="151344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数据基础 · FOUNDATION</a:t>
            </a:r>
          </a:p>
        </p:txBody>
      </p:sp>
      <p:sp>
        <p:nvSpPr>
          <p:cNvPr id="86" name="Rectangle 86"/>
          <p:cNvSpPr/>
          <p:nvPr/>
        </p:nvSpPr>
        <p:spPr>
          <a:xfrm>
            <a:off x="1104900" y="6115050"/>
            <a:ext cx="17145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87" name="TextBox 87"/>
          <p:cNvSpPr txBox="1"/>
          <p:nvPr/>
        </p:nvSpPr>
        <p:spPr>
          <a:xfrm>
            <a:off x="1385334" y="6171724"/>
            <a:ext cx="11536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yfinance (免费)</a:t>
            </a:r>
          </a:p>
        </p:txBody>
      </p:sp>
      <p:sp>
        <p:nvSpPr>
          <p:cNvPr id="88" name="Rectangle 88"/>
          <p:cNvSpPr/>
          <p:nvPr/>
        </p:nvSpPr>
        <p:spPr>
          <a:xfrm>
            <a:off x="2933700" y="6115050"/>
            <a:ext cx="1905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89" name="TextBox 89"/>
          <p:cNvSpPr txBox="1"/>
          <p:nvPr/>
        </p:nvSpPr>
        <p:spPr>
          <a:xfrm>
            <a:off x="3223411" y="6171724"/>
            <a:ext cx="132557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pandas (数据处理)</a:t>
            </a:r>
          </a:p>
        </p:txBody>
      </p:sp>
      <p:sp>
        <p:nvSpPr>
          <p:cNvPr id="90" name="Rectangle 90"/>
          <p:cNvSpPr/>
          <p:nvPr/>
        </p:nvSpPr>
        <p:spPr>
          <a:xfrm>
            <a:off x="4953000" y="6115050"/>
            <a:ext cx="20955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91" name="TextBox 91"/>
          <p:cNvSpPr txBox="1"/>
          <p:nvPr/>
        </p:nvSpPr>
        <p:spPr>
          <a:xfrm>
            <a:off x="5192180" y="6171724"/>
            <a:ext cx="16171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JSON / Markdown 输出</a:t>
            </a:r>
          </a:p>
        </p:txBody>
      </p:sp>
      <p:sp>
        <p:nvSpPr>
          <p:cNvPr id="92" name="Rectangle 92"/>
          <p:cNvSpPr/>
          <p:nvPr/>
        </p:nvSpPr>
        <p:spPr>
          <a:xfrm>
            <a:off x="7162800" y="6115050"/>
            <a:ext cx="2286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93" name="TextBox 93"/>
          <p:cNvSpPr txBox="1"/>
          <p:nvPr/>
        </p:nvSpPr>
        <p:spPr>
          <a:xfrm>
            <a:off x="7661701" y="6171724"/>
            <a:ext cx="12881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无需复杂 MCP 配置</a:t>
            </a:r>
          </a:p>
        </p:txBody>
      </p:sp>
      <p:sp>
        <p:nvSpPr>
          <p:cNvPr id="94" name="Rectangle 94"/>
          <p:cNvSpPr/>
          <p:nvPr/>
        </p:nvSpPr>
        <p:spPr>
          <a:xfrm>
            <a:off x="9563100" y="6115050"/>
            <a:ext cx="20955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95" name="TextBox 95"/>
          <p:cNvSpPr txBox="1"/>
          <p:nvPr/>
        </p:nvSpPr>
        <p:spPr>
          <a:xfrm>
            <a:off x="9637810" y="6171724"/>
            <a:ext cx="19460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pip install yfinance pandas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12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3380994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为什么要分两层？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36758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数据层 vs 分析层分离——造工具的核心架构原则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23950"/>
            <a:ext cx="5143500" cy="409575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23950"/>
            <a:ext cx="5143500" cy="609600"/>
          </a:xfrm>
          <a:prstGeom prst="roundRect">
            <a:avLst>
              <a:gd name="adj" fmla="val 21875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543050"/>
            <a:ext cx="5143500" cy="1905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213676" y="1213485"/>
            <a:ext cx="62064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dirty="0">
                <a:solidFill>
                  <a:srgbClr val="FFFFFF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{ 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79355" y="1362075"/>
            <a:ext cx="155629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Python 数据层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29885" y="1580674"/>
            <a:ext cx="16552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稳定 · 可测试 · 不依赖 AI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1943100"/>
            <a:ext cx="4762500" cy="762000"/>
          </a:xfrm>
          <a:prstGeom prst="roundRect">
            <a:avLst>
              <a:gd name="adj" fmla="val 12500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914400" y="2133600"/>
            <a:ext cx="381000" cy="3810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51346" y="2219325"/>
            <a:ext cx="1071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32560" y="2080260"/>
            <a:ext cx="1686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结果稳定，无随机性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34465" y="2325052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同样的输入永远得到同样的数据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2000" y="2838450"/>
            <a:ext cx="4762500" cy="762000"/>
          </a:xfrm>
          <a:prstGeom prst="roundRect">
            <a:avLst>
              <a:gd name="adj" fmla="val 12500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19" name="Ellipse 19"/>
          <p:cNvSpPr/>
          <p:nvPr/>
        </p:nvSpPr>
        <p:spPr>
          <a:xfrm>
            <a:off x="914400" y="3028950"/>
            <a:ext cx="381000" cy="3810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022592" y="311467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2560" y="2975610"/>
            <a:ext cx="1686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独立测试，先验数据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34465" y="3220402"/>
            <a:ext cx="31473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ticker_scan.py 先跑，确认数据正确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62000" y="3733800"/>
            <a:ext cx="4762500" cy="762000"/>
          </a:xfrm>
          <a:prstGeom prst="roundRect">
            <a:avLst>
              <a:gd name="adj" fmla="val 12500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24" name="Ellipse 24"/>
          <p:cNvSpPr/>
          <p:nvPr/>
        </p:nvSpPr>
        <p:spPr>
          <a:xfrm>
            <a:off x="914400" y="3924300"/>
            <a:ext cx="381000" cy="3810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1022592" y="40100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32560" y="3870960"/>
            <a:ext cx="15026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加数据源只改这里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34465" y="4115752"/>
            <a:ext cx="26489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接新 API？只改 Python，prompt 不动</a:t>
            </a:r>
          </a:p>
        </p:txBody>
      </p:sp>
      <p:sp>
        <p:nvSpPr>
          <p:cNvPr id="28" name="Rectangle 28"/>
          <p:cNvSpPr/>
          <p:nvPr/>
        </p:nvSpPr>
        <p:spPr>
          <a:xfrm>
            <a:off x="762000" y="4629150"/>
            <a:ext cx="4762500" cy="438150"/>
          </a:xfrm>
          <a:prstGeom prst="roundRect">
            <a:avLst>
              <a:gd name="adj" fmla="val 21739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1560030" y="4782502"/>
            <a:ext cx="25949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✓ 数据层负责"取数"，答案唯一确定</a:t>
            </a:r>
          </a:p>
        </p:txBody>
      </p:sp>
      <p:sp>
        <p:nvSpPr>
          <p:cNvPr id="30" name="Ellipse 30"/>
          <p:cNvSpPr/>
          <p:nvPr/>
        </p:nvSpPr>
        <p:spPr>
          <a:xfrm>
            <a:off x="5753100" y="2828925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D8D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008858" y="3018949"/>
            <a:ext cx="1742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分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008858" y="3209449"/>
            <a:ext cx="1742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离</a:t>
            </a:r>
          </a:p>
        </p:txBody>
      </p:sp>
      <p:sp>
        <p:nvSpPr>
          <p:cNvPr id="33" name="Line 33"/>
          <p:cNvSpPr/>
          <p:nvPr/>
        </p:nvSpPr>
        <p:spPr>
          <a:xfrm>
            <a:off x="5314950" y="3171825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400050" y="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E0D8D0"/>
            </a:solidFill>
            <a:custDash>
              <a:ds d="266666" sp="200000"/>
            </a:custDash>
          </a:ln>
        </p:spPr>
      </p:sp>
      <p:sp>
        <p:nvSpPr>
          <p:cNvPr id="34" name="Line 34"/>
          <p:cNvSpPr/>
          <p:nvPr/>
        </p:nvSpPr>
        <p:spPr>
          <a:xfrm>
            <a:off x="6477000" y="3171825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4288">
            <a:solidFill>
              <a:srgbClr val="E0D8D0"/>
            </a:solidFill>
            <a:custDash>
              <a:ds d="266666" sp="200000"/>
            </a:custDash>
          </a:ln>
        </p:spPr>
      </p:sp>
      <p:sp>
        <p:nvSpPr>
          <p:cNvPr id="35" name="Rectangle 35"/>
          <p:cNvSpPr/>
          <p:nvPr/>
        </p:nvSpPr>
        <p:spPr>
          <a:xfrm>
            <a:off x="6877050" y="1123950"/>
            <a:ext cx="4743450" cy="409575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6877050" y="1123950"/>
            <a:ext cx="4743450" cy="609600"/>
          </a:xfrm>
          <a:prstGeom prst="roundRect">
            <a:avLst>
              <a:gd name="adj" fmla="val 21875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6877050" y="1543050"/>
            <a:ext cx="4743450" cy="1905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722918" y="1213485"/>
            <a:ext cx="40376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dirty="0">
                <a:solidFill>
                  <a:srgbClr val="FFFFFF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AI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627876" y="1362075"/>
            <a:ext cx="122274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LLM 分析层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137517" y="1580674"/>
            <a:ext cx="22034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灵活 · 可调整 · 自然语言定义逻辑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067550" y="1943100"/>
            <a:ext cx="4362450" cy="762000"/>
          </a:xfrm>
          <a:prstGeom prst="roundRect">
            <a:avLst>
              <a:gd name="adj" fmla="val 125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2" name="Ellipse 42"/>
          <p:cNvSpPr/>
          <p:nvPr/>
        </p:nvSpPr>
        <p:spPr>
          <a:xfrm>
            <a:off x="7219950" y="2133600"/>
            <a:ext cx="381000" cy="38100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7356896" y="2219325"/>
            <a:ext cx="1071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38110" y="208026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改框架只改这里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40015" y="2325052"/>
            <a:ext cx="26259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换框架？只改 .md prompt，不动代码</a:t>
            </a:r>
          </a:p>
        </p:txBody>
      </p:sp>
      <p:sp>
        <p:nvSpPr>
          <p:cNvPr id="46" name="Rectangle 46"/>
          <p:cNvSpPr/>
          <p:nvPr/>
        </p:nvSpPr>
        <p:spPr>
          <a:xfrm>
            <a:off x="7067550" y="2838450"/>
            <a:ext cx="4362450" cy="762000"/>
          </a:xfrm>
          <a:prstGeom prst="roundRect">
            <a:avLst>
              <a:gd name="adj" fmla="val 125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7" name="Ellipse 47"/>
          <p:cNvSpPr/>
          <p:nvPr/>
        </p:nvSpPr>
        <p:spPr>
          <a:xfrm>
            <a:off x="7219950" y="3028950"/>
            <a:ext cx="381000" cy="38100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7328142" y="311467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738110" y="2975610"/>
            <a:ext cx="18707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自然语言描述判断逻辑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740015" y="322040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不需要写代码，说清标准即可</a:t>
            </a:r>
          </a:p>
        </p:txBody>
      </p:sp>
      <p:sp>
        <p:nvSpPr>
          <p:cNvPr id="51" name="Rectangle 51"/>
          <p:cNvSpPr/>
          <p:nvPr/>
        </p:nvSpPr>
        <p:spPr>
          <a:xfrm>
            <a:off x="7067550" y="3733800"/>
            <a:ext cx="4362450" cy="762000"/>
          </a:xfrm>
          <a:prstGeom prst="roundRect">
            <a:avLst>
              <a:gd name="adj" fmla="val 125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52" name="Ellipse 52"/>
          <p:cNvSpPr/>
          <p:nvPr/>
        </p:nvSpPr>
        <p:spPr>
          <a:xfrm>
            <a:off x="7219950" y="3924300"/>
            <a:ext cx="381000" cy="38100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7328142" y="40100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738110" y="387096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框架可快速迭代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740015" y="4115752"/>
            <a:ext cx="24956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发现新方法论？改 prompt 即可测试</a:t>
            </a:r>
          </a:p>
        </p:txBody>
      </p:sp>
      <p:sp>
        <p:nvSpPr>
          <p:cNvPr id="56" name="Rectangle 56"/>
          <p:cNvSpPr/>
          <p:nvPr/>
        </p:nvSpPr>
        <p:spPr>
          <a:xfrm>
            <a:off x="7067550" y="4629150"/>
            <a:ext cx="4362450" cy="438150"/>
          </a:xfrm>
          <a:prstGeom prst="roundRect">
            <a:avLst>
              <a:gd name="adj" fmla="val 21739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8022290" y="4782502"/>
            <a:ext cx="24339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分析层负责"判断"，灵活可调整</a:t>
            </a:r>
          </a:p>
        </p:txBody>
      </p:sp>
      <p:sp>
        <p:nvSpPr>
          <p:cNvPr id="58" name="Rectangle 58"/>
          <p:cNvSpPr/>
          <p:nvPr/>
        </p:nvSpPr>
        <p:spPr>
          <a:xfrm>
            <a:off x="571500" y="5448300"/>
            <a:ext cx="11049000" cy="7620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9" name="Ellipse 59"/>
          <p:cNvSpPr/>
          <p:nvPr/>
        </p:nvSpPr>
        <p:spPr>
          <a:xfrm>
            <a:off x="838200" y="5619750"/>
            <a:ext cx="419100" cy="419100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960525" y="57273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⚡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413510" y="56426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核心洞见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414462" y="5898356"/>
            <a:ext cx="65268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任何专家方法都能照这个路径转化为 Skill：数据层 + 分析层分离，是"造工具"的通用架构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13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8100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65810" y="394335"/>
            <a:ext cx="613443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现场演示：从零写 /ticker-scan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3908" y="814864"/>
            <a:ext cx="59167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把现有 ticker-scan 清空，当场重写——让你看清每一行 prompt 的用意</a:t>
            </a:r>
          </a:p>
        </p:txBody>
      </p:sp>
      <p:sp>
        <p:nvSpPr>
          <p:cNvPr id="7" name="Rectangle 7"/>
          <p:cNvSpPr/>
          <p:nvPr/>
        </p:nvSpPr>
        <p:spPr>
          <a:xfrm>
            <a:off x="10572750" y="419100"/>
            <a:ext cx="1047750" cy="457200"/>
          </a:xfrm>
          <a:prstGeom prst="roundRect">
            <a:avLst>
              <a:gd name="adj" fmla="val 20833"/>
            </a:avLst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0721660" y="4948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⏱ 演示时长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68941" y="63531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30 min</a:t>
            </a:r>
          </a:p>
        </p:txBody>
      </p:sp>
      <p:sp>
        <p:nvSpPr>
          <p:cNvPr id="10" name="Line 10"/>
          <p:cNvSpPr/>
          <p:nvPr/>
        </p:nvSpPr>
        <p:spPr>
          <a:xfrm>
            <a:off x="1447800" y="2952750"/>
            <a:ext cx="9296400" cy="9525"/>
          </a:xfrm>
          <a:custGeom>
            <a:avLst/>
            <a:gdLst/>
            <a:ahLst/>
            <a:cxnLst/>
            <a:rect l="l" t="t" r="r" b="b"/>
            <a:pathLst>
              <a:path w="9296400" h="9525">
                <a:moveTo>
                  <a:pt x="0" y="0"/>
                </a:moveTo>
                <a:lnTo>
                  <a:pt x="9296400" y="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60020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6133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1776507" y="27365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28847" y="2977991"/>
            <a:ext cx="35230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START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14300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545669" y="35552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需求分析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93901" y="3780949"/>
            <a:ext cx="8221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这个 Skill 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94222" y="39523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解决什么问题？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96403" y="4170045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~3 min</a:t>
            </a:r>
          </a:p>
        </p:txBody>
      </p:sp>
      <p:sp>
        <p:nvSpPr>
          <p:cNvPr id="19" name="Ellipse 19"/>
          <p:cNvSpPr/>
          <p:nvPr/>
        </p:nvSpPr>
        <p:spPr>
          <a:xfrm>
            <a:off x="388620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6133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403087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996773" y="2977991"/>
            <a:ext cx="38845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DEFINE</a:t>
            </a:r>
          </a:p>
        </p:txBody>
      </p:sp>
      <p:sp>
        <p:nvSpPr>
          <p:cNvPr id="22" name="Rectangle 22"/>
          <p:cNvSpPr/>
          <p:nvPr/>
        </p:nvSpPr>
        <p:spPr>
          <a:xfrm>
            <a:off x="342900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3831669" y="35552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定义接口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669542" y="378094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输入什么 / 输出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822621" y="39523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什么格式？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982402" y="4170045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~5 min</a:t>
            </a:r>
          </a:p>
        </p:txBody>
      </p:sp>
      <p:sp>
        <p:nvSpPr>
          <p:cNvPr id="27" name="Ellipse 27"/>
          <p:cNvSpPr/>
          <p:nvPr/>
        </p:nvSpPr>
        <p:spPr>
          <a:xfrm>
            <a:off x="6134100" y="2609850"/>
            <a:ext cx="685800" cy="6858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631687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03859" y="2987516"/>
            <a:ext cx="3462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WRITE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619750" y="3429000"/>
            <a:ext cx="1714500" cy="952500"/>
          </a:xfrm>
          <a:prstGeom prst="roundRect">
            <a:avLst>
              <a:gd name="adj" fmla="val 10000"/>
            </a:avLst>
          </a:prstGeom>
          <a:solidFill>
            <a:srgbClr val="FFF8F5"/>
          </a:solidFill>
          <a:ln w="19050">
            <a:solidFill>
              <a:srgbClr val="C96133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048661" y="3555206"/>
            <a:ext cx="8566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写 Prompt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976902" y="3780949"/>
            <a:ext cx="10001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逐段写：角色 /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802463" y="3952399"/>
            <a:ext cx="13490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上下文 / 指令 / 格式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179184" y="4170045"/>
            <a:ext cx="5956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~12 min ★</a:t>
            </a:r>
          </a:p>
        </p:txBody>
      </p:sp>
      <p:sp>
        <p:nvSpPr>
          <p:cNvPr id="35" name="Ellipse 35"/>
          <p:cNvSpPr/>
          <p:nvPr/>
        </p:nvSpPr>
        <p:spPr>
          <a:xfrm>
            <a:off x="845820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6133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860287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19982" y="2977991"/>
            <a:ext cx="2860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TEST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00100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8304469" y="355520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测试 &amp; 验证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323421" y="37809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运行，看输出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52222" y="39523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是否符合预期？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554402" y="4170045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~7 min</a:t>
            </a:r>
          </a:p>
        </p:txBody>
      </p:sp>
      <p:sp>
        <p:nvSpPr>
          <p:cNvPr id="43" name="Ellipse 43"/>
          <p:cNvSpPr/>
          <p:nvPr/>
        </p:nvSpPr>
        <p:spPr>
          <a:xfrm>
            <a:off x="1045845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A9E6A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060312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608183" y="2977991"/>
            <a:ext cx="31013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DONE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000125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0291780" y="3555206"/>
            <a:ext cx="9429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可运行 Skill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992594" y="3780949"/>
            <a:ext cx="15413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一个完整 /ticker-scan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252472" y="39523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从无到有产生了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544794" y="4170045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~3 min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71500" y="1238250"/>
            <a:ext cx="11049000" cy="1181100"/>
          </a:xfrm>
          <a:prstGeom prst="roundRect">
            <a:avLst>
              <a:gd name="adj" fmla="val 1129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857250" y="1304925"/>
            <a:ext cx="493847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solidFill>
                  <a:srgbClr val="C96133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“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2988059" y="1488758"/>
            <a:ext cx="621588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我现在把 ticker-scan 删掉，我们一起从头写一个新的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443097" y="1842135"/>
            <a:ext cx="53058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你不用手敲——跟着看，理解每一步为什么这么写，比看成品更有收获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840903" y="1781175"/>
            <a:ext cx="493847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4500" b="1" dirty="0">
                <a:solidFill>
                  <a:srgbClr val="C96133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”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71500" y="4648200"/>
            <a:ext cx="5381625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7" name="Rectangle 57"/>
          <p:cNvSpPr/>
          <p:nvPr/>
        </p:nvSpPr>
        <p:spPr>
          <a:xfrm>
            <a:off x="571500" y="464820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842962" y="47744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观察重点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43915" y="503015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为什么要先写角色定义？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43915" y="5239702"/>
            <a:ext cx="27180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如何决定输出格式（表格 vs 段落）？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43915" y="5449252"/>
            <a:ext cx="23346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哪些是"规则"，哪些是"举例"？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3915" y="5658802"/>
            <a:ext cx="26183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第一次运行结果不对时怎么 debug？</a:t>
            </a:r>
          </a:p>
        </p:txBody>
      </p:sp>
      <p:sp>
        <p:nvSpPr>
          <p:cNvPr id="63" name="Rectangle 63"/>
          <p:cNvSpPr/>
          <p:nvPr/>
        </p:nvSpPr>
        <p:spPr>
          <a:xfrm>
            <a:off x="6238875" y="4648200"/>
            <a:ext cx="5381625" cy="1257300"/>
          </a:xfrm>
          <a:prstGeom prst="roundRect">
            <a:avLst>
              <a:gd name="adj" fmla="val 9091"/>
            </a:avLst>
          </a:prstGeom>
          <a:solidFill>
            <a:srgbClr val="3D7DE4">
              <a:alpha val="8000"/>
            </a:srgbClr>
          </a:solidFill>
          <a:ln w="14288">
            <a:solidFill>
              <a:srgbClr val="3D7DE4">
                <a:alpha val="30000"/>
              </a:srgbClr>
            </a:solidFill>
          </a:ln>
        </p:spPr>
      </p:sp>
      <p:sp>
        <p:nvSpPr>
          <p:cNvPr id="64" name="Rectangle 64"/>
          <p:cNvSpPr/>
          <p:nvPr/>
        </p:nvSpPr>
        <p:spPr>
          <a:xfrm>
            <a:off x="6238875" y="464820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6510338" y="477440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你来做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6511290" y="5030152"/>
            <a:ext cx="26336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演示后，跟着作业指南写你自己的版本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511290" y="5239702"/>
            <a:ext cx="29633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选一个你感兴趣的赛道，写 /market-daily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511290" y="5449252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不需要完美，能跑就算成功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11290" y="5677852"/>
            <a:ext cx="12906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→ 作业在最后几页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14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516141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怎么测试 Skill：三步验证法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418414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写完不等于写对——这三步帮你快速确认 Skill 真的能用</a:t>
            </a:r>
          </a:p>
        </p:txBody>
      </p:sp>
      <p:sp>
        <p:nvSpPr>
          <p:cNvPr id="7" name="Line 7"/>
          <p:cNvSpPr/>
          <p:nvPr/>
        </p:nvSpPr>
        <p:spPr>
          <a:xfrm>
            <a:off x="1333500" y="1333500"/>
            <a:ext cx="9525" cy="4667250"/>
          </a:xfrm>
          <a:custGeom>
            <a:avLst/>
            <a:gdLst/>
            <a:ahLst/>
            <a:cxnLst/>
            <a:rect l="l" t="t" r="r" b="b"/>
            <a:pathLst>
              <a:path w="9525" h="4667250">
                <a:moveTo>
                  <a:pt x="0" y="0"/>
                </a:moveTo>
                <a:lnTo>
                  <a:pt x="0" y="4667250"/>
                </a:lnTo>
              </a:path>
            </a:pathLst>
          </a:custGeom>
          <a:noFill/>
          <a:ln w="19050">
            <a:solidFill>
              <a:srgbClr val="E0D8D0"/>
            </a:solidFill>
            <a:custDash>
              <a:ds d="300000" sp="250000"/>
            </a:custDash>
          </a:ln>
        </p:spPr>
      </p:sp>
      <p:sp>
        <p:nvSpPr>
          <p:cNvPr id="8" name="Ellipse 8"/>
          <p:cNvSpPr/>
          <p:nvPr/>
        </p:nvSpPr>
        <p:spPr>
          <a:xfrm>
            <a:off x="952500" y="1381125"/>
            <a:ext cx="762000" cy="762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164479" y="15901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5007" y="17268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Rectangle 11"/>
          <p:cNvSpPr/>
          <p:nvPr/>
        </p:nvSpPr>
        <p:spPr>
          <a:xfrm>
            <a:off x="1924050" y="1123950"/>
            <a:ext cx="96964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1924050" y="1123950"/>
            <a:ext cx="47625" cy="12382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2152650" y="1285875"/>
            <a:ext cx="164830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数据层独立验证</a:t>
            </a:r>
          </a:p>
        </p:txBody>
      </p:sp>
      <p:sp>
        <p:nvSpPr>
          <p:cNvPr id="14" name="Rectangle 14"/>
          <p:cNvSpPr/>
          <p:nvPr/>
        </p:nvSpPr>
        <p:spPr>
          <a:xfrm>
            <a:off x="3695700" y="1276350"/>
            <a:ext cx="1295400" cy="266700"/>
          </a:xfrm>
          <a:prstGeom prst="roundRect">
            <a:avLst>
              <a:gd name="adj" fmla="val 21429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02114" y="1352074"/>
            <a:ext cx="14825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先跑 Python，不开 AI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57412" y="1574006"/>
            <a:ext cx="43580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直接运行 Python 脚本，确认数据抓取正确，再接 LLM 分析</a:t>
            </a:r>
          </a:p>
        </p:txBody>
      </p:sp>
      <p:sp>
        <p:nvSpPr>
          <p:cNvPr id="17" name="Rectangle 17"/>
          <p:cNvSpPr/>
          <p:nvPr/>
        </p:nvSpPr>
        <p:spPr>
          <a:xfrm>
            <a:off x="2171700" y="1838325"/>
            <a:ext cx="9239250" cy="381000"/>
          </a:xfrm>
          <a:prstGeom prst="roundRect">
            <a:avLst>
              <a:gd name="adj" fmla="val 15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2348865" y="1915478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$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01265" y="1915478"/>
            <a:ext cx="33007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python ticker_scan.py --sector ai --limit 5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55118" y="1923574"/>
            <a:ext cx="37271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→ 看输出：候选股列表 + 各项指标数值，检查是否符合预期</a:t>
            </a:r>
          </a:p>
        </p:txBody>
      </p:sp>
      <p:sp>
        <p:nvSpPr>
          <p:cNvPr id="21" name="Ellipse 21"/>
          <p:cNvSpPr/>
          <p:nvPr/>
        </p:nvSpPr>
        <p:spPr>
          <a:xfrm>
            <a:off x="952500" y="3286125"/>
            <a:ext cx="762000" cy="762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164479" y="34951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3378" y="36318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924050" y="3028950"/>
            <a:ext cx="96964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1924050" y="3028950"/>
            <a:ext cx="47625" cy="12382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152650" y="3190875"/>
            <a:ext cx="148728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输出验证</a:t>
            </a:r>
          </a:p>
        </p:txBody>
      </p:sp>
      <p:sp>
        <p:nvSpPr>
          <p:cNvPr id="27" name="Rectangle 27"/>
          <p:cNvSpPr/>
          <p:nvPr/>
        </p:nvSpPr>
        <p:spPr>
          <a:xfrm>
            <a:off x="3695700" y="3181350"/>
            <a:ext cx="1295400" cy="266700"/>
          </a:xfrm>
          <a:prstGeom prst="roundRect">
            <a:avLst>
              <a:gd name="adj" fmla="val 21429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3572210" y="3257074"/>
            <a:ext cx="15423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接 LLM，检查输出质量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157412" y="3479006"/>
            <a:ext cx="57217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 /ticker-scan，对照三个问题：格式对不对？逻辑对不对？结论能用吗？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171700" y="3743325"/>
            <a:ext cx="2857500" cy="381000"/>
          </a:xfrm>
          <a:prstGeom prst="roundRect">
            <a:avLst>
              <a:gd name="adj" fmla="val 15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348865" y="3868102"/>
            <a:ext cx="19282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格式：表格/列表如期输出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162550" y="3743325"/>
            <a:ext cx="2857500" cy="381000"/>
          </a:xfrm>
          <a:prstGeom prst="roundRect">
            <a:avLst>
              <a:gd name="adj" fmla="val 15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5339715" y="386810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逻辑：过滤条件执行正确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153400" y="3743325"/>
            <a:ext cx="3124200" cy="381000"/>
          </a:xfrm>
          <a:prstGeom prst="roundRect">
            <a:avLst>
              <a:gd name="adj" fmla="val 15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330565" y="386810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结论：候选股有足够理由</a:t>
            </a:r>
          </a:p>
        </p:txBody>
      </p:sp>
      <p:sp>
        <p:nvSpPr>
          <p:cNvPr id="36" name="Ellipse 36"/>
          <p:cNvSpPr/>
          <p:nvPr/>
        </p:nvSpPr>
        <p:spPr>
          <a:xfrm>
            <a:off x="952500" y="5095875"/>
            <a:ext cx="762000" cy="7620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164479" y="530494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73378" y="5451158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39" name="Rectangle 39"/>
          <p:cNvSpPr/>
          <p:nvPr/>
        </p:nvSpPr>
        <p:spPr>
          <a:xfrm>
            <a:off x="1924050" y="4838700"/>
            <a:ext cx="9696450" cy="1238250"/>
          </a:xfrm>
          <a:prstGeom prst="roundRect">
            <a:avLst>
              <a:gd name="adj" fmla="val 9231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1924050" y="4838700"/>
            <a:ext cx="47625" cy="12382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2152650" y="5000625"/>
            <a:ext cx="168280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边界 &amp; 异常测试</a:t>
            </a:r>
          </a:p>
        </p:txBody>
      </p:sp>
      <p:sp>
        <p:nvSpPr>
          <p:cNvPr id="42" name="Rectangle 42"/>
          <p:cNvSpPr/>
          <p:nvPr/>
        </p:nvSpPr>
        <p:spPr>
          <a:xfrm>
            <a:off x="3695700" y="4991100"/>
            <a:ext cx="1295400" cy="266700"/>
          </a:xfrm>
          <a:prstGeom prst="roundRect">
            <a:avLst>
              <a:gd name="adj" fmla="val 21429"/>
            </a:avLst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3501189" y="5066824"/>
            <a:ext cx="168442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让它"出错"，看怎么处理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157412" y="5288756"/>
            <a:ext cx="45798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喂给坏数据、空输入、不存在的股票——好的 Skill 应该优雅失败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2171700" y="5553075"/>
            <a:ext cx="2809875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2348865" y="567785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空结果：没有候选股时怎么说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114925" y="5553075"/>
            <a:ext cx="2809875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48" name="TextBox 48"/>
          <p:cNvSpPr txBox="1"/>
          <p:nvPr/>
        </p:nvSpPr>
        <p:spPr>
          <a:xfrm>
            <a:off x="5292090" y="5677852"/>
            <a:ext cx="18208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数据缺失：API 返回不完整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058150" y="5553075"/>
            <a:ext cx="348615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8235315" y="5677852"/>
            <a:ext cx="197424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极端输入：100 支股同时扫描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 rot="-1200000">
            <a:off x="8334610" y="3204338"/>
            <a:ext cx="3679031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solidFill>
                  <a:srgbClr val="C96133">
                    <a:alphaMod val="4000"/>
                  </a:srgbClr>
                </a:solidFill>
                <a:latin typeface="Arial"/>
                <a:ea typeface="Microsoft YaHei"/>
                <a:cs typeface="Arial"/>
              </a:rPr>
              <a:t>SKILL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746760" y="337185"/>
            <a:ext cx="474736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工程：五个核心原则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65810" y="784860"/>
            <a:ext cx="31413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把任何专家方法变成 AI Skill 的通用路径</a:t>
            </a:r>
          </a:p>
        </p:txBody>
      </p:sp>
      <p:sp>
        <p:nvSpPr>
          <p:cNvPr id="8" name="Line 8"/>
          <p:cNvSpPr/>
          <p:nvPr/>
        </p:nvSpPr>
        <p:spPr>
          <a:xfrm>
            <a:off x="1047750" y="1257300"/>
            <a:ext cx="9525" cy="4953000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w="28575">
            <a:gradFill>
              <a:gsLst>
                <a:gs pos="0">
                  <a:srgbClr val="C96133"/>
                </a:gs>
                <a:gs pos="100000">
                  <a:srgbClr val="3A9E6A"/>
                </a:gs>
              </a:gsLst>
              <a:lin ang="5400000" scaled="1"/>
            </a:gradFill>
          </a:ln>
        </p:spPr>
      </p:sp>
      <p:sp>
        <p:nvSpPr>
          <p:cNvPr id="9" name="Ellipse 9"/>
          <p:cNvSpPr/>
          <p:nvPr/>
        </p:nvSpPr>
        <p:spPr>
          <a:xfrm>
            <a:off x="838200" y="1238250"/>
            <a:ext cx="419100" cy="4191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04907" y="1375410"/>
            <a:ext cx="85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1" name="Line 11"/>
          <p:cNvSpPr/>
          <p:nvPr/>
        </p:nvSpPr>
        <p:spPr>
          <a:xfrm>
            <a:off x="1257300" y="14478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C96133"/>
            </a:solidFill>
            <a:custDash>
              <a:ds d="266666" sp="200000"/>
            </a:custDash>
          </a:ln>
        </p:spPr>
      </p:sp>
      <p:sp>
        <p:nvSpPr>
          <p:cNvPr id="12" name="Rectangle 12"/>
          <p:cNvSpPr/>
          <p:nvPr/>
        </p:nvSpPr>
        <p:spPr>
          <a:xfrm>
            <a:off x="1714500" y="11239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984058" y="1262539"/>
            <a:ext cx="392332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先搞清楚"需要解决什么问题"，再写 prompt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86915" y="1524952"/>
            <a:ext cx="50873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问三个问题：用户输入什么？期待什么输出？在什么场景下用？答完再动笔</a:t>
            </a:r>
          </a:p>
        </p:txBody>
      </p:sp>
      <p:sp>
        <p:nvSpPr>
          <p:cNvPr id="15" name="Ellipse 15"/>
          <p:cNvSpPr/>
          <p:nvPr/>
        </p:nvSpPr>
        <p:spPr>
          <a:xfrm>
            <a:off x="838200" y="2152650"/>
            <a:ext cx="419100" cy="419100"/>
          </a:xfrm>
          <a:prstGeom prst="ellipse">
            <a:avLst/>
          </a:prstGeom>
          <a:solidFill>
            <a:srgbClr val="D44545">
              <a:alpha val="85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981904" y="22898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7" name="Line 17"/>
          <p:cNvSpPr/>
          <p:nvPr/>
        </p:nvSpPr>
        <p:spPr>
          <a:xfrm>
            <a:off x="1257300" y="23622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D44545"/>
            </a:solidFill>
            <a:custDash>
              <a:ds d="266666" sp="200000"/>
            </a:custDash>
          </a:ln>
        </p:spPr>
      </p:sp>
      <p:sp>
        <p:nvSpPr>
          <p:cNvPr id="18" name="Rectangle 18"/>
          <p:cNvSpPr/>
          <p:nvPr/>
        </p:nvSpPr>
        <p:spPr>
          <a:xfrm>
            <a:off x="1714500" y="20383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984058" y="2176939"/>
            <a:ext cx="43143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数据层 Python + 分析层 LLM，永远不要混在一起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986915" y="2439352"/>
            <a:ext cx="54936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改框架只改 .md prompt；加数据只改 Python——各自的边界越清晰，迭代越容易</a:t>
            </a:r>
          </a:p>
        </p:txBody>
      </p:sp>
      <p:sp>
        <p:nvSpPr>
          <p:cNvPr id="21" name="Ellipse 21"/>
          <p:cNvSpPr/>
          <p:nvPr/>
        </p:nvSpPr>
        <p:spPr>
          <a:xfrm>
            <a:off x="838200" y="3067050"/>
            <a:ext cx="419100" cy="4191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981904" y="32042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3" name="Line 23"/>
          <p:cNvSpPr/>
          <p:nvPr/>
        </p:nvSpPr>
        <p:spPr>
          <a:xfrm>
            <a:off x="1257300" y="32766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3D7DE4"/>
            </a:solidFill>
            <a:custDash>
              <a:ds d="266666" sp="200000"/>
            </a:custDash>
          </a:ln>
        </p:spPr>
      </p:sp>
      <p:sp>
        <p:nvSpPr>
          <p:cNvPr id="24" name="Rectangle 24"/>
          <p:cNvSpPr/>
          <p:nvPr/>
        </p:nvSpPr>
        <p:spPr>
          <a:xfrm>
            <a:off x="1714500" y="29527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984058" y="3091339"/>
            <a:ext cx="4197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三步验证：数据正确 → 输出格式对 → 边界不崩溃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86915" y="3353752"/>
            <a:ext cx="48036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 python 独立跑通，再接 LLM，最后喂坏数据——任何一步崩了都要修</a:t>
            </a:r>
          </a:p>
        </p:txBody>
      </p:sp>
      <p:sp>
        <p:nvSpPr>
          <p:cNvPr id="27" name="Ellipse 27"/>
          <p:cNvSpPr/>
          <p:nvPr/>
        </p:nvSpPr>
        <p:spPr>
          <a:xfrm>
            <a:off x="838200" y="3981450"/>
            <a:ext cx="419100" cy="419100"/>
          </a:xfrm>
          <a:prstGeom prst="ellipse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981904" y="41186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9" name="Line 29"/>
          <p:cNvSpPr/>
          <p:nvPr/>
        </p:nvSpPr>
        <p:spPr>
          <a:xfrm>
            <a:off x="1257300" y="41910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5A5A5A"/>
            </a:solidFill>
            <a:custDash>
              <a:ds d="266666" sp="200000"/>
            </a:custDash>
          </a:ln>
        </p:spPr>
      </p:sp>
      <p:sp>
        <p:nvSpPr>
          <p:cNvPr id="30" name="Rectangle 30"/>
          <p:cNvSpPr/>
          <p:nvPr/>
        </p:nvSpPr>
        <p:spPr>
          <a:xfrm>
            <a:off x="1714500" y="38671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984058" y="4005739"/>
            <a:ext cx="392332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Prompt 是代码——用版本管理，留下改动记录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986915" y="4268152"/>
            <a:ext cx="53786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改了 prompt 就 git commit，注明为什么改——下次出 bug 才知道是哪次改坏的</a:t>
            </a:r>
          </a:p>
        </p:txBody>
      </p:sp>
      <p:sp>
        <p:nvSpPr>
          <p:cNvPr id="33" name="Ellipse 33"/>
          <p:cNvSpPr/>
          <p:nvPr/>
        </p:nvSpPr>
        <p:spPr>
          <a:xfrm>
            <a:off x="838200" y="4895850"/>
            <a:ext cx="419100" cy="4191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1904" y="50330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5" name="Line 35"/>
          <p:cNvSpPr/>
          <p:nvPr/>
        </p:nvSpPr>
        <p:spPr>
          <a:xfrm>
            <a:off x="1257300" y="51054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3A9E6A"/>
            </a:solidFill>
            <a:custDash>
              <a:ds d="266666" sp="200000"/>
            </a:custDash>
          </a:ln>
        </p:spPr>
      </p:sp>
      <p:sp>
        <p:nvSpPr>
          <p:cNvPr id="36" name="Rectangle 36"/>
          <p:cNvSpPr/>
          <p:nvPr/>
        </p:nvSpPr>
        <p:spPr>
          <a:xfrm>
            <a:off x="1714500" y="47815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984058" y="4920139"/>
            <a:ext cx="376690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这套架构适用于任何专家方法——不只是炒股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986915" y="5182552"/>
            <a:ext cx="50182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法律合同审查 / 医疗初诊 / 财务分析——数据层 + 分析层，换个领域就能跑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71500" y="5715000"/>
            <a:ext cx="11049000" cy="628650"/>
          </a:xfrm>
          <a:prstGeom prst="roundRect">
            <a:avLst>
              <a:gd name="adj" fmla="val 1818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2970771" y="5928360"/>
            <a:ext cx="625045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你学到的不是"炒股 AI"——你学到的是把任何专业知识系统化为 AI 工具的方法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16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8100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65810" y="394335"/>
            <a:ext cx="468525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完整系统：4 Skill 流水线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3908" y="814864"/>
            <a:ext cx="43990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从候选股扫描到止盈离场，一条完整的 AI 辅助决策链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62050"/>
            <a:ext cx="11049000" cy="4191000"/>
          </a:xfrm>
          <a:prstGeom prst="roundRect">
            <a:avLst>
              <a:gd name="adj" fmla="val 3636"/>
            </a:avLst>
          </a:prstGeom>
          <a:solidFill>
            <a:srgbClr val="F0EDE8">
              <a:alpha val="50000"/>
            </a:srgbClr>
          </a:solidFill>
          <a:ln w="19050">
            <a:solidFill>
              <a:srgbClr val="C96133"/>
            </a:solidFill>
            <a:custDash>
              <a:ds d="500000" sp="300000"/>
            </a:custDash>
          </a:ln>
        </p:spPr>
      </p:sp>
      <p:sp>
        <p:nvSpPr>
          <p:cNvPr id="8" name="TextBox 8"/>
          <p:cNvSpPr txBox="1"/>
          <p:nvPr/>
        </p:nvSpPr>
        <p:spPr>
          <a:xfrm>
            <a:off x="4992131" y="1304449"/>
            <a:ext cx="22077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>
                    <a:alphaMod val="60000"/>
                  </a:srgbClr>
                </a:solidFill>
                <a:latin typeface="Arial"/>
                <a:ea typeface="Microsoft YaHei"/>
                <a:cs typeface="Arial"/>
              </a:rPr>
              <a:t>stock-analysis-lite · 完整系统</a:t>
            </a:r>
          </a:p>
        </p:txBody>
      </p:sp>
      <p:sp>
        <p:nvSpPr>
          <p:cNvPr id="9" name="Rectangle 9"/>
          <p:cNvSpPr/>
          <p:nvPr/>
        </p:nvSpPr>
        <p:spPr>
          <a:xfrm>
            <a:off x="952500" y="1562100"/>
            <a:ext cx="2571750" cy="33909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C96133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952500" y="1562100"/>
            <a:ext cx="2571750" cy="552450"/>
          </a:xfrm>
          <a:prstGeom prst="roundRect">
            <a:avLst>
              <a:gd name="adj" fmla="val 24138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952500" y="1905000"/>
            <a:ext cx="257175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803166" y="1663541"/>
            <a:ext cx="87041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LAYER 01 · 扫描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63923" y="1854518"/>
            <a:ext cx="134890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80960" y="22869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七大热门赛道扫描</a:t>
            </a:r>
          </a:p>
        </p:txBody>
      </p:sp>
      <p:sp>
        <p:nvSpPr>
          <p:cNvPr id="15" name="Line 15"/>
          <p:cNvSpPr/>
          <p:nvPr/>
        </p:nvSpPr>
        <p:spPr>
          <a:xfrm>
            <a:off x="1143000" y="2552700"/>
            <a:ext cx="2190750" cy="9525"/>
          </a:xfrm>
          <a:custGeom>
            <a:avLst/>
            <a:gdLst/>
            <a:ahLst/>
            <a:cxnLst/>
            <a:rect l="l" t="t" r="r" b="b"/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1542478" y="2695099"/>
            <a:ext cx="13917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拉取市场数据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16917" y="290464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LLM 过滤候选股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67398" y="3114199"/>
            <a:ext cx="13419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输出：5–10 支候选股</a:t>
            </a:r>
          </a:p>
        </p:txBody>
      </p:sp>
      <p:sp>
        <p:nvSpPr>
          <p:cNvPr id="19" name="Rectangle 19"/>
          <p:cNvSpPr/>
          <p:nvPr/>
        </p:nvSpPr>
        <p:spPr>
          <a:xfrm>
            <a:off x="1143000" y="3448050"/>
            <a:ext cx="2190750" cy="438150"/>
          </a:xfrm>
          <a:prstGeom prst="roundRect">
            <a:avLst>
              <a:gd name="adj" fmla="val 17391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2088928" y="35318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59862" y="3703320"/>
            <a:ext cx="13570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候选股列表 + 赛道标签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143000" y="4038600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1964055" y="414147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98796" y="43143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每周定期运行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27597" y="45048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市场有新趋势时</a:t>
            </a:r>
          </a:p>
        </p:txBody>
      </p:sp>
      <p:sp>
        <p:nvSpPr>
          <p:cNvPr id="26" name="Polygon 26"/>
          <p:cNvSpPr/>
          <p:nvPr/>
        </p:nvSpPr>
        <p:spPr>
          <a:xfrm>
            <a:off x="3743325" y="3162300"/>
            <a:ext cx="209550" cy="190500"/>
          </a:xfrm>
          <a:custGeom>
            <a:avLst/>
            <a:gdLst/>
            <a:ahLst/>
            <a:cxnLst/>
            <a:rect l="l" t="t" r="r" b="b"/>
            <a:pathLst>
              <a:path w="209550" h="19050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" name="Line 27"/>
          <p:cNvSpPr/>
          <p:nvPr/>
        </p:nvSpPr>
        <p:spPr>
          <a:xfrm>
            <a:off x="3524250" y="3257550"/>
            <a:ext cx="428625" cy="9525"/>
          </a:xfrm>
          <a:custGeom>
            <a:avLst/>
            <a:gdLst/>
            <a:ahLst/>
            <a:cxnLst/>
            <a:rect l="l" t="t" r="r" b="b"/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23812">
            <a:solidFill>
              <a:srgbClr val="C96133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3952875" y="1562100"/>
            <a:ext cx="2571750" cy="33909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3D7DE4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3952875" y="1562100"/>
            <a:ext cx="2571750" cy="552450"/>
          </a:xfrm>
          <a:prstGeom prst="roundRect">
            <a:avLst>
              <a:gd name="adj" fmla="val 24138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3952875" y="1905000"/>
            <a:ext cx="2571750" cy="2095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788479" y="1663541"/>
            <a:ext cx="9005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LAYER 02 · 分析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450434" y="1854518"/>
            <a:ext cx="157663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641717" y="2286952"/>
            <a:ext cx="119406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BAIT 基本面评分</a:t>
            </a:r>
          </a:p>
        </p:txBody>
      </p:sp>
      <p:sp>
        <p:nvSpPr>
          <p:cNvPr id="34" name="Line 34"/>
          <p:cNvSpPr/>
          <p:nvPr/>
        </p:nvSpPr>
        <p:spPr>
          <a:xfrm>
            <a:off x="4143375" y="2552700"/>
            <a:ext cx="2190750" cy="9525"/>
          </a:xfrm>
          <a:custGeom>
            <a:avLst/>
            <a:gdLst/>
            <a:ahLst/>
            <a:cxnLst/>
            <a:rect l="l" t="t" r="r" b="b"/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4663892" y="2695099"/>
            <a:ext cx="11497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B·A·I·T 四维评分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571333" y="2904649"/>
            <a:ext cx="13348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总分 &gt; 28/40 才继续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799171" y="31141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输出分析报告</a:t>
            </a:r>
          </a:p>
        </p:txBody>
      </p:sp>
      <p:sp>
        <p:nvSpPr>
          <p:cNvPr id="38" name="Rectangle 38"/>
          <p:cNvSpPr/>
          <p:nvPr/>
        </p:nvSpPr>
        <p:spPr>
          <a:xfrm>
            <a:off x="4143375" y="3448050"/>
            <a:ext cx="2190750" cy="438150"/>
          </a:xfrm>
          <a:prstGeom prst="roundRect">
            <a:avLst>
              <a:gd name="adj" fmla="val 1739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5089303" y="35318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560237" y="3703320"/>
            <a:ext cx="13570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精选股 + 深度分析报告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143375" y="4038600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EBF2FF">
              <a:alpha val="50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964430" y="414147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656772" y="431434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对候选股逐一分析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727972" y="45048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淘汰基本面差的</a:t>
            </a:r>
          </a:p>
        </p:txBody>
      </p:sp>
      <p:sp>
        <p:nvSpPr>
          <p:cNvPr id="45" name="Polygon 45"/>
          <p:cNvSpPr/>
          <p:nvPr/>
        </p:nvSpPr>
        <p:spPr>
          <a:xfrm>
            <a:off x="6743700" y="3162300"/>
            <a:ext cx="209550" cy="190500"/>
          </a:xfrm>
          <a:custGeom>
            <a:avLst/>
            <a:gdLst/>
            <a:ahLst/>
            <a:cxnLst/>
            <a:rect l="l" t="t" r="r" b="b"/>
            <a:pathLst>
              <a:path w="209550" h="19050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6" name="Line 46"/>
          <p:cNvSpPr/>
          <p:nvPr/>
        </p:nvSpPr>
        <p:spPr>
          <a:xfrm>
            <a:off x="6524625" y="3257550"/>
            <a:ext cx="428625" cy="9525"/>
          </a:xfrm>
          <a:custGeom>
            <a:avLst/>
            <a:gdLst/>
            <a:ahLst/>
            <a:cxnLst/>
            <a:rect l="l" t="t" r="r" b="b"/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23812">
            <a:solidFill>
              <a:srgbClr val="3D7DE4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6953250" y="1562100"/>
            <a:ext cx="4286250" cy="3390900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9050">
            <a:solidFill>
              <a:srgbClr val="3A9E6A"/>
            </a:solidFill>
          </a:ln>
        </p:spPr>
      </p:sp>
      <p:sp>
        <p:nvSpPr>
          <p:cNvPr id="48" name="Rectangle 48"/>
          <p:cNvSpPr/>
          <p:nvPr/>
        </p:nvSpPr>
        <p:spPr>
          <a:xfrm>
            <a:off x="6953250" y="1562100"/>
            <a:ext cx="4286250" cy="552450"/>
          </a:xfrm>
          <a:prstGeom prst="roundRect">
            <a:avLst>
              <a:gd name="adj" fmla="val 24138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6953250" y="1905000"/>
            <a:ext cx="4286250" cy="20955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646104" y="1663541"/>
            <a:ext cx="9005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LAYER 03 · 决策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676630" y="1854518"/>
            <a:ext cx="283949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/stock-entry + /stock-exit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068613" y="2286952"/>
            <a:ext cx="20555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SEPA 入场 + Moneyball 离场</a:t>
            </a:r>
          </a:p>
        </p:txBody>
      </p:sp>
      <p:sp>
        <p:nvSpPr>
          <p:cNvPr id="53" name="Line 53"/>
          <p:cNvSpPr/>
          <p:nvPr/>
        </p:nvSpPr>
        <p:spPr>
          <a:xfrm>
            <a:off x="7143750" y="2552700"/>
            <a:ext cx="3905250" cy="9525"/>
          </a:xfrm>
          <a:custGeom>
            <a:avLst/>
            <a:gdLst/>
            <a:ahLst/>
            <a:cxnLst/>
            <a:rect l="l" t="t" r="r" b="b"/>
            <a:pathLst>
              <a:path w="3905250" h="9525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4" name="Rectangle 54"/>
          <p:cNvSpPr/>
          <p:nvPr/>
        </p:nvSpPr>
        <p:spPr>
          <a:xfrm>
            <a:off x="7143750" y="2647950"/>
            <a:ext cx="1905000" cy="762000"/>
          </a:xfrm>
          <a:prstGeom prst="roundRect">
            <a:avLst>
              <a:gd name="adj" fmla="val 1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7590456" y="2742724"/>
            <a:ext cx="101158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756208" y="2941320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轴心点确认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486745" y="3112770"/>
            <a:ext cx="12190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入场区间 + R/R 计算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407878" y="3255645"/>
            <a:ext cx="13767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基于 SEPA + Moneyball</a:t>
            </a:r>
          </a:p>
        </p:txBody>
      </p:sp>
      <p:sp>
        <p:nvSpPr>
          <p:cNvPr id="59" name="Rectangle 59"/>
          <p:cNvSpPr/>
          <p:nvPr/>
        </p:nvSpPr>
        <p:spPr>
          <a:xfrm>
            <a:off x="9182100" y="2647950"/>
            <a:ext cx="1905000" cy="762000"/>
          </a:xfrm>
          <a:prstGeom prst="roundRect">
            <a:avLst>
              <a:gd name="adj" fmla="val 1000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9688613" y="2742724"/>
            <a:ext cx="8919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/stock-exit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728835" y="2941320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持仓健康检查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692688" y="3112770"/>
            <a:ext cx="88382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止盈/止损时机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728835" y="32556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分批离场策略</a:t>
            </a:r>
          </a:p>
        </p:txBody>
      </p:sp>
      <p:sp>
        <p:nvSpPr>
          <p:cNvPr id="64" name="Rectangle 64"/>
          <p:cNvSpPr/>
          <p:nvPr/>
        </p:nvSpPr>
        <p:spPr>
          <a:xfrm>
            <a:off x="7143750" y="3543300"/>
            <a:ext cx="3943350" cy="438150"/>
          </a:xfrm>
          <a:prstGeom prst="roundRect">
            <a:avLst>
              <a:gd name="adj" fmla="val 17391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8965978" y="362712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891415" y="3798570"/>
            <a:ext cx="24480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入场计划 / 止损位 / 目标价 · 或离场建议</a:t>
            </a:r>
          </a:p>
        </p:txBody>
      </p:sp>
      <p:sp>
        <p:nvSpPr>
          <p:cNvPr id="67" name="Rectangle 67"/>
          <p:cNvSpPr/>
          <p:nvPr/>
        </p:nvSpPr>
        <p:spPr>
          <a:xfrm>
            <a:off x="7143750" y="4038600"/>
            <a:ext cx="3943350" cy="762000"/>
          </a:xfrm>
          <a:prstGeom prst="roundRect">
            <a:avLst>
              <a:gd name="adj" fmla="val 10000"/>
            </a:avLst>
          </a:prstGeom>
          <a:solidFill>
            <a:srgbClr val="EBF7F1">
              <a:alpha val="50000"/>
            </a:srgbClr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8841105" y="414147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095571" y="4314349"/>
            <a:ext cx="20397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准备入场前 · 持仓期间定期复查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604647" y="45048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出现止损信号时</a:t>
            </a:r>
          </a:p>
        </p:txBody>
      </p:sp>
      <p:sp>
        <p:nvSpPr>
          <p:cNvPr id="71" name="Rectangle 71"/>
          <p:cNvSpPr/>
          <p:nvPr/>
        </p:nvSpPr>
        <p:spPr>
          <a:xfrm>
            <a:off x="571500" y="5619750"/>
            <a:ext cx="11049000" cy="609600"/>
          </a:xfrm>
          <a:prstGeom prst="roundRect">
            <a:avLst>
              <a:gd name="adj" fmla="val 1875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72" name="TextBox 72"/>
          <p:cNvSpPr txBox="1"/>
          <p:nvPr/>
        </p:nvSpPr>
        <p:spPr>
          <a:xfrm>
            <a:off x="1852196" y="572404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候选股列表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3643384" y="5826442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4841357" y="5724049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精选 + 报告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596134" y="5826442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447570" y="5724049"/>
            <a:ext cx="13928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入场计划 / 离场建议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300073" y="6038374"/>
            <a:ext cx="35918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60000"/>
                  </a:srgbClr>
                </a:solidFill>
                <a:latin typeface="Arial"/>
                <a:ea typeface="Microsoft YaHei"/>
                <a:cs typeface="Arial"/>
              </a:rPr>
              <a:t>整个流程不超过 30 分钟——手动做同样的事需要 3–5 小时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17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646568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作业：写一个 /market-daily Skill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55161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用今天学到的两层架构，给自己选一个赛道，做一个每日市场速报 Skill</a:t>
            </a:r>
          </a:p>
        </p:txBody>
      </p:sp>
      <p:sp>
        <p:nvSpPr>
          <p:cNvPr id="7" name="Rectangle 7"/>
          <p:cNvSpPr/>
          <p:nvPr/>
        </p:nvSpPr>
        <p:spPr>
          <a:xfrm>
            <a:off x="9429750" y="381000"/>
            <a:ext cx="952500" cy="457200"/>
          </a:xfrm>
          <a:prstGeom prst="roundRect">
            <a:avLst>
              <a:gd name="adj" fmla="val 20833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9559878" y="464820"/>
            <a:ext cx="6922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⏱ 预计时长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578316" y="61626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60 min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0515600" y="381000"/>
            <a:ext cx="1104900" cy="457200"/>
          </a:xfrm>
          <a:prstGeom prst="roundRect">
            <a:avLst>
              <a:gd name="adj" fmla="val 20833"/>
            </a:avLst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0859945" y="464820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★ 难度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40366" y="61626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入门级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71500" y="1123950"/>
            <a:ext cx="110490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4" name="Ellipse 14"/>
          <p:cNvSpPr/>
          <p:nvPr/>
        </p:nvSpPr>
        <p:spPr>
          <a:xfrm>
            <a:off x="781050" y="150495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35879" y="16663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76407" y="17840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02105" y="1263968"/>
            <a:ext cx="18975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选赛道，想清楚需求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619250" y="1123950"/>
            <a:ext cx="38100" cy="14097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1754505" y="1263968"/>
            <a:ext cx="18975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选赛道，想清楚需求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58315" y="1544002"/>
            <a:ext cx="34004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从七大热门赛道中选一个你感兴趣的，然后回答：</a:t>
            </a:r>
          </a:p>
        </p:txBody>
      </p:sp>
      <p:sp>
        <p:nvSpPr>
          <p:cNvPr id="21" name="Rectangle 21"/>
          <p:cNvSpPr/>
          <p:nvPr/>
        </p:nvSpPr>
        <p:spPr>
          <a:xfrm>
            <a:off x="1771650" y="1762125"/>
            <a:ext cx="285750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2496979" y="18678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用户说什么触发它？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762500" y="1762125"/>
            <a:ext cx="285750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411152" y="186785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输出几行？什么格式？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753350" y="1762125"/>
            <a:ext cx="371475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447246" y="18678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哪些数据是必须的？哪些是加分？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59268" y="2256949"/>
            <a:ext cx="5001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✓ 建议：先用 claude 对话把需求说清楚，让 claude 帮你整理再开始写 prompt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2705100"/>
            <a:ext cx="110490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571500" y="2705100"/>
            <a:ext cx="38100" cy="14097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0" name="Ellipse 30"/>
          <p:cNvSpPr/>
          <p:nvPr/>
        </p:nvSpPr>
        <p:spPr>
          <a:xfrm>
            <a:off x="781050" y="3086100"/>
            <a:ext cx="647700" cy="647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935879" y="324754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44778" y="33651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754505" y="2845118"/>
            <a:ext cx="150417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写 Prompt 文件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758315" y="3125152"/>
            <a:ext cx="586173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在 .claude/commands/market-daily.md 里写 prompt，参考今天演示的四段结构：</a:t>
            </a:r>
          </a:p>
        </p:txBody>
      </p:sp>
      <p:sp>
        <p:nvSpPr>
          <p:cNvPr id="35" name="Rectangle 35"/>
          <p:cNvSpPr/>
          <p:nvPr/>
        </p:nvSpPr>
        <p:spPr>
          <a:xfrm>
            <a:off x="177165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2101535" y="3438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① 角色定义</a:t>
            </a:r>
          </a:p>
        </p:txBody>
      </p:sp>
      <p:sp>
        <p:nvSpPr>
          <p:cNvPr id="37" name="Rectangle 37"/>
          <p:cNvSpPr/>
          <p:nvPr/>
        </p:nvSpPr>
        <p:spPr>
          <a:xfrm>
            <a:off x="331470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3569825" y="3438049"/>
            <a:ext cx="8994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② 上下文说明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85775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5187635" y="3438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③ 执行指令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40080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6730685" y="3438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④ 输出格式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759268" y="3799999"/>
            <a:ext cx="49588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加分项：先用 Python 写数据抓取脚本，Skill 调用脚本而非直接让 LLM 猜数据</a:t>
            </a:r>
          </a:p>
        </p:txBody>
      </p:sp>
      <p:sp>
        <p:nvSpPr>
          <p:cNvPr id="44" name="Rectangle 44"/>
          <p:cNvSpPr/>
          <p:nvPr/>
        </p:nvSpPr>
        <p:spPr>
          <a:xfrm>
            <a:off x="571500" y="4286250"/>
            <a:ext cx="11049000" cy="1409700"/>
          </a:xfrm>
          <a:prstGeom prst="roundRect">
            <a:avLst>
              <a:gd name="adj" fmla="val 8108"/>
            </a:avLst>
          </a:prstGeom>
          <a:solidFill>
            <a:srgbClr val="EBF7F1"/>
          </a:solidFill>
          <a:ln w="19050">
            <a:solidFill>
              <a:srgbClr val="3A9E6A"/>
            </a:solidFill>
          </a:ln>
        </p:spPr>
      </p:sp>
      <p:sp>
        <p:nvSpPr>
          <p:cNvPr id="45" name="Rectangle 45"/>
          <p:cNvSpPr/>
          <p:nvPr/>
        </p:nvSpPr>
        <p:spPr>
          <a:xfrm>
            <a:off x="571500" y="4286250"/>
            <a:ext cx="38100" cy="14097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6" name="Ellipse 46"/>
          <p:cNvSpPr/>
          <p:nvPr/>
        </p:nvSpPr>
        <p:spPr>
          <a:xfrm>
            <a:off x="781050" y="4667250"/>
            <a:ext cx="647700" cy="6477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935879" y="48286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44778" y="49463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754505" y="4426268"/>
            <a:ext cx="148347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运行并截图提交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758315" y="4706302"/>
            <a:ext cx="54323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 /market-daily，截图输出结果，发到群里——哪怕不完美，跑起来就算完成</a:t>
            </a:r>
          </a:p>
        </p:txBody>
      </p:sp>
      <p:sp>
        <p:nvSpPr>
          <p:cNvPr id="51" name="Rectangle 51"/>
          <p:cNvSpPr/>
          <p:nvPr/>
        </p:nvSpPr>
        <p:spPr>
          <a:xfrm>
            <a:off x="1771650" y="4933950"/>
            <a:ext cx="42862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2460310" y="5058728"/>
            <a:ext cx="29089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提交物 1：market-daily.md 文件截图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191250" y="4933950"/>
            <a:ext cx="52387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279675" y="5058728"/>
            <a:ext cx="30618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提交物 2：/market-daily 运行结果截图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759268" y="5438299"/>
            <a:ext cx="6340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参考资料：课程 lite-kit 里有 ticker-scan 完整示例可以参考结构；跟我做-提示词.md 有逐步导读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71500" y="590550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805815" y="6087428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截止时间：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758315" y="6087428"/>
            <a:ext cx="133783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下次课前 48 小时 ·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758315" y="60874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提交到：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749415" y="6087428"/>
            <a:ext cx="1934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课程微信群（作业话题） ·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749415" y="6087428"/>
            <a:ext cx="12304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有问题随时 @助教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18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3857154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参考材料 &amp; 延伸阅读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26593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课程资源、方法论出处、推荐书单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04900"/>
            <a:ext cx="3381375" cy="45720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04900"/>
            <a:ext cx="3381375" cy="495300"/>
          </a:xfrm>
          <a:prstGeom prst="roundRect">
            <a:avLst>
              <a:gd name="adj" fmla="val 23077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409700"/>
            <a:ext cx="3381375" cy="1905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93445" y="1241108"/>
            <a:ext cx="30699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{}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74139" y="128968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课程资源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1752600"/>
            <a:ext cx="3000375" cy="685800"/>
          </a:xfrm>
          <a:prstGeom prst="roundRect">
            <a:avLst>
              <a:gd name="adj" fmla="val 1111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39165" y="1848802"/>
            <a:ext cx="10491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GitHub 代码库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0118" y="204739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stock-analysis-lite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1070" y="2245995"/>
            <a:ext cx="274377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github.com/austinxyz/stock-analysis-lite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62000" y="2552700"/>
            <a:ext cx="3000375" cy="552450"/>
          </a:xfrm>
          <a:prstGeom prst="roundRect">
            <a:avLst>
              <a:gd name="adj" fmla="val 1379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939165" y="2648902"/>
            <a:ext cx="10249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课程 Lite-Kit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0118" y="2866549"/>
            <a:ext cx="27801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4 个 Skill 模板 + ticker_scan.py 数据脚本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19450"/>
            <a:ext cx="3000375" cy="552450"/>
          </a:xfrm>
          <a:prstGeom prst="roundRect">
            <a:avLst>
              <a:gd name="adj" fmla="val 1379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39165" y="3315652"/>
            <a:ext cx="137923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跟我做·提示词.md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0118" y="3514249"/>
            <a:ext cx="201834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作业逐步导读，每步带操作说明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62000" y="3886200"/>
            <a:ext cx="3000375" cy="552450"/>
          </a:xfrm>
          <a:prstGeom prst="roundRect">
            <a:avLst>
              <a:gd name="adj" fmla="val 1379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939165" y="3982402"/>
            <a:ext cx="12906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demo-script.md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0118" y="4180999"/>
            <a:ext cx="25879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今日演示完整脚本（包含所有操作步骤）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552950"/>
            <a:ext cx="3000375" cy="95250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96024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扫码获取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170200" y="48510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□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76079" y="5255895"/>
            <a:ext cx="9626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课程群 / 资料包</a:t>
            </a:r>
          </a:p>
        </p:txBody>
      </p:sp>
      <p:sp>
        <p:nvSpPr>
          <p:cNvPr id="29" name="Rectangle 29"/>
          <p:cNvSpPr/>
          <p:nvPr/>
        </p:nvSpPr>
        <p:spPr>
          <a:xfrm>
            <a:off x="4143375" y="1104900"/>
            <a:ext cx="3571875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4143375" y="1104900"/>
            <a:ext cx="3571875" cy="495300"/>
          </a:xfrm>
          <a:prstGeom prst="roundRect">
            <a:avLst>
              <a:gd name="adj" fmla="val 23077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4143375" y="1409700"/>
            <a:ext cx="3571875" cy="1905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449252" y="1289685"/>
            <a:ext cx="9505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方法论出处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333875" y="1752600"/>
            <a:ext cx="3190875" cy="685800"/>
          </a:xfrm>
          <a:prstGeom prst="roundRect">
            <a:avLst>
              <a:gd name="adj" fmla="val 1111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511040" y="1848802"/>
            <a:ext cx="16851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SEPA — Stage Analysis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511992" y="2047399"/>
            <a:ext cx="36345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Mark Minervini《Trade Like a Stock Market Wizard》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512945" y="2245995"/>
            <a:ext cx="21062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SEPA 框架原著，含 Stage 判断标准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333875" y="2552700"/>
            <a:ext cx="3190875" cy="685800"/>
          </a:xfrm>
          <a:prstGeom prst="roundRect">
            <a:avLst>
              <a:gd name="adj" fmla="val 1111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511040" y="2648902"/>
            <a:ext cx="17656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Moneyball — 非对称风险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511992" y="2847499"/>
            <a:ext cx="32287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William O'Neil《How to Make Money in Stocks》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512945" y="3046095"/>
            <a:ext cx="17053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R/R 2:1 原则 + 仓位管理出处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333875" y="3352800"/>
            <a:ext cx="3190875" cy="685800"/>
          </a:xfrm>
          <a:prstGeom prst="roundRect">
            <a:avLst>
              <a:gd name="adj" fmla="val 1111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511040" y="344900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热门赛道选股方法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511992" y="3647599"/>
            <a:ext cx="20397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七大赛道 + 九大翻倍股选股框架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512945" y="3846195"/>
            <a:ext cx="34798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课程整理版：wiki/frameworks/hot-sector-method.md</a:t>
            </a:r>
          </a:p>
        </p:txBody>
      </p:sp>
      <p:sp>
        <p:nvSpPr>
          <p:cNvPr id="45" name="Rectangle 45"/>
          <p:cNvSpPr/>
          <p:nvPr/>
        </p:nvSpPr>
        <p:spPr>
          <a:xfrm>
            <a:off x="4333875" y="4152900"/>
            <a:ext cx="3190875" cy="552450"/>
          </a:xfrm>
          <a:prstGeom prst="roundRect">
            <a:avLst>
              <a:gd name="adj" fmla="val 13793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4511040" y="4249102"/>
            <a:ext cx="7110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BAIT 评分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11992" y="4447699"/>
            <a:ext cx="24241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合成框架，出处：课程 synthesis.md</a:t>
            </a:r>
          </a:p>
        </p:txBody>
      </p:sp>
      <p:sp>
        <p:nvSpPr>
          <p:cNvPr id="48" name="Rectangle 48"/>
          <p:cNvSpPr/>
          <p:nvPr/>
        </p:nvSpPr>
        <p:spPr>
          <a:xfrm>
            <a:off x="7905750" y="1104900"/>
            <a:ext cx="3714750" cy="4572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9" name="Rectangle 49"/>
          <p:cNvSpPr/>
          <p:nvPr/>
        </p:nvSpPr>
        <p:spPr>
          <a:xfrm>
            <a:off x="7905750" y="11049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0" name="Rectangle 50"/>
          <p:cNvSpPr/>
          <p:nvPr/>
        </p:nvSpPr>
        <p:spPr>
          <a:xfrm>
            <a:off x="7905750" y="1409700"/>
            <a:ext cx="3714750" cy="1905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9379839" y="128968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推荐延伸</a:t>
            </a:r>
          </a:p>
        </p:txBody>
      </p:sp>
      <p:sp>
        <p:nvSpPr>
          <p:cNvPr id="52" name="Rectangle 52"/>
          <p:cNvSpPr/>
          <p:nvPr/>
        </p:nvSpPr>
        <p:spPr>
          <a:xfrm>
            <a:off x="8096250" y="175260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8273415" y="1848802"/>
            <a:ext cx="8076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进阶书目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74368" y="2066449"/>
            <a:ext cx="31432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《Momentum Masters》— Minervini 等四人访谈</a:t>
            </a:r>
          </a:p>
        </p:txBody>
      </p:sp>
      <p:sp>
        <p:nvSpPr>
          <p:cNvPr id="55" name="Rectangle 55"/>
          <p:cNvSpPr/>
          <p:nvPr/>
        </p:nvSpPr>
        <p:spPr>
          <a:xfrm>
            <a:off x="8096250" y="241935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8273415" y="2515552"/>
            <a:ext cx="7593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数据 API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274368" y="2733199"/>
            <a:ext cx="25737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yfinance (免费) · Alpaca · Polygon.io</a:t>
            </a:r>
          </a:p>
        </p:txBody>
      </p:sp>
      <p:sp>
        <p:nvSpPr>
          <p:cNvPr id="58" name="Rectangle 58"/>
          <p:cNvSpPr/>
          <p:nvPr/>
        </p:nvSpPr>
        <p:spPr>
          <a:xfrm>
            <a:off x="8096250" y="308610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8273415" y="3182302"/>
            <a:ext cx="11779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Skill 工程参考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274368" y="3399949"/>
            <a:ext cx="30364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Anthropic Prompt Engineering Guide（官方）</a:t>
            </a:r>
          </a:p>
        </p:txBody>
      </p:sp>
      <p:sp>
        <p:nvSpPr>
          <p:cNvPr id="61" name="Rectangle 61"/>
          <p:cNvSpPr/>
          <p:nvPr/>
        </p:nvSpPr>
        <p:spPr>
          <a:xfrm>
            <a:off x="8096250" y="375285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8273415" y="3849052"/>
            <a:ext cx="6465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下一步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274368" y="4066699"/>
            <a:ext cx="2602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Session 4 预告：多 Agent 协作系统设计</a:t>
            </a:r>
          </a:p>
        </p:txBody>
      </p:sp>
      <p:sp>
        <p:nvSpPr>
          <p:cNvPr id="64" name="Rectangle 64"/>
          <p:cNvSpPr/>
          <p:nvPr/>
        </p:nvSpPr>
        <p:spPr>
          <a:xfrm>
            <a:off x="8096250" y="4419600"/>
            <a:ext cx="3333750" cy="1085850"/>
          </a:xfrm>
          <a:prstGeom prst="roundRect">
            <a:avLst>
              <a:gd name="adj" fmla="val 7018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9465945" y="45619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免责声明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670560" y="4798695"/>
            <a:ext cx="21851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本课程所有内容仅供学习 AI 工程方法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8700135" y="4989195"/>
            <a:ext cx="21259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不构成任何投资建议。股市有风险，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357360" y="51796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入市须谨慎。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586740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70" name="TextBox 70"/>
          <p:cNvSpPr txBox="1"/>
          <p:nvPr/>
        </p:nvSpPr>
        <p:spPr>
          <a:xfrm>
            <a:off x="3875901" y="6050756"/>
            <a:ext cx="44401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所有课程资料已打包到 GitHub Repo，课程群置顶有下载链接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19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781800" y="1447800"/>
            <a:ext cx="3950779" cy="7315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0" b="1" dirty="0">
                <a:solidFill>
                  <a:srgbClr val="C96133">
                    <a:alphaMod val="4000"/>
                  </a:srgbClr>
                </a:solidFill>
                <a:latin typeface="Arial"/>
                <a:ea typeface="Microsoft YaHei"/>
                <a:cs typeface="Arial"/>
              </a:rPr>
              <a:t>?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51991" y="632460"/>
            <a:ext cx="2888018" cy="1463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Q &amp; 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08659" y="1726882"/>
            <a:ext cx="317468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有什么问题？现在是你的时间</a:t>
            </a:r>
          </a:p>
        </p:txBody>
      </p:sp>
      <p:sp>
        <p:nvSpPr>
          <p:cNvPr id="7" name="Line 7"/>
          <p:cNvSpPr/>
          <p:nvPr/>
        </p:nvSpPr>
        <p:spPr>
          <a:xfrm>
            <a:off x="3619500" y="21717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86087" y="2640806"/>
            <a:ext cx="10378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可以问这些 ↓</a:t>
            </a:r>
          </a:p>
        </p:txBody>
      </p:sp>
      <p:sp>
        <p:nvSpPr>
          <p:cNvPr id="9" name="Rectangle 9"/>
          <p:cNvSpPr/>
          <p:nvPr/>
        </p:nvSpPr>
        <p:spPr>
          <a:xfrm>
            <a:off x="571500" y="29146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085850" y="29337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75410" y="3108960"/>
            <a:ext cx="255422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Skill 的 prompt 写多长最合适？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71500" y="35623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085850" y="35814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5410" y="3756660"/>
            <a:ext cx="258927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我不会，这套还能用吗？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71500" y="42100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1085850" y="42291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75410" y="4404360"/>
            <a:ext cx="25016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能接真实美股/A股 API 数据吗？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71500" y="48577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085850" y="48768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75410" y="5052060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如何把这套方法用到其他领域？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048500" y="2667000"/>
            <a:ext cx="45720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2" name="Rectangle 22"/>
          <p:cNvSpPr/>
          <p:nvPr/>
        </p:nvSpPr>
        <p:spPr>
          <a:xfrm>
            <a:off x="7048500" y="2667000"/>
            <a:ext cx="4572000" cy="609600"/>
          </a:xfrm>
          <a:prstGeom prst="roundRect">
            <a:avLst>
              <a:gd name="adj" fmla="val 25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7048500" y="3048000"/>
            <a:ext cx="45720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536210" y="2891314"/>
            <a:ext cx="159658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课后怎么找到我们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415212" y="3498056"/>
            <a:ext cx="6927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🏆 课程群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15212" y="3726656"/>
            <a:ext cx="26739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微信群·置顶有资料包+助教联系方式</a:t>
            </a:r>
          </a:p>
        </p:txBody>
      </p:sp>
      <p:sp>
        <p:nvSpPr>
          <p:cNvPr id="27" name="Line 27"/>
          <p:cNvSpPr/>
          <p:nvPr/>
        </p:nvSpPr>
        <p:spPr>
          <a:xfrm>
            <a:off x="7429500" y="39814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7415212" y="4145756"/>
            <a:ext cx="12793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💻 GitHub Issues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15212" y="4374356"/>
            <a:ext cx="34297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github.com/austinxyz/stock-analysis-lite</a:t>
            </a:r>
          </a:p>
        </p:txBody>
      </p:sp>
      <p:sp>
        <p:nvSpPr>
          <p:cNvPr id="30" name="Line 30"/>
          <p:cNvSpPr/>
          <p:nvPr/>
        </p:nvSpPr>
        <p:spPr>
          <a:xfrm>
            <a:off x="7429500" y="46291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7415212" y="4793456"/>
            <a:ext cx="6927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🕐 下节课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415212" y="5022056"/>
            <a:ext cx="28135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Session 4：多 Agent 协作 · 时间待定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71500" y="5715000"/>
            <a:ext cx="11049000" cy="628650"/>
          </a:xfrm>
          <a:prstGeom prst="roundRect">
            <a:avLst>
              <a:gd name="adj" fmla="val 1818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505836" y="5929789"/>
            <a:ext cx="318032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没有蠢问题——问出来才是真的学到了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20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3" name="Line 3"/>
          <p:cNvSpPr/>
          <p:nvPr/>
        </p:nvSpPr>
        <p:spPr>
          <a:xfrm>
            <a:off x="0" y="1143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4" name="Line 4"/>
          <p:cNvSpPr/>
          <p:nvPr/>
        </p:nvSpPr>
        <p:spPr>
          <a:xfrm>
            <a:off x="0" y="2286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5" name="Line 5"/>
          <p:cNvSpPr/>
          <p:nvPr/>
        </p:nvSpPr>
        <p:spPr>
          <a:xfrm>
            <a:off x="0" y="3429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6" name="Line 6"/>
          <p:cNvSpPr/>
          <p:nvPr/>
        </p:nvSpPr>
        <p:spPr>
          <a:xfrm>
            <a:off x="0" y="4572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7" name="Line 7"/>
          <p:cNvSpPr/>
          <p:nvPr/>
        </p:nvSpPr>
        <p:spPr>
          <a:xfrm>
            <a:off x="0" y="5715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8" name="Line 8"/>
          <p:cNvSpPr/>
          <p:nvPr/>
        </p:nvSpPr>
        <p:spPr>
          <a:xfrm>
            <a:off x="2028825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9" name="Line 9"/>
          <p:cNvSpPr/>
          <p:nvPr/>
        </p:nvSpPr>
        <p:spPr>
          <a:xfrm>
            <a:off x="405765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10" name="Line 10"/>
          <p:cNvSpPr/>
          <p:nvPr/>
        </p:nvSpPr>
        <p:spPr>
          <a:xfrm>
            <a:off x="609600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11" name="Line 11"/>
          <p:cNvSpPr/>
          <p:nvPr/>
        </p:nvSpPr>
        <p:spPr>
          <a:xfrm>
            <a:off x="8134350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10163175" y="0"/>
            <a:ext cx="9525" cy="6858000"/>
          </a:xfrm>
          <a:custGeom>
            <a:avLst/>
            <a:gdLst/>
            <a:ahLst/>
            <a:cxnLst/>
            <a:rect l="l" t="t" r="r" b="b"/>
            <a:pathLst>
              <a:path w="9525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5143500" y="2476500"/>
            <a:ext cx="1905000" cy="1714500"/>
          </a:xfrm>
          <a:prstGeom prst="roundRect">
            <a:avLst>
              <a:gd name="adj" fmla="val 4444"/>
            </a:avLst>
          </a:prstGeom>
          <a:solidFill>
            <a:srgbClr val="C96133">
              <a:alpha val="90000"/>
            </a:srgbClr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4953000" y="2190750"/>
            <a:ext cx="2286000" cy="419100"/>
          </a:xfrm>
          <a:prstGeom prst="roundRect">
            <a:avLst>
              <a:gd name="adj" fmla="val 13636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5972175" y="2190750"/>
            <a:ext cx="247650" cy="2000250"/>
          </a:xfrm>
          <a:prstGeom prst="rect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4953000" y="2333625"/>
            <a:ext cx="2286000" cy="133350"/>
          </a:xfrm>
          <a:prstGeom prst="rect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 rot="-1800000">
            <a:off x="5438775" y="1866900"/>
            <a:ext cx="685800" cy="41910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</p:sp>
      <p:sp>
        <p:nvSpPr>
          <p:cNvPr id="19" name="Ellipse 19"/>
          <p:cNvSpPr/>
          <p:nvPr/>
        </p:nvSpPr>
        <p:spPr>
          <a:xfrm rot="1800000">
            <a:off x="6067425" y="1866900"/>
            <a:ext cx="685800" cy="41910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</p:sp>
      <p:sp>
        <p:nvSpPr>
          <p:cNvPr id="20" name="Ellipse 20"/>
          <p:cNvSpPr/>
          <p:nvPr/>
        </p:nvSpPr>
        <p:spPr>
          <a:xfrm>
            <a:off x="5981700" y="2057400"/>
            <a:ext cx="228600" cy="2286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1" name="Ellipse 21"/>
          <p:cNvSpPr/>
          <p:nvPr/>
        </p:nvSpPr>
        <p:spPr>
          <a:xfrm>
            <a:off x="6019800" y="20955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4362450" y="2600325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✦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06665" y="283940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96133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✦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086225" y="3348038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C96133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✦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888605" y="2426018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C96133">
                    <a:alphaMod val="60000"/>
                  </a:srgbClr>
                </a:solidFill>
                <a:latin typeface="Arial"/>
                <a:ea typeface="Microsoft YaHei"/>
                <a:cs typeface="Arial"/>
              </a:rPr>
              <a:t>✦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358684" y="4379595"/>
            <a:ext cx="147463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彩 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191601" y="5093018"/>
            <a:ext cx="180879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45000"/>
                  </a:srgbClr>
                </a:solidFill>
                <a:latin typeface="Arial"/>
                <a:ea typeface="Microsoft YaHei"/>
                <a:cs typeface="Arial"/>
              </a:rPr>
              <a:t>内容由讲师现场揭晓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191000" y="5524500"/>
            <a:ext cx="3810000" cy="342900"/>
          </a:xfrm>
          <a:prstGeom prst="roundRect">
            <a:avLst>
              <a:gd name="adj" fmla="val 2222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C96133">
                <a:alpha val="40000"/>
              </a:srgbClr>
            </a:solidFill>
            <a:custDash>
              <a:ds d="600000" sp="400000"/>
            </a:custDash>
          </a:ln>
        </p:spPr>
      </p:sp>
      <p:sp>
        <p:nvSpPr>
          <p:cNvPr id="29" name="TextBox 29"/>
          <p:cNvSpPr txBox="1"/>
          <p:nvPr/>
        </p:nvSpPr>
        <p:spPr>
          <a:xfrm>
            <a:off x="4794909" y="5638324"/>
            <a:ext cx="26021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C96133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[ PLACEHOLDER — 彩蛋内容待讲师定义 ]</a:t>
            </a:r>
          </a:p>
        </p:txBody>
      </p:sp>
      <p:sp>
        <p:nvSpPr>
          <p:cNvPr id="30" name="Rectangle 30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549140" y="6592252"/>
            <a:ext cx="30937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AI 炒股分析系统 · Session 3 · austinxyz.ai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360610" y="6173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FFFFFF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21 / 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