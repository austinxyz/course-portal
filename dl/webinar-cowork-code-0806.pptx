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3" r:id="rId4"/>
    <p:sldMasterId id="2147483694" r:id="rId5"/>
    <p:sldMasterId id="2147483695" r:id="rId6"/>
    <p:sldMasterId id="214748369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y="5143500" cx="9144000"/>
  <p:notesSz cx="6858000" cy="9144000"/>
  <p:embeddedFontLst>
    <p:embeddedFont>
      <p:font typeface="Quattrocento Sans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2.xml"/><Relationship Id="rId22" Type="http://schemas.openxmlformats.org/officeDocument/2006/relationships/slide" Target="slides/slide14.xml"/><Relationship Id="rId21" Type="http://schemas.openxmlformats.org/officeDocument/2006/relationships/slide" Target="slides/slide13.xml"/><Relationship Id="rId24" Type="http://schemas.openxmlformats.org/officeDocument/2006/relationships/font" Target="fonts/QuattrocentoSans-regular.fntdata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font" Target="fonts/QuattrocentoSans-italic.fntdata"/><Relationship Id="rId25" Type="http://schemas.openxmlformats.org/officeDocument/2006/relationships/font" Target="fonts/QuattrocentoSans-bold.fntdata"/><Relationship Id="rId27" Type="http://schemas.openxmlformats.org/officeDocument/2006/relationships/font" Target="fonts/QuattrocentoSans-boldItalic.fntdata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3.xml"/><Relationship Id="rId10" Type="http://schemas.openxmlformats.org/officeDocument/2006/relationships/slide" Target="slides/slide2.xml"/><Relationship Id="rId13" Type="http://schemas.openxmlformats.org/officeDocument/2006/relationships/slide" Target="slides/slide5.xml"/><Relationship Id="rId12" Type="http://schemas.openxmlformats.org/officeDocument/2006/relationships/slide" Target="slides/slide4.xml"/><Relationship Id="rId15" Type="http://schemas.openxmlformats.org/officeDocument/2006/relationships/slide" Target="slides/slide7.xml"/><Relationship Id="rId14" Type="http://schemas.openxmlformats.org/officeDocument/2006/relationships/slide" Target="slides/slide6.xml"/><Relationship Id="rId17" Type="http://schemas.openxmlformats.org/officeDocument/2006/relationships/slide" Target="slides/slide9.xml"/><Relationship Id="rId16" Type="http://schemas.openxmlformats.org/officeDocument/2006/relationships/slide" Target="slides/slide8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f646c5f0ef_2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0" name="Google Shape;250;g3f646c5f0ef_2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在开始讲内容之前，我想先花两分钟让大家了解一下我是谁。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我叫 Austin Xu，目前在硅谷一家 500 强公司做工程经理。浙大研究生毕业，写了二十年代码，带团队，负责一个支撑 $74B+ GMV 的云平台。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但今天让我站在这里的，不是这些履历。是因为我在自己公司里，是 Claude Code 的头号用户——不是头衔，是实际数据。MCP、Agent 架构，不是玩具，是跑在生产环境里的东西。我的 PR 产出翻倍了。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我也在业余时间用 AI 建了十几个自己的系统——投资管理、成长追踪、运动数据分析——每一个都是我把自己的领域判断，真正喂给了 AI。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最后一点——也许你在生活里已经遇见过我：我是 USTA 全国冠军，打网球和匹克球，在北美华人社区很活跃。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我的路径和在座很多人一样：华人移民，理工背景，职场打拼。只是我早一步踩进了 AI 这条赛道。今天想把我踩出来的路，分享给你。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646c5f0ef_2_19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1" name="Google Shape;291;g3f646c5f0ef_2_19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大家好，欢迎来到今天的直播。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我知道今天来的人，很多都是各自领域的专家。你们有十年、二十年的专业积累。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但是——你有没有发现，身边有些人，已经开始用 AI 在做倍增了？更多的客户、更快的交付、甚至在探索自己的副业和创业方向。而你还在用 ChatGPT 偶尔写封邮件？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今天，我就想说清楚一件事：这个差距是怎么来的，以及你可以怎么填上它。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646c5f0ef_2_2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4" name="Google Shape;324;g3f646c5f0ef_2_2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让我先问大家一个问题：你认识这四个人吗？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张X是金融顾问，他每次用 ChatGPT 写客户报告，写出来的东西是对的，但就是太通用，不是他想要的那种专业分析。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李XX是律师，她试过让 AI 帮她做合同审查，但 AI 给出的建议跟她们行业的实际操作有出入，她不敢直接用。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陈X是 HR，他让 AI 帮他写招聘 JD，写出来的格式和措辞跟他们公司文化完全不搭，还得花大量时间改。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还有王XX——他做了十五年风控分析，一直有个想法，想用自己的专业知识开一个咨询公司。他试过让 AI 帮他做商业计划书，AI 给出的都是通用创业建议，完全没有用到他在行业里积累的那些判断。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这四个人有没有人让你觉得很熟悉？其实他们面对的，是同一个根本问题。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f646c5f0ef_2_28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1" name="Google Shape;391;g3f646c5f0ef_2_28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这个问题不是你的问题，不是你用得不好。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真正的原因是：AI 没有你的专业知识。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Chat 类AI 知道的，是互联网上所有公开信息的平均值。它知道"金融顾问一般怎么写报告"，但它不知道你服务的是哪类客户，你用的是什么分析框架，你踩过哪些坑，你的判断是怎么来的。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这就是为什么四个人都有同一个困惑。不是他们不会用 AI，是 AI 没有他们的专业知识。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f646c5f0ef_2_34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g3f646c5f0ef_2_3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很多人用 AI，其实一直停在最浅的第一层——查资料、写初稿这种通用场景。95% 的人都停在这里，还有很大的提升空间。真正的深度玩家，是走到第三层：给 AI 写 Skill，把工具定义、MCP、系统提示词、上下文打包成可复用的工作流——相当于人人都能是程序员，创造出别人也能直接用的东西。今晚我会给大家演示，怎么把一套方法论写成一个 Skill。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f646c5f0ef_2_40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g3f646c5f0ef_2_40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说到这里，我想停一下，给大家看几个东西。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第一行三个是重点展示：投资操作系统、AI 知识库问答、AI 工作流图谱。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这不是为了展示我有多厉害。我想让你看到的是：当 AI 拿到的是真正的专业知识，它能做出来的东西，跟普通 ChatGPT 给出的通用答案，差距有多大。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还有更多——家庭财务管理、Growing 个人成长系统、理财 LLM Wiki、内容创作系统、第二大脑 Hub……一共 10 多个，都是 AI 辅助建出来的。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背后的逻辑只有一个：我把自己在不同领域的判断，结构化地喂给了 AI。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你也可以做到这件事——不管你做的是法律、医疗、HR、还是任何其他领域。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f646c5f0ef_2_43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9" name="Google Shape;499;g3f646c5f0ef_2_43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你可能会说，你是工程师，你懂技术，跟我不一样。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那我给大家看 Anthropic 今年出的 Founder's Playbook 里的 12 个真实案例。12 个，不是我挑的几个——是他们自己整理的。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我来快速过几个最有代表性的：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Carta Healthcare，医疗行业，临床数据处理时间缩减 66%——背后是医疗专家把临床判断系统化地喂给了 AI。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Anything，创始人没写过一行代码，用 Claude 和 AI Agent 建出了完整的招聘平台，150 万用户，已经在盈利。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GC AI，法律专家，$73M 融资，1000 多家企业客户，做的是企业法务专属 AI 平台。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Cogent，网络安全，$53M，响应时间缩减 97%——安全专家的知识乘上 AI 的速度。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 12 个人，没有一个是"技术大神"。他们有的，是你也有的：多年的领域积累。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唯一不同的是，他们找到了一个方法，把这些积累变成了 AI 的原料。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这就是今天我们要讲的。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3f646c5f0ef_2_49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57" name="Google Shape;557;g3f646c5f0ef_2_49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有人可能会觉得，刚才那几个创始人案例是特例——他们本身就在创业，和普通职场人不一样。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那我再给你看一个更接地气的例子：Anthropic 自己的销售总监。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Travis Bryant，Head of Mid-Market GTM，管理四千个企业账户。他不是工程师，不是 AI 研究员，他是个做销售管理的职场人——和你我一样。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他用 Claude 做了什么？他花了一个晚上，把四千个账户全部做了五维深度评分，还生成了交互式仪表板。这个工作，如果交给一个跨职能团队来做，要花数百小时。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他自己的总结是：Claude 构建数据，我来解释。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每天节省九十分钟，每周节省三小时。这些时间，他用来做真正需要人类判断的事情。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这个故事说明了一件事：不管你是在创业，还是在职场打拼，只要你有领域积累，AI 都可以帮你放大。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f646c5f0ef_2_53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0" name="Google Shape;600;g3f646c5f0ef_2_5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刚才我们看到，走到第三层的人是怎么做的。那具体靠什么工具？先说第一个——Claude Cowork。它不只是一个聊天窗口，而是一个能真正替你干活的协作空间。它可以直接读写你电脑上的文件夹，不用来回复制粘贴；可以定义复杂的多 Agent 工作流，让 AI 分工配合完成任务；可以通过 Connector 打通邮箱、日历和各种第三方工具，实现跨系统联动；你还可以直接发一个任务，让它在后台自动跑完，不用一直盯着屏幕。这就是为什么它能帮你从第一层走到第三层。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f646c5f0ef_2_58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7" name="Google Shape;647;g3f646c5f0ef_2_5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"Claude Code 是一个跑在终端里的 AI，它不是你打开网页对话的那种。它真正理解你整个项目，你所有的文件，你的工作流。最重要的是，你可以把你的判断逻辑写成 Skill 文件，让它照着跑。"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强调：Skill 文件是今天的核心概念，下一页要演示。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f646c5f0ef_2_64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7" name="Google Shape;707;g3f646c5f0ef_2_6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光说工具还不够，我直接给大家看两个我用它们做出来的东西。第一个叫人生指南针，是用 Cowork 做的——它带你梳理能量来源与消耗、梳理工作观和人生观，设计三条五年方案，最后输出一份完整的人生规划文档和三十天行动计划。第二个是理财知识库，是用 Claude Code 做的——把北美的税务规划、投资组合管理、保险规划这些知识固化下来，变成一个真正懂你情况的专属 AI 顾问，而不是网上搜来的通用答案。这两样东西今天都免费送给大家，配了入门教程，课后你自己就能上手试一遍。</a:t>
            </a:r>
            <a:endParaRPr/>
          </a:p>
        </p:txBody>
      </p:sp>
      <p:sp>
        <p:nvSpPr>
          <p:cNvPr id="708" name="Google Shape;708;g3f646c5f0ef_2_64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7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g3f646c5f0ef_2_69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9" name="Google Shape;759;g3f646c5f0ef_2_69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基于这套框架，我们设计了两节课，分别用两个不同的 AI 工具。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第一节课，叫做"AI 自动化工作流"，工具是 Cowork——也就是 Claude 的协作对话模式。这节课的目标是让 AI 处理你每天的重复工作——邮件起草、分析报告、内容整理、重复流程自动化——从重复执行中解放出来，把精力放在高价值的判断上。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第二节课，叫做"建你自己的 AI 系统"，工具是 Claude Code——这是 Anthropic 推出的 AI 编程工具，不需要你会写代码。这节课帮你把你的专业知识变成你的 AI 助理，建知识库，搭客户服务流程，生成你专属的分析报告。这门课也特别适合想探索创业或副业方向的人——因为你的领域积累，就是你最重要的竞争壁垒。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两节课可以单独报，也可以打包一起来。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3f646c5f0ef_2_75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6" name="Google Shape;816;g3f646c5f0ef_2_75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在讲报名信息之前，我想先说说这门课适合谁。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适合你的，是这样的人：你已经在某个领域做了很多年，有自己的专业积累；你每天的工作里有很多重复性的事情；你想把这些经验用 AI 放大，而不是被 AI 取代；你愿意花一点时间，把自己的知识整理成一套可以复用的系统。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特别值得一提的是——这门课也特别适合那些有创业想法或者想开辟副业的领域专家。你在自己领域积累的判断，是 AI 最需要的原料。现在的 AI 工具，已经可以让你在不会写代码的情况下，把这些积累变成一个真正可以运营的系统。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3f646c5f0ef_2_7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2" name="Google Shape;852;g3f646c5f0ef_2_78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每一天，都有人在做决定——选择早一步，还是晚一步。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AI 浪潮已经到来。每一天，都有人在用 AI 做倍增、赚更多钱——做更多的客户、拿更高的收费、探索以前不敢想的副业。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你有专业积累，你有领域判断，你有 AI 最需要的那样东西。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没有在 AI 浪潮里做倍增、赚更多——那是你的损失。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入场的最好时机，就是现在。谢谢大家今天来参加这次直播。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3f646c5f0ef_2_8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g3f646c5f0ef_2_8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好，现在说报名信息。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单节课是一百九十九美元，你可以选课程一或者课程二。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两节课打包是三百四十九美元，比分开购买省四十九美元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好，感谢大家今天参加，我们课上见。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26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34" name="Google Shape;134;p2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5" name="Google Shape;135;p2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6" name="Google Shape;136;p2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9" name="Google Shape;139;p27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0" name="Google Shape;140;p2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1" name="Google Shape;141;p2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2" name="Google Shape;142;p2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5" name="Google Shape;145;p28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6" name="Google Shape;146;p2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7" name="Google Shape;147;p2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8" name="Google Shape;148;p2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1" name="Google Shape;151;p29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152" name="Google Shape;152;p29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153" name="Google Shape;153;p2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4" name="Google Shape;154;p2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5" name="Google Shape;155;p2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0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8" name="Google Shape;158;p30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59" name="Google Shape;159;p30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160" name="Google Shape;160;p30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1" name="Google Shape;161;p30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162" name="Google Shape;162;p3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3" name="Google Shape;163;p3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4" name="Google Shape;164;p3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1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7" name="Google Shape;167;p3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8" name="Google Shape;168;p3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9" name="Google Shape;169;p3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2" name="Google Shape;172;p3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3" name="Google Shape;173;p3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3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6" name="Google Shape;176;p33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77" name="Google Shape;177;p33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78" name="Google Shape;178;p3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9" name="Google Shape;179;p3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3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4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34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84" name="Google Shape;184;p34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85" name="Google Shape;185;p3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6" name="Google Shape;186;p3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7" name="Google Shape;187;p3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0" name="Google Shape;190;p35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1" name="Google Shape;191;p3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2" name="Google Shape;192;p3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3" name="Google Shape;193;p3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6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6" name="Google Shape;196;p36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7" name="Google Shape;197;p3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8" name="Google Shape;198;p3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9" name="Google Shape;199;p3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7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02" name="Google Shape;202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4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11" name="Google Shape;211;p4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12" name="Google Shape;212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15" name="Google Shape;215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8" name="Google Shape;218;p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9" name="Google Shape;219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2" name="Google Shape;222;p4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3" name="Google Shape;223;p43"/>
          <p:cNvSpPr txBox="1"/>
          <p:nvPr>
            <p:ph idx="2" type="body"/>
          </p:nvPr>
        </p:nvSpPr>
        <p:spPr>
          <a:xfrm>
            <a:off x="4832399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4" name="Google Shape;224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7" name="Google Shape;227;p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30" name="Google Shape;230;p4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34" name="Google Shape;234;p4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7"/>
          <p:cNvSpPr txBox="1"/>
          <p:nvPr>
            <p:ph type="title"/>
          </p:nvPr>
        </p:nvSpPr>
        <p:spPr>
          <a:xfrm>
            <a:off x="265500" y="1233175"/>
            <a:ext cx="4045199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38" name="Google Shape;238;p47"/>
          <p:cNvSpPr txBox="1"/>
          <p:nvPr>
            <p:ph idx="1" type="subTitle"/>
          </p:nvPr>
        </p:nvSpPr>
        <p:spPr>
          <a:xfrm>
            <a:off x="265500" y="2803075"/>
            <a:ext cx="4045199" cy="123509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39" name="Google Shape;239;p4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0" name="Google Shape;240;p4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43" name="Google Shape;243;p4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46" name="Google Shape;246;p4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7" name="Google Shape;247;p4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3" Type="http://schemas.openxmlformats.org/officeDocument/2006/relationships/theme" Target="../theme/theme5.xml"/><Relationship Id="rId1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/Relationships>
</file>

<file path=ppt/slideMasters/_rels/slideMaster4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44.xml"/><Relationship Id="rId12" Type="http://schemas.openxmlformats.org/officeDocument/2006/relationships/theme" Target="../theme/theme4.xml"/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2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2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0" name="Google Shape;130;p2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5" name="Google Shape;205;p3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Relationship Id="rId4" Type="http://schemas.openxmlformats.org/officeDocument/2006/relationships/hyperlink" Target="https://austinxyz.github.io/blogs/life-compass-guide.html" TargetMode="External"/><Relationship Id="rId5" Type="http://schemas.openxmlformats.org/officeDocument/2006/relationships/hyperlink" Target="https://austinxyz.github.io/blogs/wealth-guide.html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Relationship Id="rId4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5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50"/>
          <p:cNvSpPr/>
          <p:nvPr/>
        </p:nvSpPr>
        <p:spPr>
          <a:xfrm>
            <a:off x="0" y="0"/>
            <a:ext cx="9144000" cy="857400"/>
          </a:xfrm>
          <a:prstGeom prst="rect">
            <a:avLst/>
          </a:prstGeom>
          <a:gradFill>
            <a:gsLst>
              <a:gs pos="0">
                <a:srgbClr val="FFF7ED"/>
              </a:gs>
              <a:gs pos="100000">
                <a:srgbClr val="FAFAF8"/>
              </a:gs>
            </a:gsLst>
            <a:lin ang="0" scaled="0"/>
          </a:gra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4" name="Google Shape;254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3767" y="71438"/>
            <a:ext cx="454541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50"/>
          <p:cNvSpPr/>
          <p:nvPr/>
        </p:nvSpPr>
        <p:spPr>
          <a:xfrm>
            <a:off x="428625" y="257175"/>
            <a:ext cx="35700" cy="342900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50"/>
          <p:cNvSpPr txBox="1"/>
          <p:nvPr/>
        </p:nvSpPr>
        <p:spPr>
          <a:xfrm>
            <a:off x="545783" y="238601"/>
            <a:ext cx="98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关于我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50"/>
          <p:cNvSpPr/>
          <p:nvPr/>
        </p:nvSpPr>
        <p:spPr>
          <a:xfrm>
            <a:off x="428625" y="74295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50"/>
          <p:cNvSpPr/>
          <p:nvPr/>
        </p:nvSpPr>
        <p:spPr>
          <a:xfrm>
            <a:off x="857250" y="1128713"/>
            <a:ext cx="1428900" cy="1428900"/>
          </a:xfrm>
          <a:prstGeom prst="ellipse">
            <a:avLst/>
          </a:prstGeom>
          <a:solidFill>
            <a:srgbClr val="FEF3C7"/>
          </a:solidFill>
          <a:ln cap="flat" cmpd="sng" w="28575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Google Shape;259;p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5825" y="1157288"/>
            <a:ext cx="1371600" cy="1371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60" name="Google Shape;260;p50"/>
          <p:cNvSpPr txBox="1"/>
          <p:nvPr/>
        </p:nvSpPr>
        <p:spPr>
          <a:xfrm>
            <a:off x="1014218" y="2630329"/>
            <a:ext cx="1114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Austin Xu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50"/>
          <p:cNvSpPr txBox="1"/>
          <p:nvPr/>
        </p:nvSpPr>
        <p:spPr>
          <a:xfrm>
            <a:off x="842503" y="2866363"/>
            <a:ext cx="16220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Engineering Manager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50"/>
          <p:cNvSpPr/>
          <p:nvPr/>
        </p:nvSpPr>
        <p:spPr>
          <a:xfrm>
            <a:off x="1028700" y="3043254"/>
            <a:ext cx="1086000" cy="246300"/>
          </a:xfrm>
          <a:prstGeom prst="roundRect">
            <a:avLst>
              <a:gd fmla="val 50000" name="adj"/>
            </a:avLst>
          </a:prstGeom>
          <a:solidFill>
            <a:srgbClr val="FEF3C7"/>
          </a:solidFill>
          <a:ln cap="flat" cmpd="sng" w="9525">
            <a:solidFill>
              <a:srgbClr val="EA580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50"/>
          <p:cNvSpPr txBox="1"/>
          <p:nvPr/>
        </p:nvSpPr>
        <p:spPr>
          <a:xfrm>
            <a:off x="682094" y="3026137"/>
            <a:ext cx="1932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📍 San Jose, CA · </a:t>
            </a:r>
            <a:endParaRPr b="0" i="0" sz="1000" u="none" cap="none" strike="noStrike">
              <a:solidFill>
                <a:srgbClr val="EA580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500强企业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0"/>
          <p:cNvSpPr/>
          <p:nvPr/>
        </p:nvSpPr>
        <p:spPr>
          <a:xfrm>
            <a:off x="571500" y="3328988"/>
            <a:ext cx="2000250" cy="7144"/>
          </a:xfrm>
          <a:custGeom>
            <a:rect b="b" l="l" r="r" t="t"/>
            <a:pathLst>
              <a:path extrusionOk="0" h="9525" w="2667000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50"/>
          <p:cNvSpPr txBox="1"/>
          <p:nvPr/>
        </p:nvSpPr>
        <p:spPr>
          <a:xfrm>
            <a:off x="1148090" y="3409355"/>
            <a:ext cx="1185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写了 20 年代码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50"/>
          <p:cNvSpPr txBox="1"/>
          <p:nvPr/>
        </p:nvSpPr>
        <p:spPr>
          <a:xfrm>
            <a:off x="855419" y="3566517"/>
            <a:ext cx="2005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现在用 AI 写得更快、更好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50"/>
          <p:cNvSpPr/>
          <p:nvPr/>
        </p:nvSpPr>
        <p:spPr>
          <a:xfrm>
            <a:off x="2928938" y="828675"/>
            <a:ext cx="7144" cy="3243263"/>
          </a:xfrm>
          <a:custGeom>
            <a:rect b="b" l="l" r="r" t="t"/>
            <a:pathLst>
              <a:path extrusionOk="0" h="4324350" w="9525">
                <a:moveTo>
                  <a:pt x="0" y="0"/>
                </a:moveTo>
                <a:lnTo>
                  <a:pt x="0" y="432435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50"/>
          <p:cNvSpPr/>
          <p:nvPr/>
        </p:nvSpPr>
        <p:spPr>
          <a:xfrm>
            <a:off x="3143250" y="8572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50"/>
          <p:cNvSpPr/>
          <p:nvPr/>
        </p:nvSpPr>
        <p:spPr>
          <a:xfrm>
            <a:off x="3143250" y="8572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50"/>
          <p:cNvSpPr/>
          <p:nvPr/>
        </p:nvSpPr>
        <p:spPr>
          <a:xfrm>
            <a:off x="3400425" y="1078706"/>
            <a:ext cx="342900" cy="34290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50"/>
          <p:cNvSpPr/>
          <p:nvPr/>
        </p:nvSpPr>
        <p:spPr>
          <a:xfrm>
            <a:off x="3429000" y="1107281"/>
            <a:ext cx="285750" cy="271463"/>
          </a:xfrm>
          <a:custGeom>
            <a:rect b="b" l="l" r="r" t="t"/>
            <a:pathLst>
              <a:path extrusionOk="0" h="361950" w="381000">
                <a:moveTo>
                  <a:pt x="381000" y="218656"/>
                </a:moveTo>
                <a:lnTo>
                  <a:pt x="381000" y="304800"/>
                </a:lnTo>
                <a:cubicBezTo>
                  <a:pt x="381000" y="336363"/>
                  <a:pt x="355413" y="361950"/>
                  <a:pt x="323850" y="361950"/>
                </a:cubicBezTo>
                <a:lnTo>
                  <a:pt x="57150" y="361950"/>
                </a:lnTo>
                <a:cubicBezTo>
                  <a:pt x="25587" y="361950"/>
                  <a:pt x="0" y="336363"/>
                  <a:pt x="0" y="304800"/>
                </a:cubicBezTo>
                <a:lnTo>
                  <a:pt x="0" y="218656"/>
                </a:lnTo>
                <a:lnTo>
                  <a:pt x="10535" y="223933"/>
                </a:lnTo>
                <a:cubicBezTo>
                  <a:pt x="123758" y="280963"/>
                  <a:pt x="257312" y="280949"/>
                  <a:pt x="370522" y="223895"/>
                </a:cubicBezTo>
                <a:lnTo>
                  <a:pt x="381000" y="218656"/>
                </a:lnTo>
                <a:close/>
                <a:moveTo>
                  <a:pt x="228600" y="0"/>
                </a:moveTo>
                <a:cubicBezTo>
                  <a:pt x="260163" y="0"/>
                  <a:pt x="285750" y="25587"/>
                  <a:pt x="285750" y="57150"/>
                </a:cubicBezTo>
                <a:lnTo>
                  <a:pt x="285750" y="76200"/>
                </a:lnTo>
                <a:lnTo>
                  <a:pt x="323850" y="76200"/>
                </a:lnTo>
                <a:cubicBezTo>
                  <a:pt x="355413" y="76200"/>
                  <a:pt x="381000" y="101787"/>
                  <a:pt x="381000" y="133350"/>
                </a:cubicBezTo>
                <a:lnTo>
                  <a:pt x="381000" y="176060"/>
                </a:lnTo>
                <a:lnTo>
                  <a:pt x="353435" y="189852"/>
                </a:lnTo>
                <a:cubicBezTo>
                  <a:pt x="253484" y="240231"/>
                  <a:pt x="135850" y="241539"/>
                  <a:pt x="34804" y="193396"/>
                </a:cubicBezTo>
                <a:lnTo>
                  <a:pt x="22479" y="187300"/>
                </a:lnTo>
                <a:lnTo>
                  <a:pt x="0" y="176060"/>
                </a:lnTo>
                <a:lnTo>
                  <a:pt x="0" y="133350"/>
                </a:lnTo>
                <a:cubicBezTo>
                  <a:pt x="0" y="101787"/>
                  <a:pt x="25587" y="76200"/>
                  <a:pt x="57150" y="76200"/>
                </a:cubicBezTo>
                <a:lnTo>
                  <a:pt x="95250" y="76200"/>
                </a:lnTo>
                <a:lnTo>
                  <a:pt x="95250" y="57150"/>
                </a:lnTo>
                <a:cubicBezTo>
                  <a:pt x="95250" y="25587"/>
                  <a:pt x="120837" y="0"/>
                  <a:pt x="152400" y="0"/>
                </a:cubicBezTo>
                <a:lnTo>
                  <a:pt x="228600" y="0"/>
                </a:lnTo>
                <a:close/>
                <a:moveTo>
                  <a:pt x="190500" y="152400"/>
                </a:moveTo>
                <a:cubicBezTo>
                  <a:pt x="179979" y="152400"/>
                  <a:pt x="171450" y="160929"/>
                  <a:pt x="171450" y="171450"/>
                </a:cubicBezTo>
                <a:cubicBezTo>
                  <a:pt x="171416" y="178256"/>
                  <a:pt x="175015" y="184563"/>
                  <a:pt x="180893" y="187995"/>
                </a:cubicBezTo>
                <a:cubicBezTo>
                  <a:pt x="186770" y="191428"/>
                  <a:pt x="194031" y="191464"/>
                  <a:pt x="199943" y="188091"/>
                </a:cubicBezTo>
                <a:cubicBezTo>
                  <a:pt x="205854" y="184717"/>
                  <a:pt x="209516" y="178446"/>
                  <a:pt x="209550" y="171641"/>
                </a:cubicBezTo>
                <a:cubicBezTo>
                  <a:pt x="209550" y="160934"/>
                  <a:pt x="201016" y="152400"/>
                  <a:pt x="190500" y="152400"/>
                </a:cubicBezTo>
                <a:close/>
                <a:moveTo>
                  <a:pt x="228600" y="38100"/>
                </a:moveTo>
                <a:lnTo>
                  <a:pt x="152400" y="38100"/>
                </a:lnTo>
                <a:cubicBezTo>
                  <a:pt x="141879" y="38100"/>
                  <a:pt x="133350" y="46629"/>
                  <a:pt x="133350" y="57150"/>
                </a:cubicBezTo>
                <a:lnTo>
                  <a:pt x="133350" y="76200"/>
                </a:lnTo>
                <a:lnTo>
                  <a:pt x="247650" y="76200"/>
                </a:lnTo>
                <a:lnTo>
                  <a:pt x="247650" y="57150"/>
                </a:lnTo>
                <a:cubicBezTo>
                  <a:pt x="247650" y="46629"/>
                  <a:pt x="239121" y="38100"/>
                  <a:pt x="228600" y="38100"/>
                </a:cubicBez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50"/>
          <p:cNvSpPr txBox="1"/>
          <p:nvPr/>
        </p:nvSpPr>
        <p:spPr>
          <a:xfrm>
            <a:off x="3859769" y="1025486"/>
            <a:ext cx="732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大厂背景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50"/>
          <p:cNvSpPr txBox="1"/>
          <p:nvPr/>
        </p:nvSpPr>
        <p:spPr>
          <a:xfrm>
            <a:off x="3861911" y="1215152"/>
            <a:ext cx="4955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500强云平台 Leader · 支撑 </a:t>
            </a:r>
            <a:r>
              <a:rPr b="1" i="0" lang="en" sz="11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$74B+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GMV · 浙大硕士 · 软件工程 20 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50"/>
          <p:cNvSpPr/>
          <p:nvPr/>
        </p:nvSpPr>
        <p:spPr>
          <a:xfrm>
            <a:off x="3143250" y="17716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50"/>
          <p:cNvSpPr/>
          <p:nvPr/>
        </p:nvSpPr>
        <p:spPr>
          <a:xfrm>
            <a:off x="3143250" y="17716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50"/>
          <p:cNvSpPr/>
          <p:nvPr/>
        </p:nvSpPr>
        <p:spPr>
          <a:xfrm>
            <a:off x="3400425" y="1993105"/>
            <a:ext cx="342900" cy="3429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50"/>
          <p:cNvSpPr/>
          <p:nvPr/>
        </p:nvSpPr>
        <p:spPr>
          <a:xfrm>
            <a:off x="3456928" y="2021681"/>
            <a:ext cx="229894" cy="291051"/>
          </a:xfrm>
          <a:custGeom>
            <a:rect b="b" l="l" r="r" t="t"/>
            <a:pathLst>
              <a:path extrusionOk="0" h="388068" w="306525">
                <a:moveTo>
                  <a:pt x="172313" y="0"/>
                </a:moveTo>
                <a:lnTo>
                  <a:pt x="172655" y="19"/>
                </a:lnTo>
                <a:lnTo>
                  <a:pt x="172960" y="38"/>
                </a:lnTo>
                <a:lnTo>
                  <a:pt x="174541" y="133"/>
                </a:lnTo>
                <a:lnTo>
                  <a:pt x="174751" y="171"/>
                </a:lnTo>
                <a:lnTo>
                  <a:pt x="174960" y="171"/>
                </a:lnTo>
                <a:lnTo>
                  <a:pt x="175684" y="343"/>
                </a:lnTo>
                <a:lnTo>
                  <a:pt x="176675" y="495"/>
                </a:lnTo>
                <a:lnTo>
                  <a:pt x="176980" y="610"/>
                </a:lnTo>
                <a:lnTo>
                  <a:pt x="177189" y="629"/>
                </a:lnTo>
                <a:lnTo>
                  <a:pt x="177742" y="838"/>
                </a:lnTo>
                <a:lnTo>
                  <a:pt x="178732" y="1105"/>
                </a:lnTo>
                <a:lnTo>
                  <a:pt x="179094" y="1276"/>
                </a:lnTo>
                <a:lnTo>
                  <a:pt x="179380" y="1353"/>
                </a:lnTo>
                <a:lnTo>
                  <a:pt x="179913" y="1619"/>
                </a:lnTo>
                <a:lnTo>
                  <a:pt x="180675" y="1943"/>
                </a:lnTo>
                <a:lnTo>
                  <a:pt x="181076" y="2172"/>
                </a:lnTo>
                <a:lnTo>
                  <a:pt x="181495" y="2362"/>
                </a:lnTo>
                <a:lnTo>
                  <a:pt x="181933" y="2648"/>
                </a:lnTo>
                <a:lnTo>
                  <a:pt x="182523" y="2972"/>
                </a:lnTo>
                <a:lnTo>
                  <a:pt x="183171" y="3429"/>
                </a:lnTo>
                <a:lnTo>
                  <a:pt x="183514" y="3639"/>
                </a:lnTo>
                <a:lnTo>
                  <a:pt x="183762" y="3867"/>
                </a:lnTo>
                <a:lnTo>
                  <a:pt x="184219" y="4191"/>
                </a:lnTo>
                <a:lnTo>
                  <a:pt x="184943" y="4839"/>
                </a:lnTo>
                <a:lnTo>
                  <a:pt x="185362" y="5163"/>
                </a:lnTo>
                <a:lnTo>
                  <a:pt x="185514" y="5353"/>
                </a:lnTo>
                <a:lnTo>
                  <a:pt x="185781" y="5582"/>
                </a:lnTo>
                <a:lnTo>
                  <a:pt x="186467" y="6363"/>
                </a:lnTo>
                <a:lnTo>
                  <a:pt x="186962" y="6877"/>
                </a:lnTo>
                <a:lnTo>
                  <a:pt x="187076" y="7049"/>
                </a:lnTo>
                <a:cubicBezTo>
                  <a:pt x="189362" y="9849"/>
                  <a:pt x="190810" y="13183"/>
                  <a:pt x="191229" y="16821"/>
                </a:cubicBezTo>
                <a:lnTo>
                  <a:pt x="191248" y="17050"/>
                </a:lnTo>
                <a:lnTo>
                  <a:pt x="191286" y="17831"/>
                </a:lnTo>
                <a:lnTo>
                  <a:pt x="191363" y="19050"/>
                </a:lnTo>
                <a:lnTo>
                  <a:pt x="191363" y="133350"/>
                </a:lnTo>
                <a:lnTo>
                  <a:pt x="286613" y="133350"/>
                </a:lnTo>
                <a:cubicBezTo>
                  <a:pt x="293407" y="133348"/>
                  <a:pt x="299689" y="136966"/>
                  <a:pt x="303097" y="142844"/>
                </a:cubicBezTo>
                <a:cubicBezTo>
                  <a:pt x="306506" y="148723"/>
                  <a:pt x="306525" y="155971"/>
                  <a:pt x="303148" y="161868"/>
                </a:cubicBezTo>
                <a:lnTo>
                  <a:pt x="302005" y="163601"/>
                </a:lnTo>
                <a:lnTo>
                  <a:pt x="149605" y="373151"/>
                </a:lnTo>
                <a:cubicBezTo>
                  <a:pt x="138785" y="388068"/>
                  <a:pt x="115163" y="380390"/>
                  <a:pt x="115163" y="361950"/>
                </a:cubicBezTo>
                <a:lnTo>
                  <a:pt x="115163" y="247650"/>
                </a:lnTo>
                <a:lnTo>
                  <a:pt x="19913" y="247650"/>
                </a:lnTo>
                <a:cubicBezTo>
                  <a:pt x="13118" y="247652"/>
                  <a:pt x="6836" y="244034"/>
                  <a:pt x="3428" y="238156"/>
                </a:cubicBezTo>
                <a:cubicBezTo>
                  <a:pt x="19" y="232277"/>
                  <a:pt x="0" y="225029"/>
                  <a:pt x="3377" y="219132"/>
                </a:cubicBezTo>
                <a:lnTo>
                  <a:pt x="4520" y="217399"/>
                </a:lnTo>
                <a:lnTo>
                  <a:pt x="156920" y="7849"/>
                </a:lnTo>
                <a:lnTo>
                  <a:pt x="157111" y="7601"/>
                </a:lnTo>
                <a:lnTo>
                  <a:pt x="157454" y="7144"/>
                </a:lnTo>
                <a:lnTo>
                  <a:pt x="158082" y="6420"/>
                </a:lnTo>
                <a:lnTo>
                  <a:pt x="158425" y="6001"/>
                </a:lnTo>
                <a:lnTo>
                  <a:pt x="158597" y="5848"/>
                </a:lnTo>
                <a:lnTo>
                  <a:pt x="158844" y="5582"/>
                </a:lnTo>
                <a:lnTo>
                  <a:pt x="159606" y="4896"/>
                </a:lnTo>
                <a:lnTo>
                  <a:pt x="160140" y="4401"/>
                </a:lnTo>
                <a:lnTo>
                  <a:pt x="160292" y="4286"/>
                </a:lnTo>
                <a:cubicBezTo>
                  <a:pt x="162525" y="2459"/>
                  <a:pt x="165143" y="1163"/>
                  <a:pt x="167950" y="495"/>
                </a:cubicBezTo>
                <a:lnTo>
                  <a:pt x="168160" y="476"/>
                </a:lnTo>
                <a:lnTo>
                  <a:pt x="168674" y="381"/>
                </a:lnTo>
                <a:lnTo>
                  <a:pt x="170084" y="133"/>
                </a:lnTo>
                <a:lnTo>
                  <a:pt x="170293" y="114"/>
                </a:lnTo>
                <a:lnTo>
                  <a:pt x="171074" y="7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0"/>
          <p:cNvSpPr txBox="1"/>
          <p:nvPr/>
        </p:nvSpPr>
        <p:spPr>
          <a:xfrm>
            <a:off x="3859769" y="1939886"/>
            <a:ext cx="935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真实落地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50"/>
          <p:cNvSpPr txBox="1"/>
          <p:nvPr/>
        </p:nvSpPr>
        <p:spPr>
          <a:xfrm>
            <a:off x="3861911" y="2129552"/>
            <a:ext cx="49473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500强内部 Claude Code 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头号用户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MCP + Agent 生产落地 · PR 翻倍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50"/>
          <p:cNvSpPr/>
          <p:nvPr/>
        </p:nvSpPr>
        <p:spPr>
          <a:xfrm>
            <a:off x="3143250" y="26860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50"/>
          <p:cNvSpPr/>
          <p:nvPr/>
        </p:nvSpPr>
        <p:spPr>
          <a:xfrm>
            <a:off x="3143250" y="26860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50"/>
          <p:cNvSpPr/>
          <p:nvPr/>
        </p:nvSpPr>
        <p:spPr>
          <a:xfrm>
            <a:off x="3400425" y="2907506"/>
            <a:ext cx="342900" cy="34290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50"/>
          <p:cNvSpPr/>
          <p:nvPr/>
        </p:nvSpPr>
        <p:spPr>
          <a:xfrm>
            <a:off x="3413969" y="2921823"/>
            <a:ext cx="315655" cy="300842"/>
          </a:xfrm>
          <a:custGeom>
            <a:rect b="b" l="l" r="r" t="t"/>
            <a:pathLst>
              <a:path extrusionOk="0" h="401123" w="420873">
                <a:moveTo>
                  <a:pt x="138970" y="120738"/>
                </a:moveTo>
                <a:lnTo>
                  <a:pt x="17431" y="138360"/>
                </a:lnTo>
                <a:lnTo>
                  <a:pt x="15279" y="138798"/>
                </a:lnTo>
                <a:cubicBezTo>
                  <a:pt x="8644" y="140559"/>
                  <a:pt x="3470" y="145753"/>
                  <a:pt x="1735" y="152394"/>
                </a:cubicBezTo>
                <a:cubicBezTo>
                  <a:pt x="0" y="159035"/>
                  <a:pt x="1972" y="166097"/>
                  <a:pt x="6897" y="170878"/>
                </a:cubicBezTo>
                <a:lnTo>
                  <a:pt x="94946" y="256584"/>
                </a:lnTo>
                <a:lnTo>
                  <a:pt x="74181" y="377647"/>
                </a:lnTo>
                <a:lnTo>
                  <a:pt x="73934" y="379742"/>
                </a:lnTo>
                <a:cubicBezTo>
                  <a:pt x="73527" y="386604"/>
                  <a:pt x="76850" y="393153"/>
                  <a:pt x="82627" y="396878"/>
                </a:cubicBezTo>
                <a:cubicBezTo>
                  <a:pt x="88404" y="400603"/>
                  <a:pt x="95740" y="400927"/>
                  <a:pt x="101823" y="397725"/>
                </a:cubicBezTo>
                <a:lnTo>
                  <a:pt x="210522" y="340575"/>
                </a:lnTo>
                <a:lnTo>
                  <a:pt x="318974" y="397725"/>
                </a:lnTo>
                <a:lnTo>
                  <a:pt x="320879" y="398602"/>
                </a:lnTo>
                <a:cubicBezTo>
                  <a:pt x="327281" y="401123"/>
                  <a:pt x="334545" y="399997"/>
                  <a:pt x="339883" y="395654"/>
                </a:cubicBezTo>
                <a:cubicBezTo>
                  <a:pt x="345220" y="391311"/>
                  <a:pt x="347801" y="384428"/>
                  <a:pt x="346634" y="377647"/>
                </a:cubicBezTo>
                <a:lnTo>
                  <a:pt x="325851" y="256584"/>
                </a:lnTo>
                <a:lnTo>
                  <a:pt x="413938" y="170859"/>
                </a:lnTo>
                <a:lnTo>
                  <a:pt x="415424" y="169240"/>
                </a:lnTo>
                <a:cubicBezTo>
                  <a:pt x="419745" y="163918"/>
                  <a:pt x="420873" y="156684"/>
                  <a:pt x="418378" y="150299"/>
                </a:cubicBezTo>
                <a:cubicBezTo>
                  <a:pt x="415883" y="143913"/>
                  <a:pt x="410150" y="139361"/>
                  <a:pt x="403365" y="138379"/>
                </a:cubicBezTo>
                <a:lnTo>
                  <a:pt x="281826" y="120738"/>
                </a:lnTo>
                <a:lnTo>
                  <a:pt x="227496" y="10629"/>
                </a:lnTo>
                <a:cubicBezTo>
                  <a:pt x="224289" y="4121"/>
                  <a:pt x="217663" y="0"/>
                  <a:pt x="210408" y="0"/>
                </a:cubicBezTo>
                <a:cubicBezTo>
                  <a:pt x="203152" y="0"/>
                  <a:pt x="196527" y="4121"/>
                  <a:pt x="193320" y="10629"/>
                </a:cubicBezTo>
                <a:lnTo>
                  <a:pt x="138970" y="120738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50"/>
          <p:cNvSpPr txBox="1"/>
          <p:nvPr/>
        </p:nvSpPr>
        <p:spPr>
          <a:xfrm>
            <a:off x="3859769" y="2854286"/>
            <a:ext cx="196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你也可能在生活中遇见我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50"/>
          <p:cNvSpPr txBox="1"/>
          <p:nvPr/>
        </p:nvSpPr>
        <p:spPr>
          <a:xfrm>
            <a:off x="3861911" y="3043952"/>
            <a:ext cx="4270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USTA </a:t>
            </a:r>
            <a:r>
              <a:rPr b="1" i="0" lang="en" sz="11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全国冠军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网球/匹克球队长 · 积极参与北美华人社区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50"/>
          <p:cNvSpPr/>
          <p:nvPr/>
        </p:nvSpPr>
        <p:spPr>
          <a:xfrm>
            <a:off x="428625" y="3802425"/>
            <a:ext cx="8286900" cy="371400"/>
          </a:xfrm>
          <a:prstGeom prst="roundRect">
            <a:avLst>
              <a:gd fmla="val 19231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50"/>
          <p:cNvSpPr txBox="1"/>
          <p:nvPr/>
        </p:nvSpPr>
        <p:spPr>
          <a:xfrm>
            <a:off x="2703597" y="3845205"/>
            <a:ext cx="5231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今天分享的，不是理论 — 是我在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真实生产环境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里踩过坑、跑通的东西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50"/>
          <p:cNvSpPr txBox="1"/>
          <p:nvPr/>
        </p:nvSpPr>
        <p:spPr>
          <a:xfrm>
            <a:off x="8638294" y="4927759"/>
            <a:ext cx="12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3" name="Google Shape;293;p51"/>
          <p:cNvGrpSpPr/>
          <p:nvPr/>
        </p:nvGrpSpPr>
        <p:grpSpPr>
          <a:xfrm>
            <a:off x="-714375" y="-1571625"/>
            <a:ext cx="11358563" cy="7429500"/>
            <a:chOff x="-952500" y="-2095500"/>
            <a:chExt cx="15144750" cy="9906000"/>
          </a:xfrm>
        </p:grpSpPr>
        <p:sp>
          <p:nvSpPr>
            <p:cNvPr id="294" name="Google Shape;294;p5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51"/>
            <p:cNvSpPr/>
            <p:nvPr/>
          </p:nvSpPr>
          <p:spPr>
            <a:xfrm>
              <a:off x="2095500" y="762000"/>
              <a:ext cx="8001000" cy="4953000"/>
            </a:xfrm>
            <a:prstGeom prst="ellipse">
              <a:avLst/>
            </a:prstGeom>
            <a:gradFill>
              <a:gsLst>
                <a:gs pos="0">
                  <a:srgbClr val="E8854C">
                    <a:alpha val="7059"/>
                  </a:srgbClr>
                </a:gs>
                <a:gs pos="100000">
                  <a:srgbClr val="E8854C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" name="Google Shape;296;p51"/>
            <p:cNvSpPr/>
            <p:nvPr/>
          </p:nvSpPr>
          <p:spPr>
            <a:xfrm>
              <a:off x="8858250" y="-2095500"/>
              <a:ext cx="5334000" cy="5334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51"/>
            <p:cNvSpPr/>
            <p:nvPr/>
          </p:nvSpPr>
          <p:spPr>
            <a:xfrm>
              <a:off x="9620250" y="-1333500"/>
              <a:ext cx="3810000" cy="3810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2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51"/>
            <p:cNvSpPr/>
            <p:nvPr/>
          </p:nvSpPr>
          <p:spPr>
            <a:xfrm>
              <a:off x="10287000" y="-666750"/>
              <a:ext cx="2476500" cy="2476500"/>
            </a:xfrm>
            <a:prstGeom prst="ellipse">
              <a:avLst/>
            </a:prstGeom>
            <a:solidFill>
              <a:srgbClr val="4F46E5">
                <a:alpha val="392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51"/>
            <p:cNvSpPr/>
            <p:nvPr/>
          </p:nvSpPr>
          <p:spPr>
            <a:xfrm>
              <a:off x="-952500" y="4572000"/>
              <a:ext cx="3238500" cy="3238500"/>
            </a:xfrm>
            <a:prstGeom prst="ellipse">
              <a:avLst/>
            </a:prstGeom>
            <a:noFill/>
            <a:ln cap="flat" cmpd="sng" w="9525">
              <a:solidFill>
                <a:srgbClr val="EA580C">
                  <a:alpha val="12157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" name="Google Shape;300;p51"/>
            <p:cNvSpPr/>
            <p:nvPr/>
          </p:nvSpPr>
          <p:spPr>
            <a:xfrm>
              <a:off x="-285750" y="5238750"/>
              <a:ext cx="1905000" cy="1905000"/>
            </a:xfrm>
            <a:prstGeom prst="ellipse">
              <a:avLst/>
            </a:prstGeom>
            <a:solidFill>
              <a:srgbClr val="EA580C">
                <a:alpha val="392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51"/>
            <p:cNvSpPr/>
            <p:nvPr/>
          </p:nvSpPr>
          <p:spPr>
            <a:xfrm>
              <a:off x="10401300" y="1828800"/>
              <a:ext cx="57150" cy="57150"/>
            </a:xfrm>
            <a:prstGeom prst="ellipse">
              <a:avLst/>
            </a:prstGeom>
            <a:solidFill>
              <a:srgbClr val="E2E8F0">
                <a:alpha val="6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p51"/>
            <p:cNvSpPr/>
            <p:nvPr/>
          </p:nvSpPr>
          <p:spPr>
            <a:xfrm>
              <a:off x="10696575" y="1647825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51"/>
            <p:cNvSpPr/>
            <p:nvPr/>
          </p:nvSpPr>
          <p:spPr>
            <a:xfrm>
              <a:off x="10910888" y="2024062"/>
              <a:ext cx="47625" cy="4762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51"/>
            <p:cNvSpPr/>
            <p:nvPr/>
          </p:nvSpPr>
          <p:spPr>
            <a:xfrm>
              <a:off x="10222230" y="2125980"/>
              <a:ext cx="34290" cy="34290"/>
            </a:xfrm>
            <a:prstGeom prst="ellipse">
              <a:avLst/>
            </a:prstGeom>
            <a:solidFill>
              <a:srgbClr val="E2E8F0">
                <a:alpha val="3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51"/>
            <p:cNvSpPr/>
            <p:nvPr/>
          </p:nvSpPr>
          <p:spPr>
            <a:xfrm>
              <a:off x="11077575" y="1790700"/>
              <a:ext cx="38100" cy="38100"/>
            </a:xfrm>
            <a:prstGeom prst="ellipse">
              <a:avLst/>
            </a:prstGeom>
            <a:solidFill>
              <a:srgbClr val="E2E8F0">
                <a:alpha val="3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" name="Google Shape;306;p51"/>
            <p:cNvSpPr/>
            <p:nvPr/>
          </p:nvSpPr>
          <p:spPr>
            <a:xfrm>
              <a:off x="1452562" y="5262562"/>
              <a:ext cx="47625" cy="47625"/>
            </a:xfrm>
            <a:prstGeom prst="ellipse">
              <a:avLst/>
            </a:prstGeom>
            <a:solidFill>
              <a:srgbClr val="EA580C">
                <a:alpha val="2196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p51"/>
            <p:cNvSpPr/>
            <p:nvPr/>
          </p:nvSpPr>
          <p:spPr>
            <a:xfrm>
              <a:off x="1171575" y="5553075"/>
              <a:ext cx="38100" cy="38100"/>
            </a:xfrm>
            <a:prstGeom prst="ellipse">
              <a:avLst/>
            </a:prstGeom>
            <a:solidFill>
              <a:srgbClr val="EA580C">
                <a:alpha val="1607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51"/>
            <p:cNvSpPr/>
            <p:nvPr/>
          </p:nvSpPr>
          <p:spPr>
            <a:xfrm>
              <a:off x="1652588" y="5605462"/>
              <a:ext cx="28575" cy="28575"/>
            </a:xfrm>
            <a:prstGeom prst="ellipse">
              <a:avLst/>
            </a:prstGeom>
            <a:solidFill>
              <a:srgbClr val="EA580C">
                <a:alpha val="1294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9" name="Google Shape;309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0" name="Google Shape;310;p51"/>
          <p:cNvGrpSpPr/>
          <p:nvPr/>
        </p:nvGrpSpPr>
        <p:grpSpPr>
          <a:xfrm>
            <a:off x="3486105" y="671513"/>
            <a:ext cx="2171789" cy="271463"/>
            <a:chOff x="4648140" y="895350"/>
            <a:chExt cx="2895719" cy="361950"/>
          </a:xfrm>
        </p:grpSpPr>
        <p:sp>
          <p:nvSpPr>
            <p:cNvPr id="311" name="Google Shape;311;p51"/>
            <p:cNvSpPr/>
            <p:nvPr/>
          </p:nvSpPr>
          <p:spPr>
            <a:xfrm>
              <a:off x="4953000" y="895350"/>
              <a:ext cx="2286000" cy="3619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4118"/>
              </a:srgbClr>
            </a:solidFill>
            <a:ln cap="flat" cmpd="sng" w="9525">
              <a:solidFill>
                <a:srgbClr val="EA580C">
                  <a:alpha val="4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51"/>
            <p:cNvSpPr txBox="1"/>
            <p:nvPr/>
          </p:nvSpPr>
          <p:spPr>
            <a:xfrm>
              <a:off x="4648140" y="1002506"/>
              <a:ext cx="28957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北美华人领域专家 · 职场 · 创业 · 副业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3" name="Google Shape;313;p51"/>
          <p:cNvGrpSpPr/>
          <p:nvPr/>
        </p:nvGrpSpPr>
        <p:grpSpPr>
          <a:xfrm>
            <a:off x="1635547" y="1570911"/>
            <a:ext cx="5872907" cy="1711643"/>
            <a:chOff x="2180729" y="2094548"/>
            <a:chExt cx="7830543" cy="2282190"/>
          </a:xfrm>
        </p:grpSpPr>
        <p:sp>
          <p:nvSpPr>
            <p:cNvPr id="314" name="Google Shape;314;p51"/>
            <p:cNvSpPr txBox="1"/>
            <p:nvPr/>
          </p:nvSpPr>
          <p:spPr>
            <a:xfrm>
              <a:off x="2180729" y="2094548"/>
              <a:ext cx="7830543" cy="1005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700"/>
                <a:buFont typeface="Arial"/>
                <a:buNone/>
              </a:pPr>
              <a:r>
                <a:rPr b="1" i="0" lang="en" sz="3700" u="none" cap="none" strike="noStrike">
                  <a:solidFill>
                    <a:srgbClr val="EA580C"/>
                  </a:solidFill>
                  <a:latin typeface="Georgia"/>
                  <a:ea typeface="Georgia"/>
                  <a:cs typeface="Georgia"/>
                  <a:sym typeface="Georgia"/>
                </a:rPr>
                <a:t>AI 已经帮别人做倍增了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" name="Google Shape;315;p51"/>
            <p:cNvSpPr txBox="1"/>
            <p:nvPr/>
          </p:nvSpPr>
          <p:spPr>
            <a:xfrm>
              <a:off x="2996755" y="2951798"/>
              <a:ext cx="6198489" cy="1005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700"/>
                <a:buFont typeface="Arial"/>
                <a:buNone/>
              </a:pPr>
              <a:r>
                <a:rPr b="1" i="0" lang="en" sz="37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为什么还没有你？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" name="Google Shape;316;p51"/>
            <p:cNvSpPr/>
            <p:nvPr/>
          </p:nvSpPr>
          <p:spPr>
            <a:xfrm>
              <a:off x="5448300" y="3733800"/>
              <a:ext cx="1295400" cy="28575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rgbClr val="EA580C"/>
                </a:gs>
                <a:gs pos="100000">
                  <a:srgbClr val="D97706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" name="Google Shape;317;p51"/>
            <p:cNvSpPr txBox="1"/>
            <p:nvPr/>
          </p:nvSpPr>
          <p:spPr>
            <a:xfrm>
              <a:off x="3750135" y="3980498"/>
              <a:ext cx="4691729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专业积累 × AI = 倍增收入 + 创业可能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8" name="Google Shape;318;p51"/>
          <p:cNvGrpSpPr/>
          <p:nvPr/>
        </p:nvGrpSpPr>
        <p:grpSpPr>
          <a:xfrm>
            <a:off x="3783634" y="3757613"/>
            <a:ext cx="1576800" cy="307300"/>
            <a:chOff x="5044845" y="5010149"/>
            <a:chExt cx="2102400" cy="409733"/>
          </a:xfrm>
        </p:grpSpPr>
        <p:sp>
          <p:nvSpPr>
            <p:cNvPr id="319" name="Google Shape;319;p51"/>
            <p:cNvSpPr/>
            <p:nvPr/>
          </p:nvSpPr>
          <p:spPr>
            <a:xfrm>
              <a:off x="5238750" y="5010149"/>
              <a:ext cx="17145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51"/>
            <p:cNvSpPr txBox="1"/>
            <p:nvPr/>
          </p:nvSpPr>
          <p:spPr>
            <a:xfrm>
              <a:off x="5044845" y="5193982"/>
              <a:ext cx="21024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1" name="Google Shape;321;p51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6" name="Google Shape;326;p52"/>
          <p:cNvGrpSpPr/>
          <p:nvPr/>
        </p:nvGrpSpPr>
        <p:grpSpPr>
          <a:xfrm>
            <a:off x="0" y="0"/>
            <a:ext cx="9144000" cy="5286375"/>
            <a:chOff x="0" y="0"/>
            <a:chExt cx="12192000" cy="7048500"/>
          </a:xfrm>
        </p:grpSpPr>
        <p:sp>
          <p:nvSpPr>
            <p:cNvPr id="327" name="Google Shape;327;p5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" name="Google Shape;328;p52"/>
            <p:cNvSpPr/>
            <p:nvPr/>
          </p:nvSpPr>
          <p:spPr>
            <a:xfrm>
              <a:off x="11310938" y="433388"/>
              <a:ext cx="47700" cy="477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52"/>
            <p:cNvSpPr/>
            <p:nvPr/>
          </p:nvSpPr>
          <p:spPr>
            <a:xfrm>
              <a:off x="11553825" y="304800"/>
              <a:ext cx="38100" cy="38100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52"/>
            <p:cNvSpPr/>
            <p:nvPr/>
          </p:nvSpPr>
          <p:spPr>
            <a:xfrm>
              <a:off x="11434762" y="604838"/>
              <a:ext cx="28500" cy="28500"/>
            </a:xfrm>
            <a:prstGeom prst="ellipse">
              <a:avLst/>
            </a:prstGeom>
            <a:solidFill>
              <a:srgbClr val="E2E8F0">
                <a:alpha val="3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52"/>
            <p:cNvSpPr/>
            <p:nvPr/>
          </p:nvSpPr>
          <p:spPr>
            <a:xfrm>
              <a:off x="142875" y="5905500"/>
              <a:ext cx="1143000" cy="1143000"/>
            </a:xfrm>
            <a:prstGeom prst="ellipse">
              <a:avLst/>
            </a:prstGeom>
            <a:solidFill>
              <a:srgbClr val="EA580C">
                <a:alpha val="392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32" name="Google Shape;332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1" cy="62864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33" name="Google Shape;333;p52"/>
          <p:cNvGrpSpPr/>
          <p:nvPr/>
        </p:nvGrpSpPr>
        <p:grpSpPr>
          <a:xfrm>
            <a:off x="3273963" y="255745"/>
            <a:ext cx="5489881" cy="380160"/>
            <a:chOff x="4365284" y="340995"/>
            <a:chExt cx="7319841" cy="506880"/>
          </a:xfrm>
        </p:grpSpPr>
        <p:sp>
          <p:nvSpPr>
            <p:cNvPr id="334" name="Google Shape;334;p52"/>
            <p:cNvSpPr txBox="1"/>
            <p:nvPr/>
          </p:nvSpPr>
          <p:spPr>
            <a:xfrm>
              <a:off x="11517725" y="340995"/>
              <a:ext cx="167400" cy="14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52"/>
            <p:cNvSpPr txBox="1"/>
            <p:nvPr/>
          </p:nvSpPr>
          <p:spPr>
            <a:xfrm>
              <a:off x="4365284" y="345758"/>
              <a:ext cx="346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" sz="24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你认识他们吗？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" name="Google Shape;336;p52"/>
            <p:cNvSpPr/>
            <p:nvPr/>
          </p:nvSpPr>
          <p:spPr>
            <a:xfrm>
              <a:off x="5676900" y="828675"/>
              <a:ext cx="838200" cy="1920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7" name="Google Shape;337;p52"/>
          <p:cNvGrpSpPr/>
          <p:nvPr/>
        </p:nvGrpSpPr>
        <p:grpSpPr>
          <a:xfrm>
            <a:off x="371475" y="771525"/>
            <a:ext cx="2000250" cy="4014900"/>
            <a:chOff x="0" y="0"/>
            <a:chExt cx="2000250" cy="4014900"/>
          </a:xfrm>
        </p:grpSpPr>
        <p:sp>
          <p:nvSpPr>
            <p:cNvPr id="338" name="Google Shape;338;p52"/>
            <p:cNvSpPr/>
            <p:nvPr/>
          </p:nvSpPr>
          <p:spPr>
            <a:xfrm>
              <a:off x="0" y="0"/>
              <a:ext cx="2000099" cy="4014900"/>
            </a:xfrm>
            <a:prstGeom prst="roundRect">
              <a:avLst>
                <a:gd fmla="val 428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52"/>
            <p:cNvSpPr/>
            <p:nvPr/>
          </p:nvSpPr>
          <p:spPr>
            <a:xfrm>
              <a:off x="0" y="0"/>
              <a:ext cx="2000250" cy="714375"/>
            </a:xfrm>
            <a:custGeom>
              <a:rect b="b" l="l" r="r" t="t"/>
              <a:pathLst>
                <a:path extrusionOk="0" h="952500" w="2667000">
                  <a:moveTo>
                    <a:pt x="114300" y="0"/>
                  </a:moveTo>
                  <a:lnTo>
                    <a:pt x="2552700" y="0"/>
                  </a:lnTo>
                  <a:cubicBezTo>
                    <a:pt x="2628900" y="0"/>
                    <a:pt x="2667000" y="38100"/>
                    <a:pt x="2667000" y="114300"/>
                  </a:cubicBezTo>
                  <a:lnTo>
                    <a:pt x="2667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p52"/>
            <p:cNvSpPr/>
            <p:nvPr/>
          </p:nvSpPr>
          <p:spPr>
            <a:xfrm>
              <a:off x="857250" y="171450"/>
              <a:ext cx="285750" cy="271463"/>
            </a:xfrm>
            <a:custGeom>
              <a:rect b="b" l="l" r="r" t="t"/>
              <a:pathLst>
                <a:path extrusionOk="0" h="361950" w="381000">
                  <a:moveTo>
                    <a:pt x="381000" y="218656"/>
                  </a:moveTo>
                  <a:lnTo>
                    <a:pt x="381000" y="304800"/>
                  </a:lnTo>
                  <a:cubicBezTo>
                    <a:pt x="381000" y="336363"/>
                    <a:pt x="355413" y="361950"/>
                    <a:pt x="323850" y="361950"/>
                  </a:cubicBezTo>
                  <a:lnTo>
                    <a:pt x="57150" y="361950"/>
                  </a:lnTo>
                  <a:cubicBezTo>
                    <a:pt x="25587" y="361950"/>
                    <a:pt x="0" y="336363"/>
                    <a:pt x="0" y="304800"/>
                  </a:cubicBezTo>
                  <a:lnTo>
                    <a:pt x="0" y="218656"/>
                  </a:lnTo>
                  <a:lnTo>
                    <a:pt x="10535" y="223933"/>
                  </a:lnTo>
                  <a:cubicBezTo>
                    <a:pt x="123758" y="280963"/>
                    <a:pt x="257312" y="280949"/>
                    <a:pt x="370523" y="223895"/>
                  </a:cubicBezTo>
                  <a:lnTo>
                    <a:pt x="381000" y="218656"/>
                  </a:lnTo>
                  <a:close/>
                  <a:moveTo>
                    <a:pt x="228600" y="0"/>
                  </a:moveTo>
                  <a:cubicBezTo>
                    <a:pt x="260163" y="0"/>
                    <a:pt x="285750" y="25587"/>
                    <a:pt x="285750" y="57150"/>
                  </a:cubicBezTo>
                  <a:lnTo>
                    <a:pt x="285750" y="76200"/>
                  </a:lnTo>
                  <a:lnTo>
                    <a:pt x="323850" y="76200"/>
                  </a:lnTo>
                  <a:cubicBezTo>
                    <a:pt x="355413" y="76200"/>
                    <a:pt x="381000" y="101787"/>
                    <a:pt x="381000" y="133350"/>
                  </a:cubicBezTo>
                  <a:lnTo>
                    <a:pt x="381000" y="176060"/>
                  </a:lnTo>
                  <a:lnTo>
                    <a:pt x="353435" y="189852"/>
                  </a:lnTo>
                  <a:cubicBezTo>
                    <a:pt x="253484" y="240231"/>
                    <a:pt x="135850" y="241539"/>
                    <a:pt x="34804" y="193396"/>
                  </a:cubicBezTo>
                  <a:lnTo>
                    <a:pt x="22479" y="187300"/>
                  </a:lnTo>
                  <a:lnTo>
                    <a:pt x="0" y="176060"/>
                  </a:lnTo>
                  <a:lnTo>
                    <a:pt x="0" y="133350"/>
                  </a:lnTo>
                  <a:cubicBezTo>
                    <a:pt x="0" y="101787"/>
                    <a:pt x="25587" y="76200"/>
                    <a:pt x="57150" y="76200"/>
                  </a:cubicBezTo>
                  <a:lnTo>
                    <a:pt x="95250" y="76200"/>
                  </a:lnTo>
                  <a:lnTo>
                    <a:pt x="95250" y="57150"/>
                  </a:lnTo>
                  <a:cubicBezTo>
                    <a:pt x="95250" y="25587"/>
                    <a:pt x="120837" y="0"/>
                    <a:pt x="152400" y="0"/>
                  </a:cubicBezTo>
                  <a:lnTo>
                    <a:pt x="228600" y="0"/>
                  </a:lnTo>
                  <a:close/>
                  <a:moveTo>
                    <a:pt x="190500" y="152400"/>
                  </a:moveTo>
                  <a:cubicBezTo>
                    <a:pt x="179979" y="152400"/>
                    <a:pt x="171450" y="160929"/>
                    <a:pt x="171450" y="171450"/>
                  </a:cubicBezTo>
                  <a:cubicBezTo>
                    <a:pt x="171416" y="178256"/>
                    <a:pt x="175015" y="184563"/>
                    <a:pt x="180893" y="187995"/>
                  </a:cubicBezTo>
                  <a:cubicBezTo>
                    <a:pt x="186770" y="191428"/>
                    <a:pt x="194031" y="191464"/>
                    <a:pt x="199943" y="188091"/>
                  </a:cubicBezTo>
                  <a:cubicBezTo>
                    <a:pt x="205854" y="184717"/>
                    <a:pt x="209516" y="178446"/>
                    <a:pt x="209550" y="171641"/>
                  </a:cubicBezTo>
                  <a:cubicBezTo>
                    <a:pt x="209550" y="160934"/>
                    <a:pt x="201016" y="152400"/>
                    <a:pt x="190500" y="152400"/>
                  </a:cubicBezTo>
                  <a:close/>
                  <a:moveTo>
                    <a:pt x="228600" y="38100"/>
                  </a:moveTo>
                  <a:lnTo>
                    <a:pt x="152400" y="38100"/>
                  </a:lnTo>
                  <a:cubicBezTo>
                    <a:pt x="141879" y="38100"/>
                    <a:pt x="133350" y="46629"/>
                    <a:pt x="133350" y="57150"/>
                  </a:cubicBezTo>
                  <a:lnTo>
                    <a:pt x="133350" y="76200"/>
                  </a:lnTo>
                  <a:lnTo>
                    <a:pt x="247650" y="76200"/>
                  </a:lnTo>
                  <a:lnTo>
                    <a:pt x="247650" y="57150"/>
                  </a:lnTo>
                  <a:cubicBezTo>
                    <a:pt x="247650" y="46629"/>
                    <a:pt x="239121" y="38100"/>
                    <a:pt x="228600" y="3810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p52"/>
            <p:cNvSpPr txBox="1"/>
            <p:nvPr/>
          </p:nvSpPr>
          <p:spPr>
            <a:xfrm>
              <a:off x="382011" y="807243"/>
              <a:ext cx="1238700" cy="16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张X，理财顾问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52"/>
            <p:cNvSpPr/>
            <p:nvPr/>
          </p:nvSpPr>
          <p:spPr>
            <a:xfrm>
              <a:off x="128587" y="1042987"/>
              <a:ext cx="1743000" cy="7200"/>
            </a:xfrm>
            <a:prstGeom prst="rect">
              <a:avLst/>
            </a:prstGeom>
            <a:solidFill>
              <a:srgbClr val="E2E8F0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p52"/>
            <p:cNvSpPr txBox="1"/>
            <p:nvPr/>
          </p:nvSpPr>
          <p:spPr>
            <a:xfrm>
              <a:off x="101441" y="1162288"/>
              <a:ext cx="10386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每天10个客户，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52"/>
            <p:cNvSpPr txBox="1"/>
            <p:nvPr/>
          </p:nvSpPr>
          <p:spPr>
            <a:xfrm>
              <a:off x="101441" y="1376601"/>
              <a:ext cx="14823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打开ChatGPT问税务，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52"/>
            <p:cNvSpPr txBox="1"/>
            <p:nvPr/>
          </p:nvSpPr>
          <p:spPr>
            <a:xfrm>
              <a:off x="101441" y="1590913"/>
              <a:ext cx="13713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得到</a:t>
              </a:r>
              <a:r>
                <a:rPr b="0" i="0" lang="en" sz="10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"教科书式答案"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52"/>
            <p:cNvSpPr txBox="1"/>
            <p:nvPr/>
          </p:nvSpPr>
          <p:spPr>
            <a:xfrm>
              <a:off x="101441" y="1819513"/>
              <a:ext cx="9729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D97706"/>
                  </a:solidFill>
                  <a:latin typeface="Arial"/>
                  <a:ea typeface="Arial"/>
                  <a:cs typeface="Arial"/>
                  <a:sym typeface="Arial"/>
                </a:rPr>
                <a:t>——正确但没用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47" name="Google Shape;347;p52"/>
          <p:cNvGrpSpPr/>
          <p:nvPr/>
        </p:nvGrpSpPr>
        <p:grpSpPr>
          <a:xfrm>
            <a:off x="2457450" y="771525"/>
            <a:ext cx="2000250" cy="4014900"/>
            <a:chOff x="0" y="0"/>
            <a:chExt cx="2000250" cy="4014900"/>
          </a:xfrm>
        </p:grpSpPr>
        <p:sp>
          <p:nvSpPr>
            <p:cNvPr id="348" name="Google Shape;348;p52"/>
            <p:cNvSpPr/>
            <p:nvPr/>
          </p:nvSpPr>
          <p:spPr>
            <a:xfrm>
              <a:off x="0" y="0"/>
              <a:ext cx="2000099" cy="4014900"/>
            </a:xfrm>
            <a:prstGeom prst="roundRect">
              <a:avLst>
                <a:gd fmla="val 428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52"/>
            <p:cNvSpPr/>
            <p:nvPr/>
          </p:nvSpPr>
          <p:spPr>
            <a:xfrm>
              <a:off x="0" y="0"/>
              <a:ext cx="2000250" cy="714375"/>
            </a:xfrm>
            <a:custGeom>
              <a:rect b="b" l="l" r="r" t="t"/>
              <a:pathLst>
                <a:path extrusionOk="0" h="952500" w="2667000">
                  <a:moveTo>
                    <a:pt x="114300" y="0"/>
                  </a:moveTo>
                  <a:lnTo>
                    <a:pt x="2552700" y="0"/>
                  </a:lnTo>
                  <a:cubicBezTo>
                    <a:pt x="2628900" y="0"/>
                    <a:pt x="2667000" y="38100"/>
                    <a:pt x="2667000" y="114300"/>
                  </a:cubicBezTo>
                  <a:lnTo>
                    <a:pt x="2667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52"/>
            <p:cNvSpPr/>
            <p:nvPr/>
          </p:nvSpPr>
          <p:spPr>
            <a:xfrm>
              <a:off x="857250" y="171450"/>
              <a:ext cx="285736" cy="271463"/>
            </a:xfrm>
            <a:custGeom>
              <a:rect b="b" l="l" r="r" t="t"/>
              <a:pathLst>
                <a:path extrusionOk="0" h="361950" w="380981">
                  <a:moveTo>
                    <a:pt x="190500" y="0"/>
                  </a:moveTo>
                  <a:cubicBezTo>
                    <a:pt x="201021" y="0"/>
                    <a:pt x="209550" y="8529"/>
                    <a:pt x="209550" y="19050"/>
                  </a:cubicBezTo>
                  <a:lnTo>
                    <a:pt x="209550" y="40996"/>
                  </a:lnTo>
                  <a:lnTo>
                    <a:pt x="307829" y="57379"/>
                  </a:lnTo>
                  <a:cubicBezTo>
                    <a:pt x="312659" y="58113"/>
                    <a:pt x="317009" y="60712"/>
                    <a:pt x="319945" y="64618"/>
                  </a:cubicBezTo>
                  <a:lnTo>
                    <a:pt x="320726" y="65742"/>
                  </a:lnTo>
                  <a:lnTo>
                    <a:pt x="321831" y="67685"/>
                  </a:lnTo>
                  <a:lnTo>
                    <a:pt x="379438" y="182937"/>
                  </a:lnTo>
                  <a:lnTo>
                    <a:pt x="380105" y="184728"/>
                  </a:lnTo>
                  <a:lnTo>
                    <a:pt x="380581" y="186557"/>
                  </a:lnTo>
                  <a:lnTo>
                    <a:pt x="380886" y="188462"/>
                  </a:lnTo>
                  <a:lnTo>
                    <a:pt x="380981" y="190748"/>
                  </a:lnTo>
                  <a:lnTo>
                    <a:pt x="380924" y="191910"/>
                  </a:lnTo>
                  <a:cubicBezTo>
                    <a:pt x="380196" y="233430"/>
                    <a:pt x="346327" y="266706"/>
                    <a:pt x="304800" y="266700"/>
                  </a:cubicBezTo>
                  <a:cubicBezTo>
                    <a:pt x="262716" y="266700"/>
                    <a:pt x="228600" y="232584"/>
                    <a:pt x="228600" y="190500"/>
                  </a:cubicBezTo>
                  <a:cubicBezTo>
                    <a:pt x="228603" y="187543"/>
                    <a:pt x="229294" y="184628"/>
                    <a:pt x="230619" y="181985"/>
                  </a:cubicBezTo>
                  <a:lnTo>
                    <a:pt x="276206" y="90735"/>
                  </a:lnTo>
                  <a:lnTo>
                    <a:pt x="209550" y="79629"/>
                  </a:lnTo>
                  <a:lnTo>
                    <a:pt x="209550" y="323850"/>
                  </a:lnTo>
                  <a:lnTo>
                    <a:pt x="285750" y="323850"/>
                  </a:lnTo>
                  <a:cubicBezTo>
                    <a:pt x="296271" y="323850"/>
                    <a:pt x="304800" y="332379"/>
                    <a:pt x="304800" y="342900"/>
                  </a:cubicBezTo>
                  <a:cubicBezTo>
                    <a:pt x="304800" y="353421"/>
                    <a:pt x="296271" y="361950"/>
                    <a:pt x="285750" y="361950"/>
                  </a:cubicBezTo>
                  <a:lnTo>
                    <a:pt x="95250" y="361950"/>
                  </a:lnTo>
                  <a:cubicBezTo>
                    <a:pt x="84729" y="361950"/>
                    <a:pt x="76200" y="353421"/>
                    <a:pt x="76200" y="342900"/>
                  </a:cubicBezTo>
                  <a:cubicBezTo>
                    <a:pt x="76200" y="332379"/>
                    <a:pt x="84729" y="323850"/>
                    <a:pt x="95250" y="323850"/>
                  </a:cubicBezTo>
                  <a:lnTo>
                    <a:pt x="171450" y="323850"/>
                  </a:lnTo>
                  <a:lnTo>
                    <a:pt x="171450" y="79629"/>
                  </a:lnTo>
                  <a:lnTo>
                    <a:pt x="104775" y="90735"/>
                  </a:lnTo>
                  <a:lnTo>
                    <a:pt x="150838" y="182937"/>
                  </a:lnTo>
                  <a:lnTo>
                    <a:pt x="151505" y="184728"/>
                  </a:lnTo>
                  <a:lnTo>
                    <a:pt x="151981" y="186557"/>
                  </a:lnTo>
                  <a:lnTo>
                    <a:pt x="152286" y="188462"/>
                  </a:lnTo>
                  <a:lnTo>
                    <a:pt x="152381" y="190748"/>
                  </a:lnTo>
                  <a:lnTo>
                    <a:pt x="152324" y="191910"/>
                  </a:lnTo>
                  <a:cubicBezTo>
                    <a:pt x="151596" y="233430"/>
                    <a:pt x="117727" y="266706"/>
                    <a:pt x="76200" y="266700"/>
                  </a:cubicBezTo>
                  <a:cubicBezTo>
                    <a:pt x="34116" y="266700"/>
                    <a:pt x="0" y="232584"/>
                    <a:pt x="0" y="190500"/>
                  </a:cubicBezTo>
                  <a:cubicBezTo>
                    <a:pt x="3" y="187543"/>
                    <a:pt x="694" y="184628"/>
                    <a:pt x="2019" y="181985"/>
                  </a:cubicBezTo>
                  <a:lnTo>
                    <a:pt x="59817" y="66446"/>
                  </a:lnTo>
                  <a:lnTo>
                    <a:pt x="60560" y="65284"/>
                  </a:lnTo>
                  <a:lnTo>
                    <a:pt x="61036" y="64637"/>
                  </a:lnTo>
                  <a:cubicBezTo>
                    <a:pt x="63972" y="60731"/>
                    <a:pt x="68322" y="58132"/>
                    <a:pt x="73152" y="57398"/>
                  </a:cubicBezTo>
                  <a:lnTo>
                    <a:pt x="171450" y="40977"/>
                  </a:lnTo>
                  <a:lnTo>
                    <a:pt x="171450" y="19050"/>
                  </a:lnTo>
                  <a:cubicBezTo>
                    <a:pt x="171450" y="8529"/>
                    <a:pt x="179979" y="0"/>
                    <a:pt x="190500" y="0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52"/>
            <p:cNvSpPr txBox="1"/>
            <p:nvPr/>
          </p:nvSpPr>
          <p:spPr>
            <a:xfrm>
              <a:off x="382011" y="807243"/>
              <a:ext cx="1239599" cy="16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李XX，移民律师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52"/>
            <p:cNvSpPr/>
            <p:nvPr/>
          </p:nvSpPr>
          <p:spPr>
            <a:xfrm>
              <a:off x="128587" y="1042987"/>
              <a:ext cx="1743000" cy="7200"/>
            </a:xfrm>
            <a:prstGeom prst="rect">
              <a:avLst/>
            </a:prstGeom>
            <a:solidFill>
              <a:srgbClr val="E2E8F0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52"/>
            <p:cNvSpPr txBox="1"/>
            <p:nvPr/>
          </p:nvSpPr>
          <p:spPr>
            <a:xfrm>
              <a:off x="101441" y="1162288"/>
              <a:ext cx="1334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把客户情况粘给AI，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52"/>
            <p:cNvSpPr txBox="1"/>
            <p:nvPr/>
          </p:nvSpPr>
          <p:spPr>
            <a:xfrm>
              <a:off x="101441" y="1376601"/>
              <a:ext cx="299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AI说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52"/>
            <p:cNvSpPr txBox="1"/>
            <p:nvPr/>
          </p:nvSpPr>
          <p:spPr>
            <a:xfrm>
              <a:off x="101441" y="1590913"/>
              <a:ext cx="13713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"建议咨询专业律师"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52"/>
            <p:cNvSpPr txBox="1"/>
            <p:nvPr/>
          </p:nvSpPr>
          <p:spPr>
            <a:xfrm>
              <a:off x="101441" y="1819513"/>
              <a:ext cx="1283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D97706"/>
                  </a:solidFill>
                  <a:latin typeface="Arial"/>
                  <a:ea typeface="Arial"/>
                  <a:cs typeface="Arial"/>
                  <a:sym typeface="Arial"/>
                </a:rPr>
                <a:t>——她就是专业律师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7" name="Google Shape;357;p52"/>
          <p:cNvGrpSpPr/>
          <p:nvPr/>
        </p:nvGrpSpPr>
        <p:grpSpPr>
          <a:xfrm>
            <a:off x="4543425" y="771525"/>
            <a:ext cx="2000250" cy="4014900"/>
            <a:chOff x="0" y="0"/>
            <a:chExt cx="2000250" cy="4014900"/>
          </a:xfrm>
        </p:grpSpPr>
        <p:sp>
          <p:nvSpPr>
            <p:cNvPr id="358" name="Google Shape;358;p52"/>
            <p:cNvSpPr/>
            <p:nvPr/>
          </p:nvSpPr>
          <p:spPr>
            <a:xfrm>
              <a:off x="0" y="0"/>
              <a:ext cx="2000099" cy="4014900"/>
            </a:xfrm>
            <a:prstGeom prst="roundRect">
              <a:avLst>
                <a:gd fmla="val 428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52"/>
            <p:cNvSpPr/>
            <p:nvPr/>
          </p:nvSpPr>
          <p:spPr>
            <a:xfrm>
              <a:off x="0" y="0"/>
              <a:ext cx="2000250" cy="714375"/>
            </a:xfrm>
            <a:custGeom>
              <a:rect b="b" l="l" r="r" t="t"/>
              <a:pathLst>
                <a:path extrusionOk="0" h="952500" w="2667000">
                  <a:moveTo>
                    <a:pt x="114300" y="0"/>
                  </a:moveTo>
                  <a:lnTo>
                    <a:pt x="2552700" y="0"/>
                  </a:lnTo>
                  <a:cubicBezTo>
                    <a:pt x="2628900" y="0"/>
                    <a:pt x="2667000" y="38100"/>
                    <a:pt x="2667000" y="114300"/>
                  </a:cubicBezTo>
                  <a:lnTo>
                    <a:pt x="2667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60" name="Google Shape;360;p52"/>
            <p:cNvGrpSpPr/>
            <p:nvPr/>
          </p:nvGrpSpPr>
          <p:grpSpPr>
            <a:xfrm>
              <a:off x="900112" y="171450"/>
              <a:ext cx="200025" cy="285750"/>
              <a:chOff x="0" y="0"/>
              <a:chExt cx="200025" cy="285750"/>
            </a:xfrm>
          </p:grpSpPr>
          <p:sp>
            <p:nvSpPr>
              <p:cNvPr id="361" name="Google Shape;361;p52"/>
              <p:cNvSpPr/>
              <p:nvPr/>
            </p:nvSpPr>
            <p:spPr>
              <a:xfrm>
                <a:off x="28574" y="0"/>
                <a:ext cx="142875" cy="142875"/>
              </a:xfrm>
              <a:custGeom>
                <a:rect b="b" l="l" r="r" t="t"/>
                <a:pathLst>
                  <a:path extrusionOk="0" h="190500" w="190500">
                    <a:moveTo>
                      <a:pt x="95250" y="0"/>
                    </a:moveTo>
                    <a:cubicBezTo>
                      <a:pt x="147855" y="0"/>
                      <a:pt x="190500" y="42645"/>
                      <a:pt x="190500" y="95250"/>
                    </a:cubicBezTo>
                    <a:cubicBezTo>
                      <a:pt x="190500" y="147855"/>
                      <a:pt x="147855" y="190500"/>
                      <a:pt x="95250" y="190500"/>
                    </a:cubicBezTo>
                    <a:cubicBezTo>
                      <a:pt x="42645" y="190500"/>
                      <a:pt x="0" y="147855"/>
                      <a:pt x="0" y="95250"/>
                    </a:cubicBezTo>
                    <a:lnTo>
                      <a:pt x="95" y="91116"/>
                    </a:lnTo>
                    <a:cubicBezTo>
                      <a:pt x="2308" y="40169"/>
                      <a:pt x="44255" y="3"/>
                      <a:pt x="95250" y="0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2" name="Google Shape;362;p52"/>
              <p:cNvSpPr/>
              <p:nvPr/>
            </p:nvSpPr>
            <p:spPr>
              <a:xfrm>
                <a:off x="0" y="171450"/>
                <a:ext cx="200025" cy="114300"/>
              </a:xfrm>
              <a:custGeom>
                <a:rect b="b" l="l" r="r" t="t"/>
                <a:pathLst>
                  <a:path extrusionOk="0" h="152400" w="266700">
                    <a:moveTo>
                      <a:pt x="171450" y="0"/>
                    </a:moveTo>
                    <a:cubicBezTo>
                      <a:pt x="224055" y="0"/>
                      <a:pt x="266700" y="42645"/>
                      <a:pt x="266700" y="95250"/>
                    </a:cubicBezTo>
                    <a:lnTo>
                      <a:pt x="266700" y="114300"/>
                    </a:lnTo>
                    <a:cubicBezTo>
                      <a:pt x="266700" y="135342"/>
                      <a:pt x="249642" y="152400"/>
                      <a:pt x="228600" y="152400"/>
                    </a:cubicBezTo>
                    <a:lnTo>
                      <a:pt x="38100" y="152400"/>
                    </a:lnTo>
                    <a:cubicBezTo>
                      <a:pt x="17058" y="152400"/>
                      <a:pt x="0" y="135342"/>
                      <a:pt x="0" y="114300"/>
                    </a:cubicBezTo>
                    <a:lnTo>
                      <a:pt x="0" y="95250"/>
                    </a:lnTo>
                    <a:cubicBezTo>
                      <a:pt x="0" y="42645"/>
                      <a:pt x="42645" y="0"/>
                      <a:pt x="95250" y="0"/>
                    </a:cubicBezTo>
                    <a:lnTo>
                      <a:pt x="171450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63" name="Google Shape;363;p52"/>
            <p:cNvSpPr txBox="1"/>
            <p:nvPr/>
          </p:nvSpPr>
          <p:spPr>
            <a:xfrm>
              <a:off x="459646" y="807243"/>
              <a:ext cx="1083600" cy="16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陈X，HR顾问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52"/>
            <p:cNvSpPr/>
            <p:nvPr/>
          </p:nvSpPr>
          <p:spPr>
            <a:xfrm>
              <a:off x="128587" y="1042987"/>
              <a:ext cx="1743000" cy="7200"/>
            </a:xfrm>
            <a:prstGeom prst="rect">
              <a:avLst/>
            </a:prstGeom>
            <a:solidFill>
              <a:srgbClr val="E2E8F0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52"/>
            <p:cNvSpPr txBox="1"/>
            <p:nvPr/>
          </p:nvSpPr>
          <p:spPr>
            <a:xfrm>
              <a:off x="101441" y="1162288"/>
              <a:ext cx="1334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做了15年招聘咨询，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52"/>
            <p:cNvSpPr txBox="1"/>
            <p:nvPr/>
          </p:nvSpPr>
          <p:spPr>
            <a:xfrm>
              <a:off x="101441" y="1376601"/>
              <a:ext cx="1201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试了几次AI写JD，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52"/>
            <p:cNvSpPr txBox="1"/>
            <p:nvPr/>
          </p:nvSpPr>
          <p:spPr>
            <a:xfrm>
              <a:off x="101441" y="1590913"/>
              <a:ext cx="10608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格式和措辞完全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52"/>
            <p:cNvSpPr txBox="1"/>
            <p:nvPr/>
          </p:nvSpPr>
          <p:spPr>
            <a:xfrm>
              <a:off x="101441" y="1819513"/>
              <a:ext cx="11127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D97706"/>
                  </a:solidFill>
                  <a:latin typeface="Arial"/>
                  <a:ea typeface="Arial"/>
                  <a:cs typeface="Arial"/>
                  <a:sym typeface="Arial"/>
                </a:rPr>
                <a:t>不符合公司文化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69" name="Google Shape;369;p52"/>
          <p:cNvGrpSpPr/>
          <p:nvPr/>
        </p:nvGrpSpPr>
        <p:grpSpPr>
          <a:xfrm>
            <a:off x="6629400" y="771525"/>
            <a:ext cx="2000250" cy="4014900"/>
            <a:chOff x="0" y="0"/>
            <a:chExt cx="2000250" cy="4014900"/>
          </a:xfrm>
        </p:grpSpPr>
        <p:sp>
          <p:nvSpPr>
            <p:cNvPr id="370" name="Google Shape;370;p52"/>
            <p:cNvSpPr/>
            <p:nvPr/>
          </p:nvSpPr>
          <p:spPr>
            <a:xfrm>
              <a:off x="0" y="0"/>
              <a:ext cx="2000099" cy="4014900"/>
            </a:xfrm>
            <a:prstGeom prst="roundRect">
              <a:avLst>
                <a:gd fmla="val 4286" name="adj"/>
              </a:avLst>
            </a:prstGeom>
            <a:solidFill>
              <a:srgbClr val="FFFFFF"/>
            </a:solidFill>
            <a:ln cap="flat" cmpd="sng" w="9525">
              <a:solidFill>
                <a:srgbClr val="EA580C">
                  <a:alpha val="4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52"/>
            <p:cNvSpPr/>
            <p:nvPr/>
          </p:nvSpPr>
          <p:spPr>
            <a:xfrm>
              <a:off x="0" y="0"/>
              <a:ext cx="2000250" cy="714375"/>
            </a:xfrm>
            <a:custGeom>
              <a:rect b="b" l="l" r="r" t="t"/>
              <a:pathLst>
                <a:path extrusionOk="0" h="952500" w="2667000">
                  <a:moveTo>
                    <a:pt x="114300" y="0"/>
                  </a:moveTo>
                  <a:lnTo>
                    <a:pt x="2552700" y="0"/>
                  </a:lnTo>
                  <a:cubicBezTo>
                    <a:pt x="2628900" y="0"/>
                    <a:pt x="2667000" y="38100"/>
                    <a:pt x="2667000" y="114300"/>
                  </a:cubicBezTo>
                  <a:lnTo>
                    <a:pt x="2667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411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72" name="Google Shape;372;p52"/>
            <p:cNvGrpSpPr/>
            <p:nvPr/>
          </p:nvGrpSpPr>
          <p:grpSpPr>
            <a:xfrm>
              <a:off x="856847" y="171450"/>
              <a:ext cx="286555" cy="285750"/>
              <a:chOff x="0" y="0"/>
              <a:chExt cx="286555" cy="285750"/>
            </a:xfrm>
          </p:grpSpPr>
          <p:sp>
            <p:nvSpPr>
              <p:cNvPr id="373" name="Google Shape;373;p52"/>
              <p:cNvSpPr/>
              <p:nvPr/>
            </p:nvSpPr>
            <p:spPr>
              <a:xfrm>
                <a:off x="0" y="128587"/>
                <a:ext cx="43668" cy="28575"/>
              </a:xfrm>
              <a:custGeom>
                <a:rect b="b" l="l" r="r" t="t"/>
                <a:pathLst>
                  <a:path extrusionOk="0" h="38100" w="58224">
                    <a:moveTo>
                      <a:pt x="38637" y="0"/>
                    </a:moveTo>
                    <a:cubicBezTo>
                      <a:pt x="48716" y="11"/>
                      <a:pt x="57042" y="7872"/>
                      <a:pt x="57633" y="17934"/>
                    </a:cubicBezTo>
                    <a:cubicBezTo>
                      <a:pt x="58224" y="27995"/>
                      <a:pt x="50874" y="36776"/>
                      <a:pt x="40866" y="37967"/>
                    </a:cubicBezTo>
                    <a:lnTo>
                      <a:pt x="38637" y="38100"/>
                    </a:lnTo>
                    <a:lnTo>
                      <a:pt x="19587" y="38100"/>
                    </a:lnTo>
                    <a:cubicBezTo>
                      <a:pt x="9508" y="38089"/>
                      <a:pt x="1181" y="30228"/>
                      <a:pt x="591" y="20166"/>
                    </a:cubicBezTo>
                    <a:cubicBezTo>
                      <a:pt x="0" y="10105"/>
                      <a:pt x="7349" y="1324"/>
                      <a:pt x="17358" y="133"/>
                    </a:cubicBezTo>
                    <a:lnTo>
                      <a:pt x="19587" y="0"/>
                    </a:lnTo>
                    <a:lnTo>
                      <a:pt x="38637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4" name="Google Shape;374;p52"/>
              <p:cNvSpPr/>
              <p:nvPr/>
            </p:nvSpPr>
            <p:spPr>
              <a:xfrm>
                <a:off x="128990" y="0"/>
                <a:ext cx="28575" cy="43265"/>
              </a:xfrm>
              <a:custGeom>
                <a:rect b="b" l="l" r="r" t="t"/>
                <a:pathLst>
                  <a:path extrusionOk="0" h="57687" w="38100">
                    <a:moveTo>
                      <a:pt x="19050" y="0"/>
                    </a:moveTo>
                    <a:cubicBezTo>
                      <a:pt x="28708" y="1"/>
                      <a:pt x="36837" y="7230"/>
                      <a:pt x="37967" y="16821"/>
                    </a:cubicBezTo>
                    <a:lnTo>
                      <a:pt x="38100" y="19050"/>
                    </a:lnTo>
                    <a:lnTo>
                      <a:pt x="38100" y="38100"/>
                    </a:lnTo>
                    <a:cubicBezTo>
                      <a:pt x="38089" y="48179"/>
                      <a:pt x="30228" y="56505"/>
                      <a:pt x="20166" y="57096"/>
                    </a:cubicBezTo>
                    <a:cubicBezTo>
                      <a:pt x="10105" y="57687"/>
                      <a:pt x="1324" y="50338"/>
                      <a:pt x="133" y="40329"/>
                    </a:cubicBezTo>
                    <a:lnTo>
                      <a:pt x="0" y="38100"/>
                    </a:ln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52"/>
              <p:cNvSpPr/>
              <p:nvPr/>
            </p:nvSpPr>
            <p:spPr>
              <a:xfrm>
                <a:off x="242887" y="128587"/>
                <a:ext cx="43668" cy="28575"/>
              </a:xfrm>
              <a:custGeom>
                <a:rect b="b" l="l" r="r" t="t"/>
                <a:pathLst>
                  <a:path extrusionOk="0" h="38100" w="58224">
                    <a:moveTo>
                      <a:pt x="38637" y="0"/>
                    </a:moveTo>
                    <a:cubicBezTo>
                      <a:pt x="48716" y="11"/>
                      <a:pt x="57042" y="7872"/>
                      <a:pt x="57633" y="17934"/>
                    </a:cubicBezTo>
                    <a:cubicBezTo>
                      <a:pt x="58224" y="27995"/>
                      <a:pt x="50874" y="36776"/>
                      <a:pt x="40866" y="37967"/>
                    </a:cubicBezTo>
                    <a:lnTo>
                      <a:pt x="38637" y="38100"/>
                    </a:lnTo>
                    <a:lnTo>
                      <a:pt x="19587" y="38100"/>
                    </a:lnTo>
                    <a:cubicBezTo>
                      <a:pt x="9508" y="38089"/>
                      <a:pt x="1181" y="30228"/>
                      <a:pt x="591" y="20166"/>
                    </a:cubicBezTo>
                    <a:cubicBezTo>
                      <a:pt x="0" y="10105"/>
                      <a:pt x="7349" y="1324"/>
                      <a:pt x="17358" y="133"/>
                    </a:cubicBezTo>
                    <a:lnTo>
                      <a:pt x="19587" y="0"/>
                    </a:lnTo>
                    <a:lnTo>
                      <a:pt x="38637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52"/>
              <p:cNvSpPr/>
              <p:nvPr/>
            </p:nvSpPr>
            <p:spPr>
              <a:xfrm>
                <a:off x="36158" y="35735"/>
                <a:ext cx="41360" cy="41596"/>
              </a:xfrm>
              <a:custGeom>
                <a:rect b="b" l="l" r="r" t="t"/>
                <a:pathLst>
                  <a:path extrusionOk="0" h="55461" w="55147">
                    <a:moveTo>
                      <a:pt x="7437" y="7464"/>
                    </a:moveTo>
                    <a:cubicBezTo>
                      <a:pt x="14224" y="678"/>
                      <a:pt x="24999" y="0"/>
                      <a:pt x="32583" y="5883"/>
                    </a:cubicBezTo>
                    <a:lnTo>
                      <a:pt x="34373" y="7464"/>
                    </a:lnTo>
                    <a:lnTo>
                      <a:pt x="47708" y="20799"/>
                    </a:lnTo>
                    <a:cubicBezTo>
                      <a:pt x="54799" y="27914"/>
                      <a:pt x="55147" y="39311"/>
                      <a:pt x="48504" y="46845"/>
                    </a:cubicBezTo>
                    <a:cubicBezTo>
                      <a:pt x="41861" y="54380"/>
                      <a:pt x="30509" y="55461"/>
                      <a:pt x="22562" y="49317"/>
                    </a:cubicBezTo>
                    <a:lnTo>
                      <a:pt x="20772" y="47736"/>
                    </a:lnTo>
                    <a:lnTo>
                      <a:pt x="7437" y="34401"/>
                    </a:lnTo>
                    <a:cubicBezTo>
                      <a:pt x="0" y="26962"/>
                      <a:pt x="0" y="14903"/>
                      <a:pt x="7437" y="7464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7" name="Google Shape;377;p52"/>
              <p:cNvSpPr/>
              <p:nvPr/>
            </p:nvSpPr>
            <p:spPr>
              <a:xfrm>
                <a:off x="208820" y="35754"/>
                <a:ext cx="41792" cy="41362"/>
              </a:xfrm>
              <a:custGeom>
                <a:rect b="b" l="l" r="r" t="t"/>
                <a:pathLst>
                  <a:path extrusionOk="0" h="55149" w="55723">
                    <a:moveTo>
                      <a:pt x="21060" y="7439"/>
                    </a:moveTo>
                    <a:cubicBezTo>
                      <a:pt x="28175" y="348"/>
                      <a:pt x="39573" y="0"/>
                      <a:pt x="47107" y="6643"/>
                    </a:cubicBezTo>
                    <a:cubicBezTo>
                      <a:pt x="54641" y="13287"/>
                      <a:pt x="55723" y="24638"/>
                      <a:pt x="49578" y="32585"/>
                    </a:cubicBezTo>
                    <a:lnTo>
                      <a:pt x="47997" y="34375"/>
                    </a:lnTo>
                    <a:lnTo>
                      <a:pt x="34662" y="47710"/>
                    </a:lnTo>
                    <a:cubicBezTo>
                      <a:pt x="27547" y="54801"/>
                      <a:pt x="16150" y="55149"/>
                      <a:pt x="8615" y="48506"/>
                    </a:cubicBezTo>
                    <a:cubicBezTo>
                      <a:pt x="1081" y="41862"/>
                      <a:pt x="0" y="30511"/>
                      <a:pt x="6144" y="22564"/>
                    </a:cubicBezTo>
                    <a:lnTo>
                      <a:pt x="7725" y="20774"/>
                    </a:lnTo>
                    <a:lnTo>
                      <a:pt x="21060" y="7439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8" name="Google Shape;378;p52"/>
              <p:cNvSpPr/>
              <p:nvPr/>
            </p:nvSpPr>
            <p:spPr>
              <a:xfrm>
                <a:off x="100415" y="228600"/>
                <a:ext cx="85725" cy="57150"/>
              </a:xfrm>
              <a:custGeom>
                <a:rect b="b" l="l" r="r" t="t"/>
                <a:pathLst>
                  <a:path extrusionOk="0" h="76200" w="114300">
                    <a:moveTo>
                      <a:pt x="95250" y="0"/>
                    </a:moveTo>
                    <a:cubicBezTo>
                      <a:pt x="105771" y="0"/>
                      <a:pt x="114300" y="8529"/>
                      <a:pt x="114300" y="19050"/>
                    </a:cubicBezTo>
                    <a:cubicBezTo>
                      <a:pt x="114300" y="50613"/>
                      <a:pt x="88713" y="76200"/>
                      <a:pt x="57150" y="76200"/>
                    </a:cubicBezTo>
                    <a:cubicBezTo>
                      <a:pt x="25587" y="76200"/>
                      <a:pt x="0" y="50613"/>
                      <a:pt x="0" y="19050"/>
                    </a:cubicBezTo>
                    <a:cubicBezTo>
                      <a:pt x="1" y="9392"/>
                      <a:pt x="7230" y="1263"/>
                      <a:pt x="16821" y="133"/>
                    </a:cubicBezTo>
                    <a:lnTo>
                      <a:pt x="19050" y="0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52"/>
              <p:cNvSpPr/>
              <p:nvPr/>
            </p:nvSpPr>
            <p:spPr>
              <a:xfrm>
                <a:off x="50283" y="57150"/>
                <a:ext cx="185989" cy="157163"/>
              </a:xfrm>
              <a:custGeom>
                <a:rect b="b" l="l" r="r" t="t"/>
                <a:pathLst>
                  <a:path extrusionOk="0" h="209550" w="247985">
                    <a:moveTo>
                      <a:pt x="123992" y="0"/>
                    </a:moveTo>
                    <a:cubicBezTo>
                      <a:pt x="173191" y="0"/>
                      <a:pt x="216869" y="31482"/>
                      <a:pt x="232427" y="78155"/>
                    </a:cubicBezTo>
                    <a:cubicBezTo>
                      <a:pt x="247985" y="124829"/>
                      <a:pt x="231931" y="176221"/>
                      <a:pt x="192572" y="205740"/>
                    </a:cubicBezTo>
                    <a:cubicBezTo>
                      <a:pt x="189947" y="207712"/>
                      <a:pt x="186856" y="208972"/>
                      <a:pt x="183600" y="209398"/>
                    </a:cubicBezTo>
                    <a:lnTo>
                      <a:pt x="181142" y="209550"/>
                    </a:lnTo>
                    <a:lnTo>
                      <a:pt x="66842" y="209550"/>
                    </a:lnTo>
                    <a:cubicBezTo>
                      <a:pt x="62720" y="209550"/>
                      <a:pt x="58710" y="208213"/>
                      <a:pt x="55412" y="205740"/>
                    </a:cubicBezTo>
                    <a:cubicBezTo>
                      <a:pt x="16054" y="176221"/>
                      <a:pt x="0" y="124829"/>
                      <a:pt x="15558" y="78155"/>
                    </a:cubicBezTo>
                    <a:cubicBezTo>
                      <a:pt x="31116" y="31482"/>
                      <a:pt x="74794" y="0"/>
                      <a:pt x="123992" y="0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80" name="Google Shape;380;p52"/>
            <p:cNvSpPr txBox="1"/>
            <p:nvPr/>
          </p:nvSpPr>
          <p:spPr>
            <a:xfrm>
              <a:off x="468272" y="807243"/>
              <a:ext cx="1066800" cy="16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王XX，想创业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52"/>
            <p:cNvSpPr/>
            <p:nvPr/>
          </p:nvSpPr>
          <p:spPr>
            <a:xfrm>
              <a:off x="128587" y="1042987"/>
              <a:ext cx="1743000" cy="7200"/>
            </a:xfrm>
            <a:prstGeom prst="rect">
              <a:avLst/>
            </a:prstGeom>
            <a:solidFill>
              <a:srgbClr val="E2E8F0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52"/>
            <p:cNvSpPr txBox="1"/>
            <p:nvPr/>
          </p:nvSpPr>
          <p:spPr>
            <a:xfrm>
              <a:off x="101441" y="1162288"/>
              <a:ext cx="10386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15年风控经验，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52"/>
            <p:cNvSpPr txBox="1"/>
            <p:nvPr/>
          </p:nvSpPr>
          <p:spPr>
            <a:xfrm>
              <a:off x="101441" y="1376601"/>
              <a:ext cx="1356599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想开自己的咨询公司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52"/>
            <p:cNvSpPr txBox="1"/>
            <p:nvPr/>
          </p:nvSpPr>
          <p:spPr>
            <a:xfrm>
              <a:off x="101441" y="1590913"/>
              <a:ext cx="9057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——AI给的都是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52"/>
            <p:cNvSpPr txBox="1"/>
            <p:nvPr/>
          </p:nvSpPr>
          <p:spPr>
            <a:xfrm>
              <a:off x="101441" y="1819513"/>
              <a:ext cx="1423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D97706"/>
                  </a:solidFill>
                  <a:latin typeface="Arial"/>
                  <a:ea typeface="Arial"/>
                  <a:cs typeface="Arial"/>
                  <a:sym typeface="Arial"/>
                </a:rPr>
                <a:t>通用创业建议没有用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52"/>
            <p:cNvSpPr/>
            <p:nvPr/>
          </p:nvSpPr>
          <p:spPr>
            <a:xfrm>
              <a:off x="128587" y="3443287"/>
              <a:ext cx="1743000" cy="2142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52"/>
            <p:cNvSpPr txBox="1"/>
            <p:nvPr/>
          </p:nvSpPr>
          <p:spPr>
            <a:xfrm>
              <a:off x="437623" y="3494008"/>
              <a:ext cx="11250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创业者 / 副业探索者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8" name="Google Shape;388;p52"/>
          <p:cNvSpPr txBox="1"/>
          <p:nvPr/>
        </p:nvSpPr>
        <p:spPr>
          <a:xfrm>
            <a:off x="8638294" y="4927759"/>
            <a:ext cx="12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53"/>
          <p:cNvGrpSpPr/>
          <p:nvPr/>
        </p:nvGrpSpPr>
        <p:grpSpPr>
          <a:xfrm>
            <a:off x="-1143000" y="-1571625"/>
            <a:ext cx="11430000" cy="8286750"/>
            <a:chOff x="-1524000" y="-2095500"/>
            <a:chExt cx="15240000" cy="11049000"/>
          </a:xfrm>
        </p:grpSpPr>
        <p:sp>
          <p:nvSpPr>
            <p:cNvPr id="394" name="Google Shape;394;p5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53"/>
            <p:cNvSpPr/>
            <p:nvPr/>
          </p:nvSpPr>
          <p:spPr>
            <a:xfrm>
              <a:off x="762000" y="762000"/>
              <a:ext cx="10668000" cy="5334000"/>
            </a:xfrm>
            <a:prstGeom prst="ellipse">
              <a:avLst/>
            </a:prstGeom>
            <a:gradFill>
              <a:gsLst>
                <a:gs pos="0">
                  <a:srgbClr val="E8854C">
                    <a:alpha val="7059"/>
                  </a:srgbClr>
                </a:gs>
                <a:gs pos="100000">
                  <a:srgbClr val="E8854C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53"/>
            <p:cNvSpPr/>
            <p:nvPr/>
          </p:nvSpPr>
          <p:spPr>
            <a:xfrm>
              <a:off x="-1524000" y="4762500"/>
              <a:ext cx="4191000" cy="4191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14902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53"/>
            <p:cNvSpPr/>
            <p:nvPr/>
          </p:nvSpPr>
          <p:spPr>
            <a:xfrm>
              <a:off x="9525000" y="-2095500"/>
              <a:ext cx="4191000" cy="4191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12157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98" name="Google Shape;398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53"/>
          <p:cNvSpPr txBox="1"/>
          <p:nvPr/>
        </p:nvSpPr>
        <p:spPr>
          <a:xfrm>
            <a:off x="8638294" y="255745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0" name="Google Shape;400;p53"/>
          <p:cNvGrpSpPr/>
          <p:nvPr/>
        </p:nvGrpSpPr>
        <p:grpSpPr>
          <a:xfrm>
            <a:off x="2191147" y="1875234"/>
            <a:ext cx="4761706" cy="1318022"/>
            <a:chOff x="2921529" y="2500312"/>
            <a:chExt cx="6348941" cy="1757363"/>
          </a:xfrm>
        </p:grpSpPr>
        <p:sp>
          <p:nvSpPr>
            <p:cNvPr id="401" name="Google Shape;401;p53"/>
            <p:cNvSpPr txBox="1"/>
            <p:nvPr/>
          </p:nvSpPr>
          <p:spPr>
            <a:xfrm>
              <a:off x="4131469" y="2500312"/>
              <a:ext cx="3929062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b="0" i="0" lang="en" sz="28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不是你用得不好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" name="Google Shape;402;p53"/>
            <p:cNvSpPr txBox="1"/>
            <p:nvPr/>
          </p:nvSpPr>
          <p:spPr>
            <a:xfrm>
              <a:off x="2921529" y="3465195"/>
              <a:ext cx="6348941" cy="792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900"/>
                <a:buFont typeface="Arial"/>
                <a:buNone/>
              </a:pPr>
              <a:r>
                <a:rPr b="1" i="0" lang="en" sz="2900" u="none" cap="none" strike="noStrike">
                  <a:solidFill>
                    <a:srgbClr val="EA580C"/>
                  </a:solidFill>
                  <a:latin typeface="Georgia"/>
                  <a:ea typeface="Georgia"/>
                  <a:cs typeface="Georgia"/>
                  <a:sym typeface="Georgia"/>
                </a:rPr>
                <a:t>是 AI 没有你的专业知识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3" name="Google Shape;403;p53"/>
          <p:cNvSpPr/>
          <p:nvPr/>
        </p:nvSpPr>
        <p:spPr>
          <a:xfrm>
            <a:off x="4386263" y="3128963"/>
            <a:ext cx="371475" cy="7144"/>
          </a:xfrm>
          <a:prstGeom prst="rect">
            <a:avLst/>
          </a:prstGeom>
          <a:solidFill>
            <a:srgbClr val="E2E8F0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5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5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54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54"/>
          <p:cNvSpPr txBox="1"/>
          <p:nvPr/>
        </p:nvSpPr>
        <p:spPr>
          <a:xfrm>
            <a:off x="2499043" y="157163"/>
            <a:ext cx="4146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AI用法三层：你在哪一层？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54"/>
          <p:cNvSpPr txBox="1"/>
          <p:nvPr/>
        </p:nvSpPr>
        <p:spPr>
          <a:xfrm>
            <a:off x="3436715" y="510064"/>
            <a:ext cx="2270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95% 的人停在第一层 — 你可以做得更多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54"/>
          <p:cNvSpPr/>
          <p:nvPr/>
        </p:nvSpPr>
        <p:spPr>
          <a:xfrm>
            <a:off x="1000125" y="4314825"/>
            <a:ext cx="4143300" cy="257100"/>
          </a:xfrm>
          <a:prstGeom prst="ellipse">
            <a:avLst/>
          </a:prstGeom>
          <a:solidFill>
            <a:srgbClr val="1C1917">
              <a:alpha val="588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54"/>
          <p:cNvSpPr/>
          <p:nvPr/>
        </p:nvSpPr>
        <p:spPr>
          <a:xfrm>
            <a:off x="1750219" y="821531"/>
            <a:ext cx="2643188" cy="1357313"/>
          </a:xfrm>
          <a:custGeom>
            <a:rect b="b" l="l" r="r" t="t"/>
            <a:pathLst>
              <a:path extrusionOk="0" h="1809750" w="3524250">
                <a:moveTo>
                  <a:pt x="1762125" y="0"/>
                </a:moveTo>
                <a:lnTo>
                  <a:pt x="0" y="1809750"/>
                </a:lnTo>
                <a:lnTo>
                  <a:pt x="3524250" y="1809750"/>
                </a:lnTo>
                <a:close/>
              </a:path>
            </a:pathLst>
          </a:custGeom>
          <a:solidFill>
            <a:srgbClr val="C241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54"/>
          <p:cNvSpPr/>
          <p:nvPr/>
        </p:nvSpPr>
        <p:spPr>
          <a:xfrm>
            <a:off x="2393156" y="821531"/>
            <a:ext cx="1357313" cy="714375"/>
          </a:xfrm>
          <a:custGeom>
            <a:rect b="b" l="l" r="r" t="t"/>
            <a:pathLst>
              <a:path extrusionOk="0" h="952500" w="1809750">
                <a:moveTo>
                  <a:pt x="904875" y="0"/>
                </a:moveTo>
                <a:lnTo>
                  <a:pt x="0" y="952500"/>
                </a:lnTo>
                <a:lnTo>
                  <a:pt x="1809750" y="952500"/>
                </a:lnTo>
                <a:close/>
              </a:path>
            </a:pathLst>
          </a:custGeom>
          <a:solidFill>
            <a:srgbClr val="FFFFFF">
              <a:alpha val="7843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54"/>
          <p:cNvSpPr txBox="1"/>
          <p:nvPr/>
        </p:nvSpPr>
        <p:spPr>
          <a:xfrm>
            <a:off x="2880664" y="14723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54"/>
          <p:cNvSpPr txBox="1"/>
          <p:nvPr/>
        </p:nvSpPr>
        <p:spPr>
          <a:xfrm>
            <a:off x="2639160" y="1607344"/>
            <a:ext cx="86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给AI写技能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54"/>
          <p:cNvSpPr txBox="1"/>
          <p:nvPr/>
        </p:nvSpPr>
        <p:spPr>
          <a:xfrm>
            <a:off x="2795528" y="1807012"/>
            <a:ext cx="552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Skill · MCP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54"/>
          <p:cNvSpPr/>
          <p:nvPr/>
        </p:nvSpPr>
        <p:spPr>
          <a:xfrm>
            <a:off x="1750219" y="2178844"/>
            <a:ext cx="2643188" cy="7144"/>
          </a:xfrm>
          <a:custGeom>
            <a:rect b="b" l="l" r="r" t="t"/>
            <a:pathLst>
              <a:path extrusionOk="0" h="9525" w="3524250">
                <a:moveTo>
                  <a:pt x="0" y="0"/>
                </a:moveTo>
                <a:lnTo>
                  <a:pt x="352425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54"/>
          <p:cNvSpPr/>
          <p:nvPr/>
        </p:nvSpPr>
        <p:spPr>
          <a:xfrm>
            <a:off x="1750219" y="2178844"/>
            <a:ext cx="2643188" cy="1193006"/>
          </a:xfrm>
          <a:custGeom>
            <a:rect b="b" l="l" r="r" t="t"/>
            <a:pathLst>
              <a:path extrusionOk="0" h="1590675" w="3524250">
                <a:moveTo>
                  <a:pt x="0" y="0"/>
                </a:moveTo>
                <a:lnTo>
                  <a:pt x="3524250" y="0"/>
                </a:lnTo>
                <a:lnTo>
                  <a:pt x="2562225" y="1590675"/>
                </a:lnTo>
                <a:lnTo>
                  <a:pt x="962025" y="1590675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54"/>
          <p:cNvSpPr txBox="1"/>
          <p:nvPr/>
        </p:nvSpPr>
        <p:spPr>
          <a:xfrm>
            <a:off x="2880664" y="2601038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54"/>
          <p:cNvSpPr txBox="1"/>
          <p:nvPr/>
        </p:nvSpPr>
        <p:spPr>
          <a:xfrm>
            <a:off x="2391888" y="2723912"/>
            <a:ext cx="1359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在文件夹里工作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54"/>
          <p:cNvSpPr txBox="1"/>
          <p:nvPr/>
        </p:nvSpPr>
        <p:spPr>
          <a:xfrm>
            <a:off x="2643339" y="2950012"/>
            <a:ext cx="856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让AI读写本地文件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54"/>
          <p:cNvSpPr txBox="1"/>
          <p:nvPr/>
        </p:nvSpPr>
        <p:spPr>
          <a:xfrm>
            <a:off x="2597950" y="3150037"/>
            <a:ext cx="947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DDDB0"/>
                </a:solidFill>
                <a:latin typeface="Arial"/>
                <a:ea typeface="Arial"/>
                <a:cs typeface="Arial"/>
                <a:sym typeface="Arial"/>
              </a:rPr>
              <a:t>← 目标是到达这里 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54"/>
          <p:cNvSpPr/>
          <p:nvPr/>
        </p:nvSpPr>
        <p:spPr>
          <a:xfrm>
            <a:off x="2471738" y="3371850"/>
            <a:ext cx="1200150" cy="7144"/>
          </a:xfrm>
          <a:custGeom>
            <a:rect b="b" l="l" r="r" t="t"/>
            <a:pathLst>
              <a:path extrusionOk="0" h="9525"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54"/>
          <p:cNvSpPr/>
          <p:nvPr/>
        </p:nvSpPr>
        <p:spPr>
          <a:xfrm>
            <a:off x="928688" y="3371850"/>
            <a:ext cx="4286250" cy="985838"/>
          </a:xfrm>
          <a:custGeom>
            <a:rect b="b" l="l" r="r" t="t"/>
            <a:pathLst>
              <a:path extrusionOk="0" h="1314450" w="5715000">
                <a:moveTo>
                  <a:pt x="2057400" y="0"/>
                </a:moveTo>
                <a:lnTo>
                  <a:pt x="3657600" y="0"/>
                </a:lnTo>
                <a:lnTo>
                  <a:pt x="5715000" y="1314450"/>
                </a:lnTo>
                <a:lnTo>
                  <a:pt x="0" y="1314450"/>
                </a:lnTo>
                <a:close/>
              </a:path>
            </a:pathLst>
          </a:custGeom>
          <a:solidFill>
            <a:srgbClr val="F9731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54"/>
          <p:cNvSpPr txBox="1"/>
          <p:nvPr/>
        </p:nvSpPr>
        <p:spPr>
          <a:xfrm>
            <a:off x="2880664" y="3715464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54"/>
          <p:cNvSpPr txBox="1"/>
          <p:nvPr/>
        </p:nvSpPr>
        <p:spPr>
          <a:xfrm>
            <a:off x="2847642" y="3840480"/>
            <a:ext cx="448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聊天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54"/>
          <p:cNvSpPr txBox="1"/>
          <p:nvPr/>
        </p:nvSpPr>
        <p:spPr>
          <a:xfrm>
            <a:off x="2304252" y="4071581"/>
            <a:ext cx="153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FF7ED"/>
                </a:solidFill>
                <a:latin typeface="Arial"/>
                <a:ea typeface="Arial"/>
                <a:cs typeface="Arial"/>
                <a:sym typeface="Arial"/>
              </a:rPr>
              <a:t>ChatGPT · Claude · 豆包网页版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54"/>
          <p:cNvSpPr/>
          <p:nvPr/>
        </p:nvSpPr>
        <p:spPr>
          <a:xfrm>
            <a:off x="2214563" y="4257675"/>
            <a:ext cx="1714500" cy="185700"/>
          </a:xfrm>
          <a:prstGeom prst="roundRect">
            <a:avLst>
              <a:gd fmla="val 50000" name="adj"/>
            </a:avLst>
          </a:prstGeom>
          <a:solidFill>
            <a:srgbClr val="1C1917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54"/>
          <p:cNvSpPr txBox="1"/>
          <p:nvPr/>
        </p:nvSpPr>
        <p:spPr>
          <a:xfrm>
            <a:off x="2529865" y="4300181"/>
            <a:ext cx="108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95%+ 的人停在这一层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54"/>
          <p:cNvSpPr/>
          <p:nvPr/>
        </p:nvSpPr>
        <p:spPr>
          <a:xfrm>
            <a:off x="4393406" y="1357313"/>
            <a:ext cx="1250156" cy="107156"/>
          </a:xfrm>
          <a:custGeom>
            <a:rect b="b" l="l" r="r" t="t"/>
            <a:pathLst>
              <a:path extrusionOk="0" h="142875" w="1666875">
                <a:moveTo>
                  <a:pt x="0" y="142875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C2410C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54"/>
          <p:cNvSpPr/>
          <p:nvPr/>
        </p:nvSpPr>
        <p:spPr>
          <a:xfrm>
            <a:off x="4393406" y="2571750"/>
            <a:ext cx="1250156" cy="214313"/>
          </a:xfrm>
          <a:custGeom>
            <a:rect b="b" l="l" r="r" t="t"/>
            <a:pathLst>
              <a:path extrusionOk="0" h="285750" w="1666875">
                <a:moveTo>
                  <a:pt x="0" y="285750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EA580C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54"/>
          <p:cNvSpPr/>
          <p:nvPr/>
        </p:nvSpPr>
        <p:spPr>
          <a:xfrm>
            <a:off x="5214938" y="3786188"/>
            <a:ext cx="428625" cy="71438"/>
          </a:xfrm>
          <a:custGeom>
            <a:rect b="b" l="l" r="r" t="t"/>
            <a:pathLst>
              <a:path extrusionOk="0" h="95250" w="571500">
                <a:moveTo>
                  <a:pt x="0" y="95250"/>
                </a:moveTo>
                <a:lnTo>
                  <a:pt x="571500" y="0"/>
                </a:lnTo>
              </a:path>
            </a:pathLst>
          </a:custGeom>
          <a:noFill/>
          <a:ln cap="flat" cmpd="sng" w="14275">
            <a:solidFill>
              <a:srgbClr val="F97316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54"/>
          <p:cNvSpPr/>
          <p:nvPr/>
        </p:nvSpPr>
        <p:spPr>
          <a:xfrm>
            <a:off x="5643563" y="3300413"/>
            <a:ext cx="3143400" cy="1071600"/>
          </a:xfrm>
          <a:prstGeom prst="roundRect">
            <a:avLst>
              <a:gd fmla="val 8000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1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54"/>
          <p:cNvSpPr/>
          <p:nvPr/>
        </p:nvSpPr>
        <p:spPr>
          <a:xfrm>
            <a:off x="5643563" y="3300413"/>
            <a:ext cx="42900" cy="1071600"/>
          </a:xfrm>
          <a:prstGeom prst="roundRect">
            <a:avLst>
              <a:gd fmla="val 50000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54"/>
          <p:cNvSpPr/>
          <p:nvPr/>
        </p:nvSpPr>
        <p:spPr>
          <a:xfrm>
            <a:off x="5715000" y="3300413"/>
            <a:ext cx="3100500" cy="257100"/>
          </a:xfrm>
          <a:prstGeom prst="roundRect">
            <a:avLst>
              <a:gd fmla="val 33333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54"/>
          <p:cNvSpPr/>
          <p:nvPr/>
        </p:nvSpPr>
        <p:spPr>
          <a:xfrm>
            <a:off x="5715000" y="3429000"/>
            <a:ext cx="3100500" cy="1287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54"/>
          <p:cNvSpPr txBox="1"/>
          <p:nvPr/>
        </p:nvSpPr>
        <p:spPr>
          <a:xfrm>
            <a:off x="5832872" y="3380780"/>
            <a:ext cx="188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第一层：聊天 | 95%+ 用户在这里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54"/>
          <p:cNvSpPr txBox="1"/>
          <p:nvPr/>
        </p:nvSpPr>
        <p:spPr>
          <a:xfrm>
            <a:off x="5762864" y="3621524"/>
            <a:ext cx="1727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问问题、得答案，像搜索引擎升级版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54"/>
          <p:cNvSpPr txBox="1"/>
          <p:nvPr/>
        </p:nvSpPr>
        <p:spPr>
          <a:xfrm>
            <a:off x="5762864" y="3778687"/>
            <a:ext cx="195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AI 对你的文件夹一无所知，只能当场回答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54"/>
          <p:cNvSpPr txBox="1"/>
          <p:nvPr/>
        </p:nvSpPr>
        <p:spPr>
          <a:xfrm>
            <a:off x="5762864" y="39358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适合：日常问答、灵感生成、简单翻译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54"/>
          <p:cNvSpPr txBox="1"/>
          <p:nvPr/>
        </p:nvSpPr>
        <p:spPr>
          <a:xfrm>
            <a:off x="5762864" y="4121587"/>
            <a:ext cx="194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不能停在这里 — 还有更大的威力等着你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4"/>
          <p:cNvSpPr/>
          <p:nvPr/>
        </p:nvSpPr>
        <p:spPr>
          <a:xfrm>
            <a:off x="5643563" y="2057400"/>
            <a:ext cx="3143400" cy="1157400"/>
          </a:xfrm>
          <a:prstGeom prst="roundRect">
            <a:avLst>
              <a:gd fmla="val 7407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1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54"/>
          <p:cNvSpPr/>
          <p:nvPr/>
        </p:nvSpPr>
        <p:spPr>
          <a:xfrm>
            <a:off x="5643563" y="2057400"/>
            <a:ext cx="42900" cy="11574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54"/>
          <p:cNvSpPr/>
          <p:nvPr/>
        </p:nvSpPr>
        <p:spPr>
          <a:xfrm>
            <a:off x="5715000" y="2057400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54"/>
          <p:cNvSpPr/>
          <p:nvPr/>
        </p:nvSpPr>
        <p:spPr>
          <a:xfrm>
            <a:off x="5715000" y="2200275"/>
            <a:ext cx="3100500" cy="1287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54"/>
          <p:cNvSpPr txBox="1"/>
          <p:nvPr/>
        </p:nvSpPr>
        <p:spPr>
          <a:xfrm>
            <a:off x="5832872" y="2152055"/>
            <a:ext cx="2059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第二层：在文件夹里工作 | ★ 目标层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54"/>
          <p:cNvSpPr txBox="1"/>
          <p:nvPr/>
        </p:nvSpPr>
        <p:spPr>
          <a:xfrm>
            <a:off x="5762864" y="2407087"/>
            <a:ext cx="1989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让 AI 直接读写你的本地文件夹，实时操作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4"/>
          <p:cNvSpPr txBox="1"/>
          <p:nvPr/>
        </p:nvSpPr>
        <p:spPr>
          <a:xfrm>
            <a:off x="5762864" y="25642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读文件 — 分析最新版本，不再重复发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54"/>
          <p:cNvSpPr txBox="1"/>
          <p:nvPr/>
        </p:nvSpPr>
        <p:spPr>
          <a:xfrm>
            <a:off x="5762864" y="2721412"/>
            <a:ext cx="2069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写文件 — 生成 Word/HTML/代码，存本地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54"/>
          <p:cNvSpPr txBox="1"/>
          <p:nvPr/>
        </p:nvSpPr>
        <p:spPr>
          <a:xfrm>
            <a:off x="5762864" y="2878574"/>
            <a:ext cx="210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改文件 — 直接修合同/代码，左右看上下文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54"/>
          <p:cNvSpPr txBox="1"/>
          <p:nvPr/>
        </p:nvSpPr>
        <p:spPr>
          <a:xfrm>
            <a:off x="5762878" y="3035724"/>
            <a:ext cx="2595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→ Claude Code / Cowork 带你进入第二层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54"/>
          <p:cNvSpPr/>
          <p:nvPr/>
        </p:nvSpPr>
        <p:spPr>
          <a:xfrm>
            <a:off x="5643563" y="771525"/>
            <a:ext cx="3143400" cy="1200300"/>
          </a:xfrm>
          <a:prstGeom prst="roundRect">
            <a:avLst>
              <a:gd fmla="val 7143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1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54"/>
          <p:cNvSpPr/>
          <p:nvPr/>
        </p:nvSpPr>
        <p:spPr>
          <a:xfrm>
            <a:off x="5643563" y="771525"/>
            <a:ext cx="42900" cy="1200300"/>
          </a:xfrm>
          <a:prstGeom prst="roundRect">
            <a:avLst>
              <a:gd fmla="val 50000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54"/>
          <p:cNvSpPr/>
          <p:nvPr/>
        </p:nvSpPr>
        <p:spPr>
          <a:xfrm>
            <a:off x="5715000" y="771525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54"/>
          <p:cNvSpPr/>
          <p:nvPr/>
        </p:nvSpPr>
        <p:spPr>
          <a:xfrm>
            <a:off x="5715000" y="914400"/>
            <a:ext cx="3100500" cy="1287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54"/>
          <p:cNvSpPr txBox="1"/>
          <p:nvPr/>
        </p:nvSpPr>
        <p:spPr>
          <a:xfrm>
            <a:off x="5832872" y="873323"/>
            <a:ext cx="1878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第三层：给 AI 写技能 | 深度玩家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54"/>
          <p:cNvSpPr txBox="1"/>
          <p:nvPr/>
        </p:nvSpPr>
        <p:spPr>
          <a:xfrm>
            <a:off x="5762864" y="1135499"/>
            <a:ext cx="2021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为 AI 写 Skill，把工作流打包成可复用工具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54"/>
          <p:cNvSpPr txBox="1"/>
          <p:nvPr/>
        </p:nvSpPr>
        <p:spPr>
          <a:xfrm>
            <a:off x="5762864" y="1292662"/>
            <a:ext cx="2186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包含：工具定义 · MCP · 系统提示词 · 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54"/>
          <p:cNvSpPr txBox="1"/>
          <p:nvPr/>
        </p:nvSpPr>
        <p:spPr>
          <a:xfrm>
            <a:off x="5762864" y="1449824"/>
            <a:ext cx="207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"人人都是程序员" — 创造别人也能用的东西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54"/>
          <p:cNvSpPr txBox="1"/>
          <p:nvPr/>
        </p:nvSpPr>
        <p:spPr>
          <a:xfrm>
            <a:off x="5762878" y="1606974"/>
            <a:ext cx="2272499" cy="1171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C2410C"/>
                </a:solidFill>
                <a:latin typeface="Arial"/>
                <a:ea typeface="Arial"/>
                <a:cs typeface="Arial"/>
                <a:sym typeface="Arial"/>
              </a:rPr>
              <a:t>→ 把炒股方法论写成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54"/>
          <p:cNvSpPr txBox="1"/>
          <p:nvPr/>
        </p:nvSpPr>
        <p:spPr>
          <a:xfrm>
            <a:off x="5763577" y="1770221"/>
            <a:ext cx="2003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不是所有人都需要到这里 — 但先到第二层再说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54"/>
          <p:cNvSpPr txBox="1"/>
          <p:nvPr/>
        </p:nvSpPr>
        <p:spPr>
          <a:xfrm>
            <a:off x="8790224" y="4978837"/>
            <a:ext cx="136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" name="Google Shape;465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58188" y="88753"/>
            <a:ext cx="357187" cy="4940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55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471" name="Google Shape;471;p55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55"/>
            <p:cNvSpPr/>
            <p:nvPr/>
          </p:nvSpPr>
          <p:spPr>
            <a:xfrm>
              <a:off x="11410950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55"/>
            <p:cNvSpPr/>
            <p:nvPr/>
          </p:nvSpPr>
          <p:spPr>
            <a:xfrm>
              <a:off x="11558588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74" name="Google Shape;474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75" name="Google Shape;475;p55"/>
          <p:cNvGrpSpPr/>
          <p:nvPr/>
        </p:nvGrpSpPr>
        <p:grpSpPr>
          <a:xfrm>
            <a:off x="3069794" y="240744"/>
            <a:ext cx="5694086" cy="345044"/>
            <a:chOff x="4093059" y="320992"/>
            <a:chExt cx="7592115" cy="460058"/>
          </a:xfrm>
        </p:grpSpPr>
        <p:sp>
          <p:nvSpPr>
            <p:cNvPr id="476" name="Google Shape;476;p55"/>
            <p:cNvSpPr txBox="1"/>
            <p:nvPr/>
          </p:nvSpPr>
          <p:spPr>
            <a:xfrm>
              <a:off x="11517725" y="340995"/>
              <a:ext cx="1674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06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55"/>
            <p:cNvSpPr txBox="1"/>
            <p:nvPr/>
          </p:nvSpPr>
          <p:spPr>
            <a:xfrm>
              <a:off x="4093059" y="320992"/>
              <a:ext cx="40059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00"/>
                <a:buFont typeface="Arial"/>
                <a:buNone/>
              </a:pPr>
              <a:r>
                <a:rPr b="1" i="0" lang="en" sz="21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而我，是这样做的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55"/>
            <p:cNvSpPr/>
            <p:nvPr/>
          </p:nvSpPr>
          <p:spPr>
            <a:xfrm>
              <a:off x="5505450" y="762000"/>
              <a:ext cx="1181099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55"/>
          <p:cNvSpPr/>
          <p:nvPr/>
        </p:nvSpPr>
        <p:spPr>
          <a:xfrm>
            <a:off x="100013" y="757238"/>
            <a:ext cx="2914650" cy="2143125"/>
          </a:xfrm>
          <a:prstGeom prst="roundRect">
            <a:avLst>
              <a:gd fmla="val 2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0" name="Google Shape;480;p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013" y="757238"/>
            <a:ext cx="2914650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55"/>
          <p:cNvSpPr/>
          <p:nvPr/>
        </p:nvSpPr>
        <p:spPr>
          <a:xfrm>
            <a:off x="107156" y="2728913"/>
            <a:ext cx="2900363" cy="164306"/>
          </a:xfrm>
          <a:prstGeom prst="rect">
            <a:avLst/>
          </a:prstGeom>
          <a:solidFill>
            <a:srgbClr val="FAFAF8">
              <a:alpha val="8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55"/>
          <p:cNvSpPr txBox="1"/>
          <p:nvPr/>
        </p:nvSpPr>
        <p:spPr>
          <a:xfrm>
            <a:off x="1211633" y="2757130"/>
            <a:ext cx="69140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投资操作系统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55"/>
          <p:cNvSpPr/>
          <p:nvPr/>
        </p:nvSpPr>
        <p:spPr>
          <a:xfrm>
            <a:off x="100013" y="757238"/>
            <a:ext cx="2914650" cy="2143125"/>
          </a:xfrm>
          <a:prstGeom prst="roundRect">
            <a:avLst>
              <a:gd fmla="val 2667" name="adj"/>
            </a:avLst>
          </a:prstGeom>
          <a:noFill/>
          <a:ln cap="flat" cmpd="sng" w="14275">
            <a:solidFill>
              <a:srgbClr val="EA580C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55"/>
          <p:cNvSpPr/>
          <p:nvPr/>
        </p:nvSpPr>
        <p:spPr>
          <a:xfrm>
            <a:off x="3114675" y="757238"/>
            <a:ext cx="2914650" cy="2143125"/>
          </a:xfrm>
          <a:prstGeom prst="roundRect">
            <a:avLst>
              <a:gd fmla="val 2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5" name="Google Shape;485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4675" y="757238"/>
            <a:ext cx="2914650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55"/>
          <p:cNvSpPr/>
          <p:nvPr/>
        </p:nvSpPr>
        <p:spPr>
          <a:xfrm>
            <a:off x="3121819" y="2728913"/>
            <a:ext cx="2900363" cy="164306"/>
          </a:xfrm>
          <a:prstGeom prst="rect">
            <a:avLst/>
          </a:prstGeom>
          <a:solidFill>
            <a:srgbClr val="FAFAF8">
              <a:alpha val="8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55"/>
          <p:cNvSpPr txBox="1"/>
          <p:nvPr/>
        </p:nvSpPr>
        <p:spPr>
          <a:xfrm>
            <a:off x="4217886" y="2757130"/>
            <a:ext cx="70822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AI 知识库问答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55"/>
          <p:cNvSpPr/>
          <p:nvPr/>
        </p:nvSpPr>
        <p:spPr>
          <a:xfrm>
            <a:off x="3114675" y="757238"/>
            <a:ext cx="2914650" cy="2143125"/>
          </a:xfrm>
          <a:prstGeom prst="roundRect">
            <a:avLst>
              <a:gd fmla="val 2667" name="adj"/>
            </a:avLst>
          </a:prstGeom>
          <a:noFill/>
          <a:ln cap="flat" cmpd="sng" w="14275">
            <a:solidFill>
              <a:srgbClr val="EA580C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55"/>
          <p:cNvSpPr/>
          <p:nvPr/>
        </p:nvSpPr>
        <p:spPr>
          <a:xfrm>
            <a:off x="6129338" y="757238"/>
            <a:ext cx="2914650" cy="2143125"/>
          </a:xfrm>
          <a:prstGeom prst="roundRect">
            <a:avLst>
              <a:gd fmla="val 2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0" name="Google Shape;490;p5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29338" y="757238"/>
            <a:ext cx="2914650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491" name="Google Shape;491;p55"/>
          <p:cNvSpPr/>
          <p:nvPr/>
        </p:nvSpPr>
        <p:spPr>
          <a:xfrm>
            <a:off x="6136481" y="2728913"/>
            <a:ext cx="2900363" cy="164306"/>
          </a:xfrm>
          <a:prstGeom prst="rect">
            <a:avLst/>
          </a:prstGeom>
          <a:solidFill>
            <a:srgbClr val="FAFAF8">
              <a:alpha val="8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55"/>
          <p:cNvSpPr txBox="1"/>
          <p:nvPr/>
        </p:nvSpPr>
        <p:spPr>
          <a:xfrm>
            <a:off x="7232549" y="2757130"/>
            <a:ext cx="70822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AI 工作流图谱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55"/>
          <p:cNvSpPr/>
          <p:nvPr/>
        </p:nvSpPr>
        <p:spPr>
          <a:xfrm>
            <a:off x="6129338" y="757238"/>
            <a:ext cx="2914650" cy="2143125"/>
          </a:xfrm>
          <a:prstGeom prst="roundRect">
            <a:avLst>
              <a:gd fmla="val 2667" name="adj"/>
            </a:avLst>
          </a:prstGeom>
          <a:noFill/>
          <a:ln cap="flat" cmpd="sng" w="14275">
            <a:solidFill>
              <a:srgbClr val="4F46E5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55"/>
          <p:cNvSpPr/>
          <p:nvPr/>
        </p:nvSpPr>
        <p:spPr>
          <a:xfrm>
            <a:off x="428625" y="3071813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55"/>
          <p:cNvSpPr txBox="1"/>
          <p:nvPr/>
        </p:nvSpPr>
        <p:spPr>
          <a:xfrm>
            <a:off x="2914221" y="3188970"/>
            <a:ext cx="331555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以上只是其中几个，共 10+ 套 AI 系统 — 全部 AI 辅助构建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5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2" name="Google Shape;502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503" name="Google Shape;503;p56"/>
          <p:cNvSpPr txBox="1"/>
          <p:nvPr/>
        </p:nvSpPr>
        <p:spPr>
          <a:xfrm>
            <a:off x="8638294" y="255745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56"/>
          <p:cNvSpPr txBox="1"/>
          <p:nvPr/>
        </p:nvSpPr>
        <p:spPr>
          <a:xfrm>
            <a:off x="3168968" y="162877"/>
            <a:ext cx="280606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他们做到了，你也可以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56"/>
          <p:cNvSpPr/>
          <p:nvPr/>
        </p:nvSpPr>
        <p:spPr>
          <a:xfrm>
            <a:off x="3814763" y="442913"/>
            <a:ext cx="1514475" cy="142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56"/>
          <p:cNvSpPr txBox="1"/>
          <p:nvPr/>
        </p:nvSpPr>
        <p:spPr>
          <a:xfrm>
            <a:off x="2889968" y="491490"/>
            <a:ext cx="33640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4 个真实案例 · 领域专家 × AI · claude.com/blog/the-founders-playbook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07" name="Google Shape;507;p56"/>
          <p:cNvGrpSpPr/>
          <p:nvPr/>
        </p:nvGrpSpPr>
        <p:grpSpPr>
          <a:xfrm>
            <a:off x="285750" y="771525"/>
            <a:ext cx="4143375" cy="1571625"/>
            <a:chOff x="381000" y="1028700"/>
            <a:chExt cx="5524500" cy="2095500"/>
          </a:xfrm>
        </p:grpSpPr>
        <p:sp>
          <p:nvSpPr>
            <p:cNvPr id="508" name="Google Shape;508;p56"/>
            <p:cNvSpPr/>
            <p:nvPr/>
          </p:nvSpPr>
          <p:spPr>
            <a:xfrm>
              <a:off x="381000" y="1028700"/>
              <a:ext cx="55245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14275">
              <a:solidFill>
                <a:srgbClr val="16A34A">
                  <a:alpha val="5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" name="Google Shape;509;p56"/>
            <p:cNvSpPr/>
            <p:nvPr/>
          </p:nvSpPr>
          <p:spPr>
            <a:xfrm>
              <a:off x="381000" y="1028700"/>
              <a:ext cx="5524500" cy="38100"/>
            </a:xfrm>
            <a:prstGeom prst="roundRect">
              <a:avLst>
                <a:gd fmla="val 50000" name="adj"/>
              </a:avLst>
            </a:pr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" name="Google Shape;510;p56"/>
            <p:cNvSpPr/>
            <p:nvPr/>
          </p:nvSpPr>
          <p:spPr>
            <a:xfrm>
              <a:off x="533400" y="1162050"/>
              <a:ext cx="4953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" name="Google Shape;511;p56"/>
            <p:cNvSpPr txBox="1"/>
            <p:nvPr/>
          </p:nvSpPr>
          <p:spPr>
            <a:xfrm>
              <a:off x="626269" y="1199674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医疗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" name="Google Shape;512;p56"/>
            <p:cNvSpPr txBox="1"/>
            <p:nvPr/>
          </p:nvSpPr>
          <p:spPr>
            <a:xfrm>
              <a:off x="512445" y="1460181"/>
              <a:ext cx="2142072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Carta Healthcare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p56"/>
            <p:cNvSpPr txBox="1"/>
            <p:nvPr/>
          </p:nvSpPr>
          <p:spPr>
            <a:xfrm>
              <a:off x="517208" y="1748314"/>
              <a:ext cx="1586804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处理时间缩减 66%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" name="Google Shape;514;p56"/>
            <p:cNvSpPr/>
            <p:nvPr/>
          </p:nvSpPr>
          <p:spPr>
            <a:xfrm>
              <a:off x="533400" y="1981200"/>
              <a:ext cx="5219700" cy="9525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" name="Google Shape;515;p56"/>
            <p:cNvSpPr txBox="1"/>
            <p:nvPr/>
          </p:nvSpPr>
          <p:spPr>
            <a:xfrm>
              <a:off x="518160" y="2080259"/>
              <a:ext cx="2641854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每年处理 22,000 例外科手术数据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" name="Google Shape;516;p56"/>
            <p:cNvSpPr txBox="1"/>
            <p:nvPr/>
          </p:nvSpPr>
          <p:spPr>
            <a:xfrm>
              <a:off x="518160" y="2308860"/>
              <a:ext cx="23614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临床知识库 · AI 驱动专业判断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" name="Google Shape;517;p56"/>
            <p:cNvSpPr txBox="1"/>
            <p:nvPr/>
          </p:nvSpPr>
          <p:spPr>
            <a:xfrm>
              <a:off x="519112" y="2831306"/>
              <a:ext cx="186059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✦ 医疗专家知识 + AI 放大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8" name="Google Shape;518;p56"/>
          <p:cNvGrpSpPr/>
          <p:nvPr/>
        </p:nvGrpSpPr>
        <p:grpSpPr>
          <a:xfrm>
            <a:off x="4714875" y="771525"/>
            <a:ext cx="4143375" cy="1571625"/>
            <a:chOff x="6286500" y="1028700"/>
            <a:chExt cx="5524500" cy="2095500"/>
          </a:xfrm>
        </p:grpSpPr>
        <p:sp>
          <p:nvSpPr>
            <p:cNvPr id="519" name="Google Shape;519;p56"/>
            <p:cNvSpPr/>
            <p:nvPr/>
          </p:nvSpPr>
          <p:spPr>
            <a:xfrm>
              <a:off x="6286500" y="1028700"/>
              <a:ext cx="55245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14275">
              <a:solidFill>
                <a:srgbClr val="EA580C">
                  <a:alpha val="5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" name="Google Shape;520;p56"/>
            <p:cNvSpPr/>
            <p:nvPr/>
          </p:nvSpPr>
          <p:spPr>
            <a:xfrm>
              <a:off x="6286500" y="1028700"/>
              <a:ext cx="5524500" cy="3810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56"/>
            <p:cNvSpPr/>
            <p:nvPr/>
          </p:nvSpPr>
          <p:spPr>
            <a:xfrm>
              <a:off x="6438899" y="1162050"/>
              <a:ext cx="8382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56"/>
            <p:cNvSpPr txBox="1"/>
            <p:nvPr/>
          </p:nvSpPr>
          <p:spPr>
            <a:xfrm>
              <a:off x="6478941" y="1199674"/>
              <a:ext cx="758119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创业 / 副业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56"/>
            <p:cNvSpPr txBox="1"/>
            <p:nvPr/>
          </p:nvSpPr>
          <p:spPr>
            <a:xfrm>
              <a:off x="6417945" y="1460181"/>
              <a:ext cx="1091991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Anything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56"/>
            <p:cNvSpPr txBox="1"/>
            <p:nvPr/>
          </p:nvSpPr>
          <p:spPr>
            <a:xfrm>
              <a:off x="6422708" y="1748314"/>
              <a:ext cx="1958301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150 万用户 · 已商业化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56"/>
            <p:cNvSpPr/>
            <p:nvPr/>
          </p:nvSpPr>
          <p:spPr>
            <a:xfrm>
              <a:off x="6438899" y="1981200"/>
              <a:ext cx="5219700" cy="9525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56"/>
            <p:cNvSpPr txBox="1"/>
            <p:nvPr/>
          </p:nvSpPr>
          <p:spPr>
            <a:xfrm>
              <a:off x="6423660" y="2080259"/>
              <a:ext cx="26856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创始人无技术背景 → 完整招聘平台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56"/>
            <p:cNvSpPr txBox="1"/>
            <p:nvPr/>
          </p:nvSpPr>
          <p:spPr>
            <a:xfrm>
              <a:off x="6423660" y="23088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正在运营，正在盈利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56"/>
            <p:cNvSpPr txBox="1"/>
            <p:nvPr/>
          </p:nvSpPr>
          <p:spPr>
            <a:xfrm>
              <a:off x="6424612" y="2831306"/>
              <a:ext cx="169628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✦ 不会写代码 → AI 赚钱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9" name="Google Shape;529;p56"/>
          <p:cNvGrpSpPr/>
          <p:nvPr/>
        </p:nvGrpSpPr>
        <p:grpSpPr>
          <a:xfrm>
            <a:off x="285750" y="2486025"/>
            <a:ext cx="4143375" cy="1571625"/>
            <a:chOff x="381000" y="3314700"/>
            <a:chExt cx="5524500" cy="2095500"/>
          </a:xfrm>
        </p:grpSpPr>
        <p:sp>
          <p:nvSpPr>
            <p:cNvPr id="530" name="Google Shape;530;p56"/>
            <p:cNvSpPr/>
            <p:nvPr/>
          </p:nvSpPr>
          <p:spPr>
            <a:xfrm>
              <a:off x="381000" y="3314700"/>
              <a:ext cx="55245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14275">
              <a:solidFill>
                <a:srgbClr val="4F46E5">
                  <a:alpha val="5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56"/>
            <p:cNvSpPr/>
            <p:nvPr/>
          </p:nvSpPr>
          <p:spPr>
            <a:xfrm>
              <a:off x="381000" y="3314700"/>
              <a:ext cx="5524500" cy="381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56"/>
            <p:cNvSpPr/>
            <p:nvPr/>
          </p:nvSpPr>
          <p:spPr>
            <a:xfrm>
              <a:off x="533400" y="3448050"/>
              <a:ext cx="4953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56"/>
            <p:cNvSpPr txBox="1"/>
            <p:nvPr/>
          </p:nvSpPr>
          <p:spPr>
            <a:xfrm>
              <a:off x="626269" y="3485674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法律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p56"/>
            <p:cNvSpPr txBox="1"/>
            <p:nvPr/>
          </p:nvSpPr>
          <p:spPr>
            <a:xfrm>
              <a:off x="512445" y="3746182"/>
              <a:ext cx="611231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GC AI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56"/>
            <p:cNvSpPr txBox="1"/>
            <p:nvPr/>
          </p:nvSpPr>
          <p:spPr>
            <a:xfrm>
              <a:off x="517208" y="4034314"/>
              <a:ext cx="2613308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$73M 融资 · 1,000+ 企业客户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56"/>
            <p:cNvSpPr/>
            <p:nvPr/>
          </p:nvSpPr>
          <p:spPr>
            <a:xfrm>
              <a:off x="533400" y="4267200"/>
              <a:ext cx="5219700" cy="9525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56"/>
            <p:cNvSpPr txBox="1"/>
            <p:nvPr/>
          </p:nvSpPr>
          <p:spPr>
            <a:xfrm>
              <a:off x="518160" y="4366260"/>
              <a:ext cx="1686687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企业法务专属 AI 平台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" name="Google Shape;538;p56"/>
            <p:cNvSpPr txBox="1"/>
            <p:nvPr/>
          </p:nvSpPr>
          <p:spPr>
            <a:xfrm>
              <a:off x="518160" y="4594860"/>
              <a:ext cx="2562987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合规 · 跨部门风险 · AI 驱动判断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" name="Google Shape;539;p56"/>
            <p:cNvSpPr txBox="1"/>
            <p:nvPr/>
          </p:nvSpPr>
          <p:spPr>
            <a:xfrm>
              <a:off x="519112" y="5117306"/>
              <a:ext cx="1720929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✦ 法律专家主导 AI 落地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40" name="Google Shape;540;p56"/>
          <p:cNvGrpSpPr/>
          <p:nvPr/>
        </p:nvGrpSpPr>
        <p:grpSpPr>
          <a:xfrm>
            <a:off x="4714875" y="2486025"/>
            <a:ext cx="4143375" cy="1571625"/>
            <a:chOff x="6286500" y="3314700"/>
            <a:chExt cx="5524500" cy="2095500"/>
          </a:xfrm>
        </p:grpSpPr>
        <p:sp>
          <p:nvSpPr>
            <p:cNvPr id="541" name="Google Shape;541;p56"/>
            <p:cNvSpPr/>
            <p:nvPr/>
          </p:nvSpPr>
          <p:spPr>
            <a:xfrm>
              <a:off x="6286500" y="3314700"/>
              <a:ext cx="55245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14275">
              <a:solidFill>
                <a:srgbClr val="EF4444">
                  <a:alpha val="5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" name="Google Shape;542;p56"/>
            <p:cNvSpPr/>
            <p:nvPr/>
          </p:nvSpPr>
          <p:spPr>
            <a:xfrm>
              <a:off x="6286500" y="3314700"/>
              <a:ext cx="5524500" cy="38100"/>
            </a:xfrm>
            <a:prstGeom prst="roundRect">
              <a:avLst>
                <a:gd fmla="val 50000" name="adj"/>
              </a:avLst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56"/>
            <p:cNvSpPr/>
            <p:nvPr/>
          </p:nvSpPr>
          <p:spPr>
            <a:xfrm>
              <a:off x="6438899" y="3448050"/>
              <a:ext cx="762000" cy="209550"/>
            </a:xfrm>
            <a:prstGeom prst="roundRect">
              <a:avLst>
                <a:gd fmla="val 50000" name="adj"/>
              </a:avLst>
            </a:prstGeom>
            <a:solidFill>
              <a:srgbClr val="EF4444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56"/>
            <p:cNvSpPr txBox="1"/>
            <p:nvPr/>
          </p:nvSpPr>
          <p:spPr>
            <a:xfrm>
              <a:off x="6522720" y="348567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F4444"/>
                  </a:solidFill>
                  <a:latin typeface="Arial"/>
                  <a:ea typeface="Arial"/>
                  <a:cs typeface="Arial"/>
                  <a:sym typeface="Arial"/>
                </a:rPr>
                <a:t>网络安全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56"/>
            <p:cNvSpPr txBox="1"/>
            <p:nvPr/>
          </p:nvSpPr>
          <p:spPr>
            <a:xfrm>
              <a:off x="6417945" y="3746182"/>
              <a:ext cx="876914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Cogent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56"/>
            <p:cNvSpPr txBox="1"/>
            <p:nvPr/>
          </p:nvSpPr>
          <p:spPr>
            <a:xfrm>
              <a:off x="6422708" y="4034314"/>
              <a:ext cx="2280916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F4444"/>
                  </a:solidFill>
                  <a:latin typeface="Arial"/>
                  <a:ea typeface="Arial"/>
                  <a:cs typeface="Arial"/>
                  <a:sym typeface="Arial"/>
                </a:rPr>
                <a:t>$53M · 响应时间缩减 97%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56"/>
            <p:cNvSpPr/>
            <p:nvPr/>
          </p:nvSpPr>
          <p:spPr>
            <a:xfrm>
              <a:off x="6438899" y="4267200"/>
              <a:ext cx="5219700" cy="9525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" name="Google Shape;548;p56"/>
            <p:cNvSpPr txBox="1"/>
            <p:nvPr/>
          </p:nvSpPr>
          <p:spPr>
            <a:xfrm>
              <a:off x="6423660" y="4366260"/>
              <a:ext cx="20109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发现 → 优先级 → 自动修复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p56"/>
            <p:cNvSpPr txBox="1"/>
            <p:nvPr/>
          </p:nvSpPr>
          <p:spPr>
            <a:xfrm>
              <a:off x="6423660" y="4594860"/>
              <a:ext cx="19671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安全专家知识 × AI Agent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p56"/>
            <p:cNvSpPr txBox="1"/>
            <p:nvPr/>
          </p:nvSpPr>
          <p:spPr>
            <a:xfrm>
              <a:off x="6424612" y="5117306"/>
              <a:ext cx="169628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F4444"/>
                  </a:solidFill>
                  <a:latin typeface="Arial"/>
                  <a:ea typeface="Arial"/>
                  <a:cs typeface="Arial"/>
                  <a:sym typeface="Arial"/>
                </a:rPr>
                <a:t>✦ 专家判断力 × AI 速度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1" name="Google Shape;551;p56"/>
          <p:cNvSpPr/>
          <p:nvPr/>
        </p:nvSpPr>
        <p:spPr>
          <a:xfrm>
            <a:off x="285750" y="4200525"/>
            <a:ext cx="8572500" cy="7144"/>
          </a:xfrm>
          <a:custGeom>
            <a:rect b="b" l="l" r="r" t="t"/>
            <a:pathLst>
              <a:path extrusionOk="0" h="9525" w="11430000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56"/>
          <p:cNvSpPr txBox="1"/>
          <p:nvPr/>
        </p:nvSpPr>
        <p:spPr>
          <a:xfrm>
            <a:off x="2652760" y="4301252"/>
            <a:ext cx="3838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有很多个真实案例，覆盖医疗 · 法律 · 金融 · 创业 · 供应链 · 非营利等行业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56"/>
          <p:cNvSpPr txBox="1"/>
          <p:nvPr/>
        </p:nvSpPr>
        <p:spPr>
          <a:xfrm>
            <a:off x="3345204" y="4464487"/>
            <a:ext cx="245359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sng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来源：claude.com/blog/the-founders-playbook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56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5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0" name="Google Shape;56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3767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57"/>
          <p:cNvSpPr/>
          <p:nvPr/>
        </p:nvSpPr>
        <p:spPr>
          <a:xfrm>
            <a:off x="428625" y="200025"/>
            <a:ext cx="35719" cy="371475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57"/>
          <p:cNvSpPr txBox="1"/>
          <p:nvPr/>
        </p:nvSpPr>
        <p:spPr>
          <a:xfrm>
            <a:off x="547211" y="193596"/>
            <a:ext cx="5415723" cy="3886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" sz="19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连 Anthropic 内部的销售总监，也这样用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57"/>
          <p:cNvSpPr txBox="1"/>
          <p:nvPr/>
        </p:nvSpPr>
        <p:spPr>
          <a:xfrm>
            <a:off x="561499" y="472202"/>
            <a:ext cx="352794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真实案例 · Travis Bryant · Head of Mid-Market GTM · Anthropic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57"/>
          <p:cNvSpPr/>
          <p:nvPr/>
        </p:nvSpPr>
        <p:spPr>
          <a:xfrm>
            <a:off x="428625" y="68580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57"/>
          <p:cNvSpPr txBox="1"/>
          <p:nvPr/>
        </p:nvSpPr>
        <p:spPr>
          <a:xfrm>
            <a:off x="8638294" y="255745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57"/>
          <p:cNvSpPr/>
          <p:nvPr/>
        </p:nvSpPr>
        <p:spPr>
          <a:xfrm>
            <a:off x="428625" y="800100"/>
            <a:ext cx="8286750" cy="2214563"/>
          </a:xfrm>
          <a:prstGeom prst="roundRect">
            <a:avLst>
              <a:gd fmla="val 4516" name="adj"/>
            </a:avLst>
          </a:prstGeom>
          <a:solidFill>
            <a:srgbClr val="FFFFFF"/>
          </a:solidFill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57"/>
          <p:cNvSpPr/>
          <p:nvPr/>
        </p:nvSpPr>
        <p:spPr>
          <a:xfrm>
            <a:off x="428625" y="800100"/>
            <a:ext cx="57150" cy="22145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57"/>
          <p:cNvSpPr/>
          <p:nvPr/>
        </p:nvSpPr>
        <p:spPr>
          <a:xfrm>
            <a:off x="614363" y="985838"/>
            <a:ext cx="928688" cy="185738"/>
          </a:xfrm>
          <a:prstGeom prst="roundRect">
            <a:avLst>
              <a:gd fmla="val 50000" name="adj"/>
            </a:avLst>
          </a:prstGeom>
          <a:solidFill>
            <a:srgbClr val="4F46E5">
              <a:alpha val="1215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57"/>
          <p:cNvSpPr txBox="1"/>
          <p:nvPr/>
        </p:nvSpPr>
        <p:spPr>
          <a:xfrm>
            <a:off x="676933" y="1028343"/>
            <a:ext cx="8035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Anthropic 内部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57"/>
          <p:cNvSpPr txBox="1"/>
          <p:nvPr/>
        </p:nvSpPr>
        <p:spPr>
          <a:xfrm>
            <a:off x="594360" y="1287304"/>
            <a:ext cx="164618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Travis Bryant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57"/>
          <p:cNvSpPr/>
          <p:nvPr/>
        </p:nvSpPr>
        <p:spPr>
          <a:xfrm>
            <a:off x="614363" y="1785938"/>
            <a:ext cx="1385888" cy="7144"/>
          </a:xfrm>
          <a:custGeom>
            <a:rect b="b" l="l" r="r" t="t"/>
            <a:pathLst>
              <a:path extrusionOk="0" h="9525" w="1847850">
                <a:moveTo>
                  <a:pt x="0" y="0"/>
                </a:moveTo>
                <a:lnTo>
                  <a:pt x="18478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57"/>
          <p:cNvSpPr txBox="1"/>
          <p:nvPr/>
        </p:nvSpPr>
        <p:spPr>
          <a:xfrm>
            <a:off x="520064" y="1891665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57"/>
          <p:cNvSpPr txBox="1"/>
          <p:nvPr/>
        </p:nvSpPr>
        <p:spPr>
          <a:xfrm>
            <a:off x="602219" y="1968461"/>
            <a:ext cx="119045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Claude 构建数据，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57"/>
          <p:cNvSpPr txBox="1"/>
          <p:nvPr/>
        </p:nvSpPr>
        <p:spPr>
          <a:xfrm>
            <a:off x="602219" y="2139911"/>
            <a:ext cx="65974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我来解释"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57"/>
          <p:cNvSpPr/>
          <p:nvPr/>
        </p:nvSpPr>
        <p:spPr>
          <a:xfrm>
            <a:off x="2214563" y="928688"/>
            <a:ext cx="7144" cy="1985962"/>
          </a:xfrm>
          <a:custGeom>
            <a:rect b="b" l="l" r="r" t="t"/>
            <a:pathLst>
              <a:path extrusionOk="0" h="2647950" w="9525">
                <a:moveTo>
                  <a:pt x="0" y="0"/>
                </a:moveTo>
                <a:lnTo>
                  <a:pt x="0" y="264795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57"/>
          <p:cNvSpPr txBox="1"/>
          <p:nvPr/>
        </p:nvSpPr>
        <p:spPr>
          <a:xfrm>
            <a:off x="2990088" y="988695"/>
            <a:ext cx="3449574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" sz="5400" u="none" cap="none" strike="noStrike">
                <a:solidFill>
                  <a:srgbClr val="EA580C"/>
                </a:solidFill>
                <a:latin typeface="Georgia"/>
                <a:ea typeface="Georgia"/>
                <a:cs typeface="Georgia"/>
                <a:sym typeface="Georgia"/>
              </a:rPr>
              <a:t>一个晚上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57"/>
          <p:cNvSpPr txBox="1"/>
          <p:nvPr/>
        </p:nvSpPr>
        <p:spPr>
          <a:xfrm>
            <a:off x="3614738" y="1795224"/>
            <a:ext cx="220027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完成了原来多个跨职能团队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57"/>
          <p:cNvSpPr txBox="1"/>
          <p:nvPr/>
        </p:nvSpPr>
        <p:spPr>
          <a:xfrm>
            <a:off x="4518422" y="2009537"/>
            <a:ext cx="39290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花费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57"/>
          <p:cNvSpPr txBox="1"/>
          <p:nvPr/>
        </p:nvSpPr>
        <p:spPr>
          <a:xfrm>
            <a:off x="5109210" y="1973104"/>
            <a:ext cx="100612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EA580C"/>
                </a:solidFill>
                <a:latin typeface="Georgia"/>
                <a:ea typeface="Georgia"/>
                <a:cs typeface="Georgia"/>
                <a:sym typeface="Georgia"/>
              </a:rPr>
              <a:t>数百小时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57"/>
          <p:cNvSpPr txBox="1"/>
          <p:nvPr/>
        </p:nvSpPr>
        <p:spPr>
          <a:xfrm>
            <a:off x="6199346" y="2009537"/>
            <a:ext cx="129659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才能完成的工作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57"/>
          <p:cNvSpPr/>
          <p:nvPr/>
        </p:nvSpPr>
        <p:spPr>
          <a:xfrm>
            <a:off x="2986088" y="2271713"/>
            <a:ext cx="3457575" cy="257175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57"/>
          <p:cNvSpPr txBox="1"/>
          <p:nvPr/>
        </p:nvSpPr>
        <p:spPr>
          <a:xfrm>
            <a:off x="3327068" y="2344936"/>
            <a:ext cx="277561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4,000 个企业账户 · 五维深度评分 · 交互式仪表板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57"/>
          <p:cNvSpPr/>
          <p:nvPr/>
        </p:nvSpPr>
        <p:spPr>
          <a:xfrm>
            <a:off x="428625" y="3171825"/>
            <a:ext cx="2643188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9525">
            <a:solidFill>
              <a:srgbClr val="4F46E5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57"/>
          <p:cNvSpPr txBox="1"/>
          <p:nvPr/>
        </p:nvSpPr>
        <p:spPr>
          <a:xfrm>
            <a:off x="1510035" y="3247548"/>
            <a:ext cx="480367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" sz="25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90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57"/>
          <p:cNvSpPr txBox="1"/>
          <p:nvPr/>
        </p:nvSpPr>
        <p:spPr>
          <a:xfrm>
            <a:off x="2201704" y="3405426"/>
            <a:ext cx="32146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分钟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57"/>
          <p:cNvSpPr txBox="1"/>
          <p:nvPr/>
        </p:nvSpPr>
        <p:spPr>
          <a:xfrm>
            <a:off x="894862" y="3658314"/>
            <a:ext cx="17107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每天节省 · 会议室预订/通话备注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57"/>
          <p:cNvSpPr/>
          <p:nvPr/>
        </p:nvSpPr>
        <p:spPr>
          <a:xfrm>
            <a:off x="3250406" y="3171825"/>
            <a:ext cx="2643188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9525">
            <a:solidFill>
              <a:srgbClr val="4F46E5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57"/>
          <p:cNvSpPr txBox="1"/>
          <p:nvPr/>
        </p:nvSpPr>
        <p:spPr>
          <a:xfrm>
            <a:off x="4279030" y="3247548"/>
            <a:ext cx="271616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" sz="25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57"/>
          <p:cNvSpPr txBox="1"/>
          <p:nvPr/>
        </p:nvSpPr>
        <p:spPr>
          <a:xfrm>
            <a:off x="4616291" y="3405426"/>
            <a:ext cx="32146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小时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57"/>
          <p:cNvSpPr txBox="1"/>
          <p:nvPr/>
        </p:nvSpPr>
        <p:spPr>
          <a:xfrm>
            <a:off x="3774150" y="3658314"/>
            <a:ext cx="15956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每周节省 · 销售预测/数据报告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57"/>
          <p:cNvSpPr/>
          <p:nvPr/>
        </p:nvSpPr>
        <p:spPr>
          <a:xfrm>
            <a:off x="6072188" y="3171825"/>
            <a:ext cx="2643188" cy="714375"/>
          </a:xfrm>
          <a:prstGeom prst="roundRect">
            <a:avLst>
              <a:gd fmla="val 10000" name="adj"/>
            </a:avLst>
          </a:prstGeom>
          <a:solidFill>
            <a:srgbClr val="FFF7ED"/>
          </a:solidFill>
          <a:ln cap="flat" cmpd="sng" w="14275">
            <a:solidFill>
              <a:srgbClr val="EA580C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57"/>
          <p:cNvSpPr txBox="1"/>
          <p:nvPr/>
        </p:nvSpPr>
        <p:spPr>
          <a:xfrm>
            <a:off x="6935251" y="3336131"/>
            <a:ext cx="91706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EA580C"/>
                </a:solidFill>
                <a:latin typeface="Georgia"/>
                <a:ea typeface="Georgia"/>
                <a:cs typeface="Georgia"/>
                <a:sym typeface="Georgia"/>
              </a:rPr>
              <a:t>一人 · 一晚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57"/>
          <p:cNvSpPr txBox="1"/>
          <p:nvPr/>
        </p:nvSpPr>
        <p:spPr>
          <a:xfrm>
            <a:off x="6652930" y="3552230"/>
            <a:ext cx="148170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= 整个跨职能团队的工作量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57"/>
          <p:cNvSpPr txBox="1"/>
          <p:nvPr/>
        </p:nvSpPr>
        <p:spPr>
          <a:xfrm>
            <a:off x="6468692" y="3707249"/>
            <a:ext cx="185017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专业判断力不被替代，重复汇总交给 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57"/>
          <p:cNvSpPr/>
          <p:nvPr/>
        </p:nvSpPr>
        <p:spPr>
          <a:xfrm>
            <a:off x="428625" y="4043363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57"/>
          <p:cNvSpPr txBox="1"/>
          <p:nvPr/>
        </p:nvSpPr>
        <p:spPr>
          <a:xfrm>
            <a:off x="1748558" y="4150162"/>
            <a:ext cx="56468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sng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来源：claude.com/blog/how-an-anthropic-sales-leader-uses-claude-cowork-to-run-a-4-000-account-book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57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2" name="Google Shape;602;p58"/>
          <p:cNvGrpSpPr/>
          <p:nvPr/>
        </p:nvGrpSpPr>
        <p:grpSpPr>
          <a:xfrm>
            <a:off x="0" y="-2571750"/>
            <a:ext cx="10572750" cy="7715250"/>
            <a:chOff x="0" y="0"/>
            <a:chExt cx="10572750" cy="7715250"/>
          </a:xfrm>
        </p:grpSpPr>
        <p:grpSp>
          <p:nvGrpSpPr>
            <p:cNvPr id="603" name="Google Shape;603;p58"/>
            <p:cNvGrpSpPr/>
            <p:nvPr/>
          </p:nvGrpSpPr>
          <p:grpSpPr>
            <a:xfrm>
              <a:off x="0" y="0"/>
              <a:ext cx="10572750" cy="7715250"/>
              <a:chOff x="0" y="0"/>
              <a:chExt cx="10572750" cy="7715250"/>
            </a:xfrm>
          </p:grpSpPr>
          <p:sp>
            <p:nvSpPr>
              <p:cNvPr id="604" name="Google Shape;604;p58"/>
              <p:cNvSpPr/>
              <p:nvPr/>
            </p:nvSpPr>
            <p:spPr>
              <a:xfrm>
                <a:off x="0" y="2571750"/>
                <a:ext cx="9144000" cy="5143500"/>
              </a:xfrm>
              <a:prstGeom prst="rect">
                <a:avLst/>
              </a:prstGeom>
              <a:solidFill>
                <a:srgbClr val="FAFAF8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58"/>
              <p:cNvSpPr/>
              <p:nvPr/>
            </p:nvSpPr>
            <p:spPr>
              <a:xfrm>
                <a:off x="3714750" y="0"/>
                <a:ext cx="6858000" cy="6858000"/>
              </a:xfrm>
              <a:prstGeom prst="ellipse">
                <a:avLst/>
              </a:prstGeom>
              <a:gradFill>
                <a:gsLst>
                  <a:gs pos="0">
                    <a:srgbClr val="E8854C">
                      <a:alpha val="9020"/>
                    </a:srgbClr>
                  </a:gs>
                  <a:gs pos="100000">
                    <a:srgbClr val="E8854C">
                      <a:alpha val="0"/>
                    </a:srgbClr>
                  </a:gs>
                </a:gsLst>
                <a:path path="circle">
                  <a:fillToRect b="50%" l="50%" r="50%" t="50%"/>
                </a:path>
                <a:tileRect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6" name="Google Shape;606;p58"/>
              <p:cNvSpPr/>
              <p:nvPr/>
            </p:nvSpPr>
            <p:spPr>
              <a:xfrm>
                <a:off x="7429500" y="714374"/>
                <a:ext cx="3143250" cy="3143250"/>
              </a:xfrm>
              <a:prstGeom prst="ellipse">
                <a:avLst/>
              </a:prstGeom>
              <a:noFill/>
              <a:ln cap="flat" cmpd="sng" w="9525">
                <a:solidFill>
                  <a:srgbClr val="E2E8F0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07" name="Google Shape;607;p58"/>
            <p:cNvGrpSpPr/>
            <p:nvPr/>
          </p:nvGrpSpPr>
          <p:grpSpPr>
            <a:xfrm>
              <a:off x="328612" y="2686050"/>
              <a:ext cx="4728981" cy="850105"/>
              <a:chOff x="0" y="0"/>
              <a:chExt cx="4728981" cy="850105"/>
            </a:xfrm>
          </p:grpSpPr>
          <p:pic>
            <p:nvPicPr>
              <p:cNvPr id="608" name="Google Shape;608;p58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0" y="0"/>
                <a:ext cx="371475" cy="5143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09" name="Google Shape;609;p58"/>
              <p:cNvSpPr txBox="1"/>
              <p:nvPr/>
            </p:nvSpPr>
            <p:spPr>
              <a:xfrm>
                <a:off x="392919" y="125028"/>
                <a:ext cx="2540100" cy="11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50" u="none" cap="none" strike="noStrike">
                    <a:solidFill>
                      <a:srgbClr val="6B7280"/>
                    </a:solidFill>
                    <a:latin typeface="Arial"/>
                    <a:ea typeface="Arial"/>
                    <a:cs typeface="Arial"/>
                    <a:sym typeface="Arial"/>
                  </a:rPr>
                  <a:t>认识你的新工具 · CLAUDE COWORK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0" name="Google Shape;610;p58"/>
              <p:cNvSpPr txBox="1"/>
              <p:nvPr/>
            </p:nvSpPr>
            <p:spPr>
              <a:xfrm>
                <a:off x="371475" y="214312"/>
                <a:ext cx="4357506" cy="411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2400" u="none" cap="none" strike="noStrike">
                    <a:solidFill>
                      <a:srgbClr val="1C1917"/>
                    </a:solidFill>
                    <a:latin typeface="Georgia"/>
                    <a:ea typeface="Georgia"/>
                    <a:cs typeface="Georgia"/>
                    <a:sym typeface="Georgia"/>
                  </a:rPr>
                  <a:t>Claude Cowork 是什么</a:t>
                </a:r>
                <a:endParaRPr b="0" i="0" sz="2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1" name="Google Shape;611;p58"/>
              <p:cNvSpPr txBox="1"/>
              <p:nvPr/>
            </p:nvSpPr>
            <p:spPr>
              <a:xfrm>
                <a:off x="388610" y="588652"/>
                <a:ext cx="3664800" cy="18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20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不只是聊天窗口 — 是能替你</a:t>
                </a:r>
                <a:r>
                  <a:rPr b="1" i="0" lang="en" sz="1200" u="none" cap="none" strike="noStrike">
                    <a:solidFill>
                      <a:srgbClr val="EA580C"/>
                    </a:solidFill>
                    <a:latin typeface="Arial"/>
                    <a:ea typeface="Arial"/>
                    <a:cs typeface="Arial"/>
                    <a:sym typeface="Arial"/>
                  </a:rPr>
                  <a:t>干活</a:t>
                </a:r>
                <a:r>
                  <a:rPr b="0" i="0" lang="en" sz="120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的协作空间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58"/>
              <p:cNvSpPr/>
              <p:nvPr/>
            </p:nvSpPr>
            <p:spPr>
              <a:xfrm>
                <a:off x="400050" y="828674"/>
                <a:ext cx="571500" cy="21431"/>
              </a:xfrm>
              <a:prstGeom prst="rect">
                <a:avLst/>
              </a:prstGeom>
              <a:solidFill>
                <a:srgbClr val="EA580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13" name="Google Shape;613;p58"/>
            <p:cNvGrpSpPr/>
            <p:nvPr/>
          </p:nvGrpSpPr>
          <p:grpSpPr>
            <a:xfrm>
              <a:off x="728662" y="3871912"/>
              <a:ext cx="3664743" cy="1628775"/>
              <a:chOff x="0" y="0"/>
              <a:chExt cx="3664743" cy="1628775"/>
            </a:xfrm>
          </p:grpSpPr>
          <p:sp>
            <p:nvSpPr>
              <p:cNvPr id="614" name="Google Shape;614;p58"/>
              <p:cNvSpPr/>
              <p:nvPr/>
            </p:nvSpPr>
            <p:spPr>
              <a:xfrm>
                <a:off x="0" y="0"/>
                <a:ext cx="3664743" cy="1628775"/>
              </a:xfrm>
              <a:prstGeom prst="roundRect">
                <a:avLst>
                  <a:gd fmla="val 701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152400" rotWithShape="0" algn="ctr" dir="5400000" dist="38100">
                  <a:srgbClr val="000000">
                    <a:alpha val="5882"/>
                  </a:srgbClr>
                </a:outerShdw>
              </a:effectLst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5" name="Google Shape;615;p58"/>
              <p:cNvSpPr/>
              <p:nvPr/>
            </p:nvSpPr>
            <p:spPr>
              <a:xfrm>
                <a:off x="0" y="0"/>
                <a:ext cx="3664743" cy="42862"/>
              </a:xfrm>
              <a:prstGeom prst="roundRect">
                <a:avLst>
                  <a:gd fmla="val 50000" name="adj"/>
                </a:avLst>
              </a:prstGeom>
              <a:solidFill>
                <a:srgbClr val="EA580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58"/>
              <p:cNvSpPr/>
              <p:nvPr/>
            </p:nvSpPr>
            <p:spPr>
              <a:xfrm>
                <a:off x="228599" y="260746"/>
                <a:ext cx="285750" cy="232171"/>
              </a:xfrm>
              <a:custGeom>
                <a:rect b="b" l="l" r="r" t="t"/>
                <a:pathLst>
                  <a:path extrusionOk="0" h="309562" w="381000">
                    <a:moveTo>
                      <a:pt x="0" y="0"/>
                    </a:moveTo>
                    <a:lnTo>
                      <a:pt x="142875" y="0"/>
                    </a:lnTo>
                    <a:lnTo>
                      <a:pt x="214312" y="71438"/>
                    </a:lnTo>
                    <a:lnTo>
                      <a:pt x="381000" y="71438"/>
                    </a:lnTo>
                    <a:lnTo>
                      <a:pt x="381000" y="309562"/>
                    </a:lnTo>
                    <a:lnTo>
                      <a:pt x="0" y="3095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58"/>
              <p:cNvSpPr txBox="1"/>
              <p:nvPr/>
            </p:nvSpPr>
            <p:spPr>
              <a:xfrm>
                <a:off x="214314" y="664363"/>
                <a:ext cx="2687700" cy="23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500" u="none" cap="none" strike="noStrike">
                    <a:solidFill>
                      <a:srgbClr val="1C1917"/>
                    </a:solidFill>
                    <a:latin typeface="Arial"/>
                    <a:ea typeface="Arial"/>
                    <a:cs typeface="Arial"/>
                    <a:sym typeface="Arial"/>
                  </a:rPr>
                  <a:t>本地文件夹操作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8" name="Google Shape;618;p58"/>
              <p:cNvSpPr txBox="1"/>
              <p:nvPr/>
            </p:nvSpPr>
            <p:spPr>
              <a:xfrm>
                <a:off x="217892" y="923337"/>
                <a:ext cx="29154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直接读写你电脑上的文件夹，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9" name="Google Shape;619;p58"/>
              <p:cNvSpPr txBox="1"/>
              <p:nvPr/>
            </p:nvSpPr>
            <p:spPr>
              <a:xfrm>
                <a:off x="217894" y="1109063"/>
                <a:ext cx="21501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不用来回复制粘贴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20" name="Google Shape;620;p58"/>
            <p:cNvGrpSpPr/>
            <p:nvPr/>
          </p:nvGrpSpPr>
          <p:grpSpPr>
            <a:xfrm>
              <a:off x="4622006" y="3871912"/>
              <a:ext cx="3664743" cy="1628775"/>
              <a:chOff x="0" y="0"/>
              <a:chExt cx="3664743" cy="1628775"/>
            </a:xfrm>
          </p:grpSpPr>
          <p:sp>
            <p:nvSpPr>
              <p:cNvPr id="621" name="Google Shape;621;p58"/>
              <p:cNvSpPr/>
              <p:nvPr/>
            </p:nvSpPr>
            <p:spPr>
              <a:xfrm>
                <a:off x="0" y="0"/>
                <a:ext cx="3664743" cy="1628775"/>
              </a:xfrm>
              <a:prstGeom prst="roundRect">
                <a:avLst>
                  <a:gd fmla="val 701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152400" rotWithShape="0" algn="ctr" dir="5400000" dist="38100">
                  <a:srgbClr val="000000">
                    <a:alpha val="5882"/>
                  </a:srgbClr>
                </a:outerShdw>
              </a:effectLst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2" name="Google Shape;622;p58"/>
              <p:cNvSpPr/>
              <p:nvPr/>
            </p:nvSpPr>
            <p:spPr>
              <a:xfrm>
                <a:off x="0" y="0"/>
                <a:ext cx="3664743" cy="42862"/>
              </a:xfrm>
              <a:prstGeom prst="roundRect">
                <a:avLst>
                  <a:gd fmla="val 50000" name="adj"/>
                </a:avLst>
              </a:prstGeom>
              <a:solidFill>
                <a:srgbClr val="4F46E5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3" name="Google Shape;623;p58"/>
              <p:cNvSpPr/>
              <p:nvPr/>
            </p:nvSpPr>
            <p:spPr>
              <a:xfrm>
                <a:off x="228600" y="242887"/>
                <a:ext cx="250031" cy="285750"/>
              </a:xfrm>
              <a:custGeom>
                <a:rect b="b" l="l" r="r" t="t"/>
                <a:pathLst>
                  <a:path extrusionOk="0" h="381000" w="333375">
                    <a:moveTo>
                      <a:pt x="261938" y="142875"/>
                    </a:moveTo>
                    <a:cubicBezTo>
                      <a:pt x="301392" y="142875"/>
                      <a:pt x="333375" y="110891"/>
                      <a:pt x="333375" y="71438"/>
                    </a:cubicBezTo>
                    <a:cubicBezTo>
                      <a:pt x="333375" y="31984"/>
                      <a:pt x="301392" y="0"/>
                      <a:pt x="261938" y="0"/>
                    </a:cubicBezTo>
                    <a:cubicBezTo>
                      <a:pt x="222484" y="0"/>
                      <a:pt x="190500" y="31984"/>
                      <a:pt x="190500" y="71438"/>
                    </a:cubicBezTo>
                    <a:cubicBezTo>
                      <a:pt x="190500" y="76765"/>
                      <a:pt x="191083" y="81955"/>
                      <a:pt x="192189" y="86950"/>
                    </a:cubicBezTo>
                    <a:lnTo>
                      <a:pt x="115934" y="134609"/>
                    </a:lnTo>
                    <a:cubicBezTo>
                      <a:pt x="103727" y="124878"/>
                      <a:pt x="88262" y="119062"/>
                      <a:pt x="71438" y="119062"/>
                    </a:cubicBezTo>
                    <a:cubicBezTo>
                      <a:pt x="31984" y="119062"/>
                      <a:pt x="0" y="151046"/>
                      <a:pt x="0" y="190500"/>
                    </a:cubicBezTo>
                    <a:cubicBezTo>
                      <a:pt x="0" y="229954"/>
                      <a:pt x="31984" y="261938"/>
                      <a:pt x="71438" y="261938"/>
                    </a:cubicBezTo>
                    <a:cubicBezTo>
                      <a:pt x="88262" y="261938"/>
                      <a:pt x="103727" y="256122"/>
                      <a:pt x="115934" y="246390"/>
                    </a:cubicBezTo>
                    <a:lnTo>
                      <a:pt x="192189" y="294051"/>
                    </a:lnTo>
                    <a:cubicBezTo>
                      <a:pt x="191083" y="299045"/>
                      <a:pt x="190500" y="304236"/>
                      <a:pt x="190500" y="309562"/>
                    </a:cubicBezTo>
                    <a:cubicBezTo>
                      <a:pt x="190500" y="349017"/>
                      <a:pt x="222484" y="381000"/>
                      <a:pt x="261938" y="381000"/>
                    </a:cubicBezTo>
                    <a:cubicBezTo>
                      <a:pt x="301392" y="381000"/>
                      <a:pt x="333375" y="349017"/>
                      <a:pt x="333375" y="309562"/>
                    </a:cubicBezTo>
                    <a:cubicBezTo>
                      <a:pt x="333375" y="270108"/>
                      <a:pt x="301392" y="238125"/>
                      <a:pt x="261938" y="238125"/>
                    </a:cubicBezTo>
                    <a:cubicBezTo>
                      <a:pt x="245114" y="238125"/>
                      <a:pt x="229648" y="243940"/>
                      <a:pt x="217441" y="253672"/>
                    </a:cubicBezTo>
                    <a:lnTo>
                      <a:pt x="141186" y="206012"/>
                    </a:lnTo>
                    <a:cubicBezTo>
                      <a:pt x="142292" y="201018"/>
                      <a:pt x="142875" y="195827"/>
                      <a:pt x="142875" y="190500"/>
                    </a:cubicBezTo>
                    <a:cubicBezTo>
                      <a:pt x="142875" y="185173"/>
                      <a:pt x="142292" y="179982"/>
                      <a:pt x="141186" y="174988"/>
                    </a:cubicBezTo>
                    <a:lnTo>
                      <a:pt x="217441" y="127329"/>
                    </a:lnTo>
                    <a:cubicBezTo>
                      <a:pt x="229648" y="137059"/>
                      <a:pt x="245114" y="142875"/>
                      <a:pt x="261938" y="142875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58"/>
              <p:cNvSpPr txBox="1"/>
              <p:nvPr/>
            </p:nvSpPr>
            <p:spPr>
              <a:xfrm>
                <a:off x="214323" y="664362"/>
                <a:ext cx="2540100" cy="23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500" u="none" cap="none" strike="noStrike">
                    <a:solidFill>
                      <a:srgbClr val="1C1917"/>
                    </a:solidFill>
                    <a:latin typeface="Arial"/>
                    <a:ea typeface="Arial"/>
                    <a:cs typeface="Arial"/>
                    <a:sym typeface="Arial"/>
                  </a:rPr>
                  <a:t>复杂多 Agent 工作流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58"/>
              <p:cNvSpPr txBox="1"/>
              <p:nvPr/>
            </p:nvSpPr>
            <p:spPr>
              <a:xfrm>
                <a:off x="217900" y="923345"/>
                <a:ext cx="29910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定义多步骤、多角色的协作流程，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6" name="Google Shape;626;p58"/>
              <p:cNvSpPr txBox="1"/>
              <p:nvPr/>
            </p:nvSpPr>
            <p:spPr>
              <a:xfrm>
                <a:off x="217901" y="1109062"/>
                <a:ext cx="21501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让 AI 分工配合完成任务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27" name="Google Shape;627;p58"/>
            <p:cNvGrpSpPr/>
            <p:nvPr/>
          </p:nvGrpSpPr>
          <p:grpSpPr>
            <a:xfrm>
              <a:off x="728662" y="5672137"/>
              <a:ext cx="3664743" cy="1628775"/>
              <a:chOff x="0" y="0"/>
              <a:chExt cx="3664743" cy="1628775"/>
            </a:xfrm>
          </p:grpSpPr>
          <p:sp>
            <p:nvSpPr>
              <p:cNvPr id="628" name="Google Shape;628;p58"/>
              <p:cNvSpPr/>
              <p:nvPr/>
            </p:nvSpPr>
            <p:spPr>
              <a:xfrm>
                <a:off x="0" y="0"/>
                <a:ext cx="3664743" cy="1628775"/>
              </a:xfrm>
              <a:prstGeom prst="roundRect">
                <a:avLst>
                  <a:gd fmla="val 701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152400" rotWithShape="0" algn="ctr" dir="5400000" dist="38100">
                  <a:srgbClr val="000000">
                    <a:alpha val="5882"/>
                  </a:srgbClr>
                </a:outerShdw>
              </a:effectLst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58"/>
              <p:cNvSpPr/>
              <p:nvPr/>
            </p:nvSpPr>
            <p:spPr>
              <a:xfrm>
                <a:off x="0" y="0"/>
                <a:ext cx="3664743" cy="42862"/>
              </a:xfrm>
              <a:prstGeom prst="roundRect">
                <a:avLst>
                  <a:gd fmla="val 50000" name="adj"/>
                </a:avLst>
              </a:prstGeom>
              <a:solidFill>
                <a:srgbClr val="16A34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0" name="Google Shape;630;p58"/>
              <p:cNvSpPr/>
              <p:nvPr/>
            </p:nvSpPr>
            <p:spPr>
              <a:xfrm>
                <a:off x="246458" y="242887"/>
                <a:ext cx="250031" cy="285750"/>
              </a:xfrm>
              <a:custGeom>
                <a:rect b="b" l="l" r="r" t="t"/>
                <a:pathLst>
                  <a:path extrusionOk="0" h="381000" w="333375">
                    <a:moveTo>
                      <a:pt x="119062" y="0"/>
                    </a:moveTo>
                    <a:lnTo>
                      <a:pt x="119062" y="95250"/>
                    </a:lnTo>
                    <a:lnTo>
                      <a:pt x="214312" y="95250"/>
                    </a:lnTo>
                    <a:lnTo>
                      <a:pt x="214312" y="0"/>
                    </a:lnTo>
                    <a:lnTo>
                      <a:pt x="261938" y="0"/>
                    </a:lnTo>
                    <a:lnTo>
                      <a:pt x="261938" y="95250"/>
                    </a:lnTo>
                    <a:lnTo>
                      <a:pt x="333375" y="95250"/>
                    </a:lnTo>
                    <a:lnTo>
                      <a:pt x="333375" y="142875"/>
                    </a:lnTo>
                    <a:lnTo>
                      <a:pt x="285750" y="142875"/>
                    </a:lnTo>
                    <a:lnTo>
                      <a:pt x="285750" y="190500"/>
                    </a:lnTo>
                    <a:cubicBezTo>
                      <a:pt x="285750" y="248102"/>
                      <a:pt x="244845" y="296149"/>
                      <a:pt x="190500" y="307181"/>
                    </a:cubicBezTo>
                    <a:lnTo>
                      <a:pt x="190500" y="381000"/>
                    </a:lnTo>
                    <a:lnTo>
                      <a:pt x="142875" y="381000"/>
                    </a:lnTo>
                    <a:lnTo>
                      <a:pt x="142875" y="307181"/>
                    </a:lnTo>
                    <a:cubicBezTo>
                      <a:pt x="88529" y="296149"/>
                      <a:pt x="47625" y="248102"/>
                      <a:pt x="47625" y="190500"/>
                    </a:cubicBezTo>
                    <a:lnTo>
                      <a:pt x="47625" y="142875"/>
                    </a:lnTo>
                    <a:lnTo>
                      <a:pt x="0" y="142875"/>
                    </a:lnTo>
                    <a:lnTo>
                      <a:pt x="0" y="95250"/>
                    </a:lnTo>
                    <a:lnTo>
                      <a:pt x="71438" y="95250"/>
                    </a:lnTo>
                    <a:lnTo>
                      <a:pt x="71438" y="0"/>
                    </a:lnTo>
                    <a:lnTo>
                      <a:pt x="119062" y="0"/>
                    </a:lnTo>
                    <a:close/>
                  </a:path>
                </a:pathLst>
              </a:custGeom>
              <a:solidFill>
                <a:srgbClr val="16A34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1" name="Google Shape;631;p58"/>
              <p:cNvSpPr txBox="1"/>
              <p:nvPr/>
            </p:nvSpPr>
            <p:spPr>
              <a:xfrm>
                <a:off x="214314" y="664362"/>
                <a:ext cx="2915400" cy="23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500" u="none" cap="none" strike="noStrike">
                    <a:solidFill>
                      <a:srgbClr val="1C1917"/>
                    </a:solidFill>
                    <a:latin typeface="Arial"/>
                    <a:ea typeface="Arial"/>
                    <a:cs typeface="Arial"/>
                    <a:sym typeface="Arial"/>
                  </a:rPr>
                  <a:t>Connector 连接各系统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58"/>
              <p:cNvSpPr txBox="1"/>
              <p:nvPr/>
            </p:nvSpPr>
            <p:spPr>
              <a:xfrm>
                <a:off x="217891" y="923341"/>
                <a:ext cx="26877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打通邮箱、日历、第三方工具，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58"/>
              <p:cNvSpPr txBox="1"/>
              <p:nvPr/>
            </p:nvSpPr>
            <p:spPr>
              <a:xfrm>
                <a:off x="217892" y="1109061"/>
                <a:ext cx="25401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跨系统联动不用切来切去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58"/>
            <p:cNvGrpSpPr/>
            <p:nvPr/>
          </p:nvGrpSpPr>
          <p:grpSpPr>
            <a:xfrm>
              <a:off x="4622006" y="5672137"/>
              <a:ext cx="3664743" cy="1628775"/>
              <a:chOff x="0" y="0"/>
              <a:chExt cx="3664743" cy="1628775"/>
            </a:xfrm>
          </p:grpSpPr>
          <p:sp>
            <p:nvSpPr>
              <p:cNvPr id="635" name="Google Shape;635;p58"/>
              <p:cNvSpPr/>
              <p:nvPr/>
            </p:nvSpPr>
            <p:spPr>
              <a:xfrm>
                <a:off x="0" y="0"/>
                <a:ext cx="3664743" cy="1628775"/>
              </a:xfrm>
              <a:prstGeom prst="roundRect">
                <a:avLst>
                  <a:gd fmla="val 701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152400" rotWithShape="0" algn="ctr" dir="5400000" dist="38100">
                  <a:srgbClr val="000000">
                    <a:alpha val="5882"/>
                  </a:srgbClr>
                </a:outerShdw>
              </a:effectLst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58"/>
              <p:cNvSpPr/>
              <p:nvPr/>
            </p:nvSpPr>
            <p:spPr>
              <a:xfrm>
                <a:off x="0" y="0"/>
                <a:ext cx="3664743" cy="42862"/>
              </a:xfrm>
              <a:prstGeom prst="roundRect">
                <a:avLst>
                  <a:gd fmla="val 50000" name="adj"/>
                </a:avLst>
              </a:prstGeom>
              <a:solidFill>
                <a:srgbClr val="D97706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58"/>
              <p:cNvSpPr/>
              <p:nvPr/>
            </p:nvSpPr>
            <p:spPr>
              <a:xfrm>
                <a:off x="264318" y="242887"/>
                <a:ext cx="214312" cy="285750"/>
              </a:xfrm>
              <a:custGeom>
                <a:rect b="b" l="l" r="r" t="t"/>
                <a:pathLst>
                  <a:path extrusionOk="0" h="381000" w="285750">
                    <a:moveTo>
                      <a:pt x="166688" y="166688"/>
                    </a:moveTo>
                    <a:lnTo>
                      <a:pt x="190500" y="0"/>
                    </a:lnTo>
                    <a:lnTo>
                      <a:pt x="142875" y="0"/>
                    </a:lnTo>
                    <a:lnTo>
                      <a:pt x="0" y="166688"/>
                    </a:lnTo>
                    <a:lnTo>
                      <a:pt x="0" y="214312"/>
                    </a:lnTo>
                    <a:lnTo>
                      <a:pt x="119062" y="214312"/>
                    </a:lnTo>
                    <a:lnTo>
                      <a:pt x="95250" y="381000"/>
                    </a:lnTo>
                    <a:lnTo>
                      <a:pt x="142875" y="381000"/>
                    </a:lnTo>
                    <a:lnTo>
                      <a:pt x="285750" y="214312"/>
                    </a:lnTo>
                    <a:lnTo>
                      <a:pt x="285750" y="166688"/>
                    </a:lnTo>
                    <a:lnTo>
                      <a:pt x="166688" y="166688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8" name="Google Shape;638;p58"/>
              <p:cNvSpPr txBox="1"/>
              <p:nvPr/>
            </p:nvSpPr>
            <p:spPr>
              <a:xfrm>
                <a:off x="214325" y="664363"/>
                <a:ext cx="2306700" cy="23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500" u="none" cap="none" strike="noStrike">
                    <a:solidFill>
                      <a:srgbClr val="1C1917"/>
                    </a:solidFill>
                    <a:latin typeface="Arial"/>
                    <a:ea typeface="Arial"/>
                    <a:cs typeface="Arial"/>
                    <a:sym typeface="Arial"/>
                  </a:rPr>
                  <a:t>发任务自动执行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9" name="Google Shape;639;p58"/>
              <p:cNvSpPr txBox="1"/>
              <p:nvPr/>
            </p:nvSpPr>
            <p:spPr>
              <a:xfrm>
                <a:off x="217897" y="923340"/>
                <a:ext cx="23067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交代一个任务，后台自动跑完，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58"/>
              <p:cNvSpPr txBox="1"/>
              <p:nvPr/>
            </p:nvSpPr>
            <p:spPr>
              <a:xfrm>
                <a:off x="217901" y="1109062"/>
                <a:ext cx="17079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不用一直盯着屏幕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41" name="Google Shape;641;p58"/>
            <p:cNvGrpSpPr/>
            <p:nvPr/>
          </p:nvGrpSpPr>
          <p:grpSpPr>
            <a:xfrm>
              <a:off x="720797" y="7472362"/>
              <a:ext cx="7694539" cy="206889"/>
              <a:chOff x="-6" y="0"/>
              <a:chExt cx="7694539" cy="206889"/>
            </a:xfrm>
          </p:grpSpPr>
          <p:sp>
            <p:nvSpPr>
              <p:cNvPr id="642" name="Google Shape;642;p58"/>
              <p:cNvSpPr/>
              <p:nvPr/>
            </p:nvSpPr>
            <p:spPr>
              <a:xfrm>
                <a:off x="7858" y="0"/>
                <a:ext cx="7686675" cy="7143"/>
              </a:xfrm>
              <a:custGeom>
                <a:rect b="b" l="l" r="r" t="t"/>
                <a:pathLst>
                  <a:path extrusionOk="0" h="9525" w="10248900">
                    <a:moveTo>
                      <a:pt x="0" y="0"/>
                    </a:moveTo>
                    <a:lnTo>
                      <a:pt x="10248900" y="0"/>
                    </a:lnTo>
                  </a:path>
                </a:pathLst>
              </a:custGeom>
              <a:noFill/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3" name="Google Shape;643;p58"/>
              <p:cNvSpPr txBox="1"/>
              <p:nvPr/>
            </p:nvSpPr>
            <p:spPr>
              <a:xfrm>
                <a:off x="-6" y="76089"/>
                <a:ext cx="1416000" cy="1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850" u="none" cap="none" strike="noStrike">
                    <a:solidFill>
                      <a:srgbClr val="6B7280"/>
                    </a:solidFill>
                    <a:latin typeface="Arial"/>
                    <a:ea typeface="Arial"/>
                    <a:cs typeface="Arial"/>
                    <a:sym typeface="Arial"/>
                  </a:rPr>
                  <a:t>北美职场 · 讲武堂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44" name="Google Shape;644;p58"/>
          <p:cNvSpPr txBox="1"/>
          <p:nvPr/>
        </p:nvSpPr>
        <p:spPr>
          <a:xfrm>
            <a:off x="8638306" y="4927753"/>
            <a:ext cx="3972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5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59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59"/>
          <p:cNvSpPr txBox="1"/>
          <p:nvPr/>
        </p:nvSpPr>
        <p:spPr>
          <a:xfrm>
            <a:off x="560070" y="195739"/>
            <a:ext cx="31102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什么是 Claude Code？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59"/>
          <p:cNvSpPr txBox="1"/>
          <p:nvPr/>
        </p:nvSpPr>
        <p:spPr>
          <a:xfrm>
            <a:off x="574358" y="488633"/>
            <a:ext cx="2329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认识你的新工具 · 在你的终端里直接开发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59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59"/>
          <p:cNvSpPr/>
          <p:nvPr/>
        </p:nvSpPr>
        <p:spPr>
          <a:xfrm>
            <a:off x="457200" y="842963"/>
            <a:ext cx="3500438" cy="3500438"/>
          </a:xfrm>
          <a:prstGeom prst="roundRect">
            <a:avLst>
              <a:gd fmla="val 24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59"/>
          <p:cNvSpPr/>
          <p:nvPr/>
        </p:nvSpPr>
        <p:spPr>
          <a:xfrm>
            <a:off x="457200" y="842963"/>
            <a:ext cx="350043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59"/>
          <p:cNvSpPr/>
          <p:nvPr/>
        </p:nvSpPr>
        <p:spPr>
          <a:xfrm>
            <a:off x="1750219" y="1143000"/>
            <a:ext cx="914400" cy="9144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59"/>
          <p:cNvSpPr/>
          <p:nvPr/>
        </p:nvSpPr>
        <p:spPr>
          <a:xfrm>
            <a:off x="1993103" y="1376288"/>
            <a:ext cx="451275" cy="453036"/>
          </a:xfrm>
          <a:custGeom>
            <a:rect b="b" l="l" r="r" t="t"/>
            <a:pathLst>
              <a:path extrusionOk="0" h="604048" w="601700">
                <a:moveTo>
                  <a:pt x="428629" y="51090"/>
                </a:moveTo>
                <a:cubicBezTo>
                  <a:pt x="548723" y="120427"/>
                  <a:pt x="601700" y="265982"/>
                  <a:pt x="554270" y="396292"/>
                </a:cubicBezTo>
                <a:cubicBezTo>
                  <a:pt x="506840" y="526602"/>
                  <a:pt x="372695" y="604048"/>
                  <a:pt x="236129" y="579965"/>
                </a:cubicBezTo>
                <a:cubicBezTo>
                  <a:pt x="99562" y="555882"/>
                  <a:pt x="0" y="437223"/>
                  <a:pt x="4" y="298550"/>
                </a:cubicBezTo>
                <a:lnTo>
                  <a:pt x="146" y="289292"/>
                </a:lnTo>
                <a:cubicBezTo>
                  <a:pt x="3402" y="188907"/>
                  <a:pt x="59120" y="97602"/>
                  <a:pt x="146905" y="48801"/>
                </a:cubicBezTo>
                <a:cubicBezTo>
                  <a:pt x="234689" y="0"/>
                  <a:pt x="341649" y="869"/>
                  <a:pt x="428629" y="51090"/>
                </a:cubicBezTo>
                <a:moveTo>
                  <a:pt x="248806" y="221197"/>
                </a:moveTo>
                <a:cubicBezTo>
                  <a:pt x="237648" y="210042"/>
                  <a:pt x="219560" y="210042"/>
                  <a:pt x="208401" y="221197"/>
                </a:cubicBezTo>
                <a:lnTo>
                  <a:pt x="151251" y="278347"/>
                </a:lnTo>
                <a:cubicBezTo>
                  <a:pt x="140096" y="289506"/>
                  <a:pt x="140096" y="307594"/>
                  <a:pt x="151251" y="318752"/>
                </a:cubicBezTo>
                <a:lnTo>
                  <a:pt x="208401" y="375902"/>
                </a:lnTo>
                <a:cubicBezTo>
                  <a:pt x="219560" y="387058"/>
                  <a:pt x="237648" y="387058"/>
                  <a:pt x="248806" y="375902"/>
                </a:cubicBezTo>
                <a:lnTo>
                  <a:pt x="251178" y="373216"/>
                </a:lnTo>
                <a:cubicBezTo>
                  <a:pt x="260002" y="361841"/>
                  <a:pt x="258985" y="345678"/>
                  <a:pt x="248806" y="335497"/>
                </a:cubicBezTo>
                <a:lnTo>
                  <a:pt x="211887" y="298550"/>
                </a:lnTo>
                <a:lnTo>
                  <a:pt x="248806" y="261602"/>
                </a:lnTo>
                <a:cubicBezTo>
                  <a:pt x="259961" y="250444"/>
                  <a:pt x="259961" y="232356"/>
                  <a:pt x="248806" y="221197"/>
                </a:cubicBezTo>
                <a:moveTo>
                  <a:pt x="363106" y="221197"/>
                </a:moveTo>
                <a:cubicBezTo>
                  <a:pt x="351948" y="210042"/>
                  <a:pt x="333860" y="210042"/>
                  <a:pt x="322701" y="221197"/>
                </a:cubicBezTo>
                <a:lnTo>
                  <a:pt x="320329" y="223883"/>
                </a:lnTo>
                <a:cubicBezTo>
                  <a:pt x="311505" y="235259"/>
                  <a:pt x="312522" y="251422"/>
                  <a:pt x="322701" y="261602"/>
                </a:cubicBezTo>
                <a:lnTo>
                  <a:pt x="359620" y="298550"/>
                </a:lnTo>
                <a:lnTo>
                  <a:pt x="322701" y="335497"/>
                </a:lnTo>
                <a:cubicBezTo>
                  <a:pt x="311872" y="346710"/>
                  <a:pt x="312027" y="364532"/>
                  <a:pt x="323049" y="375554"/>
                </a:cubicBezTo>
                <a:cubicBezTo>
                  <a:pt x="334071" y="386577"/>
                  <a:pt x="351894" y="386732"/>
                  <a:pt x="363106" y="375902"/>
                </a:cubicBezTo>
                <a:lnTo>
                  <a:pt x="420256" y="318752"/>
                </a:lnTo>
                <a:cubicBezTo>
                  <a:pt x="431411" y="307594"/>
                  <a:pt x="431411" y="289506"/>
                  <a:pt x="420256" y="278347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59"/>
          <p:cNvSpPr txBox="1"/>
          <p:nvPr/>
        </p:nvSpPr>
        <p:spPr>
          <a:xfrm>
            <a:off x="1615777" y="2183130"/>
            <a:ext cx="118328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59"/>
          <p:cNvSpPr txBox="1"/>
          <p:nvPr/>
        </p:nvSpPr>
        <p:spPr>
          <a:xfrm>
            <a:off x="1244754" y="2466380"/>
            <a:ext cx="19253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Anthropic 官方出品的 AI 编程工具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59"/>
          <p:cNvSpPr txBox="1"/>
          <p:nvPr/>
        </p:nvSpPr>
        <p:spPr>
          <a:xfrm>
            <a:off x="1565151" y="2637830"/>
            <a:ext cx="128453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直接在终端/IDE 中工作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59"/>
          <p:cNvSpPr/>
          <p:nvPr/>
        </p:nvSpPr>
        <p:spPr>
          <a:xfrm>
            <a:off x="714375" y="2914650"/>
            <a:ext cx="2986088" cy="7144"/>
          </a:xfrm>
          <a:custGeom>
            <a:rect b="b" l="l" r="r" t="t"/>
            <a:pathLst>
              <a:path extrusionOk="0" h="9525" w="3981450">
                <a:moveTo>
                  <a:pt x="0" y="0"/>
                </a:moveTo>
                <a:lnTo>
                  <a:pt x="39814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59"/>
          <p:cNvSpPr/>
          <p:nvPr/>
        </p:nvSpPr>
        <p:spPr>
          <a:xfrm>
            <a:off x="685800" y="3014663"/>
            <a:ext cx="3086100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59"/>
          <p:cNvSpPr txBox="1"/>
          <p:nvPr/>
        </p:nvSpPr>
        <p:spPr>
          <a:xfrm>
            <a:off x="1073652" y="3076814"/>
            <a:ext cx="231039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claude "帮我写一个炒股分析工具"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59"/>
          <p:cNvSpPr txBox="1"/>
          <p:nvPr/>
        </p:nvSpPr>
        <p:spPr>
          <a:xfrm>
            <a:off x="1268677" y="3429714"/>
            <a:ext cx="187748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一句话描述，AI 自动生成代码并运行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59"/>
          <p:cNvSpPr txBox="1"/>
          <p:nvPr/>
        </p:nvSpPr>
        <p:spPr>
          <a:xfrm>
            <a:off x="1372190" y="3601163"/>
            <a:ext cx="167045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读文件·写代码·调 API·执行命令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59"/>
          <p:cNvSpPr txBox="1"/>
          <p:nvPr/>
        </p:nvSpPr>
        <p:spPr>
          <a:xfrm>
            <a:off x="1737360" y="3772614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全程无需手动操作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59"/>
          <p:cNvSpPr/>
          <p:nvPr/>
        </p:nvSpPr>
        <p:spPr>
          <a:xfrm>
            <a:off x="4171950" y="842963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59"/>
          <p:cNvSpPr/>
          <p:nvPr/>
        </p:nvSpPr>
        <p:spPr>
          <a:xfrm>
            <a:off x="4171950" y="842963"/>
            <a:ext cx="28575" cy="8001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59"/>
          <p:cNvSpPr/>
          <p:nvPr/>
        </p:nvSpPr>
        <p:spPr>
          <a:xfrm>
            <a:off x="4345431" y="1001316"/>
            <a:ext cx="124525" cy="157652"/>
          </a:xfrm>
          <a:custGeom>
            <a:rect b="b" l="l" r="r" t="t"/>
            <a:pathLst>
              <a:path extrusionOk="0" h="210203" w="166034">
                <a:moveTo>
                  <a:pt x="93336" y="0"/>
                </a:moveTo>
                <a:lnTo>
                  <a:pt x="93522" y="10"/>
                </a:lnTo>
                <a:lnTo>
                  <a:pt x="93687" y="21"/>
                </a:lnTo>
                <a:lnTo>
                  <a:pt x="94543" y="72"/>
                </a:lnTo>
                <a:lnTo>
                  <a:pt x="94657" y="93"/>
                </a:lnTo>
                <a:lnTo>
                  <a:pt x="94770" y="93"/>
                </a:lnTo>
                <a:lnTo>
                  <a:pt x="95162" y="186"/>
                </a:lnTo>
                <a:lnTo>
                  <a:pt x="95699" y="268"/>
                </a:lnTo>
                <a:lnTo>
                  <a:pt x="95864" y="330"/>
                </a:lnTo>
                <a:lnTo>
                  <a:pt x="95978" y="341"/>
                </a:lnTo>
                <a:lnTo>
                  <a:pt x="96277" y="454"/>
                </a:lnTo>
                <a:lnTo>
                  <a:pt x="96813" y="598"/>
                </a:lnTo>
                <a:lnTo>
                  <a:pt x="97009" y="691"/>
                </a:lnTo>
                <a:lnTo>
                  <a:pt x="97164" y="733"/>
                </a:lnTo>
                <a:lnTo>
                  <a:pt x="97453" y="877"/>
                </a:lnTo>
                <a:lnTo>
                  <a:pt x="97866" y="1053"/>
                </a:lnTo>
                <a:lnTo>
                  <a:pt x="98083" y="1176"/>
                </a:lnTo>
                <a:lnTo>
                  <a:pt x="98310" y="1280"/>
                </a:lnTo>
                <a:lnTo>
                  <a:pt x="98547" y="1434"/>
                </a:lnTo>
                <a:lnTo>
                  <a:pt x="98867" y="1610"/>
                </a:lnTo>
                <a:lnTo>
                  <a:pt x="99218" y="1857"/>
                </a:lnTo>
                <a:lnTo>
                  <a:pt x="99403" y="1971"/>
                </a:lnTo>
                <a:lnTo>
                  <a:pt x="99538" y="2095"/>
                </a:lnTo>
                <a:lnTo>
                  <a:pt x="99785" y="2270"/>
                </a:lnTo>
                <a:lnTo>
                  <a:pt x="100177" y="2621"/>
                </a:lnTo>
                <a:lnTo>
                  <a:pt x="100404" y="2796"/>
                </a:lnTo>
                <a:lnTo>
                  <a:pt x="100487" y="2900"/>
                </a:lnTo>
                <a:lnTo>
                  <a:pt x="100631" y="3023"/>
                </a:lnTo>
                <a:lnTo>
                  <a:pt x="101003" y="3446"/>
                </a:lnTo>
                <a:lnTo>
                  <a:pt x="101271" y="3725"/>
                </a:lnTo>
                <a:lnTo>
                  <a:pt x="101333" y="3818"/>
                </a:lnTo>
                <a:cubicBezTo>
                  <a:pt x="102571" y="5335"/>
                  <a:pt x="103355" y="7141"/>
                  <a:pt x="103582" y="9111"/>
                </a:cubicBezTo>
                <a:lnTo>
                  <a:pt x="103593" y="9235"/>
                </a:lnTo>
                <a:lnTo>
                  <a:pt x="103613" y="9658"/>
                </a:lnTo>
                <a:lnTo>
                  <a:pt x="103655" y="10319"/>
                </a:lnTo>
                <a:lnTo>
                  <a:pt x="103655" y="72231"/>
                </a:lnTo>
                <a:lnTo>
                  <a:pt x="155248" y="72231"/>
                </a:lnTo>
                <a:cubicBezTo>
                  <a:pt x="158929" y="72230"/>
                  <a:pt x="162332" y="74190"/>
                  <a:pt x="164178" y="77374"/>
                </a:cubicBezTo>
                <a:cubicBezTo>
                  <a:pt x="166024" y="80558"/>
                  <a:pt x="166034" y="84485"/>
                  <a:pt x="164205" y="87678"/>
                </a:cubicBezTo>
                <a:lnTo>
                  <a:pt x="163586" y="88617"/>
                </a:lnTo>
                <a:lnTo>
                  <a:pt x="81036" y="202124"/>
                </a:lnTo>
                <a:cubicBezTo>
                  <a:pt x="75175" y="210203"/>
                  <a:pt x="62380" y="206045"/>
                  <a:pt x="62380" y="196056"/>
                </a:cubicBezTo>
                <a:lnTo>
                  <a:pt x="62380" y="134144"/>
                </a:lnTo>
                <a:lnTo>
                  <a:pt x="10786" y="134144"/>
                </a:lnTo>
                <a:cubicBezTo>
                  <a:pt x="7105" y="134145"/>
                  <a:pt x="3703" y="132185"/>
                  <a:pt x="1857" y="129001"/>
                </a:cubicBezTo>
                <a:cubicBezTo>
                  <a:pt x="10" y="125817"/>
                  <a:pt x="0" y="121890"/>
                  <a:pt x="1829" y="118697"/>
                </a:cubicBezTo>
                <a:lnTo>
                  <a:pt x="2448" y="117758"/>
                </a:lnTo>
                <a:lnTo>
                  <a:pt x="84998" y="4251"/>
                </a:lnTo>
                <a:lnTo>
                  <a:pt x="85102" y="4117"/>
                </a:lnTo>
                <a:lnTo>
                  <a:pt x="85287" y="3870"/>
                </a:lnTo>
                <a:lnTo>
                  <a:pt x="85628" y="3477"/>
                </a:lnTo>
                <a:lnTo>
                  <a:pt x="85814" y="3250"/>
                </a:lnTo>
                <a:lnTo>
                  <a:pt x="85906" y="3168"/>
                </a:lnTo>
                <a:lnTo>
                  <a:pt x="86041" y="3023"/>
                </a:lnTo>
                <a:lnTo>
                  <a:pt x="86453" y="2652"/>
                </a:lnTo>
                <a:lnTo>
                  <a:pt x="86742" y="2384"/>
                </a:lnTo>
                <a:lnTo>
                  <a:pt x="86825" y="2322"/>
                </a:lnTo>
                <a:cubicBezTo>
                  <a:pt x="88034" y="1332"/>
                  <a:pt x="89453" y="630"/>
                  <a:pt x="90973" y="268"/>
                </a:cubicBezTo>
                <a:lnTo>
                  <a:pt x="91086" y="258"/>
                </a:lnTo>
                <a:lnTo>
                  <a:pt x="91365" y="206"/>
                </a:lnTo>
                <a:lnTo>
                  <a:pt x="92129" y="72"/>
                </a:lnTo>
                <a:lnTo>
                  <a:pt x="92242" y="62"/>
                </a:lnTo>
                <a:lnTo>
                  <a:pt x="92665" y="41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59"/>
          <p:cNvSpPr txBox="1"/>
          <p:nvPr/>
        </p:nvSpPr>
        <p:spPr>
          <a:xfrm>
            <a:off x="4574144" y="996911"/>
            <a:ext cx="115344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工程师：10× 提速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59"/>
          <p:cNvSpPr txBox="1"/>
          <p:nvPr/>
        </p:nvSpPr>
        <p:spPr>
          <a:xfrm>
            <a:off x="4304824" y="1215152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 Skill / 写脚本 / 调 API，代码写完直接跑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59"/>
          <p:cNvSpPr txBox="1"/>
          <p:nvPr/>
        </p:nvSpPr>
        <p:spPr>
          <a:xfrm>
            <a:off x="4304824" y="1386602"/>
            <a:ext cx="194074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不用切换 IDE，就在终端一条命令搞定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59"/>
          <p:cNvSpPr/>
          <p:nvPr/>
        </p:nvSpPr>
        <p:spPr>
          <a:xfrm>
            <a:off x="4171950" y="1743075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59"/>
          <p:cNvSpPr/>
          <p:nvPr/>
        </p:nvSpPr>
        <p:spPr>
          <a:xfrm>
            <a:off x="4171950" y="1743075"/>
            <a:ext cx="28575" cy="8001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75" name="Google Shape;675;p59"/>
          <p:cNvGrpSpPr/>
          <p:nvPr/>
        </p:nvGrpSpPr>
        <p:grpSpPr>
          <a:xfrm>
            <a:off x="4353521" y="1901429"/>
            <a:ext cx="108347" cy="154781"/>
            <a:chOff x="5804694" y="2535238"/>
            <a:chExt cx="144463" cy="206374"/>
          </a:xfrm>
        </p:grpSpPr>
        <p:sp>
          <p:nvSpPr>
            <p:cNvPr id="676" name="Google Shape;676;p59"/>
            <p:cNvSpPr/>
            <p:nvPr/>
          </p:nvSpPr>
          <p:spPr>
            <a:xfrm>
              <a:off x="5825331" y="2535238"/>
              <a:ext cx="103187" cy="103187"/>
            </a:xfrm>
            <a:custGeom>
              <a:rect b="b" l="l" r="r" t="t"/>
              <a:pathLst>
                <a:path extrusionOk="0" h="103187" w="103187">
                  <a:moveTo>
                    <a:pt x="51594" y="0"/>
                  </a:moveTo>
                  <a:cubicBezTo>
                    <a:pt x="80088" y="0"/>
                    <a:pt x="103187" y="23099"/>
                    <a:pt x="103187" y="51594"/>
                  </a:cubicBezTo>
                  <a:cubicBezTo>
                    <a:pt x="103187" y="80088"/>
                    <a:pt x="80088" y="103187"/>
                    <a:pt x="51594" y="103187"/>
                  </a:cubicBezTo>
                  <a:cubicBezTo>
                    <a:pt x="23099" y="103187"/>
                    <a:pt x="0" y="80088"/>
                    <a:pt x="0" y="51594"/>
                  </a:cubicBezTo>
                  <a:lnTo>
                    <a:pt x="52" y="49355"/>
                  </a:lnTo>
                  <a:cubicBezTo>
                    <a:pt x="1250" y="21758"/>
                    <a:pt x="23971" y="2"/>
                    <a:pt x="51594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" name="Google Shape;677;p59"/>
            <p:cNvSpPr/>
            <p:nvPr/>
          </p:nvSpPr>
          <p:spPr>
            <a:xfrm>
              <a:off x="5804694" y="2659062"/>
              <a:ext cx="144463" cy="82550"/>
            </a:xfrm>
            <a:custGeom>
              <a:rect b="b" l="l" r="r" t="t"/>
              <a:pathLst>
                <a:path extrusionOk="0" h="82550" w="144463">
                  <a:moveTo>
                    <a:pt x="92869" y="0"/>
                  </a:moveTo>
                  <a:cubicBezTo>
                    <a:pt x="121363" y="0"/>
                    <a:pt x="144463" y="23099"/>
                    <a:pt x="144463" y="51594"/>
                  </a:cubicBezTo>
                  <a:lnTo>
                    <a:pt x="144463" y="61912"/>
                  </a:lnTo>
                  <a:cubicBezTo>
                    <a:pt x="144463" y="73310"/>
                    <a:pt x="135223" y="82550"/>
                    <a:pt x="123825" y="82550"/>
                  </a:cubicBezTo>
                  <a:lnTo>
                    <a:pt x="20638" y="82550"/>
                  </a:lnTo>
                  <a:cubicBezTo>
                    <a:pt x="9240" y="82550"/>
                    <a:pt x="0" y="73310"/>
                    <a:pt x="0" y="61912"/>
                  </a:cubicBezTo>
                  <a:lnTo>
                    <a:pt x="0" y="51594"/>
                  </a:lnTo>
                  <a:cubicBezTo>
                    <a:pt x="0" y="23099"/>
                    <a:pt x="23099" y="0"/>
                    <a:pt x="51594" y="0"/>
                  </a:cubicBezTo>
                  <a:lnTo>
                    <a:pt x="92869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78" name="Google Shape;678;p59"/>
          <p:cNvSpPr txBox="1"/>
          <p:nvPr/>
        </p:nvSpPr>
        <p:spPr>
          <a:xfrm>
            <a:off x="4574144" y="1897023"/>
            <a:ext cx="14907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非工程师：零门槛上手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59"/>
          <p:cNvSpPr txBox="1"/>
          <p:nvPr/>
        </p:nvSpPr>
        <p:spPr>
          <a:xfrm>
            <a:off x="4304824" y="2115264"/>
            <a:ext cx="21075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说人话就能产出代码 · 不需要学编程语言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59"/>
          <p:cNvSpPr txBox="1"/>
          <p:nvPr/>
        </p:nvSpPr>
        <p:spPr>
          <a:xfrm>
            <a:off x="4304824" y="2286714"/>
            <a:ext cx="15151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把你的想法变成可运行的工具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59"/>
          <p:cNvSpPr/>
          <p:nvPr/>
        </p:nvSpPr>
        <p:spPr>
          <a:xfrm>
            <a:off x="4171950" y="2643188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59"/>
          <p:cNvSpPr/>
          <p:nvPr/>
        </p:nvSpPr>
        <p:spPr>
          <a:xfrm>
            <a:off x="4171950" y="2643188"/>
            <a:ext cx="28575" cy="8001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83" name="Google Shape;683;p59"/>
          <p:cNvGrpSpPr/>
          <p:nvPr/>
        </p:nvGrpSpPr>
        <p:grpSpPr>
          <a:xfrm>
            <a:off x="4333508" y="2812396"/>
            <a:ext cx="143838" cy="129202"/>
            <a:chOff x="5778010" y="3749861"/>
            <a:chExt cx="191784" cy="172268"/>
          </a:xfrm>
        </p:grpSpPr>
        <p:sp>
          <p:nvSpPr>
            <p:cNvPr id="684" name="Google Shape;684;p59"/>
            <p:cNvSpPr/>
            <p:nvPr/>
          </p:nvSpPr>
          <p:spPr>
            <a:xfrm>
              <a:off x="5778010" y="3749861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59"/>
            <p:cNvSpPr/>
            <p:nvPr/>
          </p:nvSpPr>
          <p:spPr>
            <a:xfrm>
              <a:off x="5778010" y="3811773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59"/>
            <p:cNvSpPr/>
            <p:nvPr/>
          </p:nvSpPr>
          <p:spPr>
            <a:xfrm>
              <a:off x="5778010" y="3873685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59"/>
            <p:cNvSpPr/>
            <p:nvPr/>
          </p:nvSpPr>
          <p:spPr>
            <a:xfrm>
              <a:off x="5856288" y="3766344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59"/>
            <p:cNvSpPr/>
            <p:nvPr/>
          </p:nvSpPr>
          <p:spPr>
            <a:xfrm>
              <a:off x="5856288" y="3828256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59"/>
            <p:cNvSpPr/>
            <p:nvPr/>
          </p:nvSpPr>
          <p:spPr>
            <a:xfrm>
              <a:off x="5856288" y="3890169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90" name="Google Shape;690;p59"/>
          <p:cNvSpPr txBox="1"/>
          <p:nvPr/>
        </p:nvSpPr>
        <p:spPr>
          <a:xfrm>
            <a:off x="4574144" y="2797136"/>
            <a:ext cx="212128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Skills 系统：可复用的 AI 工作流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59"/>
          <p:cNvSpPr txBox="1"/>
          <p:nvPr/>
        </p:nvSpPr>
        <p:spPr>
          <a:xfrm>
            <a:off x="4304824" y="3015377"/>
            <a:ext cx="22915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把你的操作流程封装成命令 (/ticker-scan)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59"/>
          <p:cNvSpPr txBox="1"/>
          <p:nvPr/>
        </p:nvSpPr>
        <p:spPr>
          <a:xfrm>
            <a:off x="4304824" y="3186827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一次定义，反复复用，标准一致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59"/>
          <p:cNvSpPr/>
          <p:nvPr/>
        </p:nvSpPr>
        <p:spPr>
          <a:xfrm>
            <a:off x="4171950" y="3543300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59"/>
          <p:cNvSpPr/>
          <p:nvPr/>
        </p:nvSpPr>
        <p:spPr>
          <a:xfrm>
            <a:off x="4171950" y="3543300"/>
            <a:ext cx="28575" cy="8001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95" name="Google Shape;695;p59"/>
          <p:cNvGrpSpPr/>
          <p:nvPr/>
        </p:nvGrpSpPr>
        <p:grpSpPr>
          <a:xfrm>
            <a:off x="4350678" y="3692816"/>
            <a:ext cx="120612" cy="163837"/>
            <a:chOff x="5800904" y="4923754"/>
            <a:chExt cx="160816" cy="218449"/>
          </a:xfrm>
        </p:grpSpPr>
        <p:sp>
          <p:nvSpPr>
            <p:cNvPr id="696" name="Google Shape;696;p59"/>
            <p:cNvSpPr/>
            <p:nvPr/>
          </p:nvSpPr>
          <p:spPr>
            <a:xfrm>
              <a:off x="5815012" y="4956173"/>
              <a:ext cx="103593" cy="103984"/>
            </a:xfrm>
            <a:custGeom>
              <a:rect b="b" l="l" r="r" t="t"/>
              <a:pathLst>
                <a:path extrusionOk="0" h="103984" w="103594">
                  <a:moveTo>
                    <a:pt x="51594" y="2"/>
                  </a:moveTo>
                  <a:cubicBezTo>
                    <a:pt x="79797" y="0"/>
                    <a:pt x="102776" y="22646"/>
                    <a:pt x="103185" y="50847"/>
                  </a:cubicBezTo>
                  <a:cubicBezTo>
                    <a:pt x="103594" y="79048"/>
                    <a:pt x="81283" y="102351"/>
                    <a:pt x="53091" y="103167"/>
                  </a:cubicBezTo>
                  <a:cubicBezTo>
                    <a:pt x="24899" y="103984"/>
                    <a:pt x="1276" y="82012"/>
                    <a:pt x="52" y="53835"/>
                  </a:cubicBezTo>
                  <a:lnTo>
                    <a:pt x="0" y="51595"/>
                  </a:lnTo>
                  <a:lnTo>
                    <a:pt x="52" y="49356"/>
                  </a:lnTo>
                  <a:cubicBezTo>
                    <a:pt x="1250" y="21760"/>
                    <a:pt x="23971" y="3"/>
                    <a:pt x="51594" y="2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" name="Google Shape;697;p59"/>
            <p:cNvSpPr/>
            <p:nvPr/>
          </p:nvSpPr>
          <p:spPr>
            <a:xfrm>
              <a:off x="5800904" y="4923754"/>
              <a:ext cx="160816" cy="182961"/>
            </a:xfrm>
            <a:custGeom>
              <a:rect b="b" l="l" r="r" t="t"/>
              <a:pathLst>
                <a:path extrusionOk="0" h="182961" w="160816">
                  <a:moveTo>
                    <a:pt x="98031" y="6645"/>
                  </a:moveTo>
                  <a:cubicBezTo>
                    <a:pt x="100870" y="1705"/>
                    <a:pt x="107175" y="0"/>
                    <a:pt x="112116" y="2837"/>
                  </a:cubicBezTo>
                  <a:cubicBezTo>
                    <a:pt x="142797" y="20471"/>
                    <a:pt x="160816" y="53986"/>
                    <a:pt x="158603" y="89305"/>
                  </a:cubicBezTo>
                  <a:cubicBezTo>
                    <a:pt x="156390" y="124623"/>
                    <a:pt x="134330" y="155627"/>
                    <a:pt x="101688" y="169294"/>
                  </a:cubicBezTo>
                  <a:cubicBezTo>
                    <a:pt x="69046" y="182961"/>
                    <a:pt x="31477" y="176924"/>
                    <a:pt x="4760" y="153718"/>
                  </a:cubicBezTo>
                  <a:cubicBezTo>
                    <a:pt x="457" y="149979"/>
                    <a:pt x="0" y="143461"/>
                    <a:pt x="3738" y="139158"/>
                  </a:cubicBezTo>
                  <a:cubicBezTo>
                    <a:pt x="7477" y="134855"/>
                    <a:pt x="13996" y="134398"/>
                    <a:pt x="18298" y="138137"/>
                  </a:cubicBezTo>
                  <a:cubicBezTo>
                    <a:pt x="39087" y="156194"/>
                    <a:pt x="68322" y="160892"/>
                    <a:pt x="93722" y="150257"/>
                  </a:cubicBezTo>
                  <a:cubicBezTo>
                    <a:pt x="119122" y="139622"/>
                    <a:pt x="136288" y="115497"/>
                    <a:pt x="138010" y="88015"/>
                  </a:cubicBezTo>
                  <a:cubicBezTo>
                    <a:pt x="139732" y="60532"/>
                    <a:pt x="125712" y="34452"/>
                    <a:pt x="101839" y="20730"/>
                  </a:cubicBezTo>
                  <a:cubicBezTo>
                    <a:pt x="96899" y="17891"/>
                    <a:pt x="95194" y="11586"/>
                    <a:pt x="98031" y="6645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p59"/>
            <p:cNvSpPr/>
            <p:nvPr/>
          </p:nvSpPr>
          <p:spPr>
            <a:xfrm>
              <a:off x="5856288" y="5080000"/>
              <a:ext cx="20637" cy="62203"/>
            </a:xfrm>
            <a:custGeom>
              <a:rect b="b" l="l" r="r" t="t"/>
              <a:pathLst>
                <a:path extrusionOk="0" h="62203" w="20637">
                  <a:moveTo>
                    <a:pt x="10319" y="0"/>
                  </a:moveTo>
                  <a:cubicBezTo>
                    <a:pt x="15550" y="1"/>
                    <a:pt x="19953" y="3916"/>
                    <a:pt x="20565" y="9111"/>
                  </a:cubicBezTo>
                  <a:lnTo>
                    <a:pt x="20637" y="10319"/>
                  </a:lnTo>
                  <a:lnTo>
                    <a:pt x="20637" y="51594"/>
                  </a:lnTo>
                  <a:cubicBezTo>
                    <a:pt x="20631" y="57053"/>
                    <a:pt x="16374" y="61563"/>
                    <a:pt x="10923" y="61883"/>
                  </a:cubicBezTo>
                  <a:cubicBezTo>
                    <a:pt x="5473" y="62203"/>
                    <a:pt x="717" y="58222"/>
                    <a:pt x="72" y="52801"/>
                  </a:cubicBezTo>
                  <a:lnTo>
                    <a:pt x="0" y="51594"/>
                  </a:lnTo>
                  <a:lnTo>
                    <a:pt x="0" y="10319"/>
                  </a:lnTo>
                  <a:cubicBezTo>
                    <a:pt x="0" y="4620"/>
                    <a:pt x="4620" y="0"/>
                    <a:pt x="10319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p59"/>
            <p:cNvSpPr/>
            <p:nvPr/>
          </p:nvSpPr>
          <p:spPr>
            <a:xfrm>
              <a:off x="5814722" y="5121275"/>
              <a:ext cx="103769" cy="20638"/>
            </a:xfrm>
            <a:custGeom>
              <a:rect b="b" l="l" r="r" t="t"/>
              <a:pathLst>
                <a:path extrusionOk="0" h="20638" w="103769">
                  <a:moveTo>
                    <a:pt x="93160" y="0"/>
                  </a:moveTo>
                  <a:cubicBezTo>
                    <a:pt x="98619" y="6"/>
                    <a:pt x="103129" y="4264"/>
                    <a:pt x="103449" y="9714"/>
                  </a:cubicBezTo>
                  <a:cubicBezTo>
                    <a:pt x="103769" y="15164"/>
                    <a:pt x="99788" y="19920"/>
                    <a:pt x="94367" y="20565"/>
                  </a:cubicBezTo>
                  <a:lnTo>
                    <a:pt x="93160" y="20638"/>
                  </a:lnTo>
                  <a:lnTo>
                    <a:pt x="10610" y="20638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93160" y="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00" name="Google Shape;700;p59"/>
          <p:cNvSpPr txBox="1"/>
          <p:nvPr/>
        </p:nvSpPr>
        <p:spPr>
          <a:xfrm>
            <a:off x="4574144" y="3697248"/>
            <a:ext cx="197464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Projects：AI 记住你的上下文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59"/>
          <p:cNvSpPr txBox="1"/>
          <p:nvPr/>
        </p:nvSpPr>
        <p:spPr>
          <a:xfrm>
            <a:off x="4304824" y="3915489"/>
            <a:ext cx="21937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CLAUDE.md 让 AI 永久记住你的规则和偏好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59"/>
          <p:cNvSpPr txBox="1"/>
          <p:nvPr/>
        </p:nvSpPr>
        <p:spPr>
          <a:xfrm>
            <a:off x="4304824" y="408693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不用每次重复交代背景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59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7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59"/>
          <p:cNvSpPr txBox="1"/>
          <p:nvPr/>
        </p:nvSpPr>
        <p:spPr>
          <a:xfrm>
            <a:off x="8638305" y="4927751"/>
            <a:ext cx="381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9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0" name="Google Shape;710;p60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11" name="Google Shape;711;p6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60"/>
            <p:cNvSpPr/>
            <p:nvPr/>
          </p:nvSpPr>
          <p:spPr>
            <a:xfrm>
              <a:off x="11410950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60"/>
            <p:cNvSpPr/>
            <p:nvPr/>
          </p:nvSpPr>
          <p:spPr>
            <a:xfrm>
              <a:off x="11558588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14" name="Google Shape;714;p60"/>
          <p:cNvSpPr txBox="1"/>
          <p:nvPr/>
        </p:nvSpPr>
        <p:spPr>
          <a:xfrm>
            <a:off x="1070231" y="124162"/>
            <a:ext cx="73899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" sz="2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我用这两个工具，做出来的东西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jpg" id="715" name="Google Shape;715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6" name="Google Shape;716;p60"/>
          <p:cNvGrpSpPr/>
          <p:nvPr/>
        </p:nvGrpSpPr>
        <p:grpSpPr>
          <a:xfrm>
            <a:off x="428625" y="771525"/>
            <a:ext cx="3893344" cy="4014788"/>
            <a:chOff x="571500" y="1028700"/>
            <a:chExt cx="5191125" cy="5353050"/>
          </a:xfrm>
        </p:grpSpPr>
        <p:sp>
          <p:nvSpPr>
            <p:cNvPr id="717" name="Google Shape;717;p60"/>
            <p:cNvSpPr/>
            <p:nvPr/>
          </p:nvSpPr>
          <p:spPr>
            <a:xfrm>
              <a:off x="571500" y="1028700"/>
              <a:ext cx="5191125" cy="5353050"/>
            </a:xfrm>
            <a:prstGeom prst="roundRect">
              <a:avLst>
                <a:gd fmla="val 220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60"/>
            <p:cNvSpPr/>
            <p:nvPr/>
          </p:nvSpPr>
          <p:spPr>
            <a:xfrm>
              <a:off x="571500" y="1028700"/>
              <a:ext cx="5191125" cy="1047750"/>
            </a:xfrm>
            <a:custGeom>
              <a:rect b="b" l="l" r="r" t="t"/>
              <a:pathLst>
                <a:path extrusionOk="0" h="1047750" w="5191125">
                  <a:moveTo>
                    <a:pt x="114300" y="0"/>
                  </a:moveTo>
                  <a:lnTo>
                    <a:pt x="5076825" y="0"/>
                  </a:lnTo>
                  <a:cubicBezTo>
                    <a:pt x="5153025" y="0"/>
                    <a:pt x="5191125" y="38100"/>
                    <a:pt x="5191125" y="114300"/>
                  </a:cubicBezTo>
                  <a:lnTo>
                    <a:pt x="5191125" y="1047750"/>
                  </a:lnTo>
                  <a:lnTo>
                    <a:pt x="0" y="104775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60"/>
            <p:cNvSpPr/>
            <p:nvPr/>
          </p:nvSpPr>
          <p:spPr>
            <a:xfrm>
              <a:off x="3005791" y="1184275"/>
              <a:ext cx="332069" cy="420407"/>
            </a:xfrm>
            <a:custGeom>
              <a:rect b="b" l="l" r="r" t="t"/>
              <a:pathLst>
                <a:path extrusionOk="0" h="420407" w="332069">
                  <a:moveTo>
                    <a:pt x="186672" y="0"/>
                  </a:moveTo>
                  <a:lnTo>
                    <a:pt x="187043" y="21"/>
                  </a:lnTo>
                  <a:lnTo>
                    <a:pt x="187374" y="41"/>
                  </a:lnTo>
                  <a:lnTo>
                    <a:pt x="189086" y="144"/>
                  </a:lnTo>
                  <a:lnTo>
                    <a:pt x="189313" y="186"/>
                  </a:lnTo>
                  <a:lnTo>
                    <a:pt x="189540" y="186"/>
                  </a:lnTo>
                  <a:lnTo>
                    <a:pt x="190325" y="371"/>
                  </a:lnTo>
                  <a:lnTo>
                    <a:pt x="191398" y="537"/>
                  </a:lnTo>
                  <a:lnTo>
                    <a:pt x="191728" y="660"/>
                  </a:lnTo>
                  <a:lnTo>
                    <a:pt x="191955" y="681"/>
                  </a:lnTo>
                  <a:lnTo>
                    <a:pt x="192554" y="908"/>
                  </a:lnTo>
                  <a:lnTo>
                    <a:pt x="193627" y="1197"/>
                  </a:lnTo>
                  <a:lnTo>
                    <a:pt x="194019" y="1383"/>
                  </a:lnTo>
                  <a:lnTo>
                    <a:pt x="194328" y="1465"/>
                  </a:lnTo>
                  <a:lnTo>
                    <a:pt x="194906" y="1754"/>
                  </a:lnTo>
                  <a:lnTo>
                    <a:pt x="195732" y="2105"/>
                  </a:lnTo>
                  <a:lnTo>
                    <a:pt x="196165" y="2353"/>
                  </a:lnTo>
                  <a:lnTo>
                    <a:pt x="196619" y="2559"/>
                  </a:lnTo>
                  <a:lnTo>
                    <a:pt x="197094" y="2869"/>
                  </a:lnTo>
                  <a:lnTo>
                    <a:pt x="197734" y="3219"/>
                  </a:lnTo>
                  <a:lnTo>
                    <a:pt x="198435" y="3715"/>
                  </a:lnTo>
                  <a:lnTo>
                    <a:pt x="198807" y="3942"/>
                  </a:lnTo>
                  <a:lnTo>
                    <a:pt x="199075" y="4189"/>
                  </a:lnTo>
                  <a:lnTo>
                    <a:pt x="199570" y="4540"/>
                  </a:lnTo>
                  <a:lnTo>
                    <a:pt x="200355" y="5242"/>
                  </a:lnTo>
                  <a:lnTo>
                    <a:pt x="200809" y="5593"/>
                  </a:lnTo>
                  <a:lnTo>
                    <a:pt x="200974" y="5799"/>
                  </a:lnTo>
                  <a:lnTo>
                    <a:pt x="201263" y="6047"/>
                  </a:lnTo>
                  <a:lnTo>
                    <a:pt x="202006" y="6893"/>
                  </a:lnTo>
                  <a:lnTo>
                    <a:pt x="202542" y="7450"/>
                  </a:lnTo>
                  <a:lnTo>
                    <a:pt x="202666" y="7636"/>
                  </a:lnTo>
                  <a:cubicBezTo>
                    <a:pt x="205142" y="10670"/>
                    <a:pt x="206711" y="14281"/>
                    <a:pt x="207165" y="18223"/>
                  </a:cubicBezTo>
                  <a:lnTo>
                    <a:pt x="207186" y="18471"/>
                  </a:lnTo>
                  <a:lnTo>
                    <a:pt x="207227" y="19317"/>
                  </a:lnTo>
                  <a:lnTo>
                    <a:pt x="207309" y="20638"/>
                  </a:lnTo>
                  <a:lnTo>
                    <a:pt x="207309" y="144463"/>
                  </a:lnTo>
                  <a:lnTo>
                    <a:pt x="310497" y="144463"/>
                  </a:lnTo>
                  <a:cubicBezTo>
                    <a:pt x="317858" y="144461"/>
                    <a:pt x="324663" y="148380"/>
                    <a:pt x="328355" y="154748"/>
                  </a:cubicBezTo>
                  <a:cubicBezTo>
                    <a:pt x="332048" y="161116"/>
                    <a:pt x="332069" y="168969"/>
                    <a:pt x="328410" y="175357"/>
                  </a:cubicBezTo>
                  <a:lnTo>
                    <a:pt x="327172" y="177235"/>
                  </a:lnTo>
                  <a:lnTo>
                    <a:pt x="162072" y="404247"/>
                  </a:lnTo>
                  <a:cubicBezTo>
                    <a:pt x="150350" y="420407"/>
                    <a:pt x="124759" y="412090"/>
                    <a:pt x="124759" y="392113"/>
                  </a:cubicBezTo>
                  <a:lnTo>
                    <a:pt x="124759" y="268288"/>
                  </a:lnTo>
                  <a:lnTo>
                    <a:pt x="21572" y="268288"/>
                  </a:lnTo>
                  <a:cubicBezTo>
                    <a:pt x="14211" y="268289"/>
                    <a:pt x="7406" y="264370"/>
                    <a:pt x="3713" y="258002"/>
                  </a:cubicBezTo>
                  <a:cubicBezTo>
                    <a:pt x="21" y="251634"/>
                    <a:pt x="0" y="243781"/>
                    <a:pt x="3659" y="237393"/>
                  </a:cubicBezTo>
                  <a:lnTo>
                    <a:pt x="4897" y="235515"/>
                  </a:lnTo>
                  <a:lnTo>
                    <a:pt x="169997" y="8503"/>
                  </a:lnTo>
                  <a:lnTo>
                    <a:pt x="170203" y="8234"/>
                  </a:lnTo>
                  <a:lnTo>
                    <a:pt x="170575" y="7739"/>
                  </a:lnTo>
                  <a:lnTo>
                    <a:pt x="171256" y="6955"/>
                  </a:lnTo>
                  <a:lnTo>
                    <a:pt x="171627" y="6501"/>
                  </a:lnTo>
                  <a:lnTo>
                    <a:pt x="171813" y="6336"/>
                  </a:lnTo>
                  <a:lnTo>
                    <a:pt x="172081" y="6047"/>
                  </a:lnTo>
                  <a:lnTo>
                    <a:pt x="172907" y="5304"/>
                  </a:lnTo>
                  <a:lnTo>
                    <a:pt x="173485" y="4767"/>
                  </a:lnTo>
                  <a:lnTo>
                    <a:pt x="173650" y="4643"/>
                  </a:lnTo>
                  <a:cubicBezTo>
                    <a:pt x="176068" y="2664"/>
                    <a:pt x="178905" y="1260"/>
                    <a:pt x="181946" y="537"/>
                  </a:cubicBezTo>
                  <a:lnTo>
                    <a:pt x="182173" y="516"/>
                  </a:lnTo>
                  <a:lnTo>
                    <a:pt x="182730" y="413"/>
                  </a:lnTo>
                  <a:lnTo>
                    <a:pt x="184257" y="144"/>
                  </a:lnTo>
                  <a:lnTo>
                    <a:pt x="184484" y="124"/>
                  </a:lnTo>
                  <a:lnTo>
                    <a:pt x="185330" y="83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60"/>
            <p:cNvSpPr txBox="1"/>
            <p:nvPr/>
          </p:nvSpPr>
          <p:spPr>
            <a:xfrm>
              <a:off x="2468064" y="1697828"/>
              <a:ext cx="13980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人生指南针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60"/>
            <p:cNvSpPr txBox="1"/>
            <p:nvPr/>
          </p:nvSpPr>
          <p:spPr>
            <a:xfrm>
              <a:off x="1984332" y="2078368"/>
              <a:ext cx="2556300" cy="32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设计思维 × 人生规划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60"/>
            <p:cNvSpPr txBox="1"/>
            <p:nvPr/>
          </p:nvSpPr>
          <p:spPr>
            <a:xfrm>
              <a:off x="1027733" y="2584133"/>
              <a:ext cx="42414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梳理现状，探索路径，输出完整人生规划文档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60"/>
            <p:cNvSpPr/>
            <p:nvPr/>
          </p:nvSpPr>
          <p:spPr>
            <a:xfrm>
              <a:off x="742950" y="2990850"/>
              <a:ext cx="4848225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" name="Google Shape;724;p60"/>
            <p:cNvSpPr/>
            <p:nvPr/>
          </p:nvSpPr>
          <p:spPr>
            <a:xfrm>
              <a:off x="828675" y="3343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60"/>
            <p:cNvSpPr txBox="1"/>
            <p:nvPr/>
          </p:nvSpPr>
          <p:spPr>
            <a:xfrm>
              <a:off x="1027727" y="3268501"/>
              <a:ext cx="23100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能量来源与消耗盘点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p60"/>
            <p:cNvSpPr/>
            <p:nvPr/>
          </p:nvSpPr>
          <p:spPr>
            <a:xfrm>
              <a:off x="828675" y="3724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p60"/>
            <p:cNvSpPr txBox="1"/>
            <p:nvPr/>
          </p:nvSpPr>
          <p:spPr>
            <a:xfrm>
              <a:off x="1027748" y="3649504"/>
              <a:ext cx="1880235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工作观与人生观梳理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p60"/>
            <p:cNvSpPr/>
            <p:nvPr/>
          </p:nvSpPr>
          <p:spPr>
            <a:xfrm>
              <a:off x="828675" y="4105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p60"/>
            <p:cNvSpPr txBox="1"/>
            <p:nvPr/>
          </p:nvSpPr>
          <p:spPr>
            <a:xfrm>
              <a:off x="1027748" y="4030504"/>
              <a:ext cx="1650206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三条五年方案设计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p60"/>
            <p:cNvSpPr/>
            <p:nvPr/>
          </p:nvSpPr>
          <p:spPr>
            <a:xfrm>
              <a:off x="828675" y="4486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" name="Google Shape;731;p60"/>
            <p:cNvSpPr txBox="1"/>
            <p:nvPr/>
          </p:nvSpPr>
          <p:spPr>
            <a:xfrm>
              <a:off x="1027748" y="4411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生成30天行动计划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" name="Google Shape;732;p60"/>
            <p:cNvSpPr/>
            <p:nvPr/>
          </p:nvSpPr>
          <p:spPr>
            <a:xfrm>
              <a:off x="742950" y="5048250"/>
              <a:ext cx="4848225" cy="552450"/>
            </a:xfrm>
            <a:prstGeom prst="roundRect">
              <a:avLst>
                <a:gd fmla="val 13793" name="adj"/>
              </a:avLst>
            </a:prstGeom>
            <a:solidFill>
              <a:srgbClr val="FAFAF8">
                <a:alpha val="80000"/>
              </a:srgbClr>
            </a:solidFill>
            <a:ln cap="flat" cmpd="sng" w="9525">
              <a:solidFill>
                <a:srgbClr val="EA580C">
                  <a:alpha val="2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p60"/>
            <p:cNvSpPr txBox="1"/>
            <p:nvPr/>
          </p:nvSpPr>
          <p:spPr>
            <a:xfrm>
              <a:off x="1271111" y="5218271"/>
              <a:ext cx="37824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sng" cap="none" strike="noStrike">
                  <a:solidFill>
                    <a:schemeClr val="hlink"/>
                  </a:solidFill>
                  <a:latin typeface="Courier New"/>
                  <a:ea typeface="Courier New"/>
                  <a:cs typeface="Courier New"/>
                  <a:sym typeface="Courier New"/>
                  <a:hlinkClick r:id="rId4"/>
                </a:rPr>
                <a:t>📋  人生罗盘入门教程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34" name="Google Shape;734;p60"/>
          <p:cNvGrpSpPr/>
          <p:nvPr/>
        </p:nvGrpSpPr>
        <p:grpSpPr>
          <a:xfrm>
            <a:off x="4822031" y="771525"/>
            <a:ext cx="3893344" cy="4014788"/>
            <a:chOff x="6429375" y="1028700"/>
            <a:chExt cx="5191125" cy="5353050"/>
          </a:xfrm>
        </p:grpSpPr>
        <p:sp>
          <p:nvSpPr>
            <p:cNvPr id="735" name="Google Shape;735;p60"/>
            <p:cNvSpPr/>
            <p:nvPr/>
          </p:nvSpPr>
          <p:spPr>
            <a:xfrm>
              <a:off x="6429375" y="1028700"/>
              <a:ext cx="5191125" cy="5353050"/>
            </a:xfrm>
            <a:prstGeom prst="roundRect">
              <a:avLst>
                <a:gd fmla="val 220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p60"/>
            <p:cNvSpPr/>
            <p:nvPr/>
          </p:nvSpPr>
          <p:spPr>
            <a:xfrm>
              <a:off x="6429375" y="1028700"/>
              <a:ext cx="5191125" cy="1047750"/>
            </a:xfrm>
            <a:custGeom>
              <a:rect b="b" l="l" r="r" t="t"/>
              <a:pathLst>
                <a:path extrusionOk="0" h="1047750" w="5191125">
                  <a:moveTo>
                    <a:pt x="114300" y="0"/>
                  </a:moveTo>
                  <a:lnTo>
                    <a:pt x="5076825" y="0"/>
                  </a:lnTo>
                  <a:cubicBezTo>
                    <a:pt x="5153025" y="0"/>
                    <a:pt x="5191125" y="38100"/>
                    <a:pt x="5191125" y="114300"/>
                  </a:cubicBezTo>
                  <a:lnTo>
                    <a:pt x="5191125" y="1047750"/>
                  </a:lnTo>
                  <a:lnTo>
                    <a:pt x="0" y="104775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4F46E5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37" name="Google Shape;737;p60"/>
            <p:cNvGrpSpPr/>
            <p:nvPr/>
          </p:nvGrpSpPr>
          <p:grpSpPr>
            <a:xfrm>
              <a:off x="8843961" y="1184275"/>
              <a:ext cx="371476" cy="412750"/>
              <a:chOff x="8843961" y="1184275"/>
              <a:chExt cx="371476" cy="412750"/>
            </a:xfrm>
          </p:grpSpPr>
          <p:sp>
            <p:nvSpPr>
              <p:cNvPr id="738" name="Google Shape;738;p60"/>
              <p:cNvSpPr/>
              <p:nvPr/>
            </p:nvSpPr>
            <p:spPr>
              <a:xfrm>
                <a:off x="8843962" y="1467649"/>
                <a:ext cx="371475" cy="129376"/>
              </a:xfrm>
              <a:custGeom>
                <a:rect b="b" l="l" r="r" t="t"/>
                <a:pathLst>
                  <a:path extrusionOk="0" h="129376" w="371475">
                    <a:moveTo>
                      <a:pt x="0" y="0"/>
                    </a:moveTo>
                    <a:cubicBezTo>
                      <a:pt x="40615" y="31101"/>
                      <a:pt x="108017" y="46826"/>
                      <a:pt x="185738" y="46826"/>
                    </a:cubicBezTo>
                    <a:cubicBezTo>
                      <a:pt x="263334" y="46826"/>
                      <a:pt x="330716" y="31142"/>
                      <a:pt x="371475" y="351"/>
                    </a:cubicBezTo>
                    <a:lnTo>
                      <a:pt x="371475" y="46826"/>
                    </a:lnTo>
                    <a:cubicBezTo>
                      <a:pt x="371475" y="96872"/>
                      <a:pt x="291092" y="128056"/>
                      <a:pt x="192073" y="129335"/>
                    </a:cubicBezTo>
                    <a:lnTo>
                      <a:pt x="185738" y="129376"/>
                    </a:lnTo>
                    <a:cubicBezTo>
                      <a:pt x="83830" y="129376"/>
                      <a:pt x="0" y="97946"/>
                      <a:pt x="0" y="46826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9" name="Google Shape;739;p60"/>
              <p:cNvSpPr/>
              <p:nvPr/>
            </p:nvSpPr>
            <p:spPr>
              <a:xfrm>
                <a:off x="8843962" y="1343824"/>
                <a:ext cx="371475" cy="129376"/>
              </a:xfrm>
              <a:custGeom>
                <a:rect b="b" l="l" r="r" t="t"/>
                <a:pathLst>
                  <a:path extrusionOk="0" h="129376" w="371475">
                    <a:moveTo>
                      <a:pt x="0" y="0"/>
                    </a:moveTo>
                    <a:cubicBezTo>
                      <a:pt x="40615" y="31101"/>
                      <a:pt x="108017" y="46826"/>
                      <a:pt x="185738" y="46826"/>
                    </a:cubicBezTo>
                    <a:cubicBezTo>
                      <a:pt x="263334" y="46826"/>
                      <a:pt x="330716" y="31142"/>
                      <a:pt x="371475" y="351"/>
                    </a:cubicBezTo>
                    <a:lnTo>
                      <a:pt x="371475" y="46826"/>
                    </a:lnTo>
                    <a:cubicBezTo>
                      <a:pt x="371475" y="97946"/>
                      <a:pt x="287645" y="129376"/>
                      <a:pt x="185738" y="129376"/>
                    </a:cubicBezTo>
                    <a:cubicBezTo>
                      <a:pt x="86719" y="129376"/>
                      <a:pt x="4747" y="99700"/>
                      <a:pt x="433" y="51057"/>
                    </a:cubicBezTo>
                    <a:lnTo>
                      <a:pt x="103" y="48973"/>
                    </a:lnTo>
                    <a:lnTo>
                      <a:pt x="0" y="46826"/>
                    </a:ln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0" name="Google Shape;740;p60"/>
              <p:cNvSpPr/>
              <p:nvPr/>
            </p:nvSpPr>
            <p:spPr>
              <a:xfrm>
                <a:off x="8843961" y="1184275"/>
                <a:ext cx="371476" cy="165100"/>
              </a:xfrm>
              <a:custGeom>
                <a:rect b="b" l="l" r="r" t="t"/>
                <a:pathLst>
                  <a:path extrusionOk="0" h="165100" w="371477">
                    <a:moveTo>
                      <a:pt x="185739" y="0"/>
                    </a:moveTo>
                    <a:cubicBezTo>
                      <a:pt x="207223" y="0"/>
                      <a:pt x="227922" y="1403"/>
                      <a:pt x="247177" y="4086"/>
                    </a:cubicBezTo>
                    <a:lnTo>
                      <a:pt x="256856" y="5551"/>
                    </a:lnTo>
                    <a:cubicBezTo>
                      <a:pt x="268413" y="7478"/>
                      <a:pt x="279323" y="9872"/>
                      <a:pt x="289587" y="12733"/>
                    </a:cubicBezTo>
                    <a:lnTo>
                      <a:pt x="298668" y="15437"/>
                    </a:lnTo>
                    <a:lnTo>
                      <a:pt x="300215" y="15932"/>
                    </a:lnTo>
                    <a:cubicBezTo>
                      <a:pt x="305832" y="17779"/>
                      <a:pt x="311374" y="19844"/>
                      <a:pt x="316829" y="22123"/>
                    </a:cubicBezTo>
                    <a:lnTo>
                      <a:pt x="320935" y="23898"/>
                    </a:lnTo>
                    <a:cubicBezTo>
                      <a:pt x="328296" y="27228"/>
                      <a:pt x="334948" y="30874"/>
                      <a:pt x="340892" y="34836"/>
                    </a:cubicBezTo>
                    <a:cubicBezTo>
                      <a:pt x="343162" y="36350"/>
                      <a:pt x="345315" y="37897"/>
                      <a:pt x="347351" y="39480"/>
                    </a:cubicBezTo>
                    <a:cubicBezTo>
                      <a:pt x="352509" y="43482"/>
                      <a:pt x="357148" y="48113"/>
                      <a:pt x="361158" y="53265"/>
                    </a:cubicBezTo>
                    <a:lnTo>
                      <a:pt x="363036" y="55907"/>
                    </a:lnTo>
                    <a:cubicBezTo>
                      <a:pt x="363999" y="57352"/>
                      <a:pt x="364886" y="58803"/>
                      <a:pt x="365698" y="60262"/>
                    </a:cubicBezTo>
                    <a:lnTo>
                      <a:pt x="367143" y="63130"/>
                    </a:lnTo>
                    <a:cubicBezTo>
                      <a:pt x="369385" y="67946"/>
                      <a:pt x="370761" y="72967"/>
                      <a:pt x="371270" y="78195"/>
                    </a:cubicBezTo>
                    <a:lnTo>
                      <a:pt x="371477" y="82550"/>
                    </a:lnTo>
                    <a:cubicBezTo>
                      <a:pt x="371477" y="133669"/>
                      <a:pt x="287647" y="165100"/>
                      <a:pt x="185739" y="165100"/>
                    </a:cubicBezTo>
                    <a:cubicBezTo>
                      <a:pt x="86720" y="165100"/>
                      <a:pt x="4748" y="135423"/>
                      <a:pt x="435" y="86781"/>
                    </a:cubicBezTo>
                    <a:cubicBezTo>
                      <a:pt x="145" y="85389"/>
                      <a:pt x="0" y="83971"/>
                      <a:pt x="2" y="82550"/>
                    </a:cubicBezTo>
                    <a:lnTo>
                      <a:pt x="105" y="80404"/>
                    </a:lnTo>
                    <a:lnTo>
                      <a:pt x="435" y="78340"/>
                    </a:lnTo>
                    <a:cubicBezTo>
                      <a:pt x="4666" y="30750"/>
                      <a:pt x="83191" y="1300"/>
                      <a:pt x="179300" y="41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41" name="Google Shape;741;p60"/>
            <p:cNvSpPr txBox="1"/>
            <p:nvPr/>
          </p:nvSpPr>
          <p:spPr>
            <a:xfrm>
              <a:off x="8097557" y="1752138"/>
              <a:ext cx="15813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理财知识入门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" name="Google Shape;742;p60"/>
            <p:cNvSpPr txBox="1"/>
            <p:nvPr/>
          </p:nvSpPr>
          <p:spPr>
            <a:xfrm>
              <a:off x="7500852" y="2147572"/>
              <a:ext cx="2774700" cy="32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理财知识库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" name="Google Shape;743;p60"/>
            <p:cNvSpPr txBox="1"/>
            <p:nvPr/>
          </p:nvSpPr>
          <p:spPr>
            <a:xfrm>
              <a:off x="7258134" y="2584133"/>
              <a:ext cx="36888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把北美理财知识固化成你的专属 AI 顾问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" name="Google Shape;744;p60"/>
            <p:cNvSpPr/>
            <p:nvPr/>
          </p:nvSpPr>
          <p:spPr>
            <a:xfrm>
              <a:off x="6600825" y="2990850"/>
              <a:ext cx="4848225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" name="Google Shape;745;p60"/>
            <p:cNvSpPr/>
            <p:nvPr/>
          </p:nvSpPr>
          <p:spPr>
            <a:xfrm>
              <a:off x="6686550" y="3343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" name="Google Shape;746;p60"/>
            <p:cNvSpPr txBox="1"/>
            <p:nvPr/>
          </p:nvSpPr>
          <p:spPr>
            <a:xfrm>
              <a:off x="6885621" y="3268504"/>
              <a:ext cx="1880235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北美税务规划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" name="Google Shape;747;p60"/>
            <p:cNvSpPr/>
            <p:nvPr/>
          </p:nvSpPr>
          <p:spPr>
            <a:xfrm>
              <a:off x="6686550" y="3724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" name="Google Shape;748;p60"/>
            <p:cNvSpPr txBox="1"/>
            <p:nvPr/>
          </p:nvSpPr>
          <p:spPr>
            <a:xfrm>
              <a:off x="6885621" y="3649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投资组合管理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" name="Google Shape;749;p60"/>
            <p:cNvSpPr/>
            <p:nvPr/>
          </p:nvSpPr>
          <p:spPr>
            <a:xfrm>
              <a:off x="6686550" y="4105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" name="Google Shape;750;p60"/>
            <p:cNvSpPr txBox="1"/>
            <p:nvPr/>
          </p:nvSpPr>
          <p:spPr>
            <a:xfrm>
              <a:off x="6885621" y="4030504"/>
              <a:ext cx="1937742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保险规划参考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" name="Google Shape;751;p60"/>
            <p:cNvSpPr/>
            <p:nvPr/>
          </p:nvSpPr>
          <p:spPr>
            <a:xfrm>
              <a:off x="6686550" y="4486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" name="Google Shape;752;p60"/>
            <p:cNvSpPr txBox="1"/>
            <p:nvPr/>
          </p:nvSpPr>
          <p:spPr>
            <a:xfrm>
              <a:off x="6885621" y="4411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理财目标追踪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" name="Google Shape;753;p60"/>
            <p:cNvSpPr/>
            <p:nvPr/>
          </p:nvSpPr>
          <p:spPr>
            <a:xfrm>
              <a:off x="6600825" y="5048250"/>
              <a:ext cx="4848225" cy="552450"/>
            </a:xfrm>
            <a:prstGeom prst="roundRect">
              <a:avLst>
                <a:gd fmla="val 13793" name="adj"/>
              </a:avLst>
            </a:prstGeom>
            <a:solidFill>
              <a:srgbClr val="FAFAF8">
                <a:alpha val="80000"/>
              </a:srgbClr>
            </a:solidFill>
            <a:ln cap="flat" cmpd="sng" w="9525">
              <a:solidFill>
                <a:srgbClr val="4F46E5">
                  <a:alpha val="2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" name="Google Shape;754;p60"/>
            <p:cNvSpPr txBox="1"/>
            <p:nvPr/>
          </p:nvSpPr>
          <p:spPr>
            <a:xfrm>
              <a:off x="7175814" y="5218271"/>
              <a:ext cx="36888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sng" cap="none" strike="noStrike">
                  <a:solidFill>
                    <a:schemeClr val="hlink"/>
                  </a:solidFill>
                  <a:latin typeface="Courier New"/>
                  <a:ea typeface="Courier New"/>
                  <a:cs typeface="Courier New"/>
                  <a:sym typeface="Courier New"/>
                  <a:hlinkClick r:id="rId5"/>
                </a:rPr>
                <a:t>📋  财富知识入门教程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55" name="Google Shape;755;p60"/>
          <p:cNvSpPr txBox="1"/>
          <p:nvPr/>
        </p:nvSpPr>
        <p:spPr>
          <a:xfrm>
            <a:off x="1070231" y="598799"/>
            <a:ext cx="7392779" cy="275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两个真实跑通的系统 · 课后免费带走，配入门教程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60"/>
          <p:cNvSpPr txBox="1"/>
          <p:nvPr/>
        </p:nvSpPr>
        <p:spPr>
          <a:xfrm>
            <a:off x="8638306" y="4927749"/>
            <a:ext cx="4545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1" name="Google Shape;761;p61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62" name="Google Shape;762;p6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" name="Google Shape;763;p61"/>
            <p:cNvSpPr/>
            <p:nvPr/>
          </p:nvSpPr>
          <p:spPr>
            <a:xfrm>
              <a:off x="11410950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" name="Google Shape;764;p61"/>
            <p:cNvSpPr/>
            <p:nvPr/>
          </p:nvSpPr>
          <p:spPr>
            <a:xfrm>
              <a:off x="11558588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65" name="Google Shape;765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66" name="Google Shape;766;p61"/>
          <p:cNvGrpSpPr/>
          <p:nvPr/>
        </p:nvGrpSpPr>
        <p:grpSpPr>
          <a:xfrm>
            <a:off x="2730520" y="255745"/>
            <a:ext cx="6033361" cy="512207"/>
            <a:chOff x="3640693" y="340995"/>
            <a:chExt cx="8044481" cy="682943"/>
          </a:xfrm>
        </p:grpSpPr>
        <p:sp>
          <p:nvSpPr>
            <p:cNvPr id="767" name="Google Shape;767;p61"/>
            <p:cNvSpPr txBox="1"/>
            <p:nvPr/>
          </p:nvSpPr>
          <p:spPr>
            <a:xfrm>
              <a:off x="11517725" y="340995"/>
              <a:ext cx="1674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12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" name="Google Shape;768;p61"/>
            <p:cNvSpPr txBox="1"/>
            <p:nvPr/>
          </p:nvSpPr>
          <p:spPr>
            <a:xfrm>
              <a:off x="3640693" y="383858"/>
              <a:ext cx="4910614" cy="640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" sz="24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两节课，从工具到系统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" name="Google Shape;769;p61"/>
            <p:cNvSpPr/>
            <p:nvPr/>
          </p:nvSpPr>
          <p:spPr>
            <a:xfrm>
              <a:off x="5657850" y="857250"/>
              <a:ext cx="876299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70" name="Google Shape;770;p61"/>
          <p:cNvGrpSpPr/>
          <p:nvPr/>
        </p:nvGrpSpPr>
        <p:grpSpPr>
          <a:xfrm>
            <a:off x="428625" y="771525"/>
            <a:ext cx="3893344" cy="4014788"/>
            <a:chOff x="571500" y="1028700"/>
            <a:chExt cx="5191125" cy="5353050"/>
          </a:xfrm>
        </p:grpSpPr>
        <p:sp>
          <p:nvSpPr>
            <p:cNvPr id="771" name="Google Shape;771;p61"/>
            <p:cNvSpPr/>
            <p:nvPr/>
          </p:nvSpPr>
          <p:spPr>
            <a:xfrm>
              <a:off x="571500" y="1028700"/>
              <a:ext cx="5191125" cy="5353050"/>
            </a:xfrm>
            <a:prstGeom prst="roundRect">
              <a:avLst>
                <a:gd fmla="val 220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" name="Google Shape;772;p61"/>
            <p:cNvSpPr/>
            <p:nvPr/>
          </p:nvSpPr>
          <p:spPr>
            <a:xfrm>
              <a:off x="571500" y="1028700"/>
              <a:ext cx="5191125" cy="1047750"/>
            </a:xfrm>
            <a:custGeom>
              <a:rect b="b" l="l" r="r" t="t"/>
              <a:pathLst>
                <a:path extrusionOk="0" h="1047750" w="5191125">
                  <a:moveTo>
                    <a:pt x="114300" y="0"/>
                  </a:moveTo>
                  <a:lnTo>
                    <a:pt x="5076825" y="0"/>
                  </a:lnTo>
                  <a:cubicBezTo>
                    <a:pt x="5153025" y="0"/>
                    <a:pt x="5191125" y="38100"/>
                    <a:pt x="5191125" y="114300"/>
                  </a:cubicBezTo>
                  <a:lnTo>
                    <a:pt x="5191125" y="1047750"/>
                  </a:lnTo>
                  <a:lnTo>
                    <a:pt x="0" y="104775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" name="Google Shape;773;p61"/>
            <p:cNvSpPr/>
            <p:nvPr/>
          </p:nvSpPr>
          <p:spPr>
            <a:xfrm>
              <a:off x="742950" y="1143000"/>
              <a:ext cx="5715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" name="Google Shape;774;p61"/>
            <p:cNvSpPr txBox="1"/>
            <p:nvPr/>
          </p:nvSpPr>
          <p:spPr>
            <a:xfrm>
              <a:off x="792039" y="1180624"/>
              <a:ext cx="473321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第一课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" name="Google Shape;775;p61"/>
            <p:cNvSpPr/>
            <p:nvPr/>
          </p:nvSpPr>
          <p:spPr>
            <a:xfrm>
              <a:off x="3005791" y="1184275"/>
              <a:ext cx="332069" cy="420407"/>
            </a:xfrm>
            <a:custGeom>
              <a:rect b="b" l="l" r="r" t="t"/>
              <a:pathLst>
                <a:path extrusionOk="0" h="420407" w="332069">
                  <a:moveTo>
                    <a:pt x="186672" y="0"/>
                  </a:moveTo>
                  <a:lnTo>
                    <a:pt x="187043" y="21"/>
                  </a:lnTo>
                  <a:lnTo>
                    <a:pt x="187374" y="41"/>
                  </a:lnTo>
                  <a:lnTo>
                    <a:pt x="189086" y="144"/>
                  </a:lnTo>
                  <a:lnTo>
                    <a:pt x="189313" y="186"/>
                  </a:lnTo>
                  <a:lnTo>
                    <a:pt x="189540" y="186"/>
                  </a:lnTo>
                  <a:lnTo>
                    <a:pt x="190325" y="371"/>
                  </a:lnTo>
                  <a:lnTo>
                    <a:pt x="191398" y="537"/>
                  </a:lnTo>
                  <a:lnTo>
                    <a:pt x="191728" y="660"/>
                  </a:lnTo>
                  <a:lnTo>
                    <a:pt x="191955" y="681"/>
                  </a:lnTo>
                  <a:lnTo>
                    <a:pt x="192554" y="908"/>
                  </a:lnTo>
                  <a:lnTo>
                    <a:pt x="193627" y="1197"/>
                  </a:lnTo>
                  <a:lnTo>
                    <a:pt x="194019" y="1383"/>
                  </a:lnTo>
                  <a:lnTo>
                    <a:pt x="194328" y="1465"/>
                  </a:lnTo>
                  <a:lnTo>
                    <a:pt x="194906" y="1754"/>
                  </a:lnTo>
                  <a:lnTo>
                    <a:pt x="195732" y="2105"/>
                  </a:lnTo>
                  <a:lnTo>
                    <a:pt x="196165" y="2353"/>
                  </a:lnTo>
                  <a:lnTo>
                    <a:pt x="196619" y="2559"/>
                  </a:lnTo>
                  <a:lnTo>
                    <a:pt x="197094" y="2869"/>
                  </a:lnTo>
                  <a:lnTo>
                    <a:pt x="197734" y="3219"/>
                  </a:lnTo>
                  <a:lnTo>
                    <a:pt x="198435" y="3715"/>
                  </a:lnTo>
                  <a:lnTo>
                    <a:pt x="198807" y="3942"/>
                  </a:lnTo>
                  <a:lnTo>
                    <a:pt x="199075" y="4189"/>
                  </a:lnTo>
                  <a:lnTo>
                    <a:pt x="199570" y="4540"/>
                  </a:lnTo>
                  <a:lnTo>
                    <a:pt x="200355" y="5242"/>
                  </a:lnTo>
                  <a:lnTo>
                    <a:pt x="200809" y="5593"/>
                  </a:lnTo>
                  <a:lnTo>
                    <a:pt x="200974" y="5799"/>
                  </a:lnTo>
                  <a:lnTo>
                    <a:pt x="201263" y="6047"/>
                  </a:lnTo>
                  <a:lnTo>
                    <a:pt x="202006" y="6893"/>
                  </a:lnTo>
                  <a:lnTo>
                    <a:pt x="202542" y="7450"/>
                  </a:lnTo>
                  <a:lnTo>
                    <a:pt x="202666" y="7636"/>
                  </a:lnTo>
                  <a:cubicBezTo>
                    <a:pt x="205142" y="10670"/>
                    <a:pt x="206711" y="14281"/>
                    <a:pt x="207165" y="18223"/>
                  </a:cubicBezTo>
                  <a:lnTo>
                    <a:pt x="207186" y="18471"/>
                  </a:lnTo>
                  <a:lnTo>
                    <a:pt x="207227" y="19317"/>
                  </a:lnTo>
                  <a:lnTo>
                    <a:pt x="207309" y="20638"/>
                  </a:lnTo>
                  <a:lnTo>
                    <a:pt x="207309" y="144463"/>
                  </a:lnTo>
                  <a:lnTo>
                    <a:pt x="310497" y="144463"/>
                  </a:lnTo>
                  <a:cubicBezTo>
                    <a:pt x="317858" y="144461"/>
                    <a:pt x="324663" y="148380"/>
                    <a:pt x="328355" y="154748"/>
                  </a:cubicBezTo>
                  <a:cubicBezTo>
                    <a:pt x="332048" y="161116"/>
                    <a:pt x="332069" y="168969"/>
                    <a:pt x="328410" y="175357"/>
                  </a:cubicBezTo>
                  <a:lnTo>
                    <a:pt x="327172" y="177235"/>
                  </a:lnTo>
                  <a:lnTo>
                    <a:pt x="162072" y="404247"/>
                  </a:lnTo>
                  <a:cubicBezTo>
                    <a:pt x="150350" y="420407"/>
                    <a:pt x="124759" y="412090"/>
                    <a:pt x="124759" y="392113"/>
                  </a:cubicBezTo>
                  <a:lnTo>
                    <a:pt x="124759" y="268288"/>
                  </a:lnTo>
                  <a:lnTo>
                    <a:pt x="21572" y="268288"/>
                  </a:lnTo>
                  <a:cubicBezTo>
                    <a:pt x="14211" y="268289"/>
                    <a:pt x="7406" y="264370"/>
                    <a:pt x="3713" y="258002"/>
                  </a:cubicBezTo>
                  <a:cubicBezTo>
                    <a:pt x="21" y="251634"/>
                    <a:pt x="0" y="243781"/>
                    <a:pt x="3659" y="237393"/>
                  </a:cubicBezTo>
                  <a:lnTo>
                    <a:pt x="4897" y="235515"/>
                  </a:lnTo>
                  <a:lnTo>
                    <a:pt x="169997" y="8503"/>
                  </a:lnTo>
                  <a:lnTo>
                    <a:pt x="170203" y="8234"/>
                  </a:lnTo>
                  <a:lnTo>
                    <a:pt x="170575" y="7739"/>
                  </a:lnTo>
                  <a:lnTo>
                    <a:pt x="171256" y="6955"/>
                  </a:lnTo>
                  <a:lnTo>
                    <a:pt x="171627" y="6501"/>
                  </a:lnTo>
                  <a:lnTo>
                    <a:pt x="171813" y="6336"/>
                  </a:lnTo>
                  <a:lnTo>
                    <a:pt x="172081" y="6047"/>
                  </a:lnTo>
                  <a:lnTo>
                    <a:pt x="172907" y="5304"/>
                  </a:lnTo>
                  <a:lnTo>
                    <a:pt x="173485" y="4767"/>
                  </a:lnTo>
                  <a:lnTo>
                    <a:pt x="173650" y="4643"/>
                  </a:lnTo>
                  <a:cubicBezTo>
                    <a:pt x="176068" y="2664"/>
                    <a:pt x="178905" y="1260"/>
                    <a:pt x="181946" y="537"/>
                  </a:cubicBezTo>
                  <a:lnTo>
                    <a:pt x="182173" y="516"/>
                  </a:lnTo>
                  <a:lnTo>
                    <a:pt x="182730" y="413"/>
                  </a:lnTo>
                  <a:lnTo>
                    <a:pt x="184257" y="144"/>
                  </a:lnTo>
                  <a:lnTo>
                    <a:pt x="184484" y="124"/>
                  </a:lnTo>
                  <a:lnTo>
                    <a:pt x="185330" y="83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" name="Google Shape;776;p61"/>
            <p:cNvSpPr txBox="1"/>
            <p:nvPr/>
          </p:nvSpPr>
          <p:spPr>
            <a:xfrm>
              <a:off x="2468064" y="1697828"/>
              <a:ext cx="13980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Cowork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" name="Google Shape;777;p61"/>
            <p:cNvSpPr txBox="1"/>
            <p:nvPr/>
          </p:nvSpPr>
          <p:spPr>
            <a:xfrm>
              <a:off x="1984336" y="2078355"/>
              <a:ext cx="2355928" cy="4267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AI 自动化工作流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" name="Google Shape;778;p61"/>
            <p:cNvSpPr txBox="1"/>
            <p:nvPr/>
          </p:nvSpPr>
          <p:spPr>
            <a:xfrm>
              <a:off x="1641229" y="2584132"/>
              <a:ext cx="3042142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让 AI 处理你每天的重复工作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" name="Google Shape;779;p61"/>
            <p:cNvSpPr/>
            <p:nvPr/>
          </p:nvSpPr>
          <p:spPr>
            <a:xfrm>
              <a:off x="742950" y="2990850"/>
              <a:ext cx="4848225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" name="Google Shape;780;p61"/>
            <p:cNvSpPr/>
            <p:nvPr/>
          </p:nvSpPr>
          <p:spPr>
            <a:xfrm>
              <a:off x="828675" y="3343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p61"/>
            <p:cNvSpPr txBox="1"/>
            <p:nvPr/>
          </p:nvSpPr>
          <p:spPr>
            <a:xfrm>
              <a:off x="1027748" y="3268504"/>
              <a:ext cx="1650206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邮件起草与优化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" name="Google Shape;782;p61"/>
            <p:cNvSpPr/>
            <p:nvPr/>
          </p:nvSpPr>
          <p:spPr>
            <a:xfrm>
              <a:off x="828675" y="3724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" name="Google Shape;783;p61"/>
            <p:cNvSpPr txBox="1"/>
            <p:nvPr/>
          </p:nvSpPr>
          <p:spPr>
            <a:xfrm>
              <a:off x="1027748" y="3649504"/>
              <a:ext cx="1880235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分析报告自动生成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" name="Google Shape;784;p61"/>
            <p:cNvSpPr/>
            <p:nvPr/>
          </p:nvSpPr>
          <p:spPr>
            <a:xfrm>
              <a:off x="828675" y="4105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" name="Google Shape;785;p61"/>
            <p:cNvSpPr txBox="1"/>
            <p:nvPr/>
          </p:nvSpPr>
          <p:spPr>
            <a:xfrm>
              <a:off x="1027748" y="4030504"/>
              <a:ext cx="1650206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内容整理与摘要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" name="Google Shape;786;p61"/>
            <p:cNvSpPr/>
            <p:nvPr/>
          </p:nvSpPr>
          <p:spPr>
            <a:xfrm>
              <a:off x="828675" y="4486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" name="Google Shape;787;p61"/>
            <p:cNvSpPr txBox="1"/>
            <p:nvPr/>
          </p:nvSpPr>
          <p:spPr>
            <a:xfrm>
              <a:off x="1027748" y="4411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重复流程全面自动化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" name="Google Shape;788;p61"/>
            <p:cNvSpPr/>
            <p:nvPr/>
          </p:nvSpPr>
          <p:spPr>
            <a:xfrm>
              <a:off x="742950" y="5048250"/>
              <a:ext cx="4848225" cy="552450"/>
            </a:xfrm>
            <a:prstGeom prst="roundRect">
              <a:avLst>
                <a:gd fmla="val 13793" name="adj"/>
              </a:avLst>
            </a:prstGeom>
            <a:solidFill>
              <a:srgbClr val="FAFAF8">
                <a:alpha val="80000"/>
              </a:srgbClr>
            </a:solidFill>
            <a:ln cap="flat" cmpd="sng" w="9525">
              <a:solidFill>
                <a:srgbClr val="EA580C">
                  <a:alpha val="2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" name="Google Shape;789;p61"/>
            <p:cNvSpPr txBox="1"/>
            <p:nvPr/>
          </p:nvSpPr>
          <p:spPr>
            <a:xfrm>
              <a:off x="1271111" y="5218271"/>
              <a:ext cx="3782377" cy="2895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从</a:t>
              </a:r>
              <a:r>
                <a:rPr b="1" i="0" lang="en" sz="11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重复执行</a:t>
              </a: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中解放出来，专注高价值判断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90" name="Google Shape;790;p61"/>
          <p:cNvGrpSpPr/>
          <p:nvPr/>
        </p:nvGrpSpPr>
        <p:grpSpPr>
          <a:xfrm>
            <a:off x="4822031" y="771525"/>
            <a:ext cx="3893344" cy="4014788"/>
            <a:chOff x="6429375" y="1028700"/>
            <a:chExt cx="5191125" cy="5353050"/>
          </a:xfrm>
        </p:grpSpPr>
        <p:sp>
          <p:nvSpPr>
            <p:cNvPr id="791" name="Google Shape;791;p61"/>
            <p:cNvSpPr/>
            <p:nvPr/>
          </p:nvSpPr>
          <p:spPr>
            <a:xfrm>
              <a:off x="6429375" y="1028700"/>
              <a:ext cx="5191125" cy="5353050"/>
            </a:xfrm>
            <a:prstGeom prst="roundRect">
              <a:avLst>
                <a:gd fmla="val 220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61"/>
            <p:cNvSpPr/>
            <p:nvPr/>
          </p:nvSpPr>
          <p:spPr>
            <a:xfrm>
              <a:off x="6429375" y="1028700"/>
              <a:ext cx="5191125" cy="1047750"/>
            </a:xfrm>
            <a:custGeom>
              <a:rect b="b" l="l" r="r" t="t"/>
              <a:pathLst>
                <a:path extrusionOk="0" h="1047750" w="5191125">
                  <a:moveTo>
                    <a:pt x="114300" y="0"/>
                  </a:moveTo>
                  <a:lnTo>
                    <a:pt x="5076825" y="0"/>
                  </a:lnTo>
                  <a:cubicBezTo>
                    <a:pt x="5153025" y="0"/>
                    <a:pt x="5191125" y="38100"/>
                    <a:pt x="5191125" y="114300"/>
                  </a:cubicBezTo>
                  <a:lnTo>
                    <a:pt x="5191125" y="1047750"/>
                  </a:lnTo>
                  <a:lnTo>
                    <a:pt x="0" y="104775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4F46E5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" name="Google Shape;793;p61"/>
            <p:cNvSpPr/>
            <p:nvPr/>
          </p:nvSpPr>
          <p:spPr>
            <a:xfrm>
              <a:off x="6600825" y="1143000"/>
              <a:ext cx="5715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4" name="Google Shape;794;p61"/>
            <p:cNvSpPr txBox="1"/>
            <p:nvPr/>
          </p:nvSpPr>
          <p:spPr>
            <a:xfrm>
              <a:off x="6649914" y="1180624"/>
              <a:ext cx="473321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第二课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95" name="Google Shape;795;p61"/>
            <p:cNvGrpSpPr/>
            <p:nvPr/>
          </p:nvGrpSpPr>
          <p:grpSpPr>
            <a:xfrm>
              <a:off x="8843961" y="1184275"/>
              <a:ext cx="371476" cy="412750"/>
              <a:chOff x="8843961" y="1184275"/>
              <a:chExt cx="371476" cy="412750"/>
            </a:xfrm>
          </p:grpSpPr>
          <p:sp>
            <p:nvSpPr>
              <p:cNvPr id="796" name="Google Shape;796;p61"/>
              <p:cNvSpPr/>
              <p:nvPr/>
            </p:nvSpPr>
            <p:spPr>
              <a:xfrm>
                <a:off x="8843962" y="1467649"/>
                <a:ext cx="371475" cy="129376"/>
              </a:xfrm>
              <a:custGeom>
                <a:rect b="b" l="l" r="r" t="t"/>
                <a:pathLst>
                  <a:path extrusionOk="0" h="129376" w="371475">
                    <a:moveTo>
                      <a:pt x="0" y="0"/>
                    </a:moveTo>
                    <a:cubicBezTo>
                      <a:pt x="40615" y="31101"/>
                      <a:pt x="108017" y="46826"/>
                      <a:pt x="185738" y="46826"/>
                    </a:cubicBezTo>
                    <a:cubicBezTo>
                      <a:pt x="263334" y="46826"/>
                      <a:pt x="330716" y="31142"/>
                      <a:pt x="371475" y="351"/>
                    </a:cubicBezTo>
                    <a:lnTo>
                      <a:pt x="371475" y="46826"/>
                    </a:lnTo>
                    <a:cubicBezTo>
                      <a:pt x="371475" y="96872"/>
                      <a:pt x="291092" y="128056"/>
                      <a:pt x="192073" y="129335"/>
                    </a:cubicBezTo>
                    <a:lnTo>
                      <a:pt x="185738" y="129376"/>
                    </a:lnTo>
                    <a:cubicBezTo>
                      <a:pt x="83830" y="129376"/>
                      <a:pt x="0" y="97946"/>
                      <a:pt x="0" y="46826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7" name="Google Shape;797;p61"/>
              <p:cNvSpPr/>
              <p:nvPr/>
            </p:nvSpPr>
            <p:spPr>
              <a:xfrm>
                <a:off x="8843962" y="1343824"/>
                <a:ext cx="371475" cy="129376"/>
              </a:xfrm>
              <a:custGeom>
                <a:rect b="b" l="l" r="r" t="t"/>
                <a:pathLst>
                  <a:path extrusionOk="0" h="129376" w="371475">
                    <a:moveTo>
                      <a:pt x="0" y="0"/>
                    </a:moveTo>
                    <a:cubicBezTo>
                      <a:pt x="40615" y="31101"/>
                      <a:pt x="108017" y="46826"/>
                      <a:pt x="185738" y="46826"/>
                    </a:cubicBezTo>
                    <a:cubicBezTo>
                      <a:pt x="263334" y="46826"/>
                      <a:pt x="330716" y="31142"/>
                      <a:pt x="371475" y="351"/>
                    </a:cubicBezTo>
                    <a:lnTo>
                      <a:pt x="371475" y="46826"/>
                    </a:lnTo>
                    <a:cubicBezTo>
                      <a:pt x="371475" y="97946"/>
                      <a:pt x="287645" y="129376"/>
                      <a:pt x="185738" y="129376"/>
                    </a:cubicBezTo>
                    <a:cubicBezTo>
                      <a:pt x="86719" y="129376"/>
                      <a:pt x="4747" y="99700"/>
                      <a:pt x="433" y="51057"/>
                    </a:cubicBezTo>
                    <a:lnTo>
                      <a:pt x="103" y="48973"/>
                    </a:lnTo>
                    <a:lnTo>
                      <a:pt x="0" y="46826"/>
                    </a:ln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8" name="Google Shape;798;p61"/>
              <p:cNvSpPr/>
              <p:nvPr/>
            </p:nvSpPr>
            <p:spPr>
              <a:xfrm>
                <a:off x="8843961" y="1184275"/>
                <a:ext cx="371476" cy="165100"/>
              </a:xfrm>
              <a:custGeom>
                <a:rect b="b" l="l" r="r" t="t"/>
                <a:pathLst>
                  <a:path extrusionOk="0" h="165100" w="371477">
                    <a:moveTo>
                      <a:pt x="185739" y="0"/>
                    </a:moveTo>
                    <a:cubicBezTo>
                      <a:pt x="207223" y="0"/>
                      <a:pt x="227922" y="1403"/>
                      <a:pt x="247177" y="4086"/>
                    </a:cubicBezTo>
                    <a:lnTo>
                      <a:pt x="256856" y="5551"/>
                    </a:lnTo>
                    <a:cubicBezTo>
                      <a:pt x="268413" y="7478"/>
                      <a:pt x="279323" y="9872"/>
                      <a:pt x="289587" y="12733"/>
                    </a:cubicBezTo>
                    <a:lnTo>
                      <a:pt x="298668" y="15437"/>
                    </a:lnTo>
                    <a:lnTo>
                      <a:pt x="300215" y="15932"/>
                    </a:lnTo>
                    <a:cubicBezTo>
                      <a:pt x="305832" y="17779"/>
                      <a:pt x="311374" y="19844"/>
                      <a:pt x="316829" y="22123"/>
                    </a:cubicBezTo>
                    <a:lnTo>
                      <a:pt x="320935" y="23898"/>
                    </a:lnTo>
                    <a:cubicBezTo>
                      <a:pt x="328296" y="27228"/>
                      <a:pt x="334948" y="30874"/>
                      <a:pt x="340892" y="34836"/>
                    </a:cubicBezTo>
                    <a:cubicBezTo>
                      <a:pt x="343162" y="36350"/>
                      <a:pt x="345315" y="37897"/>
                      <a:pt x="347351" y="39480"/>
                    </a:cubicBezTo>
                    <a:cubicBezTo>
                      <a:pt x="352509" y="43482"/>
                      <a:pt x="357148" y="48113"/>
                      <a:pt x="361158" y="53265"/>
                    </a:cubicBezTo>
                    <a:lnTo>
                      <a:pt x="363036" y="55907"/>
                    </a:lnTo>
                    <a:cubicBezTo>
                      <a:pt x="363999" y="57352"/>
                      <a:pt x="364886" y="58803"/>
                      <a:pt x="365698" y="60262"/>
                    </a:cubicBezTo>
                    <a:lnTo>
                      <a:pt x="367143" y="63130"/>
                    </a:lnTo>
                    <a:cubicBezTo>
                      <a:pt x="369385" y="67946"/>
                      <a:pt x="370761" y="72967"/>
                      <a:pt x="371270" y="78195"/>
                    </a:cubicBezTo>
                    <a:lnTo>
                      <a:pt x="371477" y="82550"/>
                    </a:lnTo>
                    <a:cubicBezTo>
                      <a:pt x="371477" y="133669"/>
                      <a:pt x="287647" y="165100"/>
                      <a:pt x="185739" y="165100"/>
                    </a:cubicBezTo>
                    <a:cubicBezTo>
                      <a:pt x="86720" y="165100"/>
                      <a:pt x="4748" y="135423"/>
                      <a:pt x="435" y="86781"/>
                    </a:cubicBezTo>
                    <a:cubicBezTo>
                      <a:pt x="145" y="85389"/>
                      <a:pt x="0" y="83971"/>
                      <a:pt x="2" y="82550"/>
                    </a:cubicBezTo>
                    <a:lnTo>
                      <a:pt x="105" y="80404"/>
                    </a:lnTo>
                    <a:lnTo>
                      <a:pt x="435" y="78340"/>
                    </a:lnTo>
                    <a:cubicBezTo>
                      <a:pt x="4666" y="30750"/>
                      <a:pt x="83191" y="1300"/>
                      <a:pt x="179300" y="41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99" name="Google Shape;799;p61"/>
            <p:cNvSpPr txBox="1"/>
            <p:nvPr/>
          </p:nvSpPr>
          <p:spPr>
            <a:xfrm>
              <a:off x="8097557" y="1752138"/>
              <a:ext cx="15813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Claude Code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61"/>
            <p:cNvSpPr txBox="1"/>
            <p:nvPr/>
          </p:nvSpPr>
          <p:spPr>
            <a:xfrm>
              <a:off x="7632885" y="2078355"/>
              <a:ext cx="2774580" cy="4267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建你自己的 AI 系统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61"/>
            <p:cNvSpPr txBox="1"/>
            <p:nvPr/>
          </p:nvSpPr>
          <p:spPr>
            <a:xfrm>
              <a:off x="7258121" y="2584132"/>
              <a:ext cx="3524107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把你的专业知识变成你的 AI 助理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61"/>
            <p:cNvSpPr/>
            <p:nvPr/>
          </p:nvSpPr>
          <p:spPr>
            <a:xfrm>
              <a:off x="6600825" y="2990850"/>
              <a:ext cx="4848225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61"/>
            <p:cNvSpPr/>
            <p:nvPr/>
          </p:nvSpPr>
          <p:spPr>
            <a:xfrm>
              <a:off x="6686550" y="3343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61"/>
            <p:cNvSpPr txBox="1"/>
            <p:nvPr/>
          </p:nvSpPr>
          <p:spPr>
            <a:xfrm>
              <a:off x="6885621" y="3268504"/>
              <a:ext cx="1880235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知识库搭建与维护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61"/>
            <p:cNvSpPr/>
            <p:nvPr/>
          </p:nvSpPr>
          <p:spPr>
            <a:xfrm>
              <a:off x="6686550" y="3724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61"/>
            <p:cNvSpPr txBox="1"/>
            <p:nvPr/>
          </p:nvSpPr>
          <p:spPr>
            <a:xfrm>
              <a:off x="6885621" y="3649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客户服务流程系统化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61"/>
            <p:cNvSpPr/>
            <p:nvPr/>
          </p:nvSpPr>
          <p:spPr>
            <a:xfrm>
              <a:off x="6686550" y="4105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61"/>
            <p:cNvSpPr txBox="1"/>
            <p:nvPr/>
          </p:nvSpPr>
          <p:spPr>
            <a:xfrm>
              <a:off x="6885621" y="4030504"/>
              <a:ext cx="1937742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专属 PPT 报告生成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61"/>
            <p:cNvSpPr/>
            <p:nvPr/>
          </p:nvSpPr>
          <p:spPr>
            <a:xfrm>
              <a:off x="6686550" y="4486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61"/>
            <p:cNvSpPr txBox="1"/>
            <p:nvPr/>
          </p:nvSpPr>
          <p:spPr>
            <a:xfrm>
              <a:off x="6885621" y="4411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经验积累持续可复用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61"/>
            <p:cNvSpPr/>
            <p:nvPr/>
          </p:nvSpPr>
          <p:spPr>
            <a:xfrm>
              <a:off x="6600825" y="5048250"/>
              <a:ext cx="4848225" cy="552450"/>
            </a:xfrm>
            <a:prstGeom prst="roundRect">
              <a:avLst>
                <a:gd fmla="val 13793" name="adj"/>
              </a:avLst>
            </a:prstGeom>
            <a:solidFill>
              <a:srgbClr val="FAFAF8">
                <a:alpha val="80000"/>
              </a:srgbClr>
            </a:solidFill>
            <a:ln cap="flat" cmpd="sng" w="9525">
              <a:solidFill>
                <a:srgbClr val="4F46E5">
                  <a:alpha val="2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61"/>
            <p:cNvSpPr txBox="1"/>
            <p:nvPr/>
          </p:nvSpPr>
          <p:spPr>
            <a:xfrm>
              <a:off x="7175814" y="5218271"/>
              <a:ext cx="3688723" cy="2895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用</a:t>
              </a:r>
              <a:r>
                <a:rPr b="1" i="0" lang="en" sz="11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20年专业积累</a:t>
              </a: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训练出你专属的 AI 顾问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13" name="Google Shape;813;p61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7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8" name="Google Shape;818;p62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819" name="Google Shape;819;p6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62"/>
            <p:cNvSpPr/>
            <p:nvPr/>
          </p:nvSpPr>
          <p:spPr>
            <a:xfrm>
              <a:off x="11410950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62"/>
            <p:cNvSpPr/>
            <p:nvPr/>
          </p:nvSpPr>
          <p:spPr>
            <a:xfrm>
              <a:off x="11558588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822" name="Google Shape;82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23" name="Google Shape;823;p62"/>
          <p:cNvGrpSpPr/>
          <p:nvPr/>
        </p:nvGrpSpPr>
        <p:grpSpPr>
          <a:xfrm>
            <a:off x="3455111" y="255745"/>
            <a:ext cx="5296448" cy="526496"/>
            <a:chOff x="4606814" y="340995"/>
            <a:chExt cx="7061930" cy="701993"/>
          </a:xfrm>
        </p:grpSpPr>
        <p:sp>
          <p:nvSpPr>
            <p:cNvPr id="824" name="Google Shape;824;p62"/>
            <p:cNvSpPr txBox="1"/>
            <p:nvPr/>
          </p:nvSpPr>
          <p:spPr>
            <a:xfrm>
              <a:off x="11534156" y="340995"/>
              <a:ext cx="134588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13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62"/>
            <p:cNvSpPr txBox="1"/>
            <p:nvPr/>
          </p:nvSpPr>
          <p:spPr>
            <a:xfrm>
              <a:off x="4606814" y="402908"/>
              <a:ext cx="2978372" cy="640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" sz="24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这门课适合谁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62"/>
            <p:cNvSpPr/>
            <p:nvPr/>
          </p:nvSpPr>
          <p:spPr>
            <a:xfrm>
              <a:off x="5657850" y="885825"/>
              <a:ext cx="876299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27" name="Google Shape;827;p62"/>
          <p:cNvGrpSpPr/>
          <p:nvPr/>
        </p:nvGrpSpPr>
        <p:grpSpPr>
          <a:xfrm>
            <a:off x="428625" y="771525"/>
            <a:ext cx="8286750" cy="4114800"/>
            <a:chOff x="571500" y="1028700"/>
            <a:chExt cx="11049000" cy="5486400"/>
          </a:xfrm>
        </p:grpSpPr>
        <p:sp>
          <p:nvSpPr>
            <p:cNvPr id="828" name="Google Shape;828;p62"/>
            <p:cNvSpPr/>
            <p:nvPr/>
          </p:nvSpPr>
          <p:spPr>
            <a:xfrm>
              <a:off x="571500" y="1028700"/>
              <a:ext cx="11049000" cy="5486400"/>
            </a:xfrm>
            <a:prstGeom prst="roundRect">
              <a:avLst>
                <a:gd fmla="val 2083" name="adj"/>
              </a:avLst>
            </a:prstGeom>
            <a:solidFill>
              <a:srgbClr val="FFFFFF"/>
            </a:solidFill>
            <a:ln cap="flat" cmpd="sng" w="9525">
              <a:solidFill>
                <a:srgbClr val="16A34A">
                  <a:alpha val="34902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62"/>
            <p:cNvSpPr/>
            <p:nvPr/>
          </p:nvSpPr>
          <p:spPr>
            <a:xfrm>
              <a:off x="571500" y="1028700"/>
              <a:ext cx="11049000" cy="762000"/>
            </a:xfrm>
            <a:custGeom>
              <a:rect b="b" l="l" r="r" t="t"/>
              <a:pathLst>
                <a:path extrusionOk="0" h="762000" w="11049000">
                  <a:moveTo>
                    <a:pt x="114300" y="0"/>
                  </a:moveTo>
                  <a:lnTo>
                    <a:pt x="10934700" y="0"/>
                  </a:lnTo>
                  <a:cubicBezTo>
                    <a:pt x="11010900" y="0"/>
                    <a:pt x="11049000" y="38100"/>
                    <a:pt x="11049000" y="114300"/>
                  </a:cubicBezTo>
                  <a:lnTo>
                    <a:pt x="11049000" y="762000"/>
                  </a:lnTo>
                  <a:lnTo>
                    <a:pt x="0" y="7620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16A34A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62"/>
            <p:cNvSpPr/>
            <p:nvPr/>
          </p:nvSpPr>
          <p:spPr>
            <a:xfrm>
              <a:off x="581025" y="1143000"/>
              <a:ext cx="38100" cy="533400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5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62"/>
            <p:cNvSpPr/>
            <p:nvPr/>
          </p:nvSpPr>
          <p:spPr>
            <a:xfrm>
              <a:off x="838200" y="1152525"/>
              <a:ext cx="838200" cy="2476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2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62"/>
            <p:cNvSpPr txBox="1"/>
            <p:nvPr/>
          </p:nvSpPr>
          <p:spPr>
            <a:xfrm>
              <a:off x="910908" y="1202531"/>
              <a:ext cx="692783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✓ 适合你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62"/>
            <p:cNvSpPr/>
            <p:nvPr/>
          </p:nvSpPr>
          <p:spPr>
            <a:xfrm>
              <a:off x="5707062" y="1145224"/>
              <a:ext cx="417315" cy="417998"/>
            </a:xfrm>
            <a:custGeom>
              <a:rect b="b" l="l" r="r" t="t"/>
              <a:pathLst>
                <a:path extrusionOk="0" h="417998" w="417315">
                  <a:moveTo>
                    <a:pt x="297656" y="35479"/>
                  </a:moveTo>
                  <a:cubicBezTo>
                    <a:pt x="380353" y="83228"/>
                    <a:pt x="417315" y="183105"/>
                    <a:pt x="385624" y="273184"/>
                  </a:cubicBezTo>
                  <a:cubicBezTo>
                    <a:pt x="353933" y="363264"/>
                    <a:pt x="262578" y="417998"/>
                    <a:pt x="168201" y="403450"/>
                  </a:cubicBezTo>
                  <a:cubicBezTo>
                    <a:pt x="73824" y="388901"/>
                    <a:pt x="3192" y="309197"/>
                    <a:pt x="99" y="213756"/>
                  </a:cubicBezTo>
                  <a:lnTo>
                    <a:pt x="0" y="207326"/>
                  </a:lnTo>
                  <a:lnTo>
                    <a:pt x="99" y="200897"/>
                  </a:lnTo>
                  <a:cubicBezTo>
                    <a:pt x="2360" y="131185"/>
                    <a:pt x="41053" y="67779"/>
                    <a:pt x="102015" y="33890"/>
                  </a:cubicBezTo>
                  <a:cubicBezTo>
                    <a:pt x="162976" y="0"/>
                    <a:pt x="237254" y="604"/>
                    <a:pt x="297656" y="35479"/>
                  </a:cubicBezTo>
                  <a:close/>
                  <a:moveTo>
                    <a:pt x="271998" y="153609"/>
                  </a:moveTo>
                  <a:cubicBezTo>
                    <a:pt x="264929" y="146540"/>
                    <a:pt x="253704" y="145834"/>
                    <a:pt x="245805" y="151962"/>
                  </a:cubicBezTo>
                  <a:lnTo>
                    <a:pt x="243939" y="153609"/>
                  </a:lnTo>
                  <a:lnTo>
                    <a:pt x="178594" y="218935"/>
                  </a:lnTo>
                  <a:lnTo>
                    <a:pt x="152936" y="193297"/>
                  </a:lnTo>
                  <a:lnTo>
                    <a:pt x="151070" y="191650"/>
                  </a:lnTo>
                  <a:cubicBezTo>
                    <a:pt x="143171" y="185526"/>
                    <a:pt x="131950" y="186234"/>
                    <a:pt x="124882" y="193302"/>
                  </a:cubicBezTo>
                  <a:cubicBezTo>
                    <a:pt x="117814" y="200370"/>
                    <a:pt x="117106" y="211591"/>
                    <a:pt x="123230" y="219491"/>
                  </a:cubicBezTo>
                  <a:lnTo>
                    <a:pt x="124877" y="221356"/>
                  </a:lnTo>
                  <a:lnTo>
                    <a:pt x="164564" y="261043"/>
                  </a:lnTo>
                  <a:lnTo>
                    <a:pt x="166430" y="262690"/>
                  </a:lnTo>
                  <a:cubicBezTo>
                    <a:pt x="173588" y="268244"/>
                    <a:pt x="183599" y="268244"/>
                    <a:pt x="190758" y="262690"/>
                  </a:cubicBezTo>
                  <a:lnTo>
                    <a:pt x="192623" y="261043"/>
                  </a:lnTo>
                  <a:lnTo>
                    <a:pt x="271998" y="181668"/>
                  </a:lnTo>
                  <a:lnTo>
                    <a:pt x="273645" y="179803"/>
                  </a:lnTo>
                  <a:cubicBezTo>
                    <a:pt x="279773" y="171904"/>
                    <a:pt x="279067" y="160679"/>
                    <a:pt x="271998" y="153609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" name="Google Shape;834;p62"/>
            <p:cNvSpPr/>
            <p:nvPr/>
          </p:nvSpPr>
          <p:spPr>
            <a:xfrm>
              <a:off x="742950" y="1733550"/>
              <a:ext cx="10706100" cy="9525"/>
            </a:xfrm>
            <a:prstGeom prst="rect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" name="Google Shape;835;p62"/>
            <p:cNvSpPr/>
            <p:nvPr/>
          </p:nvSpPr>
          <p:spPr>
            <a:xfrm>
              <a:off x="1028700" y="2219325"/>
              <a:ext cx="419100" cy="419100"/>
            </a:xfrm>
            <a:prstGeom prst="ellipse">
              <a:avLst/>
            </a:prstGeom>
            <a:solidFill>
              <a:srgbClr val="16A34A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" name="Google Shape;836;p62"/>
            <p:cNvSpPr/>
            <p:nvPr/>
          </p:nvSpPr>
          <p:spPr>
            <a:xfrm>
              <a:off x="1063625" y="2246428"/>
              <a:ext cx="367237" cy="367838"/>
            </a:xfrm>
            <a:custGeom>
              <a:rect b="b" l="l" r="r" t="t"/>
              <a:pathLst>
                <a:path extrusionOk="0" h="367838" w="367237">
                  <a:moveTo>
                    <a:pt x="261937" y="31222"/>
                  </a:moveTo>
                  <a:cubicBezTo>
                    <a:pt x="334711" y="73240"/>
                    <a:pt x="367237" y="161132"/>
                    <a:pt x="339349" y="240402"/>
                  </a:cubicBezTo>
                  <a:cubicBezTo>
                    <a:pt x="311461" y="319672"/>
                    <a:pt x="231068" y="367838"/>
                    <a:pt x="148016" y="355036"/>
                  </a:cubicBezTo>
                  <a:cubicBezTo>
                    <a:pt x="64965" y="342233"/>
                    <a:pt x="2809" y="272094"/>
                    <a:pt x="87" y="188105"/>
                  </a:cubicBezTo>
                  <a:lnTo>
                    <a:pt x="0" y="182447"/>
                  </a:lnTo>
                  <a:lnTo>
                    <a:pt x="87" y="176789"/>
                  </a:lnTo>
                  <a:cubicBezTo>
                    <a:pt x="2077" y="115443"/>
                    <a:pt x="36127" y="59646"/>
                    <a:pt x="89773" y="29823"/>
                  </a:cubicBezTo>
                  <a:cubicBezTo>
                    <a:pt x="143419" y="0"/>
                    <a:pt x="208783" y="531"/>
                    <a:pt x="261937" y="31222"/>
                  </a:cubicBezTo>
                  <a:close/>
                  <a:moveTo>
                    <a:pt x="239358" y="135176"/>
                  </a:moveTo>
                  <a:cubicBezTo>
                    <a:pt x="233137" y="128955"/>
                    <a:pt x="223260" y="128334"/>
                    <a:pt x="216308" y="133727"/>
                  </a:cubicBezTo>
                  <a:lnTo>
                    <a:pt x="214667" y="135176"/>
                  </a:lnTo>
                  <a:lnTo>
                    <a:pt x="157162" y="192663"/>
                  </a:lnTo>
                  <a:lnTo>
                    <a:pt x="134583" y="170101"/>
                  </a:lnTo>
                  <a:lnTo>
                    <a:pt x="132942" y="168652"/>
                  </a:lnTo>
                  <a:cubicBezTo>
                    <a:pt x="125990" y="163263"/>
                    <a:pt x="116116" y="163886"/>
                    <a:pt x="109896" y="170106"/>
                  </a:cubicBezTo>
                  <a:cubicBezTo>
                    <a:pt x="103677" y="176325"/>
                    <a:pt x="103054" y="186200"/>
                    <a:pt x="108442" y="193152"/>
                  </a:cubicBezTo>
                  <a:lnTo>
                    <a:pt x="109892" y="194793"/>
                  </a:lnTo>
                  <a:lnTo>
                    <a:pt x="144817" y="229718"/>
                  </a:lnTo>
                  <a:lnTo>
                    <a:pt x="146458" y="231168"/>
                  </a:lnTo>
                  <a:cubicBezTo>
                    <a:pt x="152757" y="236055"/>
                    <a:pt x="161568" y="236055"/>
                    <a:pt x="167867" y="231168"/>
                  </a:cubicBezTo>
                  <a:lnTo>
                    <a:pt x="169508" y="229718"/>
                  </a:lnTo>
                  <a:lnTo>
                    <a:pt x="239358" y="159868"/>
                  </a:lnTo>
                  <a:lnTo>
                    <a:pt x="240808" y="158227"/>
                  </a:lnTo>
                  <a:cubicBezTo>
                    <a:pt x="246200" y="151275"/>
                    <a:pt x="245579" y="141397"/>
                    <a:pt x="239358" y="135176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" name="Google Shape;837;p62"/>
            <p:cNvSpPr txBox="1"/>
            <p:nvPr/>
          </p:nvSpPr>
          <p:spPr>
            <a:xfrm>
              <a:off x="1642110" y="2294572"/>
              <a:ext cx="2897400" cy="30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对某个领域有深入了解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" name="Google Shape;838;p62"/>
            <p:cNvSpPr/>
            <p:nvPr/>
          </p:nvSpPr>
          <p:spPr>
            <a:xfrm>
              <a:off x="1028700" y="3105150"/>
              <a:ext cx="419100" cy="419100"/>
            </a:xfrm>
            <a:prstGeom prst="ellipse">
              <a:avLst/>
            </a:prstGeom>
            <a:solidFill>
              <a:srgbClr val="16A34A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" name="Google Shape;839;p62"/>
            <p:cNvSpPr/>
            <p:nvPr/>
          </p:nvSpPr>
          <p:spPr>
            <a:xfrm>
              <a:off x="1063625" y="3132253"/>
              <a:ext cx="367237" cy="367838"/>
            </a:xfrm>
            <a:custGeom>
              <a:rect b="b" l="l" r="r" t="t"/>
              <a:pathLst>
                <a:path extrusionOk="0" h="367838" w="367237">
                  <a:moveTo>
                    <a:pt x="261937" y="31222"/>
                  </a:moveTo>
                  <a:cubicBezTo>
                    <a:pt x="334711" y="73240"/>
                    <a:pt x="367237" y="161132"/>
                    <a:pt x="339349" y="240402"/>
                  </a:cubicBezTo>
                  <a:cubicBezTo>
                    <a:pt x="311461" y="319672"/>
                    <a:pt x="231068" y="367838"/>
                    <a:pt x="148016" y="355036"/>
                  </a:cubicBezTo>
                  <a:cubicBezTo>
                    <a:pt x="64965" y="342233"/>
                    <a:pt x="2809" y="272094"/>
                    <a:pt x="87" y="188105"/>
                  </a:cubicBezTo>
                  <a:lnTo>
                    <a:pt x="0" y="182447"/>
                  </a:lnTo>
                  <a:lnTo>
                    <a:pt x="87" y="176789"/>
                  </a:lnTo>
                  <a:cubicBezTo>
                    <a:pt x="2077" y="115443"/>
                    <a:pt x="36127" y="59646"/>
                    <a:pt x="89773" y="29823"/>
                  </a:cubicBezTo>
                  <a:cubicBezTo>
                    <a:pt x="143419" y="0"/>
                    <a:pt x="208783" y="531"/>
                    <a:pt x="261937" y="31222"/>
                  </a:cubicBezTo>
                  <a:close/>
                  <a:moveTo>
                    <a:pt x="239358" y="135176"/>
                  </a:moveTo>
                  <a:cubicBezTo>
                    <a:pt x="233137" y="128955"/>
                    <a:pt x="223260" y="128334"/>
                    <a:pt x="216308" y="133727"/>
                  </a:cubicBezTo>
                  <a:lnTo>
                    <a:pt x="214667" y="135176"/>
                  </a:lnTo>
                  <a:lnTo>
                    <a:pt x="157162" y="192663"/>
                  </a:lnTo>
                  <a:lnTo>
                    <a:pt x="134583" y="170101"/>
                  </a:lnTo>
                  <a:lnTo>
                    <a:pt x="132942" y="168652"/>
                  </a:lnTo>
                  <a:cubicBezTo>
                    <a:pt x="125990" y="163263"/>
                    <a:pt x="116116" y="163886"/>
                    <a:pt x="109896" y="170106"/>
                  </a:cubicBezTo>
                  <a:cubicBezTo>
                    <a:pt x="103677" y="176325"/>
                    <a:pt x="103054" y="186200"/>
                    <a:pt x="108442" y="193152"/>
                  </a:cubicBezTo>
                  <a:lnTo>
                    <a:pt x="109892" y="194793"/>
                  </a:lnTo>
                  <a:lnTo>
                    <a:pt x="144817" y="229718"/>
                  </a:lnTo>
                  <a:lnTo>
                    <a:pt x="146458" y="231168"/>
                  </a:lnTo>
                  <a:cubicBezTo>
                    <a:pt x="152757" y="236055"/>
                    <a:pt x="161568" y="236055"/>
                    <a:pt x="167867" y="231168"/>
                  </a:cubicBezTo>
                  <a:lnTo>
                    <a:pt x="169508" y="229718"/>
                  </a:lnTo>
                  <a:lnTo>
                    <a:pt x="239358" y="159868"/>
                  </a:lnTo>
                  <a:lnTo>
                    <a:pt x="240808" y="158227"/>
                  </a:lnTo>
                  <a:cubicBezTo>
                    <a:pt x="246200" y="151275"/>
                    <a:pt x="245579" y="141397"/>
                    <a:pt x="239358" y="135176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" name="Google Shape;840;p62"/>
            <p:cNvSpPr txBox="1"/>
            <p:nvPr/>
          </p:nvSpPr>
          <p:spPr>
            <a:xfrm>
              <a:off x="1642110" y="3180398"/>
              <a:ext cx="2897505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每天有重复的专业工作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" name="Google Shape;841;p62"/>
            <p:cNvSpPr/>
            <p:nvPr/>
          </p:nvSpPr>
          <p:spPr>
            <a:xfrm>
              <a:off x="1028700" y="3990975"/>
              <a:ext cx="419100" cy="419100"/>
            </a:xfrm>
            <a:prstGeom prst="ellipse">
              <a:avLst/>
            </a:prstGeom>
            <a:solidFill>
              <a:srgbClr val="16A34A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" name="Google Shape;842;p62"/>
            <p:cNvSpPr/>
            <p:nvPr/>
          </p:nvSpPr>
          <p:spPr>
            <a:xfrm>
              <a:off x="1063625" y="4018078"/>
              <a:ext cx="367237" cy="367838"/>
            </a:xfrm>
            <a:custGeom>
              <a:rect b="b" l="l" r="r" t="t"/>
              <a:pathLst>
                <a:path extrusionOk="0" h="367838" w="367237">
                  <a:moveTo>
                    <a:pt x="261937" y="31222"/>
                  </a:moveTo>
                  <a:cubicBezTo>
                    <a:pt x="334711" y="73240"/>
                    <a:pt x="367237" y="161132"/>
                    <a:pt x="339349" y="240402"/>
                  </a:cubicBezTo>
                  <a:cubicBezTo>
                    <a:pt x="311461" y="319672"/>
                    <a:pt x="231068" y="367838"/>
                    <a:pt x="148016" y="355036"/>
                  </a:cubicBezTo>
                  <a:cubicBezTo>
                    <a:pt x="64965" y="342233"/>
                    <a:pt x="2809" y="272094"/>
                    <a:pt x="87" y="188105"/>
                  </a:cubicBezTo>
                  <a:lnTo>
                    <a:pt x="0" y="182447"/>
                  </a:lnTo>
                  <a:lnTo>
                    <a:pt x="87" y="176789"/>
                  </a:lnTo>
                  <a:cubicBezTo>
                    <a:pt x="2077" y="115443"/>
                    <a:pt x="36127" y="59646"/>
                    <a:pt x="89773" y="29823"/>
                  </a:cubicBezTo>
                  <a:cubicBezTo>
                    <a:pt x="143419" y="0"/>
                    <a:pt x="208783" y="531"/>
                    <a:pt x="261937" y="31222"/>
                  </a:cubicBezTo>
                  <a:close/>
                  <a:moveTo>
                    <a:pt x="239358" y="135176"/>
                  </a:moveTo>
                  <a:cubicBezTo>
                    <a:pt x="233137" y="128955"/>
                    <a:pt x="223260" y="128334"/>
                    <a:pt x="216308" y="133727"/>
                  </a:cubicBezTo>
                  <a:lnTo>
                    <a:pt x="214667" y="135176"/>
                  </a:lnTo>
                  <a:lnTo>
                    <a:pt x="157162" y="192663"/>
                  </a:lnTo>
                  <a:lnTo>
                    <a:pt x="134583" y="170101"/>
                  </a:lnTo>
                  <a:lnTo>
                    <a:pt x="132942" y="168652"/>
                  </a:lnTo>
                  <a:cubicBezTo>
                    <a:pt x="125990" y="163263"/>
                    <a:pt x="116116" y="163886"/>
                    <a:pt x="109896" y="170106"/>
                  </a:cubicBezTo>
                  <a:cubicBezTo>
                    <a:pt x="103677" y="176325"/>
                    <a:pt x="103054" y="186200"/>
                    <a:pt x="108442" y="193152"/>
                  </a:cubicBezTo>
                  <a:lnTo>
                    <a:pt x="109892" y="194793"/>
                  </a:lnTo>
                  <a:lnTo>
                    <a:pt x="144817" y="229718"/>
                  </a:lnTo>
                  <a:lnTo>
                    <a:pt x="146458" y="231168"/>
                  </a:lnTo>
                  <a:cubicBezTo>
                    <a:pt x="152757" y="236055"/>
                    <a:pt x="161568" y="236055"/>
                    <a:pt x="167867" y="231168"/>
                  </a:cubicBezTo>
                  <a:lnTo>
                    <a:pt x="169508" y="229718"/>
                  </a:lnTo>
                  <a:lnTo>
                    <a:pt x="239358" y="159868"/>
                  </a:lnTo>
                  <a:lnTo>
                    <a:pt x="240808" y="158227"/>
                  </a:lnTo>
                  <a:cubicBezTo>
                    <a:pt x="246200" y="151275"/>
                    <a:pt x="245579" y="141397"/>
                    <a:pt x="239358" y="135176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" name="Google Shape;843;p62"/>
            <p:cNvSpPr txBox="1"/>
            <p:nvPr/>
          </p:nvSpPr>
          <p:spPr>
            <a:xfrm>
              <a:off x="1642110" y="4066222"/>
              <a:ext cx="3310461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想用 AI 放大你的专业价值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" name="Google Shape;844;p62"/>
            <p:cNvSpPr/>
            <p:nvPr/>
          </p:nvSpPr>
          <p:spPr>
            <a:xfrm>
              <a:off x="1028700" y="4876800"/>
              <a:ext cx="419100" cy="419100"/>
            </a:xfrm>
            <a:prstGeom prst="ellipse">
              <a:avLst/>
            </a:prstGeom>
            <a:solidFill>
              <a:srgbClr val="16A34A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" name="Google Shape;845;p62"/>
            <p:cNvSpPr/>
            <p:nvPr/>
          </p:nvSpPr>
          <p:spPr>
            <a:xfrm>
              <a:off x="1063625" y="4903903"/>
              <a:ext cx="367237" cy="367838"/>
            </a:xfrm>
            <a:custGeom>
              <a:rect b="b" l="l" r="r" t="t"/>
              <a:pathLst>
                <a:path extrusionOk="0" h="367838" w="367237">
                  <a:moveTo>
                    <a:pt x="261937" y="31222"/>
                  </a:moveTo>
                  <a:cubicBezTo>
                    <a:pt x="334711" y="73240"/>
                    <a:pt x="367237" y="161132"/>
                    <a:pt x="339349" y="240402"/>
                  </a:cubicBezTo>
                  <a:cubicBezTo>
                    <a:pt x="311461" y="319672"/>
                    <a:pt x="231068" y="367838"/>
                    <a:pt x="148016" y="355036"/>
                  </a:cubicBezTo>
                  <a:cubicBezTo>
                    <a:pt x="64965" y="342233"/>
                    <a:pt x="2809" y="272094"/>
                    <a:pt x="87" y="188105"/>
                  </a:cubicBezTo>
                  <a:lnTo>
                    <a:pt x="0" y="182447"/>
                  </a:lnTo>
                  <a:lnTo>
                    <a:pt x="87" y="176789"/>
                  </a:lnTo>
                  <a:cubicBezTo>
                    <a:pt x="2077" y="115443"/>
                    <a:pt x="36127" y="59646"/>
                    <a:pt x="89773" y="29823"/>
                  </a:cubicBezTo>
                  <a:cubicBezTo>
                    <a:pt x="143419" y="0"/>
                    <a:pt x="208783" y="531"/>
                    <a:pt x="261937" y="31222"/>
                  </a:cubicBezTo>
                  <a:close/>
                  <a:moveTo>
                    <a:pt x="239358" y="135176"/>
                  </a:moveTo>
                  <a:cubicBezTo>
                    <a:pt x="233137" y="128955"/>
                    <a:pt x="223260" y="128334"/>
                    <a:pt x="216308" y="133727"/>
                  </a:cubicBezTo>
                  <a:lnTo>
                    <a:pt x="214667" y="135176"/>
                  </a:lnTo>
                  <a:lnTo>
                    <a:pt x="157162" y="192663"/>
                  </a:lnTo>
                  <a:lnTo>
                    <a:pt x="134583" y="170101"/>
                  </a:lnTo>
                  <a:lnTo>
                    <a:pt x="132942" y="168652"/>
                  </a:lnTo>
                  <a:cubicBezTo>
                    <a:pt x="125990" y="163263"/>
                    <a:pt x="116116" y="163886"/>
                    <a:pt x="109896" y="170106"/>
                  </a:cubicBezTo>
                  <a:cubicBezTo>
                    <a:pt x="103677" y="176325"/>
                    <a:pt x="103054" y="186200"/>
                    <a:pt x="108442" y="193152"/>
                  </a:cubicBezTo>
                  <a:lnTo>
                    <a:pt x="109892" y="194793"/>
                  </a:lnTo>
                  <a:lnTo>
                    <a:pt x="144817" y="229718"/>
                  </a:lnTo>
                  <a:lnTo>
                    <a:pt x="146458" y="231168"/>
                  </a:lnTo>
                  <a:cubicBezTo>
                    <a:pt x="152757" y="236055"/>
                    <a:pt x="161568" y="236055"/>
                    <a:pt x="167867" y="231168"/>
                  </a:cubicBezTo>
                  <a:lnTo>
                    <a:pt x="169508" y="229718"/>
                  </a:lnTo>
                  <a:lnTo>
                    <a:pt x="239358" y="159868"/>
                  </a:lnTo>
                  <a:lnTo>
                    <a:pt x="240808" y="158227"/>
                  </a:lnTo>
                  <a:cubicBezTo>
                    <a:pt x="246200" y="151275"/>
                    <a:pt x="245579" y="141397"/>
                    <a:pt x="239358" y="135176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" name="Google Shape;846;p62"/>
            <p:cNvSpPr txBox="1"/>
            <p:nvPr/>
          </p:nvSpPr>
          <p:spPr>
            <a:xfrm>
              <a:off x="1642110" y="4952048"/>
              <a:ext cx="3751898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愿意花时间建一套自己的系统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" name="Google Shape;847;p62"/>
            <p:cNvSpPr/>
            <p:nvPr/>
          </p:nvSpPr>
          <p:spPr>
            <a:xfrm>
              <a:off x="742950" y="5676900"/>
              <a:ext cx="10706100" cy="533400"/>
            </a:xfrm>
            <a:prstGeom prst="roundRect">
              <a:avLst>
                <a:gd fmla="val 14286" name="adj"/>
              </a:avLst>
            </a:prstGeom>
            <a:solidFill>
              <a:srgbClr val="EA580C">
                <a:alpha val="7843"/>
              </a:srgbClr>
            </a:solidFill>
            <a:ln cap="flat" cmpd="sng" w="9525">
              <a:solidFill>
                <a:srgbClr val="EA580C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" name="Google Shape;848;p62"/>
            <p:cNvSpPr txBox="1"/>
            <p:nvPr/>
          </p:nvSpPr>
          <p:spPr>
            <a:xfrm>
              <a:off x="4121706" y="5848350"/>
              <a:ext cx="3948589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✦ 也适合：探索创业 / 副业的领域专家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49" name="Google Shape;849;p62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4" name="Google Shape;854;p63"/>
          <p:cNvGrpSpPr/>
          <p:nvPr/>
        </p:nvGrpSpPr>
        <p:grpSpPr>
          <a:xfrm>
            <a:off x="-1071562" y="-1571625"/>
            <a:ext cx="11358563" cy="8286750"/>
            <a:chOff x="-1428750" y="-2095500"/>
            <a:chExt cx="15144750" cy="11049000"/>
          </a:xfrm>
        </p:grpSpPr>
        <p:sp>
          <p:nvSpPr>
            <p:cNvPr id="855" name="Google Shape;855;p6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" name="Google Shape;856;p63"/>
            <p:cNvSpPr/>
            <p:nvPr/>
          </p:nvSpPr>
          <p:spPr>
            <a:xfrm>
              <a:off x="952500" y="647700"/>
              <a:ext cx="10287000" cy="5715000"/>
            </a:xfrm>
            <a:prstGeom prst="ellipse">
              <a:avLst/>
            </a:prstGeom>
            <a:gradFill>
              <a:gsLst>
                <a:gs pos="0">
                  <a:srgbClr val="E8854C">
                    <a:alpha val="7059"/>
                  </a:srgbClr>
                </a:gs>
                <a:gs pos="100000">
                  <a:srgbClr val="E8854C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" name="Google Shape;857;p63"/>
            <p:cNvSpPr/>
            <p:nvPr/>
          </p:nvSpPr>
          <p:spPr>
            <a:xfrm>
              <a:off x="-1428750" y="4762500"/>
              <a:ext cx="4191000" cy="4191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12157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" name="Google Shape;858;p63"/>
            <p:cNvSpPr/>
            <p:nvPr/>
          </p:nvSpPr>
          <p:spPr>
            <a:xfrm>
              <a:off x="9525000" y="-2095500"/>
              <a:ext cx="4191000" cy="4191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1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859" name="Google Shape;859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63"/>
          <p:cNvSpPr txBox="1"/>
          <p:nvPr/>
        </p:nvSpPr>
        <p:spPr>
          <a:xfrm>
            <a:off x="8650617" y="255745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61" name="Google Shape;861;p63"/>
          <p:cNvGrpSpPr/>
          <p:nvPr/>
        </p:nvGrpSpPr>
        <p:grpSpPr>
          <a:xfrm>
            <a:off x="1339160" y="1994535"/>
            <a:ext cx="6465679" cy="1177290"/>
            <a:chOff x="1785547" y="2659380"/>
            <a:chExt cx="8620906" cy="1569720"/>
          </a:xfrm>
        </p:grpSpPr>
        <p:sp>
          <p:nvSpPr>
            <p:cNvPr id="862" name="Google Shape;862;p63"/>
            <p:cNvSpPr txBox="1"/>
            <p:nvPr/>
          </p:nvSpPr>
          <p:spPr>
            <a:xfrm>
              <a:off x="1785547" y="2659380"/>
              <a:ext cx="8620906" cy="7315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00"/>
                <a:buFont typeface="Arial"/>
                <a:buNone/>
              </a:pPr>
              <a:r>
                <a:rPr b="1" i="0" lang="en" sz="2700" u="none" cap="none" strike="noStrike">
                  <a:solidFill>
                    <a:srgbClr val="EA580C"/>
                  </a:solidFill>
                  <a:latin typeface="Georgia"/>
                  <a:ea typeface="Georgia"/>
                  <a:cs typeface="Georgia"/>
                  <a:sym typeface="Georgia"/>
                </a:rPr>
                <a:t>没有在 AI 浪潮里做倍增、赚更多，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" name="Google Shape;863;p63"/>
            <p:cNvSpPr txBox="1"/>
            <p:nvPr/>
          </p:nvSpPr>
          <p:spPr>
            <a:xfrm>
              <a:off x="4394073" y="3497580"/>
              <a:ext cx="3403854" cy="7315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00"/>
                <a:buFont typeface="Arial"/>
                <a:buNone/>
              </a:pPr>
              <a:r>
                <a:rPr b="1" i="0" lang="en" sz="27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那是你的损失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64" name="Google Shape;864;p63"/>
          <p:cNvSpPr/>
          <p:nvPr/>
        </p:nvSpPr>
        <p:spPr>
          <a:xfrm>
            <a:off x="4357688" y="3086100"/>
            <a:ext cx="428625" cy="7144"/>
          </a:xfrm>
          <a:prstGeom prst="rect">
            <a:avLst/>
          </a:prstGeom>
          <a:solidFill>
            <a:srgbClr val="E2E8F0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63"/>
          <p:cNvSpPr txBox="1"/>
          <p:nvPr/>
        </p:nvSpPr>
        <p:spPr>
          <a:xfrm>
            <a:off x="3135425" y="3225749"/>
            <a:ext cx="2986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入场的最好时机，就是现在。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63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63"/>
          <p:cNvSpPr/>
          <p:nvPr/>
        </p:nvSpPr>
        <p:spPr>
          <a:xfrm>
            <a:off x="428625" y="1213252"/>
            <a:ext cx="2643300" cy="500100"/>
          </a:xfrm>
          <a:prstGeom prst="roundRect">
            <a:avLst>
              <a:gd fmla="val 14286" name="adj"/>
            </a:avLst>
          </a:prstGeom>
          <a:solidFill>
            <a:srgbClr val="F0FDF4"/>
          </a:solidFill>
          <a:ln cap="flat" cmpd="sng" w="14275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63"/>
          <p:cNvSpPr txBox="1"/>
          <p:nvPr/>
        </p:nvSpPr>
        <p:spPr>
          <a:xfrm>
            <a:off x="1111996" y="1281832"/>
            <a:ext cx="1276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16A34A"/>
                </a:solidFill>
                <a:latin typeface="Georgia"/>
                <a:ea typeface="Georgia"/>
                <a:cs typeface="Georgia"/>
                <a:sym typeface="Georgia"/>
              </a:rPr>
              <a:t>零基础也能学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63"/>
          <p:cNvSpPr txBox="1"/>
          <p:nvPr/>
        </p:nvSpPr>
        <p:spPr>
          <a:xfrm>
            <a:off x="544710" y="1514003"/>
            <a:ext cx="252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不需要编程背景 · 只需要你的专业积累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63"/>
          <p:cNvSpPr/>
          <p:nvPr/>
        </p:nvSpPr>
        <p:spPr>
          <a:xfrm>
            <a:off x="3250406" y="1213252"/>
            <a:ext cx="2643300" cy="500100"/>
          </a:xfrm>
          <a:prstGeom prst="roundRect">
            <a:avLst>
              <a:gd fmla="val 14286" name="adj"/>
            </a:avLst>
          </a:prstGeom>
          <a:solidFill>
            <a:srgbClr val="EFF6FF"/>
          </a:solidFill>
          <a:ln cap="flat" cmpd="sng" w="14275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63"/>
          <p:cNvSpPr txBox="1"/>
          <p:nvPr/>
        </p:nvSpPr>
        <p:spPr>
          <a:xfrm>
            <a:off x="3830264" y="1281832"/>
            <a:ext cx="1483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各行各业都适用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63"/>
          <p:cNvSpPr txBox="1"/>
          <p:nvPr/>
        </p:nvSpPr>
        <p:spPr>
          <a:xfrm>
            <a:off x="3434040" y="1514003"/>
            <a:ext cx="24609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医疗/法律/金融/营销…… 已有人成功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63"/>
          <p:cNvSpPr/>
          <p:nvPr/>
        </p:nvSpPr>
        <p:spPr>
          <a:xfrm>
            <a:off x="6072188" y="1213252"/>
            <a:ext cx="2643300" cy="500100"/>
          </a:xfrm>
          <a:prstGeom prst="roundRect">
            <a:avLst>
              <a:gd fmla="val 14286" name="adj"/>
            </a:avLst>
          </a:prstGeom>
          <a:solidFill>
            <a:srgbClr val="FFF7ED"/>
          </a:solidFill>
          <a:ln cap="flat" cmpd="sng" w="14275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63"/>
          <p:cNvSpPr txBox="1"/>
          <p:nvPr/>
        </p:nvSpPr>
        <p:spPr>
          <a:xfrm>
            <a:off x="6812491" y="1281832"/>
            <a:ext cx="1162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Georgia"/>
                <a:ea typeface="Georgia"/>
                <a:cs typeface="Georgia"/>
                <a:sym typeface="Georgia"/>
              </a:rPr>
              <a:t>效率翻 10 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63"/>
          <p:cNvSpPr txBox="1"/>
          <p:nvPr/>
        </p:nvSpPr>
        <p:spPr>
          <a:xfrm>
            <a:off x="6716696" y="1514003"/>
            <a:ext cx="18123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省出时间 · 还能用 AI 赚钱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64"/>
          <p:cNvSpPr/>
          <p:nvPr/>
        </p:nvSpPr>
        <p:spPr>
          <a:xfrm>
            <a:off x="0" y="104817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1" name="Google Shape;881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67" y="105575"/>
            <a:ext cx="454539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64"/>
          <p:cNvSpPr txBox="1"/>
          <p:nvPr/>
        </p:nvSpPr>
        <p:spPr>
          <a:xfrm>
            <a:off x="8650617" y="255745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64"/>
          <p:cNvSpPr txBox="1"/>
          <p:nvPr/>
        </p:nvSpPr>
        <p:spPr>
          <a:xfrm>
            <a:off x="555899" y="242899"/>
            <a:ext cx="8498219" cy="3940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今天报名，选你的起点，8/09  和8/16 8:30pm EST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64"/>
          <p:cNvSpPr/>
          <p:nvPr/>
        </p:nvSpPr>
        <p:spPr>
          <a:xfrm>
            <a:off x="4307681" y="585788"/>
            <a:ext cx="528638" cy="142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5" name="Google Shape;885;p64"/>
          <p:cNvSpPr/>
          <p:nvPr/>
        </p:nvSpPr>
        <p:spPr>
          <a:xfrm>
            <a:off x="6065044" y="628650"/>
            <a:ext cx="628650" cy="157163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64"/>
          <p:cNvSpPr txBox="1"/>
          <p:nvPr/>
        </p:nvSpPr>
        <p:spPr>
          <a:xfrm>
            <a:off x="6201873" y="656868"/>
            <a:ext cx="35499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最划算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64"/>
          <p:cNvSpPr/>
          <p:nvPr/>
        </p:nvSpPr>
        <p:spPr>
          <a:xfrm>
            <a:off x="571450" y="734224"/>
            <a:ext cx="3786300" cy="2885700"/>
          </a:xfrm>
          <a:prstGeom prst="roundRect">
            <a:avLst>
              <a:gd fmla="val 2264" name="adj"/>
            </a:avLst>
          </a:prstGeom>
          <a:solidFill>
            <a:srgbClr val="FFFFFF"/>
          </a:solidFill>
          <a:ln cap="flat" cmpd="sng" w="14275">
            <a:solidFill>
              <a:srgbClr val="4F52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64"/>
          <p:cNvSpPr/>
          <p:nvPr/>
        </p:nvSpPr>
        <p:spPr>
          <a:xfrm>
            <a:off x="571500" y="821524"/>
            <a:ext cx="3786188" cy="893445"/>
          </a:xfrm>
          <a:custGeom>
            <a:rect b="b" l="l" r="r" t="t"/>
            <a:pathLst>
              <a:path extrusionOk="0" h="1066800" w="5048250">
                <a:moveTo>
                  <a:pt x="114300" y="0"/>
                </a:moveTo>
                <a:lnTo>
                  <a:pt x="4933950" y="0"/>
                </a:lnTo>
                <a:cubicBezTo>
                  <a:pt x="5010150" y="0"/>
                  <a:pt x="5048250" y="38100"/>
                  <a:pt x="5048250" y="114300"/>
                </a:cubicBezTo>
                <a:lnTo>
                  <a:pt x="5048250" y="1066800"/>
                </a:lnTo>
                <a:lnTo>
                  <a:pt x="0" y="1066800"/>
                </a:lnTo>
                <a:lnTo>
                  <a:pt x="0" y="114300"/>
                </a:lnTo>
                <a:cubicBezTo>
                  <a:pt x="0" y="38100"/>
                  <a:pt x="38100" y="0"/>
                  <a:pt x="114300" y="0"/>
                </a:cubicBezTo>
                <a:close/>
              </a:path>
            </a:pathLst>
          </a:custGeom>
          <a:solidFill>
            <a:srgbClr val="4F46E5">
              <a:alpha val="1215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64"/>
          <p:cNvSpPr/>
          <p:nvPr/>
        </p:nvSpPr>
        <p:spPr>
          <a:xfrm>
            <a:off x="714375" y="914400"/>
            <a:ext cx="314325" cy="157163"/>
          </a:xfrm>
          <a:prstGeom prst="roundRect">
            <a:avLst>
              <a:gd fmla="val 50000" name="adj"/>
            </a:avLst>
          </a:prstGeom>
          <a:solidFill>
            <a:srgbClr val="4F46E5">
              <a:alpha val="3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64"/>
          <p:cNvSpPr txBox="1"/>
          <p:nvPr/>
        </p:nvSpPr>
        <p:spPr>
          <a:xfrm>
            <a:off x="750112" y="942618"/>
            <a:ext cx="2428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单节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64"/>
          <p:cNvSpPr txBox="1"/>
          <p:nvPr/>
        </p:nvSpPr>
        <p:spPr>
          <a:xfrm>
            <a:off x="2273513" y="982980"/>
            <a:ext cx="1167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$199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64"/>
          <p:cNvSpPr txBox="1"/>
          <p:nvPr/>
        </p:nvSpPr>
        <p:spPr>
          <a:xfrm>
            <a:off x="2124551" y="15601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任选一节课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3" name="Google Shape;893;p64"/>
          <p:cNvSpPr/>
          <p:nvPr/>
        </p:nvSpPr>
        <p:spPr>
          <a:xfrm>
            <a:off x="714375" y="1743075"/>
            <a:ext cx="3500438" cy="7144"/>
          </a:xfrm>
          <a:prstGeom prst="rect">
            <a:avLst/>
          </a:prstGeom>
          <a:solidFill>
            <a:srgbClr val="4F52A8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64"/>
          <p:cNvSpPr/>
          <p:nvPr/>
        </p:nvSpPr>
        <p:spPr>
          <a:xfrm>
            <a:off x="821531" y="1964531"/>
            <a:ext cx="71438" cy="71438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p64"/>
          <p:cNvSpPr txBox="1"/>
          <p:nvPr/>
        </p:nvSpPr>
        <p:spPr>
          <a:xfrm>
            <a:off x="1001550" y="1926675"/>
            <a:ext cx="2895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任选课程 1（Cowork） 或课程 2（Claude Code）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6" name="Google Shape;896;p64"/>
          <p:cNvSpPr/>
          <p:nvPr/>
        </p:nvSpPr>
        <p:spPr>
          <a:xfrm>
            <a:off x="821531" y="2293081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64"/>
          <p:cNvSpPr txBox="1"/>
          <p:nvPr/>
        </p:nvSpPr>
        <p:spPr>
          <a:xfrm>
            <a:off x="1001554" y="2255219"/>
            <a:ext cx="13565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配套讲义与演示项目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64"/>
          <p:cNvSpPr/>
          <p:nvPr/>
        </p:nvSpPr>
        <p:spPr>
          <a:xfrm>
            <a:off x="821531" y="3048385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9" name="Google Shape;899;p64"/>
          <p:cNvSpPr txBox="1"/>
          <p:nvPr/>
        </p:nvSpPr>
        <p:spPr>
          <a:xfrm>
            <a:off x="1001554" y="3010523"/>
            <a:ext cx="617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64"/>
          <p:cNvSpPr/>
          <p:nvPr/>
        </p:nvSpPr>
        <p:spPr>
          <a:xfrm>
            <a:off x="821531" y="3421856"/>
            <a:ext cx="71438" cy="71438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64"/>
          <p:cNvSpPr txBox="1"/>
          <p:nvPr/>
        </p:nvSpPr>
        <p:spPr>
          <a:xfrm>
            <a:off x="1001551" y="3384000"/>
            <a:ext cx="1891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专属学员支持群 + 组织答疑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64"/>
          <p:cNvSpPr/>
          <p:nvPr/>
        </p:nvSpPr>
        <p:spPr>
          <a:xfrm>
            <a:off x="4786325" y="821525"/>
            <a:ext cx="3786300" cy="2798400"/>
          </a:xfrm>
          <a:prstGeom prst="roundRect">
            <a:avLst>
              <a:gd fmla="val 2264" name="adj"/>
            </a:avLst>
          </a:prstGeom>
          <a:solidFill>
            <a:srgbClr val="FFFFFF"/>
          </a:solidFill>
          <a:ln cap="flat" cmpd="sng" w="19050">
            <a:solidFill>
              <a:srgbClr val="EA580C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64"/>
          <p:cNvSpPr/>
          <p:nvPr/>
        </p:nvSpPr>
        <p:spPr>
          <a:xfrm>
            <a:off x="4786325" y="821524"/>
            <a:ext cx="3786188" cy="893445"/>
          </a:xfrm>
          <a:custGeom>
            <a:rect b="b" l="l" r="r" t="t"/>
            <a:pathLst>
              <a:path extrusionOk="0" h="1066800" w="5048250">
                <a:moveTo>
                  <a:pt x="114300" y="0"/>
                </a:moveTo>
                <a:lnTo>
                  <a:pt x="4933950" y="0"/>
                </a:lnTo>
                <a:cubicBezTo>
                  <a:pt x="5010150" y="0"/>
                  <a:pt x="5048250" y="38100"/>
                  <a:pt x="5048250" y="114300"/>
                </a:cubicBezTo>
                <a:lnTo>
                  <a:pt x="5048250" y="1066800"/>
                </a:lnTo>
                <a:lnTo>
                  <a:pt x="0" y="1066800"/>
                </a:lnTo>
                <a:lnTo>
                  <a:pt x="0" y="114300"/>
                </a:lnTo>
                <a:cubicBezTo>
                  <a:pt x="0" y="38100"/>
                  <a:pt x="38100" y="0"/>
                  <a:pt x="114300" y="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64"/>
          <p:cNvSpPr/>
          <p:nvPr/>
        </p:nvSpPr>
        <p:spPr>
          <a:xfrm>
            <a:off x="4929188" y="914400"/>
            <a:ext cx="542925" cy="157163"/>
          </a:xfrm>
          <a:prstGeom prst="roundRect">
            <a:avLst>
              <a:gd fmla="val 50000" name="adj"/>
            </a:avLst>
          </a:prstGeom>
          <a:solidFill>
            <a:srgbClr val="FAFAF8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64"/>
          <p:cNvSpPr txBox="1"/>
          <p:nvPr/>
        </p:nvSpPr>
        <p:spPr>
          <a:xfrm>
            <a:off x="4892109" y="935300"/>
            <a:ext cx="617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两节全包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64"/>
          <p:cNvSpPr/>
          <p:nvPr/>
        </p:nvSpPr>
        <p:spPr>
          <a:xfrm>
            <a:off x="7886700" y="914400"/>
            <a:ext cx="514350" cy="157163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64"/>
          <p:cNvSpPr txBox="1"/>
          <p:nvPr/>
        </p:nvSpPr>
        <p:spPr>
          <a:xfrm>
            <a:off x="7969183" y="942618"/>
            <a:ext cx="349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省 $49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64"/>
          <p:cNvSpPr txBox="1"/>
          <p:nvPr/>
        </p:nvSpPr>
        <p:spPr>
          <a:xfrm>
            <a:off x="6419317" y="982980"/>
            <a:ext cx="1305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$349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64"/>
          <p:cNvSpPr/>
          <p:nvPr/>
        </p:nvSpPr>
        <p:spPr>
          <a:xfrm>
            <a:off x="4929188" y="1743075"/>
            <a:ext cx="3500438" cy="7144"/>
          </a:xfrm>
          <a:prstGeom prst="rect">
            <a:avLst/>
          </a:prstGeom>
          <a:solidFill>
            <a:srgbClr val="EA580C">
              <a:alpha val="4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p64"/>
          <p:cNvSpPr/>
          <p:nvPr/>
        </p:nvSpPr>
        <p:spPr>
          <a:xfrm>
            <a:off x="5036344" y="1964531"/>
            <a:ext cx="71438" cy="7143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64"/>
          <p:cNvSpPr txBox="1"/>
          <p:nvPr/>
        </p:nvSpPr>
        <p:spPr>
          <a:xfrm>
            <a:off x="5216386" y="1926674"/>
            <a:ext cx="2992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课程 1（Cowork）+ 课程 2（Claude Code） 全包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64"/>
          <p:cNvSpPr/>
          <p:nvPr/>
        </p:nvSpPr>
        <p:spPr>
          <a:xfrm>
            <a:off x="5036344" y="2300568"/>
            <a:ext cx="71400" cy="71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3" name="Google Shape;913;p64"/>
          <p:cNvSpPr txBox="1"/>
          <p:nvPr/>
        </p:nvSpPr>
        <p:spPr>
          <a:xfrm>
            <a:off x="5216366" y="2262706"/>
            <a:ext cx="13565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配套讲义与演示项目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64"/>
          <p:cNvSpPr/>
          <p:nvPr/>
        </p:nvSpPr>
        <p:spPr>
          <a:xfrm>
            <a:off x="5036344" y="3085819"/>
            <a:ext cx="71400" cy="71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64"/>
          <p:cNvSpPr txBox="1"/>
          <p:nvPr/>
        </p:nvSpPr>
        <p:spPr>
          <a:xfrm>
            <a:off x="5216366" y="3047957"/>
            <a:ext cx="617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6" name="Google Shape;916;p64"/>
          <p:cNvSpPr/>
          <p:nvPr/>
        </p:nvSpPr>
        <p:spPr>
          <a:xfrm>
            <a:off x="5036344" y="3421856"/>
            <a:ext cx="71438" cy="7143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64"/>
          <p:cNvSpPr txBox="1"/>
          <p:nvPr/>
        </p:nvSpPr>
        <p:spPr>
          <a:xfrm>
            <a:off x="5216366" y="3383994"/>
            <a:ext cx="2118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专属学员支持群 + 组织答疑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64"/>
          <p:cNvSpPr txBox="1"/>
          <p:nvPr/>
        </p:nvSpPr>
        <p:spPr>
          <a:xfrm>
            <a:off x="6356008" y="4105513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立即报名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64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64"/>
          <p:cNvSpPr/>
          <p:nvPr/>
        </p:nvSpPr>
        <p:spPr>
          <a:xfrm>
            <a:off x="816706" y="2670088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64"/>
          <p:cNvSpPr txBox="1"/>
          <p:nvPr/>
        </p:nvSpPr>
        <p:spPr>
          <a:xfrm>
            <a:off x="996729" y="2632226"/>
            <a:ext cx="13565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课后实战项目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64"/>
          <p:cNvSpPr/>
          <p:nvPr/>
        </p:nvSpPr>
        <p:spPr>
          <a:xfrm>
            <a:off x="5031519" y="2700036"/>
            <a:ext cx="71400" cy="71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64"/>
          <p:cNvSpPr txBox="1"/>
          <p:nvPr/>
        </p:nvSpPr>
        <p:spPr>
          <a:xfrm>
            <a:off x="5211541" y="2662174"/>
            <a:ext cx="13565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课后实战项目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4" name="Google Shape;924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35450" y="3717219"/>
            <a:ext cx="1356599" cy="1344431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pic>
      <p:sp>
        <p:nvSpPr>
          <p:cNvPr id="925" name="Google Shape;925;p64"/>
          <p:cNvSpPr/>
          <p:nvPr/>
        </p:nvSpPr>
        <p:spPr>
          <a:xfrm>
            <a:off x="268750" y="3941187"/>
            <a:ext cx="6057900" cy="785700"/>
          </a:xfrm>
          <a:prstGeom prst="roundRect">
            <a:avLst>
              <a:gd fmla="val 7273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64"/>
          <p:cNvSpPr txBox="1"/>
          <p:nvPr/>
        </p:nvSpPr>
        <p:spPr>
          <a:xfrm>
            <a:off x="448127" y="3987475"/>
            <a:ext cx="1309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1800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Payment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7" name="Google Shape;927;p64"/>
          <p:cNvSpPr txBox="1"/>
          <p:nvPr/>
        </p:nvSpPr>
        <p:spPr>
          <a:xfrm>
            <a:off x="1559325" y="3941175"/>
            <a:ext cx="4785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2400" u="none" cap="none" strike="noStrike">
                <a:solidFill>
                  <a:srgbClr val="1C19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Zelle： info@elitecoach101.com</a:t>
            </a:r>
            <a:endParaRPr b="1" i="0" sz="2400" u="none" cap="none" strike="noStrike">
              <a:solidFill>
                <a:srgbClr val="000000"/>
              </a:solidFill>
            </a:endParaRPr>
          </a:p>
        </p:txBody>
      </p:sp>
      <p:sp>
        <p:nvSpPr>
          <p:cNvPr id="928" name="Google Shape;928;p64"/>
          <p:cNvSpPr txBox="1"/>
          <p:nvPr/>
        </p:nvSpPr>
        <p:spPr>
          <a:xfrm>
            <a:off x="3727778" y="4478550"/>
            <a:ext cx="4481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1800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Wechat： </a:t>
            </a:r>
            <a:r>
              <a:rPr b="1" lang="en" sz="1800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atlanta711</a:t>
            </a:r>
            <a:endParaRPr b="1" i="0" sz="1800" u="none" cap="none" strike="noStrike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