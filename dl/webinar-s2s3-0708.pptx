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81" r:id="rId4"/>
    <p:sldMasterId id="2147483682" r:id="rId5"/>
    <p:sldMasterId id="214748368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0ef2e7707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" name="Google Shape;202;g3f0ef2e7707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开场白：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"大家好，我是 Austin，今晚这个 30 分钟的直播，我要教你一件事——怎么把你脑子里的专业知识，变成一个真正可以运行的 AI 工具。不是做个 ChatGPT 对话，是真的能帮你工作的那种。"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提示：等人进直播间，可以先聊聊大家在哪座城市、做什么行业。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0ef2e7707_2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1" name="Google Shape;271;g3f0ef2e7707_2_1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f0ef2e7707_2_18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2" name="Google Shape;312;g3f0ef2e7707_2_18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"今晚我给大家三样干货——第一，炒股方法论文档，S3 课程的核心内容；第二，Design System 模板文件，S4 课程的核心素材；第三，更重要的是，你会理解怎么用这套思路把自己的专业做成 AI 产品。"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提示：提醒大家把链接记下来，后面会有机会下载。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f0ef2e7707_2_2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1" name="Google Shape;351;g3f0ef2e7707_2_2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"我来问你一个问题——你有没有这种感觉，你在某个领域积累了很多年，但是你的经验只能在你亲自工作的时候才能发挥作用？你睡着了它就停了，你不在场它就没了。"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停顿，让观众思考。"这个问题，AI 可以解决。"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f439a8afa8_0_27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0" name="Google Shape;390;g3f439a8afa8_0_27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核心信息： Charlie个人对AI的战略判断（2-3分钟，这是全场最重要的部分之一）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讲解要点（Charlie填入自己的真实判断）：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判断1：未来5年，AI将重新定义知识型岗位——用自己亲眼看到的案例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判断2：身边最厉害的人都在用AI打10倍杠杆——具体例子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判断3：窗口期就在这2-3年，所以选择现在系统性投入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注意： 这里用第一人称，讲自己的真实判断和经历，不是泛泛而谈。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语气： 自信、笃定，不是建议，是宣言。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切换到P05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f0ef2e7707_2_30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2" name="Google Shape;452;g3f0ef2e7707_2_30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"这就是今天最核心的一句话——专业知识 × Claude = 可运行 AI 产品。不是知识 + AI，是乘法，是你的专业让 AI 变得有价值。没有你的专业知识，AI 只是通用工具。"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可以停顿让这句话沉淀。"今天我们演示两个案例，一个是炒股，一个是知识服务网站。"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0ef2e7707_2_3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0ef2e7707_2_3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"Claude Code 是一个跑在终端里的 AI，它不是你打开网页对话的那种。它真正理解你整个项目，你所有的文件，你的工作流。最重要的是，你可以把你的判断逻辑写成 Skill 文件，让它照着跑。"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强调：Skill 文件是今天的核心概念，下一页要演示。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f0ef2e7707_2_4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g3f0ef2e7707_2_42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f0ef2e7707_2_3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3" name="Google Shape;633;g3f0ef2e7707_2_3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"好，S3 的干货现在发给大家。打开 learn.austinxyz.ai，如果你是 S3 学员，登录后在学员页面可以下载完整的炒股方法论文档包，包含 BAIT、SEPA、Moneyball 三套框架。"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提示：在直播间发一下链接，等大家反应一下是否能打开。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g3f0ef2e7707_2_5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6" name="Google Shape;666;g3f0ef2e7707_2_5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"现在我们换一个场景——知识服务。你有没有这三个问题：有人想问你，你不在线；重复的问题每次亲自回答；你的方法论没有载体，无法传播。这三个问题，S4 课程解决的就是这个。"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让大家在直播间打"1"如果有这个问题。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f439a8afa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g3f439a8afa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f439a8afa8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9" name="Google Shape;799;g3f439a8afa8_0_1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f0ef2e7707_2_57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1" name="Google Shape;851;g3f0ef2e7707_2_57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"这是 S4 课程的成品——左边是一个完整的知识服务落地页，右边是嵌入式的 Chatbot，访客打开网站就能直接问问题，AI 用你的知识库来回答。（直播时替换为真实截图）"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强调：这是一个人一天做出来的，不需要设计经验，不需要写代码。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g3f0ef2e7707_2_6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7" name="Google Shape;897;g3f0ef2e7707_2_69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"好，现在我们来现场演示。我要用 Claude Design 设计一个网站，然后用 Claude Code 把它部署上线，全程直播，不剪辑。"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切换到演示屏幕。确保 claude.ai 已经打开，Design System 文件已经上传到 Project。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3f0ef2e7707_2_74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0" name="Google Shape;950;g3f0ef2e7707_2_74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"演示完了。S4 的干货也发给大家——打开 learn.austinxyz.ai，S4 学员页面有 Design System 文件包，包含颜色、字体、组件规范，可以直接拖进 Claude Design 用。"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提示：在直播间再发一次链接。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0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g3f0ef2e7707_2_7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82" name="Google Shape;982;g3f0ef2e7707_2_77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0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g3f0ef2e7707_2_8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2" name="Google Shape;1032;g3f0ef2e7707_2_8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"所有今天提到的工具和链接我都整理在这里。Claude Code 在 claude.ai/code，文档在 docs.anthropic.com，报名平台是 elitecoach101.com，课程资料是 learn.austinxyz.ai。"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可以简单过一遍，不需要逐一点击。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9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g3f0ef2e7707_2_87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1" name="Google Shape;1071;g3f0ef2e7707_2_87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结语：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"好，今晚就到这里。记住这个公式——专业知识 × Claude = 可运行 AI 产品。你有多年的积累，Claude 给你一个放大器。希望 S3 和 S4 里再见，谢谢大家。"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等直播间留言结束后退出直播。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6"/>
          <p:cNvSpPr txBox="1"/>
          <p:nvPr>
            <p:ph idx="1" type="subTitle"/>
          </p:nvPr>
        </p:nvSpPr>
        <p:spPr>
          <a:xfrm>
            <a:off x="1028700" y="2914650"/>
            <a:ext cx="4800600" cy="13144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4" name="Google Shape;134;p2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6" name="Google Shape;136;p2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3" name="Google Shape;143;p28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4" name="Google Shape;144;p2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5" name="Google Shape;145;p2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9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9" name="Google Shape;149;p29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0" name="Google Shape;150;p2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1" name="Google Shape;151;p2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30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6" name="Google Shape;156;p30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7" name="Google Shape;157;p3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3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9" name="Google Shape;159;p3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1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31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3" name="Google Shape;163;p31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4" name="Google Shape;164;p31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5" name="Google Shape;165;p31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6" name="Google Shape;166;p3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3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8" name="Google Shape;168;p3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2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1" name="Google Shape;171;p3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2" name="Google Shape;172;p3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3" name="Google Shape;173;p3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33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77" name="Google Shape;177;p33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78" name="Google Shape;178;p3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9" name="Google Shape;179;p3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3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4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34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34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85" name="Google Shape;185;p3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6" name="Google Shape;186;p3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7" name="Google Shape;187;p3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0" name="Google Shape;190;p35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1" name="Google Shape;191;p3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2" name="Google Shape;192;p3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3" name="Google Shape;193;p3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6" name="Google Shape;196;p36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7" name="Google Shape;197;p3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8" name="Google Shape;198;p3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9" name="Google Shape;199;p3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Relationship Id="rId4" Type="http://schemas.openxmlformats.org/officeDocument/2006/relationships/hyperlink" Target="http://ppt/media/image5.jpg" TargetMode="External"/><Relationship Id="rId5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5" name="Google Shape;205;p37"/>
          <p:cNvGrpSpPr/>
          <p:nvPr/>
        </p:nvGrpSpPr>
        <p:grpSpPr>
          <a:xfrm>
            <a:off x="553641" y="553641"/>
            <a:ext cx="892969" cy="1464469"/>
            <a:chOff x="738188" y="738188"/>
            <a:chExt cx="1190625" cy="1952625"/>
          </a:xfrm>
        </p:grpSpPr>
        <p:sp>
          <p:nvSpPr>
            <p:cNvPr id="206" name="Google Shape;206;p37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37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37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37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37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37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37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37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37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37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37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37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37"/>
            <p:cNvSpPr/>
            <p:nvPr/>
          </p:nvSpPr>
          <p:spPr>
            <a:xfrm>
              <a:off x="738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37"/>
            <p:cNvSpPr/>
            <p:nvPr/>
          </p:nvSpPr>
          <p:spPr>
            <a:xfrm>
              <a:off x="1119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37"/>
            <p:cNvSpPr/>
            <p:nvPr/>
          </p:nvSpPr>
          <p:spPr>
            <a:xfrm>
              <a:off x="1500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37"/>
            <p:cNvSpPr/>
            <p:nvPr/>
          </p:nvSpPr>
          <p:spPr>
            <a:xfrm>
              <a:off x="1881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37"/>
            <p:cNvSpPr/>
            <p:nvPr/>
          </p:nvSpPr>
          <p:spPr>
            <a:xfrm>
              <a:off x="738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37"/>
            <p:cNvSpPr/>
            <p:nvPr/>
          </p:nvSpPr>
          <p:spPr>
            <a:xfrm>
              <a:off x="1119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37"/>
            <p:cNvSpPr/>
            <p:nvPr/>
          </p:nvSpPr>
          <p:spPr>
            <a:xfrm>
              <a:off x="1500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37"/>
            <p:cNvSpPr/>
            <p:nvPr/>
          </p:nvSpPr>
          <p:spPr>
            <a:xfrm>
              <a:off x="1881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37"/>
            <p:cNvSpPr/>
            <p:nvPr/>
          </p:nvSpPr>
          <p:spPr>
            <a:xfrm>
              <a:off x="738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37"/>
            <p:cNvSpPr/>
            <p:nvPr/>
          </p:nvSpPr>
          <p:spPr>
            <a:xfrm>
              <a:off x="1119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37"/>
            <p:cNvSpPr/>
            <p:nvPr/>
          </p:nvSpPr>
          <p:spPr>
            <a:xfrm>
              <a:off x="1500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37"/>
            <p:cNvSpPr/>
            <p:nvPr/>
          </p:nvSpPr>
          <p:spPr>
            <a:xfrm>
              <a:off x="1881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0" name="Google Shape;230;p37"/>
          <p:cNvGrpSpPr/>
          <p:nvPr/>
        </p:nvGrpSpPr>
        <p:grpSpPr>
          <a:xfrm>
            <a:off x="7697391" y="3411141"/>
            <a:ext cx="892969" cy="1178719"/>
            <a:chOff x="10263188" y="4548188"/>
            <a:chExt cx="1190625" cy="1571625"/>
          </a:xfrm>
        </p:grpSpPr>
        <p:sp>
          <p:nvSpPr>
            <p:cNvPr id="231" name="Google Shape;231;p37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37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37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37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37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37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37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37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37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37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37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37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37"/>
            <p:cNvSpPr/>
            <p:nvPr/>
          </p:nvSpPr>
          <p:spPr>
            <a:xfrm>
              <a:off x="10263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37"/>
            <p:cNvSpPr/>
            <p:nvPr/>
          </p:nvSpPr>
          <p:spPr>
            <a:xfrm>
              <a:off x="10644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37"/>
            <p:cNvSpPr/>
            <p:nvPr/>
          </p:nvSpPr>
          <p:spPr>
            <a:xfrm>
              <a:off x="11025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37"/>
            <p:cNvSpPr/>
            <p:nvPr/>
          </p:nvSpPr>
          <p:spPr>
            <a:xfrm>
              <a:off x="11406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37"/>
            <p:cNvSpPr/>
            <p:nvPr/>
          </p:nvSpPr>
          <p:spPr>
            <a:xfrm>
              <a:off x="10263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37"/>
            <p:cNvSpPr/>
            <p:nvPr/>
          </p:nvSpPr>
          <p:spPr>
            <a:xfrm>
              <a:off x="10644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37"/>
            <p:cNvSpPr/>
            <p:nvPr/>
          </p:nvSpPr>
          <p:spPr>
            <a:xfrm>
              <a:off x="11025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37"/>
            <p:cNvSpPr/>
            <p:nvPr/>
          </p:nvSpPr>
          <p:spPr>
            <a:xfrm>
              <a:off x="11406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1" name="Google Shape;251;p37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7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7"/>
          <p:cNvSpPr txBox="1"/>
          <p:nvPr/>
        </p:nvSpPr>
        <p:spPr>
          <a:xfrm>
            <a:off x="3370993" y="531495"/>
            <a:ext cx="2402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 · S2 + S3 公开课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7"/>
          <p:cNvSpPr txBox="1"/>
          <p:nvPr/>
        </p:nvSpPr>
        <p:spPr>
          <a:xfrm>
            <a:off x="1829822" y="1410176"/>
            <a:ext cx="5484357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 </a:t>
            </a:r>
            <a:r>
              <a:rPr b="1" i="0" lang="en" sz="43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7"/>
          <p:cNvSpPr txBox="1"/>
          <p:nvPr/>
        </p:nvSpPr>
        <p:spPr>
          <a:xfrm>
            <a:off x="2124833" y="2081689"/>
            <a:ext cx="489433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可运行 </a:t>
            </a: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7"/>
          <p:cNvSpPr/>
          <p:nvPr/>
        </p:nvSpPr>
        <p:spPr>
          <a:xfrm>
            <a:off x="2428875" y="2671763"/>
            <a:ext cx="4286250" cy="28575"/>
          </a:xfrm>
          <a:prstGeom prst="roundRect">
            <a:avLst>
              <a:gd fmla="val 50000" name="adj"/>
            </a:avLst>
          </a:prstGeom>
          <a:solidFill>
            <a:srgbClr val="EA580C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7"/>
          <p:cNvSpPr txBox="1"/>
          <p:nvPr/>
        </p:nvSpPr>
        <p:spPr>
          <a:xfrm>
            <a:off x="3124141" y="2964656"/>
            <a:ext cx="289571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你的方法论 × AI 工具 = 真实可用的产品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7"/>
          <p:cNvSpPr/>
          <p:nvPr/>
        </p:nvSpPr>
        <p:spPr>
          <a:xfrm>
            <a:off x="2857500" y="3343275"/>
            <a:ext cx="3429000" cy="7144"/>
          </a:xfrm>
          <a:custGeom>
            <a:rect b="b" l="l" r="r" t="t"/>
            <a:pathLst>
              <a:path extrusionOk="0" h="9525" w="4572000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7"/>
          <p:cNvSpPr/>
          <p:nvPr/>
        </p:nvSpPr>
        <p:spPr>
          <a:xfrm>
            <a:off x="2814638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7"/>
          <p:cNvSpPr txBox="1"/>
          <p:nvPr/>
        </p:nvSpPr>
        <p:spPr>
          <a:xfrm>
            <a:off x="3068663" y="3545086"/>
            <a:ext cx="920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S2 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7"/>
          <p:cNvSpPr/>
          <p:nvPr/>
        </p:nvSpPr>
        <p:spPr>
          <a:xfrm>
            <a:off x="4900613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7"/>
          <p:cNvSpPr txBox="1"/>
          <p:nvPr/>
        </p:nvSpPr>
        <p:spPr>
          <a:xfrm>
            <a:off x="5099646" y="3545086"/>
            <a:ext cx="10306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S3 Claude Design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7"/>
          <p:cNvSpPr txBox="1"/>
          <p:nvPr/>
        </p:nvSpPr>
        <p:spPr>
          <a:xfrm>
            <a:off x="3522877" y="4025861"/>
            <a:ext cx="2098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Austin Xu · 硅谷 500 强工程经理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4" name="Google Shape;264;p37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265" name="Google Shape;265;p37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37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37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" name="Google Shape;268;p37"/>
          <p:cNvSpPr txBox="1"/>
          <p:nvPr/>
        </p:nvSpPr>
        <p:spPr>
          <a:xfrm>
            <a:off x="8431875" y="4921687"/>
            <a:ext cx="2642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8"/>
          <p:cNvSpPr/>
          <p:nvPr/>
        </p:nvSpPr>
        <p:spPr>
          <a:xfrm>
            <a:off x="0" y="0"/>
            <a:ext cx="9144000" cy="857400"/>
          </a:xfrm>
          <a:prstGeom prst="rect">
            <a:avLst/>
          </a:prstGeom>
          <a:gradFill>
            <a:gsLst>
              <a:gs pos="0">
                <a:srgbClr val="FFF7ED"/>
              </a:gs>
              <a:gs pos="100000">
                <a:srgbClr val="FAFAF8"/>
              </a:gs>
            </a:gsLst>
            <a:lin ang="0" scaled="0"/>
          </a:gra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5" name="Google Shape;275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38"/>
          <p:cNvSpPr/>
          <p:nvPr/>
        </p:nvSpPr>
        <p:spPr>
          <a:xfrm>
            <a:off x="428625" y="257175"/>
            <a:ext cx="35700" cy="342900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8"/>
          <p:cNvSpPr txBox="1"/>
          <p:nvPr/>
        </p:nvSpPr>
        <p:spPr>
          <a:xfrm>
            <a:off x="545783" y="238601"/>
            <a:ext cx="98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关于我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8"/>
          <p:cNvSpPr/>
          <p:nvPr/>
        </p:nvSpPr>
        <p:spPr>
          <a:xfrm>
            <a:off x="428625" y="7429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8"/>
          <p:cNvSpPr/>
          <p:nvPr/>
        </p:nvSpPr>
        <p:spPr>
          <a:xfrm>
            <a:off x="857250" y="1128713"/>
            <a:ext cx="1428900" cy="1428900"/>
          </a:xfrm>
          <a:prstGeom prst="ellipse">
            <a:avLst/>
          </a:prstGeom>
          <a:solidFill>
            <a:srgbClr val="FEF3C7"/>
          </a:solidFill>
          <a:ln cap="flat" cmpd="sng" w="381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0" name="Google Shape;280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825" y="1157288"/>
            <a:ext cx="1371600" cy="137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81" name="Google Shape;281;p38"/>
          <p:cNvSpPr txBox="1"/>
          <p:nvPr/>
        </p:nvSpPr>
        <p:spPr>
          <a:xfrm>
            <a:off x="1014218" y="2630329"/>
            <a:ext cx="1114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Austin Xu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8"/>
          <p:cNvSpPr txBox="1"/>
          <p:nvPr/>
        </p:nvSpPr>
        <p:spPr>
          <a:xfrm>
            <a:off x="842503" y="2866363"/>
            <a:ext cx="162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Engineering Manager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8"/>
          <p:cNvSpPr/>
          <p:nvPr/>
        </p:nvSpPr>
        <p:spPr>
          <a:xfrm>
            <a:off x="1028700" y="3043254"/>
            <a:ext cx="1086000" cy="24630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12700">
            <a:solidFill>
              <a:srgbClr val="EA580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8"/>
          <p:cNvSpPr txBox="1"/>
          <p:nvPr/>
        </p:nvSpPr>
        <p:spPr>
          <a:xfrm>
            <a:off x="682094" y="3026137"/>
            <a:ext cx="193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📍 San Jose, CA · </a:t>
            </a:r>
            <a:endParaRPr b="0" i="0" sz="1000" u="none" cap="none" strike="noStrike">
              <a:solidFill>
                <a:srgbClr val="EA58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500强企业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8"/>
          <p:cNvSpPr/>
          <p:nvPr/>
        </p:nvSpPr>
        <p:spPr>
          <a:xfrm>
            <a:off x="571500" y="3328988"/>
            <a:ext cx="2000250" cy="7144"/>
          </a:xfrm>
          <a:custGeom>
            <a:rect b="b" l="l" r="r" t="t"/>
            <a:pathLst>
              <a:path extrusionOk="0" h="9525" w="2667000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8"/>
          <p:cNvSpPr txBox="1"/>
          <p:nvPr/>
        </p:nvSpPr>
        <p:spPr>
          <a:xfrm>
            <a:off x="1148090" y="3409355"/>
            <a:ext cx="118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写了 20 年代码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8"/>
          <p:cNvSpPr txBox="1"/>
          <p:nvPr/>
        </p:nvSpPr>
        <p:spPr>
          <a:xfrm>
            <a:off x="855419" y="3566517"/>
            <a:ext cx="2005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现在用 AI 写得更快、更好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8"/>
          <p:cNvSpPr/>
          <p:nvPr/>
        </p:nvSpPr>
        <p:spPr>
          <a:xfrm>
            <a:off x="2928938" y="828675"/>
            <a:ext cx="7144" cy="3243263"/>
          </a:xfrm>
          <a:custGeom>
            <a:rect b="b" l="l" r="r" t="t"/>
            <a:pathLst>
              <a:path extrusionOk="0" h="4324350" w="9525">
                <a:moveTo>
                  <a:pt x="0" y="0"/>
                </a:moveTo>
                <a:lnTo>
                  <a:pt x="0" y="432435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8"/>
          <p:cNvSpPr/>
          <p:nvPr/>
        </p:nvSpPr>
        <p:spPr>
          <a:xfrm>
            <a:off x="3143250" y="8572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8"/>
          <p:cNvSpPr/>
          <p:nvPr/>
        </p:nvSpPr>
        <p:spPr>
          <a:xfrm>
            <a:off x="3143250" y="8572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8"/>
          <p:cNvSpPr/>
          <p:nvPr/>
        </p:nvSpPr>
        <p:spPr>
          <a:xfrm>
            <a:off x="3400425" y="1078706"/>
            <a:ext cx="342900" cy="3429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8"/>
          <p:cNvSpPr/>
          <p:nvPr/>
        </p:nvSpPr>
        <p:spPr>
          <a:xfrm>
            <a:off x="3429000" y="1107281"/>
            <a:ext cx="285750" cy="271463"/>
          </a:xfrm>
          <a:custGeom>
            <a:rect b="b" l="l" r="r" t="t"/>
            <a:pathLst>
              <a:path extrusionOk="0" h="361950" w="381000">
                <a:moveTo>
                  <a:pt x="381000" y="218656"/>
                </a:moveTo>
                <a:lnTo>
                  <a:pt x="381000" y="304800"/>
                </a:lnTo>
                <a:cubicBezTo>
                  <a:pt x="381000" y="336363"/>
                  <a:pt x="355413" y="361950"/>
                  <a:pt x="3238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18656"/>
                </a:lnTo>
                <a:lnTo>
                  <a:pt x="10535" y="223933"/>
                </a:lnTo>
                <a:cubicBezTo>
                  <a:pt x="123758" y="280963"/>
                  <a:pt x="257312" y="280949"/>
                  <a:pt x="370522" y="223895"/>
                </a:cubicBezTo>
                <a:lnTo>
                  <a:pt x="381000" y="218656"/>
                </a:lnTo>
                <a:close/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76200"/>
                </a:lnTo>
                <a:lnTo>
                  <a:pt x="323850" y="76200"/>
                </a:lnTo>
                <a:cubicBezTo>
                  <a:pt x="355413" y="76200"/>
                  <a:pt x="381000" y="101787"/>
                  <a:pt x="381000" y="133350"/>
                </a:cubicBezTo>
                <a:lnTo>
                  <a:pt x="381000" y="176060"/>
                </a:lnTo>
                <a:lnTo>
                  <a:pt x="353435" y="189852"/>
                </a:lnTo>
                <a:cubicBezTo>
                  <a:pt x="253484" y="240231"/>
                  <a:pt x="135850" y="241539"/>
                  <a:pt x="34804" y="193396"/>
                </a:cubicBezTo>
                <a:lnTo>
                  <a:pt x="22479" y="187300"/>
                </a:lnTo>
                <a:lnTo>
                  <a:pt x="0" y="176060"/>
                </a:lnTo>
                <a:lnTo>
                  <a:pt x="0" y="133350"/>
                </a:lnTo>
                <a:cubicBezTo>
                  <a:pt x="0" y="101787"/>
                  <a:pt x="25587" y="76200"/>
                  <a:pt x="57150" y="76200"/>
                </a:cubicBezTo>
                <a:lnTo>
                  <a:pt x="95250" y="76200"/>
                </a:lnTo>
                <a:lnTo>
                  <a:pt x="95250" y="57150"/>
                </a:lnTo>
                <a:cubicBezTo>
                  <a:pt x="95250" y="25587"/>
                  <a:pt x="120837" y="0"/>
                  <a:pt x="152400" y="0"/>
                </a:cubicBezTo>
                <a:lnTo>
                  <a:pt x="228600" y="0"/>
                </a:lnTo>
                <a:close/>
                <a:moveTo>
                  <a:pt x="190500" y="152400"/>
                </a:moveTo>
                <a:cubicBezTo>
                  <a:pt x="179979" y="152400"/>
                  <a:pt x="171450" y="160929"/>
                  <a:pt x="171450" y="171450"/>
                </a:cubicBezTo>
                <a:cubicBezTo>
                  <a:pt x="171416" y="178256"/>
                  <a:pt x="175015" y="184563"/>
                  <a:pt x="180893" y="187995"/>
                </a:cubicBezTo>
                <a:cubicBezTo>
                  <a:pt x="186770" y="191428"/>
                  <a:pt x="194031" y="191464"/>
                  <a:pt x="199943" y="188091"/>
                </a:cubicBezTo>
                <a:cubicBezTo>
                  <a:pt x="205854" y="184717"/>
                  <a:pt x="209516" y="178446"/>
                  <a:pt x="209550" y="171641"/>
                </a:cubicBezTo>
                <a:cubicBezTo>
                  <a:pt x="209550" y="160934"/>
                  <a:pt x="201016" y="152400"/>
                  <a:pt x="190500" y="152400"/>
                </a:cubicBezTo>
                <a:close/>
                <a:moveTo>
                  <a:pt x="228600" y="38100"/>
                </a:moveTo>
                <a:lnTo>
                  <a:pt x="152400" y="38100"/>
                </a:lnTo>
                <a:cubicBezTo>
                  <a:pt x="141879" y="38100"/>
                  <a:pt x="133350" y="46629"/>
                  <a:pt x="133350" y="57150"/>
                </a:cubicBezTo>
                <a:lnTo>
                  <a:pt x="133350" y="76200"/>
                </a:lnTo>
                <a:lnTo>
                  <a:pt x="247650" y="76200"/>
                </a:lnTo>
                <a:lnTo>
                  <a:pt x="247650" y="57150"/>
                </a:lnTo>
                <a:cubicBezTo>
                  <a:pt x="247650" y="46629"/>
                  <a:pt x="239121" y="38100"/>
                  <a:pt x="228600" y="38100"/>
                </a:cubicBez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8"/>
          <p:cNvSpPr txBox="1"/>
          <p:nvPr/>
        </p:nvSpPr>
        <p:spPr>
          <a:xfrm>
            <a:off x="3859769" y="1025486"/>
            <a:ext cx="73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大厂背景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8"/>
          <p:cNvSpPr txBox="1"/>
          <p:nvPr/>
        </p:nvSpPr>
        <p:spPr>
          <a:xfrm>
            <a:off x="3861911" y="1215152"/>
            <a:ext cx="4955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500强云平台 Leader · 支撑 </a:t>
            </a:r>
            <a:r>
              <a:rPr b="1" i="0" lang="en" sz="11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$74B+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GMV · 浙大硕士 · 软件工程 20 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8"/>
          <p:cNvSpPr/>
          <p:nvPr/>
        </p:nvSpPr>
        <p:spPr>
          <a:xfrm>
            <a:off x="3143250" y="17716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8"/>
          <p:cNvSpPr/>
          <p:nvPr/>
        </p:nvSpPr>
        <p:spPr>
          <a:xfrm>
            <a:off x="3143250" y="17716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8"/>
          <p:cNvSpPr/>
          <p:nvPr/>
        </p:nvSpPr>
        <p:spPr>
          <a:xfrm>
            <a:off x="3400425" y="1993105"/>
            <a:ext cx="342900" cy="3429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8"/>
          <p:cNvSpPr/>
          <p:nvPr/>
        </p:nvSpPr>
        <p:spPr>
          <a:xfrm>
            <a:off x="3456928" y="2021681"/>
            <a:ext cx="229894" cy="291051"/>
          </a:xfrm>
          <a:custGeom>
            <a:rect b="b" l="l" r="r" t="t"/>
            <a:pathLst>
              <a:path extrusionOk="0" h="388068" w="306525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8"/>
          <p:cNvSpPr txBox="1"/>
          <p:nvPr/>
        </p:nvSpPr>
        <p:spPr>
          <a:xfrm>
            <a:off x="3859769" y="1939886"/>
            <a:ext cx="935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真实落地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8"/>
          <p:cNvSpPr txBox="1"/>
          <p:nvPr/>
        </p:nvSpPr>
        <p:spPr>
          <a:xfrm>
            <a:off x="3861911" y="2129552"/>
            <a:ext cx="4947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500强内部 Claude Code 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头号用户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MCP + Agent 生产落地 · PR 翻倍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8"/>
          <p:cNvSpPr/>
          <p:nvPr/>
        </p:nvSpPr>
        <p:spPr>
          <a:xfrm>
            <a:off x="3143250" y="26860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/>
          <p:nvPr/>
        </p:nvSpPr>
        <p:spPr>
          <a:xfrm>
            <a:off x="3143250" y="26860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8"/>
          <p:cNvSpPr/>
          <p:nvPr/>
        </p:nvSpPr>
        <p:spPr>
          <a:xfrm>
            <a:off x="3400425" y="2907506"/>
            <a:ext cx="342900" cy="34290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8"/>
          <p:cNvSpPr/>
          <p:nvPr/>
        </p:nvSpPr>
        <p:spPr>
          <a:xfrm>
            <a:off x="3413969" y="2921823"/>
            <a:ext cx="315655" cy="300842"/>
          </a:xfrm>
          <a:custGeom>
            <a:rect b="b" l="l" r="r" t="t"/>
            <a:pathLst>
              <a:path extrusionOk="0" h="401123" w="420873">
                <a:moveTo>
                  <a:pt x="138970" y="120738"/>
                </a:moveTo>
                <a:lnTo>
                  <a:pt x="17431" y="138360"/>
                </a:lnTo>
                <a:lnTo>
                  <a:pt x="15279" y="138798"/>
                </a:lnTo>
                <a:cubicBezTo>
                  <a:pt x="8644" y="140559"/>
                  <a:pt x="3470" y="145753"/>
                  <a:pt x="1735" y="152394"/>
                </a:cubicBezTo>
                <a:cubicBezTo>
                  <a:pt x="0" y="159035"/>
                  <a:pt x="1972" y="166097"/>
                  <a:pt x="6897" y="170878"/>
                </a:cubicBezTo>
                <a:lnTo>
                  <a:pt x="94946" y="256584"/>
                </a:lnTo>
                <a:lnTo>
                  <a:pt x="74181" y="377647"/>
                </a:lnTo>
                <a:lnTo>
                  <a:pt x="73934" y="379742"/>
                </a:lnTo>
                <a:cubicBezTo>
                  <a:pt x="73527" y="386604"/>
                  <a:pt x="76850" y="393153"/>
                  <a:pt x="82627" y="396878"/>
                </a:cubicBezTo>
                <a:cubicBezTo>
                  <a:pt x="88404" y="400603"/>
                  <a:pt x="95740" y="400927"/>
                  <a:pt x="101823" y="397725"/>
                </a:cubicBezTo>
                <a:lnTo>
                  <a:pt x="210522" y="340575"/>
                </a:lnTo>
                <a:lnTo>
                  <a:pt x="318974" y="397725"/>
                </a:lnTo>
                <a:lnTo>
                  <a:pt x="320879" y="398602"/>
                </a:lnTo>
                <a:cubicBezTo>
                  <a:pt x="327281" y="401123"/>
                  <a:pt x="334545" y="399997"/>
                  <a:pt x="339883" y="395654"/>
                </a:cubicBezTo>
                <a:cubicBezTo>
                  <a:pt x="345220" y="391311"/>
                  <a:pt x="347801" y="384428"/>
                  <a:pt x="346634" y="377647"/>
                </a:cubicBezTo>
                <a:lnTo>
                  <a:pt x="325851" y="256584"/>
                </a:lnTo>
                <a:lnTo>
                  <a:pt x="413938" y="170859"/>
                </a:lnTo>
                <a:lnTo>
                  <a:pt x="415424" y="169240"/>
                </a:lnTo>
                <a:cubicBezTo>
                  <a:pt x="419745" y="163918"/>
                  <a:pt x="420873" y="156684"/>
                  <a:pt x="418378" y="150299"/>
                </a:cubicBezTo>
                <a:cubicBezTo>
                  <a:pt x="415883" y="143913"/>
                  <a:pt x="410150" y="139361"/>
                  <a:pt x="403365" y="138379"/>
                </a:cubicBezTo>
                <a:lnTo>
                  <a:pt x="281826" y="120738"/>
                </a:lnTo>
                <a:lnTo>
                  <a:pt x="227496" y="10629"/>
                </a:lnTo>
                <a:cubicBezTo>
                  <a:pt x="224289" y="4121"/>
                  <a:pt x="217663" y="0"/>
                  <a:pt x="210408" y="0"/>
                </a:cubicBezTo>
                <a:cubicBezTo>
                  <a:pt x="203152" y="0"/>
                  <a:pt x="196527" y="4121"/>
                  <a:pt x="193320" y="10629"/>
                </a:cubicBezTo>
                <a:lnTo>
                  <a:pt x="138970" y="12073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8"/>
          <p:cNvSpPr txBox="1"/>
          <p:nvPr/>
        </p:nvSpPr>
        <p:spPr>
          <a:xfrm>
            <a:off x="3859769" y="2854286"/>
            <a:ext cx="196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你也可能在生活中遇见我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8"/>
          <p:cNvSpPr txBox="1"/>
          <p:nvPr/>
        </p:nvSpPr>
        <p:spPr>
          <a:xfrm>
            <a:off x="3861911" y="3043952"/>
            <a:ext cx="427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USTA </a:t>
            </a:r>
            <a:r>
              <a:rPr b="1" i="0" lang="en" sz="11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全国冠军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网球/匹克球队长 · 积极参与北美华人社区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8"/>
          <p:cNvSpPr/>
          <p:nvPr/>
        </p:nvSpPr>
        <p:spPr>
          <a:xfrm>
            <a:off x="428625" y="3802425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8"/>
          <p:cNvSpPr txBox="1"/>
          <p:nvPr/>
        </p:nvSpPr>
        <p:spPr>
          <a:xfrm>
            <a:off x="2703597" y="3845205"/>
            <a:ext cx="5231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今天分享的，不是理论 — 是我在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真实生产环境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里踩过坑、跑通的东西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8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9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9"/>
          <p:cNvSpPr txBox="1"/>
          <p:nvPr/>
        </p:nvSpPr>
        <p:spPr>
          <a:xfrm>
            <a:off x="3969068" y="53149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今晚直播的收获预览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9"/>
          <p:cNvSpPr txBox="1"/>
          <p:nvPr/>
        </p:nvSpPr>
        <p:spPr>
          <a:xfrm>
            <a:off x="2911667" y="802243"/>
            <a:ext cx="3320665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今晚你会带走什么？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/>
          <p:nvPr/>
        </p:nvSpPr>
        <p:spPr>
          <a:xfrm>
            <a:off x="628650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39"/>
          <p:cNvSpPr/>
          <p:nvPr/>
        </p:nvSpPr>
        <p:spPr>
          <a:xfrm>
            <a:off x="628650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39"/>
          <p:cNvSpPr/>
          <p:nvPr/>
        </p:nvSpPr>
        <p:spPr>
          <a:xfrm>
            <a:off x="1435894" y="170021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39"/>
          <p:cNvSpPr/>
          <p:nvPr/>
        </p:nvSpPr>
        <p:spPr>
          <a:xfrm>
            <a:off x="1616867" y="1872654"/>
            <a:ext cx="401134" cy="402698"/>
          </a:xfrm>
          <a:custGeom>
            <a:rect b="b" l="l" r="r" t="t"/>
            <a:pathLst>
              <a:path extrusionOk="0" h="536931" w="534845">
                <a:moveTo>
                  <a:pt x="381003" y="45414"/>
                </a:moveTo>
                <a:cubicBezTo>
                  <a:pt x="487754" y="107046"/>
                  <a:pt x="534845" y="236428"/>
                  <a:pt x="492684" y="352259"/>
                </a:cubicBezTo>
                <a:cubicBezTo>
                  <a:pt x="450524" y="468090"/>
                  <a:pt x="331285" y="536931"/>
                  <a:pt x="209892" y="515525"/>
                </a:cubicBezTo>
                <a:cubicBezTo>
                  <a:pt x="88500" y="494118"/>
                  <a:pt x="0" y="388643"/>
                  <a:pt x="3" y="265378"/>
                </a:cubicBezTo>
                <a:lnTo>
                  <a:pt x="130" y="257148"/>
                </a:lnTo>
                <a:cubicBezTo>
                  <a:pt x="3024" y="167917"/>
                  <a:pt x="52551" y="86757"/>
                  <a:pt x="130582" y="43379"/>
                </a:cubicBezTo>
                <a:cubicBezTo>
                  <a:pt x="208612" y="0"/>
                  <a:pt x="303688" y="773"/>
                  <a:pt x="381003" y="45414"/>
                </a:cubicBezTo>
                <a:moveTo>
                  <a:pt x="221161" y="196620"/>
                </a:moveTo>
                <a:cubicBezTo>
                  <a:pt x="211242" y="186704"/>
                  <a:pt x="195164" y="186704"/>
                  <a:pt x="185245" y="196620"/>
                </a:cubicBezTo>
                <a:lnTo>
                  <a:pt x="134445" y="247420"/>
                </a:lnTo>
                <a:cubicBezTo>
                  <a:pt x="124530" y="257339"/>
                  <a:pt x="124530" y="273417"/>
                  <a:pt x="134445" y="283335"/>
                </a:cubicBezTo>
                <a:lnTo>
                  <a:pt x="185245" y="334135"/>
                </a:lnTo>
                <a:cubicBezTo>
                  <a:pt x="195164" y="344051"/>
                  <a:pt x="211242" y="344051"/>
                  <a:pt x="221161" y="334135"/>
                </a:cubicBezTo>
                <a:lnTo>
                  <a:pt x="223269" y="331748"/>
                </a:lnTo>
                <a:cubicBezTo>
                  <a:pt x="231113" y="321636"/>
                  <a:pt x="230209" y="307269"/>
                  <a:pt x="221161" y="298220"/>
                </a:cubicBezTo>
                <a:lnTo>
                  <a:pt x="188344" y="265378"/>
                </a:lnTo>
                <a:lnTo>
                  <a:pt x="221161" y="232535"/>
                </a:lnTo>
                <a:cubicBezTo>
                  <a:pt x="231077" y="222617"/>
                  <a:pt x="231077" y="206539"/>
                  <a:pt x="221161" y="196620"/>
                </a:cubicBezTo>
                <a:moveTo>
                  <a:pt x="322761" y="196620"/>
                </a:moveTo>
                <a:cubicBezTo>
                  <a:pt x="312842" y="186704"/>
                  <a:pt x="296764" y="186704"/>
                  <a:pt x="286845" y="196620"/>
                </a:cubicBezTo>
                <a:lnTo>
                  <a:pt x="284737" y="199007"/>
                </a:lnTo>
                <a:cubicBezTo>
                  <a:pt x="276894" y="209119"/>
                  <a:pt x="277797" y="223486"/>
                  <a:pt x="286845" y="232535"/>
                </a:cubicBezTo>
                <a:lnTo>
                  <a:pt x="319662" y="265378"/>
                </a:lnTo>
                <a:lnTo>
                  <a:pt x="286845" y="298220"/>
                </a:lnTo>
                <a:cubicBezTo>
                  <a:pt x="277219" y="308186"/>
                  <a:pt x="277357" y="324028"/>
                  <a:pt x="287155" y="333826"/>
                </a:cubicBezTo>
                <a:cubicBezTo>
                  <a:pt x="296952" y="343624"/>
                  <a:pt x="312795" y="343761"/>
                  <a:pt x="322761" y="334135"/>
                </a:cubicBezTo>
                <a:lnTo>
                  <a:pt x="373561" y="283335"/>
                </a:lnTo>
                <a:cubicBezTo>
                  <a:pt x="383477" y="273417"/>
                  <a:pt x="383477" y="257339"/>
                  <a:pt x="373561" y="24742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39"/>
          <p:cNvSpPr txBox="1"/>
          <p:nvPr/>
        </p:nvSpPr>
        <p:spPr>
          <a:xfrm>
            <a:off x="1046791" y="2566749"/>
            <a:ext cx="152115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看懂 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9"/>
          <p:cNvSpPr txBox="1"/>
          <p:nvPr/>
        </p:nvSpPr>
        <p:spPr>
          <a:xfrm>
            <a:off x="1269846" y="2823567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它是什么·能做什么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9"/>
          <p:cNvSpPr txBox="1"/>
          <p:nvPr/>
        </p:nvSpPr>
        <p:spPr>
          <a:xfrm>
            <a:off x="1214393" y="2995017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和别的 AI 有什么不同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9"/>
          <p:cNvSpPr/>
          <p:nvPr/>
        </p:nvSpPr>
        <p:spPr>
          <a:xfrm>
            <a:off x="1092994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39"/>
          <p:cNvSpPr txBox="1"/>
          <p:nvPr/>
        </p:nvSpPr>
        <p:spPr>
          <a:xfrm>
            <a:off x="1495307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b="1" lang="en" sz="700">
                <a:solidFill>
                  <a:srgbClr val="EA580C"/>
                </a:solidFill>
              </a:rPr>
              <a:t>2</a:t>
            </a: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 核心工具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39"/>
          <p:cNvSpPr/>
          <p:nvPr/>
        </p:nvSpPr>
        <p:spPr>
          <a:xfrm>
            <a:off x="3393281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9"/>
          <p:cNvSpPr/>
          <p:nvPr/>
        </p:nvSpPr>
        <p:spPr>
          <a:xfrm>
            <a:off x="3393281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9"/>
          <p:cNvSpPr/>
          <p:nvPr/>
        </p:nvSpPr>
        <p:spPr>
          <a:xfrm>
            <a:off x="4200525" y="170021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39"/>
          <p:cNvGrpSpPr/>
          <p:nvPr/>
        </p:nvGrpSpPr>
        <p:grpSpPr>
          <a:xfrm>
            <a:off x="4400550" y="1900238"/>
            <a:ext cx="342900" cy="342900"/>
            <a:chOff x="5867400" y="2533650"/>
            <a:chExt cx="457200" cy="457200"/>
          </a:xfrm>
        </p:grpSpPr>
        <p:sp>
          <p:nvSpPr>
            <p:cNvPr id="331" name="Google Shape;331;p39"/>
            <p:cNvSpPr/>
            <p:nvPr/>
          </p:nvSpPr>
          <p:spPr>
            <a:xfrm>
              <a:off x="5867400" y="2533650"/>
              <a:ext cx="203200" cy="457200"/>
            </a:xfrm>
            <a:custGeom>
              <a:rect b="b" l="l" r="r" t="t"/>
              <a:pathLst>
                <a:path extrusionOk="0" h="4572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381000"/>
                  </a:lnTo>
                  <a:cubicBezTo>
                    <a:pt x="203200" y="423084"/>
                    <a:pt x="169084" y="457200"/>
                    <a:pt x="127000" y="457200"/>
                  </a:cubicBezTo>
                  <a:lnTo>
                    <a:pt x="76200" y="457200"/>
                  </a:lnTo>
                  <a:cubicBezTo>
                    <a:pt x="34116" y="457200"/>
                    <a:pt x="0" y="423084"/>
                    <a:pt x="0" y="3810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39"/>
            <p:cNvSpPr/>
            <p:nvPr/>
          </p:nvSpPr>
          <p:spPr>
            <a:xfrm>
              <a:off x="6121400" y="2533650"/>
              <a:ext cx="203200" cy="304800"/>
            </a:xfrm>
            <a:custGeom>
              <a:rect b="b" l="l" r="r" t="t"/>
              <a:pathLst>
                <a:path extrusionOk="0" h="3048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228600"/>
                  </a:lnTo>
                  <a:cubicBezTo>
                    <a:pt x="203200" y="270684"/>
                    <a:pt x="169084" y="304800"/>
                    <a:pt x="127000" y="304800"/>
                  </a:cubicBezTo>
                  <a:lnTo>
                    <a:pt x="76200" y="304800"/>
                  </a:lnTo>
                  <a:cubicBezTo>
                    <a:pt x="34116" y="304800"/>
                    <a:pt x="0" y="270684"/>
                    <a:pt x="0" y="2286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3" name="Google Shape;333;p39"/>
          <p:cNvSpPr txBox="1"/>
          <p:nvPr/>
        </p:nvSpPr>
        <p:spPr>
          <a:xfrm>
            <a:off x="3730768" y="2566749"/>
            <a:ext cx="168246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看懂 Claude Design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39"/>
          <p:cNvSpPr txBox="1"/>
          <p:nvPr/>
        </p:nvSpPr>
        <p:spPr>
          <a:xfrm>
            <a:off x="3926651" y="282356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网站 + Chatbot 怎么做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39"/>
          <p:cNvSpPr txBox="1"/>
          <p:nvPr/>
        </p:nvSpPr>
        <p:spPr>
          <a:xfrm>
            <a:off x="4068366" y="299501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不写代码也能上线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39"/>
          <p:cNvSpPr/>
          <p:nvPr/>
        </p:nvSpPr>
        <p:spPr>
          <a:xfrm>
            <a:off x="3857625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39"/>
          <p:cNvSpPr txBox="1"/>
          <p:nvPr/>
        </p:nvSpPr>
        <p:spPr>
          <a:xfrm>
            <a:off x="4259938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b="1" lang="en" sz="700">
                <a:solidFill>
                  <a:srgbClr val="4F46E5"/>
                </a:solidFill>
              </a:rPr>
              <a:t>3</a:t>
            </a: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 核心工具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39"/>
          <p:cNvSpPr/>
          <p:nvPr/>
        </p:nvSpPr>
        <p:spPr>
          <a:xfrm>
            <a:off x="6157913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39"/>
          <p:cNvSpPr/>
          <p:nvPr/>
        </p:nvSpPr>
        <p:spPr>
          <a:xfrm>
            <a:off x="6157913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39"/>
          <p:cNvSpPr/>
          <p:nvPr/>
        </p:nvSpPr>
        <p:spPr>
          <a:xfrm>
            <a:off x="6965156" y="170021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9"/>
          <p:cNvSpPr/>
          <p:nvPr/>
        </p:nvSpPr>
        <p:spPr>
          <a:xfrm>
            <a:off x="7146131" y="1880616"/>
            <a:ext cx="381000" cy="381572"/>
          </a:xfrm>
          <a:custGeom>
            <a:rect b="b" l="l" r="r" t="t"/>
            <a:pathLst>
              <a:path extrusionOk="0" h="508762" w="508000">
                <a:moveTo>
                  <a:pt x="228600" y="305562"/>
                </a:moveTo>
                <a:lnTo>
                  <a:pt x="228600" y="508762"/>
                </a:lnTo>
                <a:lnTo>
                  <a:pt x="127000" y="508762"/>
                </a:lnTo>
                <a:cubicBezTo>
                  <a:pt x="84916" y="508762"/>
                  <a:pt x="50800" y="474646"/>
                  <a:pt x="50800" y="432562"/>
                </a:cubicBezTo>
                <a:lnTo>
                  <a:pt x="50800" y="330962"/>
                </a:lnTo>
                <a:cubicBezTo>
                  <a:pt x="50800" y="316934"/>
                  <a:pt x="62172" y="305562"/>
                  <a:pt x="76200" y="305562"/>
                </a:cubicBezTo>
                <a:lnTo>
                  <a:pt x="228600" y="305562"/>
                </a:lnTo>
                <a:close/>
                <a:moveTo>
                  <a:pt x="431800" y="305562"/>
                </a:moveTo>
                <a:cubicBezTo>
                  <a:pt x="445828" y="305562"/>
                  <a:pt x="457200" y="316934"/>
                  <a:pt x="457200" y="330962"/>
                </a:cubicBezTo>
                <a:lnTo>
                  <a:pt x="457200" y="432562"/>
                </a:lnTo>
                <a:cubicBezTo>
                  <a:pt x="457200" y="474646"/>
                  <a:pt x="423084" y="508762"/>
                  <a:pt x="381000" y="508762"/>
                </a:cubicBezTo>
                <a:lnTo>
                  <a:pt x="279400" y="508762"/>
                </a:lnTo>
                <a:lnTo>
                  <a:pt x="279400" y="305562"/>
                </a:lnTo>
                <a:lnTo>
                  <a:pt x="431800" y="305562"/>
                </a:lnTo>
                <a:close/>
                <a:moveTo>
                  <a:pt x="368300" y="762"/>
                </a:moveTo>
                <a:cubicBezTo>
                  <a:pt x="398786" y="756"/>
                  <a:pt x="427149" y="16371"/>
                  <a:pt x="443448" y="42135"/>
                </a:cubicBezTo>
                <a:cubicBezTo>
                  <a:pt x="459746" y="67899"/>
                  <a:pt x="461706" y="100217"/>
                  <a:pt x="448640" y="127762"/>
                </a:cubicBezTo>
                <a:lnTo>
                  <a:pt x="457200" y="127762"/>
                </a:lnTo>
                <a:cubicBezTo>
                  <a:pt x="485256" y="127762"/>
                  <a:pt x="508000" y="150506"/>
                  <a:pt x="508000" y="178562"/>
                </a:cubicBezTo>
                <a:lnTo>
                  <a:pt x="508000" y="203962"/>
                </a:lnTo>
                <a:cubicBezTo>
                  <a:pt x="508000" y="232018"/>
                  <a:pt x="485256" y="254762"/>
                  <a:pt x="457200" y="254762"/>
                </a:cubicBezTo>
                <a:lnTo>
                  <a:pt x="279400" y="254762"/>
                </a:lnTo>
                <a:lnTo>
                  <a:pt x="279400" y="127762"/>
                </a:lnTo>
                <a:lnTo>
                  <a:pt x="228600" y="127762"/>
                </a:lnTo>
                <a:lnTo>
                  <a:pt x="228600" y="254762"/>
                </a:lnTo>
                <a:lnTo>
                  <a:pt x="50800" y="254762"/>
                </a:lnTo>
                <a:cubicBezTo>
                  <a:pt x="22744" y="254762"/>
                  <a:pt x="0" y="232018"/>
                  <a:pt x="0" y="203962"/>
                </a:cubicBezTo>
                <a:lnTo>
                  <a:pt x="0" y="178562"/>
                </a:lnTo>
                <a:cubicBezTo>
                  <a:pt x="0" y="150506"/>
                  <a:pt x="22744" y="127762"/>
                  <a:pt x="50800" y="127762"/>
                </a:cubicBezTo>
                <a:lnTo>
                  <a:pt x="59360" y="127762"/>
                </a:lnTo>
                <a:cubicBezTo>
                  <a:pt x="53707" y="115857"/>
                  <a:pt x="50782" y="102841"/>
                  <a:pt x="50800" y="89662"/>
                </a:cubicBezTo>
                <a:cubicBezTo>
                  <a:pt x="50800" y="40564"/>
                  <a:pt x="90602" y="762"/>
                  <a:pt x="139268" y="762"/>
                </a:cubicBezTo>
                <a:cubicBezTo>
                  <a:pt x="183845" y="0"/>
                  <a:pt x="223393" y="28499"/>
                  <a:pt x="250546" y="75286"/>
                </a:cubicBezTo>
                <a:lnTo>
                  <a:pt x="254000" y="81458"/>
                </a:lnTo>
                <a:cubicBezTo>
                  <a:pt x="280238" y="32842"/>
                  <a:pt x="319024" y="2362"/>
                  <a:pt x="362991" y="813"/>
                </a:cubicBezTo>
                <a:lnTo>
                  <a:pt x="368300" y="762"/>
                </a:lnTo>
                <a:close/>
                <a:moveTo>
                  <a:pt x="139700" y="51562"/>
                </a:moveTo>
                <a:cubicBezTo>
                  <a:pt x="118658" y="51562"/>
                  <a:pt x="101600" y="68620"/>
                  <a:pt x="101600" y="89662"/>
                </a:cubicBezTo>
                <a:cubicBezTo>
                  <a:pt x="101600" y="110704"/>
                  <a:pt x="118658" y="127762"/>
                  <a:pt x="139700" y="127762"/>
                </a:cubicBezTo>
                <a:lnTo>
                  <a:pt x="219532" y="127762"/>
                </a:lnTo>
                <a:cubicBezTo>
                  <a:pt x="200711" y="79375"/>
                  <a:pt x="170028" y="51054"/>
                  <a:pt x="139700" y="51562"/>
                </a:cubicBezTo>
                <a:close/>
                <a:moveTo>
                  <a:pt x="367868" y="51562"/>
                </a:moveTo>
                <a:cubicBezTo>
                  <a:pt x="337896" y="51054"/>
                  <a:pt x="307289" y="79400"/>
                  <a:pt x="288468" y="127762"/>
                </a:cubicBezTo>
                <a:lnTo>
                  <a:pt x="368300" y="127762"/>
                </a:lnTo>
                <a:cubicBezTo>
                  <a:pt x="389342" y="127643"/>
                  <a:pt x="406303" y="110488"/>
                  <a:pt x="406184" y="89446"/>
                </a:cubicBezTo>
                <a:cubicBezTo>
                  <a:pt x="406065" y="68404"/>
                  <a:pt x="388910" y="51443"/>
                  <a:pt x="367868" y="51562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9"/>
          <p:cNvSpPr txBox="1"/>
          <p:nvPr/>
        </p:nvSpPr>
        <p:spPr>
          <a:xfrm>
            <a:off x="6751594" y="2566749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免费带走干货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9"/>
          <p:cNvSpPr txBox="1"/>
          <p:nvPr/>
        </p:nvSpPr>
        <p:spPr>
          <a:xfrm>
            <a:off x="6495500" y="2845114"/>
            <a:ext cx="168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B7280"/>
                </a:solidFill>
              </a:rPr>
              <a:t>理财知识库，网站设计系统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9"/>
          <p:cNvSpPr txBox="1"/>
          <p:nvPr/>
        </p:nvSpPr>
        <p:spPr>
          <a:xfrm>
            <a:off x="6832997" y="2995017"/>
            <a:ext cx="100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现场演示录像回放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39"/>
          <p:cNvSpPr/>
          <p:nvPr/>
        </p:nvSpPr>
        <p:spPr>
          <a:xfrm>
            <a:off x="6622256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39"/>
          <p:cNvSpPr txBox="1"/>
          <p:nvPr/>
        </p:nvSpPr>
        <p:spPr>
          <a:xfrm>
            <a:off x="7103066" y="3428643"/>
            <a:ext cx="46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lang="en" sz="700">
                <a:solidFill>
                  <a:srgbClr val="16A34A"/>
                </a:solidFill>
              </a:rPr>
              <a:t>免费下载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39"/>
          <p:cNvSpPr txBox="1"/>
          <p:nvPr/>
        </p:nvSpPr>
        <p:spPr>
          <a:xfrm>
            <a:off x="2814208" y="3976926"/>
            <a:ext cx="351558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开始之前 — 先说说你现在遇到最大的 AI 问题是什么？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39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3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0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0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0"/>
          <p:cNvSpPr txBox="1"/>
          <p:nvPr/>
        </p:nvSpPr>
        <p:spPr>
          <a:xfrm>
            <a:off x="560070" y="195739"/>
            <a:ext cx="346736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你是不是也有这种感觉？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40"/>
          <p:cNvSpPr txBox="1"/>
          <p:nvPr/>
        </p:nvSpPr>
        <p:spPr>
          <a:xfrm>
            <a:off x="574358" y="488633"/>
            <a:ext cx="20273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很多人用 AI，但总觉得"差点意思"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0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0"/>
          <p:cNvSpPr/>
          <p:nvPr/>
        </p:nvSpPr>
        <p:spPr>
          <a:xfrm>
            <a:off x="457200" y="857250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0"/>
          <p:cNvSpPr/>
          <p:nvPr/>
        </p:nvSpPr>
        <p:spPr>
          <a:xfrm>
            <a:off x="457200" y="857250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0"/>
          <p:cNvSpPr txBox="1"/>
          <p:nvPr/>
        </p:nvSpPr>
        <p:spPr>
          <a:xfrm>
            <a:off x="7964574" y="1134428"/>
            <a:ext cx="63078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0"/>
          <p:cNvSpPr/>
          <p:nvPr/>
        </p:nvSpPr>
        <p:spPr>
          <a:xfrm>
            <a:off x="636314" y="1015037"/>
            <a:ext cx="198880" cy="172575"/>
          </a:xfrm>
          <a:custGeom>
            <a:rect b="b" l="l" r="r" t="t"/>
            <a:pathLst>
              <a:path extrusionOk="0" h="230100" w="265173">
                <a:moveTo>
                  <a:pt x="132656" y="0"/>
                </a:moveTo>
                <a:cubicBezTo>
                  <a:pt x="144026" y="0"/>
                  <a:pt x="154623" y="5560"/>
                  <a:pt x="161112" y="14847"/>
                </a:cubicBezTo>
                <a:lnTo>
                  <a:pt x="162362" y="16752"/>
                </a:lnTo>
                <a:lnTo>
                  <a:pt x="258969" y="178058"/>
                </a:lnTo>
                <a:cubicBezTo>
                  <a:pt x="264937" y="188394"/>
                  <a:pt x="265173" y="201073"/>
                  <a:pt x="259594" y="211624"/>
                </a:cubicBezTo>
                <a:cubicBezTo>
                  <a:pt x="254015" y="222175"/>
                  <a:pt x="243404" y="229118"/>
                  <a:pt x="231502" y="230005"/>
                </a:cubicBezTo>
                <a:lnTo>
                  <a:pt x="229180" y="230100"/>
                </a:lnTo>
                <a:lnTo>
                  <a:pt x="36001" y="230100"/>
                </a:lnTo>
                <a:cubicBezTo>
                  <a:pt x="24087" y="229966"/>
                  <a:pt x="13075" y="223728"/>
                  <a:pt x="6835" y="213578"/>
                </a:cubicBezTo>
                <a:cubicBezTo>
                  <a:pt x="595" y="203427"/>
                  <a:pt x="0" y="190785"/>
                  <a:pt x="5259" y="180094"/>
                </a:cubicBezTo>
                <a:lnTo>
                  <a:pt x="6438" y="177891"/>
                </a:lnTo>
                <a:lnTo>
                  <a:pt x="102997" y="16704"/>
                </a:lnTo>
                <a:cubicBezTo>
                  <a:pt x="109285" y="6336"/>
                  <a:pt x="120530" y="3"/>
                  <a:pt x="132656" y="0"/>
                </a:cubicBezTo>
                <a:close/>
                <a:moveTo>
                  <a:pt x="132775" y="158710"/>
                </a:moveTo>
                <a:lnTo>
                  <a:pt x="131263" y="158794"/>
                </a:lnTo>
                <a:cubicBezTo>
                  <a:pt x="125273" y="159506"/>
                  <a:pt x="120763" y="164585"/>
                  <a:pt x="120763" y="170617"/>
                </a:cubicBezTo>
                <a:cubicBezTo>
                  <a:pt x="120763" y="176648"/>
                  <a:pt x="125273" y="181727"/>
                  <a:pt x="131263" y="182439"/>
                </a:cubicBezTo>
                <a:lnTo>
                  <a:pt x="132656" y="182523"/>
                </a:lnTo>
                <a:lnTo>
                  <a:pt x="134168" y="182439"/>
                </a:lnTo>
                <a:cubicBezTo>
                  <a:pt x="140157" y="181727"/>
                  <a:pt x="144668" y="176648"/>
                  <a:pt x="144668" y="170617"/>
                </a:cubicBezTo>
                <a:cubicBezTo>
                  <a:pt x="144668" y="164585"/>
                  <a:pt x="140157" y="159506"/>
                  <a:pt x="134168" y="158794"/>
                </a:cubicBezTo>
                <a:lnTo>
                  <a:pt x="132775" y="158710"/>
                </a:lnTo>
                <a:close/>
                <a:moveTo>
                  <a:pt x="132656" y="75367"/>
                </a:moveTo>
                <a:cubicBezTo>
                  <a:pt x="126620" y="75367"/>
                  <a:pt x="121539" y="79885"/>
                  <a:pt x="120833" y="85880"/>
                </a:cubicBezTo>
                <a:lnTo>
                  <a:pt x="120750" y="87273"/>
                </a:lnTo>
                <a:lnTo>
                  <a:pt x="120750" y="134898"/>
                </a:lnTo>
                <a:lnTo>
                  <a:pt x="120833" y="136291"/>
                </a:lnTo>
                <a:cubicBezTo>
                  <a:pt x="121545" y="142280"/>
                  <a:pt x="126624" y="146791"/>
                  <a:pt x="132656" y="146791"/>
                </a:cubicBezTo>
                <a:cubicBezTo>
                  <a:pt x="138688" y="146791"/>
                  <a:pt x="143766" y="142280"/>
                  <a:pt x="144479" y="136291"/>
                </a:cubicBezTo>
                <a:lnTo>
                  <a:pt x="144562" y="134898"/>
                </a:lnTo>
                <a:lnTo>
                  <a:pt x="144562" y="87273"/>
                </a:lnTo>
                <a:lnTo>
                  <a:pt x="144479" y="85880"/>
                </a:lnTo>
                <a:cubicBezTo>
                  <a:pt x="143773" y="79885"/>
                  <a:pt x="138692" y="75367"/>
                  <a:pt x="132656" y="75367"/>
                </a:cubicBezTo>
                <a:close/>
              </a:path>
            </a:pathLst>
          </a:cu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0"/>
          <p:cNvSpPr txBox="1"/>
          <p:nvPr/>
        </p:nvSpPr>
        <p:spPr>
          <a:xfrm>
            <a:off x="914400" y="1035844"/>
            <a:ext cx="298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给的是通用答案，不是你领域的答案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0"/>
          <p:cNvSpPr txBox="1"/>
          <p:nvPr/>
        </p:nvSpPr>
        <p:spPr>
          <a:xfrm>
            <a:off x="617934" y="1280517"/>
            <a:ext cx="448850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问 AI "怎么炒股"，给的是教科书答案 · 问 AI "帮我写营销文案"，写出来像机器人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0"/>
          <p:cNvSpPr txBox="1"/>
          <p:nvPr/>
        </p:nvSpPr>
        <p:spPr>
          <a:xfrm>
            <a:off x="617934" y="1466255"/>
            <a:ext cx="23812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根本原因：AI 没有你的专业知识和行业经验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0"/>
          <p:cNvSpPr/>
          <p:nvPr/>
        </p:nvSpPr>
        <p:spPr>
          <a:xfrm>
            <a:off x="457200" y="1900238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0"/>
          <p:cNvSpPr/>
          <p:nvPr/>
        </p:nvSpPr>
        <p:spPr>
          <a:xfrm>
            <a:off x="457200" y="1900238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0"/>
          <p:cNvSpPr txBox="1"/>
          <p:nvPr/>
        </p:nvSpPr>
        <p:spPr>
          <a:xfrm>
            <a:off x="7809305" y="2177415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0"/>
          <p:cNvSpPr/>
          <p:nvPr/>
        </p:nvSpPr>
        <p:spPr>
          <a:xfrm>
            <a:off x="663965" y="2060972"/>
            <a:ext cx="143684" cy="181906"/>
          </a:xfrm>
          <a:custGeom>
            <a:rect b="b" l="l" r="r" t="t"/>
            <a:pathLst>
              <a:path extrusionOk="0" h="242542" w="191578">
                <a:moveTo>
                  <a:pt x="107695" y="0"/>
                </a:moveTo>
                <a:lnTo>
                  <a:pt x="107910" y="12"/>
                </a:lnTo>
                <a:lnTo>
                  <a:pt x="108100" y="24"/>
                </a:lnTo>
                <a:lnTo>
                  <a:pt x="109088" y="83"/>
                </a:lnTo>
                <a:lnTo>
                  <a:pt x="109219" y="107"/>
                </a:lnTo>
                <a:lnTo>
                  <a:pt x="109350" y="107"/>
                </a:lnTo>
                <a:lnTo>
                  <a:pt x="109803" y="214"/>
                </a:lnTo>
                <a:lnTo>
                  <a:pt x="110422" y="310"/>
                </a:lnTo>
                <a:lnTo>
                  <a:pt x="110612" y="381"/>
                </a:lnTo>
                <a:lnTo>
                  <a:pt x="110743" y="393"/>
                </a:lnTo>
                <a:lnTo>
                  <a:pt x="111089" y="524"/>
                </a:lnTo>
                <a:lnTo>
                  <a:pt x="111708" y="691"/>
                </a:lnTo>
                <a:lnTo>
                  <a:pt x="111934" y="798"/>
                </a:lnTo>
                <a:lnTo>
                  <a:pt x="112113" y="845"/>
                </a:lnTo>
                <a:lnTo>
                  <a:pt x="112446" y="1012"/>
                </a:lnTo>
                <a:lnTo>
                  <a:pt x="112922" y="1214"/>
                </a:lnTo>
                <a:lnTo>
                  <a:pt x="113172" y="1357"/>
                </a:lnTo>
                <a:lnTo>
                  <a:pt x="113434" y="1476"/>
                </a:lnTo>
                <a:lnTo>
                  <a:pt x="113708" y="1655"/>
                </a:lnTo>
                <a:lnTo>
                  <a:pt x="114077" y="1857"/>
                </a:lnTo>
                <a:lnTo>
                  <a:pt x="114482" y="2143"/>
                </a:lnTo>
                <a:lnTo>
                  <a:pt x="114696" y="2274"/>
                </a:lnTo>
                <a:lnTo>
                  <a:pt x="114851" y="2417"/>
                </a:lnTo>
                <a:lnTo>
                  <a:pt x="115137" y="2619"/>
                </a:lnTo>
                <a:lnTo>
                  <a:pt x="115589" y="3024"/>
                </a:lnTo>
                <a:lnTo>
                  <a:pt x="115851" y="3227"/>
                </a:lnTo>
                <a:lnTo>
                  <a:pt x="115946" y="3346"/>
                </a:lnTo>
                <a:lnTo>
                  <a:pt x="116113" y="3489"/>
                </a:lnTo>
                <a:lnTo>
                  <a:pt x="116542" y="3977"/>
                </a:lnTo>
                <a:lnTo>
                  <a:pt x="116851" y="4298"/>
                </a:lnTo>
                <a:lnTo>
                  <a:pt x="116923" y="4405"/>
                </a:lnTo>
                <a:cubicBezTo>
                  <a:pt x="118351" y="6156"/>
                  <a:pt x="119256" y="8239"/>
                  <a:pt x="119518" y="10513"/>
                </a:cubicBezTo>
                <a:lnTo>
                  <a:pt x="119530" y="10656"/>
                </a:lnTo>
                <a:lnTo>
                  <a:pt x="119554" y="11144"/>
                </a:lnTo>
                <a:lnTo>
                  <a:pt x="119602" y="11906"/>
                </a:lnTo>
                <a:lnTo>
                  <a:pt x="119602" y="83344"/>
                </a:lnTo>
                <a:lnTo>
                  <a:pt x="179133" y="83344"/>
                </a:lnTo>
                <a:cubicBezTo>
                  <a:pt x="183380" y="83343"/>
                  <a:pt x="187306" y="85604"/>
                  <a:pt x="189436" y="89278"/>
                </a:cubicBezTo>
                <a:cubicBezTo>
                  <a:pt x="191566" y="92952"/>
                  <a:pt x="191578" y="97482"/>
                  <a:pt x="189467" y="101167"/>
                </a:cubicBezTo>
                <a:lnTo>
                  <a:pt x="188753" y="102251"/>
                </a:lnTo>
                <a:lnTo>
                  <a:pt x="93503" y="233220"/>
                </a:lnTo>
                <a:cubicBezTo>
                  <a:pt x="86740" y="242542"/>
                  <a:pt x="71977" y="237744"/>
                  <a:pt x="71977" y="226219"/>
                </a:cubicBezTo>
                <a:lnTo>
                  <a:pt x="71977" y="154781"/>
                </a:lnTo>
                <a:lnTo>
                  <a:pt x="12445" y="154781"/>
                </a:lnTo>
                <a:cubicBezTo>
                  <a:pt x="8198" y="154782"/>
                  <a:pt x="4273" y="152521"/>
                  <a:pt x="2142" y="148847"/>
                </a:cubicBezTo>
                <a:cubicBezTo>
                  <a:pt x="12" y="145173"/>
                  <a:pt x="0" y="140643"/>
                  <a:pt x="2111" y="136958"/>
                </a:cubicBezTo>
                <a:lnTo>
                  <a:pt x="2825" y="135874"/>
                </a:lnTo>
                <a:lnTo>
                  <a:pt x="98075" y="4905"/>
                </a:lnTo>
                <a:lnTo>
                  <a:pt x="98194" y="4751"/>
                </a:lnTo>
                <a:lnTo>
                  <a:pt x="98408" y="4465"/>
                </a:lnTo>
                <a:lnTo>
                  <a:pt x="98801" y="4012"/>
                </a:lnTo>
                <a:lnTo>
                  <a:pt x="99016" y="3750"/>
                </a:lnTo>
                <a:lnTo>
                  <a:pt x="99123" y="3655"/>
                </a:lnTo>
                <a:lnTo>
                  <a:pt x="99278" y="3489"/>
                </a:lnTo>
                <a:lnTo>
                  <a:pt x="99754" y="3060"/>
                </a:lnTo>
                <a:lnTo>
                  <a:pt x="100087" y="2750"/>
                </a:lnTo>
                <a:lnTo>
                  <a:pt x="100182" y="2679"/>
                </a:lnTo>
                <a:cubicBezTo>
                  <a:pt x="101578" y="1537"/>
                  <a:pt x="103215" y="727"/>
                  <a:pt x="104969" y="310"/>
                </a:cubicBezTo>
                <a:lnTo>
                  <a:pt x="105100" y="298"/>
                </a:lnTo>
                <a:lnTo>
                  <a:pt x="105421" y="238"/>
                </a:lnTo>
                <a:lnTo>
                  <a:pt x="106302" y="83"/>
                </a:lnTo>
                <a:lnTo>
                  <a:pt x="106433" y="71"/>
                </a:lnTo>
                <a:lnTo>
                  <a:pt x="106921" y="4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0"/>
          <p:cNvSpPr txBox="1"/>
          <p:nvPr/>
        </p:nvSpPr>
        <p:spPr>
          <a:xfrm>
            <a:off x="914400" y="2078831"/>
            <a:ext cx="261639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每次都要重新解释背景，效率极低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40"/>
          <p:cNvSpPr txBox="1"/>
          <p:nvPr/>
        </p:nvSpPr>
        <p:spPr>
          <a:xfrm>
            <a:off x="617934" y="2323505"/>
            <a:ext cx="37676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每次新对话，AI 又变成"新同事" · 昨天讲过的事，今天还要再讲一遍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40"/>
          <p:cNvSpPr txBox="1"/>
          <p:nvPr/>
        </p:nvSpPr>
        <p:spPr>
          <a:xfrm>
            <a:off x="617934" y="2509242"/>
            <a:ext cx="25229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背景信息丢失 → 输出质量差 → 用完一次就放弃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40"/>
          <p:cNvSpPr/>
          <p:nvPr/>
        </p:nvSpPr>
        <p:spPr>
          <a:xfrm>
            <a:off x="457200" y="2943225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0"/>
          <p:cNvSpPr/>
          <p:nvPr/>
        </p:nvSpPr>
        <p:spPr>
          <a:xfrm>
            <a:off x="457200" y="2943225"/>
            <a:ext cx="42863" cy="928688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0"/>
          <p:cNvSpPr txBox="1"/>
          <p:nvPr/>
        </p:nvSpPr>
        <p:spPr>
          <a:xfrm>
            <a:off x="7809305" y="3220402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6" name="Google Shape;376;p40"/>
          <p:cNvGrpSpPr/>
          <p:nvPr/>
        </p:nvGrpSpPr>
        <p:grpSpPr>
          <a:xfrm>
            <a:off x="655439" y="3112889"/>
            <a:ext cx="160735" cy="160735"/>
            <a:chOff x="873919" y="4150519"/>
            <a:chExt cx="214313" cy="214313"/>
          </a:xfrm>
        </p:grpSpPr>
        <p:sp>
          <p:nvSpPr>
            <p:cNvPr id="377" name="Google Shape;377;p40"/>
            <p:cNvSpPr/>
            <p:nvPr/>
          </p:nvSpPr>
          <p:spPr>
            <a:xfrm>
              <a:off x="873919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11906" y="0"/>
                  </a:moveTo>
                  <a:cubicBezTo>
                    <a:pt x="18482" y="0"/>
                    <a:pt x="23812" y="5331"/>
                    <a:pt x="23812" y="11906"/>
                  </a:cubicBezTo>
                  <a:lnTo>
                    <a:pt x="23812" y="35719"/>
                  </a:lnTo>
                  <a:cubicBezTo>
                    <a:pt x="23812" y="42294"/>
                    <a:pt x="29143" y="47625"/>
                    <a:pt x="35719" y="47625"/>
                  </a:cubicBezTo>
                  <a:lnTo>
                    <a:pt x="59531" y="47625"/>
                  </a:lnTo>
                  <a:cubicBezTo>
                    <a:pt x="66107" y="47625"/>
                    <a:pt x="71438" y="52956"/>
                    <a:pt x="71438" y="59531"/>
                  </a:cubicBezTo>
                  <a:cubicBezTo>
                    <a:pt x="71438" y="66107"/>
                    <a:pt x="66107" y="71438"/>
                    <a:pt x="59531" y="71438"/>
                  </a:cubicBezTo>
                  <a:lnTo>
                    <a:pt x="35719" y="71438"/>
                  </a:lnTo>
                  <a:cubicBezTo>
                    <a:pt x="15992" y="71438"/>
                    <a:pt x="0" y="55446"/>
                    <a:pt x="0" y="35719"/>
                  </a:cubicBezTo>
                  <a:lnTo>
                    <a:pt x="0" y="11906"/>
                  </a:lnTo>
                  <a:cubicBezTo>
                    <a:pt x="0" y="5331"/>
                    <a:pt x="5331" y="0"/>
                    <a:pt x="11906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0"/>
            <p:cNvSpPr/>
            <p:nvPr/>
          </p:nvSpPr>
          <p:spPr>
            <a:xfrm>
              <a:off x="1016794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lnTo>
                    <a:pt x="71438" y="35719"/>
                  </a:lnTo>
                  <a:cubicBezTo>
                    <a:pt x="71438" y="55446"/>
                    <a:pt x="55446" y="71438"/>
                    <a:pt x="35719" y="71438"/>
                  </a:cubicBezTo>
                  <a:lnTo>
                    <a:pt x="11906" y="71438"/>
                  </a:lnTo>
                  <a:cubicBezTo>
                    <a:pt x="5331" y="71438"/>
                    <a:pt x="0" y="66107"/>
                    <a:pt x="0" y="59531"/>
                  </a:cubicBezTo>
                  <a:cubicBezTo>
                    <a:pt x="0" y="52956"/>
                    <a:pt x="5331" y="47625"/>
                    <a:pt x="11906" y="47625"/>
                  </a:cubicBezTo>
                  <a:lnTo>
                    <a:pt x="35719" y="47625"/>
                  </a:lnTo>
                  <a:cubicBezTo>
                    <a:pt x="42294" y="47625"/>
                    <a:pt x="47625" y="42294"/>
                    <a:pt x="47625" y="35719"/>
                  </a:cubicBezTo>
                  <a:lnTo>
                    <a:pt x="47625" y="11906"/>
                  </a:lnTo>
                  <a:cubicBezTo>
                    <a:pt x="47625" y="5331"/>
                    <a:pt x="52956" y="0"/>
                    <a:pt x="59531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0"/>
            <p:cNvSpPr/>
            <p:nvPr/>
          </p:nvSpPr>
          <p:spPr>
            <a:xfrm>
              <a:off x="921544" y="4198144"/>
              <a:ext cx="120086" cy="120086"/>
            </a:xfrm>
            <a:custGeom>
              <a:rect b="b" l="l" r="r" t="t"/>
              <a:pathLst>
                <a:path extrusionOk="0" h="120086" w="120086">
                  <a:moveTo>
                    <a:pt x="47625" y="0"/>
                  </a:moveTo>
                  <a:cubicBezTo>
                    <a:pt x="64716" y="0"/>
                    <a:pt x="80497" y="9158"/>
                    <a:pt x="88976" y="23998"/>
                  </a:cubicBezTo>
                  <a:cubicBezTo>
                    <a:pt x="97455" y="38837"/>
                    <a:pt x="97332" y="57083"/>
                    <a:pt x="88654" y="71807"/>
                  </a:cubicBezTo>
                  <a:lnTo>
                    <a:pt x="115574" y="98739"/>
                  </a:lnTo>
                  <a:cubicBezTo>
                    <a:pt x="120086" y="103410"/>
                    <a:pt x="120022" y="110836"/>
                    <a:pt x="115429" y="115429"/>
                  </a:cubicBezTo>
                  <a:cubicBezTo>
                    <a:pt x="110836" y="120022"/>
                    <a:pt x="103410" y="120086"/>
                    <a:pt x="98739" y="115574"/>
                  </a:cubicBezTo>
                  <a:lnTo>
                    <a:pt x="71807" y="88666"/>
                  </a:lnTo>
                  <a:lnTo>
                    <a:pt x="71438" y="88868"/>
                  </a:lnTo>
                  <a:cubicBezTo>
                    <a:pt x="56702" y="97376"/>
                    <a:pt x="38548" y="97376"/>
                    <a:pt x="23813" y="88869"/>
                  </a:cubicBezTo>
                  <a:cubicBezTo>
                    <a:pt x="9078" y="80361"/>
                    <a:pt x="0" y="64640"/>
                    <a:pt x="0" y="47625"/>
                  </a:cubicBezTo>
                  <a:lnTo>
                    <a:pt x="60" y="45244"/>
                  </a:lnTo>
                  <a:cubicBezTo>
                    <a:pt x="1328" y="19899"/>
                    <a:pt x="22248" y="0"/>
                    <a:pt x="47625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0"/>
            <p:cNvSpPr/>
            <p:nvPr/>
          </p:nvSpPr>
          <p:spPr>
            <a:xfrm>
              <a:off x="873919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cubicBezTo>
                    <a:pt x="71438" y="18482"/>
                    <a:pt x="66107" y="23812"/>
                    <a:pt x="59531" y="23812"/>
                  </a:cubicBezTo>
                  <a:lnTo>
                    <a:pt x="35719" y="23812"/>
                  </a:lnTo>
                  <a:cubicBezTo>
                    <a:pt x="29143" y="23812"/>
                    <a:pt x="23812" y="29143"/>
                    <a:pt x="23812" y="35719"/>
                  </a:cubicBezTo>
                  <a:lnTo>
                    <a:pt x="23812" y="59531"/>
                  </a:lnTo>
                  <a:cubicBezTo>
                    <a:pt x="23812" y="66107"/>
                    <a:pt x="18482" y="71438"/>
                    <a:pt x="11906" y="71438"/>
                  </a:cubicBezTo>
                  <a:cubicBezTo>
                    <a:pt x="5331" y="71438"/>
                    <a:pt x="0" y="66107"/>
                    <a:pt x="0" y="59531"/>
                  </a:cubicBezTo>
                  <a:lnTo>
                    <a:pt x="0" y="35719"/>
                  </a:lnTo>
                  <a:cubicBezTo>
                    <a:pt x="0" y="15992"/>
                    <a:pt x="15992" y="0"/>
                    <a:pt x="357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40"/>
            <p:cNvSpPr/>
            <p:nvPr/>
          </p:nvSpPr>
          <p:spPr>
            <a:xfrm>
              <a:off x="1016794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35719" y="0"/>
                  </a:moveTo>
                  <a:cubicBezTo>
                    <a:pt x="55446" y="0"/>
                    <a:pt x="71438" y="15992"/>
                    <a:pt x="71438" y="35719"/>
                  </a:cubicBezTo>
                  <a:lnTo>
                    <a:pt x="71438" y="59531"/>
                  </a:lnTo>
                  <a:cubicBezTo>
                    <a:pt x="71438" y="66107"/>
                    <a:pt x="66107" y="71438"/>
                    <a:pt x="59531" y="71438"/>
                  </a:cubicBezTo>
                  <a:cubicBezTo>
                    <a:pt x="52956" y="71438"/>
                    <a:pt x="47625" y="66107"/>
                    <a:pt x="47625" y="59531"/>
                  </a:cubicBezTo>
                  <a:lnTo>
                    <a:pt x="47625" y="35719"/>
                  </a:lnTo>
                  <a:cubicBezTo>
                    <a:pt x="47625" y="29143"/>
                    <a:pt x="42294" y="23812"/>
                    <a:pt x="35719" y="23812"/>
                  </a:cubicBezTo>
                  <a:lnTo>
                    <a:pt x="11906" y="23812"/>
                  </a:lnTo>
                  <a:cubicBezTo>
                    <a:pt x="5331" y="23812"/>
                    <a:pt x="0" y="18482"/>
                    <a:pt x="0" y="11906"/>
                  </a:cubicBezTo>
                  <a:cubicBezTo>
                    <a:pt x="0" y="5331"/>
                    <a:pt x="5331" y="0"/>
                    <a:pt x="11906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2" name="Google Shape;382;p40"/>
          <p:cNvSpPr txBox="1"/>
          <p:nvPr/>
        </p:nvSpPr>
        <p:spPr>
          <a:xfrm>
            <a:off x="914400" y="3121819"/>
            <a:ext cx="259914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会用 AI 聊天，但不会用 AI 造产品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40"/>
          <p:cNvSpPr txBox="1"/>
          <p:nvPr/>
        </p:nvSpPr>
        <p:spPr>
          <a:xfrm>
            <a:off x="617934" y="3366492"/>
            <a:ext cx="358893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 工具停留在"对话"阶段 · 没有变成你自己可以交付/变现的产品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40"/>
          <p:cNvSpPr txBox="1"/>
          <p:nvPr/>
        </p:nvSpPr>
        <p:spPr>
          <a:xfrm>
            <a:off x="617934" y="3552230"/>
            <a:ext cx="188219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工具会用了，但不知道怎么"造枪"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40"/>
          <p:cNvSpPr/>
          <p:nvPr/>
        </p:nvSpPr>
        <p:spPr>
          <a:xfrm>
            <a:off x="457200" y="4014788"/>
            <a:ext cx="8229600" cy="428625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40"/>
          <p:cNvSpPr txBox="1"/>
          <p:nvPr/>
        </p:nvSpPr>
        <p:spPr>
          <a:xfrm>
            <a:off x="2299972" y="4155519"/>
            <a:ext cx="454405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S2 + S3 的设计目标：把你的方法论变成 AI 可以理解并执行的产品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40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4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41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41"/>
          <p:cNvSpPr txBox="1"/>
          <p:nvPr/>
        </p:nvSpPr>
        <p:spPr>
          <a:xfrm>
            <a:off x="2499044" y="157163"/>
            <a:ext cx="414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AI用法三层：你在哪一层？</a:t>
            </a:r>
            <a:endParaRPr sz="1100"/>
          </a:p>
        </p:txBody>
      </p:sp>
      <p:sp>
        <p:nvSpPr>
          <p:cNvPr id="396" name="Google Shape;396;p41"/>
          <p:cNvSpPr txBox="1"/>
          <p:nvPr/>
        </p:nvSpPr>
        <p:spPr>
          <a:xfrm>
            <a:off x="3436715" y="510064"/>
            <a:ext cx="227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95% 的人停在第一层 — 你可以做得更多</a:t>
            </a:r>
            <a:endParaRPr sz="1100"/>
          </a:p>
        </p:txBody>
      </p:sp>
      <p:sp>
        <p:nvSpPr>
          <p:cNvPr id="397" name="Google Shape;397;p41"/>
          <p:cNvSpPr/>
          <p:nvPr/>
        </p:nvSpPr>
        <p:spPr>
          <a:xfrm>
            <a:off x="1000125" y="4314825"/>
            <a:ext cx="4143300" cy="257100"/>
          </a:xfrm>
          <a:prstGeom prst="ellipse">
            <a:avLst/>
          </a:prstGeom>
          <a:solidFill>
            <a:srgbClr val="1C1917">
              <a:alpha val="588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41"/>
          <p:cNvSpPr/>
          <p:nvPr/>
        </p:nvSpPr>
        <p:spPr>
          <a:xfrm>
            <a:off x="1750219" y="821531"/>
            <a:ext cx="2643188" cy="1357313"/>
          </a:xfrm>
          <a:custGeom>
            <a:rect b="b" l="l" r="r" t="t"/>
            <a:pathLst>
              <a:path extrusionOk="0" h="1809750" w="3524250">
                <a:moveTo>
                  <a:pt x="1762125" y="0"/>
                </a:moveTo>
                <a:lnTo>
                  <a:pt x="0" y="1809750"/>
                </a:lnTo>
                <a:lnTo>
                  <a:pt x="3524250" y="1809750"/>
                </a:lnTo>
                <a:close/>
              </a:path>
            </a:pathLst>
          </a:custGeom>
          <a:solidFill>
            <a:srgbClr val="C2410C"/>
          </a:solidFill>
          <a:ln>
            <a:noFill/>
          </a:ln>
        </p:spPr>
      </p:sp>
      <p:sp>
        <p:nvSpPr>
          <p:cNvPr id="399" name="Google Shape;399;p41"/>
          <p:cNvSpPr/>
          <p:nvPr/>
        </p:nvSpPr>
        <p:spPr>
          <a:xfrm>
            <a:off x="2393156" y="821531"/>
            <a:ext cx="1357313" cy="714375"/>
          </a:xfrm>
          <a:custGeom>
            <a:rect b="b" l="l" r="r" t="t"/>
            <a:pathLst>
              <a:path extrusionOk="0" h="952500" w="1809750">
                <a:moveTo>
                  <a:pt x="904875" y="0"/>
                </a:moveTo>
                <a:lnTo>
                  <a:pt x="0" y="952500"/>
                </a:lnTo>
                <a:lnTo>
                  <a:pt x="1809750" y="952500"/>
                </a:lnTo>
                <a:close/>
              </a:path>
            </a:pathLst>
          </a:custGeom>
          <a:solidFill>
            <a:srgbClr val="FFFFFF">
              <a:alpha val="7840"/>
            </a:srgbClr>
          </a:solidFill>
          <a:ln>
            <a:noFill/>
          </a:ln>
        </p:spPr>
      </p:sp>
      <p:sp>
        <p:nvSpPr>
          <p:cNvPr id="400" name="Google Shape;400;p41"/>
          <p:cNvSpPr txBox="1"/>
          <p:nvPr/>
        </p:nvSpPr>
        <p:spPr>
          <a:xfrm>
            <a:off x="2880664" y="14723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</a:t>
            </a:r>
            <a:endParaRPr sz="1100"/>
          </a:p>
        </p:txBody>
      </p:sp>
      <p:sp>
        <p:nvSpPr>
          <p:cNvPr id="401" name="Google Shape;401;p41"/>
          <p:cNvSpPr txBox="1"/>
          <p:nvPr/>
        </p:nvSpPr>
        <p:spPr>
          <a:xfrm>
            <a:off x="2639160" y="1607344"/>
            <a:ext cx="86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给AI写技能</a:t>
            </a:r>
            <a:endParaRPr sz="1100"/>
          </a:p>
        </p:txBody>
      </p:sp>
      <p:sp>
        <p:nvSpPr>
          <p:cNvPr id="402" name="Google Shape;402;p41"/>
          <p:cNvSpPr txBox="1"/>
          <p:nvPr/>
        </p:nvSpPr>
        <p:spPr>
          <a:xfrm>
            <a:off x="2795528" y="1807012"/>
            <a:ext cx="55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Skill · MCP</a:t>
            </a:r>
            <a:endParaRPr sz="1100"/>
          </a:p>
        </p:txBody>
      </p:sp>
      <p:sp>
        <p:nvSpPr>
          <p:cNvPr id="403" name="Google Shape;403;p41"/>
          <p:cNvSpPr/>
          <p:nvPr/>
        </p:nvSpPr>
        <p:spPr>
          <a:xfrm>
            <a:off x="1750219" y="2178844"/>
            <a:ext cx="2643188" cy="7144"/>
          </a:xfrm>
          <a:custGeom>
            <a:rect b="b" l="l" r="r" t="t"/>
            <a:pathLst>
              <a:path extrusionOk="0" h="9525" w="3524250">
                <a:moveTo>
                  <a:pt x="0" y="0"/>
                </a:moveTo>
                <a:lnTo>
                  <a:pt x="352425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41"/>
          <p:cNvSpPr/>
          <p:nvPr/>
        </p:nvSpPr>
        <p:spPr>
          <a:xfrm>
            <a:off x="1750219" y="2178844"/>
            <a:ext cx="2643188" cy="1193006"/>
          </a:xfrm>
          <a:custGeom>
            <a:rect b="b" l="l" r="r" t="t"/>
            <a:pathLst>
              <a:path extrusionOk="0" h="1590675" w="3524250">
                <a:moveTo>
                  <a:pt x="0" y="0"/>
                </a:moveTo>
                <a:lnTo>
                  <a:pt x="3524250" y="0"/>
                </a:lnTo>
                <a:lnTo>
                  <a:pt x="2562225" y="1590675"/>
                </a:lnTo>
                <a:lnTo>
                  <a:pt x="962025" y="1590675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</p:sp>
      <p:sp>
        <p:nvSpPr>
          <p:cNvPr id="405" name="Google Shape;405;p41"/>
          <p:cNvSpPr txBox="1"/>
          <p:nvPr/>
        </p:nvSpPr>
        <p:spPr>
          <a:xfrm>
            <a:off x="2880664" y="2601039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</a:t>
            </a:r>
            <a:endParaRPr sz="1100"/>
          </a:p>
        </p:txBody>
      </p:sp>
      <p:sp>
        <p:nvSpPr>
          <p:cNvPr id="406" name="Google Shape;406;p41"/>
          <p:cNvSpPr txBox="1"/>
          <p:nvPr/>
        </p:nvSpPr>
        <p:spPr>
          <a:xfrm>
            <a:off x="2391888" y="2723912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在文件夹里工作</a:t>
            </a:r>
            <a:endParaRPr sz="1100"/>
          </a:p>
        </p:txBody>
      </p:sp>
      <p:sp>
        <p:nvSpPr>
          <p:cNvPr id="407" name="Google Shape;407;p41"/>
          <p:cNvSpPr txBox="1"/>
          <p:nvPr/>
        </p:nvSpPr>
        <p:spPr>
          <a:xfrm>
            <a:off x="2643339" y="2950012"/>
            <a:ext cx="85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让AI读写本地文件</a:t>
            </a:r>
            <a:endParaRPr sz="1100"/>
          </a:p>
        </p:txBody>
      </p:sp>
      <p:sp>
        <p:nvSpPr>
          <p:cNvPr id="408" name="Google Shape;408;p41"/>
          <p:cNvSpPr txBox="1"/>
          <p:nvPr/>
        </p:nvSpPr>
        <p:spPr>
          <a:xfrm>
            <a:off x="2597950" y="3150037"/>
            <a:ext cx="947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DDDB0"/>
                </a:solidFill>
                <a:latin typeface="Arial"/>
                <a:ea typeface="Arial"/>
                <a:cs typeface="Arial"/>
                <a:sym typeface="Arial"/>
              </a:rPr>
              <a:t>← 目标是到达这里 →</a:t>
            </a:r>
            <a:endParaRPr sz="1100"/>
          </a:p>
        </p:txBody>
      </p:sp>
      <p:sp>
        <p:nvSpPr>
          <p:cNvPr id="409" name="Google Shape;409;p41"/>
          <p:cNvSpPr/>
          <p:nvPr/>
        </p:nvSpPr>
        <p:spPr>
          <a:xfrm>
            <a:off x="2471738" y="3371850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41"/>
          <p:cNvSpPr/>
          <p:nvPr/>
        </p:nvSpPr>
        <p:spPr>
          <a:xfrm>
            <a:off x="928688" y="3371850"/>
            <a:ext cx="4286250" cy="985838"/>
          </a:xfrm>
          <a:custGeom>
            <a:rect b="b" l="l" r="r" t="t"/>
            <a:pathLst>
              <a:path extrusionOk="0" h="1314450" w="5715000">
                <a:moveTo>
                  <a:pt x="2057400" y="0"/>
                </a:moveTo>
                <a:lnTo>
                  <a:pt x="3657600" y="0"/>
                </a:lnTo>
                <a:lnTo>
                  <a:pt x="5715000" y="1314450"/>
                </a:lnTo>
                <a:lnTo>
                  <a:pt x="0" y="1314450"/>
                </a:lnTo>
                <a:close/>
              </a:path>
            </a:pathLst>
          </a:custGeom>
          <a:solidFill>
            <a:srgbClr val="F97316"/>
          </a:solidFill>
          <a:ln>
            <a:noFill/>
          </a:ln>
        </p:spPr>
      </p:sp>
      <p:sp>
        <p:nvSpPr>
          <p:cNvPr id="411" name="Google Shape;411;p41"/>
          <p:cNvSpPr txBox="1"/>
          <p:nvPr/>
        </p:nvSpPr>
        <p:spPr>
          <a:xfrm>
            <a:off x="2880664" y="3715464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</a:t>
            </a:r>
            <a:endParaRPr sz="1100"/>
          </a:p>
        </p:txBody>
      </p:sp>
      <p:sp>
        <p:nvSpPr>
          <p:cNvPr id="412" name="Google Shape;412;p41"/>
          <p:cNvSpPr txBox="1"/>
          <p:nvPr/>
        </p:nvSpPr>
        <p:spPr>
          <a:xfrm>
            <a:off x="2847642" y="3840480"/>
            <a:ext cx="44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聊天</a:t>
            </a:r>
            <a:endParaRPr sz="1100"/>
          </a:p>
        </p:txBody>
      </p:sp>
      <p:sp>
        <p:nvSpPr>
          <p:cNvPr id="413" name="Google Shape;413;p41"/>
          <p:cNvSpPr txBox="1"/>
          <p:nvPr/>
        </p:nvSpPr>
        <p:spPr>
          <a:xfrm>
            <a:off x="2304252" y="4071581"/>
            <a:ext cx="153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7ED"/>
                </a:solidFill>
                <a:latin typeface="Arial"/>
                <a:ea typeface="Arial"/>
                <a:cs typeface="Arial"/>
                <a:sym typeface="Arial"/>
              </a:rPr>
              <a:t>ChatGPT · Claude · 豆包网页版</a:t>
            </a:r>
            <a:endParaRPr sz="1100"/>
          </a:p>
        </p:txBody>
      </p:sp>
      <p:sp>
        <p:nvSpPr>
          <p:cNvPr id="414" name="Google Shape;414;p41"/>
          <p:cNvSpPr/>
          <p:nvPr/>
        </p:nvSpPr>
        <p:spPr>
          <a:xfrm>
            <a:off x="2214563" y="4257675"/>
            <a:ext cx="1714500" cy="185700"/>
          </a:xfrm>
          <a:prstGeom prst="roundRect">
            <a:avLst>
              <a:gd fmla="val 50000" name="adj"/>
            </a:avLst>
          </a:prstGeom>
          <a:solidFill>
            <a:srgbClr val="1C1917">
              <a:alpha val="25099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41"/>
          <p:cNvSpPr txBox="1"/>
          <p:nvPr/>
        </p:nvSpPr>
        <p:spPr>
          <a:xfrm>
            <a:off x="2529866" y="4300181"/>
            <a:ext cx="10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的人停在这一层</a:t>
            </a:r>
            <a:endParaRPr sz="1100"/>
          </a:p>
        </p:txBody>
      </p:sp>
      <p:sp>
        <p:nvSpPr>
          <p:cNvPr id="416" name="Google Shape;416;p41"/>
          <p:cNvSpPr/>
          <p:nvPr/>
        </p:nvSpPr>
        <p:spPr>
          <a:xfrm>
            <a:off x="4393406" y="1357313"/>
            <a:ext cx="1250156" cy="107156"/>
          </a:xfrm>
          <a:custGeom>
            <a:rect b="b" l="l" r="r" t="t"/>
            <a:pathLst>
              <a:path extrusionOk="0" h="142875" w="1666875">
                <a:moveTo>
                  <a:pt x="0" y="142875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C2410C">
                <a:alpha val="50199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417" name="Google Shape;417;p41"/>
          <p:cNvSpPr/>
          <p:nvPr/>
        </p:nvSpPr>
        <p:spPr>
          <a:xfrm>
            <a:off x="4393406" y="2571750"/>
            <a:ext cx="1250156" cy="214313"/>
          </a:xfrm>
          <a:custGeom>
            <a:rect b="b" l="l" r="r" t="t"/>
            <a:pathLst>
              <a:path extrusionOk="0" h="285750" w="1666875">
                <a:moveTo>
                  <a:pt x="0" y="285750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EA580C">
                <a:alpha val="50199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418" name="Google Shape;418;p41"/>
          <p:cNvSpPr/>
          <p:nvPr/>
        </p:nvSpPr>
        <p:spPr>
          <a:xfrm>
            <a:off x="5214938" y="3786188"/>
            <a:ext cx="428625" cy="71438"/>
          </a:xfrm>
          <a:custGeom>
            <a:rect b="b" l="l" r="r" t="t"/>
            <a:pathLst>
              <a:path extrusionOk="0" h="95250" w="571500">
                <a:moveTo>
                  <a:pt x="0" y="95250"/>
                </a:moveTo>
                <a:lnTo>
                  <a:pt x="571500" y="0"/>
                </a:lnTo>
              </a:path>
            </a:pathLst>
          </a:custGeom>
          <a:noFill/>
          <a:ln cap="flat" cmpd="sng" w="14275">
            <a:solidFill>
              <a:srgbClr val="F97316">
                <a:alpha val="50199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419" name="Google Shape;419;p41"/>
          <p:cNvSpPr/>
          <p:nvPr/>
        </p:nvSpPr>
        <p:spPr>
          <a:xfrm>
            <a:off x="5643563" y="3300413"/>
            <a:ext cx="3143400" cy="1071600"/>
          </a:xfrm>
          <a:prstGeom prst="roundRect">
            <a:avLst>
              <a:gd fmla="val 8000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41"/>
          <p:cNvSpPr/>
          <p:nvPr/>
        </p:nvSpPr>
        <p:spPr>
          <a:xfrm>
            <a:off x="5643563" y="3300413"/>
            <a:ext cx="42900" cy="1071600"/>
          </a:xfrm>
          <a:prstGeom prst="roundRect">
            <a:avLst>
              <a:gd fmla="val 50000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41"/>
          <p:cNvSpPr/>
          <p:nvPr/>
        </p:nvSpPr>
        <p:spPr>
          <a:xfrm>
            <a:off x="5715000" y="3300413"/>
            <a:ext cx="3100500" cy="257100"/>
          </a:xfrm>
          <a:prstGeom prst="roundRect">
            <a:avLst>
              <a:gd fmla="val 33333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41"/>
          <p:cNvSpPr/>
          <p:nvPr/>
        </p:nvSpPr>
        <p:spPr>
          <a:xfrm>
            <a:off x="5715000" y="3429000"/>
            <a:ext cx="3100500" cy="1287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41"/>
          <p:cNvSpPr txBox="1"/>
          <p:nvPr/>
        </p:nvSpPr>
        <p:spPr>
          <a:xfrm>
            <a:off x="5832872" y="3380780"/>
            <a:ext cx="188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第一层：聊天 | 95%+ 用户在这里</a:t>
            </a:r>
            <a:endParaRPr sz="1100"/>
          </a:p>
        </p:txBody>
      </p:sp>
      <p:sp>
        <p:nvSpPr>
          <p:cNvPr id="424" name="Google Shape;424;p41"/>
          <p:cNvSpPr txBox="1"/>
          <p:nvPr/>
        </p:nvSpPr>
        <p:spPr>
          <a:xfrm>
            <a:off x="5762864" y="3621524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问问题、得答案，像搜索引擎升级版</a:t>
            </a:r>
            <a:endParaRPr sz="1100"/>
          </a:p>
        </p:txBody>
      </p:sp>
      <p:sp>
        <p:nvSpPr>
          <p:cNvPr id="425" name="Google Shape;425;p41"/>
          <p:cNvSpPr txBox="1"/>
          <p:nvPr/>
        </p:nvSpPr>
        <p:spPr>
          <a:xfrm>
            <a:off x="5762864" y="3778687"/>
            <a:ext cx="195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AI 对你的文件夹一无所知，只能当场回答</a:t>
            </a:r>
            <a:endParaRPr sz="1100"/>
          </a:p>
        </p:txBody>
      </p:sp>
      <p:sp>
        <p:nvSpPr>
          <p:cNvPr id="426" name="Google Shape;426;p41"/>
          <p:cNvSpPr txBox="1"/>
          <p:nvPr/>
        </p:nvSpPr>
        <p:spPr>
          <a:xfrm>
            <a:off x="5762864" y="39358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适合：日常问答、灵感生成、简单翻译</a:t>
            </a:r>
            <a:endParaRPr sz="1100"/>
          </a:p>
        </p:txBody>
      </p:sp>
      <p:sp>
        <p:nvSpPr>
          <p:cNvPr id="427" name="Google Shape;427;p41"/>
          <p:cNvSpPr txBox="1"/>
          <p:nvPr/>
        </p:nvSpPr>
        <p:spPr>
          <a:xfrm>
            <a:off x="5762864" y="4121587"/>
            <a:ext cx="194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不能停在这里 — 还有更大的威力等着你</a:t>
            </a:r>
            <a:endParaRPr sz="1100"/>
          </a:p>
        </p:txBody>
      </p:sp>
      <p:sp>
        <p:nvSpPr>
          <p:cNvPr id="428" name="Google Shape;428;p41"/>
          <p:cNvSpPr/>
          <p:nvPr/>
        </p:nvSpPr>
        <p:spPr>
          <a:xfrm>
            <a:off x="5643563" y="2057400"/>
            <a:ext cx="3143400" cy="1157400"/>
          </a:xfrm>
          <a:prstGeom prst="roundRect">
            <a:avLst>
              <a:gd fmla="val 7407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41"/>
          <p:cNvSpPr/>
          <p:nvPr/>
        </p:nvSpPr>
        <p:spPr>
          <a:xfrm>
            <a:off x="5643563" y="2057400"/>
            <a:ext cx="42900" cy="11574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41"/>
          <p:cNvSpPr/>
          <p:nvPr/>
        </p:nvSpPr>
        <p:spPr>
          <a:xfrm>
            <a:off x="5715000" y="2057400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41"/>
          <p:cNvSpPr/>
          <p:nvPr/>
        </p:nvSpPr>
        <p:spPr>
          <a:xfrm>
            <a:off x="5715000" y="2200275"/>
            <a:ext cx="3100500" cy="1287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41"/>
          <p:cNvSpPr txBox="1"/>
          <p:nvPr/>
        </p:nvSpPr>
        <p:spPr>
          <a:xfrm>
            <a:off x="5832872" y="2152055"/>
            <a:ext cx="2059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第二层：在文件夹里工作 | ★ 目标层</a:t>
            </a:r>
            <a:endParaRPr sz="1100"/>
          </a:p>
        </p:txBody>
      </p:sp>
      <p:sp>
        <p:nvSpPr>
          <p:cNvPr id="433" name="Google Shape;433;p41"/>
          <p:cNvSpPr txBox="1"/>
          <p:nvPr/>
        </p:nvSpPr>
        <p:spPr>
          <a:xfrm>
            <a:off x="5762864" y="2407087"/>
            <a:ext cx="1989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让 AI 直接读写你的本地文件夹，实时操作</a:t>
            </a:r>
            <a:endParaRPr sz="1100"/>
          </a:p>
        </p:txBody>
      </p:sp>
      <p:sp>
        <p:nvSpPr>
          <p:cNvPr id="434" name="Google Shape;434;p41"/>
          <p:cNvSpPr txBox="1"/>
          <p:nvPr/>
        </p:nvSpPr>
        <p:spPr>
          <a:xfrm>
            <a:off x="5762864" y="25642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读文件 — 分析最新版本，不再重复发</a:t>
            </a:r>
            <a:endParaRPr sz="1100"/>
          </a:p>
        </p:txBody>
      </p:sp>
      <p:sp>
        <p:nvSpPr>
          <p:cNvPr id="435" name="Google Shape;435;p41"/>
          <p:cNvSpPr txBox="1"/>
          <p:nvPr/>
        </p:nvSpPr>
        <p:spPr>
          <a:xfrm>
            <a:off x="5762864" y="2721412"/>
            <a:ext cx="2069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写文件 — 生成 Word/HTML/代码，存本地</a:t>
            </a:r>
            <a:endParaRPr sz="1100"/>
          </a:p>
        </p:txBody>
      </p:sp>
      <p:sp>
        <p:nvSpPr>
          <p:cNvPr id="436" name="Google Shape;436;p41"/>
          <p:cNvSpPr txBox="1"/>
          <p:nvPr/>
        </p:nvSpPr>
        <p:spPr>
          <a:xfrm>
            <a:off x="5762864" y="2878574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改文件 — 直接修合同/代码，左右看上下文</a:t>
            </a:r>
            <a:endParaRPr sz="1100"/>
          </a:p>
        </p:txBody>
      </p:sp>
      <p:sp>
        <p:nvSpPr>
          <p:cNvPr id="437" name="Google Shape;437;p41"/>
          <p:cNvSpPr txBox="1"/>
          <p:nvPr/>
        </p:nvSpPr>
        <p:spPr>
          <a:xfrm>
            <a:off x="5762878" y="3035724"/>
            <a:ext cx="2595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→ </a:t>
            </a:r>
            <a:r>
              <a:rPr b="1" lang="en" sz="700">
                <a:solidFill>
                  <a:srgbClr val="EA580C"/>
                </a:solidFill>
              </a:rPr>
              <a:t>第一课</a:t>
            </a: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课程：Claude Code/</a:t>
            </a:r>
            <a:r>
              <a:rPr b="1" lang="en" sz="700">
                <a:solidFill>
                  <a:srgbClr val="EA580C"/>
                </a:solidFill>
              </a:rPr>
              <a:t>Cowork </a:t>
            </a: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 带你进入第二层</a:t>
            </a:r>
            <a:endParaRPr sz="1100"/>
          </a:p>
        </p:txBody>
      </p:sp>
      <p:sp>
        <p:nvSpPr>
          <p:cNvPr id="438" name="Google Shape;438;p41"/>
          <p:cNvSpPr/>
          <p:nvPr/>
        </p:nvSpPr>
        <p:spPr>
          <a:xfrm>
            <a:off x="5643563" y="771525"/>
            <a:ext cx="3143400" cy="1200300"/>
          </a:xfrm>
          <a:prstGeom prst="roundRect">
            <a:avLst>
              <a:gd fmla="val 7143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41"/>
          <p:cNvSpPr/>
          <p:nvPr/>
        </p:nvSpPr>
        <p:spPr>
          <a:xfrm>
            <a:off x="5643563" y="771525"/>
            <a:ext cx="42900" cy="1200300"/>
          </a:xfrm>
          <a:prstGeom prst="roundRect">
            <a:avLst>
              <a:gd fmla="val 50000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41"/>
          <p:cNvSpPr/>
          <p:nvPr/>
        </p:nvSpPr>
        <p:spPr>
          <a:xfrm>
            <a:off x="5715000" y="771525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41"/>
          <p:cNvSpPr/>
          <p:nvPr/>
        </p:nvSpPr>
        <p:spPr>
          <a:xfrm>
            <a:off x="5715000" y="914400"/>
            <a:ext cx="3100500" cy="1287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41"/>
          <p:cNvSpPr txBox="1"/>
          <p:nvPr/>
        </p:nvSpPr>
        <p:spPr>
          <a:xfrm>
            <a:off x="5832872" y="873323"/>
            <a:ext cx="187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第三层：给 AI 写技能 | 深度玩家</a:t>
            </a:r>
            <a:endParaRPr sz="1100"/>
          </a:p>
        </p:txBody>
      </p:sp>
      <p:sp>
        <p:nvSpPr>
          <p:cNvPr id="443" name="Google Shape;443;p41"/>
          <p:cNvSpPr txBox="1"/>
          <p:nvPr/>
        </p:nvSpPr>
        <p:spPr>
          <a:xfrm>
            <a:off x="5762864" y="1135499"/>
            <a:ext cx="202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为 AI 写 Skill，把工作流打包成可复用工具</a:t>
            </a:r>
            <a:endParaRPr sz="1100"/>
          </a:p>
        </p:txBody>
      </p:sp>
      <p:sp>
        <p:nvSpPr>
          <p:cNvPr id="444" name="Google Shape;444;p41"/>
          <p:cNvSpPr txBox="1"/>
          <p:nvPr/>
        </p:nvSpPr>
        <p:spPr>
          <a:xfrm>
            <a:off x="5762864" y="1292662"/>
            <a:ext cx="2186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包含：工具定义 · MCP · 系统提示词 · 上下文</a:t>
            </a:r>
            <a:endParaRPr sz="1100"/>
          </a:p>
        </p:txBody>
      </p:sp>
      <p:sp>
        <p:nvSpPr>
          <p:cNvPr id="445" name="Google Shape;445;p41"/>
          <p:cNvSpPr txBox="1"/>
          <p:nvPr/>
        </p:nvSpPr>
        <p:spPr>
          <a:xfrm>
            <a:off x="5762864" y="1449824"/>
            <a:ext cx="207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"人人都是程序员" — 创造别人也能用的东西</a:t>
            </a:r>
            <a:endParaRPr sz="1100"/>
          </a:p>
        </p:txBody>
      </p:sp>
      <p:sp>
        <p:nvSpPr>
          <p:cNvPr id="446" name="Google Shape;446;p41"/>
          <p:cNvSpPr txBox="1"/>
          <p:nvPr/>
        </p:nvSpPr>
        <p:spPr>
          <a:xfrm>
            <a:off x="5762879" y="1606975"/>
            <a:ext cx="2270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→ </a:t>
            </a:r>
            <a:r>
              <a:rPr b="1" lang="en" sz="700">
                <a:solidFill>
                  <a:srgbClr val="C2410C"/>
                </a:solidFill>
              </a:rPr>
              <a:t>第二,</a:t>
            </a:r>
            <a:r>
              <a:rPr b="1" lang="en" sz="700">
                <a:solidFill>
                  <a:srgbClr val="C2410C"/>
                </a:solidFill>
              </a:rPr>
              <a:t>三</a:t>
            </a:r>
            <a:r>
              <a:rPr b="1" lang="en" sz="700">
                <a:solidFill>
                  <a:srgbClr val="C2410C"/>
                </a:solidFill>
              </a:rPr>
              <a:t>课</a:t>
            </a: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课程： Agent 开发实战</a:t>
            </a:r>
            <a:r>
              <a:rPr b="1" lang="en" sz="700">
                <a:solidFill>
                  <a:srgbClr val="C2410C"/>
                </a:solidFill>
              </a:rPr>
              <a:t>，Claude Design</a:t>
            </a:r>
            <a:endParaRPr sz="1100"/>
          </a:p>
        </p:txBody>
      </p:sp>
      <p:sp>
        <p:nvSpPr>
          <p:cNvPr id="447" name="Google Shape;447;p41"/>
          <p:cNvSpPr txBox="1"/>
          <p:nvPr/>
        </p:nvSpPr>
        <p:spPr>
          <a:xfrm>
            <a:off x="5763577" y="1770221"/>
            <a:ext cx="2003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不是所有人都需要到这里 — 但先到第二层再说</a:t>
            </a:r>
            <a:endParaRPr sz="1100"/>
          </a:p>
        </p:txBody>
      </p:sp>
      <p:sp>
        <p:nvSpPr>
          <p:cNvPr id="448" name="Google Shape;448;p41"/>
          <p:cNvSpPr txBox="1"/>
          <p:nvPr/>
        </p:nvSpPr>
        <p:spPr>
          <a:xfrm>
            <a:off x="8790224" y="4978837"/>
            <a:ext cx="13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pic>
        <p:nvPicPr>
          <p:cNvPr id="449" name="Google Shape;449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8188" y="88753"/>
            <a:ext cx="357187" cy="494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2"/>
          <p:cNvSpPr/>
          <p:nvPr/>
        </p:nvSpPr>
        <p:spPr>
          <a:xfrm>
            <a:off x="2571750" y="428625"/>
            <a:ext cx="4000500" cy="400050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2"/>
          <p:cNvSpPr/>
          <p:nvPr/>
        </p:nvSpPr>
        <p:spPr>
          <a:xfrm>
            <a:off x="3000375" y="857250"/>
            <a:ext cx="3143250" cy="314325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57" name="Google Shape;457;p42"/>
          <p:cNvGrpSpPr/>
          <p:nvPr/>
        </p:nvGrpSpPr>
        <p:grpSpPr>
          <a:xfrm>
            <a:off x="696516" y="696516"/>
            <a:ext cx="7750969" cy="3750469"/>
            <a:chOff x="928688" y="928688"/>
            <a:chExt cx="10334625" cy="5000625"/>
          </a:xfrm>
        </p:grpSpPr>
        <p:sp>
          <p:nvSpPr>
            <p:cNvPr id="458" name="Google Shape;458;p42"/>
            <p:cNvSpPr/>
            <p:nvPr/>
          </p:nvSpPr>
          <p:spPr>
            <a:xfrm>
              <a:off x="928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42"/>
            <p:cNvSpPr/>
            <p:nvPr/>
          </p:nvSpPr>
          <p:spPr>
            <a:xfrm>
              <a:off x="1309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42"/>
            <p:cNvSpPr/>
            <p:nvPr/>
          </p:nvSpPr>
          <p:spPr>
            <a:xfrm>
              <a:off x="1690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42"/>
            <p:cNvSpPr/>
            <p:nvPr/>
          </p:nvSpPr>
          <p:spPr>
            <a:xfrm>
              <a:off x="928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42"/>
            <p:cNvSpPr/>
            <p:nvPr/>
          </p:nvSpPr>
          <p:spPr>
            <a:xfrm>
              <a:off x="1309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42"/>
            <p:cNvSpPr/>
            <p:nvPr/>
          </p:nvSpPr>
          <p:spPr>
            <a:xfrm>
              <a:off x="1690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42"/>
            <p:cNvSpPr/>
            <p:nvPr/>
          </p:nvSpPr>
          <p:spPr>
            <a:xfrm>
              <a:off x="10453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p42"/>
            <p:cNvSpPr/>
            <p:nvPr/>
          </p:nvSpPr>
          <p:spPr>
            <a:xfrm>
              <a:off x="10834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p42"/>
            <p:cNvSpPr/>
            <p:nvPr/>
          </p:nvSpPr>
          <p:spPr>
            <a:xfrm>
              <a:off x="11215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42"/>
            <p:cNvSpPr/>
            <p:nvPr/>
          </p:nvSpPr>
          <p:spPr>
            <a:xfrm>
              <a:off x="10453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42"/>
            <p:cNvSpPr/>
            <p:nvPr/>
          </p:nvSpPr>
          <p:spPr>
            <a:xfrm>
              <a:off x="10834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42"/>
            <p:cNvSpPr/>
            <p:nvPr/>
          </p:nvSpPr>
          <p:spPr>
            <a:xfrm>
              <a:off x="11215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0" name="Google Shape;470;p42"/>
          <p:cNvSpPr txBox="1"/>
          <p:nvPr/>
        </p:nvSpPr>
        <p:spPr>
          <a:xfrm>
            <a:off x="3955825" y="668298"/>
            <a:ext cx="123235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S2 + S3 的核心公式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2"/>
          <p:cNvSpPr txBox="1"/>
          <p:nvPr/>
        </p:nvSpPr>
        <p:spPr>
          <a:xfrm>
            <a:off x="3134678" y="1285875"/>
            <a:ext cx="287464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42"/>
          <p:cNvSpPr txBox="1"/>
          <p:nvPr/>
        </p:nvSpPr>
        <p:spPr>
          <a:xfrm>
            <a:off x="4411499" y="1970246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42"/>
          <p:cNvSpPr txBox="1"/>
          <p:nvPr/>
        </p:nvSpPr>
        <p:spPr>
          <a:xfrm>
            <a:off x="3462469" y="2428875"/>
            <a:ext cx="2219063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2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2"/>
          <p:cNvSpPr/>
          <p:nvPr/>
        </p:nvSpPr>
        <p:spPr>
          <a:xfrm>
            <a:off x="2357438" y="3457575"/>
            <a:ext cx="4429125" cy="5143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42"/>
          <p:cNvSpPr txBox="1"/>
          <p:nvPr/>
        </p:nvSpPr>
        <p:spPr>
          <a:xfrm>
            <a:off x="3544795" y="3553301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42"/>
          <p:cNvSpPr txBox="1"/>
          <p:nvPr/>
        </p:nvSpPr>
        <p:spPr>
          <a:xfrm>
            <a:off x="2433527" y="4268748"/>
            <a:ext cx="42769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你懂的领域 + 正确的工具 + 方法论 = 别人做不了、你却能交付的东西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42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6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3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3"/>
          <p:cNvSpPr txBox="1"/>
          <p:nvPr/>
        </p:nvSpPr>
        <p:spPr>
          <a:xfrm>
            <a:off x="560070" y="195739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什么是 Claude Code？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3"/>
          <p:cNvSpPr txBox="1"/>
          <p:nvPr/>
        </p:nvSpPr>
        <p:spPr>
          <a:xfrm>
            <a:off x="574358" y="488633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S2 的核心工具 · 在你的终端里直接开发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43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43"/>
          <p:cNvSpPr/>
          <p:nvPr/>
        </p:nvSpPr>
        <p:spPr>
          <a:xfrm>
            <a:off x="457200" y="842963"/>
            <a:ext cx="3500438" cy="3500438"/>
          </a:xfrm>
          <a:prstGeom prst="roundRect">
            <a:avLst>
              <a:gd fmla="val 24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43"/>
          <p:cNvSpPr/>
          <p:nvPr/>
        </p:nvSpPr>
        <p:spPr>
          <a:xfrm>
            <a:off x="457200" y="842963"/>
            <a:ext cx="3500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43"/>
          <p:cNvSpPr/>
          <p:nvPr/>
        </p:nvSpPr>
        <p:spPr>
          <a:xfrm>
            <a:off x="1750219" y="1143000"/>
            <a:ext cx="914400" cy="9144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43"/>
          <p:cNvSpPr/>
          <p:nvPr/>
        </p:nvSpPr>
        <p:spPr>
          <a:xfrm>
            <a:off x="1993103" y="1376288"/>
            <a:ext cx="451275" cy="453036"/>
          </a:xfrm>
          <a:custGeom>
            <a:rect b="b" l="l" r="r" t="t"/>
            <a:pathLst>
              <a:path extrusionOk="0" h="604048" w="601700">
                <a:moveTo>
                  <a:pt x="428629" y="51090"/>
                </a:moveTo>
                <a:cubicBezTo>
                  <a:pt x="548723" y="120427"/>
                  <a:pt x="601700" y="265982"/>
                  <a:pt x="554270" y="396292"/>
                </a:cubicBezTo>
                <a:cubicBezTo>
                  <a:pt x="506840" y="526602"/>
                  <a:pt x="372695" y="604048"/>
                  <a:pt x="236129" y="579965"/>
                </a:cubicBezTo>
                <a:cubicBezTo>
                  <a:pt x="99562" y="555882"/>
                  <a:pt x="0" y="437223"/>
                  <a:pt x="4" y="298550"/>
                </a:cubicBezTo>
                <a:lnTo>
                  <a:pt x="146" y="289292"/>
                </a:lnTo>
                <a:cubicBezTo>
                  <a:pt x="3402" y="188907"/>
                  <a:pt x="59120" y="97602"/>
                  <a:pt x="146905" y="48801"/>
                </a:cubicBezTo>
                <a:cubicBezTo>
                  <a:pt x="234689" y="0"/>
                  <a:pt x="341649" y="869"/>
                  <a:pt x="428629" y="51090"/>
                </a:cubicBezTo>
                <a:moveTo>
                  <a:pt x="248806" y="221197"/>
                </a:moveTo>
                <a:cubicBezTo>
                  <a:pt x="237648" y="210042"/>
                  <a:pt x="219560" y="210042"/>
                  <a:pt x="208401" y="221197"/>
                </a:cubicBezTo>
                <a:lnTo>
                  <a:pt x="151251" y="278347"/>
                </a:lnTo>
                <a:cubicBezTo>
                  <a:pt x="140096" y="289506"/>
                  <a:pt x="140096" y="307594"/>
                  <a:pt x="151251" y="318752"/>
                </a:cubicBezTo>
                <a:lnTo>
                  <a:pt x="208401" y="375902"/>
                </a:lnTo>
                <a:cubicBezTo>
                  <a:pt x="219560" y="387058"/>
                  <a:pt x="237648" y="387058"/>
                  <a:pt x="248806" y="375902"/>
                </a:cubicBezTo>
                <a:lnTo>
                  <a:pt x="251178" y="373216"/>
                </a:lnTo>
                <a:cubicBezTo>
                  <a:pt x="260002" y="361841"/>
                  <a:pt x="258985" y="345678"/>
                  <a:pt x="248806" y="335497"/>
                </a:cubicBezTo>
                <a:lnTo>
                  <a:pt x="211887" y="298550"/>
                </a:lnTo>
                <a:lnTo>
                  <a:pt x="248806" y="261602"/>
                </a:lnTo>
                <a:cubicBezTo>
                  <a:pt x="259961" y="250444"/>
                  <a:pt x="259961" y="232356"/>
                  <a:pt x="248806" y="221197"/>
                </a:cubicBezTo>
                <a:moveTo>
                  <a:pt x="363106" y="221197"/>
                </a:moveTo>
                <a:cubicBezTo>
                  <a:pt x="351948" y="210042"/>
                  <a:pt x="333860" y="210042"/>
                  <a:pt x="322701" y="221197"/>
                </a:cubicBezTo>
                <a:lnTo>
                  <a:pt x="320329" y="223883"/>
                </a:lnTo>
                <a:cubicBezTo>
                  <a:pt x="311505" y="235259"/>
                  <a:pt x="312522" y="251422"/>
                  <a:pt x="322701" y="261602"/>
                </a:cubicBezTo>
                <a:lnTo>
                  <a:pt x="359620" y="298550"/>
                </a:lnTo>
                <a:lnTo>
                  <a:pt x="322701" y="335497"/>
                </a:lnTo>
                <a:cubicBezTo>
                  <a:pt x="311872" y="346710"/>
                  <a:pt x="312027" y="364532"/>
                  <a:pt x="323049" y="375554"/>
                </a:cubicBezTo>
                <a:cubicBezTo>
                  <a:pt x="334071" y="386577"/>
                  <a:pt x="351894" y="386732"/>
                  <a:pt x="363106" y="375902"/>
                </a:cubicBezTo>
                <a:lnTo>
                  <a:pt x="420256" y="318752"/>
                </a:lnTo>
                <a:cubicBezTo>
                  <a:pt x="431411" y="307594"/>
                  <a:pt x="431411" y="289506"/>
                  <a:pt x="420256" y="278347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43"/>
          <p:cNvSpPr txBox="1"/>
          <p:nvPr/>
        </p:nvSpPr>
        <p:spPr>
          <a:xfrm>
            <a:off x="1615777" y="2183130"/>
            <a:ext cx="11832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3"/>
          <p:cNvSpPr txBox="1"/>
          <p:nvPr/>
        </p:nvSpPr>
        <p:spPr>
          <a:xfrm>
            <a:off x="1244754" y="2466380"/>
            <a:ext cx="19253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Anthropic 官方出品的 AI 编程工具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3"/>
          <p:cNvSpPr txBox="1"/>
          <p:nvPr/>
        </p:nvSpPr>
        <p:spPr>
          <a:xfrm>
            <a:off x="1565151" y="2637830"/>
            <a:ext cx="1284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直接在终端/IDE 中工作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3"/>
          <p:cNvSpPr/>
          <p:nvPr/>
        </p:nvSpPr>
        <p:spPr>
          <a:xfrm>
            <a:off x="714375" y="2914650"/>
            <a:ext cx="2986088" cy="7144"/>
          </a:xfrm>
          <a:custGeom>
            <a:rect b="b" l="l" r="r" t="t"/>
            <a:pathLst>
              <a:path extrusionOk="0" h="9525" w="3981450">
                <a:moveTo>
                  <a:pt x="0" y="0"/>
                </a:moveTo>
                <a:lnTo>
                  <a:pt x="39814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3"/>
          <p:cNvSpPr/>
          <p:nvPr/>
        </p:nvSpPr>
        <p:spPr>
          <a:xfrm>
            <a:off x="685800" y="3014663"/>
            <a:ext cx="3086100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43"/>
          <p:cNvSpPr txBox="1"/>
          <p:nvPr/>
        </p:nvSpPr>
        <p:spPr>
          <a:xfrm>
            <a:off x="1073652" y="3076814"/>
            <a:ext cx="2310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claude "帮我搭建理财知识库"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43"/>
          <p:cNvSpPr txBox="1"/>
          <p:nvPr/>
        </p:nvSpPr>
        <p:spPr>
          <a:xfrm>
            <a:off x="1268677" y="3429714"/>
            <a:ext cx="18774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一句话描述，AI 自动生成代码并运行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43"/>
          <p:cNvSpPr txBox="1"/>
          <p:nvPr/>
        </p:nvSpPr>
        <p:spPr>
          <a:xfrm>
            <a:off x="1372190" y="3601164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读文件·写代码·调 API·执行命令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43"/>
          <p:cNvSpPr txBox="1"/>
          <p:nvPr/>
        </p:nvSpPr>
        <p:spPr>
          <a:xfrm>
            <a:off x="1737360" y="3772614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全程无需手动操作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43"/>
          <p:cNvSpPr/>
          <p:nvPr/>
        </p:nvSpPr>
        <p:spPr>
          <a:xfrm>
            <a:off x="4171950" y="842963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43"/>
          <p:cNvSpPr/>
          <p:nvPr/>
        </p:nvSpPr>
        <p:spPr>
          <a:xfrm>
            <a:off x="4171950" y="842963"/>
            <a:ext cx="28575" cy="800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43"/>
          <p:cNvSpPr/>
          <p:nvPr/>
        </p:nvSpPr>
        <p:spPr>
          <a:xfrm>
            <a:off x="4345431" y="1001316"/>
            <a:ext cx="124525" cy="157652"/>
          </a:xfrm>
          <a:custGeom>
            <a:rect b="b" l="l" r="r" t="t"/>
            <a:pathLst>
              <a:path extrusionOk="0" h="210203" w="166034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3"/>
          <p:cNvSpPr txBox="1"/>
          <p:nvPr/>
        </p:nvSpPr>
        <p:spPr>
          <a:xfrm>
            <a:off x="4574144" y="996911"/>
            <a:ext cx="11534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工程师：10× 提速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43"/>
          <p:cNvSpPr txBox="1"/>
          <p:nvPr/>
        </p:nvSpPr>
        <p:spPr>
          <a:xfrm>
            <a:off x="4304824" y="1215152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 Skill / 写脚本 / 调 API，代码写完直接跑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43"/>
          <p:cNvSpPr txBox="1"/>
          <p:nvPr/>
        </p:nvSpPr>
        <p:spPr>
          <a:xfrm>
            <a:off x="4304824" y="1386602"/>
            <a:ext cx="19407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不用切换 IDE，就在终端一条命令搞定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43"/>
          <p:cNvSpPr/>
          <p:nvPr/>
        </p:nvSpPr>
        <p:spPr>
          <a:xfrm>
            <a:off x="4171950" y="1743075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43"/>
          <p:cNvSpPr/>
          <p:nvPr/>
        </p:nvSpPr>
        <p:spPr>
          <a:xfrm>
            <a:off x="4171950" y="1743075"/>
            <a:ext cx="28575" cy="8001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9" name="Google Shape;509;p43"/>
          <p:cNvGrpSpPr/>
          <p:nvPr/>
        </p:nvGrpSpPr>
        <p:grpSpPr>
          <a:xfrm>
            <a:off x="4353521" y="1901429"/>
            <a:ext cx="108347" cy="154781"/>
            <a:chOff x="5804694" y="2535238"/>
            <a:chExt cx="144463" cy="206374"/>
          </a:xfrm>
        </p:grpSpPr>
        <p:sp>
          <p:nvSpPr>
            <p:cNvPr id="510" name="Google Shape;510;p43"/>
            <p:cNvSpPr/>
            <p:nvPr/>
          </p:nvSpPr>
          <p:spPr>
            <a:xfrm>
              <a:off x="5825331" y="2535238"/>
              <a:ext cx="103187" cy="103187"/>
            </a:xfrm>
            <a:custGeom>
              <a:rect b="b" l="l" r="r" t="t"/>
              <a:pathLst>
                <a:path extrusionOk="0" h="103187" w="103187">
                  <a:moveTo>
                    <a:pt x="51594" y="0"/>
                  </a:moveTo>
                  <a:cubicBezTo>
                    <a:pt x="80088" y="0"/>
                    <a:pt x="103187" y="23099"/>
                    <a:pt x="103187" y="51594"/>
                  </a:cubicBezTo>
                  <a:cubicBezTo>
                    <a:pt x="103187" y="80088"/>
                    <a:pt x="80088" y="103187"/>
                    <a:pt x="51594" y="103187"/>
                  </a:cubicBezTo>
                  <a:cubicBezTo>
                    <a:pt x="23099" y="103187"/>
                    <a:pt x="0" y="80088"/>
                    <a:pt x="0" y="51594"/>
                  </a:cubicBezTo>
                  <a:lnTo>
                    <a:pt x="52" y="49355"/>
                  </a:lnTo>
                  <a:cubicBezTo>
                    <a:pt x="1250" y="21758"/>
                    <a:pt x="23971" y="2"/>
                    <a:pt x="51594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43"/>
            <p:cNvSpPr/>
            <p:nvPr/>
          </p:nvSpPr>
          <p:spPr>
            <a:xfrm>
              <a:off x="5804694" y="2659062"/>
              <a:ext cx="144463" cy="82550"/>
            </a:xfrm>
            <a:custGeom>
              <a:rect b="b" l="l" r="r" t="t"/>
              <a:pathLst>
                <a:path extrusionOk="0" h="82550" w="144463">
                  <a:moveTo>
                    <a:pt x="92869" y="0"/>
                  </a:moveTo>
                  <a:cubicBezTo>
                    <a:pt x="121363" y="0"/>
                    <a:pt x="144463" y="23099"/>
                    <a:pt x="144463" y="51594"/>
                  </a:cubicBezTo>
                  <a:lnTo>
                    <a:pt x="144463" y="61912"/>
                  </a:lnTo>
                  <a:cubicBezTo>
                    <a:pt x="144463" y="73310"/>
                    <a:pt x="135223" y="82550"/>
                    <a:pt x="123825" y="82550"/>
                  </a:cubicBezTo>
                  <a:lnTo>
                    <a:pt x="20638" y="82550"/>
                  </a:lnTo>
                  <a:cubicBezTo>
                    <a:pt x="9240" y="82550"/>
                    <a:pt x="0" y="73310"/>
                    <a:pt x="0" y="61912"/>
                  </a:cubicBezTo>
                  <a:lnTo>
                    <a:pt x="0" y="51594"/>
                  </a:lnTo>
                  <a:cubicBezTo>
                    <a:pt x="0" y="23099"/>
                    <a:pt x="23099" y="0"/>
                    <a:pt x="51594" y="0"/>
                  </a:cubicBezTo>
                  <a:lnTo>
                    <a:pt x="92869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2" name="Google Shape;512;p43"/>
          <p:cNvSpPr txBox="1"/>
          <p:nvPr/>
        </p:nvSpPr>
        <p:spPr>
          <a:xfrm>
            <a:off x="4574144" y="1897023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非工程师：零门槛上手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43"/>
          <p:cNvSpPr txBox="1"/>
          <p:nvPr/>
        </p:nvSpPr>
        <p:spPr>
          <a:xfrm>
            <a:off x="4304824" y="2115264"/>
            <a:ext cx="21075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说人话就能产出代码 · 不需要学编程语言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3"/>
          <p:cNvSpPr txBox="1"/>
          <p:nvPr/>
        </p:nvSpPr>
        <p:spPr>
          <a:xfrm>
            <a:off x="4304824" y="2286714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把你的想法变成可运行的工具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3"/>
          <p:cNvSpPr/>
          <p:nvPr/>
        </p:nvSpPr>
        <p:spPr>
          <a:xfrm>
            <a:off x="4171950" y="2643188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43"/>
          <p:cNvSpPr/>
          <p:nvPr/>
        </p:nvSpPr>
        <p:spPr>
          <a:xfrm>
            <a:off x="4171950" y="2643188"/>
            <a:ext cx="28575" cy="8001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17" name="Google Shape;517;p43"/>
          <p:cNvGrpSpPr/>
          <p:nvPr/>
        </p:nvGrpSpPr>
        <p:grpSpPr>
          <a:xfrm>
            <a:off x="4333508" y="2812396"/>
            <a:ext cx="143838" cy="129202"/>
            <a:chOff x="5778010" y="3749861"/>
            <a:chExt cx="191784" cy="172269"/>
          </a:xfrm>
        </p:grpSpPr>
        <p:sp>
          <p:nvSpPr>
            <p:cNvPr id="518" name="Google Shape;518;p43"/>
            <p:cNvSpPr/>
            <p:nvPr/>
          </p:nvSpPr>
          <p:spPr>
            <a:xfrm>
              <a:off x="5778010" y="3749861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43"/>
            <p:cNvSpPr/>
            <p:nvPr/>
          </p:nvSpPr>
          <p:spPr>
            <a:xfrm>
              <a:off x="5778010" y="3811773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43"/>
            <p:cNvSpPr/>
            <p:nvPr/>
          </p:nvSpPr>
          <p:spPr>
            <a:xfrm>
              <a:off x="5778010" y="3873686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43"/>
            <p:cNvSpPr/>
            <p:nvPr/>
          </p:nvSpPr>
          <p:spPr>
            <a:xfrm>
              <a:off x="5856288" y="3766344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43"/>
            <p:cNvSpPr/>
            <p:nvPr/>
          </p:nvSpPr>
          <p:spPr>
            <a:xfrm>
              <a:off x="5856288" y="3828256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43"/>
            <p:cNvSpPr/>
            <p:nvPr/>
          </p:nvSpPr>
          <p:spPr>
            <a:xfrm>
              <a:off x="5856288" y="3890169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4" name="Google Shape;524;p43"/>
          <p:cNvSpPr txBox="1"/>
          <p:nvPr/>
        </p:nvSpPr>
        <p:spPr>
          <a:xfrm>
            <a:off x="4574144" y="2797136"/>
            <a:ext cx="212128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Skills 系统：可复用的 AI 工作流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43"/>
          <p:cNvSpPr txBox="1"/>
          <p:nvPr/>
        </p:nvSpPr>
        <p:spPr>
          <a:xfrm>
            <a:off x="4304824" y="3015377"/>
            <a:ext cx="22915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把你的操作流程封装成命令 (/ticker-scan)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43"/>
          <p:cNvSpPr txBox="1"/>
          <p:nvPr/>
        </p:nvSpPr>
        <p:spPr>
          <a:xfrm>
            <a:off x="4304824" y="31868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一次定义，反复复用，标准一致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43"/>
          <p:cNvSpPr/>
          <p:nvPr/>
        </p:nvSpPr>
        <p:spPr>
          <a:xfrm>
            <a:off x="4171950" y="3543300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43"/>
          <p:cNvSpPr/>
          <p:nvPr/>
        </p:nvSpPr>
        <p:spPr>
          <a:xfrm>
            <a:off x="4171950" y="3543300"/>
            <a:ext cx="28575" cy="800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9" name="Google Shape;529;p43"/>
          <p:cNvGrpSpPr/>
          <p:nvPr/>
        </p:nvGrpSpPr>
        <p:grpSpPr>
          <a:xfrm>
            <a:off x="4350678" y="3692816"/>
            <a:ext cx="120612" cy="163837"/>
            <a:chOff x="5800904" y="4923754"/>
            <a:chExt cx="160816" cy="218449"/>
          </a:xfrm>
        </p:grpSpPr>
        <p:sp>
          <p:nvSpPr>
            <p:cNvPr id="530" name="Google Shape;530;p43"/>
            <p:cNvSpPr/>
            <p:nvPr/>
          </p:nvSpPr>
          <p:spPr>
            <a:xfrm>
              <a:off x="5815012" y="4956173"/>
              <a:ext cx="103594" cy="103984"/>
            </a:xfrm>
            <a:custGeom>
              <a:rect b="b" l="l" r="r" t="t"/>
              <a:pathLst>
                <a:path extrusionOk="0" h="103984" w="103594">
                  <a:moveTo>
                    <a:pt x="51594" y="2"/>
                  </a:moveTo>
                  <a:cubicBezTo>
                    <a:pt x="79797" y="0"/>
                    <a:pt x="102776" y="22646"/>
                    <a:pt x="103185" y="50847"/>
                  </a:cubicBezTo>
                  <a:cubicBezTo>
                    <a:pt x="103594" y="79048"/>
                    <a:pt x="81283" y="102351"/>
                    <a:pt x="53091" y="103167"/>
                  </a:cubicBezTo>
                  <a:cubicBezTo>
                    <a:pt x="24899" y="103984"/>
                    <a:pt x="1276" y="82012"/>
                    <a:pt x="52" y="53835"/>
                  </a:cubicBezTo>
                  <a:lnTo>
                    <a:pt x="0" y="51595"/>
                  </a:lnTo>
                  <a:lnTo>
                    <a:pt x="52" y="49356"/>
                  </a:lnTo>
                  <a:cubicBezTo>
                    <a:pt x="1250" y="21760"/>
                    <a:pt x="23971" y="3"/>
                    <a:pt x="51594" y="2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3"/>
            <p:cNvSpPr/>
            <p:nvPr/>
          </p:nvSpPr>
          <p:spPr>
            <a:xfrm>
              <a:off x="5800904" y="4923754"/>
              <a:ext cx="160816" cy="182961"/>
            </a:xfrm>
            <a:custGeom>
              <a:rect b="b" l="l" r="r" t="t"/>
              <a:pathLst>
                <a:path extrusionOk="0" h="182961" w="160816">
                  <a:moveTo>
                    <a:pt x="98031" y="6645"/>
                  </a:moveTo>
                  <a:cubicBezTo>
                    <a:pt x="100870" y="1705"/>
                    <a:pt x="107175" y="0"/>
                    <a:pt x="112116" y="2837"/>
                  </a:cubicBezTo>
                  <a:cubicBezTo>
                    <a:pt x="142797" y="20471"/>
                    <a:pt x="160816" y="53986"/>
                    <a:pt x="158603" y="89305"/>
                  </a:cubicBezTo>
                  <a:cubicBezTo>
                    <a:pt x="156390" y="124623"/>
                    <a:pt x="134330" y="155627"/>
                    <a:pt x="101688" y="169294"/>
                  </a:cubicBezTo>
                  <a:cubicBezTo>
                    <a:pt x="69046" y="182961"/>
                    <a:pt x="31477" y="176924"/>
                    <a:pt x="4760" y="153718"/>
                  </a:cubicBezTo>
                  <a:cubicBezTo>
                    <a:pt x="457" y="149979"/>
                    <a:pt x="0" y="143461"/>
                    <a:pt x="3738" y="139158"/>
                  </a:cubicBezTo>
                  <a:cubicBezTo>
                    <a:pt x="7477" y="134855"/>
                    <a:pt x="13996" y="134398"/>
                    <a:pt x="18298" y="138137"/>
                  </a:cubicBezTo>
                  <a:cubicBezTo>
                    <a:pt x="39087" y="156194"/>
                    <a:pt x="68322" y="160892"/>
                    <a:pt x="93722" y="150257"/>
                  </a:cubicBezTo>
                  <a:cubicBezTo>
                    <a:pt x="119122" y="139622"/>
                    <a:pt x="136288" y="115497"/>
                    <a:pt x="138010" y="88015"/>
                  </a:cubicBezTo>
                  <a:cubicBezTo>
                    <a:pt x="139732" y="60532"/>
                    <a:pt x="125712" y="34452"/>
                    <a:pt x="101839" y="20730"/>
                  </a:cubicBezTo>
                  <a:cubicBezTo>
                    <a:pt x="96899" y="17891"/>
                    <a:pt x="95194" y="11586"/>
                    <a:pt x="98031" y="6645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43"/>
            <p:cNvSpPr/>
            <p:nvPr/>
          </p:nvSpPr>
          <p:spPr>
            <a:xfrm>
              <a:off x="5856288" y="5080000"/>
              <a:ext cx="20637" cy="62203"/>
            </a:xfrm>
            <a:custGeom>
              <a:rect b="b" l="l" r="r" t="t"/>
              <a:pathLst>
                <a:path extrusionOk="0" h="62203" w="20637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7" y="10319"/>
                  </a:lnTo>
                  <a:lnTo>
                    <a:pt x="20637" y="51594"/>
                  </a:lnTo>
                  <a:cubicBezTo>
                    <a:pt x="20631" y="57053"/>
                    <a:pt x="16374" y="61563"/>
                    <a:pt x="10923" y="61883"/>
                  </a:cubicBezTo>
                  <a:cubicBezTo>
                    <a:pt x="5473" y="62203"/>
                    <a:pt x="717" y="58222"/>
                    <a:pt x="72" y="52801"/>
                  </a:cubicBezTo>
                  <a:lnTo>
                    <a:pt x="0" y="51594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43"/>
            <p:cNvSpPr/>
            <p:nvPr/>
          </p:nvSpPr>
          <p:spPr>
            <a:xfrm>
              <a:off x="5814722" y="5121275"/>
              <a:ext cx="103769" cy="20638"/>
            </a:xfrm>
            <a:custGeom>
              <a:rect b="b" l="l" r="r" t="t"/>
              <a:pathLst>
                <a:path extrusionOk="0" h="20638" w="103769">
                  <a:moveTo>
                    <a:pt x="93160" y="0"/>
                  </a:moveTo>
                  <a:cubicBezTo>
                    <a:pt x="98619" y="6"/>
                    <a:pt x="103129" y="4264"/>
                    <a:pt x="103449" y="9714"/>
                  </a:cubicBezTo>
                  <a:cubicBezTo>
                    <a:pt x="103769" y="15164"/>
                    <a:pt x="99788" y="19920"/>
                    <a:pt x="94367" y="20565"/>
                  </a:cubicBezTo>
                  <a:lnTo>
                    <a:pt x="93160" y="20638"/>
                  </a:lnTo>
                  <a:lnTo>
                    <a:pt x="10610" y="20638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9316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4" name="Google Shape;534;p43"/>
          <p:cNvSpPr txBox="1"/>
          <p:nvPr/>
        </p:nvSpPr>
        <p:spPr>
          <a:xfrm>
            <a:off x="4574144" y="3697248"/>
            <a:ext cx="19746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Projects：AI 记住你的上下文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43"/>
          <p:cNvSpPr txBox="1"/>
          <p:nvPr/>
        </p:nvSpPr>
        <p:spPr>
          <a:xfrm>
            <a:off x="4304824" y="3915489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CLAUDE.md 让 AI 永久记住你的规则和偏好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43"/>
          <p:cNvSpPr txBox="1"/>
          <p:nvPr/>
        </p:nvSpPr>
        <p:spPr>
          <a:xfrm>
            <a:off x="4304824" y="408693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不用每次重复交代背景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3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7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44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543" name="Google Shape;543;p4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44"/>
            <p:cNvSpPr/>
            <p:nvPr/>
          </p:nvSpPr>
          <p:spPr>
            <a:xfrm>
              <a:off x="11363325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44"/>
            <p:cNvSpPr/>
            <p:nvPr/>
          </p:nvSpPr>
          <p:spPr>
            <a:xfrm>
              <a:off x="11510962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46" name="Google Shape;546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7" name="Google Shape;547;p44"/>
          <p:cNvGrpSpPr/>
          <p:nvPr/>
        </p:nvGrpSpPr>
        <p:grpSpPr>
          <a:xfrm>
            <a:off x="2350110" y="255746"/>
            <a:ext cx="6413771" cy="422910"/>
            <a:chOff x="3133480" y="340995"/>
            <a:chExt cx="8551694" cy="563880"/>
          </a:xfrm>
        </p:grpSpPr>
        <p:sp>
          <p:nvSpPr>
            <p:cNvPr id="548" name="Google Shape;548;p44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07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44"/>
            <p:cNvSpPr txBox="1"/>
            <p:nvPr/>
          </p:nvSpPr>
          <p:spPr>
            <a:xfrm>
              <a:off x="3133480" y="402908"/>
              <a:ext cx="5925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lang="en" sz="2400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知识库构建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44"/>
            <p:cNvSpPr/>
            <p:nvPr/>
          </p:nvSpPr>
          <p:spPr>
            <a:xfrm>
              <a:off x="5619750" y="885825"/>
              <a:ext cx="952500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1" name="Google Shape;551;p44"/>
          <p:cNvGrpSpPr/>
          <p:nvPr/>
        </p:nvGrpSpPr>
        <p:grpSpPr>
          <a:xfrm>
            <a:off x="428625" y="828675"/>
            <a:ext cx="2571750" cy="3143250"/>
            <a:chOff x="571500" y="1104900"/>
            <a:chExt cx="3429000" cy="4191000"/>
          </a:xfrm>
        </p:grpSpPr>
        <p:sp>
          <p:nvSpPr>
            <p:cNvPr id="552" name="Google Shape;552;p44"/>
            <p:cNvSpPr/>
            <p:nvPr/>
          </p:nvSpPr>
          <p:spPr>
            <a:xfrm>
              <a:off x="57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44"/>
            <p:cNvSpPr/>
            <p:nvPr/>
          </p:nvSpPr>
          <p:spPr>
            <a:xfrm>
              <a:off x="57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44"/>
            <p:cNvSpPr/>
            <p:nvPr/>
          </p:nvSpPr>
          <p:spPr>
            <a:xfrm>
              <a:off x="74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44"/>
            <p:cNvSpPr txBox="1"/>
            <p:nvPr/>
          </p:nvSpPr>
          <p:spPr>
            <a:xfrm>
              <a:off x="825263" y="1255395"/>
              <a:ext cx="1401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44"/>
            <p:cNvSpPr/>
            <p:nvPr/>
          </p:nvSpPr>
          <p:spPr>
            <a:xfrm>
              <a:off x="2095500" y="1397913"/>
              <a:ext cx="381000" cy="317438"/>
            </a:xfrm>
            <a:custGeom>
              <a:rect b="b" l="l" r="r" t="t"/>
              <a:pathLst>
                <a:path extrusionOk="0" h="317438" w="381000">
                  <a:moveTo>
                    <a:pt x="371475" y="33390"/>
                  </a:moveTo>
                  <a:cubicBezTo>
                    <a:pt x="376677" y="36394"/>
                    <a:pt x="380158" y="41675"/>
                    <a:pt x="380867" y="47640"/>
                  </a:cubicBezTo>
                  <a:lnTo>
                    <a:pt x="381000" y="49887"/>
                  </a:lnTo>
                  <a:lnTo>
                    <a:pt x="381000" y="297537"/>
                  </a:lnTo>
                  <a:cubicBezTo>
                    <a:pt x="381000" y="304343"/>
                    <a:pt x="377369" y="310632"/>
                    <a:pt x="371475" y="314035"/>
                  </a:cubicBezTo>
                  <a:cubicBezTo>
                    <a:pt x="365581" y="317438"/>
                    <a:pt x="358319" y="317438"/>
                    <a:pt x="352425" y="314035"/>
                  </a:cubicBezTo>
                  <a:cubicBezTo>
                    <a:pt x="308596" y="288726"/>
                    <a:pt x="255062" y="286828"/>
                    <a:pt x="209550" y="308967"/>
                  </a:cubicBezTo>
                  <a:lnTo>
                    <a:pt x="209550" y="19903"/>
                  </a:lnTo>
                  <a:cubicBezTo>
                    <a:pt x="262832" y="0"/>
                    <a:pt x="322220" y="4947"/>
                    <a:pt x="371475" y="33390"/>
                  </a:cubicBezTo>
                  <a:moveTo>
                    <a:pt x="171450" y="19922"/>
                  </a:moveTo>
                  <a:lnTo>
                    <a:pt x="171469" y="308986"/>
                  </a:lnTo>
                  <a:cubicBezTo>
                    <a:pt x="127802" y="287729"/>
                    <a:pt x="76618" y="288557"/>
                    <a:pt x="33661" y="311215"/>
                  </a:cubicBezTo>
                  <a:lnTo>
                    <a:pt x="27432" y="314644"/>
                  </a:lnTo>
                  <a:lnTo>
                    <a:pt x="25470" y="315483"/>
                  </a:lnTo>
                  <a:lnTo>
                    <a:pt x="24536" y="315787"/>
                  </a:lnTo>
                  <a:lnTo>
                    <a:pt x="22441" y="316283"/>
                  </a:lnTo>
                  <a:lnTo>
                    <a:pt x="21279" y="316473"/>
                  </a:lnTo>
                  <a:lnTo>
                    <a:pt x="19050" y="316587"/>
                  </a:lnTo>
                  <a:lnTo>
                    <a:pt x="18250" y="316587"/>
                  </a:lnTo>
                  <a:lnTo>
                    <a:pt x="16154" y="316359"/>
                  </a:lnTo>
                  <a:lnTo>
                    <a:pt x="14688" y="316092"/>
                  </a:lnTo>
                  <a:lnTo>
                    <a:pt x="12630" y="315483"/>
                  </a:lnTo>
                  <a:lnTo>
                    <a:pt x="10230" y="314416"/>
                  </a:lnTo>
                  <a:lnTo>
                    <a:pt x="8420" y="313349"/>
                  </a:lnTo>
                  <a:lnTo>
                    <a:pt x="6725" y="312073"/>
                  </a:lnTo>
                  <a:lnTo>
                    <a:pt x="5582" y="311006"/>
                  </a:lnTo>
                  <a:lnTo>
                    <a:pt x="4191" y="309444"/>
                  </a:lnTo>
                  <a:lnTo>
                    <a:pt x="2972" y="307748"/>
                  </a:lnTo>
                  <a:lnTo>
                    <a:pt x="2553" y="307062"/>
                  </a:lnTo>
                  <a:lnTo>
                    <a:pt x="1943" y="305919"/>
                  </a:lnTo>
                  <a:lnTo>
                    <a:pt x="1105" y="303957"/>
                  </a:lnTo>
                  <a:lnTo>
                    <a:pt x="800" y="303024"/>
                  </a:lnTo>
                  <a:lnTo>
                    <a:pt x="305" y="300928"/>
                  </a:lnTo>
                  <a:lnTo>
                    <a:pt x="114" y="299766"/>
                  </a:lnTo>
                  <a:lnTo>
                    <a:pt x="38" y="298833"/>
                  </a:lnTo>
                  <a:lnTo>
                    <a:pt x="0" y="49887"/>
                  </a:lnTo>
                  <a:cubicBezTo>
                    <a:pt x="0" y="43082"/>
                    <a:pt x="3631" y="36793"/>
                    <a:pt x="9525" y="33390"/>
                  </a:cubicBezTo>
                  <a:cubicBezTo>
                    <a:pt x="58783" y="4953"/>
                    <a:pt x="118171" y="13"/>
                    <a:pt x="171450" y="1992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4"/>
            <p:cNvSpPr txBox="1"/>
            <p:nvPr/>
          </p:nvSpPr>
          <p:spPr>
            <a:xfrm>
              <a:off x="1663160" y="2132648"/>
              <a:ext cx="1245680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4"/>
            <p:cNvSpPr/>
            <p:nvPr/>
          </p:nvSpPr>
          <p:spPr>
            <a:xfrm>
              <a:off x="74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4"/>
            <p:cNvSpPr txBox="1"/>
            <p:nvPr/>
          </p:nvSpPr>
          <p:spPr>
            <a:xfrm>
              <a:off x="1500188" y="2714625"/>
              <a:ext cx="15716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你的行业文章、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4"/>
            <p:cNvSpPr txBox="1"/>
            <p:nvPr/>
          </p:nvSpPr>
          <p:spPr>
            <a:xfrm>
              <a:off x="1281112" y="3019425"/>
              <a:ext cx="20097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案例笔记、权威来源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4"/>
            <p:cNvSpPr/>
            <p:nvPr/>
          </p:nvSpPr>
          <p:spPr>
            <a:xfrm>
              <a:off x="112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4"/>
            <p:cNvSpPr txBox="1"/>
            <p:nvPr/>
          </p:nvSpPr>
          <p:spPr>
            <a:xfrm>
              <a:off x="1614488" y="492680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你已有的专业积累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3" name="Google Shape;563;p44"/>
          <p:cNvSpPr/>
          <p:nvPr/>
        </p:nvSpPr>
        <p:spPr>
          <a:xfrm>
            <a:off x="30146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</p:sp>
      <p:grpSp>
        <p:nvGrpSpPr>
          <p:cNvPr id="564" name="Google Shape;564;p44"/>
          <p:cNvGrpSpPr/>
          <p:nvPr/>
        </p:nvGrpSpPr>
        <p:grpSpPr>
          <a:xfrm>
            <a:off x="3286125" y="828675"/>
            <a:ext cx="2571750" cy="3143250"/>
            <a:chOff x="4381500" y="1104900"/>
            <a:chExt cx="3429000" cy="4191000"/>
          </a:xfrm>
        </p:grpSpPr>
        <p:sp>
          <p:nvSpPr>
            <p:cNvPr id="565" name="Google Shape;565;p44"/>
            <p:cNvSpPr/>
            <p:nvPr/>
          </p:nvSpPr>
          <p:spPr>
            <a:xfrm>
              <a:off x="438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438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4"/>
            <p:cNvSpPr/>
            <p:nvPr/>
          </p:nvSpPr>
          <p:spPr>
            <a:xfrm>
              <a:off x="455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4"/>
            <p:cNvSpPr txBox="1"/>
            <p:nvPr/>
          </p:nvSpPr>
          <p:spPr>
            <a:xfrm>
              <a:off x="461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69" name="Google Shape;569;p44"/>
            <p:cNvGrpSpPr/>
            <p:nvPr/>
          </p:nvGrpSpPr>
          <p:grpSpPr>
            <a:xfrm>
              <a:off x="5924549" y="1371600"/>
              <a:ext cx="342901" cy="381000"/>
              <a:chOff x="5924549" y="1371600"/>
              <a:chExt cx="342901" cy="381000"/>
            </a:xfrm>
          </p:grpSpPr>
          <p:sp>
            <p:nvSpPr>
              <p:cNvPr id="570" name="Google Shape;570;p44"/>
              <p:cNvSpPr/>
              <p:nvPr/>
            </p:nvSpPr>
            <p:spPr>
              <a:xfrm>
                <a:off x="5924550" y="16331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89421"/>
                      <a:pt x="268700" y="118205"/>
                      <a:pt x="177298" y="119386"/>
                    </a:cubicBezTo>
                    <a:lnTo>
                      <a:pt x="171450" y="119424"/>
                    </a:lnTo>
                    <a:cubicBezTo>
                      <a:pt x="77381" y="119424"/>
                      <a:pt x="0" y="90411"/>
                      <a:pt x="0" y="43224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1" name="Google Shape;571;p44"/>
              <p:cNvSpPr/>
              <p:nvPr/>
            </p:nvSpPr>
            <p:spPr>
              <a:xfrm>
                <a:off x="5924550" y="15188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90411"/>
                      <a:pt x="265519" y="119424"/>
                      <a:pt x="171450" y="119424"/>
                    </a:cubicBezTo>
                    <a:cubicBezTo>
                      <a:pt x="80048" y="119424"/>
                      <a:pt x="4382" y="92031"/>
                      <a:pt x="400" y="47130"/>
                    </a:cubicBezTo>
                    <a:lnTo>
                      <a:pt x="95" y="45206"/>
                    </a:lnTo>
                    <a:lnTo>
                      <a:pt x="0" y="43224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44"/>
              <p:cNvSpPr/>
              <p:nvPr/>
            </p:nvSpPr>
            <p:spPr>
              <a:xfrm>
                <a:off x="5924549" y="1371600"/>
                <a:ext cx="342901" cy="152400"/>
              </a:xfrm>
              <a:custGeom>
                <a:rect b="b" l="l" r="r" t="t"/>
                <a:pathLst>
                  <a:path extrusionOk="0" h="152400" w="342901">
                    <a:moveTo>
                      <a:pt x="171451" y="0"/>
                    </a:moveTo>
                    <a:cubicBezTo>
                      <a:pt x="191283" y="0"/>
                      <a:pt x="210390" y="1295"/>
                      <a:pt x="228163" y="3772"/>
                    </a:cubicBezTo>
                    <a:lnTo>
                      <a:pt x="237098" y="5124"/>
                    </a:lnTo>
                    <a:cubicBezTo>
                      <a:pt x="247766" y="6902"/>
                      <a:pt x="257837" y="9112"/>
                      <a:pt x="267311" y="11754"/>
                    </a:cubicBezTo>
                    <a:lnTo>
                      <a:pt x="275693" y="14249"/>
                    </a:lnTo>
                    <a:lnTo>
                      <a:pt x="277122" y="14707"/>
                    </a:lnTo>
                    <a:cubicBezTo>
                      <a:pt x="282306" y="16411"/>
                      <a:pt x="287422" y="18318"/>
                      <a:pt x="292457" y="20422"/>
                    </a:cubicBezTo>
                    <a:lnTo>
                      <a:pt x="296248" y="22060"/>
                    </a:lnTo>
                    <a:cubicBezTo>
                      <a:pt x="303043" y="25133"/>
                      <a:pt x="309183" y="28499"/>
                      <a:pt x="314669" y="32156"/>
                    </a:cubicBezTo>
                    <a:cubicBezTo>
                      <a:pt x="316765" y="33553"/>
                      <a:pt x="318752" y="34982"/>
                      <a:pt x="320632" y="36443"/>
                    </a:cubicBezTo>
                    <a:cubicBezTo>
                      <a:pt x="325393" y="40137"/>
                      <a:pt x="329675" y="44412"/>
                      <a:pt x="333376" y="49168"/>
                    </a:cubicBezTo>
                    <a:lnTo>
                      <a:pt x="335110" y="51606"/>
                    </a:lnTo>
                    <a:cubicBezTo>
                      <a:pt x="335999" y="52940"/>
                      <a:pt x="336818" y="54280"/>
                      <a:pt x="337567" y="55626"/>
                    </a:cubicBezTo>
                    <a:lnTo>
                      <a:pt x="338901" y="58274"/>
                    </a:lnTo>
                    <a:cubicBezTo>
                      <a:pt x="340971" y="62719"/>
                      <a:pt x="342241" y="67354"/>
                      <a:pt x="342711" y="72180"/>
                    </a:cubicBezTo>
                    <a:lnTo>
                      <a:pt x="342901" y="76200"/>
                    </a:lnTo>
                    <a:cubicBezTo>
                      <a:pt x="342901" y="123387"/>
                      <a:pt x="265520" y="152400"/>
                      <a:pt x="171451" y="152400"/>
                    </a:cubicBezTo>
                    <a:cubicBezTo>
                      <a:pt x="80050" y="152400"/>
                      <a:pt x="4383" y="125006"/>
                      <a:pt x="402" y="80105"/>
                    </a:cubicBezTo>
                    <a:cubicBezTo>
                      <a:pt x="134" y="78821"/>
                      <a:pt x="0" y="77512"/>
                      <a:pt x="1" y="76200"/>
                    </a:cubicBezTo>
                    <a:lnTo>
                      <a:pt x="97" y="74219"/>
                    </a:lnTo>
                    <a:lnTo>
                      <a:pt x="402" y="72314"/>
                    </a:lnTo>
                    <a:cubicBezTo>
                      <a:pt x="4307" y="28384"/>
                      <a:pt x="76792" y="1200"/>
                      <a:pt x="165508" y="38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73" name="Google Shape;573;p44"/>
            <p:cNvSpPr txBox="1"/>
            <p:nvPr/>
          </p:nvSpPr>
          <p:spPr>
            <a:xfrm>
              <a:off x="5622679" y="2132648"/>
              <a:ext cx="946642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4"/>
            <p:cNvSpPr/>
            <p:nvPr/>
          </p:nvSpPr>
          <p:spPr>
            <a:xfrm>
              <a:off x="455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" name="Google Shape;575;p44"/>
            <p:cNvSpPr txBox="1"/>
            <p:nvPr/>
          </p:nvSpPr>
          <p:spPr>
            <a:xfrm>
              <a:off x="5310188" y="2714625"/>
              <a:ext cx="15716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你的专业判断，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44"/>
            <p:cNvSpPr txBox="1"/>
            <p:nvPr/>
          </p:nvSpPr>
          <p:spPr>
            <a:xfrm>
              <a:off x="5529262" y="3019425"/>
              <a:ext cx="1133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结构化存入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4"/>
            <p:cNvSpPr/>
            <p:nvPr/>
          </p:nvSpPr>
          <p:spPr>
            <a:xfrm>
              <a:off x="493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A580C">
                  <a:alpha val="4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44"/>
            <p:cNvSpPr txBox="1"/>
            <p:nvPr/>
          </p:nvSpPr>
          <p:spPr>
            <a:xfrm>
              <a:off x="5387519" y="4926806"/>
              <a:ext cx="14169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你的专属 AI 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9" name="Google Shape;579;p44"/>
          <p:cNvSpPr/>
          <p:nvPr/>
        </p:nvSpPr>
        <p:spPr>
          <a:xfrm>
            <a:off x="58721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</p:sp>
      <p:grpSp>
        <p:nvGrpSpPr>
          <p:cNvPr id="580" name="Google Shape;580;p44"/>
          <p:cNvGrpSpPr/>
          <p:nvPr/>
        </p:nvGrpSpPr>
        <p:grpSpPr>
          <a:xfrm>
            <a:off x="6143625" y="828675"/>
            <a:ext cx="2571750" cy="3143250"/>
            <a:chOff x="8191500" y="1104900"/>
            <a:chExt cx="3429000" cy="4191000"/>
          </a:xfrm>
        </p:grpSpPr>
        <p:sp>
          <p:nvSpPr>
            <p:cNvPr id="581" name="Google Shape;581;p44"/>
            <p:cNvSpPr/>
            <p:nvPr/>
          </p:nvSpPr>
          <p:spPr>
            <a:xfrm>
              <a:off x="819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4"/>
            <p:cNvSpPr/>
            <p:nvPr/>
          </p:nvSpPr>
          <p:spPr>
            <a:xfrm>
              <a:off x="819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4"/>
            <p:cNvSpPr/>
            <p:nvPr/>
          </p:nvSpPr>
          <p:spPr>
            <a:xfrm>
              <a:off x="836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4"/>
            <p:cNvSpPr txBox="1"/>
            <p:nvPr/>
          </p:nvSpPr>
          <p:spPr>
            <a:xfrm>
              <a:off x="842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4"/>
            <p:cNvSpPr/>
            <p:nvPr/>
          </p:nvSpPr>
          <p:spPr>
            <a:xfrm>
              <a:off x="9715500" y="1390650"/>
              <a:ext cx="381000" cy="342900"/>
            </a:xfrm>
            <a:custGeom>
              <a:rect b="b" l="l" r="r" t="t"/>
              <a:pathLst>
                <a:path extrusionOk="0" h="342900" w="381000">
                  <a:moveTo>
                    <a:pt x="361950" y="0"/>
                  </a:moveTo>
                  <a:cubicBezTo>
                    <a:pt x="372471" y="0"/>
                    <a:pt x="381000" y="8529"/>
                    <a:pt x="381000" y="19050"/>
                  </a:cubicBezTo>
                  <a:cubicBezTo>
                    <a:pt x="381000" y="29571"/>
                    <a:pt x="372471" y="38100"/>
                    <a:pt x="361950" y="38100"/>
                  </a:cubicBezTo>
                  <a:lnTo>
                    <a:pt x="361950" y="209550"/>
                  </a:lnTo>
                  <a:cubicBezTo>
                    <a:pt x="361950" y="241113"/>
                    <a:pt x="336363" y="266700"/>
                    <a:pt x="304800" y="266700"/>
                  </a:cubicBezTo>
                  <a:lnTo>
                    <a:pt x="209550" y="266700"/>
                  </a:lnTo>
                  <a:lnTo>
                    <a:pt x="209550" y="304800"/>
                  </a:lnTo>
                  <a:lnTo>
                    <a:pt x="247650" y="304800"/>
                  </a:lnTo>
                  <a:cubicBezTo>
                    <a:pt x="258171" y="304800"/>
                    <a:pt x="266700" y="313329"/>
                    <a:pt x="266700" y="323850"/>
                  </a:cubicBezTo>
                  <a:cubicBezTo>
                    <a:pt x="266700" y="334371"/>
                    <a:pt x="258171" y="342900"/>
                    <a:pt x="247650" y="342900"/>
                  </a:cubicBezTo>
                  <a:lnTo>
                    <a:pt x="133350" y="342900"/>
                  </a:lnTo>
                  <a:cubicBezTo>
                    <a:pt x="122829" y="342900"/>
                    <a:pt x="114300" y="334371"/>
                    <a:pt x="114300" y="323850"/>
                  </a:cubicBezTo>
                  <a:cubicBezTo>
                    <a:pt x="114300" y="313329"/>
                    <a:pt x="122829" y="304800"/>
                    <a:pt x="133350" y="304800"/>
                  </a:cubicBezTo>
                  <a:lnTo>
                    <a:pt x="171450" y="304800"/>
                  </a:lnTo>
                  <a:lnTo>
                    <a:pt x="171450" y="266700"/>
                  </a:lnTo>
                  <a:lnTo>
                    <a:pt x="76200" y="266700"/>
                  </a:lnTo>
                  <a:cubicBezTo>
                    <a:pt x="44637" y="266700"/>
                    <a:pt x="19050" y="241113"/>
                    <a:pt x="19050" y="209550"/>
                  </a:cubicBez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lose/>
                  <a:moveTo>
                    <a:pt x="280168" y="81782"/>
                  </a:moveTo>
                  <a:cubicBezTo>
                    <a:pt x="272729" y="74345"/>
                    <a:pt x="260671" y="74345"/>
                    <a:pt x="253232" y="81782"/>
                  </a:cubicBezTo>
                  <a:lnTo>
                    <a:pt x="209550" y="125444"/>
                  </a:lnTo>
                  <a:lnTo>
                    <a:pt x="184918" y="100832"/>
                  </a:lnTo>
                  <a:cubicBezTo>
                    <a:pt x="177479" y="93395"/>
                    <a:pt x="165421" y="93395"/>
                    <a:pt x="157982" y="100832"/>
                  </a:cubicBezTo>
                  <a:lnTo>
                    <a:pt x="100832" y="157982"/>
                  </a:lnTo>
                  <a:cubicBezTo>
                    <a:pt x="93395" y="165421"/>
                    <a:pt x="93395" y="177479"/>
                    <a:pt x="100832" y="184918"/>
                  </a:cubicBezTo>
                  <a:lnTo>
                    <a:pt x="102622" y="186500"/>
                  </a:lnTo>
                  <a:cubicBezTo>
                    <a:pt x="110206" y="192382"/>
                    <a:pt x="120981" y="191705"/>
                    <a:pt x="127768" y="184918"/>
                  </a:cubicBezTo>
                  <a:lnTo>
                    <a:pt x="171450" y="141256"/>
                  </a:lnTo>
                  <a:lnTo>
                    <a:pt x="196082" y="165868"/>
                  </a:lnTo>
                  <a:cubicBezTo>
                    <a:pt x="203521" y="173305"/>
                    <a:pt x="215579" y="173305"/>
                    <a:pt x="223018" y="165868"/>
                  </a:cubicBezTo>
                  <a:lnTo>
                    <a:pt x="280168" y="108718"/>
                  </a:lnTo>
                  <a:cubicBezTo>
                    <a:pt x="287605" y="101279"/>
                    <a:pt x="287605" y="89221"/>
                    <a:pt x="280168" y="8178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4"/>
            <p:cNvSpPr txBox="1"/>
            <p:nvPr/>
          </p:nvSpPr>
          <p:spPr>
            <a:xfrm>
              <a:off x="9133642" y="2132648"/>
              <a:ext cx="1544717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为客户服务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4"/>
            <p:cNvSpPr/>
            <p:nvPr/>
          </p:nvSpPr>
          <p:spPr>
            <a:xfrm>
              <a:off x="836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4"/>
            <p:cNvSpPr txBox="1"/>
            <p:nvPr/>
          </p:nvSpPr>
          <p:spPr>
            <a:xfrm>
              <a:off x="8994219" y="2714625"/>
              <a:ext cx="1823561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AI 调用你的经验，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4"/>
            <p:cNvSpPr txBox="1"/>
            <p:nvPr/>
          </p:nvSpPr>
          <p:spPr>
            <a:xfrm>
              <a:off x="9120188" y="3019425"/>
              <a:ext cx="15716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而非互联网均值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4"/>
            <p:cNvSpPr/>
            <p:nvPr/>
          </p:nvSpPr>
          <p:spPr>
            <a:xfrm>
              <a:off x="874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4"/>
            <p:cNvSpPr txBox="1"/>
            <p:nvPr/>
          </p:nvSpPr>
          <p:spPr>
            <a:xfrm>
              <a:off x="9152334" y="492680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定制化客户分析报告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2" name="Google Shape;592;p44"/>
          <p:cNvGrpSpPr/>
          <p:nvPr/>
        </p:nvGrpSpPr>
        <p:grpSpPr>
          <a:xfrm>
            <a:off x="928688" y="4043363"/>
            <a:ext cx="6786563" cy="392906"/>
            <a:chOff x="1238250" y="5391150"/>
            <a:chExt cx="9048750" cy="523875"/>
          </a:xfrm>
        </p:grpSpPr>
        <p:sp>
          <p:nvSpPr>
            <p:cNvPr id="593" name="Google Shape;593;p44"/>
            <p:cNvSpPr/>
            <p:nvPr/>
          </p:nvSpPr>
          <p:spPr>
            <a:xfrm>
              <a:off x="1905000" y="5391150"/>
              <a:ext cx="8382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4"/>
            <p:cNvSpPr txBox="1"/>
            <p:nvPr/>
          </p:nvSpPr>
          <p:spPr>
            <a:xfrm>
              <a:off x="4506551" y="5466874"/>
              <a:ext cx="31788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知识库涵盖各行各业 — 你的专业积累就是你的武器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4"/>
            <p:cNvSpPr/>
            <p:nvPr/>
          </p:nvSpPr>
          <p:spPr>
            <a:xfrm>
              <a:off x="1238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4"/>
            <p:cNvSpPr txBox="1"/>
            <p:nvPr/>
          </p:nvSpPr>
          <p:spPr>
            <a:xfrm>
              <a:off x="1304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金融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4"/>
            <p:cNvSpPr/>
            <p:nvPr/>
          </p:nvSpPr>
          <p:spPr>
            <a:xfrm>
              <a:off x="1733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44"/>
            <p:cNvSpPr txBox="1"/>
            <p:nvPr/>
          </p:nvSpPr>
          <p:spPr>
            <a:xfrm>
              <a:off x="1800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医疗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44"/>
            <p:cNvSpPr/>
            <p:nvPr/>
          </p:nvSpPr>
          <p:spPr>
            <a:xfrm>
              <a:off x="2228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44"/>
            <p:cNvSpPr txBox="1"/>
            <p:nvPr/>
          </p:nvSpPr>
          <p:spPr>
            <a:xfrm>
              <a:off x="2295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法律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44"/>
            <p:cNvSpPr/>
            <p:nvPr/>
          </p:nvSpPr>
          <p:spPr>
            <a:xfrm>
              <a:off x="2724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p44"/>
            <p:cNvSpPr txBox="1"/>
            <p:nvPr/>
          </p:nvSpPr>
          <p:spPr>
            <a:xfrm>
              <a:off x="2790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教育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44"/>
            <p:cNvSpPr/>
            <p:nvPr/>
          </p:nvSpPr>
          <p:spPr>
            <a:xfrm>
              <a:off x="3219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4" name="Google Shape;604;p44"/>
            <p:cNvSpPr txBox="1"/>
            <p:nvPr/>
          </p:nvSpPr>
          <p:spPr>
            <a:xfrm>
              <a:off x="3286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咨询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5" name="Google Shape;605;p44"/>
            <p:cNvSpPr/>
            <p:nvPr/>
          </p:nvSpPr>
          <p:spPr>
            <a:xfrm>
              <a:off x="37147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" name="Google Shape;606;p44"/>
            <p:cNvSpPr txBox="1"/>
            <p:nvPr/>
          </p:nvSpPr>
          <p:spPr>
            <a:xfrm>
              <a:off x="37814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创业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" name="Google Shape;607;p44"/>
            <p:cNvSpPr/>
            <p:nvPr/>
          </p:nvSpPr>
          <p:spPr>
            <a:xfrm>
              <a:off x="42100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" name="Google Shape;608;p44"/>
            <p:cNvSpPr txBox="1"/>
            <p:nvPr/>
          </p:nvSpPr>
          <p:spPr>
            <a:xfrm>
              <a:off x="4335862" y="5732133"/>
              <a:ext cx="2856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HR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" name="Google Shape;609;p44"/>
            <p:cNvSpPr/>
            <p:nvPr/>
          </p:nvSpPr>
          <p:spPr>
            <a:xfrm>
              <a:off x="47053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44"/>
            <p:cNvSpPr txBox="1"/>
            <p:nvPr/>
          </p:nvSpPr>
          <p:spPr>
            <a:xfrm>
              <a:off x="47720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房产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44"/>
            <p:cNvSpPr/>
            <p:nvPr/>
          </p:nvSpPr>
          <p:spPr>
            <a:xfrm>
              <a:off x="52006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44"/>
            <p:cNvSpPr txBox="1"/>
            <p:nvPr/>
          </p:nvSpPr>
          <p:spPr>
            <a:xfrm>
              <a:off x="52673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营销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44"/>
            <p:cNvSpPr/>
            <p:nvPr/>
          </p:nvSpPr>
          <p:spPr>
            <a:xfrm>
              <a:off x="56959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44"/>
            <p:cNvSpPr txBox="1"/>
            <p:nvPr/>
          </p:nvSpPr>
          <p:spPr>
            <a:xfrm>
              <a:off x="57626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科技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44"/>
            <p:cNvSpPr/>
            <p:nvPr/>
          </p:nvSpPr>
          <p:spPr>
            <a:xfrm>
              <a:off x="6191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44"/>
            <p:cNvSpPr txBox="1"/>
            <p:nvPr/>
          </p:nvSpPr>
          <p:spPr>
            <a:xfrm>
              <a:off x="6257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保险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p44"/>
            <p:cNvSpPr/>
            <p:nvPr/>
          </p:nvSpPr>
          <p:spPr>
            <a:xfrm>
              <a:off x="6686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44"/>
            <p:cNvSpPr txBox="1"/>
            <p:nvPr/>
          </p:nvSpPr>
          <p:spPr>
            <a:xfrm>
              <a:off x="6753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移民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44"/>
            <p:cNvSpPr/>
            <p:nvPr/>
          </p:nvSpPr>
          <p:spPr>
            <a:xfrm>
              <a:off x="7181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p44"/>
            <p:cNvSpPr txBox="1"/>
            <p:nvPr/>
          </p:nvSpPr>
          <p:spPr>
            <a:xfrm>
              <a:off x="7248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税务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44"/>
            <p:cNvSpPr/>
            <p:nvPr/>
          </p:nvSpPr>
          <p:spPr>
            <a:xfrm>
              <a:off x="7677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44"/>
            <p:cNvSpPr txBox="1"/>
            <p:nvPr/>
          </p:nvSpPr>
          <p:spPr>
            <a:xfrm>
              <a:off x="7743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招聘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44"/>
            <p:cNvSpPr/>
            <p:nvPr/>
          </p:nvSpPr>
          <p:spPr>
            <a:xfrm>
              <a:off x="8172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44"/>
            <p:cNvSpPr txBox="1"/>
            <p:nvPr/>
          </p:nvSpPr>
          <p:spPr>
            <a:xfrm>
              <a:off x="8239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会计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44"/>
            <p:cNvSpPr/>
            <p:nvPr/>
          </p:nvSpPr>
          <p:spPr>
            <a:xfrm>
              <a:off x="8667750" y="5686425"/>
              <a:ext cx="533400" cy="209550"/>
            </a:xfrm>
            <a:prstGeom prst="roundRect">
              <a:avLst>
                <a:gd fmla="val 50000" name="adj"/>
              </a:avLst>
            </a:prstGeom>
            <a:solidFill>
              <a:srgbClr val="6B7280">
                <a:alpha val="7843"/>
              </a:srgbClr>
            </a:solidFill>
            <a:ln cap="flat" cmpd="sng" w="9525">
              <a:solidFill>
                <a:srgbClr val="9CA3AF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44"/>
            <p:cNvSpPr txBox="1"/>
            <p:nvPr/>
          </p:nvSpPr>
          <p:spPr>
            <a:xfrm>
              <a:off x="8755428" y="5732145"/>
              <a:ext cx="3580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…更多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7" name="Google Shape;627;p44"/>
          <p:cNvGrpSpPr/>
          <p:nvPr/>
        </p:nvGrpSpPr>
        <p:grpSpPr>
          <a:xfrm>
            <a:off x="2407551" y="4543425"/>
            <a:ext cx="4328898" cy="296466"/>
            <a:chOff x="3210068" y="6057900"/>
            <a:chExt cx="5771864" cy="395288"/>
          </a:xfrm>
        </p:grpSpPr>
        <p:sp>
          <p:nvSpPr>
            <p:cNvPr id="628" name="Google Shape;628;p44"/>
            <p:cNvSpPr/>
            <p:nvPr/>
          </p:nvSpPr>
          <p:spPr>
            <a:xfrm>
              <a:off x="4572000" y="6057900"/>
              <a:ext cx="3048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44"/>
            <p:cNvSpPr txBox="1"/>
            <p:nvPr/>
          </p:nvSpPr>
          <p:spPr>
            <a:xfrm>
              <a:off x="3210068" y="6178868"/>
              <a:ext cx="57718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不需要会写代码。需要的是</a:t>
              </a: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你的领域知识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——而那个，</a:t>
              </a:r>
              <a:r>
                <a:rPr b="1" i="0" lang="en" sz="10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你已经有了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。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0" name="Google Shape;630;p44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45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45"/>
          <p:cNvSpPr txBox="1"/>
          <p:nvPr/>
        </p:nvSpPr>
        <p:spPr>
          <a:xfrm>
            <a:off x="4205669" y="53149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S2 今晚分享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5"/>
          <p:cNvSpPr txBox="1"/>
          <p:nvPr/>
        </p:nvSpPr>
        <p:spPr>
          <a:xfrm>
            <a:off x="2852714" y="814388"/>
            <a:ext cx="343857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带走 理财知识库文件包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5"/>
          <p:cNvSpPr/>
          <p:nvPr/>
        </p:nvSpPr>
        <p:spPr>
          <a:xfrm>
            <a:off x="628650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5"/>
          <p:cNvSpPr/>
          <p:nvPr/>
        </p:nvSpPr>
        <p:spPr>
          <a:xfrm>
            <a:off x="628650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5"/>
          <p:cNvSpPr/>
          <p:nvPr/>
        </p:nvSpPr>
        <p:spPr>
          <a:xfrm>
            <a:off x="2043113" y="1600200"/>
            <a:ext cx="800100" cy="8001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2" name="Google Shape;642;p45"/>
          <p:cNvGrpSpPr/>
          <p:nvPr/>
        </p:nvGrpSpPr>
        <p:grpSpPr>
          <a:xfrm>
            <a:off x="2271706" y="1828800"/>
            <a:ext cx="342913" cy="343437"/>
            <a:chOff x="3028942" y="2438400"/>
            <a:chExt cx="457217" cy="457916"/>
          </a:xfrm>
        </p:grpSpPr>
        <p:sp>
          <p:nvSpPr>
            <p:cNvPr id="643" name="Google Shape;643;p45"/>
            <p:cNvSpPr/>
            <p:nvPr/>
          </p:nvSpPr>
          <p:spPr>
            <a:xfrm>
              <a:off x="30289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50800"/>
                  </a:lnTo>
                  <a:cubicBezTo>
                    <a:pt x="128193" y="50792"/>
                    <a:pt x="150288" y="71281"/>
                    <a:pt x="152281" y="97790"/>
                  </a:cubicBezTo>
                  <a:lnTo>
                    <a:pt x="152408" y="1016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101600"/>
                  </a:lnTo>
                  <a:cubicBezTo>
                    <a:pt x="0" y="75016"/>
                    <a:pt x="20489" y="52921"/>
                    <a:pt x="46998" y="50927"/>
                  </a:cubicBezTo>
                  <a:lnTo>
                    <a:pt x="50808" y="508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45"/>
            <p:cNvSpPr/>
            <p:nvPr/>
          </p:nvSpPr>
          <p:spPr>
            <a:xfrm>
              <a:off x="31813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254000"/>
                  </a:lnTo>
                  <a:cubicBezTo>
                    <a:pt x="128193" y="253992"/>
                    <a:pt x="150288" y="274481"/>
                    <a:pt x="152281" y="300990"/>
                  </a:cubicBezTo>
                  <a:lnTo>
                    <a:pt x="152408" y="304800"/>
                  </a:lnTo>
                  <a:lnTo>
                    <a:pt x="152408" y="381000"/>
                  </a:lnTo>
                  <a:cubicBezTo>
                    <a:pt x="152417" y="407584"/>
                    <a:pt x="131928" y="429679"/>
                    <a:pt x="105418" y="431673"/>
                  </a:cubicBez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46998" y="431673"/>
                  </a:lnTo>
                  <a:cubicBezTo>
                    <a:pt x="22008" y="429795"/>
                    <a:pt x="2120" y="409972"/>
                    <a:pt x="161" y="384988"/>
                  </a:cubicBezTo>
                  <a:lnTo>
                    <a:pt x="8" y="381000"/>
                  </a:lnTo>
                  <a:lnTo>
                    <a:pt x="8" y="304800"/>
                  </a:lnTo>
                  <a:cubicBezTo>
                    <a:pt x="0" y="278216"/>
                    <a:pt x="20489" y="256121"/>
                    <a:pt x="46998" y="254127"/>
                  </a:cubicBezTo>
                  <a:lnTo>
                    <a:pt x="50808" y="2540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45"/>
            <p:cNvSpPr/>
            <p:nvPr/>
          </p:nvSpPr>
          <p:spPr>
            <a:xfrm>
              <a:off x="33337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cubicBezTo>
                    <a:pt x="128193" y="25392"/>
                    <a:pt x="150288" y="45881"/>
                    <a:pt x="152281" y="72390"/>
                  </a:cubicBezTo>
                  <a:lnTo>
                    <a:pt x="152408" y="762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76200"/>
                  </a:lnTo>
                  <a:cubicBezTo>
                    <a:pt x="0" y="49616"/>
                    <a:pt x="20489" y="27521"/>
                    <a:pt x="46998" y="25527"/>
                  </a:cubicBez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46" name="Google Shape;646;p45"/>
          <p:cNvSpPr txBox="1"/>
          <p:nvPr/>
        </p:nvSpPr>
        <p:spPr>
          <a:xfrm>
            <a:off x="1526021" y="2523887"/>
            <a:ext cx="183428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理财知识库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45"/>
          <p:cNvSpPr txBox="1"/>
          <p:nvPr/>
        </p:nvSpPr>
        <p:spPr>
          <a:xfrm>
            <a:off x="1645313" y="2772489"/>
            <a:ext cx="15956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理财知识库模板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45"/>
          <p:cNvSpPr txBox="1"/>
          <p:nvPr/>
        </p:nvSpPr>
        <p:spPr>
          <a:xfrm>
            <a:off x="1737324" y="2929652"/>
            <a:ext cx="14116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理财入门指南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45"/>
          <p:cNvSpPr txBox="1"/>
          <p:nvPr/>
        </p:nvSpPr>
        <p:spPr>
          <a:xfrm>
            <a:off x="1915597" y="3129677"/>
            <a:ext cx="105513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今晚直播讲义整理版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45"/>
          <p:cNvSpPr/>
          <p:nvPr/>
        </p:nvSpPr>
        <p:spPr>
          <a:xfrm>
            <a:off x="914400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45"/>
          <p:cNvSpPr txBox="1"/>
          <p:nvPr/>
        </p:nvSpPr>
        <p:spPr>
          <a:xfrm>
            <a:off x="1896695" y="3610451"/>
            <a:ext cx="112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免费领取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45"/>
          <p:cNvSpPr/>
          <p:nvPr/>
        </p:nvSpPr>
        <p:spPr>
          <a:xfrm>
            <a:off x="4886325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5"/>
          <p:cNvSpPr/>
          <p:nvPr/>
        </p:nvSpPr>
        <p:spPr>
          <a:xfrm>
            <a:off x="4886325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45"/>
          <p:cNvSpPr/>
          <p:nvPr/>
        </p:nvSpPr>
        <p:spPr>
          <a:xfrm>
            <a:off x="6300788" y="1600200"/>
            <a:ext cx="800100" cy="8001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45"/>
          <p:cNvSpPr/>
          <p:nvPr/>
        </p:nvSpPr>
        <p:spPr>
          <a:xfrm>
            <a:off x="6548436" y="1809750"/>
            <a:ext cx="304803" cy="381001"/>
          </a:xfrm>
          <a:custGeom>
            <a:rect b="b" l="l" r="r" t="t"/>
            <a:pathLst>
              <a:path extrusionOk="0" h="508002" w="406404">
                <a:moveTo>
                  <a:pt x="203202" y="0"/>
                </a:moveTo>
                <a:lnTo>
                  <a:pt x="206174" y="178"/>
                </a:lnTo>
                <a:cubicBezTo>
                  <a:pt x="217845" y="1554"/>
                  <a:pt x="227048" y="10757"/>
                  <a:pt x="228424" y="22428"/>
                </a:cubicBezTo>
                <a:lnTo>
                  <a:pt x="228602" y="25400"/>
                </a:lnTo>
                <a:lnTo>
                  <a:pt x="228602" y="127000"/>
                </a:lnTo>
                <a:lnTo>
                  <a:pt x="228729" y="130810"/>
                </a:lnTo>
                <a:cubicBezTo>
                  <a:pt x="230607" y="155801"/>
                  <a:pt x="250430" y="175688"/>
                  <a:pt x="275414" y="177648"/>
                </a:cubicBezTo>
                <a:lnTo>
                  <a:pt x="279402" y="177800"/>
                </a:lnTo>
                <a:lnTo>
                  <a:pt x="381002" y="177800"/>
                </a:lnTo>
                <a:lnTo>
                  <a:pt x="383974" y="177978"/>
                </a:lnTo>
                <a:cubicBezTo>
                  <a:pt x="395645" y="179354"/>
                  <a:pt x="404848" y="188557"/>
                  <a:pt x="406224" y="200228"/>
                </a:cubicBezTo>
                <a:lnTo>
                  <a:pt x="406402" y="203200"/>
                </a:lnTo>
                <a:lnTo>
                  <a:pt x="406402" y="431800"/>
                </a:lnTo>
                <a:cubicBezTo>
                  <a:pt x="406404" y="472149"/>
                  <a:pt x="374953" y="505506"/>
                  <a:pt x="334673" y="507873"/>
                </a:cubicBezTo>
                <a:lnTo>
                  <a:pt x="330202" y="508000"/>
                </a:lnTo>
                <a:lnTo>
                  <a:pt x="76202" y="508000"/>
                </a:lnTo>
                <a:cubicBezTo>
                  <a:pt x="35853" y="508002"/>
                  <a:pt x="2496" y="476550"/>
                  <a:pt x="129" y="436270"/>
                </a:cubicBezTo>
                <a:lnTo>
                  <a:pt x="2" y="431800"/>
                </a:lnTo>
                <a:lnTo>
                  <a:pt x="2" y="76200"/>
                </a:lnTo>
                <a:cubicBezTo>
                  <a:pt x="0" y="35851"/>
                  <a:pt x="31452" y="2494"/>
                  <a:pt x="71732" y="127"/>
                </a:cubicBezTo>
                <a:lnTo>
                  <a:pt x="76202" y="0"/>
                </a:lnTo>
                <a:close/>
                <a:moveTo>
                  <a:pt x="203202" y="203200"/>
                </a:moveTo>
                <a:cubicBezTo>
                  <a:pt x="189174" y="203200"/>
                  <a:pt x="177802" y="214572"/>
                  <a:pt x="177802" y="228600"/>
                </a:cubicBezTo>
                <a:lnTo>
                  <a:pt x="177802" y="319659"/>
                </a:lnTo>
                <a:lnTo>
                  <a:pt x="157660" y="299542"/>
                </a:lnTo>
                <a:cubicBezTo>
                  <a:pt x="148611" y="290494"/>
                  <a:pt x="134243" y="289590"/>
                  <a:pt x="124132" y="297434"/>
                </a:cubicBezTo>
                <a:lnTo>
                  <a:pt x="121744" y="299542"/>
                </a:lnTo>
                <a:cubicBezTo>
                  <a:pt x="111829" y="309461"/>
                  <a:pt x="111829" y="325539"/>
                  <a:pt x="121744" y="335458"/>
                </a:cubicBezTo>
                <a:lnTo>
                  <a:pt x="185244" y="398958"/>
                </a:lnTo>
                <a:lnTo>
                  <a:pt x="186362" y="400025"/>
                </a:lnTo>
                <a:lnTo>
                  <a:pt x="188089" y="401422"/>
                </a:lnTo>
                <a:lnTo>
                  <a:pt x="190883" y="403225"/>
                </a:lnTo>
                <a:lnTo>
                  <a:pt x="193779" y="404597"/>
                </a:lnTo>
                <a:lnTo>
                  <a:pt x="196446" y="405486"/>
                </a:lnTo>
                <a:lnTo>
                  <a:pt x="200256" y="406248"/>
                </a:lnTo>
                <a:lnTo>
                  <a:pt x="203202" y="406400"/>
                </a:lnTo>
                <a:lnTo>
                  <a:pt x="206174" y="406222"/>
                </a:lnTo>
                <a:lnTo>
                  <a:pt x="209146" y="405714"/>
                </a:lnTo>
                <a:lnTo>
                  <a:pt x="211889" y="404876"/>
                </a:lnTo>
                <a:lnTo>
                  <a:pt x="213946" y="404012"/>
                </a:lnTo>
                <a:lnTo>
                  <a:pt x="216436" y="402692"/>
                </a:lnTo>
                <a:lnTo>
                  <a:pt x="218772" y="401066"/>
                </a:lnTo>
                <a:lnTo>
                  <a:pt x="221160" y="398958"/>
                </a:lnTo>
                <a:lnTo>
                  <a:pt x="284660" y="335458"/>
                </a:lnTo>
                <a:cubicBezTo>
                  <a:pt x="294576" y="325539"/>
                  <a:pt x="294576" y="309461"/>
                  <a:pt x="284660" y="299542"/>
                </a:cubicBezTo>
                <a:lnTo>
                  <a:pt x="282272" y="297434"/>
                </a:lnTo>
                <a:cubicBezTo>
                  <a:pt x="272161" y="289590"/>
                  <a:pt x="257794" y="290494"/>
                  <a:pt x="248744" y="299542"/>
                </a:cubicBezTo>
                <a:lnTo>
                  <a:pt x="228602" y="319634"/>
                </a:lnTo>
                <a:lnTo>
                  <a:pt x="228602" y="228600"/>
                </a:lnTo>
                <a:cubicBezTo>
                  <a:pt x="228601" y="215723"/>
                  <a:pt x="218963" y="204884"/>
                  <a:pt x="206174" y="203378"/>
                </a:cubicBezTo>
                <a:close/>
                <a:moveTo>
                  <a:pt x="279377" y="25375"/>
                </a:moveTo>
                <a:lnTo>
                  <a:pt x="381002" y="127000"/>
                </a:lnTo>
                <a:lnTo>
                  <a:pt x="279402" y="12700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45"/>
          <p:cNvSpPr txBox="1"/>
          <p:nvPr/>
        </p:nvSpPr>
        <p:spPr>
          <a:xfrm>
            <a:off x="5821651" y="2523887"/>
            <a:ext cx="1758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直播录像 + 讲义 PPT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45"/>
          <p:cNvSpPr txBox="1"/>
          <p:nvPr/>
        </p:nvSpPr>
        <p:spPr>
          <a:xfrm>
            <a:off x="6115764" y="277248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今晚演示全程录像回放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45"/>
          <p:cNvSpPr txBox="1"/>
          <p:nvPr/>
        </p:nvSpPr>
        <p:spPr>
          <a:xfrm>
            <a:off x="6144518" y="2929652"/>
            <a:ext cx="111263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理财知识库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45"/>
          <p:cNvSpPr txBox="1"/>
          <p:nvPr/>
        </p:nvSpPr>
        <p:spPr>
          <a:xfrm>
            <a:off x="6101387" y="3129677"/>
            <a:ext cx="11989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上传至学员平台 24h 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45"/>
          <p:cNvSpPr/>
          <p:nvPr/>
        </p:nvSpPr>
        <p:spPr>
          <a:xfrm>
            <a:off x="5172075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45"/>
          <p:cNvSpPr txBox="1"/>
          <p:nvPr/>
        </p:nvSpPr>
        <p:spPr>
          <a:xfrm>
            <a:off x="6206348" y="3610451"/>
            <a:ext cx="9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</a:rPr>
              <a:t>免费</a:t>
            </a: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下载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45"/>
          <p:cNvSpPr txBox="1"/>
          <p:nvPr/>
        </p:nvSpPr>
        <p:spPr>
          <a:xfrm>
            <a:off x="2953654" y="4174808"/>
            <a:ext cx="32366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 · 学员平台：learn.austinxyz.ai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45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12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46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46"/>
          <p:cNvSpPr txBox="1"/>
          <p:nvPr/>
        </p:nvSpPr>
        <p:spPr>
          <a:xfrm>
            <a:off x="560070" y="195739"/>
            <a:ext cx="36847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Design 能做什么？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46"/>
          <p:cNvSpPr txBox="1"/>
          <p:nvPr/>
        </p:nvSpPr>
        <p:spPr>
          <a:xfrm>
            <a:off x="574357" y="488633"/>
            <a:ext cx="271091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不写代码 · 用自然语言描述需求 · AI 直接生成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46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46"/>
          <p:cNvSpPr/>
          <p:nvPr/>
        </p:nvSpPr>
        <p:spPr>
          <a:xfrm>
            <a:off x="457200" y="857250"/>
            <a:ext cx="2543175" cy="3286125"/>
          </a:xfrm>
          <a:prstGeom prst="roundRect">
            <a:avLst>
              <a:gd fmla="val 337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46"/>
          <p:cNvSpPr/>
          <p:nvPr/>
        </p:nvSpPr>
        <p:spPr>
          <a:xfrm>
            <a:off x="457200" y="857250"/>
            <a:ext cx="2543175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46"/>
          <p:cNvSpPr/>
          <p:nvPr/>
        </p:nvSpPr>
        <p:spPr>
          <a:xfrm>
            <a:off x="1300163" y="1171575"/>
            <a:ext cx="857250" cy="8572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6" name="Google Shape;676;p46"/>
          <p:cNvGrpSpPr/>
          <p:nvPr/>
        </p:nvGrpSpPr>
        <p:grpSpPr>
          <a:xfrm>
            <a:off x="1588441" y="1387946"/>
            <a:ext cx="296891" cy="403291"/>
            <a:chOff x="2117921" y="1850595"/>
            <a:chExt cx="395854" cy="537721"/>
          </a:xfrm>
        </p:grpSpPr>
        <p:sp>
          <p:nvSpPr>
            <p:cNvPr id="677" name="Google Shape;677;p46"/>
            <p:cNvSpPr/>
            <p:nvPr/>
          </p:nvSpPr>
          <p:spPr>
            <a:xfrm>
              <a:off x="2152650" y="1930396"/>
              <a:ext cx="255001" cy="255961"/>
            </a:xfrm>
            <a:custGeom>
              <a:rect b="b" l="l" r="r" t="t"/>
              <a:pathLst>
                <a:path extrusionOk="0" h="255961" w="255001">
                  <a:moveTo>
                    <a:pt x="127000" y="4"/>
                  </a:moveTo>
                  <a:cubicBezTo>
                    <a:pt x="196424" y="0"/>
                    <a:pt x="252987" y="55744"/>
                    <a:pt x="253994" y="125161"/>
                  </a:cubicBezTo>
                  <a:cubicBezTo>
                    <a:pt x="255001" y="194578"/>
                    <a:pt x="200080" y="251940"/>
                    <a:pt x="130685" y="253951"/>
                  </a:cubicBezTo>
                  <a:cubicBezTo>
                    <a:pt x="61290" y="255961"/>
                    <a:pt x="3140" y="201875"/>
                    <a:pt x="127" y="132516"/>
                  </a:cubicBezTo>
                  <a:lnTo>
                    <a:pt x="0" y="127004"/>
                  </a:lnTo>
                  <a:lnTo>
                    <a:pt x="127" y="121492"/>
                  </a:lnTo>
                  <a:cubicBezTo>
                    <a:pt x="3078" y="53563"/>
                    <a:pt x="59006" y="8"/>
                    <a:pt x="127000" y="4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46"/>
            <p:cNvSpPr/>
            <p:nvPr/>
          </p:nvSpPr>
          <p:spPr>
            <a:xfrm>
              <a:off x="2117921" y="1850595"/>
              <a:ext cx="395854" cy="450366"/>
            </a:xfrm>
            <a:custGeom>
              <a:rect b="b" l="l" r="r" t="t"/>
              <a:pathLst>
                <a:path extrusionOk="0" h="450366" w="395854">
                  <a:moveTo>
                    <a:pt x="241308" y="16356"/>
                  </a:moveTo>
                  <a:cubicBezTo>
                    <a:pt x="248295" y="4196"/>
                    <a:pt x="263816" y="0"/>
                    <a:pt x="275979" y="6984"/>
                  </a:cubicBezTo>
                  <a:cubicBezTo>
                    <a:pt x="351501" y="50391"/>
                    <a:pt x="395854" y="132889"/>
                    <a:pt x="390407" y="219827"/>
                  </a:cubicBezTo>
                  <a:cubicBezTo>
                    <a:pt x="384961" y="306765"/>
                    <a:pt x="330658" y="383082"/>
                    <a:pt x="250309" y="416724"/>
                  </a:cubicBezTo>
                  <a:cubicBezTo>
                    <a:pt x="169959" y="450366"/>
                    <a:pt x="77481" y="435505"/>
                    <a:pt x="11717" y="378382"/>
                  </a:cubicBezTo>
                  <a:cubicBezTo>
                    <a:pt x="1126" y="369180"/>
                    <a:pt x="0" y="353134"/>
                    <a:pt x="9202" y="342543"/>
                  </a:cubicBezTo>
                  <a:cubicBezTo>
                    <a:pt x="18405" y="331952"/>
                    <a:pt x="34451" y="330826"/>
                    <a:pt x="45042" y="340028"/>
                  </a:cubicBezTo>
                  <a:cubicBezTo>
                    <a:pt x="96215" y="384477"/>
                    <a:pt x="168176" y="396041"/>
                    <a:pt x="230699" y="369863"/>
                  </a:cubicBezTo>
                  <a:cubicBezTo>
                    <a:pt x="293223" y="343686"/>
                    <a:pt x="335478" y="284300"/>
                    <a:pt x="339717" y="216651"/>
                  </a:cubicBezTo>
                  <a:cubicBezTo>
                    <a:pt x="343957" y="149002"/>
                    <a:pt x="309446" y="84806"/>
                    <a:pt x="250680" y="51027"/>
                  </a:cubicBezTo>
                  <a:cubicBezTo>
                    <a:pt x="238520" y="44040"/>
                    <a:pt x="234324" y="28519"/>
                    <a:pt x="241308" y="16356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46"/>
            <p:cNvSpPr/>
            <p:nvPr/>
          </p:nvSpPr>
          <p:spPr>
            <a:xfrm>
              <a:off x="2254250" y="2235200"/>
              <a:ext cx="50800" cy="153116"/>
            </a:xfrm>
            <a:custGeom>
              <a:rect b="b" l="l" r="r" t="t"/>
              <a:pathLst>
                <a:path extrusionOk="0" h="153116" w="50800">
                  <a:moveTo>
                    <a:pt x="25400" y="0"/>
                  </a:moveTo>
                  <a:cubicBezTo>
                    <a:pt x="38277" y="2"/>
                    <a:pt x="49116" y="9639"/>
                    <a:pt x="50622" y="22428"/>
                  </a:cubicBezTo>
                  <a:lnTo>
                    <a:pt x="50800" y="25400"/>
                  </a:lnTo>
                  <a:lnTo>
                    <a:pt x="50800" y="127000"/>
                  </a:lnTo>
                  <a:cubicBezTo>
                    <a:pt x="50785" y="140439"/>
                    <a:pt x="40304" y="151541"/>
                    <a:pt x="26889" y="152328"/>
                  </a:cubicBezTo>
                  <a:cubicBezTo>
                    <a:pt x="13473" y="153116"/>
                    <a:pt x="1765" y="143317"/>
                    <a:pt x="178" y="129972"/>
                  </a:cubicBezTo>
                  <a:lnTo>
                    <a:pt x="0" y="127000"/>
                  </a:ln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46"/>
            <p:cNvSpPr/>
            <p:nvPr/>
          </p:nvSpPr>
          <p:spPr>
            <a:xfrm>
              <a:off x="2151934" y="2336800"/>
              <a:ext cx="255432" cy="50800"/>
            </a:xfrm>
            <a:custGeom>
              <a:rect b="b" l="l" r="r" t="t"/>
              <a:pathLst>
                <a:path extrusionOk="0" h="50800" w="255432">
                  <a:moveTo>
                    <a:pt x="229316" y="0"/>
                  </a:moveTo>
                  <a:cubicBezTo>
                    <a:pt x="242755" y="15"/>
                    <a:pt x="253856" y="10496"/>
                    <a:pt x="254644" y="23911"/>
                  </a:cubicBezTo>
                  <a:cubicBezTo>
                    <a:pt x="255432" y="37327"/>
                    <a:pt x="245632" y="49035"/>
                    <a:pt x="232288" y="50622"/>
                  </a:cubicBezTo>
                  <a:lnTo>
                    <a:pt x="229316" y="50800"/>
                  </a:lnTo>
                  <a:lnTo>
                    <a:pt x="26116" y="50800"/>
                  </a:lnTo>
                  <a:cubicBezTo>
                    <a:pt x="12677" y="50785"/>
                    <a:pt x="1575" y="40304"/>
                    <a:pt x="788" y="26889"/>
                  </a:cubicBezTo>
                  <a:cubicBezTo>
                    <a:pt x="0" y="13473"/>
                    <a:pt x="9799" y="1765"/>
                    <a:pt x="23144" y="178"/>
                  </a:cubicBezTo>
                  <a:lnTo>
                    <a:pt x="26116" y="0"/>
                  </a:lnTo>
                  <a:lnTo>
                    <a:pt x="229316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81" name="Google Shape;681;p46"/>
          <p:cNvSpPr txBox="1"/>
          <p:nvPr/>
        </p:nvSpPr>
        <p:spPr>
          <a:xfrm>
            <a:off x="1369457" y="2150269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漂亮网页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46"/>
          <p:cNvSpPr txBox="1"/>
          <p:nvPr/>
        </p:nvSpPr>
        <p:spPr>
          <a:xfrm>
            <a:off x="1250103" y="2372439"/>
            <a:ext cx="95737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落地页 / 知识网站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46"/>
          <p:cNvSpPr txBox="1"/>
          <p:nvPr/>
        </p:nvSpPr>
        <p:spPr>
          <a:xfrm>
            <a:off x="1373743" y="252960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个人品牌主页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46"/>
          <p:cNvSpPr/>
          <p:nvPr/>
        </p:nvSpPr>
        <p:spPr>
          <a:xfrm>
            <a:off x="628650" y="2786063"/>
            <a:ext cx="2200275" cy="7144"/>
          </a:xfrm>
          <a:custGeom>
            <a:rect b="b" l="l" r="r" t="t"/>
            <a:pathLst>
              <a:path extrusionOk="0" h="9525" w="2933700">
                <a:moveTo>
                  <a:pt x="0" y="0"/>
                </a:moveTo>
                <a:lnTo>
                  <a:pt x="29337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46"/>
          <p:cNvSpPr txBox="1"/>
          <p:nvPr/>
        </p:nvSpPr>
        <p:spPr>
          <a:xfrm>
            <a:off x="619364" y="2878574"/>
            <a:ext cx="144968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响应式设计，手机/桌面均可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46"/>
          <p:cNvSpPr txBox="1"/>
          <p:nvPr/>
        </p:nvSpPr>
        <p:spPr>
          <a:xfrm>
            <a:off x="619363" y="3035737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自定义域名一键部署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46"/>
          <p:cNvSpPr txBox="1"/>
          <p:nvPr/>
        </p:nvSpPr>
        <p:spPr>
          <a:xfrm>
            <a:off x="619363" y="3192899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Design System 统一品牌色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46"/>
          <p:cNvSpPr txBox="1"/>
          <p:nvPr/>
        </p:nvSpPr>
        <p:spPr>
          <a:xfrm>
            <a:off x="619364" y="3350062"/>
            <a:ext cx="147638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AI Chatbot 嵌入，7×24 在线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46"/>
          <p:cNvSpPr/>
          <p:nvPr/>
        </p:nvSpPr>
        <p:spPr>
          <a:xfrm>
            <a:off x="685800" y="3629025"/>
            <a:ext cx="1628775" cy="2857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46"/>
          <p:cNvSpPr txBox="1"/>
          <p:nvPr/>
        </p:nvSpPr>
        <p:spPr>
          <a:xfrm>
            <a:off x="1164121" y="3722609"/>
            <a:ext cx="6721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S3 核心产出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46"/>
          <p:cNvSpPr/>
          <p:nvPr/>
        </p:nvSpPr>
        <p:spPr>
          <a:xfrm>
            <a:off x="3300413" y="857250"/>
            <a:ext cx="2543175" cy="3286125"/>
          </a:xfrm>
          <a:prstGeom prst="roundRect">
            <a:avLst>
              <a:gd fmla="val 337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46"/>
          <p:cNvSpPr/>
          <p:nvPr/>
        </p:nvSpPr>
        <p:spPr>
          <a:xfrm>
            <a:off x="3300413" y="857250"/>
            <a:ext cx="2543175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46"/>
          <p:cNvSpPr/>
          <p:nvPr/>
        </p:nvSpPr>
        <p:spPr>
          <a:xfrm>
            <a:off x="4143375" y="1171575"/>
            <a:ext cx="857250" cy="8572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4" name="Google Shape;694;p46"/>
          <p:cNvGrpSpPr/>
          <p:nvPr/>
        </p:nvGrpSpPr>
        <p:grpSpPr>
          <a:xfrm>
            <a:off x="4400550" y="1428750"/>
            <a:ext cx="342900" cy="342900"/>
            <a:chOff x="5867400" y="1905000"/>
            <a:chExt cx="457200" cy="457200"/>
          </a:xfrm>
        </p:grpSpPr>
        <p:sp>
          <p:nvSpPr>
            <p:cNvPr id="695" name="Google Shape;695;p46"/>
            <p:cNvSpPr/>
            <p:nvPr/>
          </p:nvSpPr>
          <p:spPr>
            <a:xfrm>
              <a:off x="5867400" y="1905000"/>
              <a:ext cx="203200" cy="457200"/>
            </a:xfrm>
            <a:custGeom>
              <a:rect b="b" l="l" r="r" t="t"/>
              <a:pathLst>
                <a:path extrusionOk="0" h="4572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381000"/>
                  </a:lnTo>
                  <a:cubicBezTo>
                    <a:pt x="203200" y="423084"/>
                    <a:pt x="169084" y="457200"/>
                    <a:pt x="127000" y="457200"/>
                  </a:cubicBezTo>
                  <a:lnTo>
                    <a:pt x="76200" y="457200"/>
                  </a:lnTo>
                  <a:cubicBezTo>
                    <a:pt x="34116" y="457200"/>
                    <a:pt x="0" y="423084"/>
                    <a:pt x="0" y="3810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46"/>
            <p:cNvSpPr/>
            <p:nvPr/>
          </p:nvSpPr>
          <p:spPr>
            <a:xfrm>
              <a:off x="6121400" y="1905000"/>
              <a:ext cx="203200" cy="304800"/>
            </a:xfrm>
            <a:custGeom>
              <a:rect b="b" l="l" r="r" t="t"/>
              <a:pathLst>
                <a:path extrusionOk="0" h="3048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228600"/>
                  </a:lnTo>
                  <a:cubicBezTo>
                    <a:pt x="203200" y="270684"/>
                    <a:pt x="169084" y="304800"/>
                    <a:pt x="127000" y="304800"/>
                  </a:cubicBezTo>
                  <a:lnTo>
                    <a:pt x="76200" y="304800"/>
                  </a:lnTo>
                  <a:cubicBezTo>
                    <a:pt x="34116" y="304800"/>
                    <a:pt x="0" y="270684"/>
                    <a:pt x="0" y="2286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7" name="Google Shape;697;p46"/>
          <p:cNvSpPr txBox="1"/>
          <p:nvPr/>
        </p:nvSpPr>
        <p:spPr>
          <a:xfrm>
            <a:off x="3971139" y="2150269"/>
            <a:ext cx="120172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演示文稿 / PPT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46"/>
          <p:cNvSpPr txBox="1"/>
          <p:nvPr/>
        </p:nvSpPr>
        <p:spPr>
          <a:xfrm>
            <a:off x="4035808" y="2372439"/>
            <a:ext cx="10723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投资路演 / 课程讲义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46"/>
          <p:cNvSpPr txBox="1"/>
          <p:nvPr/>
        </p:nvSpPr>
        <p:spPr>
          <a:xfrm>
            <a:off x="4216956" y="252960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直播分享素材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46"/>
          <p:cNvSpPr/>
          <p:nvPr/>
        </p:nvSpPr>
        <p:spPr>
          <a:xfrm>
            <a:off x="3471863" y="2786063"/>
            <a:ext cx="2200275" cy="7144"/>
          </a:xfrm>
          <a:custGeom>
            <a:rect b="b" l="l" r="r" t="t"/>
            <a:pathLst>
              <a:path extrusionOk="0" h="9525" w="2933700">
                <a:moveTo>
                  <a:pt x="0" y="0"/>
                </a:moveTo>
                <a:lnTo>
                  <a:pt x="29337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46"/>
          <p:cNvSpPr txBox="1"/>
          <p:nvPr/>
        </p:nvSpPr>
        <p:spPr>
          <a:xfrm>
            <a:off x="3462576" y="2878574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品牌一致的视觉风格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46"/>
          <p:cNvSpPr txBox="1"/>
          <p:nvPr/>
        </p:nvSpPr>
        <p:spPr>
          <a:xfrm>
            <a:off x="3462576" y="3035737"/>
            <a:ext cx="120938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图表 / 信息图 / 时间线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46"/>
          <p:cNvSpPr txBox="1"/>
          <p:nvPr/>
        </p:nvSpPr>
        <p:spPr>
          <a:xfrm>
            <a:off x="3462576" y="3192899"/>
            <a:ext cx="11559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导出为 PPTX 直接使用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46"/>
          <p:cNvSpPr txBox="1"/>
          <p:nvPr/>
        </p:nvSpPr>
        <p:spPr>
          <a:xfrm>
            <a:off x="3462576" y="3350062"/>
            <a:ext cx="95840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· 就像今晚这套 PPT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46"/>
          <p:cNvSpPr/>
          <p:nvPr/>
        </p:nvSpPr>
        <p:spPr>
          <a:xfrm>
            <a:off x="3529013" y="3629025"/>
            <a:ext cx="1628775" cy="2857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46"/>
          <p:cNvSpPr txBox="1"/>
          <p:nvPr/>
        </p:nvSpPr>
        <p:spPr>
          <a:xfrm>
            <a:off x="3988135" y="3722609"/>
            <a:ext cx="74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今晚</a:t>
            </a:r>
            <a:r>
              <a:rPr b="1" lang="en" sz="800">
                <a:solidFill>
                  <a:srgbClr val="EA580C"/>
                </a:solidFill>
              </a:rPr>
              <a:t>的课件PPT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6"/>
          <p:cNvSpPr/>
          <p:nvPr/>
        </p:nvSpPr>
        <p:spPr>
          <a:xfrm>
            <a:off x="6143625" y="857250"/>
            <a:ext cx="2543175" cy="3286125"/>
          </a:xfrm>
          <a:prstGeom prst="roundRect">
            <a:avLst>
              <a:gd fmla="val 337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46"/>
          <p:cNvSpPr/>
          <p:nvPr/>
        </p:nvSpPr>
        <p:spPr>
          <a:xfrm>
            <a:off x="6143625" y="857250"/>
            <a:ext cx="2543175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46"/>
          <p:cNvSpPr/>
          <p:nvPr/>
        </p:nvSpPr>
        <p:spPr>
          <a:xfrm>
            <a:off x="6986588" y="1171575"/>
            <a:ext cx="857250" cy="8572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10" name="Google Shape;710;p46"/>
          <p:cNvGrpSpPr/>
          <p:nvPr/>
        </p:nvGrpSpPr>
        <p:grpSpPr>
          <a:xfrm>
            <a:off x="7218369" y="1422407"/>
            <a:ext cx="374637" cy="355587"/>
            <a:chOff x="9624492" y="1896542"/>
            <a:chExt cx="499516" cy="474116"/>
          </a:xfrm>
        </p:grpSpPr>
        <p:sp>
          <p:nvSpPr>
            <p:cNvPr id="711" name="Google Shape;711;p46"/>
            <p:cNvSpPr/>
            <p:nvPr/>
          </p:nvSpPr>
          <p:spPr>
            <a:xfrm>
              <a:off x="9963150" y="2201342"/>
              <a:ext cx="160858" cy="169316"/>
            </a:xfrm>
            <a:custGeom>
              <a:rect b="b" l="l" r="r" t="t"/>
              <a:pathLst>
                <a:path extrusionOk="0" h="169316" w="160858">
                  <a:moveTo>
                    <a:pt x="25400" y="110058"/>
                  </a:moveTo>
                  <a:cubicBezTo>
                    <a:pt x="11372" y="110058"/>
                    <a:pt x="0" y="98686"/>
                    <a:pt x="0" y="84658"/>
                  </a:cubicBezTo>
                  <a:cubicBezTo>
                    <a:pt x="0" y="70630"/>
                    <a:pt x="11372" y="59258"/>
                    <a:pt x="25400" y="59258"/>
                  </a:cubicBezTo>
                  <a:cubicBezTo>
                    <a:pt x="39428" y="59258"/>
                    <a:pt x="50800" y="47886"/>
                    <a:pt x="50800" y="33858"/>
                  </a:cubicBezTo>
                  <a:cubicBezTo>
                    <a:pt x="50800" y="0"/>
                    <a:pt x="101600" y="0"/>
                    <a:pt x="101600" y="33858"/>
                  </a:cubicBezTo>
                  <a:cubicBezTo>
                    <a:pt x="101600" y="47886"/>
                    <a:pt x="112972" y="59258"/>
                    <a:pt x="127000" y="59258"/>
                  </a:cubicBezTo>
                  <a:cubicBezTo>
                    <a:pt x="160858" y="59258"/>
                    <a:pt x="160858" y="110058"/>
                    <a:pt x="127000" y="110058"/>
                  </a:cubicBezTo>
                  <a:cubicBezTo>
                    <a:pt x="112972" y="110058"/>
                    <a:pt x="101600" y="121430"/>
                    <a:pt x="101600" y="135458"/>
                  </a:cubicBezTo>
                  <a:cubicBezTo>
                    <a:pt x="101600" y="169316"/>
                    <a:pt x="50800" y="169316"/>
                    <a:pt x="50800" y="135458"/>
                  </a:cubicBezTo>
                  <a:cubicBezTo>
                    <a:pt x="50800" y="121430"/>
                    <a:pt x="39428" y="110058"/>
                    <a:pt x="25400" y="11005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46"/>
            <p:cNvSpPr/>
            <p:nvPr/>
          </p:nvSpPr>
          <p:spPr>
            <a:xfrm>
              <a:off x="9624492" y="1947342"/>
              <a:ext cx="372516" cy="364058"/>
            </a:xfrm>
            <a:custGeom>
              <a:rect b="b" l="l" r="r" t="t"/>
              <a:pathLst>
                <a:path extrusionOk="0" h="364058" w="372516">
                  <a:moveTo>
                    <a:pt x="33858" y="160858"/>
                  </a:moveTo>
                  <a:cubicBezTo>
                    <a:pt x="103998" y="160858"/>
                    <a:pt x="160858" y="103998"/>
                    <a:pt x="160858" y="33858"/>
                  </a:cubicBezTo>
                  <a:cubicBezTo>
                    <a:pt x="160858" y="0"/>
                    <a:pt x="211658" y="0"/>
                    <a:pt x="211658" y="33858"/>
                  </a:cubicBezTo>
                  <a:cubicBezTo>
                    <a:pt x="211658" y="103998"/>
                    <a:pt x="268518" y="160858"/>
                    <a:pt x="338658" y="160858"/>
                  </a:cubicBezTo>
                  <a:cubicBezTo>
                    <a:pt x="372516" y="160858"/>
                    <a:pt x="372516" y="211658"/>
                    <a:pt x="338658" y="211658"/>
                  </a:cubicBezTo>
                  <a:cubicBezTo>
                    <a:pt x="268518" y="211658"/>
                    <a:pt x="211658" y="268518"/>
                    <a:pt x="211658" y="338658"/>
                  </a:cubicBezTo>
                  <a:cubicBezTo>
                    <a:pt x="211658" y="352686"/>
                    <a:pt x="200286" y="364058"/>
                    <a:pt x="186258" y="364058"/>
                  </a:cubicBezTo>
                  <a:cubicBezTo>
                    <a:pt x="172230" y="364058"/>
                    <a:pt x="160858" y="352686"/>
                    <a:pt x="160858" y="338658"/>
                  </a:cubicBezTo>
                  <a:cubicBezTo>
                    <a:pt x="160858" y="268518"/>
                    <a:pt x="103998" y="211658"/>
                    <a:pt x="33858" y="211658"/>
                  </a:cubicBezTo>
                  <a:cubicBezTo>
                    <a:pt x="0" y="211658"/>
                    <a:pt x="0" y="160858"/>
                    <a:pt x="33858" y="16085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46"/>
            <p:cNvSpPr/>
            <p:nvPr/>
          </p:nvSpPr>
          <p:spPr>
            <a:xfrm>
              <a:off x="9963150" y="1896542"/>
              <a:ext cx="160858" cy="169316"/>
            </a:xfrm>
            <a:custGeom>
              <a:rect b="b" l="l" r="r" t="t"/>
              <a:pathLst>
                <a:path extrusionOk="0" h="169316" w="160858">
                  <a:moveTo>
                    <a:pt x="25400" y="110058"/>
                  </a:moveTo>
                  <a:cubicBezTo>
                    <a:pt x="11372" y="110058"/>
                    <a:pt x="0" y="98686"/>
                    <a:pt x="0" y="84658"/>
                  </a:cubicBezTo>
                  <a:cubicBezTo>
                    <a:pt x="0" y="70630"/>
                    <a:pt x="11372" y="59258"/>
                    <a:pt x="25400" y="59258"/>
                  </a:cubicBezTo>
                  <a:cubicBezTo>
                    <a:pt x="39428" y="59258"/>
                    <a:pt x="50800" y="47886"/>
                    <a:pt x="50800" y="33858"/>
                  </a:cubicBezTo>
                  <a:cubicBezTo>
                    <a:pt x="50800" y="0"/>
                    <a:pt x="101600" y="0"/>
                    <a:pt x="101600" y="33858"/>
                  </a:cubicBezTo>
                  <a:cubicBezTo>
                    <a:pt x="101600" y="47886"/>
                    <a:pt x="112972" y="59258"/>
                    <a:pt x="127000" y="59258"/>
                  </a:cubicBezTo>
                  <a:cubicBezTo>
                    <a:pt x="160858" y="59258"/>
                    <a:pt x="160858" y="110058"/>
                    <a:pt x="127000" y="110058"/>
                  </a:cubicBezTo>
                  <a:cubicBezTo>
                    <a:pt x="112972" y="110058"/>
                    <a:pt x="101600" y="121430"/>
                    <a:pt x="101600" y="135458"/>
                  </a:cubicBezTo>
                  <a:cubicBezTo>
                    <a:pt x="101600" y="169316"/>
                    <a:pt x="50800" y="169316"/>
                    <a:pt x="50800" y="135458"/>
                  </a:cubicBezTo>
                  <a:cubicBezTo>
                    <a:pt x="50800" y="121430"/>
                    <a:pt x="39428" y="110058"/>
                    <a:pt x="25400" y="11005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14" name="Google Shape;714;p46"/>
          <p:cNvSpPr txBox="1"/>
          <p:nvPr/>
        </p:nvSpPr>
        <p:spPr>
          <a:xfrm>
            <a:off x="6784160" y="2150269"/>
            <a:ext cx="12621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动画 &amp; 交互内容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46"/>
          <p:cNvSpPr txBox="1"/>
          <p:nvPr/>
        </p:nvSpPr>
        <p:spPr>
          <a:xfrm>
            <a:off x="7060169" y="23724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产品演示动画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6"/>
          <p:cNvSpPr txBox="1"/>
          <p:nvPr/>
        </p:nvSpPr>
        <p:spPr>
          <a:xfrm>
            <a:off x="7002661" y="2529602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数据可视化看板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46"/>
          <p:cNvSpPr/>
          <p:nvPr/>
        </p:nvSpPr>
        <p:spPr>
          <a:xfrm>
            <a:off x="6315075" y="2786063"/>
            <a:ext cx="2200275" cy="7144"/>
          </a:xfrm>
          <a:custGeom>
            <a:rect b="b" l="l" r="r" t="t"/>
            <a:pathLst>
              <a:path extrusionOk="0" h="9525" w="2933700">
                <a:moveTo>
                  <a:pt x="0" y="0"/>
                </a:moveTo>
                <a:lnTo>
                  <a:pt x="29337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46"/>
          <p:cNvSpPr txBox="1"/>
          <p:nvPr/>
        </p:nvSpPr>
        <p:spPr>
          <a:xfrm>
            <a:off x="6305788" y="2878574"/>
            <a:ext cx="13856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SVG 动画，浏览器直接运行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46"/>
          <p:cNvSpPr txBox="1"/>
          <p:nvPr/>
        </p:nvSpPr>
        <p:spPr>
          <a:xfrm>
            <a:off x="6305789" y="3035737"/>
            <a:ext cx="131618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互动图表 / 计算器 / 表单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6"/>
          <p:cNvSpPr txBox="1"/>
          <p:nvPr/>
        </p:nvSpPr>
        <p:spPr>
          <a:xfrm>
            <a:off x="6305788" y="3192899"/>
            <a:ext cx="9637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嵌入网站任意页面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46"/>
          <p:cNvSpPr txBox="1"/>
          <p:nvPr/>
        </p:nvSpPr>
        <p:spPr>
          <a:xfrm>
            <a:off x="6305788" y="3350062"/>
            <a:ext cx="9637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无需前端开发经验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46"/>
          <p:cNvSpPr/>
          <p:nvPr/>
        </p:nvSpPr>
        <p:spPr>
          <a:xfrm>
            <a:off x="6372225" y="3629025"/>
            <a:ext cx="1628775" cy="2857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46"/>
          <p:cNvSpPr txBox="1"/>
          <p:nvPr/>
        </p:nvSpPr>
        <p:spPr>
          <a:xfrm>
            <a:off x="6814316" y="3722609"/>
            <a:ext cx="7445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正在快速进化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46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13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47"/>
          <p:cNvSpPr/>
          <p:nvPr/>
        </p:nvSpPr>
        <p:spPr>
          <a:xfrm>
            <a:off x="0" y="0"/>
            <a:ext cx="9144000" cy="357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47"/>
          <p:cNvSpPr txBox="1"/>
          <p:nvPr/>
        </p:nvSpPr>
        <p:spPr>
          <a:xfrm>
            <a:off x="2473436" y="224314"/>
            <a:ext cx="419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为什么不用 Figma 或 Canva？</a:t>
            </a:r>
            <a:endParaRPr sz="1100"/>
          </a:p>
        </p:txBody>
      </p:sp>
      <p:sp>
        <p:nvSpPr>
          <p:cNvPr id="732" name="Google Shape;732;p47"/>
          <p:cNvSpPr txBox="1"/>
          <p:nvPr/>
        </p:nvSpPr>
        <p:spPr>
          <a:xfrm>
            <a:off x="3101352" y="523637"/>
            <a:ext cx="2941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工具是一样的么？不——生态完全不同</a:t>
            </a:r>
            <a:endParaRPr sz="1100"/>
          </a:p>
        </p:txBody>
      </p:sp>
      <p:sp>
        <p:nvSpPr>
          <p:cNvPr id="733" name="Google Shape;733;p47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p47"/>
          <p:cNvSpPr/>
          <p:nvPr/>
        </p:nvSpPr>
        <p:spPr>
          <a:xfrm>
            <a:off x="571500" y="914400"/>
            <a:ext cx="3786300" cy="350040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47"/>
          <p:cNvSpPr/>
          <p:nvPr/>
        </p:nvSpPr>
        <p:spPr>
          <a:xfrm>
            <a:off x="571500" y="914400"/>
            <a:ext cx="3786300" cy="429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47"/>
          <p:cNvSpPr txBox="1"/>
          <p:nvPr/>
        </p:nvSpPr>
        <p:spPr>
          <a:xfrm>
            <a:off x="2881003" y="1085850"/>
            <a:ext cx="1391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5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OLD</a:t>
            </a:r>
            <a:endParaRPr sz="1100"/>
          </a:p>
        </p:txBody>
      </p:sp>
      <p:sp>
        <p:nvSpPr>
          <p:cNvPr id="737" name="Google Shape;737;p47"/>
          <p:cNvSpPr/>
          <p:nvPr/>
        </p:nvSpPr>
        <p:spPr>
          <a:xfrm>
            <a:off x="785813" y="1100138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9E9E9E">
              <a:alpha val="121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47"/>
          <p:cNvSpPr/>
          <p:nvPr/>
        </p:nvSpPr>
        <p:spPr>
          <a:xfrm>
            <a:off x="842669" y="1156994"/>
            <a:ext cx="229186" cy="229186"/>
          </a:xfrm>
          <a:custGeom>
            <a:rect b="b" l="l" r="r" t="t"/>
            <a:pathLst>
              <a:path extrusionOk="0" h="305581" w="305581">
                <a:moveTo>
                  <a:pt x="190610" y="39648"/>
                </a:moveTo>
                <a:cubicBezTo>
                  <a:pt x="191387" y="42857"/>
                  <a:pt x="193650" y="45502"/>
                  <a:pt x="196699" y="46767"/>
                </a:cubicBezTo>
                <a:cubicBezTo>
                  <a:pt x="199749" y="48032"/>
                  <a:pt x="203220" y="47765"/>
                  <a:pt x="206040" y="46049"/>
                </a:cubicBezTo>
                <a:cubicBezTo>
                  <a:pt x="240887" y="24832"/>
                  <a:pt x="280764" y="64694"/>
                  <a:pt x="259547" y="99541"/>
                </a:cubicBezTo>
                <a:cubicBezTo>
                  <a:pt x="257830" y="102360"/>
                  <a:pt x="257562" y="105828"/>
                  <a:pt x="258824" y="108877"/>
                </a:cubicBezTo>
                <a:cubicBezTo>
                  <a:pt x="260086" y="111926"/>
                  <a:pt x="262727" y="114190"/>
                  <a:pt x="265933" y="114972"/>
                </a:cubicBezTo>
                <a:cubicBezTo>
                  <a:pt x="305581" y="124587"/>
                  <a:pt x="305581" y="180980"/>
                  <a:pt x="265933" y="190610"/>
                </a:cubicBezTo>
                <a:cubicBezTo>
                  <a:pt x="262724" y="191387"/>
                  <a:pt x="260079" y="193650"/>
                  <a:pt x="258814" y="196699"/>
                </a:cubicBezTo>
                <a:cubicBezTo>
                  <a:pt x="257549" y="199749"/>
                  <a:pt x="257816" y="203220"/>
                  <a:pt x="259532" y="206040"/>
                </a:cubicBezTo>
                <a:cubicBezTo>
                  <a:pt x="280749" y="240887"/>
                  <a:pt x="240887" y="280764"/>
                  <a:pt x="206040" y="259547"/>
                </a:cubicBezTo>
                <a:cubicBezTo>
                  <a:pt x="203221" y="257830"/>
                  <a:pt x="199753" y="257562"/>
                  <a:pt x="196704" y="258824"/>
                </a:cubicBezTo>
                <a:cubicBezTo>
                  <a:pt x="193655" y="260086"/>
                  <a:pt x="191391" y="262727"/>
                  <a:pt x="190610" y="265933"/>
                </a:cubicBezTo>
                <a:cubicBezTo>
                  <a:pt x="180994" y="305581"/>
                  <a:pt x="124601" y="305581"/>
                  <a:pt x="114972" y="265933"/>
                </a:cubicBezTo>
                <a:cubicBezTo>
                  <a:pt x="114194" y="262724"/>
                  <a:pt x="111931" y="260079"/>
                  <a:pt x="108882" y="258814"/>
                </a:cubicBezTo>
                <a:cubicBezTo>
                  <a:pt x="105832" y="257549"/>
                  <a:pt x="102362" y="257816"/>
                  <a:pt x="99541" y="259532"/>
                </a:cubicBezTo>
                <a:cubicBezTo>
                  <a:pt x="64694" y="280749"/>
                  <a:pt x="24817" y="240887"/>
                  <a:pt x="46034" y="206040"/>
                </a:cubicBezTo>
                <a:cubicBezTo>
                  <a:pt x="47751" y="203221"/>
                  <a:pt x="48019" y="199753"/>
                  <a:pt x="46757" y="196704"/>
                </a:cubicBezTo>
                <a:cubicBezTo>
                  <a:pt x="45495" y="193655"/>
                  <a:pt x="42854" y="191391"/>
                  <a:pt x="39648" y="190610"/>
                </a:cubicBezTo>
                <a:cubicBezTo>
                  <a:pt x="0" y="180994"/>
                  <a:pt x="0" y="124601"/>
                  <a:pt x="39648" y="114972"/>
                </a:cubicBezTo>
                <a:cubicBezTo>
                  <a:pt x="42857" y="114194"/>
                  <a:pt x="45502" y="111931"/>
                  <a:pt x="46767" y="108882"/>
                </a:cubicBezTo>
                <a:cubicBezTo>
                  <a:pt x="48032" y="105832"/>
                  <a:pt x="47765" y="102362"/>
                  <a:pt x="46049" y="99541"/>
                </a:cubicBezTo>
                <a:cubicBezTo>
                  <a:pt x="24832" y="64694"/>
                  <a:pt x="64694" y="24817"/>
                  <a:pt x="99541" y="46034"/>
                </a:cubicBezTo>
                <a:cubicBezTo>
                  <a:pt x="102357" y="47764"/>
                  <a:pt x="105831" y="48040"/>
                  <a:pt x="108885" y="46776"/>
                </a:cubicBezTo>
                <a:cubicBezTo>
                  <a:pt x="111938" y="45512"/>
                  <a:pt x="114202" y="42862"/>
                  <a:pt x="114972" y="39648"/>
                </a:cubicBezTo>
                <a:cubicBezTo>
                  <a:pt x="124587" y="0"/>
                  <a:pt x="180980" y="0"/>
                  <a:pt x="190610" y="39648"/>
                </a:cubicBezTo>
                <a:close/>
                <a:moveTo>
                  <a:pt x="152791" y="109928"/>
                </a:moveTo>
                <a:cubicBezTo>
                  <a:pt x="129118" y="109928"/>
                  <a:pt x="109928" y="129118"/>
                  <a:pt x="109928" y="152791"/>
                </a:cubicBezTo>
                <a:cubicBezTo>
                  <a:pt x="109928" y="176463"/>
                  <a:pt x="129118" y="195653"/>
                  <a:pt x="152791" y="195653"/>
                </a:cubicBezTo>
                <a:cubicBezTo>
                  <a:pt x="176463" y="195653"/>
                  <a:pt x="195653" y="176463"/>
                  <a:pt x="195653" y="152791"/>
                </a:cubicBezTo>
                <a:cubicBezTo>
                  <a:pt x="195653" y="129118"/>
                  <a:pt x="176463" y="109928"/>
                  <a:pt x="152791" y="109928"/>
                </a:cubicBezTo>
              </a:path>
            </a:pathLst>
          </a:cu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47"/>
          <p:cNvSpPr txBox="1"/>
          <p:nvPr/>
        </p:nvSpPr>
        <p:spPr>
          <a:xfrm>
            <a:off x="1197293" y="1125855"/>
            <a:ext cx="140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Figma / Canva</a:t>
            </a:r>
            <a:endParaRPr sz="1100"/>
          </a:p>
        </p:txBody>
      </p:sp>
      <p:sp>
        <p:nvSpPr>
          <p:cNvPr id="740" name="Google Shape;740;p47"/>
          <p:cNvSpPr txBox="1"/>
          <p:nvPr/>
        </p:nvSpPr>
        <p:spPr>
          <a:xfrm>
            <a:off x="1204436" y="1343739"/>
            <a:ext cx="1131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TRADITIONAL TOOLS</a:t>
            </a:r>
            <a:endParaRPr sz="1100"/>
          </a:p>
        </p:txBody>
      </p:sp>
      <p:sp>
        <p:nvSpPr>
          <p:cNvPr id="741" name="Google Shape;741;p47"/>
          <p:cNvSpPr/>
          <p:nvPr/>
        </p:nvSpPr>
        <p:spPr>
          <a:xfrm>
            <a:off x="785813" y="1557338"/>
            <a:ext cx="3357563" cy="7144"/>
          </a:xfrm>
          <a:custGeom>
            <a:rect b="b" l="l" r="r" t="t"/>
            <a:pathLst>
              <a:path extrusionOk="0" h="9525" w="4476750">
                <a:moveTo>
                  <a:pt x="0" y="0"/>
                </a:moveTo>
                <a:lnTo>
                  <a:pt x="44767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2" name="Google Shape;742;p47"/>
          <p:cNvSpPr/>
          <p:nvPr/>
        </p:nvSpPr>
        <p:spPr>
          <a:xfrm>
            <a:off x="785813" y="1657350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47"/>
          <p:cNvSpPr/>
          <p:nvPr/>
        </p:nvSpPr>
        <p:spPr>
          <a:xfrm>
            <a:off x="785813" y="1657350"/>
            <a:ext cx="28500" cy="4002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47"/>
          <p:cNvSpPr txBox="1"/>
          <p:nvPr/>
        </p:nvSpPr>
        <p:spPr>
          <a:xfrm>
            <a:off x="888683" y="1731645"/>
            <a:ext cx="851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工具使用门槛</a:t>
            </a:r>
            <a:endParaRPr sz="1100"/>
          </a:p>
        </p:txBody>
      </p:sp>
      <p:sp>
        <p:nvSpPr>
          <p:cNvPr id="745" name="Google Shape;745;p47"/>
          <p:cNvSpPr txBox="1"/>
          <p:nvPr/>
        </p:nvSpPr>
        <p:spPr>
          <a:xfrm>
            <a:off x="889397" y="1880592"/>
            <a:ext cx="2116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你还是要懂设计才能用好，学习曲线陡</a:t>
            </a:r>
            <a:endParaRPr sz="1100"/>
          </a:p>
        </p:txBody>
      </p:sp>
      <p:sp>
        <p:nvSpPr>
          <p:cNvPr id="746" name="Google Shape;746;p47"/>
          <p:cNvSpPr/>
          <p:nvPr/>
        </p:nvSpPr>
        <p:spPr>
          <a:xfrm>
            <a:off x="785813" y="2143125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47"/>
          <p:cNvSpPr/>
          <p:nvPr/>
        </p:nvSpPr>
        <p:spPr>
          <a:xfrm>
            <a:off x="785813" y="2143125"/>
            <a:ext cx="28500" cy="4002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47"/>
          <p:cNvSpPr txBox="1"/>
          <p:nvPr/>
        </p:nvSpPr>
        <p:spPr>
          <a:xfrm>
            <a:off x="888683" y="2217420"/>
            <a:ext cx="9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设计与代码孤立</a:t>
            </a:r>
            <a:endParaRPr sz="1100"/>
          </a:p>
        </p:txBody>
      </p:sp>
      <p:sp>
        <p:nvSpPr>
          <p:cNvPr id="749" name="Google Shape;749;p47"/>
          <p:cNvSpPr txBox="1"/>
          <p:nvPr/>
        </p:nvSpPr>
        <p:spPr>
          <a:xfrm>
            <a:off x="889397" y="2366367"/>
            <a:ext cx="2258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设计稿 → 代码需要手动对接，容易出偏差</a:t>
            </a:r>
            <a:endParaRPr sz="1100"/>
          </a:p>
        </p:txBody>
      </p:sp>
      <p:sp>
        <p:nvSpPr>
          <p:cNvPr id="750" name="Google Shape;750;p47"/>
          <p:cNvSpPr/>
          <p:nvPr/>
        </p:nvSpPr>
        <p:spPr>
          <a:xfrm>
            <a:off x="785813" y="2628900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47"/>
          <p:cNvSpPr/>
          <p:nvPr/>
        </p:nvSpPr>
        <p:spPr>
          <a:xfrm>
            <a:off x="785813" y="2628900"/>
            <a:ext cx="28500" cy="4002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47"/>
          <p:cNvSpPr txBox="1"/>
          <p:nvPr/>
        </p:nvSpPr>
        <p:spPr>
          <a:xfrm>
            <a:off x="888683" y="2703195"/>
            <a:ext cx="1699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Design System 停在文件里</a:t>
            </a:r>
            <a:endParaRPr sz="1100"/>
          </a:p>
        </p:txBody>
      </p:sp>
      <p:sp>
        <p:nvSpPr>
          <p:cNvPr id="753" name="Google Shape;753;p47"/>
          <p:cNvSpPr txBox="1"/>
          <p:nvPr/>
        </p:nvSpPr>
        <p:spPr>
          <a:xfrm>
            <a:off x="889397" y="2852142"/>
            <a:ext cx="1500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复用靠人工，换对话就断了</a:t>
            </a:r>
            <a:endParaRPr sz="1100"/>
          </a:p>
        </p:txBody>
      </p:sp>
      <p:sp>
        <p:nvSpPr>
          <p:cNvPr id="754" name="Google Shape;754;p47"/>
          <p:cNvSpPr/>
          <p:nvPr/>
        </p:nvSpPr>
        <p:spPr>
          <a:xfrm>
            <a:off x="785813" y="3114675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47"/>
          <p:cNvSpPr/>
          <p:nvPr/>
        </p:nvSpPr>
        <p:spPr>
          <a:xfrm>
            <a:off x="785813" y="3114675"/>
            <a:ext cx="28500" cy="4002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6" name="Google Shape;756;p47"/>
          <p:cNvSpPr txBox="1"/>
          <p:nvPr/>
        </p:nvSpPr>
        <p:spPr>
          <a:xfrm>
            <a:off x="888683" y="3188970"/>
            <a:ext cx="71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费用与门槛</a:t>
            </a:r>
            <a:endParaRPr sz="1100"/>
          </a:p>
        </p:txBody>
      </p:sp>
      <p:sp>
        <p:nvSpPr>
          <p:cNvPr id="757" name="Google Shape;757;p47"/>
          <p:cNvSpPr txBox="1"/>
          <p:nvPr/>
        </p:nvSpPr>
        <p:spPr>
          <a:xfrm>
            <a:off x="889397" y="3337917"/>
            <a:ext cx="229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Figma Pro $15+/月，复杂项目还需设计师</a:t>
            </a:r>
            <a:endParaRPr sz="1100"/>
          </a:p>
        </p:txBody>
      </p:sp>
      <p:sp>
        <p:nvSpPr>
          <p:cNvPr id="758" name="Google Shape;758;p47"/>
          <p:cNvSpPr/>
          <p:nvPr/>
        </p:nvSpPr>
        <p:spPr>
          <a:xfrm>
            <a:off x="785813" y="3600450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9" name="Google Shape;759;p47"/>
          <p:cNvSpPr/>
          <p:nvPr/>
        </p:nvSpPr>
        <p:spPr>
          <a:xfrm>
            <a:off x="785813" y="3600450"/>
            <a:ext cx="28500" cy="4002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p47"/>
          <p:cNvSpPr txBox="1"/>
          <p:nvPr/>
        </p:nvSpPr>
        <p:spPr>
          <a:xfrm>
            <a:off x="888683" y="3674745"/>
            <a:ext cx="457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AI 集成</a:t>
            </a:r>
            <a:endParaRPr sz="1100"/>
          </a:p>
        </p:txBody>
      </p:sp>
      <p:sp>
        <p:nvSpPr>
          <p:cNvPr id="761" name="Google Shape;761;p47"/>
          <p:cNvSpPr txBox="1"/>
          <p:nvPr/>
        </p:nvSpPr>
        <p:spPr>
          <a:xfrm>
            <a:off x="889397" y="3823692"/>
            <a:ext cx="174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插件形式，非原生；功能碎片化</a:t>
            </a:r>
            <a:endParaRPr sz="1100"/>
          </a:p>
        </p:txBody>
      </p:sp>
      <p:sp>
        <p:nvSpPr>
          <p:cNvPr id="762" name="Google Shape;762;p47"/>
          <p:cNvSpPr/>
          <p:nvPr/>
        </p:nvSpPr>
        <p:spPr>
          <a:xfrm>
            <a:off x="4643438" y="914400"/>
            <a:ext cx="3929100" cy="350040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3" name="Google Shape;763;p47"/>
          <p:cNvSpPr/>
          <p:nvPr/>
        </p:nvSpPr>
        <p:spPr>
          <a:xfrm>
            <a:off x="4643438" y="914400"/>
            <a:ext cx="3929100" cy="429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4" name="Google Shape;764;p47"/>
          <p:cNvSpPr txBox="1"/>
          <p:nvPr/>
        </p:nvSpPr>
        <p:spPr>
          <a:xfrm>
            <a:off x="7095815" y="1085850"/>
            <a:ext cx="1391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5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NEW</a:t>
            </a:r>
            <a:endParaRPr sz="1100"/>
          </a:p>
        </p:txBody>
      </p:sp>
      <p:sp>
        <p:nvSpPr>
          <p:cNvPr id="765" name="Google Shape;765;p47"/>
          <p:cNvSpPr/>
          <p:nvPr/>
        </p:nvSpPr>
        <p:spPr>
          <a:xfrm>
            <a:off x="4857750" y="1100138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6" name="Google Shape;766;p47"/>
          <p:cNvSpPr/>
          <p:nvPr/>
        </p:nvSpPr>
        <p:spPr>
          <a:xfrm>
            <a:off x="4922044" y="1164431"/>
            <a:ext cx="214313" cy="214532"/>
          </a:xfrm>
          <a:custGeom>
            <a:rect b="b" l="l" r="r" t="t"/>
            <a:pathLst>
              <a:path extrusionOk="0" h="286042" w="285750">
                <a:moveTo>
                  <a:pt x="142875" y="0"/>
                </a:moveTo>
                <a:cubicBezTo>
                  <a:pt x="221428" y="0"/>
                  <a:pt x="285750" y="57179"/>
                  <a:pt x="285750" y="128588"/>
                </a:cubicBezTo>
                <a:cubicBezTo>
                  <a:pt x="285750" y="147890"/>
                  <a:pt x="277178" y="166307"/>
                  <a:pt x="262118" y="179680"/>
                </a:cubicBezTo>
                <a:cubicBezTo>
                  <a:pt x="247402" y="192738"/>
                  <a:pt x="227657" y="200025"/>
                  <a:pt x="207169" y="200025"/>
                </a:cubicBezTo>
                <a:lnTo>
                  <a:pt x="171221" y="200025"/>
                </a:lnTo>
                <a:cubicBezTo>
                  <a:pt x="164664" y="199919"/>
                  <a:pt x="158876" y="204292"/>
                  <a:pt x="157186" y="210629"/>
                </a:cubicBezTo>
                <a:cubicBezTo>
                  <a:pt x="155496" y="216967"/>
                  <a:pt x="158338" y="223640"/>
                  <a:pt x="164078" y="226814"/>
                </a:cubicBezTo>
                <a:cubicBezTo>
                  <a:pt x="165078" y="227367"/>
                  <a:pt x="166009" y="228039"/>
                  <a:pt x="166849" y="228814"/>
                </a:cubicBezTo>
                <a:cubicBezTo>
                  <a:pt x="176865" y="238057"/>
                  <a:pt x="180137" y="252523"/>
                  <a:pt x="175072" y="265175"/>
                </a:cubicBezTo>
                <a:cubicBezTo>
                  <a:pt x="170008" y="277828"/>
                  <a:pt x="157659" y="286042"/>
                  <a:pt x="144032" y="285821"/>
                </a:cubicBezTo>
                <a:lnTo>
                  <a:pt x="141803" y="285693"/>
                </a:lnTo>
                <a:lnTo>
                  <a:pt x="142775" y="285750"/>
                </a:lnTo>
                <a:lnTo>
                  <a:pt x="138875" y="285693"/>
                </a:lnTo>
                <a:cubicBezTo>
                  <a:pt x="63151" y="283607"/>
                  <a:pt x="2143" y="222599"/>
                  <a:pt x="57" y="146876"/>
                </a:cubicBezTo>
                <a:lnTo>
                  <a:pt x="0" y="142875"/>
                </a:lnTo>
                <a:cubicBezTo>
                  <a:pt x="0" y="63965"/>
                  <a:pt x="63965" y="0"/>
                  <a:pt x="142875" y="0"/>
                </a:cubicBezTo>
                <a:moveTo>
                  <a:pt x="92869" y="92869"/>
                </a:moveTo>
                <a:cubicBezTo>
                  <a:pt x="77915" y="92864"/>
                  <a:pt x="65487" y="104389"/>
                  <a:pt x="64365" y="119301"/>
                </a:cubicBezTo>
                <a:lnTo>
                  <a:pt x="64294" y="121444"/>
                </a:lnTo>
                <a:cubicBezTo>
                  <a:pt x="64294" y="137225"/>
                  <a:pt x="77087" y="150019"/>
                  <a:pt x="92869" y="150019"/>
                </a:cubicBezTo>
                <a:cubicBezTo>
                  <a:pt x="108650" y="150019"/>
                  <a:pt x="121444" y="137225"/>
                  <a:pt x="121444" y="121444"/>
                </a:cubicBezTo>
                <a:cubicBezTo>
                  <a:pt x="121444" y="105662"/>
                  <a:pt x="108650" y="92869"/>
                  <a:pt x="92869" y="92869"/>
                </a:cubicBezTo>
                <a:moveTo>
                  <a:pt x="207169" y="92869"/>
                </a:moveTo>
                <a:cubicBezTo>
                  <a:pt x="192215" y="92864"/>
                  <a:pt x="179787" y="104389"/>
                  <a:pt x="178665" y="119301"/>
                </a:cubicBezTo>
                <a:lnTo>
                  <a:pt x="178594" y="121444"/>
                </a:lnTo>
                <a:cubicBezTo>
                  <a:pt x="178594" y="137225"/>
                  <a:pt x="191387" y="150019"/>
                  <a:pt x="207169" y="150019"/>
                </a:cubicBezTo>
                <a:cubicBezTo>
                  <a:pt x="222950" y="150019"/>
                  <a:pt x="235744" y="137225"/>
                  <a:pt x="235744" y="121444"/>
                </a:cubicBezTo>
                <a:cubicBezTo>
                  <a:pt x="235744" y="105662"/>
                  <a:pt x="222950" y="92869"/>
                  <a:pt x="207169" y="92869"/>
                </a:cubicBezTo>
                <a:moveTo>
                  <a:pt x="150019" y="50006"/>
                </a:moveTo>
                <a:cubicBezTo>
                  <a:pt x="135065" y="50002"/>
                  <a:pt x="122637" y="61527"/>
                  <a:pt x="121515" y="76438"/>
                </a:cubicBezTo>
                <a:lnTo>
                  <a:pt x="121444" y="78581"/>
                </a:lnTo>
                <a:cubicBezTo>
                  <a:pt x="121444" y="94363"/>
                  <a:pt x="134237" y="107156"/>
                  <a:pt x="150019" y="107156"/>
                </a:cubicBezTo>
                <a:cubicBezTo>
                  <a:pt x="165800" y="107156"/>
                  <a:pt x="178594" y="94363"/>
                  <a:pt x="178594" y="78581"/>
                </a:cubicBezTo>
                <a:cubicBezTo>
                  <a:pt x="178594" y="62800"/>
                  <a:pt x="165800" y="50006"/>
                  <a:pt x="150019" y="50006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47"/>
          <p:cNvSpPr txBox="1"/>
          <p:nvPr/>
        </p:nvSpPr>
        <p:spPr>
          <a:xfrm>
            <a:off x="5269230" y="1125855"/>
            <a:ext cx="1359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</a:t>
            </a:r>
            <a:endParaRPr sz="1100"/>
          </a:p>
        </p:txBody>
      </p:sp>
      <p:sp>
        <p:nvSpPr>
          <p:cNvPr id="768" name="Google Shape;768;p47"/>
          <p:cNvSpPr txBox="1"/>
          <p:nvPr/>
        </p:nvSpPr>
        <p:spPr>
          <a:xfrm>
            <a:off x="5276374" y="1343739"/>
            <a:ext cx="962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AI-NATIVE DESIGN</a:t>
            </a:r>
            <a:endParaRPr sz="1100"/>
          </a:p>
        </p:txBody>
      </p:sp>
      <p:sp>
        <p:nvSpPr>
          <p:cNvPr id="769" name="Google Shape;769;p47"/>
          <p:cNvSpPr/>
          <p:nvPr/>
        </p:nvSpPr>
        <p:spPr>
          <a:xfrm>
            <a:off x="4857750" y="1557338"/>
            <a:ext cx="3500438" cy="7144"/>
          </a:xfrm>
          <a:custGeom>
            <a:rect b="b" l="l" r="r" t="t"/>
            <a:pathLst>
              <a:path extrusionOk="0" h="9525" w="4667250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0" name="Google Shape;770;p47"/>
          <p:cNvSpPr/>
          <p:nvPr/>
        </p:nvSpPr>
        <p:spPr>
          <a:xfrm>
            <a:off x="4857750" y="1657350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1" name="Google Shape;771;p47"/>
          <p:cNvSpPr/>
          <p:nvPr/>
        </p:nvSpPr>
        <p:spPr>
          <a:xfrm>
            <a:off x="4857750" y="1657350"/>
            <a:ext cx="28500" cy="400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2" name="Google Shape;772;p47"/>
          <p:cNvSpPr txBox="1"/>
          <p:nvPr/>
        </p:nvSpPr>
        <p:spPr>
          <a:xfrm>
            <a:off x="4960620" y="1731645"/>
            <a:ext cx="9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零设计背景可用</a:t>
            </a:r>
            <a:endParaRPr sz="1100"/>
          </a:p>
        </p:txBody>
      </p:sp>
      <p:sp>
        <p:nvSpPr>
          <p:cNvPr id="773" name="Google Shape;773;p47"/>
          <p:cNvSpPr txBox="1"/>
          <p:nvPr/>
        </p:nvSpPr>
        <p:spPr>
          <a:xfrm>
            <a:off x="4961334" y="1880592"/>
            <a:ext cx="2134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AI 帮你做所有设计决策，自然语言指令</a:t>
            </a:r>
            <a:endParaRPr sz="1100"/>
          </a:p>
        </p:txBody>
      </p:sp>
      <p:sp>
        <p:nvSpPr>
          <p:cNvPr id="774" name="Google Shape;774;p47"/>
          <p:cNvSpPr/>
          <p:nvPr/>
        </p:nvSpPr>
        <p:spPr>
          <a:xfrm>
            <a:off x="4857750" y="2143125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47"/>
          <p:cNvSpPr/>
          <p:nvPr/>
        </p:nvSpPr>
        <p:spPr>
          <a:xfrm>
            <a:off x="4857750" y="2143125"/>
            <a:ext cx="28500" cy="400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6" name="Google Shape;776;p47"/>
          <p:cNvSpPr txBox="1"/>
          <p:nvPr/>
        </p:nvSpPr>
        <p:spPr>
          <a:xfrm>
            <a:off x="4960620" y="2217420"/>
            <a:ext cx="1720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原生 MCP 打通 Claude Code</a:t>
            </a:r>
            <a:endParaRPr sz="1100"/>
          </a:p>
        </p:txBody>
      </p:sp>
      <p:sp>
        <p:nvSpPr>
          <p:cNvPr id="777" name="Google Shape;777;p47"/>
          <p:cNvSpPr txBox="1"/>
          <p:nvPr/>
        </p:nvSpPr>
        <p:spPr>
          <a:xfrm>
            <a:off x="4961334" y="2366367"/>
            <a:ext cx="2319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/ sync / /design 命令，一键同步</a:t>
            </a:r>
            <a:endParaRPr sz="1100"/>
          </a:p>
        </p:txBody>
      </p:sp>
      <p:sp>
        <p:nvSpPr>
          <p:cNvPr id="778" name="Google Shape;778;p47"/>
          <p:cNvSpPr/>
          <p:nvPr/>
        </p:nvSpPr>
        <p:spPr>
          <a:xfrm>
            <a:off x="4857750" y="2628900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p47"/>
          <p:cNvSpPr/>
          <p:nvPr/>
        </p:nvSpPr>
        <p:spPr>
          <a:xfrm>
            <a:off x="4857750" y="2628900"/>
            <a:ext cx="28500" cy="400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47"/>
          <p:cNvSpPr txBox="1"/>
          <p:nvPr/>
        </p:nvSpPr>
        <p:spPr>
          <a:xfrm>
            <a:off x="4960620" y="2703195"/>
            <a:ext cx="1699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 System 保存为文件</a:t>
            </a:r>
            <a:endParaRPr sz="1100"/>
          </a:p>
        </p:txBody>
      </p:sp>
      <p:sp>
        <p:nvSpPr>
          <p:cNvPr id="781" name="Google Shape;781;p47"/>
          <p:cNvSpPr txBox="1"/>
          <p:nvPr/>
        </p:nvSpPr>
        <p:spPr>
          <a:xfrm>
            <a:off x="4961334" y="2852142"/>
            <a:ext cx="1869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粘贴到新对话即复用，跨项目通用</a:t>
            </a:r>
            <a:endParaRPr sz="1100"/>
          </a:p>
        </p:txBody>
      </p:sp>
      <p:sp>
        <p:nvSpPr>
          <p:cNvPr id="782" name="Google Shape;782;p47"/>
          <p:cNvSpPr/>
          <p:nvPr/>
        </p:nvSpPr>
        <p:spPr>
          <a:xfrm>
            <a:off x="4857750" y="3114675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3" name="Google Shape;783;p47"/>
          <p:cNvSpPr/>
          <p:nvPr/>
        </p:nvSpPr>
        <p:spPr>
          <a:xfrm>
            <a:off x="4857750" y="3114675"/>
            <a:ext cx="28500" cy="400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47"/>
          <p:cNvSpPr txBox="1"/>
          <p:nvPr/>
        </p:nvSpPr>
        <p:spPr>
          <a:xfrm>
            <a:off x="4960620" y="3188970"/>
            <a:ext cx="1313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账号额度共享</a:t>
            </a:r>
            <a:endParaRPr sz="1100"/>
          </a:p>
        </p:txBody>
      </p:sp>
      <p:sp>
        <p:nvSpPr>
          <p:cNvPr id="785" name="Google Shape;785;p47"/>
          <p:cNvSpPr txBox="1"/>
          <p:nvPr/>
        </p:nvSpPr>
        <p:spPr>
          <a:xfrm>
            <a:off x="4961334" y="3337917"/>
            <a:ext cx="1919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$0 额外成本，无需再订阅设计工具</a:t>
            </a:r>
            <a:endParaRPr sz="1100"/>
          </a:p>
        </p:txBody>
      </p:sp>
      <p:sp>
        <p:nvSpPr>
          <p:cNvPr id="786" name="Google Shape;786;p47"/>
          <p:cNvSpPr/>
          <p:nvPr/>
        </p:nvSpPr>
        <p:spPr>
          <a:xfrm>
            <a:off x="4857750" y="3600450"/>
            <a:ext cx="3571800" cy="40020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" name="Google Shape;787;p47"/>
          <p:cNvSpPr/>
          <p:nvPr/>
        </p:nvSpPr>
        <p:spPr>
          <a:xfrm>
            <a:off x="4857750" y="3600450"/>
            <a:ext cx="28500" cy="400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8" name="Google Shape;788;p47"/>
          <p:cNvSpPr txBox="1"/>
          <p:nvPr/>
        </p:nvSpPr>
        <p:spPr>
          <a:xfrm>
            <a:off x="4960620" y="3674745"/>
            <a:ext cx="1216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Opus 4.8 原生驱动</a:t>
            </a:r>
            <a:endParaRPr sz="1100"/>
          </a:p>
        </p:txBody>
      </p:sp>
      <p:sp>
        <p:nvSpPr>
          <p:cNvPr id="789" name="Google Shape;789;p47"/>
          <p:cNvSpPr txBox="1"/>
          <p:nvPr/>
        </p:nvSpPr>
        <p:spPr>
          <a:xfrm>
            <a:off x="4961334" y="3823692"/>
            <a:ext cx="1641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最强前端 AI，高保真交互原型</a:t>
            </a:r>
            <a:endParaRPr sz="1100"/>
          </a:p>
        </p:txBody>
      </p:sp>
      <p:sp>
        <p:nvSpPr>
          <p:cNvPr id="790" name="Google Shape;790;p47"/>
          <p:cNvSpPr/>
          <p:nvPr/>
        </p:nvSpPr>
        <p:spPr>
          <a:xfrm>
            <a:off x="571500" y="45862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791" name="Google Shape;791;p47"/>
          <p:cNvGrpSpPr/>
          <p:nvPr/>
        </p:nvGrpSpPr>
        <p:grpSpPr>
          <a:xfrm>
            <a:off x="4032645" y="4704151"/>
            <a:ext cx="110641" cy="110626"/>
            <a:chOff x="5376860" y="6272201"/>
            <a:chExt cx="147521" cy="147502"/>
          </a:xfrm>
        </p:grpSpPr>
        <p:sp>
          <p:nvSpPr>
            <p:cNvPr id="792" name="Google Shape;792;p47"/>
            <p:cNvSpPr/>
            <p:nvPr/>
          </p:nvSpPr>
          <p:spPr>
            <a:xfrm>
              <a:off x="5415985" y="6311127"/>
              <a:ext cx="64838" cy="64838"/>
            </a:xfrm>
            <a:custGeom>
              <a:rect b="b" l="l" r="r" t="t"/>
              <a:pathLst>
                <a:path extrusionOk="0" h="64838" w="64838">
                  <a:moveTo>
                    <a:pt x="61740" y="3099"/>
                  </a:moveTo>
                  <a:cubicBezTo>
                    <a:pt x="64838" y="6198"/>
                    <a:pt x="64838" y="11223"/>
                    <a:pt x="61740" y="14322"/>
                  </a:cubicBezTo>
                  <a:lnTo>
                    <a:pt x="14115" y="61947"/>
                  </a:lnTo>
                  <a:cubicBezTo>
                    <a:pt x="12122" y="64011"/>
                    <a:pt x="9170" y="64838"/>
                    <a:pt x="6395" y="64112"/>
                  </a:cubicBezTo>
                  <a:cubicBezTo>
                    <a:pt x="3620" y="63385"/>
                    <a:pt x="1453" y="61218"/>
                    <a:pt x="726" y="58443"/>
                  </a:cubicBezTo>
                  <a:cubicBezTo>
                    <a:pt x="0" y="55668"/>
                    <a:pt x="828" y="52717"/>
                    <a:pt x="2891" y="50724"/>
                  </a:cubicBezTo>
                  <a:lnTo>
                    <a:pt x="50516" y="3099"/>
                  </a:lnTo>
                  <a:cubicBezTo>
                    <a:pt x="53616" y="0"/>
                    <a:pt x="58640" y="0"/>
                    <a:pt x="61740" y="309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431931" y="6272201"/>
              <a:ext cx="92450" cy="88255"/>
            </a:xfrm>
            <a:custGeom>
              <a:rect b="b" l="l" r="r" t="t"/>
              <a:pathLst>
                <a:path extrusionOk="0" h="88255" w="92450">
                  <a:moveTo>
                    <a:pt x="73853" y="13957"/>
                  </a:moveTo>
                  <a:cubicBezTo>
                    <a:pt x="92450" y="32563"/>
                    <a:pt x="92442" y="62717"/>
                    <a:pt x="73440" y="81696"/>
                  </a:cubicBezTo>
                  <a:lnTo>
                    <a:pt x="69201" y="85379"/>
                  </a:lnTo>
                  <a:cubicBezTo>
                    <a:pt x="65892" y="88255"/>
                    <a:pt x="60877" y="87903"/>
                    <a:pt x="58001" y="84593"/>
                  </a:cubicBezTo>
                  <a:cubicBezTo>
                    <a:pt x="55126" y="81283"/>
                    <a:pt x="55478" y="76269"/>
                    <a:pt x="58787" y="73393"/>
                  </a:cubicBezTo>
                  <a:lnTo>
                    <a:pt x="62621" y="70091"/>
                  </a:lnTo>
                  <a:cubicBezTo>
                    <a:pt x="68576" y="64137"/>
                    <a:pt x="71921" y="56061"/>
                    <a:pt x="71921" y="47640"/>
                  </a:cubicBezTo>
                  <a:cubicBezTo>
                    <a:pt x="71921" y="39219"/>
                    <a:pt x="68576" y="31143"/>
                    <a:pt x="62621" y="25189"/>
                  </a:cubicBezTo>
                  <a:cubicBezTo>
                    <a:pt x="50223" y="12783"/>
                    <a:pt x="30117" y="12783"/>
                    <a:pt x="18116" y="24760"/>
                  </a:cubicBezTo>
                  <a:lnTo>
                    <a:pt x="14440" y="29015"/>
                  </a:lnTo>
                  <a:cubicBezTo>
                    <a:pt x="12586" y="31161"/>
                    <a:pt x="9727" y="32156"/>
                    <a:pt x="6940" y="31623"/>
                  </a:cubicBezTo>
                  <a:cubicBezTo>
                    <a:pt x="4154" y="31090"/>
                    <a:pt x="1864" y="29111"/>
                    <a:pt x="932" y="26432"/>
                  </a:cubicBezTo>
                  <a:cubicBezTo>
                    <a:pt x="0" y="23752"/>
                    <a:pt x="568" y="20779"/>
                    <a:pt x="2423" y="18633"/>
                  </a:cubicBezTo>
                  <a:lnTo>
                    <a:pt x="6495" y="13949"/>
                  </a:lnTo>
                  <a:cubicBezTo>
                    <a:pt x="15428" y="5017"/>
                    <a:pt x="27543" y="0"/>
                    <a:pt x="40175" y="1"/>
                  </a:cubicBezTo>
                  <a:cubicBezTo>
                    <a:pt x="52808" y="3"/>
                    <a:pt x="64922" y="5023"/>
                    <a:pt x="73853" y="13957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376860" y="6326867"/>
              <a:ext cx="87794" cy="92836"/>
            </a:xfrm>
            <a:custGeom>
              <a:rect b="b" l="l" r="r" t="t"/>
              <a:pathLst>
                <a:path extrusionOk="0" h="92836" w="87794">
                  <a:moveTo>
                    <a:pt x="29768" y="3591"/>
                  </a:moveTo>
                  <a:cubicBezTo>
                    <a:pt x="32667" y="6877"/>
                    <a:pt x="32354" y="11890"/>
                    <a:pt x="29070" y="14791"/>
                  </a:cubicBezTo>
                  <a:lnTo>
                    <a:pt x="25236" y="18164"/>
                  </a:lnTo>
                  <a:cubicBezTo>
                    <a:pt x="19242" y="24085"/>
                    <a:pt x="15868" y="32159"/>
                    <a:pt x="15868" y="40584"/>
                  </a:cubicBezTo>
                  <a:cubicBezTo>
                    <a:pt x="15868" y="49009"/>
                    <a:pt x="19242" y="57083"/>
                    <a:pt x="25236" y="63003"/>
                  </a:cubicBezTo>
                  <a:cubicBezTo>
                    <a:pt x="37686" y="75322"/>
                    <a:pt x="57691" y="75456"/>
                    <a:pt x="70305" y="63305"/>
                  </a:cubicBezTo>
                  <a:lnTo>
                    <a:pt x="73004" y="59669"/>
                  </a:lnTo>
                  <a:cubicBezTo>
                    <a:pt x="74697" y="57392"/>
                    <a:pt x="77476" y="56191"/>
                    <a:pt x="80295" y="56519"/>
                  </a:cubicBezTo>
                  <a:cubicBezTo>
                    <a:pt x="83113" y="56846"/>
                    <a:pt x="85543" y="58653"/>
                    <a:pt x="86668" y="61258"/>
                  </a:cubicBezTo>
                  <a:cubicBezTo>
                    <a:pt x="87794" y="63862"/>
                    <a:pt x="87445" y="66870"/>
                    <a:pt x="85752" y="69147"/>
                  </a:cubicBezTo>
                  <a:lnTo>
                    <a:pt x="82600" y="73385"/>
                  </a:lnTo>
                  <a:lnTo>
                    <a:pt x="81807" y="74290"/>
                  </a:lnTo>
                  <a:cubicBezTo>
                    <a:pt x="63038" y="92836"/>
                    <a:pt x="32844" y="92836"/>
                    <a:pt x="14076" y="74290"/>
                  </a:cubicBezTo>
                  <a:cubicBezTo>
                    <a:pt x="5068" y="65386"/>
                    <a:pt x="0" y="53246"/>
                    <a:pt x="3" y="40580"/>
                  </a:cubicBezTo>
                  <a:cubicBezTo>
                    <a:pt x="3" y="27919"/>
                    <a:pt x="5067" y="15783"/>
                    <a:pt x="14401" y="6575"/>
                  </a:cubicBezTo>
                  <a:lnTo>
                    <a:pt x="18561" y="2900"/>
                  </a:lnTo>
                  <a:cubicBezTo>
                    <a:pt x="21845" y="0"/>
                    <a:pt x="26858" y="309"/>
                    <a:pt x="29760" y="359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95" name="Google Shape;795;p47"/>
          <p:cNvSpPr txBox="1"/>
          <p:nvPr/>
        </p:nvSpPr>
        <p:spPr>
          <a:xfrm>
            <a:off x="4203383" y="4703445"/>
            <a:ext cx="3289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关键差异：Claude Design 和 Claude Code 是同一个生态</a:t>
            </a:r>
            <a:endParaRPr sz="1100"/>
          </a:p>
        </p:txBody>
      </p:sp>
      <p:sp>
        <p:nvSpPr>
          <p:cNvPr id="796" name="Google Shape;796;p47"/>
          <p:cNvSpPr txBox="1"/>
          <p:nvPr/>
        </p:nvSpPr>
        <p:spPr>
          <a:xfrm>
            <a:off x="8320076" y="4958477"/>
            <a:ext cx="405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05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2" name="Google Shape;802;p48"/>
          <p:cNvSpPr/>
          <p:nvPr/>
        </p:nvSpPr>
        <p:spPr>
          <a:xfrm>
            <a:off x="0" y="0"/>
            <a:ext cx="9144000" cy="357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3" name="Google Shape;803;p48"/>
          <p:cNvGrpSpPr/>
          <p:nvPr/>
        </p:nvGrpSpPr>
        <p:grpSpPr>
          <a:xfrm>
            <a:off x="571500" y="295751"/>
            <a:ext cx="8001000" cy="397193"/>
            <a:chOff x="762000" y="394335"/>
            <a:chExt cx="10668000" cy="529590"/>
          </a:xfrm>
        </p:grpSpPr>
        <p:sp>
          <p:nvSpPr>
            <p:cNvPr id="804" name="Google Shape;804;p48"/>
            <p:cNvSpPr txBox="1"/>
            <p:nvPr/>
          </p:nvSpPr>
          <p:spPr>
            <a:xfrm>
              <a:off x="3080537" y="394335"/>
              <a:ext cx="6030900" cy="410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没有 Claude Design vs 有了以后</a:t>
              </a:r>
              <a:endParaRPr sz="1100"/>
            </a:p>
          </p:txBody>
        </p:sp>
        <p:sp>
          <p:nvSpPr>
            <p:cNvPr id="805" name="Google Shape;805;p48"/>
            <p:cNvSpPr/>
            <p:nvPr/>
          </p:nvSpPr>
          <p:spPr>
            <a:xfrm>
              <a:off x="762000" y="9144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806" name="Google Shape;806;p48"/>
          <p:cNvGrpSpPr/>
          <p:nvPr/>
        </p:nvGrpSpPr>
        <p:grpSpPr>
          <a:xfrm>
            <a:off x="428625" y="842963"/>
            <a:ext cx="3857625" cy="3771900"/>
            <a:chOff x="571500" y="1123950"/>
            <a:chExt cx="5143500" cy="5029200"/>
          </a:xfrm>
        </p:grpSpPr>
        <p:sp>
          <p:nvSpPr>
            <p:cNvPr id="807" name="Google Shape;807;p48"/>
            <p:cNvSpPr/>
            <p:nvPr/>
          </p:nvSpPr>
          <p:spPr>
            <a:xfrm>
              <a:off x="571500" y="1123950"/>
              <a:ext cx="5143500" cy="5029200"/>
            </a:xfrm>
            <a:prstGeom prst="roundRect">
              <a:avLst>
                <a:gd fmla="val 3788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48"/>
            <p:cNvSpPr/>
            <p:nvPr/>
          </p:nvSpPr>
          <p:spPr>
            <a:xfrm>
              <a:off x="571500" y="1123950"/>
              <a:ext cx="5143500" cy="552600"/>
            </a:xfrm>
            <a:prstGeom prst="roundRect">
              <a:avLst>
                <a:gd fmla="val 34483" name="adj"/>
              </a:avLst>
            </a:pr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48"/>
            <p:cNvSpPr/>
            <p:nvPr/>
          </p:nvSpPr>
          <p:spPr>
            <a:xfrm>
              <a:off x="571500" y="1409700"/>
              <a:ext cx="5143500" cy="266700"/>
            </a:xfrm>
            <a:prstGeom prst="rect">
              <a:avLst/>
            </a:pr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48"/>
            <p:cNvSpPr txBox="1"/>
            <p:nvPr/>
          </p:nvSpPr>
          <p:spPr>
            <a:xfrm>
              <a:off x="2230718" y="1321118"/>
              <a:ext cx="18252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BEFORE · 传统方式</a:t>
              </a:r>
              <a:endParaRPr sz="1100"/>
            </a:p>
          </p:txBody>
        </p:sp>
        <p:sp>
          <p:nvSpPr>
            <p:cNvPr id="811" name="Google Shape;811;p48"/>
            <p:cNvSpPr/>
            <p:nvPr/>
          </p:nvSpPr>
          <p:spPr>
            <a:xfrm>
              <a:off x="838200" y="1924050"/>
              <a:ext cx="4610100" cy="104790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2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48"/>
            <p:cNvSpPr txBox="1"/>
            <p:nvPr/>
          </p:nvSpPr>
          <p:spPr>
            <a:xfrm>
              <a:off x="1087755" y="2121218"/>
              <a:ext cx="16905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😥 找设计师 / 外包</a:t>
              </a:r>
              <a:endParaRPr sz="1100"/>
            </a:p>
          </p:txBody>
        </p:sp>
        <p:sp>
          <p:nvSpPr>
            <p:cNvPr id="813" name="Google Shape;813;p48"/>
            <p:cNvSpPr txBox="1"/>
            <p:nvPr/>
          </p:nvSpPr>
          <p:spPr>
            <a:xfrm>
              <a:off x="1089660" y="2404110"/>
              <a:ext cx="28434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费用 $500~$3000，等 2~4 周才出稿</a:t>
              </a:r>
              <a:endParaRPr sz="1100"/>
            </a:p>
          </p:txBody>
        </p:sp>
        <p:sp>
          <p:nvSpPr>
            <p:cNvPr id="814" name="Google Shape;814;p48"/>
            <p:cNvSpPr txBox="1"/>
            <p:nvPr/>
          </p:nvSpPr>
          <p:spPr>
            <a:xfrm>
              <a:off x="1089660" y="2632710"/>
              <a:ext cx="19584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沟通成本高，改稿无底洞</a:t>
              </a:r>
              <a:endParaRPr sz="1100"/>
            </a:p>
          </p:txBody>
        </p:sp>
        <p:sp>
          <p:nvSpPr>
            <p:cNvPr id="815" name="Google Shape;815;p48"/>
            <p:cNvSpPr/>
            <p:nvPr/>
          </p:nvSpPr>
          <p:spPr>
            <a:xfrm>
              <a:off x="838200" y="3124200"/>
              <a:ext cx="4610100" cy="104790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2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48"/>
            <p:cNvSpPr txBox="1"/>
            <p:nvPr/>
          </p:nvSpPr>
          <p:spPr>
            <a:xfrm>
              <a:off x="1087755" y="3321368"/>
              <a:ext cx="17112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😕 自学 Figma / PS</a:t>
              </a:r>
              <a:endParaRPr sz="1100"/>
            </a:p>
          </p:txBody>
        </p:sp>
        <p:sp>
          <p:nvSpPr>
            <p:cNvPr id="817" name="Google Shape;817;p48"/>
            <p:cNvSpPr txBox="1"/>
            <p:nvPr/>
          </p:nvSpPr>
          <p:spPr>
            <a:xfrm>
              <a:off x="1089660" y="3604260"/>
              <a:ext cx="21336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入门门槛高，软件操作复杂</a:t>
              </a:r>
              <a:endParaRPr sz="1100"/>
            </a:p>
          </p:txBody>
        </p:sp>
        <p:sp>
          <p:nvSpPr>
            <p:cNvPr id="818" name="Google Shape;818;p48"/>
            <p:cNvSpPr txBox="1"/>
            <p:nvPr/>
          </p:nvSpPr>
          <p:spPr>
            <a:xfrm>
              <a:off x="1089660" y="3832860"/>
              <a:ext cx="17832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学会之前网站上不了线</a:t>
              </a:r>
              <a:endParaRPr sz="1100"/>
            </a:p>
          </p:txBody>
        </p:sp>
        <p:sp>
          <p:nvSpPr>
            <p:cNvPr id="819" name="Google Shape;819;p48"/>
            <p:cNvSpPr/>
            <p:nvPr/>
          </p:nvSpPr>
          <p:spPr>
            <a:xfrm>
              <a:off x="838200" y="4324350"/>
              <a:ext cx="4610100" cy="104790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2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48"/>
            <p:cNvSpPr txBox="1"/>
            <p:nvPr/>
          </p:nvSpPr>
          <p:spPr>
            <a:xfrm>
              <a:off x="1087755" y="4521518"/>
              <a:ext cx="14523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😰 反复修稿循环</a:t>
              </a:r>
              <a:endParaRPr sz="1100"/>
            </a:p>
          </p:txBody>
        </p:sp>
        <p:sp>
          <p:nvSpPr>
            <p:cNvPr id="821" name="Google Shape;821;p48"/>
            <p:cNvSpPr txBox="1"/>
            <p:nvPr/>
          </p:nvSpPr>
          <p:spPr>
            <a:xfrm>
              <a:off x="1089660" y="4804410"/>
              <a:ext cx="23088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设计与代码脱节，改一处全崩</a:t>
              </a:r>
              <a:endParaRPr sz="1100"/>
            </a:p>
          </p:txBody>
        </p:sp>
        <p:sp>
          <p:nvSpPr>
            <p:cNvPr id="822" name="Google Shape;822;p48"/>
            <p:cNvSpPr txBox="1"/>
            <p:nvPr/>
          </p:nvSpPr>
          <p:spPr>
            <a:xfrm>
              <a:off x="1089660" y="5033010"/>
              <a:ext cx="21336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视觉稿和实现结果相差很大</a:t>
              </a:r>
              <a:endParaRPr sz="1100"/>
            </a:p>
          </p:txBody>
        </p:sp>
        <p:sp>
          <p:nvSpPr>
            <p:cNvPr id="823" name="Google Shape;823;p48"/>
            <p:cNvSpPr/>
            <p:nvPr/>
          </p:nvSpPr>
          <p:spPr>
            <a:xfrm>
              <a:off x="838200" y="5562600"/>
              <a:ext cx="4610100" cy="419100"/>
            </a:xfrm>
            <a:prstGeom prst="roundRect">
              <a:avLst>
                <a:gd fmla="val 18182" name="adj"/>
              </a:avLst>
            </a:prstGeom>
            <a:solidFill>
              <a:srgbClr val="9E9E9E">
                <a:alpha val="25099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48"/>
            <p:cNvSpPr txBox="1"/>
            <p:nvPr/>
          </p:nvSpPr>
          <p:spPr>
            <a:xfrm>
              <a:off x="1831708" y="5682139"/>
              <a:ext cx="26232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⌛ 平均周期 4~8 周 · 成本高昂</a:t>
              </a:r>
              <a:endParaRPr sz="1100"/>
            </a:p>
          </p:txBody>
        </p:sp>
      </p:grpSp>
      <p:grpSp>
        <p:nvGrpSpPr>
          <p:cNvPr id="825" name="Google Shape;825;p48"/>
          <p:cNvGrpSpPr/>
          <p:nvPr/>
        </p:nvGrpSpPr>
        <p:grpSpPr>
          <a:xfrm>
            <a:off x="4314825" y="2471738"/>
            <a:ext cx="514350" cy="514350"/>
            <a:chOff x="5753100" y="3295650"/>
            <a:chExt cx="685800" cy="685800"/>
          </a:xfrm>
        </p:grpSpPr>
        <p:sp>
          <p:nvSpPr>
            <p:cNvPr id="826" name="Google Shape;826;p48"/>
            <p:cNvSpPr/>
            <p:nvPr/>
          </p:nvSpPr>
          <p:spPr>
            <a:xfrm>
              <a:off x="5753100" y="3295650"/>
              <a:ext cx="685800" cy="685800"/>
            </a:xfrm>
            <a:prstGeom prst="ellipse">
              <a:avLst/>
            </a:prstGeom>
            <a:solidFill>
              <a:srgbClr val="1E1E1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48"/>
            <p:cNvSpPr txBox="1"/>
            <p:nvPr/>
          </p:nvSpPr>
          <p:spPr>
            <a:xfrm>
              <a:off x="5979547" y="3451860"/>
              <a:ext cx="2328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VS</a:t>
              </a:r>
              <a:endParaRPr sz="1100"/>
            </a:p>
          </p:txBody>
        </p:sp>
        <p:sp>
          <p:nvSpPr>
            <p:cNvPr id="828" name="Google Shape;828;p48"/>
            <p:cNvSpPr txBox="1"/>
            <p:nvPr/>
          </p:nvSpPr>
          <p:spPr>
            <a:xfrm>
              <a:off x="6026229" y="3690938"/>
              <a:ext cx="1395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6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PK</a:t>
              </a:r>
              <a:endParaRPr sz="1100"/>
            </a:p>
          </p:txBody>
        </p:sp>
      </p:grpSp>
      <p:grpSp>
        <p:nvGrpSpPr>
          <p:cNvPr id="829" name="Google Shape;829;p48"/>
          <p:cNvGrpSpPr/>
          <p:nvPr/>
        </p:nvGrpSpPr>
        <p:grpSpPr>
          <a:xfrm>
            <a:off x="4857750" y="842963"/>
            <a:ext cx="3857625" cy="3771900"/>
            <a:chOff x="6477000" y="1123950"/>
            <a:chExt cx="5143500" cy="5029200"/>
          </a:xfrm>
        </p:grpSpPr>
        <p:sp>
          <p:nvSpPr>
            <p:cNvPr id="830" name="Google Shape;830;p48"/>
            <p:cNvSpPr/>
            <p:nvPr/>
          </p:nvSpPr>
          <p:spPr>
            <a:xfrm>
              <a:off x="6477000" y="1123950"/>
              <a:ext cx="5143500" cy="5029200"/>
            </a:xfrm>
            <a:prstGeom prst="roundRect">
              <a:avLst>
                <a:gd fmla="val 3788" name="adj"/>
              </a:avLst>
            </a:prstGeom>
            <a:solidFill>
              <a:srgbClr val="F5EDE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48"/>
            <p:cNvSpPr/>
            <p:nvPr/>
          </p:nvSpPr>
          <p:spPr>
            <a:xfrm>
              <a:off x="6477000" y="1123950"/>
              <a:ext cx="5143500" cy="552600"/>
            </a:xfrm>
            <a:prstGeom prst="roundRect">
              <a:avLst>
                <a:gd fmla="val 34483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48"/>
            <p:cNvSpPr/>
            <p:nvPr/>
          </p:nvSpPr>
          <p:spPr>
            <a:xfrm>
              <a:off x="6477000" y="1409700"/>
              <a:ext cx="5143500" cy="2667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48"/>
            <p:cNvSpPr txBox="1"/>
            <p:nvPr/>
          </p:nvSpPr>
          <p:spPr>
            <a:xfrm>
              <a:off x="7965422" y="1321118"/>
              <a:ext cx="21666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AFTER · Claude Design</a:t>
              </a:r>
              <a:endParaRPr sz="1100"/>
            </a:p>
          </p:txBody>
        </p:sp>
        <p:sp>
          <p:nvSpPr>
            <p:cNvPr id="834" name="Google Shape;834;p48"/>
            <p:cNvSpPr/>
            <p:nvPr/>
          </p:nvSpPr>
          <p:spPr>
            <a:xfrm>
              <a:off x="6743700" y="1924050"/>
              <a:ext cx="4610100" cy="104790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1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48"/>
            <p:cNvSpPr txBox="1"/>
            <p:nvPr/>
          </p:nvSpPr>
          <p:spPr>
            <a:xfrm>
              <a:off x="6993255" y="2121218"/>
              <a:ext cx="21045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✨ 文字描述 → 即时出稿</a:t>
              </a:r>
              <a:endParaRPr sz="1100"/>
            </a:p>
          </p:txBody>
        </p:sp>
        <p:sp>
          <p:nvSpPr>
            <p:cNvPr id="836" name="Google Shape;836;p48"/>
            <p:cNvSpPr txBox="1"/>
            <p:nvPr/>
          </p:nvSpPr>
          <p:spPr>
            <a:xfrm>
              <a:off x="6995160" y="2404110"/>
              <a:ext cx="24840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用中文描述你的需求和风格偏好</a:t>
              </a:r>
              <a:endParaRPr sz="1100"/>
            </a:p>
          </p:txBody>
        </p:sp>
        <p:sp>
          <p:nvSpPr>
            <p:cNvPr id="837" name="Google Shape;837;p48"/>
            <p:cNvSpPr txBox="1"/>
            <p:nvPr/>
          </p:nvSpPr>
          <p:spPr>
            <a:xfrm>
              <a:off x="6995160" y="2632710"/>
              <a:ext cx="21072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5 分钟内生成完整视觉方案</a:t>
              </a:r>
              <a:endParaRPr sz="1100"/>
            </a:p>
          </p:txBody>
        </p:sp>
        <p:sp>
          <p:nvSpPr>
            <p:cNvPr id="838" name="Google Shape;838;p48"/>
            <p:cNvSpPr/>
            <p:nvPr/>
          </p:nvSpPr>
          <p:spPr>
            <a:xfrm>
              <a:off x="6743700" y="3124200"/>
              <a:ext cx="4610100" cy="104790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1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48"/>
            <p:cNvSpPr txBox="1"/>
            <p:nvPr/>
          </p:nvSpPr>
          <p:spPr>
            <a:xfrm>
              <a:off x="6993255" y="3321368"/>
              <a:ext cx="16593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🌟 多版本对比选择</a:t>
              </a:r>
              <a:endParaRPr sz="1100"/>
            </a:p>
          </p:txBody>
        </p:sp>
        <p:sp>
          <p:nvSpPr>
            <p:cNvPr id="840" name="Google Shape;840;p48"/>
            <p:cNvSpPr txBox="1"/>
            <p:nvPr/>
          </p:nvSpPr>
          <p:spPr>
            <a:xfrm>
              <a:off x="6995160" y="3604260"/>
              <a:ext cx="19845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一次生成 3 套风格供你选</a:t>
              </a:r>
              <a:endParaRPr sz="1100"/>
            </a:p>
          </p:txBody>
        </p:sp>
        <p:sp>
          <p:nvSpPr>
            <p:cNvPr id="841" name="Google Shape;841;p48"/>
            <p:cNvSpPr txBox="1"/>
            <p:nvPr/>
          </p:nvSpPr>
          <p:spPr>
            <a:xfrm>
              <a:off x="6995160" y="3832860"/>
              <a:ext cx="21336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不满意继续改，分钟级迭代</a:t>
              </a:r>
              <a:endParaRPr sz="1100"/>
            </a:p>
          </p:txBody>
        </p:sp>
        <p:sp>
          <p:nvSpPr>
            <p:cNvPr id="842" name="Google Shape;842;p48"/>
            <p:cNvSpPr/>
            <p:nvPr/>
          </p:nvSpPr>
          <p:spPr>
            <a:xfrm>
              <a:off x="6743700" y="4324350"/>
              <a:ext cx="4610100" cy="104790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1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48"/>
            <p:cNvSpPr txBox="1"/>
            <p:nvPr/>
          </p:nvSpPr>
          <p:spPr>
            <a:xfrm>
              <a:off x="6993255" y="4521518"/>
              <a:ext cx="14523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🔗 设计直通代码</a:t>
              </a:r>
              <a:endParaRPr sz="1100"/>
            </a:p>
          </p:txBody>
        </p:sp>
        <p:sp>
          <p:nvSpPr>
            <p:cNvPr id="844" name="Google Shape;844;p48"/>
            <p:cNvSpPr txBox="1"/>
            <p:nvPr/>
          </p:nvSpPr>
          <p:spPr>
            <a:xfrm>
              <a:off x="6995160" y="4804410"/>
              <a:ext cx="28347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Design Brief 直接喂给 Claude Code</a:t>
              </a:r>
              <a:endParaRPr sz="1100"/>
            </a:p>
          </p:txBody>
        </p:sp>
        <p:sp>
          <p:nvSpPr>
            <p:cNvPr id="845" name="Google Shape;845;p48"/>
            <p:cNvSpPr txBox="1"/>
            <p:nvPr/>
          </p:nvSpPr>
          <p:spPr>
            <a:xfrm>
              <a:off x="6995160" y="5033010"/>
              <a:ext cx="24054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设计与实现 100% 对齐，无断层</a:t>
              </a:r>
              <a:endParaRPr sz="1100"/>
            </a:p>
          </p:txBody>
        </p:sp>
        <p:sp>
          <p:nvSpPr>
            <p:cNvPr id="846" name="Google Shape;846;p48"/>
            <p:cNvSpPr/>
            <p:nvPr/>
          </p:nvSpPr>
          <p:spPr>
            <a:xfrm>
              <a:off x="6743700" y="5562600"/>
              <a:ext cx="4610100" cy="419100"/>
            </a:xfrm>
            <a:prstGeom prst="roundRect">
              <a:avLst>
                <a:gd fmla="val 18182" name="adj"/>
              </a:avLst>
            </a:prstGeom>
            <a:solidFill>
              <a:srgbClr val="C96133">
                <a:alpha val="149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48"/>
            <p:cNvSpPr txBox="1"/>
            <p:nvPr/>
          </p:nvSpPr>
          <p:spPr>
            <a:xfrm>
              <a:off x="7663886" y="5682139"/>
              <a:ext cx="2769600" cy="2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⚡ </a:t>
              </a:r>
              <a:r>
                <a:rPr b="1" lang="en" sz="1000">
                  <a:solidFill>
                    <a:srgbClr val="C96133"/>
                  </a:solidFill>
                </a:rPr>
                <a:t>1-2小时</a:t>
              </a: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完成视觉稿 · 零设计成本</a:t>
              </a:r>
              <a:endParaRPr sz="1100"/>
            </a:p>
          </p:txBody>
        </p:sp>
      </p:grpSp>
      <p:sp>
        <p:nvSpPr>
          <p:cNvPr id="848" name="Google Shape;848;p48"/>
          <p:cNvSpPr txBox="1"/>
          <p:nvPr/>
        </p:nvSpPr>
        <p:spPr>
          <a:xfrm>
            <a:off x="8320076" y="4915614"/>
            <a:ext cx="405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08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8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49"/>
          <p:cNvSpPr/>
          <p:nvPr/>
        </p:nvSpPr>
        <p:spPr>
          <a:xfrm>
            <a:off x="2571750" y="428625"/>
            <a:ext cx="4000500" cy="4000500"/>
          </a:xfrm>
          <a:prstGeom prst="ellipse">
            <a:avLst/>
          </a:prstGeom>
          <a:solidFill>
            <a:srgbClr val="4F46E5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49"/>
          <p:cNvSpPr/>
          <p:nvPr/>
        </p:nvSpPr>
        <p:spPr>
          <a:xfrm>
            <a:off x="3143250" y="1000125"/>
            <a:ext cx="2857500" cy="2857500"/>
          </a:xfrm>
          <a:prstGeom prst="ellipse">
            <a:avLst/>
          </a:prstGeom>
          <a:solidFill>
            <a:srgbClr val="4F46E5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49"/>
          <p:cNvSpPr txBox="1"/>
          <p:nvPr/>
        </p:nvSpPr>
        <p:spPr>
          <a:xfrm>
            <a:off x="4205669" y="674370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S3 成品展示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49"/>
          <p:cNvSpPr txBox="1"/>
          <p:nvPr/>
        </p:nvSpPr>
        <p:spPr>
          <a:xfrm>
            <a:off x="3189185" y="941546"/>
            <a:ext cx="276563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知识服务网站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49"/>
          <p:cNvSpPr txBox="1"/>
          <p:nvPr/>
        </p:nvSpPr>
        <p:spPr>
          <a:xfrm>
            <a:off x="3309200" y="1538049"/>
            <a:ext cx="25256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让专业知识 7×24 在线为你服务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49"/>
          <p:cNvSpPr/>
          <p:nvPr/>
        </p:nvSpPr>
        <p:spPr>
          <a:xfrm>
            <a:off x="1428750" y="1885950"/>
            <a:ext cx="6286500" cy="14288"/>
          </a:xfrm>
          <a:prstGeom prst="roundRect">
            <a:avLst>
              <a:gd fmla="val 50000" name="adj"/>
            </a:avLst>
          </a:prstGeom>
          <a:solidFill>
            <a:srgbClr val="E2E8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49"/>
          <p:cNvSpPr/>
          <p:nvPr/>
        </p:nvSpPr>
        <p:spPr>
          <a:xfrm>
            <a:off x="1428750" y="2071688"/>
            <a:ext cx="2857500" cy="542925"/>
          </a:xfrm>
          <a:prstGeom prst="roundRect">
            <a:avLst>
              <a:gd fmla="val 1315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49"/>
          <p:cNvSpPr/>
          <p:nvPr/>
        </p:nvSpPr>
        <p:spPr>
          <a:xfrm>
            <a:off x="1428750" y="2071688"/>
            <a:ext cx="28575" cy="542925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62" name="Google Shape;862;p49"/>
          <p:cNvGrpSpPr/>
          <p:nvPr/>
        </p:nvGrpSpPr>
        <p:grpSpPr>
          <a:xfrm>
            <a:off x="1610236" y="2236001"/>
            <a:ext cx="129890" cy="176440"/>
            <a:chOff x="2146981" y="2981335"/>
            <a:chExt cx="173186" cy="235253"/>
          </a:xfrm>
        </p:grpSpPr>
        <p:sp>
          <p:nvSpPr>
            <p:cNvPr id="863" name="Google Shape;863;p49"/>
            <p:cNvSpPr/>
            <p:nvPr/>
          </p:nvSpPr>
          <p:spPr>
            <a:xfrm>
              <a:off x="2162175" y="3016248"/>
              <a:ext cx="111563" cy="111983"/>
            </a:xfrm>
            <a:custGeom>
              <a:rect b="b" l="l" r="r" t="t"/>
              <a:pathLst>
                <a:path extrusionOk="0" h="111983" w="111563">
                  <a:moveTo>
                    <a:pt x="55563" y="2"/>
                  </a:moveTo>
                  <a:cubicBezTo>
                    <a:pt x="85936" y="0"/>
                    <a:pt x="110682" y="24388"/>
                    <a:pt x="111122" y="54758"/>
                  </a:cubicBezTo>
                  <a:cubicBezTo>
                    <a:pt x="111563" y="85128"/>
                    <a:pt x="87535" y="110224"/>
                    <a:pt x="57175" y="111103"/>
                  </a:cubicBezTo>
                  <a:cubicBezTo>
                    <a:pt x="26814" y="111983"/>
                    <a:pt x="1374" y="88320"/>
                    <a:pt x="56" y="57976"/>
                  </a:cubicBezTo>
                  <a:lnTo>
                    <a:pt x="0" y="55564"/>
                  </a:lnTo>
                  <a:lnTo>
                    <a:pt x="56" y="53153"/>
                  </a:lnTo>
                  <a:cubicBezTo>
                    <a:pt x="1347" y="23434"/>
                    <a:pt x="25815" y="3"/>
                    <a:pt x="55562" y="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" name="Google Shape;864;p49"/>
            <p:cNvSpPr/>
            <p:nvPr/>
          </p:nvSpPr>
          <p:spPr>
            <a:xfrm>
              <a:off x="2146981" y="2981335"/>
              <a:ext cx="173186" cy="197035"/>
            </a:xfrm>
            <a:custGeom>
              <a:rect b="b" l="l" r="r" t="t"/>
              <a:pathLst>
                <a:path extrusionOk="0" h="197035" w="173186">
                  <a:moveTo>
                    <a:pt x="105572" y="7156"/>
                  </a:moveTo>
                  <a:cubicBezTo>
                    <a:pt x="108629" y="1836"/>
                    <a:pt x="115419" y="0"/>
                    <a:pt x="120741" y="3055"/>
                  </a:cubicBezTo>
                  <a:cubicBezTo>
                    <a:pt x="153782" y="22046"/>
                    <a:pt x="173186" y="58139"/>
                    <a:pt x="170803" y="96174"/>
                  </a:cubicBezTo>
                  <a:cubicBezTo>
                    <a:pt x="168420" y="134209"/>
                    <a:pt x="144663" y="167599"/>
                    <a:pt x="109510" y="182317"/>
                  </a:cubicBezTo>
                  <a:cubicBezTo>
                    <a:pt x="74357" y="197035"/>
                    <a:pt x="33898" y="190533"/>
                    <a:pt x="5126" y="165542"/>
                  </a:cubicBezTo>
                  <a:cubicBezTo>
                    <a:pt x="493" y="161516"/>
                    <a:pt x="0" y="154496"/>
                    <a:pt x="4026" y="149863"/>
                  </a:cubicBezTo>
                  <a:cubicBezTo>
                    <a:pt x="8052" y="145229"/>
                    <a:pt x="15072" y="144736"/>
                    <a:pt x="19706" y="148762"/>
                  </a:cubicBezTo>
                  <a:cubicBezTo>
                    <a:pt x="42094" y="168209"/>
                    <a:pt x="73577" y="173268"/>
                    <a:pt x="100931" y="161815"/>
                  </a:cubicBezTo>
                  <a:cubicBezTo>
                    <a:pt x="128285" y="150362"/>
                    <a:pt x="146772" y="124381"/>
                    <a:pt x="148626" y="94785"/>
                  </a:cubicBezTo>
                  <a:cubicBezTo>
                    <a:pt x="150481" y="65188"/>
                    <a:pt x="135383" y="37103"/>
                    <a:pt x="109673" y="22324"/>
                  </a:cubicBezTo>
                  <a:cubicBezTo>
                    <a:pt x="104352" y="19267"/>
                    <a:pt x="102517" y="12477"/>
                    <a:pt x="105572" y="7156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49"/>
            <p:cNvSpPr/>
            <p:nvPr/>
          </p:nvSpPr>
          <p:spPr>
            <a:xfrm>
              <a:off x="2206625" y="3149600"/>
              <a:ext cx="22225" cy="66988"/>
            </a:xfrm>
            <a:custGeom>
              <a:rect b="b" l="l" r="r" t="t"/>
              <a:pathLst>
                <a:path extrusionOk="0" h="66988" w="22225">
                  <a:moveTo>
                    <a:pt x="11113" y="0"/>
                  </a:moveTo>
                  <a:cubicBezTo>
                    <a:pt x="16746" y="1"/>
                    <a:pt x="21488" y="4217"/>
                    <a:pt x="22147" y="9812"/>
                  </a:cubicBezTo>
                  <a:lnTo>
                    <a:pt x="22225" y="11112"/>
                  </a:lnTo>
                  <a:lnTo>
                    <a:pt x="22225" y="55562"/>
                  </a:lnTo>
                  <a:cubicBezTo>
                    <a:pt x="22218" y="61442"/>
                    <a:pt x="17633" y="66299"/>
                    <a:pt x="11764" y="66644"/>
                  </a:cubicBezTo>
                  <a:cubicBezTo>
                    <a:pt x="5894" y="66988"/>
                    <a:pt x="772" y="62701"/>
                    <a:pt x="78" y="56863"/>
                  </a:cubicBezTo>
                  <a:lnTo>
                    <a:pt x="0" y="55562"/>
                  </a:lnTo>
                  <a:lnTo>
                    <a:pt x="0" y="11112"/>
                  </a:lnTo>
                  <a:cubicBezTo>
                    <a:pt x="0" y="4975"/>
                    <a:pt x="4975" y="0"/>
                    <a:pt x="1111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49"/>
            <p:cNvSpPr/>
            <p:nvPr/>
          </p:nvSpPr>
          <p:spPr>
            <a:xfrm>
              <a:off x="2161862" y="3194050"/>
              <a:ext cx="111751" cy="22225"/>
            </a:xfrm>
            <a:custGeom>
              <a:rect b="b" l="l" r="r" t="t"/>
              <a:pathLst>
                <a:path extrusionOk="0" h="22225" w="111751">
                  <a:moveTo>
                    <a:pt x="100326" y="0"/>
                  </a:moveTo>
                  <a:cubicBezTo>
                    <a:pt x="106205" y="7"/>
                    <a:pt x="111062" y="4592"/>
                    <a:pt x="111407" y="10461"/>
                  </a:cubicBezTo>
                  <a:cubicBezTo>
                    <a:pt x="111751" y="16331"/>
                    <a:pt x="107464" y="21453"/>
                    <a:pt x="101626" y="22147"/>
                  </a:cubicBezTo>
                  <a:lnTo>
                    <a:pt x="100326" y="22225"/>
                  </a:lnTo>
                  <a:lnTo>
                    <a:pt x="11426" y="22225"/>
                  </a:lnTo>
                  <a:cubicBezTo>
                    <a:pt x="5546" y="22218"/>
                    <a:pt x="689" y="17633"/>
                    <a:pt x="345" y="11764"/>
                  </a:cubicBezTo>
                  <a:cubicBezTo>
                    <a:pt x="0" y="5894"/>
                    <a:pt x="4287" y="772"/>
                    <a:pt x="10125" y="78"/>
                  </a:cubicBezTo>
                  <a:lnTo>
                    <a:pt x="11426" y="0"/>
                  </a:lnTo>
                  <a:lnTo>
                    <a:pt x="100326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67" name="Google Shape;867;p49"/>
          <p:cNvSpPr txBox="1"/>
          <p:nvPr/>
        </p:nvSpPr>
        <p:spPr>
          <a:xfrm>
            <a:off x="1860232" y="2131695"/>
            <a:ext cx="14237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品牌网站 · 自定义域名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49"/>
          <p:cNvSpPr txBox="1"/>
          <p:nvPr/>
        </p:nvSpPr>
        <p:spPr>
          <a:xfrm>
            <a:off x="1861661" y="2415302"/>
            <a:ext cx="18947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Design System 驱动 · 全站风格统一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49"/>
          <p:cNvSpPr/>
          <p:nvPr/>
        </p:nvSpPr>
        <p:spPr>
          <a:xfrm>
            <a:off x="4857750" y="2071688"/>
            <a:ext cx="2857500" cy="542925"/>
          </a:xfrm>
          <a:prstGeom prst="roundRect">
            <a:avLst>
              <a:gd fmla="val 1315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49"/>
          <p:cNvSpPr/>
          <p:nvPr/>
        </p:nvSpPr>
        <p:spPr>
          <a:xfrm>
            <a:off x="4857750" y="2071688"/>
            <a:ext cx="28575" cy="54292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49"/>
          <p:cNvSpPr/>
          <p:nvPr/>
        </p:nvSpPr>
        <p:spPr>
          <a:xfrm>
            <a:off x="5017294" y="2253853"/>
            <a:ext cx="166688" cy="158743"/>
          </a:xfrm>
          <a:custGeom>
            <a:rect b="b" l="l" r="r" t="t"/>
            <a:pathLst>
              <a:path extrusionOk="0" h="211657" w="222250">
                <a:moveTo>
                  <a:pt x="177800" y="0"/>
                </a:moveTo>
                <a:cubicBezTo>
                  <a:pt x="202349" y="0"/>
                  <a:pt x="222250" y="19901"/>
                  <a:pt x="222250" y="44450"/>
                </a:cubicBezTo>
                <a:lnTo>
                  <a:pt x="222250" y="133350"/>
                </a:lnTo>
                <a:cubicBezTo>
                  <a:pt x="222250" y="157899"/>
                  <a:pt x="202349" y="177800"/>
                  <a:pt x="177800" y="177800"/>
                </a:cubicBezTo>
                <a:lnTo>
                  <a:pt x="125305" y="177800"/>
                </a:lnTo>
                <a:lnTo>
                  <a:pt x="72387" y="209548"/>
                </a:lnTo>
                <a:cubicBezTo>
                  <a:pt x="69149" y="211492"/>
                  <a:pt x="65145" y="211657"/>
                  <a:pt x="61757" y="209988"/>
                </a:cubicBezTo>
                <a:cubicBezTo>
                  <a:pt x="58370" y="208319"/>
                  <a:pt x="56061" y="205044"/>
                  <a:pt x="55629" y="201292"/>
                </a:cubicBezTo>
                <a:lnTo>
                  <a:pt x="55562" y="200025"/>
                </a:lnTo>
                <a:lnTo>
                  <a:pt x="55562" y="177800"/>
                </a:lnTo>
                <a:lnTo>
                  <a:pt x="44450" y="177800"/>
                </a:lnTo>
                <a:cubicBezTo>
                  <a:pt x="20765" y="177800"/>
                  <a:pt x="1240" y="159228"/>
                  <a:pt x="56" y="135573"/>
                </a:cubicBezTo>
                <a:lnTo>
                  <a:pt x="0" y="133350"/>
                </a:lnTo>
                <a:lnTo>
                  <a:pt x="0" y="44450"/>
                </a:lnTo>
                <a:cubicBezTo>
                  <a:pt x="0" y="19901"/>
                  <a:pt x="19901" y="0"/>
                  <a:pt x="44450" y="0"/>
                </a:cubicBezTo>
                <a:close/>
                <a:moveTo>
                  <a:pt x="146685" y="103191"/>
                </a:moveTo>
                <a:cubicBezTo>
                  <a:pt x="142303" y="98895"/>
                  <a:pt x="135268" y="98965"/>
                  <a:pt x="130972" y="103346"/>
                </a:cubicBezTo>
                <a:cubicBezTo>
                  <a:pt x="125746" y="108681"/>
                  <a:pt x="118593" y="111688"/>
                  <a:pt x="111125" y="111688"/>
                </a:cubicBezTo>
                <a:cubicBezTo>
                  <a:pt x="103657" y="111688"/>
                  <a:pt x="96504" y="108681"/>
                  <a:pt x="91278" y="103346"/>
                </a:cubicBezTo>
                <a:cubicBezTo>
                  <a:pt x="86963" y="99069"/>
                  <a:pt x="80014" y="99050"/>
                  <a:pt x="75675" y="103303"/>
                </a:cubicBezTo>
                <a:cubicBezTo>
                  <a:pt x="71337" y="107556"/>
                  <a:pt x="71219" y="114505"/>
                  <a:pt x="75409" y="118904"/>
                </a:cubicBezTo>
                <a:cubicBezTo>
                  <a:pt x="84815" y="128501"/>
                  <a:pt x="97687" y="133910"/>
                  <a:pt x="111125" y="133910"/>
                </a:cubicBezTo>
                <a:cubicBezTo>
                  <a:pt x="124563" y="133910"/>
                  <a:pt x="137435" y="128501"/>
                  <a:pt x="146841" y="118904"/>
                </a:cubicBezTo>
                <a:cubicBezTo>
                  <a:pt x="151136" y="114521"/>
                  <a:pt x="151066" y="107487"/>
                  <a:pt x="146685" y="103191"/>
                </a:cubicBezTo>
                <a:moveTo>
                  <a:pt x="83455" y="55562"/>
                </a:moveTo>
                <a:lnTo>
                  <a:pt x="83344" y="55562"/>
                </a:lnTo>
                <a:cubicBezTo>
                  <a:pt x="77206" y="55562"/>
                  <a:pt x="72231" y="60538"/>
                  <a:pt x="72231" y="66675"/>
                </a:cubicBezTo>
                <a:cubicBezTo>
                  <a:pt x="72231" y="72812"/>
                  <a:pt x="77206" y="77788"/>
                  <a:pt x="83344" y="77788"/>
                </a:cubicBezTo>
                <a:lnTo>
                  <a:pt x="83455" y="77788"/>
                </a:lnTo>
                <a:cubicBezTo>
                  <a:pt x="89592" y="77788"/>
                  <a:pt x="94567" y="72812"/>
                  <a:pt x="94567" y="66675"/>
                </a:cubicBezTo>
                <a:cubicBezTo>
                  <a:pt x="94567" y="60538"/>
                  <a:pt x="89592" y="55562"/>
                  <a:pt x="83455" y="55562"/>
                </a:cubicBezTo>
                <a:moveTo>
                  <a:pt x="139017" y="55562"/>
                </a:moveTo>
                <a:lnTo>
                  <a:pt x="138906" y="55562"/>
                </a:lnTo>
                <a:cubicBezTo>
                  <a:pt x="132769" y="55562"/>
                  <a:pt x="127794" y="60538"/>
                  <a:pt x="127794" y="66675"/>
                </a:cubicBezTo>
                <a:cubicBezTo>
                  <a:pt x="127794" y="72812"/>
                  <a:pt x="132769" y="77788"/>
                  <a:pt x="138906" y="77788"/>
                </a:cubicBezTo>
                <a:lnTo>
                  <a:pt x="139017" y="77788"/>
                </a:lnTo>
                <a:cubicBezTo>
                  <a:pt x="145155" y="77788"/>
                  <a:pt x="150130" y="72812"/>
                  <a:pt x="150130" y="66675"/>
                </a:cubicBezTo>
                <a:cubicBezTo>
                  <a:pt x="150130" y="60538"/>
                  <a:pt x="145155" y="55562"/>
                  <a:pt x="139017" y="55562"/>
                </a:cubicBezTo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49"/>
          <p:cNvSpPr txBox="1"/>
          <p:nvPr/>
        </p:nvSpPr>
        <p:spPr>
          <a:xfrm>
            <a:off x="5289233" y="2131695"/>
            <a:ext cx="156175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Chatbot · 知识库接入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49"/>
          <p:cNvSpPr txBox="1"/>
          <p:nvPr/>
        </p:nvSpPr>
        <p:spPr>
          <a:xfrm>
            <a:off x="5290661" y="2415302"/>
            <a:ext cx="164745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基于你的专业内容 · 不乱编答案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49"/>
          <p:cNvSpPr/>
          <p:nvPr/>
        </p:nvSpPr>
        <p:spPr>
          <a:xfrm>
            <a:off x="1428750" y="2743200"/>
            <a:ext cx="2857500" cy="542925"/>
          </a:xfrm>
          <a:prstGeom prst="roundRect">
            <a:avLst>
              <a:gd fmla="val 1315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49"/>
          <p:cNvSpPr/>
          <p:nvPr/>
        </p:nvSpPr>
        <p:spPr>
          <a:xfrm>
            <a:off x="1428750" y="2743200"/>
            <a:ext cx="28575" cy="542925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49"/>
          <p:cNvSpPr/>
          <p:nvPr/>
        </p:nvSpPr>
        <p:spPr>
          <a:xfrm>
            <a:off x="1588293" y="2913298"/>
            <a:ext cx="175496" cy="176180"/>
          </a:xfrm>
          <a:custGeom>
            <a:rect b="b" l="l" r="r" t="t"/>
            <a:pathLst>
              <a:path extrusionOk="0" h="234907" w="233994">
                <a:moveTo>
                  <a:pt x="166689" y="19868"/>
                </a:moveTo>
                <a:cubicBezTo>
                  <a:pt x="213392" y="46833"/>
                  <a:pt x="233994" y="103437"/>
                  <a:pt x="215549" y="154113"/>
                </a:cubicBezTo>
                <a:cubicBezTo>
                  <a:pt x="197104" y="204790"/>
                  <a:pt x="144937" y="234907"/>
                  <a:pt x="91828" y="225542"/>
                </a:cubicBezTo>
                <a:cubicBezTo>
                  <a:pt x="38719" y="216176"/>
                  <a:pt x="0" y="170031"/>
                  <a:pt x="1" y="116103"/>
                </a:cubicBezTo>
                <a:lnTo>
                  <a:pt x="57" y="112502"/>
                </a:lnTo>
                <a:cubicBezTo>
                  <a:pt x="1323" y="73464"/>
                  <a:pt x="22991" y="37956"/>
                  <a:pt x="57130" y="18978"/>
                </a:cubicBezTo>
                <a:cubicBezTo>
                  <a:pt x="91268" y="0"/>
                  <a:pt x="132863" y="338"/>
                  <a:pt x="166689" y="19868"/>
                </a:cubicBezTo>
                <a:close/>
                <a:moveTo>
                  <a:pt x="111126" y="49428"/>
                </a:moveTo>
                <a:cubicBezTo>
                  <a:pt x="104989" y="49428"/>
                  <a:pt x="100014" y="54403"/>
                  <a:pt x="100014" y="60540"/>
                </a:cubicBezTo>
                <a:cubicBezTo>
                  <a:pt x="81602" y="60540"/>
                  <a:pt x="66676" y="75466"/>
                  <a:pt x="66676" y="93878"/>
                </a:cubicBezTo>
                <a:cubicBezTo>
                  <a:pt x="66676" y="112290"/>
                  <a:pt x="81602" y="127215"/>
                  <a:pt x="100014" y="127215"/>
                </a:cubicBezTo>
                <a:lnTo>
                  <a:pt x="100014" y="149440"/>
                </a:lnTo>
                <a:cubicBezTo>
                  <a:pt x="96274" y="149640"/>
                  <a:pt x="92675" y="147986"/>
                  <a:pt x="90390" y="145017"/>
                </a:cubicBezTo>
                <a:lnTo>
                  <a:pt x="89635" y="143895"/>
                </a:lnTo>
                <a:cubicBezTo>
                  <a:pt x="86474" y="138798"/>
                  <a:pt x="79839" y="137128"/>
                  <a:pt x="74643" y="140123"/>
                </a:cubicBezTo>
                <a:cubicBezTo>
                  <a:pt x="69446" y="143117"/>
                  <a:pt x="67563" y="149695"/>
                  <a:pt x="70388" y="154985"/>
                </a:cubicBezTo>
                <a:cubicBezTo>
                  <a:pt x="76155" y="164987"/>
                  <a:pt x="86686" y="171293"/>
                  <a:pt x="98225" y="171654"/>
                </a:cubicBezTo>
                <a:lnTo>
                  <a:pt x="100014" y="171654"/>
                </a:lnTo>
                <a:cubicBezTo>
                  <a:pt x="100009" y="177292"/>
                  <a:pt x="104227" y="182040"/>
                  <a:pt x="109826" y="182700"/>
                </a:cubicBezTo>
                <a:lnTo>
                  <a:pt x="111126" y="182778"/>
                </a:lnTo>
                <a:cubicBezTo>
                  <a:pt x="117264" y="182778"/>
                  <a:pt x="122239" y="177802"/>
                  <a:pt x="122239" y="171665"/>
                </a:cubicBezTo>
                <a:lnTo>
                  <a:pt x="124195" y="171610"/>
                </a:lnTo>
                <a:cubicBezTo>
                  <a:pt x="142208" y="170569"/>
                  <a:pt x="156124" y="155385"/>
                  <a:pt x="155594" y="137349"/>
                </a:cubicBezTo>
                <a:cubicBezTo>
                  <a:pt x="155065" y="119314"/>
                  <a:pt x="140282" y="104973"/>
                  <a:pt x="122239" y="104990"/>
                </a:cubicBezTo>
                <a:lnTo>
                  <a:pt x="122239" y="82765"/>
                </a:lnTo>
                <a:cubicBezTo>
                  <a:pt x="126217" y="82632"/>
                  <a:pt x="129695" y="84321"/>
                  <a:pt x="131862" y="87188"/>
                </a:cubicBezTo>
                <a:lnTo>
                  <a:pt x="132618" y="88310"/>
                </a:lnTo>
                <a:cubicBezTo>
                  <a:pt x="135779" y="93408"/>
                  <a:pt x="142414" y="95077"/>
                  <a:pt x="147610" y="92083"/>
                </a:cubicBezTo>
                <a:cubicBezTo>
                  <a:pt x="152807" y="89088"/>
                  <a:pt x="154690" y="82511"/>
                  <a:pt x="151865" y="77220"/>
                </a:cubicBezTo>
                <a:cubicBezTo>
                  <a:pt x="146101" y="67214"/>
                  <a:pt x="135569" y="60904"/>
                  <a:pt x="124028" y="60540"/>
                </a:cubicBezTo>
                <a:lnTo>
                  <a:pt x="122239" y="60540"/>
                </a:lnTo>
                <a:cubicBezTo>
                  <a:pt x="122239" y="54403"/>
                  <a:pt x="117264" y="49428"/>
                  <a:pt x="111126" y="49428"/>
                </a:cubicBezTo>
                <a:close/>
                <a:moveTo>
                  <a:pt x="122239" y="127215"/>
                </a:moveTo>
                <a:cubicBezTo>
                  <a:pt x="128376" y="127215"/>
                  <a:pt x="133351" y="132190"/>
                  <a:pt x="133351" y="138328"/>
                </a:cubicBezTo>
                <a:cubicBezTo>
                  <a:pt x="133351" y="144465"/>
                  <a:pt x="128376" y="149440"/>
                  <a:pt x="122239" y="149440"/>
                </a:cubicBezTo>
                <a:lnTo>
                  <a:pt x="122239" y="127215"/>
                </a:lnTo>
                <a:close/>
                <a:moveTo>
                  <a:pt x="100014" y="82765"/>
                </a:moveTo>
                <a:lnTo>
                  <a:pt x="100014" y="104990"/>
                </a:lnTo>
                <a:cubicBezTo>
                  <a:pt x="93877" y="104990"/>
                  <a:pt x="88901" y="100015"/>
                  <a:pt x="88901" y="93878"/>
                </a:cubicBezTo>
                <a:cubicBezTo>
                  <a:pt x="88901" y="87740"/>
                  <a:pt x="93877" y="82765"/>
                  <a:pt x="100014" y="82765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49"/>
          <p:cNvSpPr txBox="1"/>
          <p:nvPr/>
        </p:nvSpPr>
        <p:spPr>
          <a:xfrm>
            <a:off x="1860232" y="2803207"/>
            <a:ext cx="128571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内容变现 · 支付接入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49"/>
          <p:cNvSpPr txBox="1"/>
          <p:nvPr/>
        </p:nvSpPr>
        <p:spPr>
          <a:xfrm>
            <a:off x="1861661" y="3086814"/>
            <a:ext cx="16819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课程 / 咨询 / 报告订阅 · 全平台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49"/>
          <p:cNvSpPr/>
          <p:nvPr/>
        </p:nvSpPr>
        <p:spPr>
          <a:xfrm>
            <a:off x="4857750" y="2743200"/>
            <a:ext cx="2857500" cy="542925"/>
          </a:xfrm>
          <a:prstGeom prst="roundRect">
            <a:avLst>
              <a:gd fmla="val 1315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49"/>
          <p:cNvSpPr/>
          <p:nvPr/>
        </p:nvSpPr>
        <p:spPr>
          <a:xfrm>
            <a:off x="4857750" y="2743200"/>
            <a:ext cx="28575" cy="542925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1" name="Google Shape;881;p49"/>
          <p:cNvGrpSpPr/>
          <p:nvPr/>
        </p:nvGrpSpPr>
        <p:grpSpPr>
          <a:xfrm>
            <a:off x="5025629" y="2925366"/>
            <a:ext cx="150019" cy="150019"/>
            <a:chOff x="6700838" y="3900488"/>
            <a:chExt cx="200025" cy="200025"/>
          </a:xfrm>
        </p:grpSpPr>
        <p:sp>
          <p:nvSpPr>
            <p:cNvPr id="882" name="Google Shape;882;p49"/>
            <p:cNvSpPr/>
            <p:nvPr/>
          </p:nvSpPr>
          <p:spPr>
            <a:xfrm>
              <a:off x="6700838" y="40338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11112" y="0"/>
                  </a:moveTo>
                  <a:cubicBezTo>
                    <a:pt x="17250" y="0"/>
                    <a:pt x="22225" y="4975"/>
                    <a:pt x="22225" y="11113"/>
                  </a:cubicBezTo>
                  <a:lnTo>
                    <a:pt x="22225" y="33338"/>
                  </a:lnTo>
                  <a:cubicBezTo>
                    <a:pt x="22225" y="39475"/>
                    <a:pt x="27200" y="44450"/>
                    <a:pt x="33338" y="44450"/>
                  </a:cubicBezTo>
                  <a:lnTo>
                    <a:pt x="55563" y="44450"/>
                  </a:lnTo>
                  <a:cubicBezTo>
                    <a:pt x="61700" y="44450"/>
                    <a:pt x="66675" y="49425"/>
                    <a:pt x="66675" y="55562"/>
                  </a:cubicBezTo>
                  <a:cubicBezTo>
                    <a:pt x="66675" y="61700"/>
                    <a:pt x="61700" y="66675"/>
                    <a:pt x="55563" y="66675"/>
                  </a:cubicBezTo>
                  <a:lnTo>
                    <a:pt x="33338" y="66675"/>
                  </a:lnTo>
                  <a:cubicBezTo>
                    <a:pt x="14926" y="66675"/>
                    <a:pt x="0" y="51749"/>
                    <a:pt x="0" y="33338"/>
                  </a:cubicBezTo>
                  <a:lnTo>
                    <a:pt x="0" y="11113"/>
                  </a:lnTo>
                  <a:cubicBezTo>
                    <a:pt x="0" y="4975"/>
                    <a:pt x="4975" y="0"/>
                    <a:pt x="11112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" name="Google Shape;883;p49"/>
            <p:cNvSpPr/>
            <p:nvPr/>
          </p:nvSpPr>
          <p:spPr>
            <a:xfrm>
              <a:off x="6834188" y="40338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3" y="0"/>
                  </a:moveTo>
                  <a:cubicBezTo>
                    <a:pt x="61700" y="0"/>
                    <a:pt x="66675" y="4975"/>
                    <a:pt x="66675" y="11113"/>
                  </a:cubicBezTo>
                  <a:lnTo>
                    <a:pt x="66675" y="33338"/>
                  </a:lnTo>
                  <a:cubicBezTo>
                    <a:pt x="66675" y="51749"/>
                    <a:pt x="51749" y="66675"/>
                    <a:pt x="33338" y="66675"/>
                  </a:cubicBezTo>
                  <a:lnTo>
                    <a:pt x="11112" y="66675"/>
                  </a:lnTo>
                  <a:cubicBezTo>
                    <a:pt x="4975" y="66675"/>
                    <a:pt x="0" y="61700"/>
                    <a:pt x="0" y="55562"/>
                  </a:cubicBezTo>
                  <a:cubicBezTo>
                    <a:pt x="0" y="49425"/>
                    <a:pt x="4975" y="44450"/>
                    <a:pt x="11112" y="44450"/>
                  </a:cubicBezTo>
                  <a:lnTo>
                    <a:pt x="33338" y="44450"/>
                  </a:lnTo>
                  <a:cubicBezTo>
                    <a:pt x="39475" y="44450"/>
                    <a:pt x="44450" y="39475"/>
                    <a:pt x="44450" y="33338"/>
                  </a:cubicBezTo>
                  <a:lnTo>
                    <a:pt x="44450" y="11113"/>
                  </a:lnTo>
                  <a:cubicBezTo>
                    <a:pt x="44450" y="4975"/>
                    <a:pt x="49425" y="0"/>
                    <a:pt x="55563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49"/>
            <p:cNvSpPr/>
            <p:nvPr/>
          </p:nvSpPr>
          <p:spPr>
            <a:xfrm>
              <a:off x="6745288" y="3944937"/>
              <a:ext cx="112080" cy="112080"/>
            </a:xfrm>
            <a:custGeom>
              <a:rect b="b" l="l" r="r" t="t"/>
              <a:pathLst>
                <a:path extrusionOk="0" h="112080" w="112080">
                  <a:moveTo>
                    <a:pt x="44450" y="0"/>
                  </a:moveTo>
                  <a:cubicBezTo>
                    <a:pt x="60402" y="0"/>
                    <a:pt x="75130" y="8548"/>
                    <a:pt x="83044" y="22398"/>
                  </a:cubicBezTo>
                  <a:cubicBezTo>
                    <a:pt x="90958" y="36248"/>
                    <a:pt x="90843" y="53277"/>
                    <a:pt x="82744" y="67020"/>
                  </a:cubicBezTo>
                  <a:lnTo>
                    <a:pt x="107869" y="92156"/>
                  </a:lnTo>
                  <a:cubicBezTo>
                    <a:pt x="112080" y="96516"/>
                    <a:pt x="112020" y="103447"/>
                    <a:pt x="107734" y="107734"/>
                  </a:cubicBezTo>
                  <a:cubicBezTo>
                    <a:pt x="103447" y="112020"/>
                    <a:pt x="96516" y="112080"/>
                    <a:pt x="92156" y="107869"/>
                  </a:cubicBezTo>
                  <a:lnTo>
                    <a:pt x="67019" y="82755"/>
                  </a:lnTo>
                  <a:lnTo>
                    <a:pt x="66675" y="82944"/>
                  </a:lnTo>
                  <a:cubicBezTo>
                    <a:pt x="52922" y="90884"/>
                    <a:pt x="35978" y="90884"/>
                    <a:pt x="22225" y="82944"/>
                  </a:cubicBezTo>
                  <a:cubicBezTo>
                    <a:pt x="8473" y="75004"/>
                    <a:pt x="0" y="60330"/>
                    <a:pt x="0" y="44450"/>
                  </a:cubicBezTo>
                  <a:lnTo>
                    <a:pt x="56" y="42228"/>
                  </a:lnTo>
                  <a:cubicBezTo>
                    <a:pt x="1240" y="18572"/>
                    <a:pt x="20765" y="0"/>
                    <a:pt x="44450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49"/>
            <p:cNvSpPr/>
            <p:nvPr/>
          </p:nvSpPr>
          <p:spPr>
            <a:xfrm>
              <a:off x="6700838" y="39004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3" y="0"/>
                  </a:moveTo>
                  <a:cubicBezTo>
                    <a:pt x="61700" y="0"/>
                    <a:pt x="66675" y="4975"/>
                    <a:pt x="66675" y="11113"/>
                  </a:cubicBezTo>
                  <a:cubicBezTo>
                    <a:pt x="66675" y="17250"/>
                    <a:pt x="61700" y="22225"/>
                    <a:pt x="55563" y="22225"/>
                  </a:cubicBezTo>
                  <a:lnTo>
                    <a:pt x="33338" y="22225"/>
                  </a:lnTo>
                  <a:cubicBezTo>
                    <a:pt x="27200" y="22225"/>
                    <a:pt x="22225" y="27200"/>
                    <a:pt x="22225" y="33338"/>
                  </a:cubicBezTo>
                  <a:lnTo>
                    <a:pt x="22225" y="55562"/>
                  </a:lnTo>
                  <a:cubicBezTo>
                    <a:pt x="22225" y="61700"/>
                    <a:pt x="17250" y="66675"/>
                    <a:pt x="11112" y="66675"/>
                  </a:cubicBezTo>
                  <a:cubicBezTo>
                    <a:pt x="4975" y="66675"/>
                    <a:pt x="0" y="61700"/>
                    <a:pt x="0" y="55562"/>
                  </a:cubicBezTo>
                  <a:lnTo>
                    <a:pt x="0" y="33338"/>
                  </a:lnTo>
                  <a:cubicBezTo>
                    <a:pt x="0" y="14926"/>
                    <a:pt x="14926" y="0"/>
                    <a:pt x="33338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49"/>
            <p:cNvSpPr/>
            <p:nvPr/>
          </p:nvSpPr>
          <p:spPr>
            <a:xfrm>
              <a:off x="6834188" y="39004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33338" y="0"/>
                  </a:moveTo>
                  <a:cubicBezTo>
                    <a:pt x="51749" y="0"/>
                    <a:pt x="66675" y="14926"/>
                    <a:pt x="66675" y="33338"/>
                  </a:cubicBezTo>
                  <a:lnTo>
                    <a:pt x="66675" y="55562"/>
                  </a:lnTo>
                  <a:cubicBezTo>
                    <a:pt x="66675" y="61700"/>
                    <a:pt x="61700" y="66675"/>
                    <a:pt x="55563" y="66675"/>
                  </a:cubicBezTo>
                  <a:cubicBezTo>
                    <a:pt x="49425" y="66675"/>
                    <a:pt x="44450" y="61700"/>
                    <a:pt x="44450" y="55562"/>
                  </a:cubicBezTo>
                  <a:lnTo>
                    <a:pt x="44450" y="33338"/>
                  </a:lnTo>
                  <a:cubicBezTo>
                    <a:pt x="44450" y="27200"/>
                    <a:pt x="39475" y="22225"/>
                    <a:pt x="33338" y="22225"/>
                  </a:cubicBezTo>
                  <a:lnTo>
                    <a:pt x="11112" y="22225"/>
                  </a:lnTo>
                  <a:cubicBezTo>
                    <a:pt x="4975" y="22225"/>
                    <a:pt x="0" y="17250"/>
                    <a:pt x="0" y="11113"/>
                  </a:cubicBezTo>
                  <a:cubicBezTo>
                    <a:pt x="0" y="4975"/>
                    <a:pt x="4975" y="0"/>
                    <a:pt x="11112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7" name="Google Shape;887;p49"/>
          <p:cNvSpPr txBox="1"/>
          <p:nvPr/>
        </p:nvSpPr>
        <p:spPr>
          <a:xfrm>
            <a:off x="5289233" y="2803207"/>
            <a:ext cx="158245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SEO 友好 · 自动生成内容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49"/>
          <p:cNvSpPr txBox="1"/>
          <p:nvPr/>
        </p:nvSpPr>
        <p:spPr>
          <a:xfrm>
            <a:off x="5290661" y="3086814"/>
            <a:ext cx="130241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一键更新 · 持续吸引流量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49"/>
          <p:cNvSpPr/>
          <p:nvPr/>
        </p:nvSpPr>
        <p:spPr>
          <a:xfrm>
            <a:off x="2000250" y="3529013"/>
            <a:ext cx="5143500" cy="40005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90" name="Google Shape;890;p49"/>
          <p:cNvGrpSpPr/>
          <p:nvPr/>
        </p:nvGrpSpPr>
        <p:grpSpPr>
          <a:xfrm>
            <a:off x="2282429" y="3696891"/>
            <a:ext cx="150018" cy="150019"/>
            <a:chOff x="3043238" y="4929188"/>
            <a:chExt cx="200024" cy="200025"/>
          </a:xfrm>
        </p:grpSpPr>
        <p:sp>
          <p:nvSpPr>
            <p:cNvPr id="891" name="Google Shape;891;p49"/>
            <p:cNvSpPr/>
            <p:nvPr/>
          </p:nvSpPr>
          <p:spPr>
            <a:xfrm>
              <a:off x="3043238" y="4929188"/>
              <a:ext cx="88900" cy="200025"/>
            </a:xfrm>
            <a:custGeom>
              <a:rect b="b" l="l" r="r" t="t"/>
              <a:pathLst>
                <a:path extrusionOk="0" h="200025" w="88900">
                  <a:moveTo>
                    <a:pt x="55562" y="0"/>
                  </a:moveTo>
                  <a:cubicBezTo>
                    <a:pt x="73974" y="0"/>
                    <a:pt x="88900" y="14926"/>
                    <a:pt x="88900" y="33338"/>
                  </a:cubicBezTo>
                  <a:lnTo>
                    <a:pt x="88900" y="166688"/>
                  </a:lnTo>
                  <a:cubicBezTo>
                    <a:pt x="88900" y="185099"/>
                    <a:pt x="73974" y="200025"/>
                    <a:pt x="55562" y="200025"/>
                  </a:cubicBezTo>
                  <a:lnTo>
                    <a:pt x="33338" y="200025"/>
                  </a:lnTo>
                  <a:cubicBezTo>
                    <a:pt x="14926" y="200025"/>
                    <a:pt x="0" y="185099"/>
                    <a:pt x="0" y="166688"/>
                  </a:cubicBezTo>
                  <a:lnTo>
                    <a:pt x="0" y="33338"/>
                  </a:lnTo>
                  <a:cubicBezTo>
                    <a:pt x="0" y="14926"/>
                    <a:pt x="14926" y="0"/>
                    <a:pt x="333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49"/>
            <p:cNvSpPr/>
            <p:nvPr/>
          </p:nvSpPr>
          <p:spPr>
            <a:xfrm>
              <a:off x="3154362" y="4929188"/>
              <a:ext cx="88900" cy="133350"/>
            </a:xfrm>
            <a:custGeom>
              <a:rect b="b" l="l" r="r" t="t"/>
              <a:pathLst>
                <a:path extrusionOk="0" h="133350" w="88900">
                  <a:moveTo>
                    <a:pt x="55562" y="0"/>
                  </a:moveTo>
                  <a:cubicBezTo>
                    <a:pt x="73974" y="0"/>
                    <a:pt x="88900" y="14926"/>
                    <a:pt x="88900" y="33338"/>
                  </a:cubicBezTo>
                  <a:lnTo>
                    <a:pt x="88900" y="100012"/>
                  </a:lnTo>
                  <a:cubicBezTo>
                    <a:pt x="88900" y="118424"/>
                    <a:pt x="73974" y="133350"/>
                    <a:pt x="55562" y="133350"/>
                  </a:cubicBezTo>
                  <a:lnTo>
                    <a:pt x="33338" y="133350"/>
                  </a:lnTo>
                  <a:cubicBezTo>
                    <a:pt x="14926" y="133350"/>
                    <a:pt x="0" y="118424"/>
                    <a:pt x="0" y="100012"/>
                  </a:cubicBezTo>
                  <a:lnTo>
                    <a:pt x="0" y="33338"/>
                  </a:lnTo>
                  <a:cubicBezTo>
                    <a:pt x="0" y="14926"/>
                    <a:pt x="14926" y="0"/>
                    <a:pt x="333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93" name="Google Shape;893;p49"/>
          <p:cNvSpPr txBox="1"/>
          <p:nvPr/>
        </p:nvSpPr>
        <p:spPr>
          <a:xfrm>
            <a:off x="3595905" y="3643313"/>
            <a:ext cx="195219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稍后现场演示 — 真实网站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49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14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50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50"/>
          <p:cNvSpPr txBox="1"/>
          <p:nvPr/>
        </p:nvSpPr>
        <p:spPr>
          <a:xfrm>
            <a:off x="560070" y="195739"/>
            <a:ext cx="4088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我用 Claude Design 做了什么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50"/>
          <p:cNvSpPr txBox="1"/>
          <p:nvPr/>
        </p:nvSpPr>
        <p:spPr>
          <a:xfrm>
            <a:off x="574358" y="488633"/>
            <a:ext cx="220484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真实作品 · 从想法到上线全程 AI 辅助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50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50"/>
          <p:cNvSpPr/>
          <p:nvPr/>
        </p:nvSpPr>
        <p:spPr>
          <a:xfrm>
            <a:off x="457200" y="857250"/>
            <a:ext cx="3914775" cy="1271588"/>
          </a:xfrm>
          <a:prstGeom prst="roundRect">
            <a:avLst>
              <a:gd fmla="val 561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50"/>
          <p:cNvSpPr/>
          <p:nvPr/>
        </p:nvSpPr>
        <p:spPr>
          <a:xfrm>
            <a:off x="457200" y="857250"/>
            <a:ext cx="28575" cy="12715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06" name="Google Shape;906;p50"/>
          <p:cNvGrpSpPr/>
          <p:nvPr/>
        </p:nvGrpSpPr>
        <p:grpSpPr>
          <a:xfrm>
            <a:off x="632222" y="1089422"/>
            <a:ext cx="192882" cy="192881"/>
            <a:chOff x="842962" y="1452562"/>
            <a:chExt cx="257176" cy="257175"/>
          </a:xfrm>
        </p:grpSpPr>
        <p:sp>
          <p:nvSpPr>
            <p:cNvPr id="907" name="Google Shape;907;p50"/>
            <p:cNvSpPr/>
            <p:nvPr/>
          </p:nvSpPr>
          <p:spPr>
            <a:xfrm>
              <a:off x="842962" y="1452562"/>
              <a:ext cx="114300" cy="257175"/>
            </a:xfrm>
            <a:custGeom>
              <a:rect b="b" l="l" r="r" t="t"/>
              <a:pathLst>
                <a:path extrusionOk="0" h="257175" w="114300">
                  <a:moveTo>
                    <a:pt x="71438" y="0"/>
                  </a:moveTo>
                  <a:cubicBezTo>
                    <a:pt x="95110" y="0"/>
                    <a:pt x="114300" y="19190"/>
                    <a:pt x="114300" y="42862"/>
                  </a:cubicBezTo>
                  <a:lnTo>
                    <a:pt x="114300" y="214312"/>
                  </a:lnTo>
                  <a:cubicBezTo>
                    <a:pt x="114300" y="237985"/>
                    <a:pt x="95110" y="257175"/>
                    <a:pt x="71438" y="257175"/>
                  </a:cubicBezTo>
                  <a:lnTo>
                    <a:pt x="42862" y="257175"/>
                  </a:lnTo>
                  <a:cubicBezTo>
                    <a:pt x="19190" y="257175"/>
                    <a:pt x="0" y="237985"/>
                    <a:pt x="0" y="214312"/>
                  </a:cubicBezTo>
                  <a:lnTo>
                    <a:pt x="0" y="42862"/>
                  </a:lnTo>
                  <a:cubicBezTo>
                    <a:pt x="0" y="19190"/>
                    <a:pt x="19190" y="0"/>
                    <a:pt x="42862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" name="Google Shape;908;p50"/>
            <p:cNvSpPr/>
            <p:nvPr/>
          </p:nvSpPr>
          <p:spPr>
            <a:xfrm>
              <a:off x="985838" y="1452562"/>
              <a:ext cx="114300" cy="171450"/>
            </a:xfrm>
            <a:custGeom>
              <a:rect b="b" l="l" r="r" t="t"/>
              <a:pathLst>
                <a:path extrusionOk="0" h="171450" w="114300">
                  <a:moveTo>
                    <a:pt x="71438" y="0"/>
                  </a:moveTo>
                  <a:cubicBezTo>
                    <a:pt x="95110" y="0"/>
                    <a:pt x="114300" y="19190"/>
                    <a:pt x="114300" y="42862"/>
                  </a:cubicBezTo>
                  <a:lnTo>
                    <a:pt x="114300" y="128588"/>
                  </a:lnTo>
                  <a:cubicBezTo>
                    <a:pt x="114300" y="152260"/>
                    <a:pt x="95110" y="171450"/>
                    <a:pt x="71438" y="171450"/>
                  </a:cubicBezTo>
                  <a:lnTo>
                    <a:pt x="42862" y="171450"/>
                  </a:lnTo>
                  <a:cubicBezTo>
                    <a:pt x="19190" y="171450"/>
                    <a:pt x="0" y="152260"/>
                    <a:pt x="0" y="128588"/>
                  </a:cubicBezTo>
                  <a:lnTo>
                    <a:pt x="0" y="42862"/>
                  </a:lnTo>
                  <a:cubicBezTo>
                    <a:pt x="0" y="19190"/>
                    <a:pt x="19190" y="0"/>
                    <a:pt x="42862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9" name="Google Shape;909;p50"/>
          <p:cNvSpPr txBox="1"/>
          <p:nvPr/>
        </p:nvSpPr>
        <p:spPr>
          <a:xfrm>
            <a:off x="944404" y="1090851"/>
            <a:ext cx="94957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今晚这套 PPT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50"/>
          <p:cNvSpPr/>
          <p:nvPr/>
        </p:nvSpPr>
        <p:spPr>
          <a:xfrm>
            <a:off x="957263" y="1257300"/>
            <a:ext cx="571500" cy="157163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50"/>
          <p:cNvSpPr txBox="1"/>
          <p:nvPr/>
        </p:nvSpPr>
        <p:spPr>
          <a:xfrm>
            <a:off x="985516" y="1291590"/>
            <a:ext cx="5149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S2/S3 宣传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50"/>
          <p:cNvSpPr txBox="1"/>
          <p:nvPr/>
        </p:nvSpPr>
        <p:spPr>
          <a:xfrm>
            <a:off x="590074" y="1529477"/>
            <a:ext cx="24985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19 页 PPT · Claude Design 生成 SVG · 导出 PPTX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50"/>
          <p:cNvSpPr txBox="1"/>
          <p:nvPr/>
        </p:nvSpPr>
        <p:spPr>
          <a:xfrm>
            <a:off x="590074" y="1686639"/>
            <a:ext cx="21535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从设计稿到成品约 2 小时 · 零 Photoshop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50"/>
          <p:cNvSpPr txBox="1"/>
          <p:nvPr/>
        </p:nvSpPr>
        <p:spPr>
          <a:xfrm>
            <a:off x="590074" y="1900952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你现在看到的就是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50"/>
          <p:cNvSpPr/>
          <p:nvPr/>
        </p:nvSpPr>
        <p:spPr>
          <a:xfrm>
            <a:off x="4772025" y="857250"/>
            <a:ext cx="3914775" cy="1271588"/>
          </a:xfrm>
          <a:prstGeom prst="roundRect">
            <a:avLst>
              <a:gd fmla="val 561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50"/>
          <p:cNvSpPr/>
          <p:nvPr/>
        </p:nvSpPr>
        <p:spPr>
          <a:xfrm>
            <a:off x="4772025" y="857250"/>
            <a:ext cx="28575" cy="1271588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50"/>
          <p:cNvSpPr/>
          <p:nvPr/>
        </p:nvSpPr>
        <p:spPr>
          <a:xfrm>
            <a:off x="4936331" y="1093507"/>
            <a:ext cx="214313" cy="178558"/>
          </a:xfrm>
          <a:custGeom>
            <a:rect b="b" l="l" r="r" t="t"/>
            <a:pathLst>
              <a:path extrusionOk="0" h="238078" w="285750">
                <a:moveTo>
                  <a:pt x="278606" y="25043"/>
                </a:moveTo>
                <a:cubicBezTo>
                  <a:pt x="282508" y="27295"/>
                  <a:pt x="285118" y="31256"/>
                  <a:pt x="285650" y="35730"/>
                </a:cubicBezTo>
                <a:lnTo>
                  <a:pt x="285750" y="37416"/>
                </a:lnTo>
                <a:lnTo>
                  <a:pt x="285750" y="223153"/>
                </a:lnTo>
                <a:cubicBezTo>
                  <a:pt x="285750" y="228257"/>
                  <a:pt x="283027" y="232974"/>
                  <a:pt x="278606" y="235526"/>
                </a:cubicBezTo>
                <a:cubicBezTo>
                  <a:pt x="274186" y="238078"/>
                  <a:pt x="268739" y="238078"/>
                  <a:pt x="264319" y="235526"/>
                </a:cubicBezTo>
                <a:cubicBezTo>
                  <a:pt x="231447" y="216545"/>
                  <a:pt x="191296" y="215121"/>
                  <a:pt x="157162" y="231726"/>
                </a:cubicBezTo>
                <a:lnTo>
                  <a:pt x="157162" y="14927"/>
                </a:lnTo>
                <a:cubicBezTo>
                  <a:pt x="197124" y="0"/>
                  <a:pt x="241665" y="3710"/>
                  <a:pt x="278606" y="25043"/>
                </a:cubicBezTo>
                <a:moveTo>
                  <a:pt x="128588" y="14941"/>
                </a:moveTo>
                <a:lnTo>
                  <a:pt x="128602" y="231740"/>
                </a:lnTo>
                <a:cubicBezTo>
                  <a:pt x="95852" y="215797"/>
                  <a:pt x="57464" y="216418"/>
                  <a:pt x="25246" y="233411"/>
                </a:cubicBezTo>
                <a:lnTo>
                  <a:pt x="20574" y="235983"/>
                </a:lnTo>
                <a:lnTo>
                  <a:pt x="19102" y="236612"/>
                </a:lnTo>
                <a:lnTo>
                  <a:pt x="18402" y="236840"/>
                </a:lnTo>
                <a:lnTo>
                  <a:pt x="16831" y="237212"/>
                </a:lnTo>
                <a:lnTo>
                  <a:pt x="15959" y="237355"/>
                </a:lnTo>
                <a:lnTo>
                  <a:pt x="14288" y="237441"/>
                </a:lnTo>
                <a:lnTo>
                  <a:pt x="13687" y="237441"/>
                </a:lnTo>
                <a:lnTo>
                  <a:pt x="12116" y="237269"/>
                </a:lnTo>
                <a:lnTo>
                  <a:pt x="11016" y="237069"/>
                </a:lnTo>
                <a:lnTo>
                  <a:pt x="9473" y="236612"/>
                </a:lnTo>
                <a:lnTo>
                  <a:pt x="7672" y="235812"/>
                </a:lnTo>
                <a:lnTo>
                  <a:pt x="6315" y="235012"/>
                </a:lnTo>
                <a:lnTo>
                  <a:pt x="5043" y="234054"/>
                </a:lnTo>
                <a:lnTo>
                  <a:pt x="4186" y="233254"/>
                </a:lnTo>
                <a:lnTo>
                  <a:pt x="3143" y="232083"/>
                </a:lnTo>
                <a:lnTo>
                  <a:pt x="2229" y="230811"/>
                </a:lnTo>
                <a:lnTo>
                  <a:pt x="1915" y="230297"/>
                </a:lnTo>
                <a:lnTo>
                  <a:pt x="1457" y="229440"/>
                </a:lnTo>
                <a:lnTo>
                  <a:pt x="829" y="227968"/>
                </a:lnTo>
                <a:lnTo>
                  <a:pt x="600" y="227268"/>
                </a:lnTo>
                <a:lnTo>
                  <a:pt x="229" y="225696"/>
                </a:lnTo>
                <a:lnTo>
                  <a:pt x="86" y="224825"/>
                </a:lnTo>
                <a:lnTo>
                  <a:pt x="29" y="224125"/>
                </a:lnTo>
                <a:lnTo>
                  <a:pt x="0" y="37416"/>
                </a:lnTo>
                <a:cubicBezTo>
                  <a:pt x="0" y="32311"/>
                  <a:pt x="2723" y="27595"/>
                  <a:pt x="7144" y="25043"/>
                </a:cubicBezTo>
                <a:cubicBezTo>
                  <a:pt x="44087" y="3715"/>
                  <a:pt x="88628" y="10"/>
                  <a:pt x="128588" y="14941"/>
                </a:cubicBezTo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50"/>
          <p:cNvSpPr txBox="1"/>
          <p:nvPr/>
        </p:nvSpPr>
        <p:spPr>
          <a:xfrm>
            <a:off x="5259229" y="1090850"/>
            <a:ext cx="979311" cy="158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课程门户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50"/>
          <p:cNvSpPr/>
          <p:nvPr/>
        </p:nvSpPr>
        <p:spPr>
          <a:xfrm>
            <a:off x="5272088" y="1257300"/>
            <a:ext cx="857250" cy="157163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50"/>
          <p:cNvSpPr txBox="1"/>
          <p:nvPr/>
        </p:nvSpPr>
        <p:spPr>
          <a:xfrm>
            <a:off x="4945503" y="1291600"/>
            <a:ext cx="187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https://austinxyz.github.io/course-portal/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50"/>
          <p:cNvSpPr txBox="1"/>
          <p:nvPr/>
        </p:nvSpPr>
        <p:spPr>
          <a:xfrm>
            <a:off x="4904899" y="1529477"/>
            <a:ext cx="21420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学员资料 / 录像 / 讲义汇总页 · 密码保护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50"/>
          <p:cNvSpPr txBox="1"/>
          <p:nvPr/>
        </p:nvSpPr>
        <p:spPr>
          <a:xfrm>
            <a:off x="4904899" y="1686639"/>
            <a:ext cx="22052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从需求到上线不到半天 · Claude Code 部署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50"/>
          <p:cNvSpPr txBox="1"/>
          <p:nvPr/>
        </p:nvSpPr>
        <p:spPr>
          <a:xfrm>
            <a:off x="4904899" y="1900952"/>
            <a:ext cx="108273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S1-S3 学员每天在用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50"/>
          <p:cNvSpPr/>
          <p:nvPr/>
        </p:nvSpPr>
        <p:spPr>
          <a:xfrm>
            <a:off x="457200" y="2257425"/>
            <a:ext cx="3914775" cy="1271588"/>
          </a:xfrm>
          <a:prstGeom prst="roundRect">
            <a:avLst>
              <a:gd fmla="val 561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50"/>
          <p:cNvSpPr/>
          <p:nvPr/>
        </p:nvSpPr>
        <p:spPr>
          <a:xfrm>
            <a:off x="457200" y="2257425"/>
            <a:ext cx="28575" cy="1271588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6" name="Google Shape;926;p50"/>
          <p:cNvGrpSpPr/>
          <p:nvPr/>
        </p:nvGrpSpPr>
        <p:grpSpPr>
          <a:xfrm>
            <a:off x="632219" y="2489597"/>
            <a:ext cx="192888" cy="193183"/>
            <a:chOff x="842958" y="3319462"/>
            <a:chExt cx="257184" cy="257578"/>
          </a:xfrm>
        </p:grpSpPr>
        <p:sp>
          <p:nvSpPr>
            <p:cNvPr id="927" name="Google Shape;927;p50"/>
            <p:cNvSpPr/>
            <p:nvPr/>
          </p:nvSpPr>
          <p:spPr>
            <a:xfrm>
              <a:off x="842958" y="3319462"/>
              <a:ext cx="85734" cy="257578"/>
            </a:xfrm>
            <a:custGeom>
              <a:rect b="b" l="l" r="r" t="t"/>
              <a:pathLst>
                <a:path extrusionOk="0" h="257578" w="85734">
                  <a:moveTo>
                    <a:pt x="42867" y="0"/>
                  </a:moveTo>
                  <a:cubicBezTo>
                    <a:pt x="50111" y="1"/>
                    <a:pt x="56207" y="5422"/>
                    <a:pt x="57055" y="12616"/>
                  </a:cubicBezTo>
                  <a:lnTo>
                    <a:pt x="57155" y="14288"/>
                  </a:lnTo>
                  <a:lnTo>
                    <a:pt x="57155" y="28575"/>
                  </a:lnTo>
                  <a:cubicBezTo>
                    <a:pt x="72108" y="28570"/>
                    <a:pt x="84537" y="40095"/>
                    <a:pt x="85658" y="55007"/>
                  </a:cubicBezTo>
                  <a:lnTo>
                    <a:pt x="85730" y="57150"/>
                  </a:lnTo>
                  <a:lnTo>
                    <a:pt x="85730" y="100012"/>
                  </a:lnTo>
                  <a:cubicBezTo>
                    <a:pt x="85734" y="114966"/>
                    <a:pt x="74209" y="127395"/>
                    <a:pt x="59298" y="128516"/>
                  </a:cubicBezTo>
                  <a:lnTo>
                    <a:pt x="57155" y="128588"/>
                  </a:lnTo>
                  <a:lnTo>
                    <a:pt x="57155" y="242888"/>
                  </a:lnTo>
                  <a:cubicBezTo>
                    <a:pt x="57146" y="250447"/>
                    <a:pt x="51251" y="256692"/>
                    <a:pt x="43705" y="257135"/>
                  </a:cubicBezTo>
                  <a:cubicBezTo>
                    <a:pt x="36158" y="257578"/>
                    <a:pt x="29573" y="252066"/>
                    <a:pt x="28680" y="244559"/>
                  </a:cubicBezTo>
                  <a:lnTo>
                    <a:pt x="28580" y="242888"/>
                  </a:lnTo>
                  <a:lnTo>
                    <a:pt x="28580" y="128588"/>
                  </a:lnTo>
                  <a:cubicBezTo>
                    <a:pt x="13626" y="128592"/>
                    <a:pt x="1198" y="117067"/>
                    <a:pt x="76" y="102156"/>
                  </a:cubicBezTo>
                  <a:lnTo>
                    <a:pt x="5" y="100012"/>
                  </a:lnTo>
                  <a:lnTo>
                    <a:pt x="5" y="57150"/>
                  </a:lnTo>
                  <a:cubicBezTo>
                    <a:pt x="0" y="42196"/>
                    <a:pt x="11525" y="29768"/>
                    <a:pt x="26437" y="28646"/>
                  </a:cubicBezTo>
                  <a:lnTo>
                    <a:pt x="28580" y="28575"/>
                  </a:lnTo>
                  <a:lnTo>
                    <a:pt x="28580" y="14288"/>
                  </a:lnTo>
                  <a:cubicBezTo>
                    <a:pt x="28580" y="6397"/>
                    <a:pt x="34976" y="0"/>
                    <a:pt x="42867" y="0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50"/>
            <p:cNvSpPr/>
            <p:nvPr/>
          </p:nvSpPr>
          <p:spPr>
            <a:xfrm>
              <a:off x="928683" y="3319462"/>
              <a:ext cx="85734" cy="257578"/>
            </a:xfrm>
            <a:custGeom>
              <a:rect b="b" l="l" r="r" t="t"/>
              <a:pathLst>
                <a:path extrusionOk="0" h="257578" w="85734">
                  <a:moveTo>
                    <a:pt x="42867" y="0"/>
                  </a:moveTo>
                  <a:cubicBezTo>
                    <a:pt x="50111" y="1"/>
                    <a:pt x="56207" y="5422"/>
                    <a:pt x="57055" y="12616"/>
                  </a:cubicBezTo>
                  <a:lnTo>
                    <a:pt x="57155" y="14288"/>
                  </a:lnTo>
                  <a:lnTo>
                    <a:pt x="57155" y="142875"/>
                  </a:lnTo>
                  <a:cubicBezTo>
                    <a:pt x="72108" y="142870"/>
                    <a:pt x="84537" y="154395"/>
                    <a:pt x="85658" y="169307"/>
                  </a:cubicBezTo>
                  <a:lnTo>
                    <a:pt x="85730" y="171450"/>
                  </a:lnTo>
                  <a:lnTo>
                    <a:pt x="85730" y="214312"/>
                  </a:lnTo>
                  <a:cubicBezTo>
                    <a:pt x="85734" y="229266"/>
                    <a:pt x="74209" y="241695"/>
                    <a:pt x="59298" y="242816"/>
                  </a:cubicBezTo>
                  <a:lnTo>
                    <a:pt x="57155" y="242888"/>
                  </a:lnTo>
                  <a:cubicBezTo>
                    <a:pt x="57146" y="250447"/>
                    <a:pt x="51251" y="256692"/>
                    <a:pt x="43705" y="257135"/>
                  </a:cubicBezTo>
                  <a:cubicBezTo>
                    <a:pt x="36158" y="257578"/>
                    <a:pt x="29573" y="252066"/>
                    <a:pt x="28680" y="244559"/>
                  </a:cubicBezTo>
                  <a:lnTo>
                    <a:pt x="28580" y="242888"/>
                  </a:lnTo>
                  <a:lnTo>
                    <a:pt x="26437" y="242816"/>
                  </a:lnTo>
                  <a:cubicBezTo>
                    <a:pt x="12379" y="241760"/>
                    <a:pt x="1193" y="230609"/>
                    <a:pt x="90" y="216556"/>
                  </a:cubicBezTo>
                  <a:lnTo>
                    <a:pt x="5" y="214312"/>
                  </a:lnTo>
                  <a:lnTo>
                    <a:pt x="5" y="171450"/>
                  </a:lnTo>
                  <a:cubicBezTo>
                    <a:pt x="0" y="156496"/>
                    <a:pt x="11525" y="144068"/>
                    <a:pt x="26437" y="142946"/>
                  </a:cubicBezTo>
                  <a:lnTo>
                    <a:pt x="28580" y="142875"/>
                  </a:lnTo>
                  <a:lnTo>
                    <a:pt x="28580" y="14288"/>
                  </a:lnTo>
                  <a:cubicBezTo>
                    <a:pt x="28580" y="6397"/>
                    <a:pt x="34976" y="0"/>
                    <a:pt x="42867" y="0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50"/>
            <p:cNvSpPr/>
            <p:nvPr/>
          </p:nvSpPr>
          <p:spPr>
            <a:xfrm>
              <a:off x="1014408" y="3319462"/>
              <a:ext cx="85734" cy="257578"/>
            </a:xfrm>
            <a:custGeom>
              <a:rect b="b" l="l" r="r" t="t"/>
              <a:pathLst>
                <a:path extrusionOk="0" h="257578" w="85734">
                  <a:moveTo>
                    <a:pt x="42867" y="0"/>
                  </a:moveTo>
                  <a:cubicBezTo>
                    <a:pt x="50111" y="1"/>
                    <a:pt x="56207" y="5422"/>
                    <a:pt x="57055" y="12616"/>
                  </a:cubicBezTo>
                  <a:lnTo>
                    <a:pt x="57155" y="14288"/>
                  </a:lnTo>
                  <a:cubicBezTo>
                    <a:pt x="72108" y="14283"/>
                    <a:pt x="84537" y="25808"/>
                    <a:pt x="85658" y="40719"/>
                  </a:cubicBezTo>
                  <a:lnTo>
                    <a:pt x="85730" y="42862"/>
                  </a:lnTo>
                  <a:lnTo>
                    <a:pt x="85730" y="100012"/>
                  </a:lnTo>
                  <a:cubicBezTo>
                    <a:pt x="85734" y="114966"/>
                    <a:pt x="74209" y="127395"/>
                    <a:pt x="59298" y="128516"/>
                  </a:cubicBezTo>
                  <a:lnTo>
                    <a:pt x="57155" y="128588"/>
                  </a:lnTo>
                  <a:lnTo>
                    <a:pt x="57155" y="242888"/>
                  </a:lnTo>
                  <a:cubicBezTo>
                    <a:pt x="57146" y="250447"/>
                    <a:pt x="51251" y="256692"/>
                    <a:pt x="43705" y="257135"/>
                  </a:cubicBezTo>
                  <a:cubicBezTo>
                    <a:pt x="36158" y="257578"/>
                    <a:pt x="29573" y="252066"/>
                    <a:pt x="28680" y="244559"/>
                  </a:cubicBezTo>
                  <a:lnTo>
                    <a:pt x="28580" y="242888"/>
                  </a:lnTo>
                  <a:lnTo>
                    <a:pt x="28580" y="128588"/>
                  </a:lnTo>
                  <a:cubicBezTo>
                    <a:pt x="13626" y="128592"/>
                    <a:pt x="1198" y="117067"/>
                    <a:pt x="76" y="102156"/>
                  </a:cubicBezTo>
                  <a:lnTo>
                    <a:pt x="5" y="100012"/>
                  </a:lnTo>
                  <a:lnTo>
                    <a:pt x="5" y="42862"/>
                  </a:lnTo>
                  <a:cubicBezTo>
                    <a:pt x="0" y="27909"/>
                    <a:pt x="11525" y="15480"/>
                    <a:pt x="26437" y="14359"/>
                  </a:cubicBezTo>
                  <a:lnTo>
                    <a:pt x="28580" y="14288"/>
                  </a:lnTo>
                  <a:cubicBezTo>
                    <a:pt x="28580" y="6397"/>
                    <a:pt x="34976" y="0"/>
                    <a:pt x="42867" y="0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30" name="Google Shape;930;p50"/>
          <p:cNvSpPr txBox="1"/>
          <p:nvPr/>
        </p:nvSpPr>
        <p:spPr>
          <a:xfrm>
            <a:off x="944404" y="2491026"/>
            <a:ext cx="14231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理财顾问服务演示站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50"/>
          <p:cNvSpPr/>
          <p:nvPr/>
        </p:nvSpPr>
        <p:spPr>
          <a:xfrm>
            <a:off x="957263" y="2657475"/>
            <a:ext cx="571500" cy="157163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50"/>
          <p:cNvSpPr txBox="1"/>
          <p:nvPr/>
        </p:nvSpPr>
        <p:spPr>
          <a:xfrm>
            <a:off x="1066848" y="2691764"/>
            <a:ext cx="35233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S3 案例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50"/>
          <p:cNvSpPr txBox="1"/>
          <p:nvPr/>
        </p:nvSpPr>
        <p:spPr>
          <a:xfrm>
            <a:off x="590076" y="2929649"/>
            <a:ext cx="2390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知识库 Landing Page  + Chatbot · 响应式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50"/>
          <p:cNvSpPr txBox="1"/>
          <p:nvPr/>
        </p:nvSpPr>
        <p:spPr>
          <a:xfrm>
            <a:off x="590074" y="3086814"/>
            <a:ext cx="16934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S3 课程贯穿案例 · 今晚现场演示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50"/>
          <p:cNvSpPr txBox="1"/>
          <p:nvPr/>
        </p:nvSpPr>
        <p:spPr>
          <a:xfrm>
            <a:off x="590074" y="3301127"/>
            <a:ext cx="7445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稍后现场打开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50"/>
          <p:cNvSpPr/>
          <p:nvPr/>
        </p:nvSpPr>
        <p:spPr>
          <a:xfrm>
            <a:off x="4772025" y="2257425"/>
            <a:ext cx="3914775" cy="1271588"/>
          </a:xfrm>
          <a:prstGeom prst="roundRect">
            <a:avLst>
              <a:gd fmla="val 561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50"/>
          <p:cNvSpPr/>
          <p:nvPr/>
        </p:nvSpPr>
        <p:spPr>
          <a:xfrm>
            <a:off x="4772025" y="2257425"/>
            <a:ext cx="28575" cy="1271588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50"/>
          <p:cNvSpPr/>
          <p:nvPr/>
        </p:nvSpPr>
        <p:spPr>
          <a:xfrm>
            <a:off x="4957277" y="2478881"/>
            <a:ext cx="172421" cy="218288"/>
          </a:xfrm>
          <a:custGeom>
            <a:rect b="b" l="l" r="r" t="t"/>
            <a:pathLst>
              <a:path extrusionOk="0" h="291051" w="229894">
                <a:moveTo>
                  <a:pt x="129234" y="0"/>
                </a:moveTo>
                <a:lnTo>
                  <a:pt x="129492" y="14"/>
                </a:lnTo>
                <a:lnTo>
                  <a:pt x="129720" y="29"/>
                </a:lnTo>
                <a:lnTo>
                  <a:pt x="130906" y="100"/>
                </a:lnTo>
                <a:lnTo>
                  <a:pt x="131063" y="129"/>
                </a:lnTo>
                <a:lnTo>
                  <a:pt x="131220" y="129"/>
                </a:lnTo>
                <a:lnTo>
                  <a:pt x="131763" y="257"/>
                </a:lnTo>
                <a:lnTo>
                  <a:pt x="132506" y="371"/>
                </a:lnTo>
                <a:lnTo>
                  <a:pt x="132735" y="457"/>
                </a:lnTo>
                <a:lnTo>
                  <a:pt x="132892" y="471"/>
                </a:lnTo>
                <a:lnTo>
                  <a:pt x="133306" y="629"/>
                </a:lnTo>
                <a:lnTo>
                  <a:pt x="134049" y="829"/>
                </a:lnTo>
                <a:lnTo>
                  <a:pt x="134321" y="957"/>
                </a:lnTo>
                <a:lnTo>
                  <a:pt x="134535" y="1014"/>
                </a:lnTo>
                <a:lnTo>
                  <a:pt x="134935" y="1214"/>
                </a:lnTo>
                <a:lnTo>
                  <a:pt x="135507" y="1457"/>
                </a:lnTo>
                <a:lnTo>
                  <a:pt x="135807" y="1629"/>
                </a:lnTo>
                <a:lnTo>
                  <a:pt x="136121" y="1772"/>
                </a:lnTo>
                <a:lnTo>
                  <a:pt x="136450" y="1986"/>
                </a:lnTo>
                <a:lnTo>
                  <a:pt x="136892" y="2229"/>
                </a:lnTo>
                <a:lnTo>
                  <a:pt x="137378" y="2572"/>
                </a:lnTo>
                <a:lnTo>
                  <a:pt x="137635" y="2729"/>
                </a:lnTo>
                <a:lnTo>
                  <a:pt x="137821" y="2900"/>
                </a:lnTo>
                <a:lnTo>
                  <a:pt x="138164" y="3143"/>
                </a:lnTo>
                <a:lnTo>
                  <a:pt x="138707" y="3629"/>
                </a:lnTo>
                <a:lnTo>
                  <a:pt x="139021" y="3872"/>
                </a:lnTo>
                <a:lnTo>
                  <a:pt x="139136" y="4015"/>
                </a:lnTo>
                <a:lnTo>
                  <a:pt x="139336" y="4186"/>
                </a:lnTo>
                <a:lnTo>
                  <a:pt x="139850" y="4772"/>
                </a:lnTo>
                <a:lnTo>
                  <a:pt x="140221" y="5158"/>
                </a:lnTo>
                <a:lnTo>
                  <a:pt x="140307" y="5286"/>
                </a:lnTo>
                <a:cubicBezTo>
                  <a:pt x="142022" y="7387"/>
                  <a:pt x="143108" y="9887"/>
                  <a:pt x="143422" y="12616"/>
                </a:cubicBezTo>
                <a:lnTo>
                  <a:pt x="143436" y="12787"/>
                </a:lnTo>
                <a:lnTo>
                  <a:pt x="143465" y="13373"/>
                </a:lnTo>
                <a:lnTo>
                  <a:pt x="143522" y="14288"/>
                </a:lnTo>
                <a:lnTo>
                  <a:pt x="143522" y="100012"/>
                </a:lnTo>
                <a:lnTo>
                  <a:pt x="214959" y="100012"/>
                </a:lnTo>
                <a:cubicBezTo>
                  <a:pt x="220056" y="100011"/>
                  <a:pt x="224767" y="102725"/>
                  <a:pt x="227323" y="107133"/>
                </a:cubicBezTo>
                <a:cubicBezTo>
                  <a:pt x="229879" y="111542"/>
                  <a:pt x="229894" y="116979"/>
                  <a:pt x="227361" y="121401"/>
                </a:cubicBezTo>
                <a:lnTo>
                  <a:pt x="226504" y="122701"/>
                </a:lnTo>
                <a:lnTo>
                  <a:pt x="112204" y="279864"/>
                </a:lnTo>
                <a:cubicBezTo>
                  <a:pt x="104088" y="291051"/>
                  <a:pt x="86372" y="285293"/>
                  <a:pt x="86372" y="271462"/>
                </a:cubicBezTo>
                <a:lnTo>
                  <a:pt x="86372" y="185738"/>
                </a:lnTo>
                <a:lnTo>
                  <a:pt x="14934" y="185738"/>
                </a:lnTo>
                <a:cubicBezTo>
                  <a:pt x="9838" y="185739"/>
                  <a:pt x="5127" y="183025"/>
                  <a:pt x="2571" y="178617"/>
                </a:cubicBezTo>
                <a:cubicBezTo>
                  <a:pt x="14" y="174208"/>
                  <a:pt x="0" y="168771"/>
                  <a:pt x="2533" y="164349"/>
                </a:cubicBezTo>
                <a:lnTo>
                  <a:pt x="3390" y="163049"/>
                </a:lnTo>
                <a:lnTo>
                  <a:pt x="117690" y="5886"/>
                </a:lnTo>
                <a:lnTo>
                  <a:pt x="117833" y="5701"/>
                </a:lnTo>
                <a:lnTo>
                  <a:pt x="118090" y="5358"/>
                </a:lnTo>
                <a:lnTo>
                  <a:pt x="118562" y="4815"/>
                </a:lnTo>
                <a:lnTo>
                  <a:pt x="118819" y="4501"/>
                </a:lnTo>
                <a:lnTo>
                  <a:pt x="118947" y="4386"/>
                </a:lnTo>
                <a:lnTo>
                  <a:pt x="119133" y="4186"/>
                </a:lnTo>
                <a:lnTo>
                  <a:pt x="119705" y="3672"/>
                </a:lnTo>
                <a:lnTo>
                  <a:pt x="120105" y="3300"/>
                </a:lnTo>
                <a:lnTo>
                  <a:pt x="120219" y="3215"/>
                </a:lnTo>
                <a:cubicBezTo>
                  <a:pt x="121893" y="1844"/>
                  <a:pt x="123857" y="872"/>
                  <a:pt x="125963" y="371"/>
                </a:cubicBezTo>
                <a:lnTo>
                  <a:pt x="126120" y="357"/>
                </a:lnTo>
                <a:lnTo>
                  <a:pt x="126505" y="286"/>
                </a:lnTo>
                <a:lnTo>
                  <a:pt x="127563" y="100"/>
                </a:lnTo>
                <a:lnTo>
                  <a:pt x="127720" y="86"/>
                </a:lnTo>
                <a:lnTo>
                  <a:pt x="128306" y="57"/>
                </a:lnTo>
                <a:close/>
              </a:path>
            </a:pathLst>
          </a:cu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50"/>
          <p:cNvSpPr txBox="1"/>
          <p:nvPr/>
        </p:nvSpPr>
        <p:spPr>
          <a:xfrm>
            <a:off x="5259229" y="2491026"/>
            <a:ext cx="136879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其他 Design 小作品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50"/>
          <p:cNvSpPr/>
          <p:nvPr/>
        </p:nvSpPr>
        <p:spPr>
          <a:xfrm>
            <a:off x="5272088" y="2657475"/>
            <a:ext cx="571500" cy="157163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50"/>
          <p:cNvSpPr txBox="1"/>
          <p:nvPr/>
        </p:nvSpPr>
        <p:spPr>
          <a:xfrm>
            <a:off x="5352098" y="2691764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持续在做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50"/>
          <p:cNvSpPr txBox="1"/>
          <p:nvPr/>
        </p:nvSpPr>
        <p:spPr>
          <a:xfrm>
            <a:off x="4904903" y="2929650"/>
            <a:ext cx="122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品牌落地页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50"/>
          <p:cNvSpPr txBox="1"/>
          <p:nvPr/>
        </p:nvSpPr>
        <p:spPr>
          <a:xfrm>
            <a:off x="4904902" y="3086830"/>
            <a:ext cx="122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社群运营素材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50"/>
          <p:cNvSpPr txBox="1"/>
          <p:nvPr/>
        </p:nvSpPr>
        <p:spPr>
          <a:xfrm>
            <a:off x="4904899" y="3301127"/>
            <a:ext cx="136653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一个人 · 不需要设计团队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50"/>
          <p:cNvSpPr/>
          <p:nvPr/>
        </p:nvSpPr>
        <p:spPr>
          <a:xfrm>
            <a:off x="457200" y="3686175"/>
            <a:ext cx="8229600" cy="371475"/>
          </a:xfrm>
          <a:prstGeom prst="roundRect">
            <a:avLst>
              <a:gd fmla="val 19231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50"/>
          <p:cNvSpPr txBox="1"/>
          <p:nvPr/>
        </p:nvSpPr>
        <p:spPr>
          <a:xfrm>
            <a:off x="2319879" y="3804404"/>
            <a:ext cx="450424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这些都是我一个人用 Claude Design 做出来的 · S4 教你复制这个过程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50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15 / 19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5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51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51"/>
          <p:cNvSpPr txBox="1"/>
          <p:nvPr/>
        </p:nvSpPr>
        <p:spPr>
          <a:xfrm>
            <a:off x="4074224" y="531495"/>
            <a:ext cx="99555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S3 今晚免费干货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51"/>
          <p:cNvSpPr txBox="1"/>
          <p:nvPr/>
        </p:nvSpPr>
        <p:spPr>
          <a:xfrm>
            <a:off x="2869966" y="814388"/>
            <a:ext cx="3404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lang="en" sz="2300">
                <a:solidFill>
                  <a:srgbClr val="1C1917"/>
                </a:solidFill>
              </a:rPr>
              <a:t>免费</a:t>
            </a:r>
            <a:r>
              <a:rPr b="1" i="0" lang="en" sz="2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解锁 </a:t>
            </a:r>
            <a:r>
              <a:rPr b="1" lang="en" sz="2300">
                <a:solidFill>
                  <a:srgbClr val="1C1917"/>
                </a:solidFill>
              </a:rPr>
              <a:t>课程四</a:t>
            </a:r>
            <a:r>
              <a:rPr b="1" i="0" lang="en" sz="2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资源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51"/>
          <p:cNvSpPr/>
          <p:nvPr/>
        </p:nvSpPr>
        <p:spPr>
          <a:xfrm>
            <a:off x="1328738" y="1357313"/>
            <a:ext cx="2971800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51"/>
          <p:cNvSpPr/>
          <p:nvPr/>
        </p:nvSpPr>
        <p:spPr>
          <a:xfrm>
            <a:off x="1328738" y="1357313"/>
            <a:ext cx="2971800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51"/>
          <p:cNvSpPr/>
          <p:nvPr/>
        </p:nvSpPr>
        <p:spPr>
          <a:xfrm>
            <a:off x="2386013" y="1685925"/>
            <a:ext cx="857250" cy="8572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9" name="Google Shape;959;p51"/>
          <p:cNvGrpSpPr/>
          <p:nvPr/>
        </p:nvGrpSpPr>
        <p:grpSpPr>
          <a:xfrm>
            <a:off x="2643188" y="1943100"/>
            <a:ext cx="342900" cy="342900"/>
            <a:chOff x="3524250" y="2590800"/>
            <a:chExt cx="457200" cy="457200"/>
          </a:xfrm>
        </p:grpSpPr>
        <p:sp>
          <p:nvSpPr>
            <p:cNvPr id="960" name="Google Shape;960;p51"/>
            <p:cNvSpPr/>
            <p:nvPr/>
          </p:nvSpPr>
          <p:spPr>
            <a:xfrm>
              <a:off x="3524250" y="2590800"/>
              <a:ext cx="203200" cy="457200"/>
            </a:xfrm>
            <a:custGeom>
              <a:rect b="b" l="l" r="r" t="t"/>
              <a:pathLst>
                <a:path extrusionOk="0" h="4572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381000"/>
                  </a:lnTo>
                  <a:cubicBezTo>
                    <a:pt x="203200" y="423084"/>
                    <a:pt x="169084" y="457200"/>
                    <a:pt x="127000" y="457200"/>
                  </a:cubicBezTo>
                  <a:lnTo>
                    <a:pt x="76200" y="457200"/>
                  </a:lnTo>
                  <a:cubicBezTo>
                    <a:pt x="34116" y="457200"/>
                    <a:pt x="0" y="423084"/>
                    <a:pt x="0" y="3810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51"/>
            <p:cNvSpPr/>
            <p:nvPr/>
          </p:nvSpPr>
          <p:spPr>
            <a:xfrm>
              <a:off x="3778250" y="2590800"/>
              <a:ext cx="203200" cy="304800"/>
            </a:xfrm>
            <a:custGeom>
              <a:rect b="b" l="l" r="r" t="t"/>
              <a:pathLst>
                <a:path extrusionOk="0" h="3048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228600"/>
                  </a:lnTo>
                  <a:cubicBezTo>
                    <a:pt x="203200" y="270684"/>
                    <a:pt x="169084" y="304800"/>
                    <a:pt x="127000" y="304800"/>
                  </a:cubicBezTo>
                  <a:lnTo>
                    <a:pt x="76200" y="304800"/>
                  </a:lnTo>
                  <a:cubicBezTo>
                    <a:pt x="34116" y="304800"/>
                    <a:pt x="0" y="270684"/>
                    <a:pt x="0" y="2286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62" name="Google Shape;962;p51"/>
          <p:cNvSpPr txBox="1"/>
          <p:nvPr/>
        </p:nvSpPr>
        <p:spPr>
          <a:xfrm>
            <a:off x="1930706" y="2652474"/>
            <a:ext cx="176786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Design System 文件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51"/>
          <p:cNvSpPr txBox="1"/>
          <p:nvPr/>
        </p:nvSpPr>
        <p:spPr>
          <a:xfrm>
            <a:off x="2264068" y="2901077"/>
            <a:ext cx="11011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S3 学员专属品牌系统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51"/>
          <p:cNvSpPr txBox="1"/>
          <p:nvPr/>
        </p:nvSpPr>
        <p:spPr>
          <a:xfrm>
            <a:off x="2212313" y="3058239"/>
            <a:ext cx="12046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颜色 / 字体 / 组件规范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51"/>
          <p:cNvSpPr txBox="1"/>
          <p:nvPr/>
        </p:nvSpPr>
        <p:spPr>
          <a:xfrm>
            <a:off x="2172057" y="3215402"/>
            <a:ext cx="12851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导入 Claude Design 即用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51"/>
          <p:cNvSpPr/>
          <p:nvPr/>
        </p:nvSpPr>
        <p:spPr>
          <a:xfrm>
            <a:off x="1614488" y="3514725"/>
            <a:ext cx="2400300" cy="314325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51"/>
          <p:cNvSpPr txBox="1"/>
          <p:nvPr/>
        </p:nvSpPr>
        <p:spPr>
          <a:xfrm>
            <a:off x="2409858" y="3610451"/>
            <a:ext cx="809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</a:rPr>
              <a:t>免费领取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51"/>
          <p:cNvSpPr/>
          <p:nvPr/>
        </p:nvSpPr>
        <p:spPr>
          <a:xfrm>
            <a:off x="4843463" y="1357313"/>
            <a:ext cx="2971800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51"/>
          <p:cNvSpPr/>
          <p:nvPr/>
        </p:nvSpPr>
        <p:spPr>
          <a:xfrm>
            <a:off x="4843463" y="1357313"/>
            <a:ext cx="2971800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51"/>
          <p:cNvSpPr/>
          <p:nvPr/>
        </p:nvSpPr>
        <p:spPr>
          <a:xfrm>
            <a:off x="5900738" y="1685925"/>
            <a:ext cx="857250" cy="8572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1"/>
          <p:cNvSpPr/>
          <p:nvPr/>
        </p:nvSpPr>
        <p:spPr>
          <a:xfrm>
            <a:off x="6176961" y="1924050"/>
            <a:ext cx="304803" cy="381001"/>
          </a:xfrm>
          <a:custGeom>
            <a:rect b="b" l="l" r="r" t="t"/>
            <a:pathLst>
              <a:path extrusionOk="0" h="508002" w="406404">
                <a:moveTo>
                  <a:pt x="203202" y="0"/>
                </a:moveTo>
                <a:lnTo>
                  <a:pt x="206174" y="178"/>
                </a:lnTo>
                <a:cubicBezTo>
                  <a:pt x="217845" y="1554"/>
                  <a:pt x="227048" y="10757"/>
                  <a:pt x="228424" y="22428"/>
                </a:cubicBezTo>
                <a:lnTo>
                  <a:pt x="228602" y="25400"/>
                </a:lnTo>
                <a:lnTo>
                  <a:pt x="228602" y="127000"/>
                </a:lnTo>
                <a:lnTo>
                  <a:pt x="228729" y="130810"/>
                </a:lnTo>
                <a:cubicBezTo>
                  <a:pt x="230607" y="155801"/>
                  <a:pt x="250430" y="175688"/>
                  <a:pt x="275414" y="177648"/>
                </a:cubicBezTo>
                <a:lnTo>
                  <a:pt x="279402" y="177800"/>
                </a:lnTo>
                <a:lnTo>
                  <a:pt x="381002" y="177800"/>
                </a:lnTo>
                <a:lnTo>
                  <a:pt x="383974" y="177978"/>
                </a:lnTo>
                <a:cubicBezTo>
                  <a:pt x="395645" y="179354"/>
                  <a:pt x="404848" y="188557"/>
                  <a:pt x="406224" y="200228"/>
                </a:cubicBezTo>
                <a:lnTo>
                  <a:pt x="406402" y="203200"/>
                </a:lnTo>
                <a:lnTo>
                  <a:pt x="406402" y="431800"/>
                </a:lnTo>
                <a:cubicBezTo>
                  <a:pt x="406404" y="472149"/>
                  <a:pt x="374953" y="505506"/>
                  <a:pt x="334673" y="507873"/>
                </a:cubicBezTo>
                <a:lnTo>
                  <a:pt x="330202" y="508000"/>
                </a:lnTo>
                <a:lnTo>
                  <a:pt x="76202" y="508000"/>
                </a:lnTo>
                <a:cubicBezTo>
                  <a:pt x="35853" y="508002"/>
                  <a:pt x="2496" y="476550"/>
                  <a:pt x="129" y="436270"/>
                </a:cubicBezTo>
                <a:lnTo>
                  <a:pt x="2" y="431800"/>
                </a:lnTo>
                <a:lnTo>
                  <a:pt x="2" y="76200"/>
                </a:lnTo>
                <a:cubicBezTo>
                  <a:pt x="0" y="35851"/>
                  <a:pt x="31452" y="2494"/>
                  <a:pt x="71732" y="127"/>
                </a:cubicBezTo>
                <a:lnTo>
                  <a:pt x="76202" y="0"/>
                </a:lnTo>
                <a:close/>
                <a:moveTo>
                  <a:pt x="203202" y="203200"/>
                </a:moveTo>
                <a:cubicBezTo>
                  <a:pt x="189174" y="203200"/>
                  <a:pt x="177802" y="214572"/>
                  <a:pt x="177802" y="228600"/>
                </a:cubicBezTo>
                <a:lnTo>
                  <a:pt x="177802" y="319659"/>
                </a:lnTo>
                <a:lnTo>
                  <a:pt x="157660" y="299542"/>
                </a:lnTo>
                <a:cubicBezTo>
                  <a:pt x="148611" y="290494"/>
                  <a:pt x="134243" y="289590"/>
                  <a:pt x="124132" y="297434"/>
                </a:cubicBezTo>
                <a:lnTo>
                  <a:pt x="121744" y="299542"/>
                </a:lnTo>
                <a:cubicBezTo>
                  <a:pt x="111829" y="309461"/>
                  <a:pt x="111829" y="325539"/>
                  <a:pt x="121744" y="335458"/>
                </a:cubicBezTo>
                <a:lnTo>
                  <a:pt x="185244" y="398958"/>
                </a:lnTo>
                <a:lnTo>
                  <a:pt x="186362" y="400025"/>
                </a:lnTo>
                <a:lnTo>
                  <a:pt x="188089" y="401422"/>
                </a:lnTo>
                <a:lnTo>
                  <a:pt x="190883" y="403225"/>
                </a:lnTo>
                <a:lnTo>
                  <a:pt x="193779" y="404597"/>
                </a:lnTo>
                <a:lnTo>
                  <a:pt x="196446" y="405486"/>
                </a:lnTo>
                <a:lnTo>
                  <a:pt x="200256" y="406248"/>
                </a:lnTo>
                <a:lnTo>
                  <a:pt x="203202" y="406400"/>
                </a:lnTo>
                <a:lnTo>
                  <a:pt x="206174" y="406222"/>
                </a:lnTo>
                <a:lnTo>
                  <a:pt x="209146" y="405714"/>
                </a:lnTo>
                <a:lnTo>
                  <a:pt x="211889" y="404876"/>
                </a:lnTo>
                <a:lnTo>
                  <a:pt x="213946" y="404012"/>
                </a:lnTo>
                <a:lnTo>
                  <a:pt x="216436" y="402692"/>
                </a:lnTo>
                <a:lnTo>
                  <a:pt x="218772" y="401066"/>
                </a:lnTo>
                <a:lnTo>
                  <a:pt x="221160" y="398958"/>
                </a:lnTo>
                <a:lnTo>
                  <a:pt x="284660" y="335458"/>
                </a:lnTo>
                <a:cubicBezTo>
                  <a:pt x="294576" y="325539"/>
                  <a:pt x="294576" y="309461"/>
                  <a:pt x="284660" y="299542"/>
                </a:cubicBezTo>
                <a:lnTo>
                  <a:pt x="282272" y="297434"/>
                </a:lnTo>
                <a:cubicBezTo>
                  <a:pt x="272161" y="289590"/>
                  <a:pt x="257794" y="290494"/>
                  <a:pt x="248744" y="299542"/>
                </a:cubicBezTo>
                <a:lnTo>
                  <a:pt x="228602" y="319634"/>
                </a:lnTo>
                <a:lnTo>
                  <a:pt x="228602" y="228600"/>
                </a:lnTo>
                <a:cubicBezTo>
                  <a:pt x="228601" y="215723"/>
                  <a:pt x="218963" y="204884"/>
                  <a:pt x="206174" y="203378"/>
                </a:cubicBezTo>
                <a:close/>
                <a:moveTo>
                  <a:pt x="279377" y="25375"/>
                </a:moveTo>
                <a:lnTo>
                  <a:pt x="381002" y="127000"/>
                </a:lnTo>
                <a:lnTo>
                  <a:pt x="279402" y="127000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51"/>
          <p:cNvSpPr txBox="1"/>
          <p:nvPr/>
        </p:nvSpPr>
        <p:spPr>
          <a:xfrm>
            <a:off x="5635205" y="2652474"/>
            <a:ext cx="138831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直播录像 + 讲义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51"/>
          <p:cNvSpPr txBox="1"/>
          <p:nvPr/>
        </p:nvSpPr>
        <p:spPr>
          <a:xfrm>
            <a:off x="5859304" y="2901077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演示全程录像回放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51"/>
          <p:cNvSpPr txBox="1"/>
          <p:nvPr/>
        </p:nvSpPr>
        <p:spPr>
          <a:xfrm>
            <a:off x="5589020" y="3058239"/>
            <a:ext cx="14806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 Design 操作精华整理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51"/>
          <p:cNvSpPr txBox="1"/>
          <p:nvPr/>
        </p:nvSpPr>
        <p:spPr>
          <a:xfrm>
            <a:off x="5916811" y="3215402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上传至学员平台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51"/>
          <p:cNvSpPr/>
          <p:nvPr/>
        </p:nvSpPr>
        <p:spPr>
          <a:xfrm>
            <a:off x="5129213" y="3514725"/>
            <a:ext cx="2400300" cy="314325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51"/>
          <p:cNvSpPr txBox="1"/>
          <p:nvPr/>
        </p:nvSpPr>
        <p:spPr>
          <a:xfrm>
            <a:off x="5903881" y="3610451"/>
            <a:ext cx="851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</a:rPr>
              <a:t>免费</a:t>
            </a: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下载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51"/>
          <p:cNvSpPr txBox="1"/>
          <p:nvPr/>
        </p:nvSpPr>
        <p:spPr>
          <a:xfrm>
            <a:off x="3085100" y="4246245"/>
            <a:ext cx="2973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 · 平台：learn.austinxyz.ai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9" name="Google Shape;979;p51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16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3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52"/>
          <p:cNvSpPr/>
          <p:nvPr/>
        </p:nvSpPr>
        <p:spPr>
          <a:xfrm>
            <a:off x="0" y="104817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5" name="Google Shape;985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67" y="105575"/>
            <a:ext cx="454539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986" name="Google Shape;986;p52"/>
          <p:cNvSpPr txBox="1"/>
          <p:nvPr/>
        </p:nvSpPr>
        <p:spPr>
          <a:xfrm>
            <a:off x="8650617" y="255746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52"/>
          <p:cNvSpPr txBox="1"/>
          <p:nvPr/>
        </p:nvSpPr>
        <p:spPr>
          <a:xfrm>
            <a:off x="555900" y="242900"/>
            <a:ext cx="8493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2300"/>
              <a:buFont typeface="Georgia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今天报名，选你的起点，7/12 </a:t>
            </a:r>
            <a:r>
              <a:rPr b="1" lang="en" sz="23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Code </a:t>
            </a: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7/</a:t>
            </a:r>
            <a:r>
              <a:rPr b="1" lang="en" sz="23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19 Design</a:t>
            </a: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 8:30pm 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52"/>
          <p:cNvSpPr/>
          <p:nvPr/>
        </p:nvSpPr>
        <p:spPr>
          <a:xfrm>
            <a:off x="4307681" y="585788"/>
            <a:ext cx="528638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52"/>
          <p:cNvSpPr/>
          <p:nvPr/>
        </p:nvSpPr>
        <p:spPr>
          <a:xfrm>
            <a:off x="6065044" y="628650"/>
            <a:ext cx="628650" cy="157163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52"/>
          <p:cNvSpPr txBox="1"/>
          <p:nvPr/>
        </p:nvSpPr>
        <p:spPr>
          <a:xfrm>
            <a:off x="6201873" y="656868"/>
            <a:ext cx="3549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8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最划算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52"/>
          <p:cNvSpPr/>
          <p:nvPr/>
        </p:nvSpPr>
        <p:spPr>
          <a:xfrm>
            <a:off x="571450" y="734225"/>
            <a:ext cx="3786300" cy="28857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9025">
            <a:solidFill>
              <a:srgbClr val="4F52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52"/>
          <p:cNvSpPr/>
          <p:nvPr/>
        </p:nvSpPr>
        <p:spPr>
          <a:xfrm>
            <a:off x="571500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4F46E5">
              <a:alpha val="1215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52"/>
          <p:cNvSpPr/>
          <p:nvPr/>
        </p:nvSpPr>
        <p:spPr>
          <a:xfrm>
            <a:off x="714375" y="914400"/>
            <a:ext cx="314325" cy="157163"/>
          </a:xfrm>
          <a:prstGeom prst="roundRect">
            <a:avLst>
              <a:gd fmla="val 50000" name="adj"/>
            </a:avLst>
          </a:prstGeom>
          <a:solidFill>
            <a:srgbClr val="4F46E5">
              <a:alpha val="3019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52"/>
          <p:cNvSpPr txBox="1"/>
          <p:nvPr/>
        </p:nvSpPr>
        <p:spPr>
          <a:xfrm>
            <a:off x="750112" y="942618"/>
            <a:ext cx="2428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单节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52"/>
          <p:cNvSpPr txBox="1"/>
          <p:nvPr/>
        </p:nvSpPr>
        <p:spPr>
          <a:xfrm>
            <a:off x="2273513" y="982980"/>
            <a:ext cx="1167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3600"/>
              <a:buFont typeface="Georgia"/>
              <a:buNone/>
            </a:p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$199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52"/>
          <p:cNvSpPr txBox="1"/>
          <p:nvPr/>
        </p:nvSpPr>
        <p:spPr>
          <a:xfrm>
            <a:off x="2124551" y="15601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任选一节课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52"/>
          <p:cNvSpPr/>
          <p:nvPr/>
        </p:nvSpPr>
        <p:spPr>
          <a:xfrm>
            <a:off x="714375" y="1743075"/>
            <a:ext cx="3500438" cy="7144"/>
          </a:xfrm>
          <a:prstGeom prst="rect">
            <a:avLst/>
          </a:prstGeom>
          <a:solidFill>
            <a:srgbClr val="4F52A8">
              <a:alpha val="5019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52"/>
          <p:cNvSpPr/>
          <p:nvPr/>
        </p:nvSpPr>
        <p:spPr>
          <a:xfrm>
            <a:off x="821531" y="1964531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52"/>
          <p:cNvSpPr txBox="1"/>
          <p:nvPr/>
        </p:nvSpPr>
        <p:spPr>
          <a:xfrm>
            <a:off x="1001550" y="1926675"/>
            <a:ext cx="2895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任选课程 2 或课程 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52"/>
          <p:cNvSpPr/>
          <p:nvPr/>
        </p:nvSpPr>
        <p:spPr>
          <a:xfrm>
            <a:off x="821531" y="2293081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52"/>
          <p:cNvSpPr txBox="1"/>
          <p:nvPr/>
        </p:nvSpPr>
        <p:spPr>
          <a:xfrm>
            <a:off x="1001554" y="2255219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52"/>
          <p:cNvSpPr/>
          <p:nvPr/>
        </p:nvSpPr>
        <p:spPr>
          <a:xfrm>
            <a:off x="821531" y="3048385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52"/>
          <p:cNvSpPr txBox="1"/>
          <p:nvPr/>
        </p:nvSpPr>
        <p:spPr>
          <a:xfrm>
            <a:off x="1001554" y="3010523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52"/>
          <p:cNvSpPr/>
          <p:nvPr/>
        </p:nvSpPr>
        <p:spPr>
          <a:xfrm>
            <a:off x="821531" y="3421856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52"/>
          <p:cNvSpPr txBox="1"/>
          <p:nvPr/>
        </p:nvSpPr>
        <p:spPr>
          <a:xfrm>
            <a:off x="1001551" y="3384000"/>
            <a:ext cx="1891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专属</a:t>
            </a: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学员支持群 + 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组织答疑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52"/>
          <p:cNvSpPr/>
          <p:nvPr/>
        </p:nvSpPr>
        <p:spPr>
          <a:xfrm>
            <a:off x="4786325" y="821525"/>
            <a:ext cx="3786300" cy="27984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25400">
            <a:solidFill>
              <a:srgbClr val="EA580C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52"/>
          <p:cNvSpPr/>
          <p:nvPr/>
        </p:nvSpPr>
        <p:spPr>
          <a:xfrm>
            <a:off x="4786325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" name="Google Shape;1008;p52"/>
          <p:cNvSpPr/>
          <p:nvPr/>
        </p:nvSpPr>
        <p:spPr>
          <a:xfrm>
            <a:off x="4929188" y="914400"/>
            <a:ext cx="542925" cy="157163"/>
          </a:xfrm>
          <a:prstGeom prst="roundRect">
            <a:avLst>
              <a:gd fmla="val 50000" name="adj"/>
            </a:avLst>
          </a:prstGeom>
          <a:solidFill>
            <a:srgbClr val="FAFAF8">
              <a:alpha val="25098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52"/>
          <p:cNvSpPr txBox="1"/>
          <p:nvPr/>
        </p:nvSpPr>
        <p:spPr>
          <a:xfrm>
            <a:off x="4892109" y="935300"/>
            <a:ext cx="61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两节全包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52"/>
          <p:cNvSpPr/>
          <p:nvPr/>
        </p:nvSpPr>
        <p:spPr>
          <a:xfrm>
            <a:off x="7886700" y="914400"/>
            <a:ext cx="514350" cy="157163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" name="Google Shape;1011;p52"/>
          <p:cNvSpPr txBox="1"/>
          <p:nvPr/>
        </p:nvSpPr>
        <p:spPr>
          <a:xfrm>
            <a:off x="7969183" y="942618"/>
            <a:ext cx="349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8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省 $</a:t>
            </a:r>
            <a:r>
              <a:rPr b="1" i="0" lang="en" sz="700" u="none" cap="none" strike="noStrike">
                <a:solidFill>
                  <a:srgbClr val="FAFAF8"/>
                </a:solidFill>
                <a:latin typeface="Calibri"/>
                <a:ea typeface="Calibri"/>
                <a:cs typeface="Calibri"/>
                <a:sym typeface="Calibri"/>
              </a:rPr>
              <a:t>49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52"/>
          <p:cNvSpPr txBox="1"/>
          <p:nvPr/>
        </p:nvSpPr>
        <p:spPr>
          <a:xfrm>
            <a:off x="6419317" y="982980"/>
            <a:ext cx="1305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Georgia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$349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52"/>
          <p:cNvSpPr/>
          <p:nvPr/>
        </p:nvSpPr>
        <p:spPr>
          <a:xfrm>
            <a:off x="4929188" y="1743075"/>
            <a:ext cx="3500438" cy="7144"/>
          </a:xfrm>
          <a:prstGeom prst="rect">
            <a:avLst/>
          </a:prstGeom>
          <a:solidFill>
            <a:srgbClr val="EA580C">
              <a:alpha val="40000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52"/>
          <p:cNvSpPr/>
          <p:nvPr/>
        </p:nvSpPr>
        <p:spPr>
          <a:xfrm>
            <a:off x="5036344" y="1964531"/>
            <a:ext cx="71438" cy="7143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52"/>
          <p:cNvSpPr txBox="1"/>
          <p:nvPr/>
        </p:nvSpPr>
        <p:spPr>
          <a:xfrm>
            <a:off x="5216374" y="1926675"/>
            <a:ext cx="3219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课程 2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（Claude Code）</a:t>
            </a: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+ 课程 3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（Claude Design）</a:t>
            </a: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 全包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52"/>
          <p:cNvSpPr/>
          <p:nvPr/>
        </p:nvSpPr>
        <p:spPr>
          <a:xfrm>
            <a:off x="5036344" y="2300568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52"/>
          <p:cNvSpPr txBox="1"/>
          <p:nvPr/>
        </p:nvSpPr>
        <p:spPr>
          <a:xfrm>
            <a:off x="5216366" y="2262706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52"/>
          <p:cNvSpPr/>
          <p:nvPr/>
        </p:nvSpPr>
        <p:spPr>
          <a:xfrm>
            <a:off x="5036344" y="3085819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52"/>
          <p:cNvSpPr txBox="1"/>
          <p:nvPr/>
        </p:nvSpPr>
        <p:spPr>
          <a:xfrm>
            <a:off x="5216366" y="3047957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52"/>
          <p:cNvSpPr/>
          <p:nvPr/>
        </p:nvSpPr>
        <p:spPr>
          <a:xfrm>
            <a:off x="5036344" y="3421856"/>
            <a:ext cx="71438" cy="7143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52"/>
          <p:cNvSpPr txBox="1"/>
          <p:nvPr/>
        </p:nvSpPr>
        <p:spPr>
          <a:xfrm>
            <a:off x="5216366" y="3383994"/>
            <a:ext cx="2118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专属学员支持群 + 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组织</a:t>
            </a: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答疑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52"/>
          <p:cNvSpPr txBox="1"/>
          <p:nvPr/>
        </p:nvSpPr>
        <p:spPr>
          <a:xfrm>
            <a:off x="6356008" y="4105513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立即报名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52"/>
          <p:cNvSpPr txBox="1"/>
          <p:nvPr/>
        </p:nvSpPr>
        <p:spPr>
          <a:xfrm>
            <a:off x="2893425" y="4129075"/>
            <a:ext cx="3219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Payment</a:t>
            </a:r>
            <a:endParaRPr b="1" i="0" sz="14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Zelle： </a:t>
            </a:r>
            <a:r>
              <a:rPr b="1" i="0" lang="en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info@elitecoach101.com</a:t>
            </a:r>
            <a:endParaRPr b="1" i="0" sz="14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Wechat： elitecoach101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" name="Google Shape;1024;p52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52"/>
          <p:cNvSpPr/>
          <p:nvPr/>
        </p:nvSpPr>
        <p:spPr>
          <a:xfrm>
            <a:off x="816706" y="267008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52"/>
          <p:cNvSpPr txBox="1"/>
          <p:nvPr/>
        </p:nvSpPr>
        <p:spPr>
          <a:xfrm>
            <a:off x="996729" y="2632226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课后实战项目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52"/>
          <p:cNvSpPr/>
          <p:nvPr/>
        </p:nvSpPr>
        <p:spPr>
          <a:xfrm>
            <a:off x="5031519" y="2700036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p52"/>
          <p:cNvSpPr txBox="1"/>
          <p:nvPr/>
        </p:nvSpPr>
        <p:spPr>
          <a:xfrm>
            <a:off x="5211541" y="2662174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课后实战项目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9" name="Google Shape;1029;p5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47326" y="3635988"/>
            <a:ext cx="1449900" cy="1444996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3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p5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53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53"/>
          <p:cNvSpPr txBox="1"/>
          <p:nvPr/>
        </p:nvSpPr>
        <p:spPr>
          <a:xfrm>
            <a:off x="560070" y="195739"/>
            <a:ext cx="129359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参考资料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53"/>
          <p:cNvSpPr txBox="1"/>
          <p:nvPr/>
        </p:nvSpPr>
        <p:spPr>
          <a:xfrm>
            <a:off x="574358" y="488633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今天直播涉及的工具与资源链接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53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53"/>
          <p:cNvSpPr/>
          <p:nvPr/>
        </p:nvSpPr>
        <p:spPr>
          <a:xfrm>
            <a:off x="457200" y="82867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53"/>
          <p:cNvSpPr/>
          <p:nvPr/>
        </p:nvSpPr>
        <p:spPr>
          <a:xfrm>
            <a:off x="457200" y="82867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53"/>
          <p:cNvSpPr/>
          <p:nvPr/>
        </p:nvSpPr>
        <p:spPr>
          <a:xfrm>
            <a:off x="619123" y="1014908"/>
            <a:ext cx="200567" cy="201349"/>
          </a:xfrm>
          <a:custGeom>
            <a:rect b="b" l="l" r="r" t="t"/>
            <a:pathLst>
              <a:path extrusionOk="0" h="268466" w="267422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53"/>
          <p:cNvSpPr txBox="1"/>
          <p:nvPr/>
        </p:nvSpPr>
        <p:spPr>
          <a:xfrm>
            <a:off x="930116" y="947976"/>
            <a:ext cx="88746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53"/>
          <p:cNvSpPr txBox="1"/>
          <p:nvPr/>
        </p:nvSpPr>
        <p:spPr>
          <a:xfrm>
            <a:off x="932974" y="1143714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终端 AI 编程助手 · S3 核心工具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53"/>
          <p:cNvSpPr txBox="1"/>
          <p:nvPr/>
        </p:nvSpPr>
        <p:spPr>
          <a:xfrm>
            <a:off x="7674531" y="1066205"/>
            <a:ext cx="90868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claude.ai/code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53"/>
          <p:cNvSpPr/>
          <p:nvPr/>
        </p:nvSpPr>
        <p:spPr>
          <a:xfrm>
            <a:off x="457200" y="154305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53"/>
          <p:cNvSpPr/>
          <p:nvPr/>
        </p:nvSpPr>
        <p:spPr>
          <a:xfrm>
            <a:off x="457200" y="154305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53"/>
          <p:cNvSpPr/>
          <p:nvPr/>
        </p:nvSpPr>
        <p:spPr>
          <a:xfrm>
            <a:off x="619125" y="1746706"/>
            <a:ext cx="190500" cy="158719"/>
          </a:xfrm>
          <a:custGeom>
            <a:rect b="b" l="l" r="r" t="t"/>
            <a:pathLst>
              <a:path extrusionOk="0" h="211625" w="254000">
                <a:moveTo>
                  <a:pt x="247650" y="22260"/>
                </a:moveTo>
                <a:cubicBezTo>
                  <a:pt x="251118" y="24262"/>
                  <a:pt x="253438" y="27783"/>
                  <a:pt x="253911" y="31760"/>
                </a:cubicBezTo>
                <a:lnTo>
                  <a:pt x="254000" y="33258"/>
                </a:lnTo>
                <a:lnTo>
                  <a:pt x="254000" y="198358"/>
                </a:lnTo>
                <a:cubicBezTo>
                  <a:pt x="254000" y="202895"/>
                  <a:pt x="251579" y="207088"/>
                  <a:pt x="247650" y="209357"/>
                </a:cubicBezTo>
                <a:cubicBezTo>
                  <a:pt x="243720" y="211625"/>
                  <a:pt x="238879" y="211625"/>
                  <a:pt x="234950" y="209356"/>
                </a:cubicBezTo>
                <a:cubicBezTo>
                  <a:pt x="205731" y="192484"/>
                  <a:pt x="170041" y="191218"/>
                  <a:pt x="139700" y="205978"/>
                </a:cubicBezTo>
                <a:lnTo>
                  <a:pt x="139700" y="13268"/>
                </a:lnTo>
                <a:cubicBezTo>
                  <a:pt x="175221" y="0"/>
                  <a:pt x="214813" y="3298"/>
                  <a:pt x="247650" y="22260"/>
                </a:cubicBezTo>
                <a:moveTo>
                  <a:pt x="114300" y="13281"/>
                </a:moveTo>
                <a:lnTo>
                  <a:pt x="114313" y="205991"/>
                </a:lnTo>
                <a:cubicBezTo>
                  <a:pt x="85201" y="191819"/>
                  <a:pt x="51079" y="192371"/>
                  <a:pt x="22441" y="207477"/>
                </a:cubicBezTo>
                <a:lnTo>
                  <a:pt x="18288" y="209763"/>
                </a:lnTo>
                <a:lnTo>
                  <a:pt x="16980" y="210322"/>
                </a:lnTo>
                <a:lnTo>
                  <a:pt x="16358" y="210525"/>
                </a:lnTo>
                <a:lnTo>
                  <a:pt x="14961" y="210855"/>
                </a:lnTo>
                <a:lnTo>
                  <a:pt x="14186" y="210982"/>
                </a:lnTo>
                <a:lnTo>
                  <a:pt x="12700" y="211058"/>
                </a:lnTo>
                <a:lnTo>
                  <a:pt x="12167" y="211058"/>
                </a:lnTo>
                <a:lnTo>
                  <a:pt x="10770" y="210906"/>
                </a:lnTo>
                <a:lnTo>
                  <a:pt x="9792" y="210728"/>
                </a:lnTo>
                <a:lnTo>
                  <a:pt x="8420" y="210322"/>
                </a:lnTo>
                <a:lnTo>
                  <a:pt x="6820" y="209610"/>
                </a:lnTo>
                <a:lnTo>
                  <a:pt x="5613" y="208899"/>
                </a:lnTo>
                <a:lnTo>
                  <a:pt x="4483" y="208048"/>
                </a:lnTo>
                <a:lnTo>
                  <a:pt x="3721" y="207337"/>
                </a:lnTo>
                <a:lnTo>
                  <a:pt x="2794" y="206296"/>
                </a:lnTo>
                <a:lnTo>
                  <a:pt x="1981" y="205165"/>
                </a:lnTo>
                <a:lnTo>
                  <a:pt x="1702" y="204708"/>
                </a:lnTo>
                <a:lnTo>
                  <a:pt x="1295" y="203946"/>
                </a:lnTo>
                <a:lnTo>
                  <a:pt x="737" y="202638"/>
                </a:lnTo>
                <a:lnTo>
                  <a:pt x="533" y="202016"/>
                </a:lnTo>
                <a:lnTo>
                  <a:pt x="203" y="200619"/>
                </a:lnTo>
                <a:lnTo>
                  <a:pt x="76" y="199844"/>
                </a:lnTo>
                <a:lnTo>
                  <a:pt x="25" y="199222"/>
                </a:lnTo>
                <a:lnTo>
                  <a:pt x="0" y="33258"/>
                </a:lnTo>
                <a:cubicBezTo>
                  <a:pt x="0" y="28721"/>
                  <a:pt x="2421" y="24529"/>
                  <a:pt x="6350" y="22260"/>
                </a:cubicBezTo>
                <a:cubicBezTo>
                  <a:pt x="39189" y="3302"/>
                  <a:pt x="78781" y="9"/>
                  <a:pt x="114300" y="13281"/>
                </a:cubicBezTo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53"/>
          <p:cNvSpPr txBox="1"/>
          <p:nvPr/>
        </p:nvSpPr>
        <p:spPr>
          <a:xfrm>
            <a:off x="930116" y="1662351"/>
            <a:ext cx="321650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官方文档 · Skills / Projects / Design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53"/>
          <p:cNvSpPr txBox="1"/>
          <p:nvPr/>
        </p:nvSpPr>
        <p:spPr>
          <a:xfrm>
            <a:off x="932974" y="1858089"/>
            <a:ext cx="20040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 Design 工具入口 · S4 核心工具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53"/>
          <p:cNvSpPr txBox="1"/>
          <p:nvPr/>
        </p:nvSpPr>
        <p:spPr>
          <a:xfrm>
            <a:off x="7347972" y="1780580"/>
            <a:ext cx="12352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docs.anthropic.com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53"/>
          <p:cNvSpPr/>
          <p:nvPr/>
        </p:nvSpPr>
        <p:spPr>
          <a:xfrm>
            <a:off x="457200" y="225742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53"/>
          <p:cNvSpPr/>
          <p:nvPr/>
        </p:nvSpPr>
        <p:spPr>
          <a:xfrm>
            <a:off x="457200" y="225742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3" name="Google Shape;1053;p53"/>
          <p:cNvGrpSpPr/>
          <p:nvPr/>
        </p:nvGrpSpPr>
        <p:grpSpPr>
          <a:xfrm>
            <a:off x="627523" y="2456300"/>
            <a:ext cx="173506" cy="163075"/>
            <a:chOff x="836697" y="3275067"/>
            <a:chExt cx="231341" cy="217433"/>
          </a:xfrm>
        </p:grpSpPr>
        <p:sp>
          <p:nvSpPr>
            <p:cNvPr id="1054" name="Google Shape;1054;p53"/>
            <p:cNvSpPr/>
            <p:nvPr/>
          </p:nvSpPr>
          <p:spPr>
            <a:xfrm>
              <a:off x="838200" y="3351219"/>
              <a:ext cx="228600" cy="141281"/>
            </a:xfrm>
            <a:custGeom>
              <a:rect b="b" l="l" r="r" t="t"/>
              <a:pathLst>
                <a:path extrusionOk="0" h="141281" w="228600">
                  <a:moveTo>
                    <a:pt x="155194" y="6344"/>
                  </a:moveTo>
                  <a:cubicBezTo>
                    <a:pt x="159530" y="933"/>
                    <a:pt x="167405" y="0"/>
                    <a:pt x="172885" y="4248"/>
                  </a:cubicBezTo>
                  <a:lnTo>
                    <a:pt x="174079" y="5302"/>
                  </a:lnTo>
                  <a:lnTo>
                    <a:pt x="224879" y="56102"/>
                  </a:lnTo>
                  <a:cubicBezTo>
                    <a:pt x="226853" y="58078"/>
                    <a:pt x="228120" y="60649"/>
                    <a:pt x="228486" y="63417"/>
                  </a:cubicBezTo>
                  <a:lnTo>
                    <a:pt x="228600" y="65081"/>
                  </a:lnTo>
                  <a:lnTo>
                    <a:pt x="228600" y="128581"/>
                  </a:lnTo>
                  <a:cubicBezTo>
                    <a:pt x="228599" y="135020"/>
                    <a:pt x="223780" y="140439"/>
                    <a:pt x="217386" y="141192"/>
                  </a:cubicBezTo>
                  <a:lnTo>
                    <a:pt x="215900" y="141281"/>
                  </a:lnTo>
                  <a:lnTo>
                    <a:pt x="12421" y="141281"/>
                  </a:lnTo>
                  <a:lnTo>
                    <a:pt x="11024" y="141167"/>
                  </a:lnTo>
                  <a:lnTo>
                    <a:pt x="9627" y="140913"/>
                  </a:lnTo>
                  <a:lnTo>
                    <a:pt x="8268" y="140481"/>
                  </a:lnTo>
                  <a:lnTo>
                    <a:pt x="6934" y="139897"/>
                  </a:lnTo>
                  <a:lnTo>
                    <a:pt x="5664" y="139148"/>
                  </a:lnTo>
                  <a:lnTo>
                    <a:pt x="4470" y="138259"/>
                  </a:lnTo>
                  <a:lnTo>
                    <a:pt x="3708" y="137560"/>
                  </a:lnTo>
                  <a:lnTo>
                    <a:pt x="2794" y="136519"/>
                  </a:lnTo>
                  <a:lnTo>
                    <a:pt x="1981" y="135388"/>
                  </a:lnTo>
                  <a:lnTo>
                    <a:pt x="1295" y="134169"/>
                  </a:lnTo>
                  <a:lnTo>
                    <a:pt x="1092" y="133725"/>
                  </a:lnTo>
                  <a:lnTo>
                    <a:pt x="584" y="132417"/>
                  </a:lnTo>
                  <a:lnTo>
                    <a:pt x="241" y="131070"/>
                  </a:lnTo>
                  <a:lnTo>
                    <a:pt x="51" y="129699"/>
                  </a:lnTo>
                  <a:lnTo>
                    <a:pt x="0" y="128302"/>
                  </a:lnTo>
                  <a:lnTo>
                    <a:pt x="114" y="126905"/>
                  </a:lnTo>
                  <a:lnTo>
                    <a:pt x="356" y="125571"/>
                  </a:lnTo>
                  <a:cubicBezTo>
                    <a:pt x="483" y="125063"/>
                    <a:pt x="635" y="124593"/>
                    <a:pt x="800" y="124149"/>
                  </a:cubicBezTo>
                  <a:lnTo>
                    <a:pt x="1384" y="122815"/>
                  </a:lnTo>
                  <a:lnTo>
                    <a:pt x="2134" y="121545"/>
                  </a:lnTo>
                  <a:lnTo>
                    <a:pt x="52934" y="45345"/>
                  </a:lnTo>
                  <a:cubicBezTo>
                    <a:pt x="56150" y="40502"/>
                    <a:pt x="62245" y="38462"/>
                    <a:pt x="67729" y="40392"/>
                  </a:cubicBezTo>
                  <a:lnTo>
                    <a:pt x="69177" y="41027"/>
                  </a:lnTo>
                  <a:lnTo>
                    <a:pt x="110795" y="61830"/>
                  </a:lnTo>
                  <a:lnTo>
                    <a:pt x="155181" y="6344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53"/>
            <p:cNvSpPr/>
            <p:nvPr/>
          </p:nvSpPr>
          <p:spPr>
            <a:xfrm>
              <a:off x="836697" y="3275067"/>
              <a:ext cx="231341" cy="130036"/>
            </a:xfrm>
            <a:custGeom>
              <a:rect b="b" l="l" r="r" t="t"/>
              <a:pathLst>
                <a:path extrusionOk="0" h="130036" w="231341">
                  <a:moveTo>
                    <a:pt x="156850" y="6105"/>
                  </a:moveTo>
                  <a:cubicBezTo>
                    <a:pt x="161230" y="843"/>
                    <a:pt x="168994" y="0"/>
                    <a:pt x="174401" y="4200"/>
                  </a:cubicBezTo>
                  <a:lnTo>
                    <a:pt x="175582" y="5254"/>
                  </a:lnTo>
                  <a:lnTo>
                    <a:pt x="226382" y="56054"/>
                  </a:lnTo>
                  <a:cubicBezTo>
                    <a:pt x="231109" y="60797"/>
                    <a:pt x="231341" y="68396"/>
                    <a:pt x="226912" y="73419"/>
                  </a:cubicBezTo>
                  <a:cubicBezTo>
                    <a:pt x="222484" y="78441"/>
                    <a:pt x="214916" y="79162"/>
                    <a:pt x="209618" y="75066"/>
                  </a:cubicBezTo>
                  <a:lnTo>
                    <a:pt x="208424" y="74012"/>
                  </a:lnTo>
                  <a:lnTo>
                    <a:pt x="167454" y="33054"/>
                  </a:lnTo>
                  <a:lnTo>
                    <a:pt x="112857" y="98561"/>
                  </a:lnTo>
                  <a:cubicBezTo>
                    <a:pt x="109461" y="102635"/>
                    <a:pt x="103890" y="104170"/>
                    <a:pt x="98887" y="102409"/>
                  </a:cubicBezTo>
                  <a:lnTo>
                    <a:pt x="97426" y="101787"/>
                  </a:lnTo>
                  <a:lnTo>
                    <a:pt x="56101" y="81137"/>
                  </a:lnTo>
                  <a:lnTo>
                    <a:pt x="24363" y="123453"/>
                  </a:lnTo>
                  <a:cubicBezTo>
                    <a:pt x="20525" y="128572"/>
                    <a:pt x="13477" y="130036"/>
                    <a:pt x="7917" y="126869"/>
                  </a:cubicBezTo>
                  <a:lnTo>
                    <a:pt x="6583" y="125993"/>
                  </a:lnTo>
                  <a:cubicBezTo>
                    <a:pt x="1464" y="122154"/>
                    <a:pt x="0" y="115107"/>
                    <a:pt x="3167" y="109547"/>
                  </a:cubicBezTo>
                  <a:lnTo>
                    <a:pt x="4043" y="108213"/>
                  </a:lnTo>
                  <a:lnTo>
                    <a:pt x="42143" y="57413"/>
                  </a:lnTo>
                  <a:cubicBezTo>
                    <a:pt x="45487" y="52960"/>
                    <a:pt x="51341" y="51204"/>
                    <a:pt x="56583" y="53082"/>
                  </a:cubicBezTo>
                  <a:lnTo>
                    <a:pt x="57980" y="53679"/>
                  </a:lnTo>
                  <a:lnTo>
                    <a:pt x="99776" y="74571"/>
                  </a:lnTo>
                  <a:lnTo>
                    <a:pt x="156850" y="6105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6" name="Google Shape;1056;p53"/>
          <p:cNvSpPr txBox="1"/>
          <p:nvPr/>
        </p:nvSpPr>
        <p:spPr>
          <a:xfrm>
            <a:off x="930116" y="2376726"/>
            <a:ext cx="3829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课程学员平台 · 讲义 / 干货 / 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53"/>
          <p:cNvSpPr txBox="1"/>
          <p:nvPr/>
        </p:nvSpPr>
        <p:spPr>
          <a:xfrm>
            <a:off x="932974" y="2572464"/>
            <a:ext cx="18659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S2–S3 全部学员资料归档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53"/>
          <p:cNvSpPr txBox="1"/>
          <p:nvPr/>
        </p:nvSpPr>
        <p:spPr>
          <a:xfrm>
            <a:off x="5917974" y="2494950"/>
            <a:ext cx="266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53"/>
          <p:cNvSpPr/>
          <p:nvPr/>
        </p:nvSpPr>
        <p:spPr>
          <a:xfrm>
            <a:off x="457200" y="297180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53"/>
          <p:cNvSpPr/>
          <p:nvPr/>
        </p:nvSpPr>
        <p:spPr>
          <a:xfrm>
            <a:off x="457200" y="297180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1" name="Google Shape;1061;p53"/>
          <p:cNvGrpSpPr/>
          <p:nvPr/>
        </p:nvGrpSpPr>
        <p:grpSpPr>
          <a:xfrm>
            <a:off x="622454" y="3162300"/>
            <a:ext cx="183744" cy="189817"/>
            <a:chOff x="829939" y="4216400"/>
            <a:chExt cx="244992" cy="253089"/>
          </a:xfrm>
        </p:grpSpPr>
        <p:sp>
          <p:nvSpPr>
            <p:cNvPr id="1062" name="Google Shape;1062;p53"/>
            <p:cNvSpPr/>
            <p:nvPr/>
          </p:nvSpPr>
          <p:spPr>
            <a:xfrm>
              <a:off x="959688" y="4368584"/>
              <a:ext cx="115243" cy="100905"/>
            </a:xfrm>
            <a:custGeom>
              <a:rect b="b" l="l" r="r" t="t"/>
              <a:pathLst>
                <a:path extrusionOk="0" h="100905" w="115243">
                  <a:moveTo>
                    <a:pt x="88011" y="0"/>
                  </a:moveTo>
                  <a:lnTo>
                    <a:pt x="112979" y="43256"/>
                  </a:lnTo>
                  <a:cubicBezTo>
                    <a:pt x="115065" y="46871"/>
                    <a:pt x="115243" y="51280"/>
                    <a:pt x="113456" y="55052"/>
                  </a:cubicBezTo>
                  <a:cubicBezTo>
                    <a:pt x="111669" y="58824"/>
                    <a:pt x="108144" y="61478"/>
                    <a:pt x="104026" y="62154"/>
                  </a:cubicBezTo>
                  <a:lnTo>
                    <a:pt x="102591" y="62293"/>
                  </a:lnTo>
                  <a:lnTo>
                    <a:pt x="101168" y="62281"/>
                  </a:lnTo>
                  <a:lnTo>
                    <a:pt x="63919" y="59868"/>
                  </a:lnTo>
                  <a:lnTo>
                    <a:pt x="47371" y="93345"/>
                  </a:lnTo>
                  <a:cubicBezTo>
                    <a:pt x="45548" y="97023"/>
                    <a:pt x="42062" y="99594"/>
                    <a:pt x="38010" y="100249"/>
                  </a:cubicBezTo>
                  <a:cubicBezTo>
                    <a:pt x="33958" y="100905"/>
                    <a:pt x="29838" y="99563"/>
                    <a:pt x="26949" y="96647"/>
                  </a:cubicBezTo>
                  <a:lnTo>
                    <a:pt x="25908" y="95453"/>
                  </a:lnTo>
                  <a:lnTo>
                    <a:pt x="24994" y="94056"/>
                  </a:lnTo>
                  <a:lnTo>
                    <a:pt x="0" y="50787"/>
                  </a:lnTo>
                  <a:cubicBezTo>
                    <a:pt x="35666" y="48558"/>
                    <a:pt x="68234" y="29765"/>
                    <a:pt x="88011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53"/>
            <p:cNvSpPr/>
            <p:nvPr/>
          </p:nvSpPr>
          <p:spPr>
            <a:xfrm>
              <a:off x="829939" y="4368571"/>
              <a:ext cx="115322" cy="100777"/>
            </a:xfrm>
            <a:custGeom>
              <a:rect b="b" l="l" r="r" t="t"/>
              <a:pathLst>
                <a:path extrusionOk="0" h="100777" w="115322">
                  <a:moveTo>
                    <a:pt x="115322" y="50800"/>
                  </a:moveTo>
                  <a:lnTo>
                    <a:pt x="90354" y="94082"/>
                  </a:lnTo>
                  <a:cubicBezTo>
                    <a:pt x="88301" y="97639"/>
                    <a:pt x="84656" y="99986"/>
                    <a:pt x="80568" y="100382"/>
                  </a:cubicBezTo>
                  <a:cubicBezTo>
                    <a:pt x="76479" y="100777"/>
                    <a:pt x="72452" y="99173"/>
                    <a:pt x="69755" y="96075"/>
                  </a:cubicBezTo>
                  <a:lnTo>
                    <a:pt x="68789" y="94805"/>
                  </a:lnTo>
                  <a:lnTo>
                    <a:pt x="67977" y="93358"/>
                  </a:lnTo>
                  <a:lnTo>
                    <a:pt x="51416" y="59893"/>
                  </a:lnTo>
                  <a:lnTo>
                    <a:pt x="14192" y="62306"/>
                  </a:lnTo>
                  <a:cubicBezTo>
                    <a:pt x="10030" y="62574"/>
                    <a:pt x="6001" y="60783"/>
                    <a:pt x="3412" y="57514"/>
                  </a:cubicBezTo>
                  <a:cubicBezTo>
                    <a:pt x="822" y="54245"/>
                    <a:pt x="0" y="49914"/>
                    <a:pt x="1213" y="45923"/>
                  </a:cubicBezTo>
                  <a:lnTo>
                    <a:pt x="1721" y="44564"/>
                  </a:lnTo>
                  <a:lnTo>
                    <a:pt x="2356" y="43294"/>
                  </a:lnTo>
                  <a:lnTo>
                    <a:pt x="27349" y="0"/>
                  </a:lnTo>
                  <a:cubicBezTo>
                    <a:pt x="47113" y="29764"/>
                    <a:pt x="79665" y="48566"/>
                    <a:pt x="115322" y="50813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53"/>
            <p:cNvSpPr/>
            <p:nvPr/>
          </p:nvSpPr>
          <p:spPr>
            <a:xfrm>
              <a:off x="863599" y="4216400"/>
              <a:ext cx="177802" cy="177876"/>
            </a:xfrm>
            <a:custGeom>
              <a:rect b="b" l="l" r="r" t="t"/>
              <a:pathLst>
                <a:path extrusionOk="0" h="177876" w="177802">
                  <a:moveTo>
                    <a:pt x="88901" y="0"/>
                  </a:moveTo>
                  <a:lnTo>
                    <a:pt x="91949" y="51"/>
                  </a:lnTo>
                  <a:cubicBezTo>
                    <a:pt x="139833" y="1694"/>
                    <a:pt x="177802" y="40988"/>
                    <a:pt x="177801" y="88900"/>
                  </a:cubicBezTo>
                  <a:lnTo>
                    <a:pt x="177763" y="91351"/>
                  </a:lnTo>
                  <a:lnTo>
                    <a:pt x="177674" y="93789"/>
                  </a:lnTo>
                  <a:lnTo>
                    <a:pt x="177445" y="96901"/>
                  </a:lnTo>
                  <a:lnTo>
                    <a:pt x="177115" y="99974"/>
                  </a:lnTo>
                  <a:lnTo>
                    <a:pt x="176810" y="102235"/>
                  </a:lnTo>
                  <a:cubicBezTo>
                    <a:pt x="175974" y="107717"/>
                    <a:pt x="174627" y="113108"/>
                    <a:pt x="172784" y="118339"/>
                  </a:cubicBezTo>
                  <a:lnTo>
                    <a:pt x="171311" y="122250"/>
                  </a:lnTo>
                  <a:lnTo>
                    <a:pt x="169368" y="126670"/>
                  </a:lnTo>
                  <a:cubicBezTo>
                    <a:pt x="154689" y="157939"/>
                    <a:pt x="123229" y="177876"/>
                    <a:pt x="88686" y="177800"/>
                  </a:cubicBezTo>
                  <a:cubicBezTo>
                    <a:pt x="54143" y="177724"/>
                    <a:pt x="22771" y="157648"/>
                    <a:pt x="8230" y="126314"/>
                  </a:cubicBezTo>
                  <a:lnTo>
                    <a:pt x="6579" y="122542"/>
                  </a:lnTo>
                  <a:lnTo>
                    <a:pt x="5919" y="120853"/>
                  </a:lnTo>
                  <a:lnTo>
                    <a:pt x="4903" y="118097"/>
                  </a:lnTo>
                  <a:lnTo>
                    <a:pt x="3696" y="114363"/>
                  </a:lnTo>
                  <a:cubicBezTo>
                    <a:pt x="3266" y="112918"/>
                    <a:pt x="2872" y="111461"/>
                    <a:pt x="2515" y="109995"/>
                  </a:cubicBezTo>
                  <a:lnTo>
                    <a:pt x="1753" y="106553"/>
                  </a:lnTo>
                  <a:lnTo>
                    <a:pt x="1131" y="103111"/>
                  </a:lnTo>
                  <a:lnTo>
                    <a:pt x="877" y="101346"/>
                  </a:lnTo>
                  <a:lnTo>
                    <a:pt x="382" y="97244"/>
                  </a:lnTo>
                  <a:lnTo>
                    <a:pt x="77" y="92608"/>
                  </a:lnTo>
                  <a:lnTo>
                    <a:pt x="1" y="88900"/>
                  </a:lnTo>
                  <a:cubicBezTo>
                    <a:pt x="0" y="40988"/>
                    <a:pt x="37969" y="1694"/>
                    <a:pt x="85853" y="51"/>
                  </a:cubicBezTo>
                  <a:lnTo>
                    <a:pt x="88901" y="0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65" name="Google Shape;1065;p53"/>
          <p:cNvSpPr txBox="1"/>
          <p:nvPr/>
        </p:nvSpPr>
        <p:spPr>
          <a:xfrm>
            <a:off x="930116" y="3091101"/>
            <a:ext cx="160170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讲武堂 · 课程报名平台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53"/>
          <p:cNvSpPr txBox="1"/>
          <p:nvPr/>
        </p:nvSpPr>
        <p:spPr>
          <a:xfrm>
            <a:off x="932974" y="3286839"/>
            <a:ext cx="208451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S3 / S4 报名入口 · 支持支付宝 / 信用卡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53"/>
          <p:cNvSpPr txBox="1"/>
          <p:nvPr/>
        </p:nvSpPr>
        <p:spPr>
          <a:xfrm>
            <a:off x="7508171" y="3209330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elitecoach101.com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8" name="Google Shape;1068;p53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18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2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4" name="Google Shape;1074;p54"/>
          <p:cNvGrpSpPr/>
          <p:nvPr/>
        </p:nvGrpSpPr>
        <p:grpSpPr>
          <a:xfrm>
            <a:off x="553641" y="553641"/>
            <a:ext cx="8036719" cy="3464719"/>
            <a:chOff x="738188" y="738188"/>
            <a:chExt cx="10715625" cy="4619625"/>
          </a:xfrm>
        </p:grpSpPr>
        <p:sp>
          <p:nvSpPr>
            <p:cNvPr id="1075" name="Google Shape;1075;p54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54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54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54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54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54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54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54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54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54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54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54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54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54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54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54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54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54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54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" name="Google Shape;1094;p54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54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54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54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54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99" name="Google Shape;1099;p54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54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54"/>
          <p:cNvSpPr txBox="1"/>
          <p:nvPr/>
        </p:nvSpPr>
        <p:spPr>
          <a:xfrm>
            <a:off x="3949351" y="702945"/>
            <a:ext cx="124529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54"/>
          <p:cNvSpPr txBox="1"/>
          <p:nvPr/>
        </p:nvSpPr>
        <p:spPr>
          <a:xfrm>
            <a:off x="3206544" y="1338739"/>
            <a:ext cx="2730913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54"/>
          <p:cNvSpPr txBox="1"/>
          <p:nvPr/>
        </p:nvSpPr>
        <p:spPr>
          <a:xfrm>
            <a:off x="4411499" y="2013109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54"/>
          <p:cNvSpPr txBox="1"/>
          <p:nvPr/>
        </p:nvSpPr>
        <p:spPr>
          <a:xfrm>
            <a:off x="3517945" y="2467451"/>
            <a:ext cx="210811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54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54"/>
          <p:cNvSpPr/>
          <p:nvPr/>
        </p:nvSpPr>
        <p:spPr>
          <a:xfrm>
            <a:off x="2357438" y="3429000"/>
            <a:ext cx="4429125" cy="48577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54"/>
          <p:cNvSpPr txBox="1"/>
          <p:nvPr/>
        </p:nvSpPr>
        <p:spPr>
          <a:xfrm>
            <a:off x="3544795" y="3517582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54"/>
          <p:cNvSpPr txBox="1"/>
          <p:nvPr/>
        </p:nvSpPr>
        <p:spPr>
          <a:xfrm>
            <a:off x="3070741" y="4064794"/>
            <a:ext cx="30025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感谢今晚参与 · 期待在 S2 / S3 课堂再见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54"/>
          <p:cNvSpPr/>
          <p:nvPr/>
        </p:nvSpPr>
        <p:spPr>
          <a:xfrm>
            <a:off x="2571750" y="43719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54"/>
          <p:cNvSpPr/>
          <p:nvPr/>
        </p:nvSpPr>
        <p:spPr>
          <a:xfrm>
            <a:off x="2649932" y="4508026"/>
            <a:ext cx="144556" cy="144090"/>
          </a:xfrm>
          <a:custGeom>
            <a:rect b="b" l="l" r="r" t="t"/>
            <a:pathLst>
              <a:path extrusionOk="0" h="192120" w="192741">
                <a:moveTo>
                  <a:pt x="152510" y="28545"/>
                </a:moveTo>
                <a:cubicBezTo>
                  <a:pt x="185240" y="56478"/>
                  <a:pt x="192741" y="104092"/>
                  <a:pt x="170182" y="140734"/>
                </a:cubicBezTo>
                <a:cubicBezTo>
                  <a:pt x="147624" y="177376"/>
                  <a:pt x="101733" y="192120"/>
                  <a:pt x="62054" y="175475"/>
                </a:cubicBezTo>
                <a:lnTo>
                  <a:pt x="60107" y="174619"/>
                </a:lnTo>
                <a:lnTo>
                  <a:pt x="18555" y="182032"/>
                </a:lnTo>
                <a:lnTo>
                  <a:pt x="17595" y="182128"/>
                </a:lnTo>
                <a:cubicBezTo>
                  <a:pt x="17275" y="182145"/>
                  <a:pt x="16954" y="182145"/>
                  <a:pt x="16634" y="182128"/>
                </a:cubicBezTo>
                <a:lnTo>
                  <a:pt x="15744" y="182014"/>
                </a:lnTo>
                <a:lnTo>
                  <a:pt x="14801" y="181805"/>
                </a:lnTo>
                <a:lnTo>
                  <a:pt x="13884" y="181482"/>
                </a:lnTo>
                <a:lnTo>
                  <a:pt x="13019" y="181071"/>
                </a:lnTo>
                <a:lnTo>
                  <a:pt x="12207" y="180565"/>
                </a:lnTo>
                <a:lnTo>
                  <a:pt x="12085" y="180469"/>
                </a:lnTo>
                <a:lnTo>
                  <a:pt x="11980" y="180408"/>
                </a:lnTo>
                <a:lnTo>
                  <a:pt x="11229" y="179770"/>
                </a:lnTo>
                <a:lnTo>
                  <a:pt x="10557" y="179072"/>
                </a:lnTo>
                <a:lnTo>
                  <a:pt x="9972" y="178304"/>
                </a:lnTo>
                <a:lnTo>
                  <a:pt x="9483" y="177483"/>
                </a:lnTo>
                <a:lnTo>
                  <a:pt x="9186" y="176872"/>
                </a:lnTo>
                <a:lnTo>
                  <a:pt x="8837" y="175929"/>
                </a:lnTo>
                <a:lnTo>
                  <a:pt x="8593" y="174811"/>
                </a:lnTo>
                <a:lnTo>
                  <a:pt x="8488" y="173920"/>
                </a:lnTo>
                <a:cubicBezTo>
                  <a:pt x="8465" y="173557"/>
                  <a:pt x="8465" y="173193"/>
                  <a:pt x="8488" y="172829"/>
                </a:cubicBezTo>
                <a:lnTo>
                  <a:pt x="8593" y="171956"/>
                </a:lnTo>
                <a:lnTo>
                  <a:pt x="8802" y="170995"/>
                </a:lnTo>
                <a:lnTo>
                  <a:pt x="9195" y="169930"/>
                </a:lnTo>
                <a:lnTo>
                  <a:pt x="21707" y="141082"/>
                </a:lnTo>
                <a:lnTo>
                  <a:pt x="21628" y="140960"/>
                </a:lnTo>
                <a:cubicBezTo>
                  <a:pt x="0" y="106044"/>
                  <a:pt x="5631" y="60775"/>
                  <a:pt x="35153" y="32221"/>
                </a:cubicBezTo>
                <a:lnTo>
                  <a:pt x="37030" y="30449"/>
                </a:lnTo>
                <a:cubicBezTo>
                  <a:pt x="69548" y="812"/>
                  <a:pt x="119037" y="0"/>
                  <a:pt x="152510" y="28554"/>
                </a:cubicBezTo>
                <a:moveTo>
                  <a:pt x="73955" y="55533"/>
                </a:moveTo>
                <a:cubicBezTo>
                  <a:pt x="66722" y="55533"/>
                  <a:pt x="60858" y="61397"/>
                  <a:pt x="60858" y="68630"/>
                </a:cubicBezTo>
                <a:lnTo>
                  <a:pt x="60858" y="77362"/>
                </a:lnTo>
                <a:cubicBezTo>
                  <a:pt x="60858" y="106294"/>
                  <a:pt x="84313" y="129749"/>
                  <a:pt x="113245" y="129749"/>
                </a:cubicBezTo>
                <a:lnTo>
                  <a:pt x="121977" y="129749"/>
                </a:lnTo>
                <a:cubicBezTo>
                  <a:pt x="129210" y="129749"/>
                  <a:pt x="135074" y="123885"/>
                  <a:pt x="135074" y="116652"/>
                </a:cubicBezTo>
                <a:cubicBezTo>
                  <a:pt x="135074" y="109419"/>
                  <a:pt x="129210" y="103555"/>
                  <a:pt x="121977" y="103555"/>
                </a:cubicBezTo>
                <a:lnTo>
                  <a:pt x="113245" y="103555"/>
                </a:lnTo>
                <a:lnTo>
                  <a:pt x="111988" y="103616"/>
                </a:lnTo>
                <a:cubicBezTo>
                  <a:pt x="107938" y="104005"/>
                  <a:pt x="104299" y="106254"/>
                  <a:pt x="102139" y="109702"/>
                </a:cubicBezTo>
                <a:lnTo>
                  <a:pt x="101773" y="110348"/>
                </a:lnTo>
                <a:lnTo>
                  <a:pt x="101580" y="110287"/>
                </a:lnTo>
                <a:cubicBezTo>
                  <a:pt x="91656" y="106759"/>
                  <a:pt x="83848" y="98950"/>
                  <a:pt x="80320" y="89027"/>
                </a:cubicBezTo>
                <a:lnTo>
                  <a:pt x="80250" y="88826"/>
                </a:lnTo>
                <a:lnTo>
                  <a:pt x="80905" y="88468"/>
                </a:lnTo>
                <a:cubicBezTo>
                  <a:pt x="84731" y="86072"/>
                  <a:pt x="87054" y="81876"/>
                  <a:pt x="87052" y="77362"/>
                </a:cubicBezTo>
                <a:lnTo>
                  <a:pt x="87052" y="68630"/>
                </a:lnTo>
                <a:cubicBezTo>
                  <a:pt x="87052" y="61397"/>
                  <a:pt x="81188" y="55533"/>
                  <a:pt x="73955" y="55533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54"/>
          <p:cNvSpPr txBox="1"/>
          <p:nvPr/>
        </p:nvSpPr>
        <p:spPr>
          <a:xfrm>
            <a:off x="2845356" y="4525923"/>
            <a:ext cx="130218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54"/>
          <p:cNvSpPr txBox="1"/>
          <p:nvPr/>
        </p:nvSpPr>
        <p:spPr>
          <a:xfrm>
            <a:off x="4536960" y="4519851"/>
            <a:ext cx="700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13" name="Google Shape;1113;p54"/>
          <p:cNvGrpSpPr/>
          <p:nvPr/>
        </p:nvGrpSpPr>
        <p:grpSpPr>
          <a:xfrm>
            <a:off x="4784672" y="4513830"/>
            <a:ext cx="131860" cy="130621"/>
            <a:chOff x="6379562" y="6018440"/>
            <a:chExt cx="175814" cy="174162"/>
          </a:xfrm>
        </p:grpSpPr>
        <p:sp>
          <p:nvSpPr>
            <p:cNvPr id="1114" name="Google Shape;1114;p54"/>
            <p:cNvSpPr/>
            <p:nvPr/>
          </p:nvSpPr>
          <p:spPr>
            <a:xfrm>
              <a:off x="6473858" y="6140450"/>
              <a:ext cx="73639" cy="52152"/>
            </a:xfrm>
            <a:custGeom>
              <a:rect b="b" l="l" r="r" t="t"/>
              <a:pathLst>
                <a:path extrusionOk="0" h="52152" w="73639">
                  <a:moveTo>
                    <a:pt x="73639" y="0"/>
                  </a:moveTo>
                  <a:cubicBezTo>
                    <a:pt x="60675" y="29704"/>
                    <a:pt x="32323" y="49782"/>
                    <a:pt x="0" y="52152"/>
                  </a:cubicBezTo>
                  <a:cubicBezTo>
                    <a:pt x="2236" y="51619"/>
                    <a:pt x="4172" y="50226"/>
                    <a:pt x="5387" y="48275"/>
                  </a:cubicBezTo>
                  <a:cubicBezTo>
                    <a:pt x="14668" y="33409"/>
                    <a:pt x="21396" y="17095"/>
                    <a:pt x="25294" y="9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54"/>
            <p:cNvSpPr/>
            <p:nvPr/>
          </p:nvSpPr>
          <p:spPr>
            <a:xfrm>
              <a:off x="6387453" y="6140450"/>
              <a:ext cx="73631" cy="52152"/>
            </a:xfrm>
            <a:custGeom>
              <a:rect b="b" l="l" r="r" t="t"/>
              <a:pathLst>
                <a:path extrusionOk="0" h="52152" w="73631">
                  <a:moveTo>
                    <a:pt x="48345" y="0"/>
                  </a:moveTo>
                  <a:cubicBezTo>
                    <a:pt x="52241" y="17092"/>
                    <a:pt x="58970" y="33412"/>
                    <a:pt x="68252" y="48284"/>
                  </a:cubicBezTo>
                  <a:cubicBezTo>
                    <a:pt x="69467" y="50230"/>
                    <a:pt x="71399" y="51619"/>
                    <a:pt x="73631" y="52152"/>
                  </a:cubicBezTo>
                  <a:cubicBezTo>
                    <a:pt x="41311" y="49779"/>
                    <a:pt x="12963" y="29701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54"/>
            <p:cNvSpPr/>
            <p:nvPr/>
          </p:nvSpPr>
          <p:spPr>
            <a:xfrm>
              <a:off x="6453767" y="6140450"/>
              <a:ext cx="27416" cy="33912"/>
            </a:xfrm>
            <a:custGeom>
              <a:rect b="b" l="l" r="r" t="t"/>
              <a:pathLst>
                <a:path extrusionOk="0" h="33912" w="27416">
                  <a:moveTo>
                    <a:pt x="27416" y="0"/>
                  </a:moveTo>
                  <a:cubicBezTo>
                    <a:pt x="24353" y="11856"/>
                    <a:pt x="19744" y="23258"/>
                    <a:pt x="13708" y="33912"/>
                  </a:cubicBezTo>
                  <a:cubicBezTo>
                    <a:pt x="7672" y="23258"/>
                    <a:pt x="3063" y="11856"/>
                    <a:pt x="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" name="Google Shape;1117;p54"/>
            <p:cNvSpPr/>
            <p:nvPr/>
          </p:nvSpPr>
          <p:spPr>
            <a:xfrm>
              <a:off x="6379562" y="6088062"/>
              <a:ext cx="53284" cy="34925"/>
            </a:xfrm>
            <a:custGeom>
              <a:rect b="b" l="l" r="r" t="t"/>
              <a:pathLst>
                <a:path extrusionOk="0" h="34925" w="53284">
                  <a:moveTo>
                    <a:pt x="53284" y="0"/>
                  </a:moveTo>
                  <a:cubicBezTo>
                    <a:pt x="51987" y="11606"/>
                    <a:pt x="51987" y="23319"/>
                    <a:pt x="53284" y="34925"/>
                  </a:cubicBezTo>
                  <a:lnTo>
                    <a:pt x="2364" y="34925"/>
                  </a:lnTo>
                  <a:cubicBezTo>
                    <a:pt x="6" y="23403"/>
                    <a:pt x="0" y="11524"/>
                    <a:pt x="2346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p54"/>
            <p:cNvSpPr/>
            <p:nvPr/>
          </p:nvSpPr>
          <p:spPr>
            <a:xfrm>
              <a:off x="6448971" y="6088062"/>
              <a:ext cx="37009" cy="34925"/>
            </a:xfrm>
            <a:custGeom>
              <a:rect b="b" l="l" r="r" t="t"/>
              <a:pathLst>
                <a:path extrusionOk="0" h="34925" w="37009">
                  <a:moveTo>
                    <a:pt x="35548" y="0"/>
                  </a:moveTo>
                  <a:cubicBezTo>
                    <a:pt x="37009" y="11596"/>
                    <a:pt x="37009" y="23329"/>
                    <a:pt x="35548" y="34925"/>
                  </a:cubicBezTo>
                  <a:lnTo>
                    <a:pt x="1461" y="34925"/>
                  </a:lnTo>
                  <a:cubicBezTo>
                    <a:pt x="0" y="23329"/>
                    <a:pt x="0" y="11596"/>
                    <a:pt x="1461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54"/>
            <p:cNvSpPr/>
            <p:nvPr/>
          </p:nvSpPr>
          <p:spPr>
            <a:xfrm>
              <a:off x="6502103" y="6088062"/>
              <a:ext cx="53273" cy="34925"/>
            </a:xfrm>
            <a:custGeom>
              <a:rect b="b" l="l" r="r" t="t"/>
              <a:pathLst>
                <a:path extrusionOk="0" h="34925" w="53273">
                  <a:moveTo>
                    <a:pt x="50938" y="0"/>
                  </a:moveTo>
                  <a:cubicBezTo>
                    <a:pt x="53273" y="11525"/>
                    <a:pt x="53267" y="23402"/>
                    <a:pt x="50921" y="34925"/>
                  </a:cubicBezTo>
                  <a:lnTo>
                    <a:pt x="0" y="34925"/>
                  </a:lnTo>
                  <a:cubicBezTo>
                    <a:pt x="1301" y="23321"/>
                    <a:pt x="1301" y="11613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54"/>
            <p:cNvSpPr/>
            <p:nvPr/>
          </p:nvSpPr>
          <p:spPr>
            <a:xfrm>
              <a:off x="6387427" y="6018448"/>
              <a:ext cx="73648" cy="52152"/>
            </a:xfrm>
            <a:custGeom>
              <a:rect b="b" l="l" r="r" t="t"/>
              <a:pathLst>
                <a:path extrusionOk="0" h="52152" w="73648">
                  <a:moveTo>
                    <a:pt x="73648" y="0"/>
                  </a:moveTo>
                  <a:cubicBezTo>
                    <a:pt x="71419" y="537"/>
                    <a:pt x="69490" y="1929"/>
                    <a:pt x="68278" y="3877"/>
                  </a:cubicBezTo>
                  <a:cubicBezTo>
                    <a:pt x="58997" y="18746"/>
                    <a:pt x="52268" y="35063"/>
                    <a:pt x="48371" y="52152"/>
                  </a:cubicBezTo>
                  <a:lnTo>
                    <a:pt x="0" y="52152"/>
                  </a:lnTo>
                  <a:cubicBezTo>
                    <a:pt x="12850" y="22742"/>
                    <a:pt x="40785" y="2741"/>
                    <a:pt x="72766" y="5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54"/>
            <p:cNvSpPr/>
            <p:nvPr/>
          </p:nvSpPr>
          <p:spPr>
            <a:xfrm>
              <a:off x="6453767" y="6036688"/>
              <a:ext cx="27416" cy="33921"/>
            </a:xfrm>
            <a:custGeom>
              <a:rect b="b" l="l" r="r" t="t"/>
              <a:pathLst>
                <a:path extrusionOk="0" h="33921" w="27416">
                  <a:moveTo>
                    <a:pt x="13708" y="0"/>
                  </a:moveTo>
                  <a:cubicBezTo>
                    <a:pt x="19745" y="10657"/>
                    <a:pt x="24354" y="22062"/>
                    <a:pt x="27416" y="33921"/>
                  </a:cubicBezTo>
                  <a:lnTo>
                    <a:pt x="0" y="33921"/>
                  </a:lnTo>
                  <a:cubicBezTo>
                    <a:pt x="2969" y="22422"/>
                    <a:pt x="7422" y="11220"/>
                    <a:pt x="13359" y="594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122;p54"/>
            <p:cNvSpPr/>
            <p:nvPr/>
          </p:nvSpPr>
          <p:spPr>
            <a:xfrm>
              <a:off x="6473875" y="6018440"/>
              <a:ext cx="73648" cy="52160"/>
            </a:xfrm>
            <a:custGeom>
              <a:rect b="b" l="l" r="r" t="t"/>
              <a:pathLst>
                <a:path extrusionOk="0" h="52160" w="73648">
                  <a:moveTo>
                    <a:pt x="0" y="0"/>
                  </a:moveTo>
                  <a:cubicBezTo>
                    <a:pt x="32322" y="2387"/>
                    <a:pt x="60669" y="22463"/>
                    <a:pt x="73648" y="52160"/>
                  </a:cubicBezTo>
                  <a:lnTo>
                    <a:pt x="25277" y="52160"/>
                  </a:lnTo>
                  <a:cubicBezTo>
                    <a:pt x="21381" y="35068"/>
                    <a:pt x="14652" y="18748"/>
                    <a:pt x="5370" y="3877"/>
                  </a:cubicBezTo>
                  <a:cubicBezTo>
                    <a:pt x="4319" y="2194"/>
                    <a:pt x="2727" y="919"/>
                    <a:pt x="856" y="26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23" name="Google Shape;1123;p54"/>
          <p:cNvSpPr txBox="1"/>
          <p:nvPr/>
        </p:nvSpPr>
        <p:spPr>
          <a:xfrm>
            <a:off x="4988472" y="4525925"/>
            <a:ext cx="3002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课程平台：https://austinxyz.github.io/course-portal/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4" name="Google Shape;1124;p54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1125" name="Google Shape;1125;p54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54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54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28" name="Google Shape;1128;p54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19 / 19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457200"/>
            <a:ext cx="4754880" cy="4206240"/>
          </a:xfrm>
          <a:prstGeom prst="roundRect">
            <a:avLst>
              <a:gd name="adj" fmla="val 50000"/>
            </a:avLst>
          </a:prstGeom>
          <a:solidFill>
            <a:srgbClr val="262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"/>
            <a:ext cx="2011680" cy="292608"/>
          </a:xfrm>
          <a:prstGeom prst="roundRect">
            <a:avLst>
              <a:gd name="adj" fmla="val 40000"/>
            </a:avLst>
          </a:prstGeom>
          <a:solidFill>
            <a:srgbClr val="3F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2417"/>
                </a:solidFill>
                <a:latin typeface="Noto Sans SC"/>
              </a:rPr>
              <a:t>✦  对所有人开放 · 免费参加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Arial"/>
              </a:rPr>
              <a:t>DEMO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C6BD"/>
                </a:solidFill>
                <a:latin typeface="Noto Sans SC"/>
              </a:rPr>
              <a:t>学员成果展示夜 · 12 位同学，一个晚上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Noto Sans SC"/>
              </a:rPr>
              <a:t>📅  7月11日 (周六)  ·  8:30 PM ET  ·  Zoom 线上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59152"/>
            <a:ext cx="4114800" cy="18288"/>
          </a:xfrm>
          <a:prstGeom prst="rect">
            <a:avLst/>
          </a:prstGeom>
          <a:solidFill>
            <a:srgbClr val="3A3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871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AFAF8"/>
                </a:solidFill>
                <a:latin typeface="Noto Sans SC"/>
              </a:rPr>
              <a:t>▸  七 Agent 并行求职 Pipeline（简历→投递→跟进）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7121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AFAF8"/>
                </a:solidFill>
                <a:latin typeface="Noto Sans SC"/>
              </a:rPr>
              <a:t>▸  视频全链路 5 Agent，直接跑出 MP4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5526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AFAF8"/>
                </a:solidFill>
                <a:latin typeface="Noto Sans SC"/>
              </a:rPr>
              <a:t>▸  个股分析自动化 / 营养学知识库 / 教育税务 KB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502920"/>
            <a:ext cx="1097280" cy="100584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53035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960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C6BD"/>
                </a:solidFill>
                <a:latin typeface="Noto Sans SC"/>
              </a:rPr>
              <a:t>位讲者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79" y="502920"/>
            <a:ext cx="1097280" cy="1005840"/>
          </a:xfrm>
          <a:prstGeom prst="roundRect">
            <a:avLst>
              <a:gd name="adj" fmla="val 50000"/>
            </a:avLst>
          </a:prstGeom>
          <a:solidFill>
            <a:srgbClr val="262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53035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9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960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C6BD"/>
                </a:solidFill>
                <a:latin typeface="Noto Sans SC"/>
              </a:rPr>
              <a:t>每人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502920"/>
            <a:ext cx="1097280" cy="1005840"/>
          </a:xfrm>
          <a:prstGeom prst="roundRect">
            <a:avLst>
              <a:gd name="adj" fmla="val 50000"/>
            </a:avLst>
          </a:prstGeom>
          <a:solidFill>
            <a:srgbClr val="262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3035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免费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960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C6BD"/>
                </a:solidFill>
                <a:latin typeface="Noto Sans SC"/>
              </a:rPr>
              <a:t>旁听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1664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Noto Sans SC"/>
              </a:rPr>
              <a:t>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3872" y="1645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SC"/>
              </a:rPr>
              <a:t>见优秀学员的真实方法论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33872" y="193852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C6BD"/>
                </a:solidFill>
                <a:latin typeface="Noto Sans SC"/>
              </a:rPr>
              <a:t>可以直接借用的 prompt 和工作流思路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2715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Noto Sans SC"/>
              </a:rPr>
              <a:t>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33872" y="2697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SC"/>
              </a:rPr>
              <a:t>No one left behind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3872" y="299008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C6BD"/>
                </a:solidFill>
                <a:latin typeface="Noto Sans SC"/>
              </a:rPr>
              <a:t>Demo 后有专项答疑，讲师陪你跑通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3767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Noto Sans SC"/>
              </a:rPr>
              <a:t>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33872" y="3749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SC"/>
              </a:rPr>
              <a:t>兴趣小组 · 持续互帮互助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3872" y="40416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C6BD"/>
                </a:solidFill>
                <a:latin typeface="Noto Sans SC"/>
              </a:rPr>
              <a:t>财富/金融/内容/其他，共享 GitHub 仓库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30368" y="4114800"/>
            <a:ext cx="3566160" cy="438912"/>
          </a:xfrm>
          <a:prstGeom prst="roundRect">
            <a:avLst>
              <a:gd name="adj" fmla="val 4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30368" y="411480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oto Sans SC"/>
              </a:rPr>
              <a:t>立即查看 → austinxyz.github.io/course-portal/demoday.html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