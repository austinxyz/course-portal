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Quattrocento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QuattrocentoSans-bold.fntdata"/><Relationship Id="rId25" Type="http://schemas.openxmlformats.org/officeDocument/2006/relationships/font" Target="fonts/QuattrocentoSans-regular.fntdata"/><Relationship Id="rId28" Type="http://schemas.openxmlformats.org/officeDocument/2006/relationships/font" Target="fonts/QuattrocentoSans-boldItalic.fntdata"/><Relationship Id="rId27" Type="http://schemas.openxmlformats.org/officeDocument/2006/relationships/font" Target="fonts/QuattrocentoSans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51a0bc633_2_7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g3f51a0bc633_2_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开场白：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"大家好，我是 Austin，今晚这个 30 分钟的直播，我要教你一件事——怎么把你脑子里的专业知识，变成一个真正可以运行的 AI 工具。不是做个 ChatGPT 对话，是真的能帮你工作的那种。"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提示：等人进直播间，可以先聊聊大家在哪座城市、做什么行业。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51a0bc633_2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3f51a0bc633_2_1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51a0bc633_2_18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g3f51a0bc633_2_18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"今晚我给大家三样干货——第一，炒股方法论文档，S3 课程的核心内容；第二，Design System 模板文件，S4 课程的核心素材；第三，更重要的是，你会理解怎么用这套思路把自己的专业做成 AI 产品。"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提示：提醒大家把链接记下来，后面会有机会下载。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51a0bc633_2_2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g3f51a0bc633_2_2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"我来问你一个问题——你有没有这种感觉，你在某个领域积累了很多年，但是你的经验只能在你亲自工作的时候才能发挥作用？你睡着了它就停了，你不在场它就没了。"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停顿，让观众思考。"这个问题，AI 可以解决。"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51a0bc633_2_26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g3f51a0bc633_2_26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核心信息： Charlie个人对AI的战略判断（2-3分钟，这是全场最重要的部分之一）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讲解要点（Charlie填入自己的真实判断）：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• 判断1：未来5年，AI将重新定义知识型岗位——用自己亲眼看到的案例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• 判断2：身边最厉害的人都在用AI打10倍杠杆——具体例子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• 判断3：窗口期就在这2-3年，所以选择现在系统性投入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注意： 这里用第一人称，讲自己的真实判断和经历，不是泛泛而谈。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语气： 自信、笃定，不是建议，是宣言。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切换到P05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51a0bc633_2_3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1" name="Google Shape;421;g3f51a0bc633_2_3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"这就是今天最核心的一句话——专业知识 × Claude = 可运行 AI 产品。不是知识 + AI，是乘法，是你的专业让 AI 变得有价值。没有你的专业知识，AI 只是通用工具。"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可以停顿让这句话沉淀。"今天我们演示两个案例，一个是炒股，一个是知识服务网站。"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51a0bc633_2_3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0" name="Google Shape;450;g3f51a0bc633_2_3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"Claude Code 是一个跑在终端里的 AI，它不是你打开网页对话的那种。它真正理解你整个项目，你所有的文件，你的工作流。最重要的是，你可以把你的判断逻辑写成 Skill 文件，让它照着跑。"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强调：Skill 文件是今天的核心概念，下一页要演示。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f51a0bc633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9" name="Google Shape;509;g3f51a0bc633_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f51a0bc633_2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g3f51a0bc633_2_54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f51a0bc633_2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g3f51a0bc633_2_60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f51a0bc633_2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g3f51a0bc633_2_69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f51b9eb80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g3f51b9eb801_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f51b9eb801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g3f51b9eb801_1_3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f51a0bc633_2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g3f51a0bc633_2_8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f51a0bc633_2_8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g3f51a0bc633_2_86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f51a0bc633_2_89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9" name="Google Shape;959;g3f51a0bc633_2_89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"所有今天提到的工具和链接我都整理在这里。Claude Code 在 claude.ai/code，文档在 docs.anthropic.com，报名平台是 elitecoach101.com，课程资料是 learn.austinxyz.ai。"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可以简单过一遍，不需要逐一点击。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f51a0bc633_2_9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8" name="Google Shape;998;g3f51a0bc633_2_9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结语：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"好，今晚就到这里。记住这个公式——专业知识 × Claude = 可运行 AI 产品。你有多年的积累，Claude 给你一个放大器。希望 S3 和 S4 里再见，谢谢大家。"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等直播间留言结束后退出直播。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4" name="Google Shape;134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5" name="Google Shape;13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8" name="Google Shape;13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2" name="Google Shape;14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" name="Google Shape;145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" name="Google Shape;14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" name="Google Shape;15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3" name="Google Shape;153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8" name="Google Shape;15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9" name="Google Shape;15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0" name="Google Shape;16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63" name="Google Shape;16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6" name="Google Shape;166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7" name="Google Shape;16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37"/>
          <p:cNvGrpSpPr/>
          <p:nvPr/>
        </p:nvGrpSpPr>
        <p:grpSpPr>
          <a:xfrm>
            <a:off x="553641" y="553641"/>
            <a:ext cx="892969" cy="1464469"/>
            <a:chOff x="738188" y="738188"/>
            <a:chExt cx="1190625" cy="1952625"/>
          </a:xfrm>
        </p:grpSpPr>
        <p:sp>
          <p:nvSpPr>
            <p:cNvPr id="176" name="Google Shape;176;p37"/>
            <p:cNvSpPr/>
            <p:nvPr/>
          </p:nvSpPr>
          <p:spPr>
            <a:xfrm>
              <a:off x="738188" y="73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37"/>
            <p:cNvSpPr/>
            <p:nvPr/>
          </p:nvSpPr>
          <p:spPr>
            <a:xfrm>
              <a:off x="1119188" y="73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37"/>
            <p:cNvSpPr/>
            <p:nvPr/>
          </p:nvSpPr>
          <p:spPr>
            <a:xfrm>
              <a:off x="1500188" y="73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37"/>
            <p:cNvSpPr/>
            <p:nvPr/>
          </p:nvSpPr>
          <p:spPr>
            <a:xfrm>
              <a:off x="1881188" y="73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37"/>
            <p:cNvSpPr/>
            <p:nvPr/>
          </p:nvSpPr>
          <p:spPr>
            <a:xfrm>
              <a:off x="738188" y="111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37"/>
            <p:cNvSpPr/>
            <p:nvPr/>
          </p:nvSpPr>
          <p:spPr>
            <a:xfrm>
              <a:off x="1119188" y="111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7"/>
            <p:cNvSpPr/>
            <p:nvPr/>
          </p:nvSpPr>
          <p:spPr>
            <a:xfrm>
              <a:off x="1500188" y="111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7"/>
            <p:cNvSpPr/>
            <p:nvPr/>
          </p:nvSpPr>
          <p:spPr>
            <a:xfrm>
              <a:off x="1881188" y="111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7"/>
            <p:cNvSpPr/>
            <p:nvPr/>
          </p:nvSpPr>
          <p:spPr>
            <a:xfrm>
              <a:off x="738188" y="150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7"/>
            <p:cNvSpPr/>
            <p:nvPr/>
          </p:nvSpPr>
          <p:spPr>
            <a:xfrm>
              <a:off x="1119188" y="150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7"/>
            <p:cNvSpPr/>
            <p:nvPr/>
          </p:nvSpPr>
          <p:spPr>
            <a:xfrm>
              <a:off x="1500188" y="150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37"/>
            <p:cNvSpPr/>
            <p:nvPr/>
          </p:nvSpPr>
          <p:spPr>
            <a:xfrm>
              <a:off x="1881188" y="150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37"/>
            <p:cNvSpPr/>
            <p:nvPr/>
          </p:nvSpPr>
          <p:spPr>
            <a:xfrm>
              <a:off x="738188" y="1881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37"/>
            <p:cNvSpPr/>
            <p:nvPr/>
          </p:nvSpPr>
          <p:spPr>
            <a:xfrm>
              <a:off x="1119188" y="1881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37"/>
            <p:cNvSpPr/>
            <p:nvPr/>
          </p:nvSpPr>
          <p:spPr>
            <a:xfrm>
              <a:off x="1500188" y="1881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37"/>
            <p:cNvSpPr/>
            <p:nvPr/>
          </p:nvSpPr>
          <p:spPr>
            <a:xfrm>
              <a:off x="1881188" y="1881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37"/>
            <p:cNvSpPr/>
            <p:nvPr/>
          </p:nvSpPr>
          <p:spPr>
            <a:xfrm>
              <a:off x="738188" y="2262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37"/>
            <p:cNvSpPr/>
            <p:nvPr/>
          </p:nvSpPr>
          <p:spPr>
            <a:xfrm>
              <a:off x="1119188" y="2262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37"/>
            <p:cNvSpPr/>
            <p:nvPr/>
          </p:nvSpPr>
          <p:spPr>
            <a:xfrm>
              <a:off x="1500188" y="2262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37"/>
            <p:cNvSpPr/>
            <p:nvPr/>
          </p:nvSpPr>
          <p:spPr>
            <a:xfrm>
              <a:off x="1881188" y="2262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37"/>
            <p:cNvSpPr/>
            <p:nvPr/>
          </p:nvSpPr>
          <p:spPr>
            <a:xfrm>
              <a:off x="738188" y="2643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37"/>
            <p:cNvSpPr/>
            <p:nvPr/>
          </p:nvSpPr>
          <p:spPr>
            <a:xfrm>
              <a:off x="1119188" y="2643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37"/>
            <p:cNvSpPr/>
            <p:nvPr/>
          </p:nvSpPr>
          <p:spPr>
            <a:xfrm>
              <a:off x="1500188" y="2643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37"/>
            <p:cNvSpPr/>
            <p:nvPr/>
          </p:nvSpPr>
          <p:spPr>
            <a:xfrm>
              <a:off x="1881188" y="2643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" name="Google Shape;200;p37"/>
          <p:cNvGrpSpPr/>
          <p:nvPr/>
        </p:nvGrpSpPr>
        <p:grpSpPr>
          <a:xfrm>
            <a:off x="7697391" y="3411141"/>
            <a:ext cx="892969" cy="1178719"/>
            <a:chOff x="10263188" y="4548188"/>
            <a:chExt cx="1190625" cy="1571625"/>
          </a:xfrm>
        </p:grpSpPr>
        <p:sp>
          <p:nvSpPr>
            <p:cNvPr id="201" name="Google Shape;201;p37"/>
            <p:cNvSpPr/>
            <p:nvPr/>
          </p:nvSpPr>
          <p:spPr>
            <a:xfrm>
              <a:off x="10263188" y="454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37"/>
            <p:cNvSpPr/>
            <p:nvPr/>
          </p:nvSpPr>
          <p:spPr>
            <a:xfrm>
              <a:off x="10644188" y="454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37"/>
            <p:cNvSpPr/>
            <p:nvPr/>
          </p:nvSpPr>
          <p:spPr>
            <a:xfrm>
              <a:off x="11025188" y="454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37"/>
            <p:cNvSpPr/>
            <p:nvPr/>
          </p:nvSpPr>
          <p:spPr>
            <a:xfrm>
              <a:off x="11406188" y="454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37"/>
            <p:cNvSpPr/>
            <p:nvPr/>
          </p:nvSpPr>
          <p:spPr>
            <a:xfrm>
              <a:off x="10263188" y="492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37"/>
            <p:cNvSpPr/>
            <p:nvPr/>
          </p:nvSpPr>
          <p:spPr>
            <a:xfrm>
              <a:off x="10644188" y="492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37"/>
            <p:cNvSpPr/>
            <p:nvPr/>
          </p:nvSpPr>
          <p:spPr>
            <a:xfrm>
              <a:off x="11025188" y="492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7"/>
            <p:cNvSpPr/>
            <p:nvPr/>
          </p:nvSpPr>
          <p:spPr>
            <a:xfrm>
              <a:off x="11406188" y="492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7"/>
            <p:cNvSpPr/>
            <p:nvPr/>
          </p:nvSpPr>
          <p:spPr>
            <a:xfrm>
              <a:off x="10263188" y="531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7"/>
            <p:cNvSpPr/>
            <p:nvPr/>
          </p:nvSpPr>
          <p:spPr>
            <a:xfrm>
              <a:off x="10644188" y="531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7"/>
            <p:cNvSpPr/>
            <p:nvPr/>
          </p:nvSpPr>
          <p:spPr>
            <a:xfrm>
              <a:off x="11025188" y="531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37"/>
            <p:cNvSpPr/>
            <p:nvPr/>
          </p:nvSpPr>
          <p:spPr>
            <a:xfrm>
              <a:off x="11406188" y="531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37"/>
            <p:cNvSpPr/>
            <p:nvPr/>
          </p:nvSpPr>
          <p:spPr>
            <a:xfrm>
              <a:off x="10263188" y="5691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7"/>
            <p:cNvSpPr/>
            <p:nvPr/>
          </p:nvSpPr>
          <p:spPr>
            <a:xfrm>
              <a:off x="10644188" y="5691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37"/>
            <p:cNvSpPr/>
            <p:nvPr/>
          </p:nvSpPr>
          <p:spPr>
            <a:xfrm>
              <a:off x="11025188" y="5691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7"/>
            <p:cNvSpPr/>
            <p:nvPr/>
          </p:nvSpPr>
          <p:spPr>
            <a:xfrm>
              <a:off x="11406188" y="5691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37"/>
            <p:cNvSpPr/>
            <p:nvPr/>
          </p:nvSpPr>
          <p:spPr>
            <a:xfrm>
              <a:off x="10263188" y="6072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37"/>
            <p:cNvSpPr/>
            <p:nvPr/>
          </p:nvSpPr>
          <p:spPr>
            <a:xfrm>
              <a:off x="10644188" y="6072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37"/>
            <p:cNvSpPr/>
            <p:nvPr/>
          </p:nvSpPr>
          <p:spPr>
            <a:xfrm>
              <a:off x="11025188" y="6072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37"/>
            <p:cNvSpPr/>
            <p:nvPr/>
          </p:nvSpPr>
          <p:spPr>
            <a:xfrm>
              <a:off x="11406188" y="6072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p37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7"/>
          <p:cNvSpPr/>
          <p:nvPr/>
        </p:nvSpPr>
        <p:spPr>
          <a:xfrm>
            <a:off x="57150" y="0"/>
            <a:ext cx="9086850" cy="21431"/>
          </a:xfrm>
          <a:prstGeom prst="rect">
            <a:avLst/>
          </a:prstGeom>
          <a:solidFill>
            <a:srgbClr val="EA580C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7"/>
          <p:cNvSpPr txBox="1"/>
          <p:nvPr/>
        </p:nvSpPr>
        <p:spPr>
          <a:xfrm>
            <a:off x="3370993" y="531495"/>
            <a:ext cx="24020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讲武堂 · AI 系列课程 · Claude Code + AI 炒股 公开课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7"/>
          <p:cNvSpPr txBox="1"/>
          <p:nvPr/>
        </p:nvSpPr>
        <p:spPr>
          <a:xfrm>
            <a:off x="1829825" y="1410175"/>
            <a:ext cx="63168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lang="en" sz="4300">
                <a:solidFill>
                  <a:srgbClr val="1C1917"/>
                </a:solidFill>
              </a:rPr>
              <a:t>炒股</a:t>
            </a:r>
            <a:r>
              <a:rPr b="1" i="0" lang="en" sz="43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专业知识 </a:t>
            </a:r>
            <a:r>
              <a:rPr b="1" i="0" lang="en" sz="43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r>
              <a:rPr b="1" i="0" lang="en" sz="43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 Claude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7"/>
          <p:cNvSpPr txBox="1"/>
          <p:nvPr/>
        </p:nvSpPr>
        <p:spPr>
          <a:xfrm>
            <a:off x="1311775" y="2081700"/>
            <a:ext cx="6990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" sz="43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1" i="0" lang="en" sz="43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 可运行 </a:t>
            </a:r>
            <a:r>
              <a:rPr b="1" i="0" lang="en" sz="43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b="1" i="0" lang="en" sz="43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4300">
                <a:solidFill>
                  <a:srgbClr val="1C1917"/>
                </a:solidFill>
              </a:rPr>
              <a:t>股票分析</a:t>
            </a:r>
            <a:r>
              <a:rPr b="1" i="0" lang="en" sz="43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产品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7"/>
          <p:cNvSpPr/>
          <p:nvPr/>
        </p:nvSpPr>
        <p:spPr>
          <a:xfrm>
            <a:off x="2428875" y="2671763"/>
            <a:ext cx="4286250" cy="28575"/>
          </a:xfrm>
          <a:prstGeom prst="roundRect">
            <a:avLst>
              <a:gd fmla="val 50000" name="adj"/>
            </a:avLst>
          </a:prstGeom>
          <a:solidFill>
            <a:srgbClr val="EA580C">
              <a:alpha val="2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7"/>
          <p:cNvSpPr/>
          <p:nvPr/>
        </p:nvSpPr>
        <p:spPr>
          <a:xfrm>
            <a:off x="2857500" y="3343275"/>
            <a:ext cx="3429000" cy="7144"/>
          </a:xfrm>
          <a:custGeom>
            <a:rect b="b" l="l" r="r" t="t"/>
            <a:pathLst>
              <a:path extrusionOk="0" h="9525" w="4572000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cap="flat" cmpd="sng" w="142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7"/>
          <p:cNvSpPr/>
          <p:nvPr/>
        </p:nvSpPr>
        <p:spPr>
          <a:xfrm>
            <a:off x="2814638" y="3471863"/>
            <a:ext cx="1428750" cy="257175"/>
          </a:xfrm>
          <a:prstGeom prst="roundRect">
            <a:avLst>
              <a:gd fmla="val 50000" name="adj"/>
            </a:avLst>
          </a:prstGeom>
          <a:solidFill>
            <a:srgbClr val="FFF7ED"/>
          </a:solidFill>
          <a:ln cap="flat" cmpd="sng" w="9525">
            <a:solidFill>
              <a:srgbClr val="EA580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7"/>
          <p:cNvSpPr txBox="1"/>
          <p:nvPr/>
        </p:nvSpPr>
        <p:spPr>
          <a:xfrm>
            <a:off x="3068663" y="3545086"/>
            <a:ext cx="9207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Claude Code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7"/>
          <p:cNvSpPr/>
          <p:nvPr/>
        </p:nvSpPr>
        <p:spPr>
          <a:xfrm>
            <a:off x="4900613" y="3471863"/>
            <a:ext cx="1428750" cy="257175"/>
          </a:xfrm>
          <a:prstGeom prst="roundRect">
            <a:avLst>
              <a:gd fmla="val 50000" name="adj"/>
            </a:avLst>
          </a:prstGeom>
          <a:solidFill>
            <a:srgbClr val="EEF2FF"/>
          </a:solidFill>
          <a:ln cap="flat" cmpd="sng" w="9525">
            <a:solidFill>
              <a:srgbClr val="4F46E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7"/>
          <p:cNvSpPr txBox="1"/>
          <p:nvPr/>
        </p:nvSpPr>
        <p:spPr>
          <a:xfrm>
            <a:off x="5099646" y="3545086"/>
            <a:ext cx="103068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AI 炒股 · Skill 实战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7"/>
          <p:cNvSpPr txBox="1"/>
          <p:nvPr/>
        </p:nvSpPr>
        <p:spPr>
          <a:xfrm>
            <a:off x="3522877" y="4025861"/>
            <a:ext cx="2098244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Austin Xu · 硅谷 500 强工程经理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p37"/>
          <p:cNvGrpSpPr/>
          <p:nvPr/>
        </p:nvGrpSpPr>
        <p:grpSpPr>
          <a:xfrm>
            <a:off x="8404625" y="442916"/>
            <a:ext cx="210733" cy="200018"/>
            <a:chOff x="11206167" y="590555"/>
            <a:chExt cx="280978" cy="266690"/>
          </a:xfrm>
        </p:grpSpPr>
        <p:sp>
          <p:nvSpPr>
            <p:cNvPr id="234" name="Google Shape;234;p37"/>
            <p:cNvSpPr/>
            <p:nvPr/>
          </p:nvSpPr>
          <p:spPr>
            <a:xfrm>
              <a:off x="11396662" y="762005"/>
              <a:ext cx="90483" cy="95240"/>
            </a:xfrm>
            <a:custGeom>
              <a:rect b="b" l="l" r="r" t="t"/>
              <a:pathLst>
                <a:path extrusionOk="0" h="95240" w="90483">
                  <a:moveTo>
                    <a:pt x="14288" y="61908"/>
                  </a:moveTo>
                  <a:cubicBezTo>
                    <a:pt x="6397" y="61908"/>
                    <a:pt x="0" y="55511"/>
                    <a:pt x="0" y="47620"/>
                  </a:cubicBezTo>
                  <a:cubicBezTo>
                    <a:pt x="0" y="39729"/>
                    <a:pt x="6397" y="33333"/>
                    <a:pt x="14288" y="33333"/>
                  </a:cubicBezTo>
                  <a:cubicBezTo>
                    <a:pt x="22178" y="33333"/>
                    <a:pt x="28575" y="26936"/>
                    <a:pt x="28575" y="19045"/>
                  </a:cubicBezTo>
                  <a:cubicBezTo>
                    <a:pt x="28575" y="0"/>
                    <a:pt x="57150" y="0"/>
                    <a:pt x="57150" y="19045"/>
                  </a:cubicBezTo>
                  <a:cubicBezTo>
                    <a:pt x="57150" y="26936"/>
                    <a:pt x="63547" y="33333"/>
                    <a:pt x="71438" y="33333"/>
                  </a:cubicBezTo>
                  <a:cubicBezTo>
                    <a:pt x="90483" y="33333"/>
                    <a:pt x="90483" y="61908"/>
                    <a:pt x="71438" y="61908"/>
                  </a:cubicBezTo>
                  <a:cubicBezTo>
                    <a:pt x="63547" y="61908"/>
                    <a:pt x="57150" y="68304"/>
                    <a:pt x="57150" y="76195"/>
                  </a:cubicBezTo>
                  <a:cubicBezTo>
                    <a:pt x="57150" y="95240"/>
                    <a:pt x="28575" y="95240"/>
                    <a:pt x="28575" y="76195"/>
                  </a:cubicBezTo>
                  <a:cubicBezTo>
                    <a:pt x="28575" y="68304"/>
                    <a:pt x="22178" y="61908"/>
                    <a:pt x="14288" y="61908"/>
                  </a:cubicBezTo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37"/>
            <p:cNvSpPr/>
            <p:nvPr/>
          </p:nvSpPr>
          <p:spPr>
            <a:xfrm>
              <a:off x="11206167" y="619130"/>
              <a:ext cx="209540" cy="204783"/>
            </a:xfrm>
            <a:custGeom>
              <a:rect b="b" l="l" r="r" t="t"/>
              <a:pathLst>
                <a:path extrusionOk="0" h="204783" w="209540">
                  <a:moveTo>
                    <a:pt x="19045" y="90483"/>
                  </a:moveTo>
                  <a:cubicBezTo>
                    <a:pt x="58499" y="90483"/>
                    <a:pt x="90483" y="58499"/>
                    <a:pt x="90483" y="19045"/>
                  </a:cubicBezTo>
                  <a:cubicBezTo>
                    <a:pt x="90483" y="0"/>
                    <a:pt x="119058" y="0"/>
                    <a:pt x="119058" y="19045"/>
                  </a:cubicBezTo>
                  <a:cubicBezTo>
                    <a:pt x="119058" y="58499"/>
                    <a:pt x="151041" y="90483"/>
                    <a:pt x="190495" y="90483"/>
                  </a:cubicBezTo>
                  <a:cubicBezTo>
                    <a:pt x="209540" y="90483"/>
                    <a:pt x="209540" y="119058"/>
                    <a:pt x="190495" y="119058"/>
                  </a:cubicBezTo>
                  <a:cubicBezTo>
                    <a:pt x="151041" y="119058"/>
                    <a:pt x="119058" y="151041"/>
                    <a:pt x="119058" y="190495"/>
                  </a:cubicBezTo>
                  <a:cubicBezTo>
                    <a:pt x="119058" y="198386"/>
                    <a:pt x="112661" y="204783"/>
                    <a:pt x="104770" y="204783"/>
                  </a:cubicBezTo>
                  <a:cubicBezTo>
                    <a:pt x="96879" y="204783"/>
                    <a:pt x="90483" y="198386"/>
                    <a:pt x="90483" y="190495"/>
                  </a:cubicBezTo>
                  <a:cubicBezTo>
                    <a:pt x="90483" y="151041"/>
                    <a:pt x="58499" y="119058"/>
                    <a:pt x="19045" y="119058"/>
                  </a:cubicBezTo>
                  <a:cubicBezTo>
                    <a:pt x="0" y="119058"/>
                    <a:pt x="0" y="90483"/>
                    <a:pt x="19045" y="90483"/>
                  </a:cubicBezTo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37"/>
            <p:cNvSpPr/>
            <p:nvPr/>
          </p:nvSpPr>
          <p:spPr>
            <a:xfrm>
              <a:off x="11396662" y="590555"/>
              <a:ext cx="90483" cy="95240"/>
            </a:xfrm>
            <a:custGeom>
              <a:rect b="b" l="l" r="r" t="t"/>
              <a:pathLst>
                <a:path extrusionOk="0" h="95240" w="90483">
                  <a:moveTo>
                    <a:pt x="14288" y="61908"/>
                  </a:moveTo>
                  <a:cubicBezTo>
                    <a:pt x="6397" y="61908"/>
                    <a:pt x="0" y="55511"/>
                    <a:pt x="0" y="47620"/>
                  </a:cubicBezTo>
                  <a:cubicBezTo>
                    <a:pt x="0" y="39729"/>
                    <a:pt x="6397" y="33333"/>
                    <a:pt x="14288" y="33333"/>
                  </a:cubicBezTo>
                  <a:cubicBezTo>
                    <a:pt x="22178" y="33333"/>
                    <a:pt x="28575" y="26936"/>
                    <a:pt x="28575" y="19045"/>
                  </a:cubicBezTo>
                  <a:cubicBezTo>
                    <a:pt x="28575" y="0"/>
                    <a:pt x="57150" y="0"/>
                    <a:pt x="57150" y="19045"/>
                  </a:cubicBezTo>
                  <a:cubicBezTo>
                    <a:pt x="57150" y="26936"/>
                    <a:pt x="63547" y="33333"/>
                    <a:pt x="71438" y="33333"/>
                  </a:cubicBezTo>
                  <a:cubicBezTo>
                    <a:pt x="90483" y="33333"/>
                    <a:pt x="90483" y="61908"/>
                    <a:pt x="71438" y="61908"/>
                  </a:cubicBezTo>
                  <a:cubicBezTo>
                    <a:pt x="63547" y="61908"/>
                    <a:pt x="57150" y="68304"/>
                    <a:pt x="57150" y="76195"/>
                  </a:cubicBezTo>
                  <a:cubicBezTo>
                    <a:pt x="57150" y="95240"/>
                    <a:pt x="28575" y="95240"/>
                    <a:pt x="28575" y="76195"/>
                  </a:cubicBezTo>
                  <a:cubicBezTo>
                    <a:pt x="28575" y="68304"/>
                    <a:pt x="22178" y="61908"/>
                    <a:pt x="14288" y="61908"/>
                  </a:cubicBezTo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7" name="Google Shape;237;p37"/>
          <p:cNvSpPr txBox="1"/>
          <p:nvPr/>
        </p:nvSpPr>
        <p:spPr>
          <a:xfrm>
            <a:off x="8431875" y="4921687"/>
            <a:ext cx="264212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 / 17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8"/>
          <p:cNvSpPr/>
          <p:nvPr/>
        </p:nvSpPr>
        <p:spPr>
          <a:xfrm>
            <a:off x="0" y="0"/>
            <a:ext cx="9144000" cy="857400"/>
          </a:xfrm>
          <a:prstGeom prst="rect">
            <a:avLst/>
          </a:prstGeom>
          <a:gradFill>
            <a:gsLst>
              <a:gs pos="0">
                <a:srgbClr val="FFF7ED"/>
              </a:gs>
              <a:gs pos="100000">
                <a:srgbClr val="FAFAF8"/>
              </a:gs>
            </a:gsLst>
            <a:lin ang="0" scaled="0"/>
          </a:gra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3767" y="71438"/>
            <a:ext cx="454541" cy="628649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8"/>
          <p:cNvSpPr/>
          <p:nvPr/>
        </p:nvSpPr>
        <p:spPr>
          <a:xfrm>
            <a:off x="428625" y="257175"/>
            <a:ext cx="35700" cy="342900"/>
          </a:xfrm>
          <a:prstGeom prst="roundRect">
            <a:avLst>
              <a:gd fmla="val 4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8"/>
          <p:cNvSpPr txBox="1"/>
          <p:nvPr/>
        </p:nvSpPr>
        <p:spPr>
          <a:xfrm>
            <a:off x="545783" y="238601"/>
            <a:ext cx="98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20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关于我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8"/>
          <p:cNvSpPr/>
          <p:nvPr/>
        </p:nvSpPr>
        <p:spPr>
          <a:xfrm>
            <a:off x="428625" y="742950"/>
            <a:ext cx="8286750" cy="7144"/>
          </a:xfrm>
          <a:custGeom>
            <a:rect b="b" l="l" r="r" t="t"/>
            <a:pathLst>
              <a:path extrusionOk="0" h="9525" w="11049000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cap="flat" cmpd="sng" w="190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8"/>
          <p:cNvSpPr/>
          <p:nvPr/>
        </p:nvSpPr>
        <p:spPr>
          <a:xfrm>
            <a:off x="857250" y="1128713"/>
            <a:ext cx="1428900" cy="1428900"/>
          </a:xfrm>
          <a:prstGeom prst="ellipse">
            <a:avLst/>
          </a:prstGeom>
          <a:solidFill>
            <a:srgbClr val="FEF3C7"/>
          </a:solidFill>
          <a:ln cap="flat" cmpd="sng" w="381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825" y="1157288"/>
            <a:ext cx="1371600" cy="1371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0" name="Google Shape;250;p38"/>
          <p:cNvSpPr txBox="1"/>
          <p:nvPr/>
        </p:nvSpPr>
        <p:spPr>
          <a:xfrm>
            <a:off x="1014218" y="2630329"/>
            <a:ext cx="111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Austin Xu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8"/>
          <p:cNvSpPr txBox="1"/>
          <p:nvPr/>
        </p:nvSpPr>
        <p:spPr>
          <a:xfrm>
            <a:off x="842503" y="2866363"/>
            <a:ext cx="162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Engineering Manager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8"/>
          <p:cNvSpPr/>
          <p:nvPr/>
        </p:nvSpPr>
        <p:spPr>
          <a:xfrm>
            <a:off x="1028700" y="3043254"/>
            <a:ext cx="1086000" cy="246300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 cap="flat" cmpd="sng" w="12700">
            <a:solidFill>
              <a:srgbClr val="EA580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8"/>
          <p:cNvSpPr txBox="1"/>
          <p:nvPr/>
        </p:nvSpPr>
        <p:spPr>
          <a:xfrm>
            <a:off x="682094" y="3026137"/>
            <a:ext cx="193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📍 San Jose, CA · </a:t>
            </a:r>
            <a:endParaRPr b="0" i="0" sz="1000" u="none" cap="none" strike="noStrike">
              <a:solidFill>
                <a:srgbClr val="EA58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500强企业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8"/>
          <p:cNvSpPr/>
          <p:nvPr/>
        </p:nvSpPr>
        <p:spPr>
          <a:xfrm>
            <a:off x="571500" y="3328988"/>
            <a:ext cx="2000250" cy="7144"/>
          </a:xfrm>
          <a:custGeom>
            <a:rect b="b" l="l" r="r" t="t"/>
            <a:pathLst>
              <a:path extrusionOk="0" h="9525" w="2667000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cap="flat" cmpd="sng" w="190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8"/>
          <p:cNvSpPr txBox="1"/>
          <p:nvPr/>
        </p:nvSpPr>
        <p:spPr>
          <a:xfrm>
            <a:off x="1148090" y="3409355"/>
            <a:ext cx="1185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rgbClr val="78716C"/>
                </a:solidFill>
                <a:latin typeface="Georgia"/>
                <a:ea typeface="Georgia"/>
                <a:cs typeface="Georgia"/>
                <a:sym typeface="Georgia"/>
              </a:rPr>
              <a:t>写了 20 年代码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8"/>
          <p:cNvSpPr txBox="1"/>
          <p:nvPr/>
        </p:nvSpPr>
        <p:spPr>
          <a:xfrm>
            <a:off x="855419" y="3566517"/>
            <a:ext cx="2005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rgbClr val="78716C"/>
                </a:solidFill>
                <a:latin typeface="Georgia"/>
                <a:ea typeface="Georgia"/>
                <a:cs typeface="Georgia"/>
                <a:sym typeface="Georgia"/>
              </a:rPr>
              <a:t>现在用 AI 写得更快、更好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8"/>
          <p:cNvSpPr/>
          <p:nvPr/>
        </p:nvSpPr>
        <p:spPr>
          <a:xfrm>
            <a:off x="2928938" y="828675"/>
            <a:ext cx="7144" cy="3243263"/>
          </a:xfrm>
          <a:custGeom>
            <a:rect b="b" l="l" r="r" t="t"/>
            <a:pathLst>
              <a:path extrusionOk="0" h="4324350" w="9525">
                <a:moveTo>
                  <a:pt x="0" y="0"/>
                </a:moveTo>
                <a:lnTo>
                  <a:pt x="0" y="4324350"/>
                </a:lnTo>
              </a:path>
            </a:pathLst>
          </a:custGeom>
          <a:noFill/>
          <a:ln cap="flat" cmpd="sng" w="190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8"/>
          <p:cNvSpPr/>
          <p:nvPr/>
        </p:nvSpPr>
        <p:spPr>
          <a:xfrm>
            <a:off x="3143250" y="857250"/>
            <a:ext cx="5429400" cy="7857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90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8"/>
          <p:cNvSpPr/>
          <p:nvPr/>
        </p:nvSpPr>
        <p:spPr>
          <a:xfrm>
            <a:off x="3143250" y="857250"/>
            <a:ext cx="42900" cy="78570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8"/>
          <p:cNvSpPr/>
          <p:nvPr/>
        </p:nvSpPr>
        <p:spPr>
          <a:xfrm>
            <a:off x="3400425" y="1078706"/>
            <a:ext cx="342900" cy="3429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8"/>
          <p:cNvSpPr/>
          <p:nvPr/>
        </p:nvSpPr>
        <p:spPr>
          <a:xfrm>
            <a:off x="3429000" y="1107281"/>
            <a:ext cx="285750" cy="271463"/>
          </a:xfrm>
          <a:custGeom>
            <a:rect b="b" l="l" r="r" t="t"/>
            <a:pathLst>
              <a:path extrusionOk="0" h="361950" w="381000">
                <a:moveTo>
                  <a:pt x="381000" y="218656"/>
                </a:moveTo>
                <a:lnTo>
                  <a:pt x="381000" y="304800"/>
                </a:lnTo>
                <a:cubicBezTo>
                  <a:pt x="381000" y="336363"/>
                  <a:pt x="355413" y="361950"/>
                  <a:pt x="32385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218656"/>
                </a:lnTo>
                <a:lnTo>
                  <a:pt x="10535" y="223933"/>
                </a:lnTo>
                <a:cubicBezTo>
                  <a:pt x="123758" y="280963"/>
                  <a:pt x="257312" y="280949"/>
                  <a:pt x="370522" y="223895"/>
                </a:cubicBezTo>
                <a:lnTo>
                  <a:pt x="381000" y="218656"/>
                </a:lnTo>
                <a:close/>
                <a:moveTo>
                  <a:pt x="228600" y="0"/>
                </a:moveTo>
                <a:cubicBezTo>
                  <a:pt x="260163" y="0"/>
                  <a:pt x="285750" y="25587"/>
                  <a:pt x="285750" y="57150"/>
                </a:cubicBezTo>
                <a:lnTo>
                  <a:pt x="285750" y="76200"/>
                </a:lnTo>
                <a:lnTo>
                  <a:pt x="323850" y="76200"/>
                </a:lnTo>
                <a:cubicBezTo>
                  <a:pt x="355413" y="76200"/>
                  <a:pt x="381000" y="101787"/>
                  <a:pt x="381000" y="133350"/>
                </a:cubicBezTo>
                <a:lnTo>
                  <a:pt x="381000" y="176060"/>
                </a:lnTo>
                <a:lnTo>
                  <a:pt x="353435" y="189852"/>
                </a:lnTo>
                <a:cubicBezTo>
                  <a:pt x="253484" y="240231"/>
                  <a:pt x="135850" y="241539"/>
                  <a:pt x="34804" y="193396"/>
                </a:cubicBezTo>
                <a:lnTo>
                  <a:pt x="22479" y="187300"/>
                </a:lnTo>
                <a:lnTo>
                  <a:pt x="0" y="176060"/>
                </a:lnTo>
                <a:lnTo>
                  <a:pt x="0" y="133350"/>
                </a:lnTo>
                <a:cubicBezTo>
                  <a:pt x="0" y="101787"/>
                  <a:pt x="25587" y="76200"/>
                  <a:pt x="57150" y="76200"/>
                </a:cubicBezTo>
                <a:lnTo>
                  <a:pt x="95250" y="76200"/>
                </a:lnTo>
                <a:lnTo>
                  <a:pt x="95250" y="57150"/>
                </a:lnTo>
                <a:cubicBezTo>
                  <a:pt x="95250" y="25587"/>
                  <a:pt x="120837" y="0"/>
                  <a:pt x="152400" y="0"/>
                </a:cubicBezTo>
                <a:lnTo>
                  <a:pt x="228600" y="0"/>
                </a:lnTo>
                <a:close/>
                <a:moveTo>
                  <a:pt x="190500" y="152400"/>
                </a:moveTo>
                <a:cubicBezTo>
                  <a:pt x="179979" y="152400"/>
                  <a:pt x="171450" y="160929"/>
                  <a:pt x="171450" y="171450"/>
                </a:cubicBezTo>
                <a:cubicBezTo>
                  <a:pt x="171416" y="178256"/>
                  <a:pt x="175015" y="184563"/>
                  <a:pt x="180893" y="187995"/>
                </a:cubicBezTo>
                <a:cubicBezTo>
                  <a:pt x="186770" y="191428"/>
                  <a:pt x="194031" y="191464"/>
                  <a:pt x="199943" y="188091"/>
                </a:cubicBezTo>
                <a:cubicBezTo>
                  <a:pt x="205854" y="184717"/>
                  <a:pt x="209516" y="178446"/>
                  <a:pt x="209550" y="171641"/>
                </a:cubicBezTo>
                <a:cubicBezTo>
                  <a:pt x="209550" y="160934"/>
                  <a:pt x="201016" y="152400"/>
                  <a:pt x="190500" y="152400"/>
                </a:cubicBezTo>
                <a:close/>
                <a:moveTo>
                  <a:pt x="228600" y="38100"/>
                </a:moveTo>
                <a:lnTo>
                  <a:pt x="152400" y="38100"/>
                </a:lnTo>
                <a:cubicBezTo>
                  <a:pt x="141879" y="38100"/>
                  <a:pt x="133350" y="46629"/>
                  <a:pt x="133350" y="57150"/>
                </a:cubicBezTo>
                <a:lnTo>
                  <a:pt x="133350" y="76200"/>
                </a:lnTo>
                <a:lnTo>
                  <a:pt x="247650" y="76200"/>
                </a:lnTo>
                <a:lnTo>
                  <a:pt x="247650" y="57150"/>
                </a:lnTo>
                <a:cubicBezTo>
                  <a:pt x="247650" y="46629"/>
                  <a:pt x="239121" y="38100"/>
                  <a:pt x="228600" y="38100"/>
                </a:cubicBezTo>
                <a:close/>
              </a:path>
            </a:pathLst>
          </a:custGeom>
          <a:solidFill>
            <a:srgbClr val="4F46E5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8"/>
          <p:cNvSpPr txBox="1"/>
          <p:nvPr/>
        </p:nvSpPr>
        <p:spPr>
          <a:xfrm>
            <a:off x="3859769" y="1025486"/>
            <a:ext cx="73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大厂背景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8"/>
          <p:cNvSpPr txBox="1"/>
          <p:nvPr/>
        </p:nvSpPr>
        <p:spPr>
          <a:xfrm>
            <a:off x="3861911" y="1215152"/>
            <a:ext cx="4955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500强云平台 Leader · 支撑 </a:t>
            </a:r>
            <a:r>
              <a:rPr b="1" i="0" lang="en" sz="11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$74B+</a:t>
            </a: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 GMV · 浙大硕士 · 软件工程 20 年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8"/>
          <p:cNvSpPr/>
          <p:nvPr/>
        </p:nvSpPr>
        <p:spPr>
          <a:xfrm>
            <a:off x="3143250" y="1771650"/>
            <a:ext cx="5429400" cy="7857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90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8"/>
          <p:cNvSpPr/>
          <p:nvPr/>
        </p:nvSpPr>
        <p:spPr>
          <a:xfrm>
            <a:off x="3143250" y="1771650"/>
            <a:ext cx="42900" cy="7857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8"/>
          <p:cNvSpPr/>
          <p:nvPr/>
        </p:nvSpPr>
        <p:spPr>
          <a:xfrm>
            <a:off x="3400425" y="1993105"/>
            <a:ext cx="342900" cy="342900"/>
          </a:xfrm>
          <a:prstGeom prst="ellipse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8"/>
          <p:cNvSpPr/>
          <p:nvPr/>
        </p:nvSpPr>
        <p:spPr>
          <a:xfrm>
            <a:off x="3456928" y="2021681"/>
            <a:ext cx="229894" cy="291051"/>
          </a:xfrm>
          <a:custGeom>
            <a:rect b="b" l="l" r="r" t="t"/>
            <a:pathLst>
              <a:path extrusionOk="0" h="388068" w="306525">
                <a:moveTo>
                  <a:pt x="172313" y="0"/>
                </a:moveTo>
                <a:lnTo>
                  <a:pt x="172655" y="19"/>
                </a:lnTo>
                <a:lnTo>
                  <a:pt x="172960" y="38"/>
                </a:lnTo>
                <a:lnTo>
                  <a:pt x="174541" y="133"/>
                </a:lnTo>
                <a:lnTo>
                  <a:pt x="174751" y="171"/>
                </a:lnTo>
                <a:lnTo>
                  <a:pt x="174960" y="171"/>
                </a:lnTo>
                <a:lnTo>
                  <a:pt x="175684" y="343"/>
                </a:lnTo>
                <a:lnTo>
                  <a:pt x="176675" y="495"/>
                </a:lnTo>
                <a:lnTo>
                  <a:pt x="176980" y="610"/>
                </a:lnTo>
                <a:lnTo>
                  <a:pt x="177189" y="629"/>
                </a:lnTo>
                <a:lnTo>
                  <a:pt x="177742" y="838"/>
                </a:lnTo>
                <a:lnTo>
                  <a:pt x="178732" y="1105"/>
                </a:lnTo>
                <a:lnTo>
                  <a:pt x="179094" y="1276"/>
                </a:lnTo>
                <a:lnTo>
                  <a:pt x="179380" y="1353"/>
                </a:lnTo>
                <a:lnTo>
                  <a:pt x="179913" y="1619"/>
                </a:lnTo>
                <a:lnTo>
                  <a:pt x="180675" y="1943"/>
                </a:lnTo>
                <a:lnTo>
                  <a:pt x="181076" y="2172"/>
                </a:lnTo>
                <a:lnTo>
                  <a:pt x="181495" y="2362"/>
                </a:lnTo>
                <a:lnTo>
                  <a:pt x="181933" y="2648"/>
                </a:lnTo>
                <a:lnTo>
                  <a:pt x="182523" y="2972"/>
                </a:lnTo>
                <a:lnTo>
                  <a:pt x="183171" y="3429"/>
                </a:lnTo>
                <a:lnTo>
                  <a:pt x="183514" y="3639"/>
                </a:lnTo>
                <a:lnTo>
                  <a:pt x="183762" y="3867"/>
                </a:lnTo>
                <a:lnTo>
                  <a:pt x="184219" y="4191"/>
                </a:lnTo>
                <a:lnTo>
                  <a:pt x="184943" y="4839"/>
                </a:lnTo>
                <a:lnTo>
                  <a:pt x="185362" y="5163"/>
                </a:lnTo>
                <a:lnTo>
                  <a:pt x="185514" y="5353"/>
                </a:lnTo>
                <a:lnTo>
                  <a:pt x="185781" y="5582"/>
                </a:lnTo>
                <a:lnTo>
                  <a:pt x="186467" y="6363"/>
                </a:lnTo>
                <a:lnTo>
                  <a:pt x="186962" y="6877"/>
                </a:lnTo>
                <a:lnTo>
                  <a:pt x="187076" y="7049"/>
                </a:lnTo>
                <a:cubicBezTo>
                  <a:pt x="189362" y="9849"/>
                  <a:pt x="190810" y="13183"/>
                  <a:pt x="191229" y="16821"/>
                </a:cubicBezTo>
                <a:lnTo>
                  <a:pt x="191248" y="17050"/>
                </a:lnTo>
                <a:lnTo>
                  <a:pt x="191286" y="17831"/>
                </a:lnTo>
                <a:lnTo>
                  <a:pt x="191363" y="19050"/>
                </a:lnTo>
                <a:lnTo>
                  <a:pt x="191363" y="133350"/>
                </a:lnTo>
                <a:lnTo>
                  <a:pt x="286613" y="133350"/>
                </a:lnTo>
                <a:cubicBezTo>
                  <a:pt x="293407" y="133348"/>
                  <a:pt x="299689" y="136966"/>
                  <a:pt x="303097" y="142844"/>
                </a:cubicBezTo>
                <a:cubicBezTo>
                  <a:pt x="306506" y="148723"/>
                  <a:pt x="306525" y="155971"/>
                  <a:pt x="303148" y="161868"/>
                </a:cubicBezTo>
                <a:lnTo>
                  <a:pt x="302005" y="163601"/>
                </a:lnTo>
                <a:lnTo>
                  <a:pt x="149605" y="373151"/>
                </a:lnTo>
                <a:cubicBezTo>
                  <a:pt x="138785" y="388068"/>
                  <a:pt x="115163" y="380390"/>
                  <a:pt x="115163" y="361950"/>
                </a:cubicBezTo>
                <a:lnTo>
                  <a:pt x="115163" y="247650"/>
                </a:lnTo>
                <a:lnTo>
                  <a:pt x="19913" y="247650"/>
                </a:lnTo>
                <a:cubicBezTo>
                  <a:pt x="13118" y="247652"/>
                  <a:pt x="6836" y="244034"/>
                  <a:pt x="3428" y="238156"/>
                </a:cubicBezTo>
                <a:cubicBezTo>
                  <a:pt x="19" y="232277"/>
                  <a:pt x="0" y="225029"/>
                  <a:pt x="3377" y="219132"/>
                </a:cubicBezTo>
                <a:lnTo>
                  <a:pt x="4520" y="217399"/>
                </a:lnTo>
                <a:lnTo>
                  <a:pt x="156920" y="7849"/>
                </a:lnTo>
                <a:lnTo>
                  <a:pt x="157111" y="7601"/>
                </a:lnTo>
                <a:lnTo>
                  <a:pt x="157454" y="7144"/>
                </a:lnTo>
                <a:lnTo>
                  <a:pt x="158082" y="6420"/>
                </a:lnTo>
                <a:lnTo>
                  <a:pt x="158425" y="6001"/>
                </a:lnTo>
                <a:lnTo>
                  <a:pt x="158597" y="5848"/>
                </a:lnTo>
                <a:lnTo>
                  <a:pt x="158844" y="5582"/>
                </a:lnTo>
                <a:lnTo>
                  <a:pt x="159606" y="4896"/>
                </a:lnTo>
                <a:lnTo>
                  <a:pt x="160140" y="4401"/>
                </a:lnTo>
                <a:lnTo>
                  <a:pt x="160292" y="4286"/>
                </a:lnTo>
                <a:cubicBezTo>
                  <a:pt x="162525" y="2459"/>
                  <a:pt x="165143" y="1163"/>
                  <a:pt x="167950" y="495"/>
                </a:cubicBezTo>
                <a:lnTo>
                  <a:pt x="168160" y="476"/>
                </a:lnTo>
                <a:lnTo>
                  <a:pt x="168674" y="381"/>
                </a:lnTo>
                <a:lnTo>
                  <a:pt x="170084" y="133"/>
                </a:lnTo>
                <a:lnTo>
                  <a:pt x="170293" y="114"/>
                </a:lnTo>
                <a:lnTo>
                  <a:pt x="171074" y="76"/>
                </a:lnTo>
                <a:close/>
              </a:path>
            </a:pathLst>
          </a:custGeom>
          <a:solidFill>
            <a:srgbClr val="EA580C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8"/>
          <p:cNvSpPr txBox="1"/>
          <p:nvPr/>
        </p:nvSpPr>
        <p:spPr>
          <a:xfrm>
            <a:off x="3859769" y="1939886"/>
            <a:ext cx="93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AI 真实落地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8"/>
          <p:cNvSpPr txBox="1"/>
          <p:nvPr/>
        </p:nvSpPr>
        <p:spPr>
          <a:xfrm>
            <a:off x="3861911" y="2129552"/>
            <a:ext cx="4947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500强内部 Claude Code </a:t>
            </a:r>
            <a:r>
              <a:rPr b="1" i="0" lang="en" sz="11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头号用户</a:t>
            </a: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 · MCP + Agent 生产落地 · PR 翻倍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8"/>
          <p:cNvSpPr/>
          <p:nvPr/>
        </p:nvSpPr>
        <p:spPr>
          <a:xfrm>
            <a:off x="3143250" y="2686050"/>
            <a:ext cx="5429400" cy="7857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90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8"/>
          <p:cNvSpPr/>
          <p:nvPr/>
        </p:nvSpPr>
        <p:spPr>
          <a:xfrm>
            <a:off x="3143250" y="2686050"/>
            <a:ext cx="42900" cy="785700"/>
          </a:xfrm>
          <a:prstGeom prst="roundRect">
            <a:avLst>
              <a:gd fmla="val 5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8"/>
          <p:cNvSpPr/>
          <p:nvPr/>
        </p:nvSpPr>
        <p:spPr>
          <a:xfrm>
            <a:off x="3400425" y="2907506"/>
            <a:ext cx="342900" cy="342900"/>
          </a:xfrm>
          <a:prstGeom prst="ellipse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8"/>
          <p:cNvSpPr/>
          <p:nvPr/>
        </p:nvSpPr>
        <p:spPr>
          <a:xfrm>
            <a:off x="3413969" y="2921823"/>
            <a:ext cx="315655" cy="300842"/>
          </a:xfrm>
          <a:custGeom>
            <a:rect b="b" l="l" r="r" t="t"/>
            <a:pathLst>
              <a:path extrusionOk="0" h="401123" w="420873">
                <a:moveTo>
                  <a:pt x="138970" y="120738"/>
                </a:moveTo>
                <a:lnTo>
                  <a:pt x="17431" y="138360"/>
                </a:lnTo>
                <a:lnTo>
                  <a:pt x="15279" y="138798"/>
                </a:lnTo>
                <a:cubicBezTo>
                  <a:pt x="8644" y="140559"/>
                  <a:pt x="3470" y="145753"/>
                  <a:pt x="1735" y="152394"/>
                </a:cubicBezTo>
                <a:cubicBezTo>
                  <a:pt x="0" y="159035"/>
                  <a:pt x="1972" y="166097"/>
                  <a:pt x="6897" y="170878"/>
                </a:cubicBezTo>
                <a:lnTo>
                  <a:pt x="94946" y="256584"/>
                </a:lnTo>
                <a:lnTo>
                  <a:pt x="74181" y="377647"/>
                </a:lnTo>
                <a:lnTo>
                  <a:pt x="73934" y="379742"/>
                </a:lnTo>
                <a:cubicBezTo>
                  <a:pt x="73527" y="386604"/>
                  <a:pt x="76850" y="393153"/>
                  <a:pt x="82627" y="396878"/>
                </a:cubicBezTo>
                <a:cubicBezTo>
                  <a:pt x="88404" y="400603"/>
                  <a:pt x="95740" y="400927"/>
                  <a:pt x="101823" y="397725"/>
                </a:cubicBezTo>
                <a:lnTo>
                  <a:pt x="210522" y="340575"/>
                </a:lnTo>
                <a:lnTo>
                  <a:pt x="318974" y="397725"/>
                </a:lnTo>
                <a:lnTo>
                  <a:pt x="320879" y="398602"/>
                </a:lnTo>
                <a:cubicBezTo>
                  <a:pt x="327281" y="401123"/>
                  <a:pt x="334545" y="399997"/>
                  <a:pt x="339883" y="395654"/>
                </a:cubicBezTo>
                <a:cubicBezTo>
                  <a:pt x="345220" y="391311"/>
                  <a:pt x="347801" y="384428"/>
                  <a:pt x="346634" y="377647"/>
                </a:cubicBezTo>
                <a:lnTo>
                  <a:pt x="325851" y="256584"/>
                </a:lnTo>
                <a:lnTo>
                  <a:pt x="413938" y="170859"/>
                </a:lnTo>
                <a:lnTo>
                  <a:pt x="415424" y="169240"/>
                </a:lnTo>
                <a:cubicBezTo>
                  <a:pt x="419745" y="163918"/>
                  <a:pt x="420873" y="156684"/>
                  <a:pt x="418378" y="150299"/>
                </a:cubicBezTo>
                <a:cubicBezTo>
                  <a:pt x="415883" y="143913"/>
                  <a:pt x="410150" y="139361"/>
                  <a:pt x="403365" y="138379"/>
                </a:cubicBezTo>
                <a:lnTo>
                  <a:pt x="281826" y="120738"/>
                </a:lnTo>
                <a:lnTo>
                  <a:pt x="227496" y="10629"/>
                </a:lnTo>
                <a:cubicBezTo>
                  <a:pt x="224289" y="4121"/>
                  <a:pt x="217663" y="0"/>
                  <a:pt x="210408" y="0"/>
                </a:cubicBezTo>
                <a:cubicBezTo>
                  <a:pt x="203152" y="0"/>
                  <a:pt x="196527" y="4121"/>
                  <a:pt x="193320" y="10629"/>
                </a:cubicBezTo>
                <a:lnTo>
                  <a:pt x="138970" y="120738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8"/>
          <p:cNvSpPr txBox="1"/>
          <p:nvPr/>
        </p:nvSpPr>
        <p:spPr>
          <a:xfrm>
            <a:off x="3859769" y="2854286"/>
            <a:ext cx="196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你也可能在生活中遇见我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8"/>
          <p:cNvSpPr txBox="1"/>
          <p:nvPr/>
        </p:nvSpPr>
        <p:spPr>
          <a:xfrm>
            <a:off x="3861911" y="3043952"/>
            <a:ext cx="4270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USTA </a:t>
            </a:r>
            <a:r>
              <a:rPr b="1" i="0" lang="en" sz="11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全国冠军</a:t>
            </a: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 · 网球/匹克球队长 · 积极参与北美华人社区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8"/>
          <p:cNvSpPr/>
          <p:nvPr/>
        </p:nvSpPr>
        <p:spPr>
          <a:xfrm>
            <a:off x="428625" y="3802425"/>
            <a:ext cx="8286900" cy="371400"/>
          </a:xfrm>
          <a:prstGeom prst="roundRect">
            <a:avLst>
              <a:gd fmla="val 19231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8"/>
          <p:cNvSpPr txBox="1"/>
          <p:nvPr/>
        </p:nvSpPr>
        <p:spPr>
          <a:xfrm>
            <a:off x="2703597" y="3845205"/>
            <a:ext cx="5231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今天分享的，不是理论 — 是我在</a:t>
            </a:r>
            <a:r>
              <a:rPr b="1" i="0" lang="en" sz="11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真实生产环境</a:t>
            </a: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里踩过坑、跑通的东西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8"/>
          <p:cNvSpPr txBox="1"/>
          <p:nvPr/>
        </p:nvSpPr>
        <p:spPr>
          <a:xfrm>
            <a:off x="8638294" y="4927759"/>
            <a:ext cx="125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700" u="none" cap="none" strike="noStrike">
                <a:solidFill>
                  <a:srgbClr val="A8A29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9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9"/>
          <p:cNvSpPr txBox="1"/>
          <p:nvPr/>
        </p:nvSpPr>
        <p:spPr>
          <a:xfrm>
            <a:off x="3969068" y="531495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今晚直播的收获预览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9"/>
          <p:cNvSpPr txBox="1"/>
          <p:nvPr/>
        </p:nvSpPr>
        <p:spPr>
          <a:xfrm>
            <a:off x="2911667" y="802243"/>
            <a:ext cx="3320665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今晚你会带走什么？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9"/>
          <p:cNvSpPr/>
          <p:nvPr/>
        </p:nvSpPr>
        <p:spPr>
          <a:xfrm>
            <a:off x="628650" y="1385888"/>
            <a:ext cx="2357438" cy="2286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9"/>
          <p:cNvSpPr/>
          <p:nvPr/>
        </p:nvSpPr>
        <p:spPr>
          <a:xfrm>
            <a:off x="628650" y="1385888"/>
            <a:ext cx="2357438" cy="42863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9"/>
          <p:cNvSpPr/>
          <p:nvPr/>
        </p:nvSpPr>
        <p:spPr>
          <a:xfrm>
            <a:off x="1435894" y="1700213"/>
            <a:ext cx="742950" cy="742950"/>
          </a:xfrm>
          <a:prstGeom prst="ellipse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9"/>
          <p:cNvSpPr/>
          <p:nvPr/>
        </p:nvSpPr>
        <p:spPr>
          <a:xfrm>
            <a:off x="1616867" y="1872654"/>
            <a:ext cx="401134" cy="402698"/>
          </a:xfrm>
          <a:custGeom>
            <a:rect b="b" l="l" r="r" t="t"/>
            <a:pathLst>
              <a:path extrusionOk="0" h="536931" w="534845">
                <a:moveTo>
                  <a:pt x="381003" y="45414"/>
                </a:moveTo>
                <a:cubicBezTo>
                  <a:pt x="487754" y="107046"/>
                  <a:pt x="534845" y="236428"/>
                  <a:pt x="492684" y="352259"/>
                </a:cubicBezTo>
                <a:cubicBezTo>
                  <a:pt x="450524" y="468090"/>
                  <a:pt x="331285" y="536931"/>
                  <a:pt x="209892" y="515525"/>
                </a:cubicBezTo>
                <a:cubicBezTo>
                  <a:pt x="88500" y="494118"/>
                  <a:pt x="0" y="388643"/>
                  <a:pt x="3" y="265378"/>
                </a:cubicBezTo>
                <a:lnTo>
                  <a:pt x="130" y="257148"/>
                </a:lnTo>
                <a:cubicBezTo>
                  <a:pt x="3024" y="167917"/>
                  <a:pt x="52551" y="86757"/>
                  <a:pt x="130582" y="43379"/>
                </a:cubicBezTo>
                <a:cubicBezTo>
                  <a:pt x="208612" y="0"/>
                  <a:pt x="303688" y="773"/>
                  <a:pt x="381003" y="45414"/>
                </a:cubicBezTo>
                <a:moveTo>
                  <a:pt x="221161" y="196620"/>
                </a:moveTo>
                <a:cubicBezTo>
                  <a:pt x="211242" y="186704"/>
                  <a:pt x="195164" y="186704"/>
                  <a:pt x="185245" y="196620"/>
                </a:cubicBezTo>
                <a:lnTo>
                  <a:pt x="134445" y="247420"/>
                </a:lnTo>
                <a:cubicBezTo>
                  <a:pt x="124530" y="257339"/>
                  <a:pt x="124530" y="273417"/>
                  <a:pt x="134445" y="283335"/>
                </a:cubicBezTo>
                <a:lnTo>
                  <a:pt x="185245" y="334135"/>
                </a:lnTo>
                <a:cubicBezTo>
                  <a:pt x="195164" y="344051"/>
                  <a:pt x="211242" y="344051"/>
                  <a:pt x="221161" y="334135"/>
                </a:cubicBezTo>
                <a:lnTo>
                  <a:pt x="223269" y="331748"/>
                </a:lnTo>
                <a:cubicBezTo>
                  <a:pt x="231113" y="321636"/>
                  <a:pt x="230209" y="307269"/>
                  <a:pt x="221161" y="298220"/>
                </a:cubicBezTo>
                <a:lnTo>
                  <a:pt x="188344" y="265378"/>
                </a:lnTo>
                <a:lnTo>
                  <a:pt x="221161" y="232535"/>
                </a:lnTo>
                <a:cubicBezTo>
                  <a:pt x="231077" y="222617"/>
                  <a:pt x="231077" y="206539"/>
                  <a:pt x="221161" y="196620"/>
                </a:cubicBezTo>
                <a:moveTo>
                  <a:pt x="322761" y="196620"/>
                </a:moveTo>
                <a:cubicBezTo>
                  <a:pt x="312842" y="186704"/>
                  <a:pt x="296764" y="186704"/>
                  <a:pt x="286845" y="196620"/>
                </a:cubicBezTo>
                <a:lnTo>
                  <a:pt x="284737" y="199007"/>
                </a:lnTo>
                <a:cubicBezTo>
                  <a:pt x="276894" y="209119"/>
                  <a:pt x="277797" y="223486"/>
                  <a:pt x="286845" y="232535"/>
                </a:cubicBezTo>
                <a:lnTo>
                  <a:pt x="319662" y="265378"/>
                </a:lnTo>
                <a:lnTo>
                  <a:pt x="286845" y="298220"/>
                </a:lnTo>
                <a:cubicBezTo>
                  <a:pt x="277219" y="308186"/>
                  <a:pt x="277357" y="324028"/>
                  <a:pt x="287155" y="333826"/>
                </a:cubicBezTo>
                <a:cubicBezTo>
                  <a:pt x="296952" y="343624"/>
                  <a:pt x="312795" y="343761"/>
                  <a:pt x="322761" y="334135"/>
                </a:cubicBezTo>
                <a:lnTo>
                  <a:pt x="373561" y="283335"/>
                </a:lnTo>
                <a:cubicBezTo>
                  <a:pt x="383477" y="273417"/>
                  <a:pt x="383477" y="257339"/>
                  <a:pt x="373561" y="247420"/>
                </a:cubicBezTo>
                <a:close/>
              </a:path>
            </a:pathLst>
          </a:cu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9"/>
          <p:cNvSpPr txBox="1"/>
          <p:nvPr/>
        </p:nvSpPr>
        <p:spPr>
          <a:xfrm>
            <a:off x="1046791" y="2566749"/>
            <a:ext cx="1521156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看懂 Claude Code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9"/>
          <p:cNvSpPr txBox="1"/>
          <p:nvPr/>
        </p:nvSpPr>
        <p:spPr>
          <a:xfrm>
            <a:off x="1269846" y="2823567"/>
            <a:ext cx="107504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它是什么·能做什么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9"/>
          <p:cNvSpPr txBox="1"/>
          <p:nvPr/>
        </p:nvSpPr>
        <p:spPr>
          <a:xfrm>
            <a:off x="1214393" y="2995017"/>
            <a:ext cx="118595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和别的 AI 有什么不同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9"/>
          <p:cNvSpPr/>
          <p:nvPr/>
        </p:nvSpPr>
        <p:spPr>
          <a:xfrm>
            <a:off x="1092994" y="3371850"/>
            <a:ext cx="1428750" cy="200025"/>
          </a:xfrm>
          <a:prstGeom prst="roundRect">
            <a:avLst>
              <a:gd fmla="val 50000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9"/>
          <p:cNvSpPr txBox="1"/>
          <p:nvPr/>
        </p:nvSpPr>
        <p:spPr>
          <a:xfrm>
            <a:off x="1495307" y="3428643"/>
            <a:ext cx="6240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今晚的基础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9"/>
          <p:cNvSpPr/>
          <p:nvPr/>
        </p:nvSpPr>
        <p:spPr>
          <a:xfrm>
            <a:off x="3393281" y="1385888"/>
            <a:ext cx="2357438" cy="2286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9"/>
          <p:cNvSpPr/>
          <p:nvPr/>
        </p:nvSpPr>
        <p:spPr>
          <a:xfrm>
            <a:off x="3393281" y="1385888"/>
            <a:ext cx="2357438" cy="42863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9"/>
          <p:cNvSpPr/>
          <p:nvPr/>
        </p:nvSpPr>
        <p:spPr>
          <a:xfrm>
            <a:off x="4200525" y="1700213"/>
            <a:ext cx="742950" cy="74295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9" name="Google Shape;299;p39"/>
          <p:cNvGrpSpPr/>
          <p:nvPr/>
        </p:nvGrpSpPr>
        <p:grpSpPr>
          <a:xfrm>
            <a:off x="4400550" y="1900238"/>
            <a:ext cx="342900" cy="342900"/>
            <a:chOff x="5867400" y="2533650"/>
            <a:chExt cx="457200" cy="457200"/>
          </a:xfrm>
        </p:grpSpPr>
        <p:sp>
          <p:nvSpPr>
            <p:cNvPr id="300" name="Google Shape;300;p39"/>
            <p:cNvSpPr/>
            <p:nvPr/>
          </p:nvSpPr>
          <p:spPr>
            <a:xfrm>
              <a:off x="5867400" y="2533650"/>
              <a:ext cx="203200" cy="457200"/>
            </a:xfrm>
            <a:custGeom>
              <a:rect b="b" l="l" r="r" t="t"/>
              <a:pathLst>
                <a:path extrusionOk="0" h="457200" w="203200">
                  <a:moveTo>
                    <a:pt x="127000" y="0"/>
                  </a:moveTo>
                  <a:cubicBezTo>
                    <a:pt x="169084" y="0"/>
                    <a:pt x="203200" y="34116"/>
                    <a:pt x="203200" y="76200"/>
                  </a:cubicBezTo>
                  <a:lnTo>
                    <a:pt x="203200" y="381000"/>
                  </a:lnTo>
                  <a:cubicBezTo>
                    <a:pt x="203200" y="423084"/>
                    <a:pt x="169084" y="457200"/>
                    <a:pt x="127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9"/>
            <p:cNvSpPr/>
            <p:nvPr/>
          </p:nvSpPr>
          <p:spPr>
            <a:xfrm>
              <a:off x="6121400" y="2533650"/>
              <a:ext cx="203200" cy="304800"/>
            </a:xfrm>
            <a:custGeom>
              <a:rect b="b" l="l" r="r" t="t"/>
              <a:pathLst>
                <a:path extrusionOk="0" h="304800" w="203200">
                  <a:moveTo>
                    <a:pt x="127000" y="0"/>
                  </a:moveTo>
                  <a:cubicBezTo>
                    <a:pt x="169084" y="0"/>
                    <a:pt x="203200" y="34116"/>
                    <a:pt x="203200" y="76200"/>
                  </a:cubicBezTo>
                  <a:lnTo>
                    <a:pt x="203200" y="228600"/>
                  </a:lnTo>
                  <a:cubicBezTo>
                    <a:pt x="203200" y="270684"/>
                    <a:pt x="169084" y="304800"/>
                    <a:pt x="127000" y="304800"/>
                  </a:cubicBezTo>
                  <a:lnTo>
                    <a:pt x="76200" y="304800"/>
                  </a:lnTo>
                  <a:cubicBezTo>
                    <a:pt x="34116" y="304800"/>
                    <a:pt x="0" y="270684"/>
                    <a:pt x="0" y="2286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Google Shape;302;p39"/>
          <p:cNvSpPr txBox="1"/>
          <p:nvPr/>
        </p:nvSpPr>
        <p:spPr>
          <a:xfrm>
            <a:off x="3730768" y="2566749"/>
            <a:ext cx="1682464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看懂 AI 炒股 Skill 系统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9"/>
          <p:cNvSpPr txBox="1"/>
          <p:nvPr/>
        </p:nvSpPr>
        <p:spPr>
          <a:xfrm>
            <a:off x="3926651" y="2823567"/>
            <a:ext cx="129069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方法论怎么变成 Skill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9"/>
          <p:cNvSpPr txBox="1"/>
          <p:nvPr/>
        </p:nvSpPr>
        <p:spPr>
          <a:xfrm>
            <a:off x="4068366" y="2995017"/>
            <a:ext cx="100726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从扫股到分析全自动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9"/>
          <p:cNvSpPr/>
          <p:nvPr/>
        </p:nvSpPr>
        <p:spPr>
          <a:xfrm>
            <a:off x="3857625" y="3371850"/>
            <a:ext cx="1428750" cy="200025"/>
          </a:xfrm>
          <a:prstGeom prst="roundRect">
            <a:avLst>
              <a:gd fmla="val 50000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9"/>
          <p:cNvSpPr txBox="1"/>
          <p:nvPr/>
        </p:nvSpPr>
        <p:spPr>
          <a:xfrm>
            <a:off x="4259938" y="3428643"/>
            <a:ext cx="6240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今晚的主角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9"/>
          <p:cNvSpPr/>
          <p:nvPr/>
        </p:nvSpPr>
        <p:spPr>
          <a:xfrm>
            <a:off x="6157913" y="1385888"/>
            <a:ext cx="2357438" cy="2286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9"/>
          <p:cNvSpPr/>
          <p:nvPr/>
        </p:nvSpPr>
        <p:spPr>
          <a:xfrm>
            <a:off x="6157913" y="1385888"/>
            <a:ext cx="2357438" cy="42863"/>
          </a:xfrm>
          <a:prstGeom prst="roundRect">
            <a:avLst>
              <a:gd fmla="val 5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9"/>
          <p:cNvSpPr/>
          <p:nvPr/>
        </p:nvSpPr>
        <p:spPr>
          <a:xfrm>
            <a:off x="6965156" y="1700213"/>
            <a:ext cx="742950" cy="742950"/>
          </a:xfrm>
          <a:prstGeom prst="ellipse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9"/>
          <p:cNvSpPr/>
          <p:nvPr/>
        </p:nvSpPr>
        <p:spPr>
          <a:xfrm>
            <a:off x="7146131" y="1880616"/>
            <a:ext cx="381000" cy="381572"/>
          </a:xfrm>
          <a:custGeom>
            <a:rect b="b" l="l" r="r" t="t"/>
            <a:pathLst>
              <a:path extrusionOk="0" h="508762" w="508000">
                <a:moveTo>
                  <a:pt x="228600" y="305562"/>
                </a:moveTo>
                <a:lnTo>
                  <a:pt x="228600" y="508762"/>
                </a:lnTo>
                <a:lnTo>
                  <a:pt x="127000" y="508762"/>
                </a:lnTo>
                <a:cubicBezTo>
                  <a:pt x="84916" y="508762"/>
                  <a:pt x="50800" y="474646"/>
                  <a:pt x="50800" y="432562"/>
                </a:cubicBezTo>
                <a:lnTo>
                  <a:pt x="50800" y="330962"/>
                </a:lnTo>
                <a:cubicBezTo>
                  <a:pt x="50800" y="316934"/>
                  <a:pt x="62172" y="305562"/>
                  <a:pt x="76200" y="305562"/>
                </a:cubicBezTo>
                <a:lnTo>
                  <a:pt x="228600" y="305562"/>
                </a:lnTo>
                <a:close/>
                <a:moveTo>
                  <a:pt x="431800" y="305562"/>
                </a:moveTo>
                <a:cubicBezTo>
                  <a:pt x="445828" y="305562"/>
                  <a:pt x="457200" y="316934"/>
                  <a:pt x="457200" y="330962"/>
                </a:cubicBezTo>
                <a:lnTo>
                  <a:pt x="457200" y="432562"/>
                </a:lnTo>
                <a:cubicBezTo>
                  <a:pt x="457200" y="474646"/>
                  <a:pt x="423084" y="508762"/>
                  <a:pt x="381000" y="508762"/>
                </a:cubicBezTo>
                <a:lnTo>
                  <a:pt x="279400" y="508762"/>
                </a:lnTo>
                <a:lnTo>
                  <a:pt x="279400" y="305562"/>
                </a:lnTo>
                <a:lnTo>
                  <a:pt x="431800" y="305562"/>
                </a:lnTo>
                <a:close/>
                <a:moveTo>
                  <a:pt x="368300" y="762"/>
                </a:moveTo>
                <a:cubicBezTo>
                  <a:pt x="398786" y="756"/>
                  <a:pt x="427149" y="16371"/>
                  <a:pt x="443448" y="42135"/>
                </a:cubicBezTo>
                <a:cubicBezTo>
                  <a:pt x="459746" y="67899"/>
                  <a:pt x="461706" y="100217"/>
                  <a:pt x="448640" y="127762"/>
                </a:cubicBezTo>
                <a:lnTo>
                  <a:pt x="457200" y="127762"/>
                </a:lnTo>
                <a:cubicBezTo>
                  <a:pt x="485256" y="127762"/>
                  <a:pt x="508000" y="150506"/>
                  <a:pt x="508000" y="178562"/>
                </a:cubicBezTo>
                <a:lnTo>
                  <a:pt x="508000" y="203962"/>
                </a:lnTo>
                <a:cubicBezTo>
                  <a:pt x="508000" y="232018"/>
                  <a:pt x="485256" y="254762"/>
                  <a:pt x="457200" y="254762"/>
                </a:cubicBezTo>
                <a:lnTo>
                  <a:pt x="279400" y="254762"/>
                </a:lnTo>
                <a:lnTo>
                  <a:pt x="279400" y="127762"/>
                </a:lnTo>
                <a:lnTo>
                  <a:pt x="228600" y="127762"/>
                </a:lnTo>
                <a:lnTo>
                  <a:pt x="228600" y="254762"/>
                </a:lnTo>
                <a:lnTo>
                  <a:pt x="50800" y="254762"/>
                </a:lnTo>
                <a:cubicBezTo>
                  <a:pt x="22744" y="254762"/>
                  <a:pt x="0" y="232018"/>
                  <a:pt x="0" y="203962"/>
                </a:cubicBezTo>
                <a:lnTo>
                  <a:pt x="0" y="178562"/>
                </a:lnTo>
                <a:cubicBezTo>
                  <a:pt x="0" y="150506"/>
                  <a:pt x="22744" y="127762"/>
                  <a:pt x="50800" y="127762"/>
                </a:cubicBezTo>
                <a:lnTo>
                  <a:pt x="59360" y="127762"/>
                </a:lnTo>
                <a:cubicBezTo>
                  <a:pt x="53707" y="115857"/>
                  <a:pt x="50782" y="102841"/>
                  <a:pt x="50800" y="89662"/>
                </a:cubicBezTo>
                <a:cubicBezTo>
                  <a:pt x="50800" y="40564"/>
                  <a:pt x="90602" y="762"/>
                  <a:pt x="139268" y="762"/>
                </a:cubicBezTo>
                <a:cubicBezTo>
                  <a:pt x="183845" y="0"/>
                  <a:pt x="223393" y="28499"/>
                  <a:pt x="250546" y="75286"/>
                </a:cubicBezTo>
                <a:lnTo>
                  <a:pt x="254000" y="81458"/>
                </a:lnTo>
                <a:cubicBezTo>
                  <a:pt x="280238" y="32842"/>
                  <a:pt x="319024" y="2362"/>
                  <a:pt x="362991" y="813"/>
                </a:cubicBezTo>
                <a:lnTo>
                  <a:pt x="368300" y="762"/>
                </a:lnTo>
                <a:close/>
                <a:moveTo>
                  <a:pt x="139700" y="51562"/>
                </a:moveTo>
                <a:cubicBezTo>
                  <a:pt x="118658" y="51562"/>
                  <a:pt x="101600" y="68620"/>
                  <a:pt x="101600" y="89662"/>
                </a:cubicBezTo>
                <a:cubicBezTo>
                  <a:pt x="101600" y="110704"/>
                  <a:pt x="118658" y="127762"/>
                  <a:pt x="139700" y="127762"/>
                </a:cubicBezTo>
                <a:lnTo>
                  <a:pt x="219532" y="127762"/>
                </a:lnTo>
                <a:cubicBezTo>
                  <a:pt x="200711" y="79375"/>
                  <a:pt x="170028" y="51054"/>
                  <a:pt x="139700" y="51562"/>
                </a:cubicBezTo>
                <a:close/>
                <a:moveTo>
                  <a:pt x="367868" y="51562"/>
                </a:moveTo>
                <a:cubicBezTo>
                  <a:pt x="337896" y="51054"/>
                  <a:pt x="307289" y="79400"/>
                  <a:pt x="288468" y="127762"/>
                </a:cubicBezTo>
                <a:lnTo>
                  <a:pt x="368300" y="127762"/>
                </a:lnTo>
                <a:cubicBezTo>
                  <a:pt x="389342" y="127643"/>
                  <a:pt x="406303" y="110488"/>
                  <a:pt x="406184" y="89446"/>
                </a:cubicBezTo>
                <a:cubicBezTo>
                  <a:pt x="406065" y="68404"/>
                  <a:pt x="388910" y="51443"/>
                  <a:pt x="367868" y="51562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9"/>
          <p:cNvSpPr txBox="1"/>
          <p:nvPr/>
        </p:nvSpPr>
        <p:spPr>
          <a:xfrm>
            <a:off x="6751594" y="2566749"/>
            <a:ext cx="1170075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免费带走干货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9"/>
          <p:cNvSpPr txBox="1"/>
          <p:nvPr/>
        </p:nvSpPr>
        <p:spPr>
          <a:xfrm>
            <a:off x="6495500" y="2845114"/>
            <a:ext cx="1682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SEPA 炒股方法论精华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9"/>
          <p:cNvSpPr txBox="1"/>
          <p:nvPr/>
        </p:nvSpPr>
        <p:spPr>
          <a:xfrm>
            <a:off x="6832997" y="2995017"/>
            <a:ext cx="100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现场演示录像回放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9"/>
          <p:cNvSpPr/>
          <p:nvPr/>
        </p:nvSpPr>
        <p:spPr>
          <a:xfrm>
            <a:off x="6622256" y="3371850"/>
            <a:ext cx="1428750" cy="200025"/>
          </a:xfrm>
          <a:prstGeom prst="roundRect">
            <a:avLst>
              <a:gd fmla="val 50000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9"/>
          <p:cNvSpPr txBox="1"/>
          <p:nvPr/>
        </p:nvSpPr>
        <p:spPr>
          <a:xfrm>
            <a:off x="7103066" y="3428643"/>
            <a:ext cx="467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免费下载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9"/>
          <p:cNvSpPr txBox="1"/>
          <p:nvPr/>
        </p:nvSpPr>
        <p:spPr>
          <a:xfrm>
            <a:off x="2814208" y="3976926"/>
            <a:ext cx="35155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开始之前 — 先说说你现在遇到最大的 AI 问题是什么？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9"/>
          <p:cNvSpPr txBox="1"/>
          <p:nvPr/>
        </p:nvSpPr>
        <p:spPr>
          <a:xfrm>
            <a:off x="8405176" y="4921687"/>
            <a:ext cx="290912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3 / 17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0"/>
          <p:cNvSpPr/>
          <p:nvPr/>
        </p:nvSpPr>
        <p:spPr>
          <a:xfrm>
            <a:off x="457200" y="214313"/>
            <a:ext cx="35719" cy="314325"/>
          </a:xfrm>
          <a:prstGeom prst="roundRect">
            <a:avLst>
              <a:gd fmla="val 4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0"/>
          <p:cNvSpPr txBox="1"/>
          <p:nvPr/>
        </p:nvSpPr>
        <p:spPr>
          <a:xfrm>
            <a:off x="560070" y="195739"/>
            <a:ext cx="346736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你是不是也有这种感觉？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0"/>
          <p:cNvSpPr txBox="1"/>
          <p:nvPr/>
        </p:nvSpPr>
        <p:spPr>
          <a:xfrm>
            <a:off x="574358" y="488633"/>
            <a:ext cx="20273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很多人用 AI，但总觉得"差点意思"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0"/>
          <p:cNvSpPr/>
          <p:nvPr/>
        </p:nvSpPr>
        <p:spPr>
          <a:xfrm>
            <a:off x="457200" y="714375"/>
            <a:ext cx="8229600" cy="7144"/>
          </a:xfrm>
          <a:custGeom>
            <a:rect b="b" l="l" r="r" t="t"/>
            <a:pathLst>
              <a:path extrusionOk="0" h="9525" w="1097280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40"/>
          <p:cNvSpPr/>
          <p:nvPr/>
        </p:nvSpPr>
        <p:spPr>
          <a:xfrm>
            <a:off x="457200" y="857250"/>
            <a:ext cx="8229600" cy="928688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0"/>
          <p:cNvSpPr/>
          <p:nvPr/>
        </p:nvSpPr>
        <p:spPr>
          <a:xfrm>
            <a:off x="457200" y="857250"/>
            <a:ext cx="42863" cy="928688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0"/>
          <p:cNvSpPr txBox="1"/>
          <p:nvPr/>
        </p:nvSpPr>
        <p:spPr>
          <a:xfrm>
            <a:off x="7964574" y="1134428"/>
            <a:ext cx="63078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0"/>
          <p:cNvSpPr/>
          <p:nvPr/>
        </p:nvSpPr>
        <p:spPr>
          <a:xfrm>
            <a:off x="636314" y="1015037"/>
            <a:ext cx="198880" cy="172575"/>
          </a:xfrm>
          <a:custGeom>
            <a:rect b="b" l="l" r="r" t="t"/>
            <a:pathLst>
              <a:path extrusionOk="0" h="230100" w="265173">
                <a:moveTo>
                  <a:pt x="132656" y="0"/>
                </a:moveTo>
                <a:cubicBezTo>
                  <a:pt x="144026" y="0"/>
                  <a:pt x="154623" y="5560"/>
                  <a:pt x="161112" y="14847"/>
                </a:cubicBezTo>
                <a:lnTo>
                  <a:pt x="162362" y="16752"/>
                </a:lnTo>
                <a:lnTo>
                  <a:pt x="258969" y="178058"/>
                </a:lnTo>
                <a:cubicBezTo>
                  <a:pt x="264937" y="188394"/>
                  <a:pt x="265173" y="201073"/>
                  <a:pt x="259594" y="211624"/>
                </a:cubicBezTo>
                <a:cubicBezTo>
                  <a:pt x="254015" y="222175"/>
                  <a:pt x="243404" y="229118"/>
                  <a:pt x="231502" y="230005"/>
                </a:cubicBezTo>
                <a:lnTo>
                  <a:pt x="229180" y="230100"/>
                </a:lnTo>
                <a:lnTo>
                  <a:pt x="36001" y="230100"/>
                </a:lnTo>
                <a:cubicBezTo>
                  <a:pt x="24087" y="229966"/>
                  <a:pt x="13075" y="223728"/>
                  <a:pt x="6835" y="213578"/>
                </a:cubicBezTo>
                <a:cubicBezTo>
                  <a:pt x="595" y="203427"/>
                  <a:pt x="0" y="190785"/>
                  <a:pt x="5259" y="180094"/>
                </a:cubicBezTo>
                <a:lnTo>
                  <a:pt x="6438" y="177891"/>
                </a:lnTo>
                <a:lnTo>
                  <a:pt x="102997" y="16704"/>
                </a:lnTo>
                <a:cubicBezTo>
                  <a:pt x="109285" y="6336"/>
                  <a:pt x="120530" y="3"/>
                  <a:pt x="132656" y="0"/>
                </a:cubicBezTo>
                <a:close/>
                <a:moveTo>
                  <a:pt x="132775" y="158710"/>
                </a:moveTo>
                <a:lnTo>
                  <a:pt x="131263" y="158794"/>
                </a:lnTo>
                <a:cubicBezTo>
                  <a:pt x="125273" y="159506"/>
                  <a:pt x="120763" y="164585"/>
                  <a:pt x="120763" y="170617"/>
                </a:cubicBezTo>
                <a:cubicBezTo>
                  <a:pt x="120763" y="176648"/>
                  <a:pt x="125273" y="181727"/>
                  <a:pt x="131263" y="182439"/>
                </a:cubicBezTo>
                <a:lnTo>
                  <a:pt x="132656" y="182523"/>
                </a:lnTo>
                <a:lnTo>
                  <a:pt x="134168" y="182439"/>
                </a:lnTo>
                <a:cubicBezTo>
                  <a:pt x="140157" y="181727"/>
                  <a:pt x="144668" y="176648"/>
                  <a:pt x="144668" y="170617"/>
                </a:cubicBezTo>
                <a:cubicBezTo>
                  <a:pt x="144668" y="164585"/>
                  <a:pt x="140157" y="159506"/>
                  <a:pt x="134168" y="158794"/>
                </a:cubicBezTo>
                <a:lnTo>
                  <a:pt x="132775" y="158710"/>
                </a:lnTo>
                <a:close/>
                <a:moveTo>
                  <a:pt x="132656" y="75367"/>
                </a:moveTo>
                <a:cubicBezTo>
                  <a:pt x="126620" y="75367"/>
                  <a:pt x="121539" y="79885"/>
                  <a:pt x="120833" y="85880"/>
                </a:cubicBezTo>
                <a:lnTo>
                  <a:pt x="120750" y="87273"/>
                </a:lnTo>
                <a:lnTo>
                  <a:pt x="120750" y="134898"/>
                </a:lnTo>
                <a:lnTo>
                  <a:pt x="120833" y="136291"/>
                </a:lnTo>
                <a:cubicBezTo>
                  <a:pt x="121545" y="142280"/>
                  <a:pt x="126624" y="146791"/>
                  <a:pt x="132656" y="146791"/>
                </a:cubicBezTo>
                <a:cubicBezTo>
                  <a:pt x="138688" y="146791"/>
                  <a:pt x="143766" y="142280"/>
                  <a:pt x="144479" y="136291"/>
                </a:cubicBezTo>
                <a:lnTo>
                  <a:pt x="144562" y="134898"/>
                </a:lnTo>
                <a:lnTo>
                  <a:pt x="144562" y="87273"/>
                </a:lnTo>
                <a:lnTo>
                  <a:pt x="144479" y="85880"/>
                </a:lnTo>
                <a:cubicBezTo>
                  <a:pt x="143773" y="79885"/>
                  <a:pt x="138692" y="75367"/>
                  <a:pt x="132656" y="75367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0"/>
          <p:cNvSpPr txBox="1"/>
          <p:nvPr/>
        </p:nvSpPr>
        <p:spPr>
          <a:xfrm>
            <a:off x="914400" y="1035844"/>
            <a:ext cx="298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AI 给的是通用答案，不是你领域的答案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0"/>
          <p:cNvSpPr txBox="1"/>
          <p:nvPr/>
        </p:nvSpPr>
        <p:spPr>
          <a:xfrm>
            <a:off x="617934" y="1280517"/>
            <a:ext cx="448850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问 AI "怎么炒股"，给的是教科书答案 · 问 AI "帮我写营销文案"，写出来像机器人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0"/>
          <p:cNvSpPr txBox="1"/>
          <p:nvPr/>
        </p:nvSpPr>
        <p:spPr>
          <a:xfrm>
            <a:off x="617934" y="1466255"/>
            <a:ext cx="23812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根本原因：AI 没有你的专业知识和行业经验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0"/>
          <p:cNvSpPr/>
          <p:nvPr/>
        </p:nvSpPr>
        <p:spPr>
          <a:xfrm>
            <a:off x="457200" y="1900238"/>
            <a:ext cx="8229600" cy="928688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0"/>
          <p:cNvSpPr/>
          <p:nvPr/>
        </p:nvSpPr>
        <p:spPr>
          <a:xfrm>
            <a:off x="457200" y="1900238"/>
            <a:ext cx="42863" cy="928688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0"/>
          <p:cNvSpPr txBox="1"/>
          <p:nvPr/>
        </p:nvSpPr>
        <p:spPr>
          <a:xfrm>
            <a:off x="7809305" y="2177415"/>
            <a:ext cx="78605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0"/>
          <p:cNvSpPr/>
          <p:nvPr/>
        </p:nvSpPr>
        <p:spPr>
          <a:xfrm>
            <a:off x="663965" y="2060972"/>
            <a:ext cx="143684" cy="181906"/>
          </a:xfrm>
          <a:custGeom>
            <a:rect b="b" l="l" r="r" t="t"/>
            <a:pathLst>
              <a:path extrusionOk="0" h="242542" w="191578">
                <a:moveTo>
                  <a:pt x="107695" y="0"/>
                </a:moveTo>
                <a:lnTo>
                  <a:pt x="107910" y="12"/>
                </a:lnTo>
                <a:lnTo>
                  <a:pt x="108100" y="24"/>
                </a:lnTo>
                <a:lnTo>
                  <a:pt x="109088" y="83"/>
                </a:lnTo>
                <a:lnTo>
                  <a:pt x="109219" y="107"/>
                </a:lnTo>
                <a:lnTo>
                  <a:pt x="109350" y="107"/>
                </a:lnTo>
                <a:lnTo>
                  <a:pt x="109803" y="214"/>
                </a:lnTo>
                <a:lnTo>
                  <a:pt x="110422" y="310"/>
                </a:lnTo>
                <a:lnTo>
                  <a:pt x="110612" y="381"/>
                </a:lnTo>
                <a:lnTo>
                  <a:pt x="110743" y="393"/>
                </a:lnTo>
                <a:lnTo>
                  <a:pt x="111089" y="524"/>
                </a:lnTo>
                <a:lnTo>
                  <a:pt x="111708" y="691"/>
                </a:lnTo>
                <a:lnTo>
                  <a:pt x="111934" y="798"/>
                </a:lnTo>
                <a:lnTo>
                  <a:pt x="112113" y="845"/>
                </a:lnTo>
                <a:lnTo>
                  <a:pt x="112446" y="1012"/>
                </a:lnTo>
                <a:lnTo>
                  <a:pt x="112922" y="1214"/>
                </a:lnTo>
                <a:lnTo>
                  <a:pt x="113172" y="1357"/>
                </a:lnTo>
                <a:lnTo>
                  <a:pt x="113434" y="1476"/>
                </a:lnTo>
                <a:lnTo>
                  <a:pt x="113708" y="1655"/>
                </a:lnTo>
                <a:lnTo>
                  <a:pt x="114077" y="1857"/>
                </a:lnTo>
                <a:lnTo>
                  <a:pt x="114482" y="2143"/>
                </a:lnTo>
                <a:lnTo>
                  <a:pt x="114696" y="2274"/>
                </a:lnTo>
                <a:lnTo>
                  <a:pt x="114851" y="2417"/>
                </a:lnTo>
                <a:lnTo>
                  <a:pt x="115137" y="2619"/>
                </a:lnTo>
                <a:lnTo>
                  <a:pt x="115589" y="3024"/>
                </a:lnTo>
                <a:lnTo>
                  <a:pt x="115851" y="3227"/>
                </a:lnTo>
                <a:lnTo>
                  <a:pt x="115946" y="3346"/>
                </a:lnTo>
                <a:lnTo>
                  <a:pt x="116113" y="3489"/>
                </a:lnTo>
                <a:lnTo>
                  <a:pt x="116542" y="3977"/>
                </a:lnTo>
                <a:lnTo>
                  <a:pt x="116851" y="4298"/>
                </a:lnTo>
                <a:lnTo>
                  <a:pt x="116923" y="4405"/>
                </a:lnTo>
                <a:cubicBezTo>
                  <a:pt x="118351" y="6156"/>
                  <a:pt x="119256" y="8239"/>
                  <a:pt x="119518" y="10513"/>
                </a:cubicBezTo>
                <a:lnTo>
                  <a:pt x="119530" y="10656"/>
                </a:lnTo>
                <a:lnTo>
                  <a:pt x="119554" y="11144"/>
                </a:lnTo>
                <a:lnTo>
                  <a:pt x="119602" y="11906"/>
                </a:lnTo>
                <a:lnTo>
                  <a:pt x="119602" y="83344"/>
                </a:lnTo>
                <a:lnTo>
                  <a:pt x="179133" y="83344"/>
                </a:lnTo>
                <a:cubicBezTo>
                  <a:pt x="183380" y="83343"/>
                  <a:pt x="187306" y="85604"/>
                  <a:pt x="189436" y="89278"/>
                </a:cubicBezTo>
                <a:cubicBezTo>
                  <a:pt x="191566" y="92952"/>
                  <a:pt x="191578" y="97482"/>
                  <a:pt x="189467" y="101167"/>
                </a:cubicBezTo>
                <a:lnTo>
                  <a:pt x="188753" y="102251"/>
                </a:lnTo>
                <a:lnTo>
                  <a:pt x="93503" y="233220"/>
                </a:lnTo>
                <a:cubicBezTo>
                  <a:pt x="86740" y="242542"/>
                  <a:pt x="71977" y="237744"/>
                  <a:pt x="71977" y="226219"/>
                </a:cubicBezTo>
                <a:lnTo>
                  <a:pt x="71977" y="154781"/>
                </a:lnTo>
                <a:lnTo>
                  <a:pt x="12445" y="154781"/>
                </a:lnTo>
                <a:cubicBezTo>
                  <a:pt x="8198" y="154782"/>
                  <a:pt x="4273" y="152521"/>
                  <a:pt x="2142" y="148847"/>
                </a:cubicBezTo>
                <a:cubicBezTo>
                  <a:pt x="12" y="145173"/>
                  <a:pt x="0" y="140643"/>
                  <a:pt x="2111" y="136958"/>
                </a:cubicBezTo>
                <a:lnTo>
                  <a:pt x="2825" y="135874"/>
                </a:lnTo>
                <a:lnTo>
                  <a:pt x="98075" y="4905"/>
                </a:lnTo>
                <a:lnTo>
                  <a:pt x="98194" y="4751"/>
                </a:lnTo>
                <a:lnTo>
                  <a:pt x="98408" y="4465"/>
                </a:lnTo>
                <a:lnTo>
                  <a:pt x="98801" y="4012"/>
                </a:lnTo>
                <a:lnTo>
                  <a:pt x="99016" y="3750"/>
                </a:lnTo>
                <a:lnTo>
                  <a:pt x="99123" y="3655"/>
                </a:lnTo>
                <a:lnTo>
                  <a:pt x="99278" y="3489"/>
                </a:lnTo>
                <a:lnTo>
                  <a:pt x="99754" y="3060"/>
                </a:lnTo>
                <a:lnTo>
                  <a:pt x="100087" y="2750"/>
                </a:lnTo>
                <a:lnTo>
                  <a:pt x="100182" y="2679"/>
                </a:lnTo>
                <a:cubicBezTo>
                  <a:pt x="101578" y="1537"/>
                  <a:pt x="103215" y="727"/>
                  <a:pt x="104969" y="310"/>
                </a:cubicBezTo>
                <a:lnTo>
                  <a:pt x="105100" y="298"/>
                </a:lnTo>
                <a:lnTo>
                  <a:pt x="105421" y="238"/>
                </a:lnTo>
                <a:lnTo>
                  <a:pt x="106302" y="83"/>
                </a:lnTo>
                <a:lnTo>
                  <a:pt x="106433" y="71"/>
                </a:lnTo>
                <a:lnTo>
                  <a:pt x="106921" y="48"/>
                </a:lnTo>
                <a:close/>
              </a:path>
            </a:pathLst>
          </a:cu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0"/>
          <p:cNvSpPr txBox="1"/>
          <p:nvPr/>
        </p:nvSpPr>
        <p:spPr>
          <a:xfrm>
            <a:off x="914400" y="2078831"/>
            <a:ext cx="261639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每次都要重新解释背景，效率极低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0"/>
          <p:cNvSpPr txBox="1"/>
          <p:nvPr/>
        </p:nvSpPr>
        <p:spPr>
          <a:xfrm>
            <a:off x="617934" y="2323505"/>
            <a:ext cx="376761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每次新对话，AI 又变成"新同事" · 昨天讲过的事，今天还要再讲一遍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0"/>
          <p:cNvSpPr txBox="1"/>
          <p:nvPr/>
        </p:nvSpPr>
        <p:spPr>
          <a:xfrm>
            <a:off x="617934" y="2509242"/>
            <a:ext cx="25229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背景信息丢失 → 输出质量差 → 用完一次就放弃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0"/>
          <p:cNvSpPr/>
          <p:nvPr/>
        </p:nvSpPr>
        <p:spPr>
          <a:xfrm>
            <a:off x="457200" y="2943225"/>
            <a:ext cx="8229600" cy="928688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40"/>
          <p:cNvSpPr/>
          <p:nvPr/>
        </p:nvSpPr>
        <p:spPr>
          <a:xfrm>
            <a:off x="457200" y="2943225"/>
            <a:ext cx="42863" cy="928688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0"/>
          <p:cNvSpPr txBox="1"/>
          <p:nvPr/>
        </p:nvSpPr>
        <p:spPr>
          <a:xfrm>
            <a:off x="7809305" y="3220402"/>
            <a:ext cx="78605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5" name="Google Shape;345;p40"/>
          <p:cNvGrpSpPr/>
          <p:nvPr/>
        </p:nvGrpSpPr>
        <p:grpSpPr>
          <a:xfrm>
            <a:off x="655439" y="3112889"/>
            <a:ext cx="160735" cy="160735"/>
            <a:chOff x="873919" y="4150519"/>
            <a:chExt cx="214313" cy="214313"/>
          </a:xfrm>
        </p:grpSpPr>
        <p:sp>
          <p:nvSpPr>
            <p:cNvPr id="346" name="Google Shape;346;p40"/>
            <p:cNvSpPr/>
            <p:nvPr/>
          </p:nvSpPr>
          <p:spPr>
            <a:xfrm>
              <a:off x="873919" y="4293394"/>
              <a:ext cx="71438" cy="71438"/>
            </a:xfrm>
            <a:custGeom>
              <a:rect b="b" l="l" r="r" t="t"/>
              <a:pathLst>
                <a:path extrusionOk="0" h="71438" w="71438">
                  <a:moveTo>
                    <a:pt x="11906" y="0"/>
                  </a:moveTo>
                  <a:cubicBezTo>
                    <a:pt x="18482" y="0"/>
                    <a:pt x="23812" y="5331"/>
                    <a:pt x="23812" y="11906"/>
                  </a:cubicBezTo>
                  <a:lnTo>
                    <a:pt x="23812" y="35719"/>
                  </a:lnTo>
                  <a:cubicBezTo>
                    <a:pt x="23812" y="42294"/>
                    <a:pt x="29143" y="47625"/>
                    <a:pt x="35719" y="47625"/>
                  </a:cubicBezTo>
                  <a:lnTo>
                    <a:pt x="59531" y="47625"/>
                  </a:lnTo>
                  <a:cubicBezTo>
                    <a:pt x="66107" y="47625"/>
                    <a:pt x="71438" y="52956"/>
                    <a:pt x="71438" y="59531"/>
                  </a:cubicBezTo>
                  <a:cubicBezTo>
                    <a:pt x="71438" y="66107"/>
                    <a:pt x="66107" y="71438"/>
                    <a:pt x="59531" y="71438"/>
                  </a:cubicBezTo>
                  <a:lnTo>
                    <a:pt x="35719" y="71438"/>
                  </a:lnTo>
                  <a:cubicBezTo>
                    <a:pt x="15992" y="71438"/>
                    <a:pt x="0" y="55446"/>
                    <a:pt x="0" y="35719"/>
                  </a:cubicBezTo>
                  <a:lnTo>
                    <a:pt x="0" y="11906"/>
                  </a:lnTo>
                  <a:cubicBezTo>
                    <a:pt x="0" y="5331"/>
                    <a:pt x="5331" y="0"/>
                    <a:pt x="11906" y="0"/>
                  </a:cubicBezTo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1016794" y="4293394"/>
              <a:ext cx="71438" cy="71438"/>
            </a:xfrm>
            <a:custGeom>
              <a:rect b="b" l="l" r="r" t="t"/>
              <a:pathLst>
                <a:path extrusionOk="0" h="71438" w="71438">
                  <a:moveTo>
                    <a:pt x="59531" y="0"/>
                  </a:moveTo>
                  <a:cubicBezTo>
                    <a:pt x="66107" y="0"/>
                    <a:pt x="71438" y="5331"/>
                    <a:pt x="71438" y="11906"/>
                  </a:cubicBezTo>
                  <a:lnTo>
                    <a:pt x="71438" y="35719"/>
                  </a:lnTo>
                  <a:cubicBezTo>
                    <a:pt x="71438" y="55446"/>
                    <a:pt x="55446" y="71438"/>
                    <a:pt x="35719" y="71438"/>
                  </a:cubicBezTo>
                  <a:lnTo>
                    <a:pt x="11906" y="71438"/>
                  </a:lnTo>
                  <a:cubicBezTo>
                    <a:pt x="5331" y="71438"/>
                    <a:pt x="0" y="66107"/>
                    <a:pt x="0" y="59531"/>
                  </a:cubicBezTo>
                  <a:cubicBezTo>
                    <a:pt x="0" y="52956"/>
                    <a:pt x="5331" y="47625"/>
                    <a:pt x="11906" y="47625"/>
                  </a:cubicBezTo>
                  <a:lnTo>
                    <a:pt x="35719" y="47625"/>
                  </a:lnTo>
                  <a:cubicBezTo>
                    <a:pt x="42294" y="47625"/>
                    <a:pt x="47625" y="42294"/>
                    <a:pt x="47625" y="35719"/>
                  </a:cubicBezTo>
                  <a:lnTo>
                    <a:pt x="47625" y="11906"/>
                  </a:lnTo>
                  <a:cubicBezTo>
                    <a:pt x="47625" y="5331"/>
                    <a:pt x="52956" y="0"/>
                    <a:pt x="59531" y="0"/>
                  </a:cubicBezTo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40"/>
            <p:cNvSpPr/>
            <p:nvPr/>
          </p:nvSpPr>
          <p:spPr>
            <a:xfrm>
              <a:off x="921544" y="4198144"/>
              <a:ext cx="120086" cy="120086"/>
            </a:xfrm>
            <a:custGeom>
              <a:rect b="b" l="l" r="r" t="t"/>
              <a:pathLst>
                <a:path extrusionOk="0" h="120086" w="120086">
                  <a:moveTo>
                    <a:pt x="47625" y="0"/>
                  </a:moveTo>
                  <a:cubicBezTo>
                    <a:pt x="64716" y="0"/>
                    <a:pt x="80497" y="9158"/>
                    <a:pt x="88976" y="23998"/>
                  </a:cubicBezTo>
                  <a:cubicBezTo>
                    <a:pt x="97455" y="38837"/>
                    <a:pt x="97332" y="57083"/>
                    <a:pt x="88654" y="71807"/>
                  </a:cubicBezTo>
                  <a:lnTo>
                    <a:pt x="115574" y="98739"/>
                  </a:lnTo>
                  <a:cubicBezTo>
                    <a:pt x="120086" y="103410"/>
                    <a:pt x="120022" y="110836"/>
                    <a:pt x="115429" y="115429"/>
                  </a:cubicBezTo>
                  <a:cubicBezTo>
                    <a:pt x="110836" y="120022"/>
                    <a:pt x="103410" y="120086"/>
                    <a:pt x="98739" y="115574"/>
                  </a:cubicBezTo>
                  <a:lnTo>
                    <a:pt x="71807" y="88666"/>
                  </a:lnTo>
                  <a:lnTo>
                    <a:pt x="71438" y="88868"/>
                  </a:lnTo>
                  <a:cubicBezTo>
                    <a:pt x="56702" y="97376"/>
                    <a:pt x="38548" y="97376"/>
                    <a:pt x="23813" y="88869"/>
                  </a:cubicBezTo>
                  <a:cubicBezTo>
                    <a:pt x="9078" y="80361"/>
                    <a:pt x="0" y="64640"/>
                    <a:pt x="0" y="47625"/>
                  </a:cubicBezTo>
                  <a:lnTo>
                    <a:pt x="60" y="45244"/>
                  </a:lnTo>
                  <a:cubicBezTo>
                    <a:pt x="1328" y="19899"/>
                    <a:pt x="22248" y="0"/>
                    <a:pt x="47625" y="0"/>
                  </a:cubicBezTo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0"/>
            <p:cNvSpPr/>
            <p:nvPr/>
          </p:nvSpPr>
          <p:spPr>
            <a:xfrm>
              <a:off x="873919" y="4150519"/>
              <a:ext cx="71438" cy="71438"/>
            </a:xfrm>
            <a:custGeom>
              <a:rect b="b" l="l" r="r" t="t"/>
              <a:pathLst>
                <a:path extrusionOk="0" h="71438" w="71438">
                  <a:moveTo>
                    <a:pt x="59531" y="0"/>
                  </a:moveTo>
                  <a:cubicBezTo>
                    <a:pt x="66107" y="0"/>
                    <a:pt x="71438" y="5331"/>
                    <a:pt x="71438" y="11906"/>
                  </a:cubicBezTo>
                  <a:cubicBezTo>
                    <a:pt x="71438" y="18482"/>
                    <a:pt x="66107" y="23812"/>
                    <a:pt x="59531" y="23812"/>
                  </a:cubicBezTo>
                  <a:lnTo>
                    <a:pt x="35719" y="23812"/>
                  </a:lnTo>
                  <a:cubicBezTo>
                    <a:pt x="29143" y="23812"/>
                    <a:pt x="23812" y="29143"/>
                    <a:pt x="23812" y="35719"/>
                  </a:cubicBezTo>
                  <a:lnTo>
                    <a:pt x="23812" y="59531"/>
                  </a:lnTo>
                  <a:cubicBezTo>
                    <a:pt x="23812" y="66107"/>
                    <a:pt x="18482" y="71438"/>
                    <a:pt x="11906" y="71438"/>
                  </a:cubicBezTo>
                  <a:cubicBezTo>
                    <a:pt x="5331" y="71438"/>
                    <a:pt x="0" y="66107"/>
                    <a:pt x="0" y="59531"/>
                  </a:cubicBezTo>
                  <a:lnTo>
                    <a:pt x="0" y="35719"/>
                  </a:lnTo>
                  <a:cubicBezTo>
                    <a:pt x="0" y="15992"/>
                    <a:pt x="15992" y="0"/>
                    <a:pt x="35719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40"/>
            <p:cNvSpPr/>
            <p:nvPr/>
          </p:nvSpPr>
          <p:spPr>
            <a:xfrm>
              <a:off x="1016794" y="4150519"/>
              <a:ext cx="71438" cy="71438"/>
            </a:xfrm>
            <a:custGeom>
              <a:rect b="b" l="l" r="r" t="t"/>
              <a:pathLst>
                <a:path extrusionOk="0" h="71438" w="71438">
                  <a:moveTo>
                    <a:pt x="35719" y="0"/>
                  </a:moveTo>
                  <a:cubicBezTo>
                    <a:pt x="55446" y="0"/>
                    <a:pt x="71438" y="15992"/>
                    <a:pt x="71438" y="35719"/>
                  </a:cubicBezTo>
                  <a:lnTo>
                    <a:pt x="71438" y="59531"/>
                  </a:lnTo>
                  <a:cubicBezTo>
                    <a:pt x="71438" y="66107"/>
                    <a:pt x="66107" y="71438"/>
                    <a:pt x="59531" y="71438"/>
                  </a:cubicBezTo>
                  <a:cubicBezTo>
                    <a:pt x="52956" y="71438"/>
                    <a:pt x="47625" y="66107"/>
                    <a:pt x="47625" y="59531"/>
                  </a:cubicBezTo>
                  <a:lnTo>
                    <a:pt x="47625" y="35719"/>
                  </a:lnTo>
                  <a:cubicBezTo>
                    <a:pt x="47625" y="29143"/>
                    <a:pt x="42294" y="23812"/>
                    <a:pt x="35719" y="23812"/>
                  </a:cubicBezTo>
                  <a:lnTo>
                    <a:pt x="11906" y="23812"/>
                  </a:lnTo>
                  <a:cubicBezTo>
                    <a:pt x="5331" y="23812"/>
                    <a:pt x="0" y="18482"/>
                    <a:pt x="0" y="11906"/>
                  </a:cubicBezTo>
                  <a:cubicBezTo>
                    <a:pt x="0" y="5331"/>
                    <a:pt x="5331" y="0"/>
                    <a:pt x="11906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1" name="Google Shape;351;p40"/>
          <p:cNvSpPr txBox="1"/>
          <p:nvPr/>
        </p:nvSpPr>
        <p:spPr>
          <a:xfrm>
            <a:off x="914400" y="3121819"/>
            <a:ext cx="25991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会用 AI 聊天，但不会用 AI 造产品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0"/>
          <p:cNvSpPr txBox="1"/>
          <p:nvPr/>
        </p:nvSpPr>
        <p:spPr>
          <a:xfrm>
            <a:off x="617934" y="3366492"/>
            <a:ext cx="35889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AI 工具停留在"对话"阶段 · 没有变成你自己可以交付/变现的产品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0"/>
          <p:cNvSpPr txBox="1"/>
          <p:nvPr/>
        </p:nvSpPr>
        <p:spPr>
          <a:xfrm>
            <a:off x="617934" y="3552230"/>
            <a:ext cx="188219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工具会用了，但不知道怎么"造枪"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0"/>
          <p:cNvSpPr/>
          <p:nvPr/>
        </p:nvSpPr>
        <p:spPr>
          <a:xfrm>
            <a:off x="457200" y="4014788"/>
            <a:ext cx="8229600" cy="428625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9525">
            <a:solidFill>
              <a:srgbClr val="EA580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0"/>
          <p:cNvSpPr txBox="1"/>
          <p:nvPr/>
        </p:nvSpPr>
        <p:spPr>
          <a:xfrm>
            <a:off x="2299972" y="4155519"/>
            <a:ext cx="454405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课程设计目标：把你的方法论变成 AI 可以理解并执行的产品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0"/>
          <p:cNvSpPr txBox="1"/>
          <p:nvPr/>
        </p:nvSpPr>
        <p:spPr>
          <a:xfrm>
            <a:off x="8405176" y="4921687"/>
            <a:ext cx="290912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4 / 17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1"/>
          <p:cNvSpPr/>
          <p:nvPr/>
        </p:nvSpPr>
        <p:spPr>
          <a:xfrm>
            <a:off x="0" y="0"/>
            <a:ext cx="9144000" cy="429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1"/>
          <p:cNvSpPr txBox="1"/>
          <p:nvPr/>
        </p:nvSpPr>
        <p:spPr>
          <a:xfrm>
            <a:off x="2499044" y="157163"/>
            <a:ext cx="414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AI用法三层：你在哪一层？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1"/>
          <p:cNvSpPr txBox="1"/>
          <p:nvPr/>
        </p:nvSpPr>
        <p:spPr>
          <a:xfrm>
            <a:off x="3436715" y="510064"/>
            <a:ext cx="2270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95% 的人停在第一层 — 你可以做得更多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1"/>
          <p:cNvSpPr/>
          <p:nvPr/>
        </p:nvSpPr>
        <p:spPr>
          <a:xfrm>
            <a:off x="1000125" y="4314825"/>
            <a:ext cx="4143300" cy="257100"/>
          </a:xfrm>
          <a:prstGeom prst="ellipse">
            <a:avLst/>
          </a:prstGeom>
          <a:solidFill>
            <a:srgbClr val="1C1917">
              <a:alpha val="588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1"/>
          <p:cNvSpPr/>
          <p:nvPr/>
        </p:nvSpPr>
        <p:spPr>
          <a:xfrm>
            <a:off x="1750219" y="821531"/>
            <a:ext cx="2643188" cy="1357313"/>
          </a:xfrm>
          <a:custGeom>
            <a:rect b="b" l="l" r="r" t="t"/>
            <a:pathLst>
              <a:path extrusionOk="0" h="1809750" w="3524250">
                <a:moveTo>
                  <a:pt x="1762125" y="0"/>
                </a:moveTo>
                <a:lnTo>
                  <a:pt x="0" y="1809750"/>
                </a:lnTo>
                <a:lnTo>
                  <a:pt x="3524250" y="1809750"/>
                </a:lnTo>
                <a:close/>
              </a:path>
            </a:pathLst>
          </a:custGeom>
          <a:solidFill>
            <a:srgbClr val="C2410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1"/>
          <p:cNvSpPr/>
          <p:nvPr/>
        </p:nvSpPr>
        <p:spPr>
          <a:xfrm>
            <a:off x="2393156" y="821531"/>
            <a:ext cx="1357313" cy="714375"/>
          </a:xfrm>
          <a:custGeom>
            <a:rect b="b" l="l" r="r" t="t"/>
            <a:pathLst>
              <a:path extrusionOk="0" h="952500" w="1809750">
                <a:moveTo>
                  <a:pt x="904875" y="0"/>
                </a:moveTo>
                <a:lnTo>
                  <a:pt x="0" y="952500"/>
                </a:lnTo>
                <a:lnTo>
                  <a:pt x="1809750" y="952500"/>
                </a:lnTo>
                <a:close/>
              </a:path>
            </a:pathLst>
          </a:cu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1"/>
          <p:cNvSpPr txBox="1"/>
          <p:nvPr/>
        </p:nvSpPr>
        <p:spPr>
          <a:xfrm>
            <a:off x="2880664" y="1472327"/>
            <a:ext cx="382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第三层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1"/>
          <p:cNvSpPr txBox="1"/>
          <p:nvPr/>
        </p:nvSpPr>
        <p:spPr>
          <a:xfrm>
            <a:off x="2639160" y="1607344"/>
            <a:ext cx="86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给AI写技能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1"/>
          <p:cNvSpPr txBox="1"/>
          <p:nvPr/>
        </p:nvSpPr>
        <p:spPr>
          <a:xfrm>
            <a:off x="2795528" y="1807012"/>
            <a:ext cx="55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EF3C7"/>
                </a:solidFill>
                <a:latin typeface="Arial"/>
                <a:ea typeface="Arial"/>
                <a:cs typeface="Arial"/>
                <a:sym typeface="Arial"/>
              </a:rPr>
              <a:t>Skill · MCP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1"/>
          <p:cNvSpPr/>
          <p:nvPr/>
        </p:nvSpPr>
        <p:spPr>
          <a:xfrm>
            <a:off x="1750219" y="2178844"/>
            <a:ext cx="2643188" cy="7144"/>
          </a:xfrm>
          <a:custGeom>
            <a:rect b="b" l="l" r="r" t="t"/>
            <a:pathLst>
              <a:path extrusionOk="0" h="9525" w="3524250">
                <a:moveTo>
                  <a:pt x="0" y="0"/>
                </a:moveTo>
                <a:lnTo>
                  <a:pt x="3524250" y="0"/>
                </a:lnTo>
              </a:path>
            </a:pathLst>
          </a:custGeom>
          <a:noFill/>
          <a:ln cap="flat" cmpd="sng" w="1905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1"/>
          <p:cNvSpPr/>
          <p:nvPr/>
        </p:nvSpPr>
        <p:spPr>
          <a:xfrm>
            <a:off x="1750219" y="2178844"/>
            <a:ext cx="2643188" cy="1193006"/>
          </a:xfrm>
          <a:custGeom>
            <a:rect b="b" l="l" r="r" t="t"/>
            <a:pathLst>
              <a:path extrusionOk="0" h="1590675" w="3524250">
                <a:moveTo>
                  <a:pt x="0" y="0"/>
                </a:moveTo>
                <a:lnTo>
                  <a:pt x="3524250" y="0"/>
                </a:lnTo>
                <a:lnTo>
                  <a:pt x="2562225" y="1590675"/>
                </a:lnTo>
                <a:lnTo>
                  <a:pt x="962025" y="1590675"/>
                </a:lnTo>
                <a:close/>
              </a:path>
            </a:pathLst>
          </a:custGeom>
          <a:solidFill>
            <a:srgbClr val="EA580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1"/>
          <p:cNvSpPr txBox="1"/>
          <p:nvPr/>
        </p:nvSpPr>
        <p:spPr>
          <a:xfrm>
            <a:off x="2880664" y="2601039"/>
            <a:ext cx="382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第二层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1"/>
          <p:cNvSpPr txBox="1"/>
          <p:nvPr/>
        </p:nvSpPr>
        <p:spPr>
          <a:xfrm>
            <a:off x="2391888" y="2723912"/>
            <a:ext cx="135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在文件夹里工作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1"/>
          <p:cNvSpPr txBox="1"/>
          <p:nvPr/>
        </p:nvSpPr>
        <p:spPr>
          <a:xfrm>
            <a:off x="2643339" y="2950012"/>
            <a:ext cx="856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EF3C7"/>
                </a:solidFill>
                <a:latin typeface="Arial"/>
                <a:ea typeface="Arial"/>
                <a:cs typeface="Arial"/>
                <a:sym typeface="Arial"/>
              </a:rPr>
              <a:t>让AI读写本地文件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1"/>
          <p:cNvSpPr txBox="1"/>
          <p:nvPr/>
        </p:nvSpPr>
        <p:spPr>
          <a:xfrm>
            <a:off x="2597950" y="3150037"/>
            <a:ext cx="947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DDDB0"/>
                </a:solidFill>
                <a:latin typeface="Arial"/>
                <a:ea typeface="Arial"/>
                <a:cs typeface="Arial"/>
                <a:sym typeface="Arial"/>
              </a:rPr>
              <a:t>← 目标是到达这里 →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41"/>
          <p:cNvSpPr/>
          <p:nvPr/>
        </p:nvSpPr>
        <p:spPr>
          <a:xfrm>
            <a:off x="2471738" y="3371850"/>
            <a:ext cx="1200150" cy="7144"/>
          </a:xfrm>
          <a:custGeom>
            <a:rect b="b" l="l" r="r" t="t"/>
            <a:pathLst>
              <a:path extrusionOk="0" h="9525"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cap="flat" cmpd="sng" w="1905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41"/>
          <p:cNvSpPr/>
          <p:nvPr/>
        </p:nvSpPr>
        <p:spPr>
          <a:xfrm>
            <a:off x="928688" y="3371850"/>
            <a:ext cx="4286250" cy="985838"/>
          </a:xfrm>
          <a:custGeom>
            <a:rect b="b" l="l" r="r" t="t"/>
            <a:pathLst>
              <a:path extrusionOk="0" h="1314450" w="5715000">
                <a:moveTo>
                  <a:pt x="2057400" y="0"/>
                </a:moveTo>
                <a:lnTo>
                  <a:pt x="3657600" y="0"/>
                </a:lnTo>
                <a:lnTo>
                  <a:pt x="5715000" y="1314450"/>
                </a:lnTo>
                <a:lnTo>
                  <a:pt x="0" y="1314450"/>
                </a:lnTo>
                <a:close/>
              </a:path>
            </a:pathLst>
          </a:cu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1"/>
          <p:cNvSpPr txBox="1"/>
          <p:nvPr/>
        </p:nvSpPr>
        <p:spPr>
          <a:xfrm>
            <a:off x="2880664" y="3715464"/>
            <a:ext cx="382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第一层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1"/>
          <p:cNvSpPr txBox="1"/>
          <p:nvPr/>
        </p:nvSpPr>
        <p:spPr>
          <a:xfrm>
            <a:off x="2847642" y="3840480"/>
            <a:ext cx="44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聊天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1"/>
          <p:cNvSpPr txBox="1"/>
          <p:nvPr/>
        </p:nvSpPr>
        <p:spPr>
          <a:xfrm>
            <a:off x="2304252" y="4071581"/>
            <a:ext cx="1535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7ED"/>
                </a:solidFill>
                <a:latin typeface="Arial"/>
                <a:ea typeface="Arial"/>
                <a:cs typeface="Arial"/>
                <a:sym typeface="Arial"/>
              </a:rPr>
              <a:t>ChatGPT · Claude · 豆包网页版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41"/>
          <p:cNvSpPr/>
          <p:nvPr/>
        </p:nvSpPr>
        <p:spPr>
          <a:xfrm>
            <a:off x="2214563" y="4257675"/>
            <a:ext cx="1714500" cy="185700"/>
          </a:xfrm>
          <a:prstGeom prst="roundRect">
            <a:avLst>
              <a:gd fmla="val 50000" name="adj"/>
            </a:avLst>
          </a:prstGeom>
          <a:solidFill>
            <a:srgbClr val="1C1917">
              <a:alpha val="2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1"/>
          <p:cNvSpPr txBox="1"/>
          <p:nvPr/>
        </p:nvSpPr>
        <p:spPr>
          <a:xfrm>
            <a:off x="2529866" y="4300181"/>
            <a:ext cx="1083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95%+ 的人停在这一层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1"/>
          <p:cNvSpPr/>
          <p:nvPr/>
        </p:nvSpPr>
        <p:spPr>
          <a:xfrm>
            <a:off x="4393406" y="1357313"/>
            <a:ext cx="1250156" cy="107156"/>
          </a:xfrm>
          <a:custGeom>
            <a:rect b="b" l="l" r="r" t="t"/>
            <a:pathLst>
              <a:path extrusionOk="0" h="142875" w="1666875">
                <a:moveTo>
                  <a:pt x="0" y="142875"/>
                </a:moveTo>
                <a:lnTo>
                  <a:pt x="1666875" y="0"/>
                </a:lnTo>
              </a:path>
            </a:pathLst>
          </a:custGeom>
          <a:noFill/>
          <a:ln cap="flat" cmpd="sng" w="14275">
            <a:solidFill>
              <a:srgbClr val="C2410C">
                <a:alpha val="50196"/>
              </a:srgbClr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41"/>
          <p:cNvSpPr/>
          <p:nvPr/>
        </p:nvSpPr>
        <p:spPr>
          <a:xfrm>
            <a:off x="4393406" y="2571750"/>
            <a:ext cx="1250156" cy="214313"/>
          </a:xfrm>
          <a:custGeom>
            <a:rect b="b" l="l" r="r" t="t"/>
            <a:pathLst>
              <a:path extrusionOk="0" h="285750" w="1666875">
                <a:moveTo>
                  <a:pt x="0" y="285750"/>
                </a:moveTo>
                <a:lnTo>
                  <a:pt x="1666875" y="0"/>
                </a:lnTo>
              </a:path>
            </a:pathLst>
          </a:custGeom>
          <a:noFill/>
          <a:ln cap="flat" cmpd="sng" w="14275">
            <a:solidFill>
              <a:srgbClr val="EA580C">
                <a:alpha val="50196"/>
              </a:srgbClr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41"/>
          <p:cNvSpPr/>
          <p:nvPr/>
        </p:nvSpPr>
        <p:spPr>
          <a:xfrm>
            <a:off x="5214938" y="3786188"/>
            <a:ext cx="428625" cy="71438"/>
          </a:xfrm>
          <a:custGeom>
            <a:rect b="b" l="l" r="r" t="t"/>
            <a:pathLst>
              <a:path extrusionOk="0" h="95250" w="571500">
                <a:moveTo>
                  <a:pt x="0" y="95250"/>
                </a:moveTo>
                <a:lnTo>
                  <a:pt x="571500" y="0"/>
                </a:lnTo>
              </a:path>
            </a:pathLst>
          </a:custGeom>
          <a:noFill/>
          <a:ln cap="flat" cmpd="sng" w="14275">
            <a:solidFill>
              <a:srgbClr val="F97316">
                <a:alpha val="50196"/>
              </a:srgbClr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1"/>
          <p:cNvSpPr/>
          <p:nvPr/>
        </p:nvSpPr>
        <p:spPr>
          <a:xfrm>
            <a:off x="5643563" y="3300413"/>
            <a:ext cx="3143400" cy="1071600"/>
          </a:xfrm>
          <a:prstGeom prst="roundRect">
            <a:avLst>
              <a:gd fmla="val 8000" name="adj"/>
            </a:avLst>
          </a:prstGeom>
          <a:solidFill>
            <a:srgbClr val="FFFBF5"/>
          </a:solidFill>
          <a:ln cap="flat" cmpd="sng" w="14275">
            <a:solidFill>
              <a:srgbClr val="FDDDB0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ctr" dir="5400000" dist="28575">
              <a:srgbClr val="1C1917">
                <a:alpha val="745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1"/>
          <p:cNvSpPr/>
          <p:nvPr/>
        </p:nvSpPr>
        <p:spPr>
          <a:xfrm>
            <a:off x="5643563" y="3300413"/>
            <a:ext cx="42900" cy="1071600"/>
          </a:xfrm>
          <a:prstGeom prst="roundRect">
            <a:avLst>
              <a:gd fmla="val 50000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41"/>
          <p:cNvSpPr/>
          <p:nvPr/>
        </p:nvSpPr>
        <p:spPr>
          <a:xfrm>
            <a:off x="5715000" y="3300413"/>
            <a:ext cx="3100500" cy="257100"/>
          </a:xfrm>
          <a:prstGeom prst="roundRect">
            <a:avLst>
              <a:gd fmla="val 33333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41"/>
          <p:cNvSpPr/>
          <p:nvPr/>
        </p:nvSpPr>
        <p:spPr>
          <a:xfrm>
            <a:off x="5715000" y="3429000"/>
            <a:ext cx="3100500" cy="1287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1"/>
          <p:cNvSpPr txBox="1"/>
          <p:nvPr/>
        </p:nvSpPr>
        <p:spPr>
          <a:xfrm>
            <a:off x="5832872" y="3380780"/>
            <a:ext cx="1884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第一层：聊天 | 95%+ 用户在这里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1"/>
          <p:cNvSpPr txBox="1"/>
          <p:nvPr/>
        </p:nvSpPr>
        <p:spPr>
          <a:xfrm>
            <a:off x="5762864" y="3621524"/>
            <a:ext cx="1727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问问题、得答案，像搜索引擎升级版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1"/>
          <p:cNvSpPr txBox="1"/>
          <p:nvPr/>
        </p:nvSpPr>
        <p:spPr>
          <a:xfrm>
            <a:off x="5762864" y="3778687"/>
            <a:ext cx="1956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AI 对你的文件夹一无所知，只能当场回答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41"/>
          <p:cNvSpPr txBox="1"/>
          <p:nvPr/>
        </p:nvSpPr>
        <p:spPr>
          <a:xfrm>
            <a:off x="5762864" y="3935849"/>
            <a:ext cx="1834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适合：日常问答、灵感生成、简单翻译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41"/>
          <p:cNvSpPr txBox="1"/>
          <p:nvPr/>
        </p:nvSpPr>
        <p:spPr>
          <a:xfrm>
            <a:off x="5762864" y="4121587"/>
            <a:ext cx="194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不能停在这里 — 还有更大的威力等着你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41"/>
          <p:cNvSpPr/>
          <p:nvPr/>
        </p:nvSpPr>
        <p:spPr>
          <a:xfrm>
            <a:off x="5643563" y="2057400"/>
            <a:ext cx="3143400" cy="1157400"/>
          </a:xfrm>
          <a:prstGeom prst="roundRect">
            <a:avLst>
              <a:gd fmla="val 7407" name="adj"/>
            </a:avLst>
          </a:prstGeom>
          <a:solidFill>
            <a:srgbClr val="FFFBF5"/>
          </a:solidFill>
          <a:ln cap="flat" cmpd="sng" w="14275">
            <a:solidFill>
              <a:srgbClr val="FDDDB0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ctr" dir="5400000" dist="28575">
              <a:srgbClr val="1C1917">
                <a:alpha val="745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41"/>
          <p:cNvSpPr/>
          <p:nvPr/>
        </p:nvSpPr>
        <p:spPr>
          <a:xfrm>
            <a:off x="5643563" y="2057400"/>
            <a:ext cx="42900" cy="11574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41"/>
          <p:cNvSpPr/>
          <p:nvPr/>
        </p:nvSpPr>
        <p:spPr>
          <a:xfrm>
            <a:off x="5715000" y="2057400"/>
            <a:ext cx="3100500" cy="271500"/>
          </a:xfrm>
          <a:prstGeom prst="roundRect">
            <a:avLst>
              <a:gd fmla="val 31579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1"/>
          <p:cNvSpPr/>
          <p:nvPr/>
        </p:nvSpPr>
        <p:spPr>
          <a:xfrm>
            <a:off x="5715000" y="2200275"/>
            <a:ext cx="3100500" cy="1287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1"/>
          <p:cNvSpPr txBox="1"/>
          <p:nvPr/>
        </p:nvSpPr>
        <p:spPr>
          <a:xfrm>
            <a:off x="5832872" y="2152055"/>
            <a:ext cx="2059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第二层：在文件夹里工作 | ★ 目标层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41"/>
          <p:cNvSpPr txBox="1"/>
          <p:nvPr/>
        </p:nvSpPr>
        <p:spPr>
          <a:xfrm>
            <a:off x="5762864" y="2407087"/>
            <a:ext cx="19890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让 AI 直接读写你的本地文件夹，实时操作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41"/>
          <p:cNvSpPr txBox="1"/>
          <p:nvPr/>
        </p:nvSpPr>
        <p:spPr>
          <a:xfrm>
            <a:off x="5762864" y="2564249"/>
            <a:ext cx="1834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✓ 读文件 — 分析最新版本，不再重复发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1"/>
          <p:cNvSpPr txBox="1"/>
          <p:nvPr/>
        </p:nvSpPr>
        <p:spPr>
          <a:xfrm>
            <a:off x="5762864" y="2721412"/>
            <a:ext cx="2069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✓ 写文件 — 生成 Word/HTML/代码，存本地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1"/>
          <p:cNvSpPr txBox="1"/>
          <p:nvPr/>
        </p:nvSpPr>
        <p:spPr>
          <a:xfrm>
            <a:off x="5762864" y="2878574"/>
            <a:ext cx="2106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✓ 改文件 — 直接修合同/代码，左右看上下文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1"/>
          <p:cNvSpPr txBox="1"/>
          <p:nvPr/>
        </p:nvSpPr>
        <p:spPr>
          <a:xfrm>
            <a:off x="5762878" y="3035724"/>
            <a:ext cx="2595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→ Claude Code / Cowork 带你进入第二层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1"/>
          <p:cNvSpPr/>
          <p:nvPr/>
        </p:nvSpPr>
        <p:spPr>
          <a:xfrm>
            <a:off x="5643563" y="771525"/>
            <a:ext cx="3143400" cy="1200300"/>
          </a:xfrm>
          <a:prstGeom prst="roundRect">
            <a:avLst>
              <a:gd fmla="val 7143" name="adj"/>
            </a:avLst>
          </a:prstGeom>
          <a:solidFill>
            <a:srgbClr val="FFFBF5"/>
          </a:solidFill>
          <a:ln cap="flat" cmpd="sng" w="14275">
            <a:solidFill>
              <a:srgbClr val="FDDDB0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ctr" dir="5400000" dist="28575">
              <a:srgbClr val="1C1917">
                <a:alpha val="745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1"/>
          <p:cNvSpPr/>
          <p:nvPr/>
        </p:nvSpPr>
        <p:spPr>
          <a:xfrm>
            <a:off x="5643563" y="771525"/>
            <a:ext cx="42900" cy="1200300"/>
          </a:xfrm>
          <a:prstGeom prst="roundRect">
            <a:avLst>
              <a:gd fmla="val 50000" name="adj"/>
            </a:avLst>
          </a:prstGeom>
          <a:solidFill>
            <a:srgbClr val="C241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41"/>
          <p:cNvSpPr/>
          <p:nvPr/>
        </p:nvSpPr>
        <p:spPr>
          <a:xfrm>
            <a:off x="5715000" y="771525"/>
            <a:ext cx="3100500" cy="271500"/>
          </a:xfrm>
          <a:prstGeom prst="roundRect">
            <a:avLst>
              <a:gd fmla="val 31579" name="adj"/>
            </a:avLst>
          </a:prstGeom>
          <a:solidFill>
            <a:srgbClr val="C241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41"/>
          <p:cNvSpPr/>
          <p:nvPr/>
        </p:nvSpPr>
        <p:spPr>
          <a:xfrm>
            <a:off x="5715000" y="914400"/>
            <a:ext cx="3100500" cy="1287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41"/>
          <p:cNvSpPr txBox="1"/>
          <p:nvPr/>
        </p:nvSpPr>
        <p:spPr>
          <a:xfrm>
            <a:off x="5832872" y="873323"/>
            <a:ext cx="1878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第三层：给 AI 写技能 | 深度玩家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41"/>
          <p:cNvSpPr txBox="1"/>
          <p:nvPr/>
        </p:nvSpPr>
        <p:spPr>
          <a:xfrm>
            <a:off x="5762864" y="1135499"/>
            <a:ext cx="202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为 AI 写 Skill，把工作流打包成可复用工具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41"/>
          <p:cNvSpPr txBox="1"/>
          <p:nvPr/>
        </p:nvSpPr>
        <p:spPr>
          <a:xfrm>
            <a:off x="5762864" y="1292662"/>
            <a:ext cx="2186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包含：工具定义 · MCP · 系统提示词 · 上下文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1"/>
          <p:cNvSpPr txBox="1"/>
          <p:nvPr/>
        </p:nvSpPr>
        <p:spPr>
          <a:xfrm>
            <a:off x="5762864" y="1449824"/>
            <a:ext cx="2074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"人人都是程序员" — 创造别人也能用的东西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1"/>
          <p:cNvSpPr txBox="1"/>
          <p:nvPr/>
        </p:nvSpPr>
        <p:spPr>
          <a:xfrm>
            <a:off x="5762879" y="1606975"/>
            <a:ext cx="2270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C2410C"/>
                </a:solidFill>
                <a:latin typeface="Arial"/>
                <a:ea typeface="Arial"/>
                <a:cs typeface="Arial"/>
                <a:sym typeface="Arial"/>
              </a:rPr>
              <a:t>→ 今晚示范：把炒股方法论写成 Skill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1"/>
          <p:cNvSpPr txBox="1"/>
          <p:nvPr/>
        </p:nvSpPr>
        <p:spPr>
          <a:xfrm>
            <a:off x="5763577" y="1770221"/>
            <a:ext cx="2003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8A29E"/>
                </a:solidFill>
                <a:latin typeface="Arial"/>
                <a:ea typeface="Arial"/>
                <a:cs typeface="Arial"/>
                <a:sym typeface="Arial"/>
              </a:rPr>
              <a:t>不是所有人都需要到这里 — 但先到第二层再说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1"/>
          <p:cNvSpPr txBox="1"/>
          <p:nvPr/>
        </p:nvSpPr>
        <p:spPr>
          <a:xfrm>
            <a:off x="8790224" y="4978837"/>
            <a:ext cx="136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8A29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8" name="Google Shape;41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8188" y="88753"/>
            <a:ext cx="357187" cy="494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2"/>
          <p:cNvSpPr/>
          <p:nvPr/>
        </p:nvSpPr>
        <p:spPr>
          <a:xfrm>
            <a:off x="2571750" y="428625"/>
            <a:ext cx="4000500" cy="4000500"/>
          </a:xfrm>
          <a:prstGeom prst="ellipse">
            <a:avLst/>
          </a:prstGeom>
          <a:solidFill>
            <a:srgbClr val="EA580C">
              <a:alpha val="313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2"/>
          <p:cNvSpPr/>
          <p:nvPr/>
        </p:nvSpPr>
        <p:spPr>
          <a:xfrm>
            <a:off x="3000375" y="857250"/>
            <a:ext cx="3143250" cy="3143250"/>
          </a:xfrm>
          <a:prstGeom prst="ellipse">
            <a:avLst/>
          </a:prstGeom>
          <a:solidFill>
            <a:srgbClr val="EA580C">
              <a:alpha val="313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6" name="Google Shape;426;p42"/>
          <p:cNvGrpSpPr/>
          <p:nvPr/>
        </p:nvGrpSpPr>
        <p:grpSpPr>
          <a:xfrm>
            <a:off x="696516" y="696516"/>
            <a:ext cx="7750969" cy="3750469"/>
            <a:chOff x="928688" y="928688"/>
            <a:chExt cx="10334625" cy="5000625"/>
          </a:xfrm>
        </p:grpSpPr>
        <p:sp>
          <p:nvSpPr>
            <p:cNvPr id="427" name="Google Shape;427;p42"/>
            <p:cNvSpPr/>
            <p:nvPr/>
          </p:nvSpPr>
          <p:spPr>
            <a:xfrm>
              <a:off x="928688" y="928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42"/>
            <p:cNvSpPr/>
            <p:nvPr/>
          </p:nvSpPr>
          <p:spPr>
            <a:xfrm>
              <a:off x="1309688" y="928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42"/>
            <p:cNvSpPr/>
            <p:nvPr/>
          </p:nvSpPr>
          <p:spPr>
            <a:xfrm>
              <a:off x="1690688" y="928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42"/>
            <p:cNvSpPr/>
            <p:nvPr/>
          </p:nvSpPr>
          <p:spPr>
            <a:xfrm>
              <a:off x="928688" y="1309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42"/>
            <p:cNvSpPr/>
            <p:nvPr/>
          </p:nvSpPr>
          <p:spPr>
            <a:xfrm>
              <a:off x="1309688" y="1309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42"/>
            <p:cNvSpPr/>
            <p:nvPr/>
          </p:nvSpPr>
          <p:spPr>
            <a:xfrm>
              <a:off x="1690688" y="1309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42"/>
            <p:cNvSpPr/>
            <p:nvPr/>
          </p:nvSpPr>
          <p:spPr>
            <a:xfrm>
              <a:off x="10453688" y="5500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42"/>
            <p:cNvSpPr/>
            <p:nvPr/>
          </p:nvSpPr>
          <p:spPr>
            <a:xfrm>
              <a:off x="10834688" y="5500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42"/>
            <p:cNvSpPr/>
            <p:nvPr/>
          </p:nvSpPr>
          <p:spPr>
            <a:xfrm>
              <a:off x="11215688" y="5500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42"/>
            <p:cNvSpPr/>
            <p:nvPr/>
          </p:nvSpPr>
          <p:spPr>
            <a:xfrm>
              <a:off x="10453688" y="5881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42"/>
            <p:cNvSpPr/>
            <p:nvPr/>
          </p:nvSpPr>
          <p:spPr>
            <a:xfrm>
              <a:off x="10834688" y="5881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42"/>
            <p:cNvSpPr/>
            <p:nvPr/>
          </p:nvSpPr>
          <p:spPr>
            <a:xfrm>
              <a:off x="11215688" y="5881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9" name="Google Shape;439;p42"/>
          <p:cNvSpPr txBox="1"/>
          <p:nvPr/>
        </p:nvSpPr>
        <p:spPr>
          <a:xfrm>
            <a:off x="3955825" y="668298"/>
            <a:ext cx="1232350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今晚的核心公式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2"/>
          <p:cNvSpPr txBox="1"/>
          <p:nvPr/>
        </p:nvSpPr>
        <p:spPr>
          <a:xfrm>
            <a:off x="3134678" y="1285875"/>
            <a:ext cx="287464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" sz="45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专业知识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42"/>
          <p:cNvSpPr txBox="1"/>
          <p:nvPr/>
        </p:nvSpPr>
        <p:spPr>
          <a:xfrm>
            <a:off x="4411499" y="1970246"/>
            <a:ext cx="321001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" sz="29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42"/>
          <p:cNvSpPr txBox="1"/>
          <p:nvPr/>
        </p:nvSpPr>
        <p:spPr>
          <a:xfrm>
            <a:off x="3462469" y="2428875"/>
            <a:ext cx="221906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" sz="45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Claude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2"/>
          <p:cNvSpPr txBox="1"/>
          <p:nvPr/>
        </p:nvSpPr>
        <p:spPr>
          <a:xfrm>
            <a:off x="4448538" y="3100388"/>
            <a:ext cx="2469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2"/>
          <p:cNvSpPr/>
          <p:nvPr/>
        </p:nvSpPr>
        <p:spPr>
          <a:xfrm>
            <a:off x="2357438" y="3457575"/>
            <a:ext cx="4429125" cy="51435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2"/>
          <p:cNvSpPr txBox="1"/>
          <p:nvPr/>
        </p:nvSpPr>
        <p:spPr>
          <a:xfrm>
            <a:off x="3544795" y="3553301"/>
            <a:ext cx="205441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可运行 AI 产品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2"/>
          <p:cNvSpPr txBox="1"/>
          <p:nvPr/>
        </p:nvSpPr>
        <p:spPr>
          <a:xfrm>
            <a:off x="2433527" y="4268748"/>
            <a:ext cx="4276945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你懂的领域 + 正确的工具 + 方法论 = 别人做不了、你却能交付的东西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42"/>
          <p:cNvSpPr txBox="1"/>
          <p:nvPr/>
        </p:nvSpPr>
        <p:spPr>
          <a:xfrm>
            <a:off x="8405176" y="4921687"/>
            <a:ext cx="290912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6 / 17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43"/>
          <p:cNvSpPr/>
          <p:nvPr/>
        </p:nvSpPr>
        <p:spPr>
          <a:xfrm>
            <a:off x="457200" y="214313"/>
            <a:ext cx="35719" cy="314325"/>
          </a:xfrm>
          <a:prstGeom prst="roundRect">
            <a:avLst>
              <a:gd fmla="val 4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43"/>
          <p:cNvSpPr txBox="1"/>
          <p:nvPr/>
        </p:nvSpPr>
        <p:spPr>
          <a:xfrm>
            <a:off x="560070" y="195739"/>
            <a:ext cx="311024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什么是 Claude Code？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3"/>
          <p:cNvSpPr txBox="1"/>
          <p:nvPr/>
        </p:nvSpPr>
        <p:spPr>
          <a:xfrm>
            <a:off x="574358" y="488633"/>
            <a:ext cx="2329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今晚的基础工具 · 在你的终端里直接开发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3"/>
          <p:cNvSpPr/>
          <p:nvPr/>
        </p:nvSpPr>
        <p:spPr>
          <a:xfrm>
            <a:off x="457200" y="714375"/>
            <a:ext cx="8229600" cy="7144"/>
          </a:xfrm>
          <a:custGeom>
            <a:rect b="b" l="l" r="r" t="t"/>
            <a:pathLst>
              <a:path extrusionOk="0" h="9525" w="1097280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43"/>
          <p:cNvSpPr/>
          <p:nvPr/>
        </p:nvSpPr>
        <p:spPr>
          <a:xfrm>
            <a:off x="457200" y="842963"/>
            <a:ext cx="3500438" cy="3500438"/>
          </a:xfrm>
          <a:prstGeom prst="roundRect">
            <a:avLst>
              <a:gd fmla="val 244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43"/>
          <p:cNvSpPr/>
          <p:nvPr/>
        </p:nvSpPr>
        <p:spPr>
          <a:xfrm>
            <a:off x="457200" y="842963"/>
            <a:ext cx="3500438" cy="42863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3"/>
          <p:cNvSpPr/>
          <p:nvPr/>
        </p:nvSpPr>
        <p:spPr>
          <a:xfrm>
            <a:off x="1750219" y="1143000"/>
            <a:ext cx="914400" cy="914400"/>
          </a:xfrm>
          <a:prstGeom prst="ellipse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3"/>
          <p:cNvSpPr/>
          <p:nvPr/>
        </p:nvSpPr>
        <p:spPr>
          <a:xfrm>
            <a:off x="1993103" y="1376288"/>
            <a:ext cx="451275" cy="453036"/>
          </a:xfrm>
          <a:custGeom>
            <a:rect b="b" l="l" r="r" t="t"/>
            <a:pathLst>
              <a:path extrusionOk="0" h="604048" w="601700">
                <a:moveTo>
                  <a:pt x="428629" y="51090"/>
                </a:moveTo>
                <a:cubicBezTo>
                  <a:pt x="548723" y="120427"/>
                  <a:pt x="601700" y="265982"/>
                  <a:pt x="554270" y="396292"/>
                </a:cubicBezTo>
                <a:cubicBezTo>
                  <a:pt x="506840" y="526602"/>
                  <a:pt x="372695" y="604048"/>
                  <a:pt x="236129" y="579965"/>
                </a:cubicBezTo>
                <a:cubicBezTo>
                  <a:pt x="99562" y="555882"/>
                  <a:pt x="0" y="437223"/>
                  <a:pt x="4" y="298550"/>
                </a:cubicBezTo>
                <a:lnTo>
                  <a:pt x="146" y="289292"/>
                </a:lnTo>
                <a:cubicBezTo>
                  <a:pt x="3402" y="188907"/>
                  <a:pt x="59120" y="97602"/>
                  <a:pt x="146905" y="48801"/>
                </a:cubicBezTo>
                <a:cubicBezTo>
                  <a:pt x="234689" y="0"/>
                  <a:pt x="341649" y="869"/>
                  <a:pt x="428629" y="51090"/>
                </a:cubicBezTo>
                <a:moveTo>
                  <a:pt x="248806" y="221197"/>
                </a:moveTo>
                <a:cubicBezTo>
                  <a:pt x="237648" y="210042"/>
                  <a:pt x="219560" y="210042"/>
                  <a:pt x="208401" y="221197"/>
                </a:cubicBezTo>
                <a:lnTo>
                  <a:pt x="151251" y="278347"/>
                </a:lnTo>
                <a:cubicBezTo>
                  <a:pt x="140096" y="289506"/>
                  <a:pt x="140096" y="307594"/>
                  <a:pt x="151251" y="318752"/>
                </a:cubicBezTo>
                <a:lnTo>
                  <a:pt x="208401" y="375902"/>
                </a:lnTo>
                <a:cubicBezTo>
                  <a:pt x="219560" y="387058"/>
                  <a:pt x="237648" y="387058"/>
                  <a:pt x="248806" y="375902"/>
                </a:cubicBezTo>
                <a:lnTo>
                  <a:pt x="251178" y="373216"/>
                </a:lnTo>
                <a:cubicBezTo>
                  <a:pt x="260002" y="361841"/>
                  <a:pt x="258985" y="345678"/>
                  <a:pt x="248806" y="335497"/>
                </a:cubicBezTo>
                <a:lnTo>
                  <a:pt x="211887" y="298550"/>
                </a:lnTo>
                <a:lnTo>
                  <a:pt x="248806" y="261602"/>
                </a:lnTo>
                <a:cubicBezTo>
                  <a:pt x="259961" y="250444"/>
                  <a:pt x="259961" y="232356"/>
                  <a:pt x="248806" y="221197"/>
                </a:cubicBezTo>
                <a:moveTo>
                  <a:pt x="363106" y="221197"/>
                </a:moveTo>
                <a:cubicBezTo>
                  <a:pt x="351948" y="210042"/>
                  <a:pt x="333860" y="210042"/>
                  <a:pt x="322701" y="221197"/>
                </a:cubicBezTo>
                <a:lnTo>
                  <a:pt x="320329" y="223883"/>
                </a:lnTo>
                <a:cubicBezTo>
                  <a:pt x="311505" y="235259"/>
                  <a:pt x="312522" y="251422"/>
                  <a:pt x="322701" y="261602"/>
                </a:cubicBezTo>
                <a:lnTo>
                  <a:pt x="359620" y="298550"/>
                </a:lnTo>
                <a:lnTo>
                  <a:pt x="322701" y="335497"/>
                </a:lnTo>
                <a:cubicBezTo>
                  <a:pt x="311872" y="346710"/>
                  <a:pt x="312027" y="364532"/>
                  <a:pt x="323049" y="375554"/>
                </a:cubicBezTo>
                <a:cubicBezTo>
                  <a:pt x="334071" y="386577"/>
                  <a:pt x="351894" y="386732"/>
                  <a:pt x="363106" y="375902"/>
                </a:cubicBezTo>
                <a:lnTo>
                  <a:pt x="420256" y="318752"/>
                </a:lnTo>
                <a:cubicBezTo>
                  <a:pt x="431411" y="307594"/>
                  <a:pt x="431411" y="289506"/>
                  <a:pt x="420256" y="278347"/>
                </a:cubicBezTo>
                <a:close/>
              </a:path>
            </a:pathLst>
          </a:cu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3"/>
          <p:cNvSpPr txBox="1"/>
          <p:nvPr/>
        </p:nvSpPr>
        <p:spPr>
          <a:xfrm>
            <a:off x="1615777" y="2183130"/>
            <a:ext cx="118328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Claude Code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3"/>
          <p:cNvSpPr txBox="1"/>
          <p:nvPr/>
        </p:nvSpPr>
        <p:spPr>
          <a:xfrm>
            <a:off x="1244754" y="2466380"/>
            <a:ext cx="192533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Anthropic 官方出品的 AI 编程工具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3"/>
          <p:cNvSpPr txBox="1"/>
          <p:nvPr/>
        </p:nvSpPr>
        <p:spPr>
          <a:xfrm>
            <a:off x="1565151" y="2637830"/>
            <a:ext cx="128453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直接在终端/IDE 中工作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3"/>
          <p:cNvSpPr/>
          <p:nvPr/>
        </p:nvSpPr>
        <p:spPr>
          <a:xfrm>
            <a:off x="714375" y="2914650"/>
            <a:ext cx="2986088" cy="7144"/>
          </a:xfrm>
          <a:custGeom>
            <a:rect b="b" l="l" r="r" t="t"/>
            <a:pathLst>
              <a:path extrusionOk="0" h="9525" w="3981450">
                <a:moveTo>
                  <a:pt x="0" y="0"/>
                </a:moveTo>
                <a:lnTo>
                  <a:pt x="398145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3"/>
          <p:cNvSpPr/>
          <p:nvPr/>
        </p:nvSpPr>
        <p:spPr>
          <a:xfrm>
            <a:off x="685800" y="3014663"/>
            <a:ext cx="3086100" cy="257175"/>
          </a:xfrm>
          <a:prstGeom prst="roundRect">
            <a:avLst>
              <a:gd fmla="val 16667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3"/>
          <p:cNvSpPr txBox="1"/>
          <p:nvPr/>
        </p:nvSpPr>
        <p:spPr>
          <a:xfrm>
            <a:off x="1073652" y="3076814"/>
            <a:ext cx="231039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A580C"/>
                </a:solidFill>
                <a:latin typeface="Consolas"/>
                <a:ea typeface="Consolas"/>
                <a:cs typeface="Consolas"/>
                <a:sym typeface="Consolas"/>
              </a:rPr>
              <a:t>claude "帮我写一个炒股分析工具"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3"/>
          <p:cNvSpPr txBox="1"/>
          <p:nvPr/>
        </p:nvSpPr>
        <p:spPr>
          <a:xfrm>
            <a:off x="1268677" y="3429714"/>
            <a:ext cx="1877485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一句话描述，AI 自动生成代码并运行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43"/>
          <p:cNvSpPr txBox="1"/>
          <p:nvPr/>
        </p:nvSpPr>
        <p:spPr>
          <a:xfrm>
            <a:off x="1372190" y="3601164"/>
            <a:ext cx="167045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读文件·写代码·调 API·执行命令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3"/>
          <p:cNvSpPr txBox="1"/>
          <p:nvPr/>
        </p:nvSpPr>
        <p:spPr>
          <a:xfrm>
            <a:off x="1737360" y="3772614"/>
            <a:ext cx="94011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全程无需手动操作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43"/>
          <p:cNvSpPr/>
          <p:nvPr/>
        </p:nvSpPr>
        <p:spPr>
          <a:xfrm>
            <a:off x="4171950" y="842963"/>
            <a:ext cx="4514850" cy="800100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43"/>
          <p:cNvSpPr/>
          <p:nvPr/>
        </p:nvSpPr>
        <p:spPr>
          <a:xfrm>
            <a:off x="4171950" y="842963"/>
            <a:ext cx="28575" cy="8001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43"/>
          <p:cNvSpPr/>
          <p:nvPr/>
        </p:nvSpPr>
        <p:spPr>
          <a:xfrm>
            <a:off x="4345431" y="1001316"/>
            <a:ext cx="124525" cy="157652"/>
          </a:xfrm>
          <a:custGeom>
            <a:rect b="b" l="l" r="r" t="t"/>
            <a:pathLst>
              <a:path extrusionOk="0" h="210203" w="166034">
                <a:moveTo>
                  <a:pt x="93336" y="0"/>
                </a:moveTo>
                <a:lnTo>
                  <a:pt x="93522" y="10"/>
                </a:lnTo>
                <a:lnTo>
                  <a:pt x="93687" y="21"/>
                </a:lnTo>
                <a:lnTo>
                  <a:pt x="94543" y="72"/>
                </a:lnTo>
                <a:lnTo>
                  <a:pt x="94657" y="93"/>
                </a:lnTo>
                <a:lnTo>
                  <a:pt x="94770" y="93"/>
                </a:lnTo>
                <a:lnTo>
                  <a:pt x="95162" y="186"/>
                </a:lnTo>
                <a:lnTo>
                  <a:pt x="95699" y="268"/>
                </a:lnTo>
                <a:lnTo>
                  <a:pt x="95864" y="330"/>
                </a:lnTo>
                <a:lnTo>
                  <a:pt x="95978" y="341"/>
                </a:lnTo>
                <a:lnTo>
                  <a:pt x="96277" y="454"/>
                </a:lnTo>
                <a:lnTo>
                  <a:pt x="96813" y="598"/>
                </a:lnTo>
                <a:lnTo>
                  <a:pt x="97009" y="691"/>
                </a:lnTo>
                <a:lnTo>
                  <a:pt x="97164" y="733"/>
                </a:lnTo>
                <a:lnTo>
                  <a:pt x="97453" y="877"/>
                </a:lnTo>
                <a:lnTo>
                  <a:pt x="97866" y="1053"/>
                </a:lnTo>
                <a:lnTo>
                  <a:pt x="98083" y="1176"/>
                </a:lnTo>
                <a:lnTo>
                  <a:pt x="98310" y="1280"/>
                </a:lnTo>
                <a:lnTo>
                  <a:pt x="98547" y="1434"/>
                </a:lnTo>
                <a:lnTo>
                  <a:pt x="98867" y="1610"/>
                </a:lnTo>
                <a:lnTo>
                  <a:pt x="99218" y="1857"/>
                </a:lnTo>
                <a:lnTo>
                  <a:pt x="99403" y="1971"/>
                </a:lnTo>
                <a:lnTo>
                  <a:pt x="99538" y="2095"/>
                </a:lnTo>
                <a:lnTo>
                  <a:pt x="99785" y="2270"/>
                </a:lnTo>
                <a:lnTo>
                  <a:pt x="100177" y="2621"/>
                </a:lnTo>
                <a:lnTo>
                  <a:pt x="100404" y="2796"/>
                </a:lnTo>
                <a:lnTo>
                  <a:pt x="100487" y="2900"/>
                </a:lnTo>
                <a:lnTo>
                  <a:pt x="100631" y="3023"/>
                </a:lnTo>
                <a:lnTo>
                  <a:pt x="101003" y="3446"/>
                </a:lnTo>
                <a:lnTo>
                  <a:pt x="101271" y="3725"/>
                </a:lnTo>
                <a:lnTo>
                  <a:pt x="101333" y="3818"/>
                </a:lnTo>
                <a:cubicBezTo>
                  <a:pt x="102571" y="5335"/>
                  <a:pt x="103355" y="7141"/>
                  <a:pt x="103582" y="9111"/>
                </a:cubicBezTo>
                <a:lnTo>
                  <a:pt x="103593" y="9235"/>
                </a:lnTo>
                <a:lnTo>
                  <a:pt x="103613" y="9658"/>
                </a:lnTo>
                <a:lnTo>
                  <a:pt x="103655" y="10319"/>
                </a:lnTo>
                <a:lnTo>
                  <a:pt x="103655" y="72231"/>
                </a:lnTo>
                <a:lnTo>
                  <a:pt x="155248" y="72231"/>
                </a:lnTo>
                <a:cubicBezTo>
                  <a:pt x="158929" y="72230"/>
                  <a:pt x="162332" y="74190"/>
                  <a:pt x="164178" y="77374"/>
                </a:cubicBezTo>
                <a:cubicBezTo>
                  <a:pt x="166024" y="80558"/>
                  <a:pt x="166034" y="84485"/>
                  <a:pt x="164205" y="87678"/>
                </a:cubicBezTo>
                <a:lnTo>
                  <a:pt x="163586" y="88617"/>
                </a:lnTo>
                <a:lnTo>
                  <a:pt x="81036" y="202124"/>
                </a:lnTo>
                <a:cubicBezTo>
                  <a:pt x="75175" y="210203"/>
                  <a:pt x="62380" y="206045"/>
                  <a:pt x="62380" y="196056"/>
                </a:cubicBezTo>
                <a:lnTo>
                  <a:pt x="62380" y="134144"/>
                </a:lnTo>
                <a:lnTo>
                  <a:pt x="10786" y="134144"/>
                </a:lnTo>
                <a:cubicBezTo>
                  <a:pt x="7105" y="134145"/>
                  <a:pt x="3703" y="132185"/>
                  <a:pt x="1857" y="129001"/>
                </a:cubicBezTo>
                <a:cubicBezTo>
                  <a:pt x="10" y="125817"/>
                  <a:pt x="0" y="121890"/>
                  <a:pt x="1829" y="118697"/>
                </a:cubicBezTo>
                <a:lnTo>
                  <a:pt x="2448" y="117758"/>
                </a:lnTo>
                <a:lnTo>
                  <a:pt x="84998" y="4251"/>
                </a:lnTo>
                <a:lnTo>
                  <a:pt x="85102" y="4117"/>
                </a:lnTo>
                <a:lnTo>
                  <a:pt x="85287" y="3870"/>
                </a:lnTo>
                <a:lnTo>
                  <a:pt x="85628" y="3477"/>
                </a:lnTo>
                <a:lnTo>
                  <a:pt x="85814" y="3250"/>
                </a:lnTo>
                <a:lnTo>
                  <a:pt x="85906" y="3168"/>
                </a:lnTo>
                <a:lnTo>
                  <a:pt x="86041" y="3023"/>
                </a:lnTo>
                <a:lnTo>
                  <a:pt x="86453" y="2652"/>
                </a:lnTo>
                <a:lnTo>
                  <a:pt x="86742" y="2384"/>
                </a:lnTo>
                <a:lnTo>
                  <a:pt x="86825" y="2322"/>
                </a:lnTo>
                <a:cubicBezTo>
                  <a:pt x="88034" y="1332"/>
                  <a:pt x="89453" y="630"/>
                  <a:pt x="90973" y="268"/>
                </a:cubicBezTo>
                <a:lnTo>
                  <a:pt x="91086" y="258"/>
                </a:lnTo>
                <a:lnTo>
                  <a:pt x="91365" y="206"/>
                </a:lnTo>
                <a:lnTo>
                  <a:pt x="92129" y="72"/>
                </a:lnTo>
                <a:lnTo>
                  <a:pt x="92242" y="62"/>
                </a:lnTo>
                <a:lnTo>
                  <a:pt x="92665" y="41"/>
                </a:lnTo>
                <a:close/>
              </a:path>
            </a:pathLst>
          </a:cu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43"/>
          <p:cNvSpPr txBox="1"/>
          <p:nvPr/>
        </p:nvSpPr>
        <p:spPr>
          <a:xfrm>
            <a:off x="4574144" y="996911"/>
            <a:ext cx="1153442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工程师：10× 提速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43"/>
          <p:cNvSpPr txBox="1"/>
          <p:nvPr/>
        </p:nvSpPr>
        <p:spPr>
          <a:xfrm>
            <a:off x="4304824" y="1215152"/>
            <a:ext cx="2239780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写 Skill / 写脚本 / 调 API，代码写完直接跑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3"/>
          <p:cNvSpPr txBox="1"/>
          <p:nvPr/>
        </p:nvSpPr>
        <p:spPr>
          <a:xfrm>
            <a:off x="4304824" y="1386602"/>
            <a:ext cx="1940743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不用切换 IDE，就在终端一条命令搞定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43"/>
          <p:cNvSpPr/>
          <p:nvPr/>
        </p:nvSpPr>
        <p:spPr>
          <a:xfrm>
            <a:off x="4171950" y="1743075"/>
            <a:ext cx="4514850" cy="800100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43"/>
          <p:cNvSpPr/>
          <p:nvPr/>
        </p:nvSpPr>
        <p:spPr>
          <a:xfrm>
            <a:off x="4171950" y="1743075"/>
            <a:ext cx="28575" cy="80010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8" name="Google Shape;478;p43"/>
          <p:cNvGrpSpPr/>
          <p:nvPr/>
        </p:nvGrpSpPr>
        <p:grpSpPr>
          <a:xfrm>
            <a:off x="4353521" y="1901429"/>
            <a:ext cx="108347" cy="154781"/>
            <a:chOff x="5804694" y="2535238"/>
            <a:chExt cx="144463" cy="206374"/>
          </a:xfrm>
        </p:grpSpPr>
        <p:sp>
          <p:nvSpPr>
            <p:cNvPr id="479" name="Google Shape;479;p43"/>
            <p:cNvSpPr/>
            <p:nvPr/>
          </p:nvSpPr>
          <p:spPr>
            <a:xfrm>
              <a:off x="5825331" y="2535238"/>
              <a:ext cx="103187" cy="103187"/>
            </a:xfrm>
            <a:custGeom>
              <a:rect b="b" l="l" r="r" t="t"/>
              <a:pathLst>
                <a:path extrusionOk="0" h="103187" w="103187">
                  <a:moveTo>
                    <a:pt x="51594" y="0"/>
                  </a:moveTo>
                  <a:cubicBezTo>
                    <a:pt x="80088" y="0"/>
                    <a:pt x="103187" y="23099"/>
                    <a:pt x="103187" y="51594"/>
                  </a:cubicBezTo>
                  <a:cubicBezTo>
                    <a:pt x="103187" y="80088"/>
                    <a:pt x="80088" y="103187"/>
                    <a:pt x="51594" y="103187"/>
                  </a:cubicBezTo>
                  <a:cubicBezTo>
                    <a:pt x="23099" y="103187"/>
                    <a:pt x="0" y="80088"/>
                    <a:pt x="0" y="51594"/>
                  </a:cubicBezTo>
                  <a:lnTo>
                    <a:pt x="52" y="49355"/>
                  </a:lnTo>
                  <a:cubicBezTo>
                    <a:pt x="1250" y="21758"/>
                    <a:pt x="23971" y="2"/>
                    <a:pt x="51594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3"/>
            <p:cNvSpPr/>
            <p:nvPr/>
          </p:nvSpPr>
          <p:spPr>
            <a:xfrm>
              <a:off x="5804694" y="2659062"/>
              <a:ext cx="144463" cy="82550"/>
            </a:xfrm>
            <a:custGeom>
              <a:rect b="b" l="l" r="r" t="t"/>
              <a:pathLst>
                <a:path extrusionOk="0" h="82550" w="144463">
                  <a:moveTo>
                    <a:pt x="92869" y="0"/>
                  </a:moveTo>
                  <a:cubicBezTo>
                    <a:pt x="121363" y="0"/>
                    <a:pt x="144463" y="23099"/>
                    <a:pt x="144463" y="51594"/>
                  </a:cubicBezTo>
                  <a:lnTo>
                    <a:pt x="144463" y="61912"/>
                  </a:lnTo>
                  <a:cubicBezTo>
                    <a:pt x="144463" y="73310"/>
                    <a:pt x="135223" y="82550"/>
                    <a:pt x="123825" y="82550"/>
                  </a:cubicBezTo>
                  <a:lnTo>
                    <a:pt x="20638" y="82550"/>
                  </a:lnTo>
                  <a:cubicBezTo>
                    <a:pt x="9240" y="82550"/>
                    <a:pt x="0" y="73310"/>
                    <a:pt x="0" y="61912"/>
                  </a:cubicBezTo>
                  <a:lnTo>
                    <a:pt x="0" y="51594"/>
                  </a:lnTo>
                  <a:cubicBezTo>
                    <a:pt x="0" y="23099"/>
                    <a:pt x="23099" y="0"/>
                    <a:pt x="51594" y="0"/>
                  </a:cubicBezTo>
                  <a:lnTo>
                    <a:pt x="92869" y="0"/>
                  </a:ln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1" name="Google Shape;481;p43"/>
          <p:cNvSpPr txBox="1"/>
          <p:nvPr/>
        </p:nvSpPr>
        <p:spPr>
          <a:xfrm>
            <a:off x="4574144" y="1897023"/>
            <a:ext cx="1490722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非工程师：零门槛上手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43"/>
          <p:cNvSpPr txBox="1"/>
          <p:nvPr/>
        </p:nvSpPr>
        <p:spPr>
          <a:xfrm>
            <a:off x="4304824" y="2115264"/>
            <a:ext cx="210751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说人话就能产出代码 · 不需要学编程语言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3"/>
          <p:cNvSpPr txBox="1"/>
          <p:nvPr/>
        </p:nvSpPr>
        <p:spPr>
          <a:xfrm>
            <a:off x="4304824" y="2286714"/>
            <a:ext cx="151518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把你的想法变成可运行的工具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43"/>
          <p:cNvSpPr/>
          <p:nvPr/>
        </p:nvSpPr>
        <p:spPr>
          <a:xfrm>
            <a:off x="4171950" y="2643188"/>
            <a:ext cx="4514850" cy="800100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3"/>
          <p:cNvSpPr/>
          <p:nvPr/>
        </p:nvSpPr>
        <p:spPr>
          <a:xfrm>
            <a:off x="4171950" y="2643188"/>
            <a:ext cx="28575" cy="800100"/>
          </a:xfrm>
          <a:prstGeom prst="roundRect">
            <a:avLst>
              <a:gd fmla="val 5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6" name="Google Shape;486;p43"/>
          <p:cNvGrpSpPr/>
          <p:nvPr/>
        </p:nvGrpSpPr>
        <p:grpSpPr>
          <a:xfrm>
            <a:off x="4333508" y="2812396"/>
            <a:ext cx="143838" cy="129202"/>
            <a:chOff x="5778010" y="3749861"/>
            <a:chExt cx="191784" cy="172269"/>
          </a:xfrm>
        </p:grpSpPr>
        <p:sp>
          <p:nvSpPr>
            <p:cNvPr id="487" name="Google Shape;487;p43"/>
            <p:cNvSpPr/>
            <p:nvPr/>
          </p:nvSpPr>
          <p:spPr>
            <a:xfrm>
              <a:off x="5778010" y="3749861"/>
              <a:ext cx="63804" cy="48444"/>
            </a:xfrm>
            <a:custGeom>
              <a:rect b="b" l="l" r="r" t="t"/>
              <a:pathLst>
                <a:path extrusionOk="0" h="48444" w="63804">
                  <a:moveTo>
                    <a:pt x="59776" y="4028"/>
                  </a:moveTo>
                  <a:cubicBezTo>
                    <a:pt x="63804" y="8058"/>
                    <a:pt x="63804" y="14589"/>
                    <a:pt x="59776" y="18619"/>
                  </a:cubicBezTo>
                  <a:lnTo>
                    <a:pt x="33979" y="44416"/>
                  </a:lnTo>
                  <a:cubicBezTo>
                    <a:pt x="29950" y="48444"/>
                    <a:pt x="23418" y="48444"/>
                    <a:pt x="19389" y="44416"/>
                  </a:cubicBezTo>
                  <a:lnTo>
                    <a:pt x="3911" y="28938"/>
                  </a:lnTo>
                  <a:cubicBezTo>
                    <a:pt x="0" y="24889"/>
                    <a:pt x="56" y="18453"/>
                    <a:pt x="4036" y="14473"/>
                  </a:cubicBezTo>
                  <a:cubicBezTo>
                    <a:pt x="8017" y="10492"/>
                    <a:pt x="14452" y="10436"/>
                    <a:pt x="18501" y="14347"/>
                  </a:cubicBezTo>
                  <a:lnTo>
                    <a:pt x="26684" y="22530"/>
                  </a:lnTo>
                  <a:lnTo>
                    <a:pt x="45186" y="4028"/>
                  </a:lnTo>
                  <a:cubicBezTo>
                    <a:pt x="49215" y="0"/>
                    <a:pt x="55747" y="0"/>
                    <a:pt x="59776" y="4028"/>
                  </a:cubicBezTo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3"/>
            <p:cNvSpPr/>
            <p:nvPr/>
          </p:nvSpPr>
          <p:spPr>
            <a:xfrm>
              <a:off x="5778010" y="3811773"/>
              <a:ext cx="63804" cy="48444"/>
            </a:xfrm>
            <a:custGeom>
              <a:rect b="b" l="l" r="r" t="t"/>
              <a:pathLst>
                <a:path extrusionOk="0" h="48444" w="63804">
                  <a:moveTo>
                    <a:pt x="59776" y="4028"/>
                  </a:moveTo>
                  <a:cubicBezTo>
                    <a:pt x="63804" y="8058"/>
                    <a:pt x="63804" y="14589"/>
                    <a:pt x="59776" y="18619"/>
                  </a:cubicBezTo>
                  <a:lnTo>
                    <a:pt x="33979" y="44416"/>
                  </a:lnTo>
                  <a:cubicBezTo>
                    <a:pt x="29950" y="48444"/>
                    <a:pt x="23418" y="48444"/>
                    <a:pt x="19389" y="44416"/>
                  </a:cubicBezTo>
                  <a:lnTo>
                    <a:pt x="3911" y="28938"/>
                  </a:lnTo>
                  <a:cubicBezTo>
                    <a:pt x="0" y="24889"/>
                    <a:pt x="56" y="18453"/>
                    <a:pt x="4036" y="14473"/>
                  </a:cubicBezTo>
                  <a:cubicBezTo>
                    <a:pt x="8017" y="10492"/>
                    <a:pt x="14452" y="10436"/>
                    <a:pt x="18501" y="14347"/>
                  </a:cubicBezTo>
                  <a:lnTo>
                    <a:pt x="26684" y="22530"/>
                  </a:lnTo>
                  <a:lnTo>
                    <a:pt x="45186" y="4028"/>
                  </a:lnTo>
                  <a:cubicBezTo>
                    <a:pt x="49215" y="0"/>
                    <a:pt x="55747" y="0"/>
                    <a:pt x="59776" y="4028"/>
                  </a:cubicBezTo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43"/>
            <p:cNvSpPr/>
            <p:nvPr/>
          </p:nvSpPr>
          <p:spPr>
            <a:xfrm>
              <a:off x="5778010" y="3873686"/>
              <a:ext cx="63804" cy="48444"/>
            </a:xfrm>
            <a:custGeom>
              <a:rect b="b" l="l" r="r" t="t"/>
              <a:pathLst>
                <a:path extrusionOk="0" h="48444" w="63804">
                  <a:moveTo>
                    <a:pt x="59776" y="4028"/>
                  </a:moveTo>
                  <a:cubicBezTo>
                    <a:pt x="63804" y="8058"/>
                    <a:pt x="63804" y="14589"/>
                    <a:pt x="59776" y="18619"/>
                  </a:cubicBezTo>
                  <a:lnTo>
                    <a:pt x="33979" y="44416"/>
                  </a:lnTo>
                  <a:cubicBezTo>
                    <a:pt x="29950" y="48444"/>
                    <a:pt x="23418" y="48444"/>
                    <a:pt x="19389" y="44416"/>
                  </a:cubicBezTo>
                  <a:lnTo>
                    <a:pt x="3911" y="28938"/>
                  </a:lnTo>
                  <a:cubicBezTo>
                    <a:pt x="0" y="24889"/>
                    <a:pt x="56" y="18453"/>
                    <a:pt x="4036" y="14473"/>
                  </a:cubicBezTo>
                  <a:cubicBezTo>
                    <a:pt x="8017" y="10492"/>
                    <a:pt x="14452" y="10436"/>
                    <a:pt x="18501" y="14347"/>
                  </a:cubicBezTo>
                  <a:lnTo>
                    <a:pt x="26684" y="22530"/>
                  </a:lnTo>
                  <a:lnTo>
                    <a:pt x="45186" y="4028"/>
                  </a:lnTo>
                  <a:cubicBezTo>
                    <a:pt x="49215" y="0"/>
                    <a:pt x="55747" y="0"/>
                    <a:pt x="59776" y="4028"/>
                  </a:cubicBezTo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43"/>
            <p:cNvSpPr/>
            <p:nvPr/>
          </p:nvSpPr>
          <p:spPr>
            <a:xfrm>
              <a:off x="5856288" y="3766344"/>
              <a:ext cx="113506" cy="20637"/>
            </a:xfrm>
            <a:custGeom>
              <a:rect b="b" l="l" r="r" t="t"/>
              <a:pathLst>
                <a:path extrusionOk="0" h="20637" w="113506">
                  <a:moveTo>
                    <a:pt x="113506" y="10319"/>
                  </a:moveTo>
                  <a:cubicBezTo>
                    <a:pt x="113506" y="16018"/>
                    <a:pt x="108886" y="20637"/>
                    <a:pt x="103187" y="20637"/>
                  </a:cubicBezTo>
                  <a:lnTo>
                    <a:pt x="10319" y="20637"/>
                  </a:lnTo>
                  <a:cubicBezTo>
                    <a:pt x="4620" y="20637"/>
                    <a:pt x="0" y="16018"/>
                    <a:pt x="0" y="10319"/>
                  </a:cubicBezTo>
                  <a:cubicBezTo>
                    <a:pt x="0" y="4620"/>
                    <a:pt x="4620" y="0"/>
                    <a:pt x="10319" y="0"/>
                  </a:cubicBezTo>
                  <a:lnTo>
                    <a:pt x="103187" y="0"/>
                  </a:lnTo>
                  <a:cubicBezTo>
                    <a:pt x="108886" y="0"/>
                    <a:pt x="113506" y="4620"/>
                    <a:pt x="113506" y="10319"/>
                  </a:cubicBezTo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3"/>
            <p:cNvSpPr/>
            <p:nvPr/>
          </p:nvSpPr>
          <p:spPr>
            <a:xfrm>
              <a:off x="5856288" y="3828256"/>
              <a:ext cx="113506" cy="20637"/>
            </a:xfrm>
            <a:custGeom>
              <a:rect b="b" l="l" r="r" t="t"/>
              <a:pathLst>
                <a:path extrusionOk="0" h="20637" w="113506">
                  <a:moveTo>
                    <a:pt x="113506" y="10319"/>
                  </a:moveTo>
                  <a:cubicBezTo>
                    <a:pt x="113506" y="16018"/>
                    <a:pt x="108886" y="20637"/>
                    <a:pt x="103187" y="20637"/>
                  </a:cubicBezTo>
                  <a:lnTo>
                    <a:pt x="10319" y="20637"/>
                  </a:lnTo>
                  <a:cubicBezTo>
                    <a:pt x="4620" y="20637"/>
                    <a:pt x="0" y="16018"/>
                    <a:pt x="0" y="10319"/>
                  </a:cubicBezTo>
                  <a:cubicBezTo>
                    <a:pt x="0" y="4620"/>
                    <a:pt x="4620" y="0"/>
                    <a:pt x="10319" y="0"/>
                  </a:cubicBezTo>
                  <a:lnTo>
                    <a:pt x="103187" y="0"/>
                  </a:lnTo>
                  <a:cubicBezTo>
                    <a:pt x="108886" y="0"/>
                    <a:pt x="113506" y="4620"/>
                    <a:pt x="113506" y="10319"/>
                  </a:cubicBezTo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3"/>
            <p:cNvSpPr/>
            <p:nvPr/>
          </p:nvSpPr>
          <p:spPr>
            <a:xfrm>
              <a:off x="5856288" y="3890169"/>
              <a:ext cx="113506" cy="20637"/>
            </a:xfrm>
            <a:custGeom>
              <a:rect b="b" l="l" r="r" t="t"/>
              <a:pathLst>
                <a:path extrusionOk="0" h="20637" w="113506">
                  <a:moveTo>
                    <a:pt x="113506" y="10319"/>
                  </a:moveTo>
                  <a:cubicBezTo>
                    <a:pt x="113506" y="16018"/>
                    <a:pt x="108886" y="20637"/>
                    <a:pt x="103187" y="20637"/>
                  </a:cubicBezTo>
                  <a:lnTo>
                    <a:pt x="10319" y="20637"/>
                  </a:lnTo>
                  <a:cubicBezTo>
                    <a:pt x="4620" y="20637"/>
                    <a:pt x="0" y="16018"/>
                    <a:pt x="0" y="10319"/>
                  </a:cubicBezTo>
                  <a:cubicBezTo>
                    <a:pt x="0" y="4620"/>
                    <a:pt x="4620" y="0"/>
                    <a:pt x="10319" y="0"/>
                  </a:cubicBezTo>
                  <a:lnTo>
                    <a:pt x="103187" y="0"/>
                  </a:lnTo>
                  <a:cubicBezTo>
                    <a:pt x="108886" y="0"/>
                    <a:pt x="113506" y="4620"/>
                    <a:pt x="113506" y="10319"/>
                  </a:cubicBezTo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3" name="Google Shape;493;p43"/>
          <p:cNvSpPr txBox="1"/>
          <p:nvPr/>
        </p:nvSpPr>
        <p:spPr>
          <a:xfrm>
            <a:off x="4574144" y="2797136"/>
            <a:ext cx="2121288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Skills 系统：可复用的 AI 工作流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3"/>
          <p:cNvSpPr txBox="1"/>
          <p:nvPr/>
        </p:nvSpPr>
        <p:spPr>
          <a:xfrm>
            <a:off x="4304824" y="3015377"/>
            <a:ext cx="229153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把你的操作流程封装成命令 (/ticker-scan)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3"/>
          <p:cNvSpPr txBox="1"/>
          <p:nvPr/>
        </p:nvSpPr>
        <p:spPr>
          <a:xfrm>
            <a:off x="4304824" y="3186827"/>
            <a:ext cx="163020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一次定义，反复复用，标准一致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3"/>
          <p:cNvSpPr/>
          <p:nvPr/>
        </p:nvSpPr>
        <p:spPr>
          <a:xfrm>
            <a:off x="4171950" y="3543300"/>
            <a:ext cx="4514850" cy="800100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43"/>
          <p:cNvSpPr/>
          <p:nvPr/>
        </p:nvSpPr>
        <p:spPr>
          <a:xfrm>
            <a:off x="4171950" y="3543300"/>
            <a:ext cx="28575" cy="800100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8" name="Google Shape;498;p43"/>
          <p:cNvGrpSpPr/>
          <p:nvPr/>
        </p:nvGrpSpPr>
        <p:grpSpPr>
          <a:xfrm>
            <a:off x="4350678" y="3692816"/>
            <a:ext cx="120612" cy="163837"/>
            <a:chOff x="5800904" y="4923754"/>
            <a:chExt cx="160816" cy="218449"/>
          </a:xfrm>
        </p:grpSpPr>
        <p:sp>
          <p:nvSpPr>
            <p:cNvPr id="499" name="Google Shape;499;p43"/>
            <p:cNvSpPr/>
            <p:nvPr/>
          </p:nvSpPr>
          <p:spPr>
            <a:xfrm>
              <a:off x="5815012" y="4956173"/>
              <a:ext cx="103594" cy="103984"/>
            </a:xfrm>
            <a:custGeom>
              <a:rect b="b" l="l" r="r" t="t"/>
              <a:pathLst>
                <a:path extrusionOk="0" h="103984" w="103594">
                  <a:moveTo>
                    <a:pt x="51594" y="2"/>
                  </a:moveTo>
                  <a:cubicBezTo>
                    <a:pt x="79797" y="0"/>
                    <a:pt x="102776" y="22646"/>
                    <a:pt x="103185" y="50847"/>
                  </a:cubicBezTo>
                  <a:cubicBezTo>
                    <a:pt x="103594" y="79048"/>
                    <a:pt x="81283" y="102351"/>
                    <a:pt x="53091" y="103167"/>
                  </a:cubicBezTo>
                  <a:cubicBezTo>
                    <a:pt x="24899" y="103984"/>
                    <a:pt x="1276" y="82012"/>
                    <a:pt x="52" y="53835"/>
                  </a:cubicBezTo>
                  <a:lnTo>
                    <a:pt x="0" y="51595"/>
                  </a:lnTo>
                  <a:lnTo>
                    <a:pt x="52" y="49356"/>
                  </a:lnTo>
                  <a:cubicBezTo>
                    <a:pt x="1250" y="21760"/>
                    <a:pt x="23971" y="3"/>
                    <a:pt x="51594" y="2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43"/>
            <p:cNvSpPr/>
            <p:nvPr/>
          </p:nvSpPr>
          <p:spPr>
            <a:xfrm>
              <a:off x="5800904" y="4923754"/>
              <a:ext cx="160816" cy="182961"/>
            </a:xfrm>
            <a:custGeom>
              <a:rect b="b" l="l" r="r" t="t"/>
              <a:pathLst>
                <a:path extrusionOk="0" h="182961" w="160816">
                  <a:moveTo>
                    <a:pt x="98031" y="6645"/>
                  </a:moveTo>
                  <a:cubicBezTo>
                    <a:pt x="100870" y="1705"/>
                    <a:pt x="107175" y="0"/>
                    <a:pt x="112116" y="2837"/>
                  </a:cubicBezTo>
                  <a:cubicBezTo>
                    <a:pt x="142797" y="20471"/>
                    <a:pt x="160816" y="53986"/>
                    <a:pt x="158603" y="89305"/>
                  </a:cubicBezTo>
                  <a:cubicBezTo>
                    <a:pt x="156390" y="124623"/>
                    <a:pt x="134330" y="155627"/>
                    <a:pt x="101688" y="169294"/>
                  </a:cubicBezTo>
                  <a:cubicBezTo>
                    <a:pt x="69046" y="182961"/>
                    <a:pt x="31477" y="176924"/>
                    <a:pt x="4760" y="153718"/>
                  </a:cubicBezTo>
                  <a:cubicBezTo>
                    <a:pt x="457" y="149979"/>
                    <a:pt x="0" y="143461"/>
                    <a:pt x="3738" y="139158"/>
                  </a:cubicBezTo>
                  <a:cubicBezTo>
                    <a:pt x="7477" y="134855"/>
                    <a:pt x="13996" y="134398"/>
                    <a:pt x="18298" y="138137"/>
                  </a:cubicBezTo>
                  <a:cubicBezTo>
                    <a:pt x="39087" y="156194"/>
                    <a:pt x="68322" y="160892"/>
                    <a:pt x="93722" y="150257"/>
                  </a:cubicBezTo>
                  <a:cubicBezTo>
                    <a:pt x="119122" y="139622"/>
                    <a:pt x="136288" y="115497"/>
                    <a:pt x="138010" y="88015"/>
                  </a:cubicBezTo>
                  <a:cubicBezTo>
                    <a:pt x="139732" y="60532"/>
                    <a:pt x="125712" y="34452"/>
                    <a:pt x="101839" y="20730"/>
                  </a:cubicBezTo>
                  <a:cubicBezTo>
                    <a:pt x="96899" y="17891"/>
                    <a:pt x="95194" y="11586"/>
                    <a:pt x="98031" y="6645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3"/>
            <p:cNvSpPr/>
            <p:nvPr/>
          </p:nvSpPr>
          <p:spPr>
            <a:xfrm>
              <a:off x="5856288" y="5080000"/>
              <a:ext cx="20637" cy="62203"/>
            </a:xfrm>
            <a:custGeom>
              <a:rect b="b" l="l" r="r" t="t"/>
              <a:pathLst>
                <a:path extrusionOk="0" h="62203" w="20637">
                  <a:moveTo>
                    <a:pt x="10319" y="0"/>
                  </a:moveTo>
                  <a:cubicBezTo>
                    <a:pt x="15550" y="1"/>
                    <a:pt x="19953" y="3916"/>
                    <a:pt x="20565" y="9111"/>
                  </a:cubicBezTo>
                  <a:lnTo>
                    <a:pt x="20637" y="10319"/>
                  </a:lnTo>
                  <a:lnTo>
                    <a:pt x="20637" y="51594"/>
                  </a:lnTo>
                  <a:cubicBezTo>
                    <a:pt x="20631" y="57053"/>
                    <a:pt x="16374" y="61563"/>
                    <a:pt x="10923" y="61883"/>
                  </a:cubicBezTo>
                  <a:cubicBezTo>
                    <a:pt x="5473" y="62203"/>
                    <a:pt x="717" y="58222"/>
                    <a:pt x="72" y="52801"/>
                  </a:cubicBezTo>
                  <a:lnTo>
                    <a:pt x="0" y="51594"/>
                  </a:lnTo>
                  <a:lnTo>
                    <a:pt x="0" y="10319"/>
                  </a:lnTo>
                  <a:cubicBezTo>
                    <a:pt x="0" y="4620"/>
                    <a:pt x="4620" y="0"/>
                    <a:pt x="10319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3"/>
            <p:cNvSpPr/>
            <p:nvPr/>
          </p:nvSpPr>
          <p:spPr>
            <a:xfrm>
              <a:off x="5814722" y="5121275"/>
              <a:ext cx="103769" cy="20638"/>
            </a:xfrm>
            <a:custGeom>
              <a:rect b="b" l="l" r="r" t="t"/>
              <a:pathLst>
                <a:path extrusionOk="0" h="20638" w="103769">
                  <a:moveTo>
                    <a:pt x="93160" y="0"/>
                  </a:moveTo>
                  <a:cubicBezTo>
                    <a:pt x="98619" y="6"/>
                    <a:pt x="103129" y="4264"/>
                    <a:pt x="103449" y="9714"/>
                  </a:cubicBezTo>
                  <a:cubicBezTo>
                    <a:pt x="103769" y="15164"/>
                    <a:pt x="99788" y="19920"/>
                    <a:pt x="94367" y="20565"/>
                  </a:cubicBezTo>
                  <a:lnTo>
                    <a:pt x="93160" y="20638"/>
                  </a:lnTo>
                  <a:lnTo>
                    <a:pt x="10610" y="20638"/>
                  </a:lnTo>
                  <a:cubicBezTo>
                    <a:pt x="5150" y="20631"/>
                    <a:pt x="640" y="16374"/>
                    <a:pt x="320" y="10923"/>
                  </a:cubicBezTo>
                  <a:cubicBezTo>
                    <a:pt x="0" y="5473"/>
                    <a:pt x="3981" y="717"/>
                    <a:pt x="9402" y="72"/>
                  </a:cubicBezTo>
                  <a:lnTo>
                    <a:pt x="10610" y="0"/>
                  </a:lnTo>
                  <a:lnTo>
                    <a:pt x="9316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3" name="Google Shape;503;p43"/>
          <p:cNvSpPr txBox="1"/>
          <p:nvPr/>
        </p:nvSpPr>
        <p:spPr>
          <a:xfrm>
            <a:off x="4574144" y="3697248"/>
            <a:ext cx="1974645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Projects：AI 记住你的上下文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3"/>
          <p:cNvSpPr txBox="1"/>
          <p:nvPr/>
        </p:nvSpPr>
        <p:spPr>
          <a:xfrm>
            <a:off x="4304824" y="3915489"/>
            <a:ext cx="219377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CLAUDE.md 让 AI 永久记住你的规则和偏好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43"/>
          <p:cNvSpPr txBox="1"/>
          <p:nvPr/>
        </p:nvSpPr>
        <p:spPr>
          <a:xfrm>
            <a:off x="4304824" y="4086939"/>
            <a:ext cx="1170146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不用每次重复交代背景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3"/>
          <p:cNvSpPr txBox="1"/>
          <p:nvPr/>
        </p:nvSpPr>
        <p:spPr>
          <a:xfrm>
            <a:off x="8405176" y="4921687"/>
            <a:ext cx="290912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7 / 17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oogle Shape;511;p44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512" name="Google Shape;512;p4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44"/>
            <p:cNvSpPr/>
            <p:nvPr/>
          </p:nvSpPr>
          <p:spPr>
            <a:xfrm>
              <a:off x="11363325" y="457200"/>
              <a:ext cx="38100" cy="38100"/>
            </a:xfrm>
            <a:prstGeom prst="ellipse">
              <a:avLst/>
            </a:prstGeom>
            <a:solidFill>
              <a:srgbClr val="E2E8F0">
                <a:alpha val="5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4"/>
            <p:cNvSpPr/>
            <p:nvPr/>
          </p:nvSpPr>
          <p:spPr>
            <a:xfrm>
              <a:off x="11510962" y="328612"/>
              <a:ext cx="28575" cy="28575"/>
            </a:xfrm>
            <a:prstGeom prst="ellipse">
              <a:avLst/>
            </a:prstGeom>
            <a:solidFill>
              <a:srgbClr val="E2E8F0">
                <a:alpha val="4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15" name="Google Shape;51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2" y="71438"/>
            <a:ext cx="454540" cy="628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6" name="Google Shape;516;p44"/>
          <p:cNvGrpSpPr/>
          <p:nvPr/>
        </p:nvGrpSpPr>
        <p:grpSpPr>
          <a:xfrm>
            <a:off x="2350110" y="255746"/>
            <a:ext cx="6413771" cy="422910"/>
            <a:chOff x="3133480" y="340995"/>
            <a:chExt cx="8551694" cy="563880"/>
          </a:xfrm>
        </p:grpSpPr>
        <p:sp>
          <p:nvSpPr>
            <p:cNvPr id="517" name="Google Shape;517;p44"/>
            <p:cNvSpPr txBox="1"/>
            <p:nvPr/>
          </p:nvSpPr>
          <p:spPr>
            <a:xfrm>
              <a:off x="11517725" y="3409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4"/>
            <p:cNvSpPr txBox="1"/>
            <p:nvPr/>
          </p:nvSpPr>
          <p:spPr>
            <a:xfrm>
              <a:off x="3133480" y="402908"/>
              <a:ext cx="5925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" sz="24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AI 炒股的知识库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4"/>
            <p:cNvSpPr/>
            <p:nvPr/>
          </p:nvSpPr>
          <p:spPr>
            <a:xfrm>
              <a:off x="5619750" y="885825"/>
              <a:ext cx="952500" cy="19050"/>
            </a:xfrm>
            <a:prstGeom prst="roundRect">
              <a:avLst>
                <a:gd fmla="val 50000" name="adj"/>
              </a:avLst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0" name="Google Shape;520;p44"/>
          <p:cNvGrpSpPr/>
          <p:nvPr/>
        </p:nvGrpSpPr>
        <p:grpSpPr>
          <a:xfrm>
            <a:off x="428625" y="828675"/>
            <a:ext cx="2571750" cy="3143250"/>
            <a:chOff x="571500" y="1104900"/>
            <a:chExt cx="3429000" cy="4191000"/>
          </a:xfrm>
        </p:grpSpPr>
        <p:sp>
          <p:nvSpPr>
            <p:cNvPr id="521" name="Google Shape;521;p44"/>
            <p:cNvSpPr/>
            <p:nvPr/>
          </p:nvSpPr>
          <p:spPr>
            <a:xfrm>
              <a:off x="571500" y="1104900"/>
              <a:ext cx="3429000" cy="4191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4"/>
            <p:cNvSpPr/>
            <p:nvPr/>
          </p:nvSpPr>
          <p:spPr>
            <a:xfrm>
              <a:off x="571500" y="1104900"/>
              <a:ext cx="3429000" cy="952500"/>
            </a:xfrm>
            <a:custGeom>
              <a:rect b="b" l="l" r="r" t="t"/>
              <a:pathLst>
                <a:path extrusionOk="0" h="952500" w="3429000">
                  <a:moveTo>
                    <a:pt x="114300" y="0"/>
                  </a:moveTo>
                  <a:lnTo>
                    <a:pt x="3314700" y="0"/>
                  </a:lnTo>
                  <a:cubicBezTo>
                    <a:pt x="3390900" y="0"/>
                    <a:pt x="3429000" y="38100"/>
                    <a:pt x="3429000" y="114300"/>
                  </a:cubicBezTo>
                  <a:lnTo>
                    <a:pt x="3429000" y="952500"/>
                  </a:lnTo>
                  <a:lnTo>
                    <a:pt x="0" y="952500"/>
                  </a:lnTo>
                  <a:lnTo>
                    <a:pt x="0" y="114300"/>
                  </a:lnTo>
                  <a:cubicBezTo>
                    <a:pt x="0" y="38100"/>
                    <a:pt x="38100" y="0"/>
                    <a:pt x="114300" y="0"/>
                  </a:cubicBezTo>
                  <a:close/>
                </a:path>
              </a:pathLst>
            </a:custGeom>
            <a:solidFill>
              <a:srgbClr val="EA580C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4"/>
            <p:cNvSpPr/>
            <p:nvPr/>
          </p:nvSpPr>
          <p:spPr>
            <a:xfrm>
              <a:off x="742950" y="1219200"/>
              <a:ext cx="304800" cy="19050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25098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44"/>
            <p:cNvSpPr txBox="1"/>
            <p:nvPr/>
          </p:nvSpPr>
          <p:spPr>
            <a:xfrm>
              <a:off x="825263" y="1255395"/>
              <a:ext cx="140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44"/>
            <p:cNvSpPr/>
            <p:nvPr/>
          </p:nvSpPr>
          <p:spPr>
            <a:xfrm>
              <a:off x="2095500" y="1397913"/>
              <a:ext cx="381000" cy="317438"/>
            </a:xfrm>
            <a:custGeom>
              <a:rect b="b" l="l" r="r" t="t"/>
              <a:pathLst>
                <a:path extrusionOk="0" h="317438" w="381000">
                  <a:moveTo>
                    <a:pt x="371475" y="33390"/>
                  </a:moveTo>
                  <a:cubicBezTo>
                    <a:pt x="376677" y="36394"/>
                    <a:pt x="380158" y="41675"/>
                    <a:pt x="380867" y="47640"/>
                  </a:cubicBezTo>
                  <a:lnTo>
                    <a:pt x="381000" y="49887"/>
                  </a:lnTo>
                  <a:lnTo>
                    <a:pt x="381000" y="297537"/>
                  </a:lnTo>
                  <a:cubicBezTo>
                    <a:pt x="381000" y="304343"/>
                    <a:pt x="377369" y="310632"/>
                    <a:pt x="371475" y="314035"/>
                  </a:cubicBezTo>
                  <a:cubicBezTo>
                    <a:pt x="365581" y="317438"/>
                    <a:pt x="358319" y="317438"/>
                    <a:pt x="352425" y="314035"/>
                  </a:cubicBezTo>
                  <a:cubicBezTo>
                    <a:pt x="308596" y="288726"/>
                    <a:pt x="255062" y="286828"/>
                    <a:pt x="209550" y="308967"/>
                  </a:cubicBezTo>
                  <a:lnTo>
                    <a:pt x="209550" y="19903"/>
                  </a:lnTo>
                  <a:cubicBezTo>
                    <a:pt x="262832" y="0"/>
                    <a:pt x="322220" y="4947"/>
                    <a:pt x="371475" y="33390"/>
                  </a:cubicBezTo>
                  <a:moveTo>
                    <a:pt x="171450" y="19922"/>
                  </a:moveTo>
                  <a:lnTo>
                    <a:pt x="171469" y="308986"/>
                  </a:lnTo>
                  <a:cubicBezTo>
                    <a:pt x="127802" y="287729"/>
                    <a:pt x="76618" y="288557"/>
                    <a:pt x="33661" y="311215"/>
                  </a:cubicBezTo>
                  <a:lnTo>
                    <a:pt x="27432" y="314644"/>
                  </a:lnTo>
                  <a:lnTo>
                    <a:pt x="25470" y="315483"/>
                  </a:lnTo>
                  <a:lnTo>
                    <a:pt x="24536" y="315787"/>
                  </a:lnTo>
                  <a:lnTo>
                    <a:pt x="22441" y="316283"/>
                  </a:lnTo>
                  <a:lnTo>
                    <a:pt x="21279" y="316473"/>
                  </a:lnTo>
                  <a:lnTo>
                    <a:pt x="19050" y="316587"/>
                  </a:lnTo>
                  <a:lnTo>
                    <a:pt x="18250" y="316587"/>
                  </a:lnTo>
                  <a:lnTo>
                    <a:pt x="16154" y="316359"/>
                  </a:lnTo>
                  <a:lnTo>
                    <a:pt x="14688" y="316092"/>
                  </a:lnTo>
                  <a:lnTo>
                    <a:pt x="12630" y="315483"/>
                  </a:lnTo>
                  <a:lnTo>
                    <a:pt x="10230" y="314416"/>
                  </a:lnTo>
                  <a:lnTo>
                    <a:pt x="8420" y="313349"/>
                  </a:lnTo>
                  <a:lnTo>
                    <a:pt x="6725" y="312073"/>
                  </a:lnTo>
                  <a:lnTo>
                    <a:pt x="5582" y="311006"/>
                  </a:lnTo>
                  <a:lnTo>
                    <a:pt x="4191" y="309444"/>
                  </a:lnTo>
                  <a:lnTo>
                    <a:pt x="2972" y="307748"/>
                  </a:lnTo>
                  <a:lnTo>
                    <a:pt x="2553" y="307062"/>
                  </a:lnTo>
                  <a:lnTo>
                    <a:pt x="1943" y="305919"/>
                  </a:lnTo>
                  <a:lnTo>
                    <a:pt x="1105" y="303957"/>
                  </a:lnTo>
                  <a:lnTo>
                    <a:pt x="800" y="303024"/>
                  </a:lnTo>
                  <a:lnTo>
                    <a:pt x="305" y="300928"/>
                  </a:lnTo>
                  <a:lnTo>
                    <a:pt x="114" y="299766"/>
                  </a:lnTo>
                  <a:lnTo>
                    <a:pt x="38" y="298833"/>
                  </a:lnTo>
                  <a:lnTo>
                    <a:pt x="0" y="49887"/>
                  </a:lnTo>
                  <a:cubicBezTo>
                    <a:pt x="0" y="43082"/>
                    <a:pt x="3631" y="36793"/>
                    <a:pt x="9525" y="33390"/>
                  </a:cubicBezTo>
                  <a:cubicBezTo>
                    <a:pt x="58783" y="4953"/>
                    <a:pt x="118171" y="13"/>
                    <a:pt x="171450" y="19922"/>
                  </a:cubicBezTo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4"/>
            <p:cNvSpPr txBox="1"/>
            <p:nvPr/>
          </p:nvSpPr>
          <p:spPr>
            <a:xfrm>
              <a:off x="1663160" y="21326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原始资料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4"/>
            <p:cNvSpPr/>
            <p:nvPr/>
          </p:nvSpPr>
          <p:spPr>
            <a:xfrm>
              <a:off x="742950" y="2495550"/>
              <a:ext cx="3086100" cy="9525"/>
            </a:xfrm>
            <a:prstGeom prst="rect">
              <a:avLst/>
            </a:prstGeom>
            <a:solidFill>
              <a:srgbClr val="E2E8F0">
                <a:alpha val="6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4"/>
            <p:cNvSpPr txBox="1"/>
            <p:nvPr/>
          </p:nvSpPr>
          <p:spPr>
            <a:xfrm>
              <a:off x="1500203" y="2714633"/>
              <a:ext cx="2009700" cy="22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股票财报、成交信息、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44"/>
            <p:cNvSpPr txBox="1"/>
            <p:nvPr/>
          </p:nvSpPr>
          <p:spPr>
            <a:xfrm>
              <a:off x="1281112" y="3019425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行情与市场新闻数据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4"/>
            <p:cNvSpPr/>
            <p:nvPr/>
          </p:nvSpPr>
          <p:spPr>
            <a:xfrm>
              <a:off x="1123950" y="4857750"/>
              <a:ext cx="2324100" cy="285750"/>
            </a:xfrm>
            <a:prstGeom prst="roundRect">
              <a:avLst>
                <a:gd fmla="val 50000" name="adj"/>
              </a:avLst>
            </a:prstGeom>
            <a:solidFill>
              <a:srgbClr val="FAFAF8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4"/>
            <p:cNvSpPr txBox="1"/>
            <p:nvPr/>
          </p:nvSpPr>
          <p:spPr>
            <a:xfrm>
              <a:off x="1614488" y="492680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公开可得的原始资料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2" name="Google Shape;532;p44"/>
          <p:cNvSpPr/>
          <p:nvPr/>
        </p:nvSpPr>
        <p:spPr>
          <a:xfrm>
            <a:off x="3014663" y="2300288"/>
            <a:ext cx="278606" cy="257175"/>
          </a:xfrm>
          <a:custGeom>
            <a:rect b="b" l="l" r="r" t="t"/>
            <a:pathLst>
              <a:path extrusionOk="0" h="342900" w="371475">
                <a:moveTo>
                  <a:pt x="0" y="95250"/>
                </a:moveTo>
                <a:lnTo>
                  <a:pt x="266700" y="95250"/>
                </a:lnTo>
                <a:lnTo>
                  <a:pt x="266700" y="0"/>
                </a:lnTo>
                <a:lnTo>
                  <a:pt x="371475" y="171450"/>
                </a:lnTo>
                <a:lnTo>
                  <a:pt x="266700" y="342900"/>
                </a:lnTo>
                <a:lnTo>
                  <a:pt x="266700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EA580C">
              <a:alpha val="6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3" name="Google Shape;533;p44"/>
          <p:cNvGrpSpPr/>
          <p:nvPr/>
        </p:nvGrpSpPr>
        <p:grpSpPr>
          <a:xfrm>
            <a:off x="3286125" y="828675"/>
            <a:ext cx="2571750" cy="3143250"/>
            <a:chOff x="4381500" y="1104900"/>
            <a:chExt cx="3429000" cy="4191000"/>
          </a:xfrm>
        </p:grpSpPr>
        <p:sp>
          <p:nvSpPr>
            <p:cNvPr id="534" name="Google Shape;534;p44"/>
            <p:cNvSpPr/>
            <p:nvPr/>
          </p:nvSpPr>
          <p:spPr>
            <a:xfrm>
              <a:off x="4381500" y="1104900"/>
              <a:ext cx="3429000" cy="4191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44"/>
            <p:cNvSpPr/>
            <p:nvPr/>
          </p:nvSpPr>
          <p:spPr>
            <a:xfrm>
              <a:off x="4381500" y="1104900"/>
              <a:ext cx="3429000" cy="952500"/>
            </a:xfrm>
            <a:custGeom>
              <a:rect b="b" l="l" r="r" t="t"/>
              <a:pathLst>
                <a:path extrusionOk="0" h="952500" w="3429000">
                  <a:moveTo>
                    <a:pt x="114300" y="0"/>
                  </a:moveTo>
                  <a:lnTo>
                    <a:pt x="3314700" y="0"/>
                  </a:lnTo>
                  <a:cubicBezTo>
                    <a:pt x="3390900" y="0"/>
                    <a:pt x="3429000" y="38100"/>
                    <a:pt x="3429000" y="114300"/>
                  </a:cubicBezTo>
                  <a:lnTo>
                    <a:pt x="3429000" y="952500"/>
                  </a:lnTo>
                  <a:lnTo>
                    <a:pt x="0" y="952500"/>
                  </a:lnTo>
                  <a:lnTo>
                    <a:pt x="0" y="114300"/>
                  </a:lnTo>
                  <a:cubicBezTo>
                    <a:pt x="0" y="38100"/>
                    <a:pt x="38100" y="0"/>
                    <a:pt x="114300" y="0"/>
                  </a:cubicBezTo>
                  <a:close/>
                </a:path>
              </a:pathLst>
            </a:custGeom>
            <a:solidFill>
              <a:srgbClr val="EA580C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4"/>
            <p:cNvSpPr/>
            <p:nvPr/>
          </p:nvSpPr>
          <p:spPr>
            <a:xfrm>
              <a:off x="4552950" y="1219200"/>
              <a:ext cx="304800" cy="19050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25098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4"/>
            <p:cNvSpPr txBox="1"/>
            <p:nvPr/>
          </p:nvSpPr>
          <p:spPr>
            <a:xfrm>
              <a:off x="4618011" y="1255395"/>
              <a:ext cx="1746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8" name="Google Shape;538;p44"/>
            <p:cNvGrpSpPr/>
            <p:nvPr/>
          </p:nvGrpSpPr>
          <p:grpSpPr>
            <a:xfrm>
              <a:off x="5924549" y="1371600"/>
              <a:ext cx="342901" cy="381000"/>
              <a:chOff x="5924549" y="1371600"/>
              <a:chExt cx="342901" cy="381000"/>
            </a:xfrm>
          </p:grpSpPr>
          <p:sp>
            <p:nvSpPr>
              <p:cNvPr id="539" name="Google Shape;539;p44"/>
              <p:cNvSpPr/>
              <p:nvPr/>
            </p:nvSpPr>
            <p:spPr>
              <a:xfrm>
                <a:off x="5924550" y="1633176"/>
                <a:ext cx="342900" cy="119424"/>
              </a:xfrm>
              <a:custGeom>
                <a:rect b="b" l="l" r="r" t="t"/>
                <a:pathLst>
                  <a:path extrusionOk="0" h="119424" w="342900">
                    <a:moveTo>
                      <a:pt x="0" y="0"/>
                    </a:moveTo>
                    <a:cubicBezTo>
                      <a:pt x="37490" y="28708"/>
                      <a:pt x="99708" y="43224"/>
                      <a:pt x="171450" y="43224"/>
                    </a:cubicBezTo>
                    <a:cubicBezTo>
                      <a:pt x="243078" y="43224"/>
                      <a:pt x="305276" y="28746"/>
                      <a:pt x="342900" y="324"/>
                    </a:cubicBezTo>
                    <a:lnTo>
                      <a:pt x="342900" y="43224"/>
                    </a:lnTo>
                    <a:cubicBezTo>
                      <a:pt x="342900" y="89421"/>
                      <a:pt x="268700" y="118205"/>
                      <a:pt x="177298" y="119386"/>
                    </a:cubicBezTo>
                    <a:lnTo>
                      <a:pt x="171450" y="119424"/>
                    </a:lnTo>
                    <a:cubicBezTo>
                      <a:pt x="77381" y="119424"/>
                      <a:pt x="0" y="90411"/>
                      <a:pt x="0" y="43224"/>
                    </a:cubicBez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44"/>
              <p:cNvSpPr/>
              <p:nvPr/>
            </p:nvSpPr>
            <p:spPr>
              <a:xfrm>
                <a:off x="5924550" y="1518876"/>
                <a:ext cx="342900" cy="119424"/>
              </a:xfrm>
              <a:custGeom>
                <a:rect b="b" l="l" r="r" t="t"/>
                <a:pathLst>
                  <a:path extrusionOk="0" h="119424" w="342900">
                    <a:moveTo>
                      <a:pt x="0" y="0"/>
                    </a:moveTo>
                    <a:cubicBezTo>
                      <a:pt x="37490" y="28708"/>
                      <a:pt x="99708" y="43224"/>
                      <a:pt x="171450" y="43224"/>
                    </a:cubicBezTo>
                    <a:cubicBezTo>
                      <a:pt x="243078" y="43224"/>
                      <a:pt x="305276" y="28746"/>
                      <a:pt x="342900" y="324"/>
                    </a:cubicBezTo>
                    <a:lnTo>
                      <a:pt x="342900" y="43224"/>
                    </a:lnTo>
                    <a:cubicBezTo>
                      <a:pt x="342900" y="90411"/>
                      <a:pt x="265519" y="119424"/>
                      <a:pt x="171450" y="119424"/>
                    </a:cubicBezTo>
                    <a:cubicBezTo>
                      <a:pt x="80048" y="119424"/>
                      <a:pt x="4382" y="92031"/>
                      <a:pt x="400" y="47130"/>
                    </a:cubicBezTo>
                    <a:lnTo>
                      <a:pt x="95" y="45206"/>
                    </a:lnTo>
                    <a:lnTo>
                      <a:pt x="0" y="43224"/>
                    </a:ln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44"/>
              <p:cNvSpPr/>
              <p:nvPr/>
            </p:nvSpPr>
            <p:spPr>
              <a:xfrm>
                <a:off x="5924549" y="1371600"/>
                <a:ext cx="342901" cy="152400"/>
              </a:xfrm>
              <a:custGeom>
                <a:rect b="b" l="l" r="r" t="t"/>
                <a:pathLst>
                  <a:path extrusionOk="0" h="152400" w="342901">
                    <a:moveTo>
                      <a:pt x="171451" y="0"/>
                    </a:moveTo>
                    <a:cubicBezTo>
                      <a:pt x="191283" y="0"/>
                      <a:pt x="210390" y="1295"/>
                      <a:pt x="228163" y="3772"/>
                    </a:cubicBezTo>
                    <a:lnTo>
                      <a:pt x="237098" y="5124"/>
                    </a:lnTo>
                    <a:cubicBezTo>
                      <a:pt x="247766" y="6902"/>
                      <a:pt x="257837" y="9112"/>
                      <a:pt x="267311" y="11754"/>
                    </a:cubicBezTo>
                    <a:lnTo>
                      <a:pt x="275693" y="14249"/>
                    </a:lnTo>
                    <a:lnTo>
                      <a:pt x="277122" y="14707"/>
                    </a:lnTo>
                    <a:cubicBezTo>
                      <a:pt x="282306" y="16411"/>
                      <a:pt x="287422" y="18318"/>
                      <a:pt x="292457" y="20422"/>
                    </a:cubicBezTo>
                    <a:lnTo>
                      <a:pt x="296248" y="22060"/>
                    </a:lnTo>
                    <a:cubicBezTo>
                      <a:pt x="303043" y="25133"/>
                      <a:pt x="309183" y="28499"/>
                      <a:pt x="314669" y="32156"/>
                    </a:cubicBezTo>
                    <a:cubicBezTo>
                      <a:pt x="316765" y="33553"/>
                      <a:pt x="318752" y="34982"/>
                      <a:pt x="320632" y="36443"/>
                    </a:cubicBezTo>
                    <a:cubicBezTo>
                      <a:pt x="325393" y="40137"/>
                      <a:pt x="329675" y="44412"/>
                      <a:pt x="333376" y="49168"/>
                    </a:cubicBezTo>
                    <a:lnTo>
                      <a:pt x="335110" y="51606"/>
                    </a:lnTo>
                    <a:cubicBezTo>
                      <a:pt x="335999" y="52940"/>
                      <a:pt x="336818" y="54280"/>
                      <a:pt x="337567" y="55626"/>
                    </a:cubicBezTo>
                    <a:lnTo>
                      <a:pt x="338901" y="58274"/>
                    </a:lnTo>
                    <a:cubicBezTo>
                      <a:pt x="340971" y="62719"/>
                      <a:pt x="342241" y="67354"/>
                      <a:pt x="342711" y="72180"/>
                    </a:cubicBezTo>
                    <a:lnTo>
                      <a:pt x="342901" y="76200"/>
                    </a:lnTo>
                    <a:cubicBezTo>
                      <a:pt x="342901" y="123387"/>
                      <a:pt x="265520" y="152400"/>
                      <a:pt x="171451" y="152400"/>
                    </a:cubicBezTo>
                    <a:cubicBezTo>
                      <a:pt x="80050" y="152400"/>
                      <a:pt x="4383" y="125006"/>
                      <a:pt x="402" y="80105"/>
                    </a:cubicBezTo>
                    <a:cubicBezTo>
                      <a:pt x="134" y="78821"/>
                      <a:pt x="0" y="77512"/>
                      <a:pt x="1" y="76200"/>
                    </a:cubicBezTo>
                    <a:lnTo>
                      <a:pt x="97" y="74219"/>
                    </a:lnTo>
                    <a:lnTo>
                      <a:pt x="402" y="72314"/>
                    </a:lnTo>
                    <a:cubicBezTo>
                      <a:pt x="4307" y="28384"/>
                      <a:pt x="76792" y="1200"/>
                      <a:pt x="165508" y="38"/>
                    </a:cubicBez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42" name="Google Shape;542;p44"/>
            <p:cNvSpPr txBox="1"/>
            <p:nvPr/>
          </p:nvSpPr>
          <p:spPr>
            <a:xfrm>
              <a:off x="5622679" y="2132648"/>
              <a:ext cx="946642" cy="396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知识库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4"/>
            <p:cNvSpPr/>
            <p:nvPr/>
          </p:nvSpPr>
          <p:spPr>
            <a:xfrm>
              <a:off x="4552950" y="2495550"/>
              <a:ext cx="3086100" cy="9525"/>
            </a:xfrm>
            <a:prstGeom prst="rect">
              <a:avLst/>
            </a:prstGeom>
            <a:solidFill>
              <a:srgbClr val="E2E8F0">
                <a:alpha val="6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4"/>
            <p:cNvSpPr txBox="1"/>
            <p:nvPr/>
          </p:nvSpPr>
          <p:spPr>
            <a:xfrm>
              <a:off x="4933966" y="2714633"/>
              <a:ext cx="2200200" cy="22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个股分析、买卖点判断，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4"/>
            <p:cNvSpPr txBox="1"/>
            <p:nvPr/>
          </p:nvSpPr>
          <p:spPr>
            <a:xfrm>
              <a:off x="5529262" y="3019425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结构化存入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44"/>
            <p:cNvSpPr/>
            <p:nvPr/>
          </p:nvSpPr>
          <p:spPr>
            <a:xfrm>
              <a:off x="4933950" y="4857750"/>
              <a:ext cx="2324100" cy="285750"/>
            </a:xfrm>
            <a:prstGeom prst="roundRect">
              <a:avLst>
                <a:gd fmla="val 50000" name="adj"/>
              </a:avLst>
            </a:prstGeom>
            <a:solidFill>
              <a:srgbClr val="FAFAF8"/>
            </a:solidFill>
            <a:ln cap="flat" cmpd="sng" w="9525">
              <a:solidFill>
                <a:srgbClr val="EA580C">
                  <a:alpha val="4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44"/>
            <p:cNvSpPr txBox="1"/>
            <p:nvPr/>
          </p:nvSpPr>
          <p:spPr>
            <a:xfrm>
              <a:off x="5387519" y="4926806"/>
              <a:ext cx="14169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你的股票分析知识库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8" name="Google Shape;548;p44"/>
          <p:cNvSpPr/>
          <p:nvPr/>
        </p:nvSpPr>
        <p:spPr>
          <a:xfrm>
            <a:off x="5872163" y="2300288"/>
            <a:ext cx="278606" cy="257175"/>
          </a:xfrm>
          <a:custGeom>
            <a:rect b="b" l="l" r="r" t="t"/>
            <a:pathLst>
              <a:path extrusionOk="0" h="342900" w="371475">
                <a:moveTo>
                  <a:pt x="0" y="95250"/>
                </a:moveTo>
                <a:lnTo>
                  <a:pt x="266700" y="95250"/>
                </a:lnTo>
                <a:lnTo>
                  <a:pt x="266700" y="0"/>
                </a:lnTo>
                <a:lnTo>
                  <a:pt x="371475" y="171450"/>
                </a:lnTo>
                <a:lnTo>
                  <a:pt x="266700" y="342900"/>
                </a:lnTo>
                <a:lnTo>
                  <a:pt x="266700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EA580C">
              <a:alpha val="6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9" name="Google Shape;549;p44"/>
          <p:cNvGrpSpPr/>
          <p:nvPr/>
        </p:nvGrpSpPr>
        <p:grpSpPr>
          <a:xfrm>
            <a:off x="6143625" y="828675"/>
            <a:ext cx="2571750" cy="3143250"/>
            <a:chOff x="8191500" y="1104900"/>
            <a:chExt cx="3429000" cy="4191000"/>
          </a:xfrm>
        </p:grpSpPr>
        <p:sp>
          <p:nvSpPr>
            <p:cNvPr id="550" name="Google Shape;550;p44"/>
            <p:cNvSpPr/>
            <p:nvPr/>
          </p:nvSpPr>
          <p:spPr>
            <a:xfrm>
              <a:off x="8191500" y="1104900"/>
              <a:ext cx="3429000" cy="4191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44"/>
            <p:cNvSpPr/>
            <p:nvPr/>
          </p:nvSpPr>
          <p:spPr>
            <a:xfrm>
              <a:off x="8191500" y="1104900"/>
              <a:ext cx="3429000" cy="952500"/>
            </a:xfrm>
            <a:custGeom>
              <a:rect b="b" l="l" r="r" t="t"/>
              <a:pathLst>
                <a:path extrusionOk="0" h="952500" w="3429000">
                  <a:moveTo>
                    <a:pt x="114300" y="0"/>
                  </a:moveTo>
                  <a:lnTo>
                    <a:pt x="3314700" y="0"/>
                  </a:lnTo>
                  <a:cubicBezTo>
                    <a:pt x="3390900" y="0"/>
                    <a:pt x="3429000" y="38100"/>
                    <a:pt x="3429000" y="114300"/>
                  </a:cubicBezTo>
                  <a:lnTo>
                    <a:pt x="3429000" y="952500"/>
                  </a:lnTo>
                  <a:lnTo>
                    <a:pt x="0" y="952500"/>
                  </a:lnTo>
                  <a:lnTo>
                    <a:pt x="0" y="114300"/>
                  </a:lnTo>
                  <a:cubicBezTo>
                    <a:pt x="0" y="38100"/>
                    <a:pt x="38100" y="0"/>
                    <a:pt x="114300" y="0"/>
                  </a:cubicBezTo>
                  <a:close/>
                </a:path>
              </a:pathLst>
            </a:custGeom>
            <a:solidFill>
              <a:srgbClr val="EA580C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4"/>
            <p:cNvSpPr/>
            <p:nvPr/>
          </p:nvSpPr>
          <p:spPr>
            <a:xfrm>
              <a:off x="8362950" y="1219200"/>
              <a:ext cx="304800" cy="19050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25098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4"/>
            <p:cNvSpPr txBox="1"/>
            <p:nvPr/>
          </p:nvSpPr>
          <p:spPr>
            <a:xfrm>
              <a:off x="8428011" y="1255395"/>
              <a:ext cx="1746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4"/>
            <p:cNvSpPr/>
            <p:nvPr/>
          </p:nvSpPr>
          <p:spPr>
            <a:xfrm>
              <a:off x="9715500" y="1390650"/>
              <a:ext cx="381000" cy="342900"/>
            </a:xfrm>
            <a:custGeom>
              <a:rect b="b" l="l" r="r" t="t"/>
              <a:pathLst>
                <a:path extrusionOk="0" h="342900" w="381000">
                  <a:moveTo>
                    <a:pt x="361950" y="0"/>
                  </a:moveTo>
                  <a:cubicBezTo>
                    <a:pt x="372471" y="0"/>
                    <a:pt x="381000" y="8529"/>
                    <a:pt x="381000" y="19050"/>
                  </a:cubicBezTo>
                  <a:cubicBezTo>
                    <a:pt x="381000" y="29571"/>
                    <a:pt x="372471" y="38100"/>
                    <a:pt x="361950" y="38100"/>
                  </a:cubicBezTo>
                  <a:lnTo>
                    <a:pt x="361950" y="209550"/>
                  </a:lnTo>
                  <a:cubicBezTo>
                    <a:pt x="361950" y="241113"/>
                    <a:pt x="336363" y="266700"/>
                    <a:pt x="304800" y="266700"/>
                  </a:cubicBezTo>
                  <a:lnTo>
                    <a:pt x="209550" y="266700"/>
                  </a:lnTo>
                  <a:lnTo>
                    <a:pt x="209550" y="304800"/>
                  </a:lnTo>
                  <a:lnTo>
                    <a:pt x="247650" y="304800"/>
                  </a:lnTo>
                  <a:cubicBezTo>
                    <a:pt x="258171" y="304800"/>
                    <a:pt x="266700" y="313329"/>
                    <a:pt x="266700" y="323850"/>
                  </a:cubicBezTo>
                  <a:cubicBezTo>
                    <a:pt x="266700" y="334371"/>
                    <a:pt x="258171" y="342900"/>
                    <a:pt x="247650" y="342900"/>
                  </a:cubicBezTo>
                  <a:lnTo>
                    <a:pt x="133350" y="342900"/>
                  </a:lnTo>
                  <a:cubicBezTo>
                    <a:pt x="122829" y="342900"/>
                    <a:pt x="114300" y="334371"/>
                    <a:pt x="114300" y="323850"/>
                  </a:cubicBezTo>
                  <a:cubicBezTo>
                    <a:pt x="114300" y="313329"/>
                    <a:pt x="122829" y="304800"/>
                    <a:pt x="133350" y="304800"/>
                  </a:cubicBezTo>
                  <a:lnTo>
                    <a:pt x="171450" y="304800"/>
                  </a:lnTo>
                  <a:lnTo>
                    <a:pt x="171450" y="266700"/>
                  </a:lnTo>
                  <a:lnTo>
                    <a:pt x="76200" y="266700"/>
                  </a:lnTo>
                  <a:cubicBezTo>
                    <a:pt x="44637" y="266700"/>
                    <a:pt x="19050" y="241113"/>
                    <a:pt x="19050" y="20955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lose/>
                  <a:moveTo>
                    <a:pt x="280168" y="81782"/>
                  </a:moveTo>
                  <a:cubicBezTo>
                    <a:pt x="272729" y="74345"/>
                    <a:pt x="260671" y="74345"/>
                    <a:pt x="253232" y="81782"/>
                  </a:cubicBezTo>
                  <a:lnTo>
                    <a:pt x="209550" y="125444"/>
                  </a:lnTo>
                  <a:lnTo>
                    <a:pt x="184918" y="100832"/>
                  </a:lnTo>
                  <a:cubicBezTo>
                    <a:pt x="177479" y="93395"/>
                    <a:pt x="165421" y="93395"/>
                    <a:pt x="157982" y="100832"/>
                  </a:cubicBezTo>
                  <a:lnTo>
                    <a:pt x="100832" y="157982"/>
                  </a:lnTo>
                  <a:cubicBezTo>
                    <a:pt x="93395" y="165421"/>
                    <a:pt x="93395" y="177479"/>
                    <a:pt x="100832" y="184918"/>
                  </a:cubicBezTo>
                  <a:lnTo>
                    <a:pt x="102622" y="186500"/>
                  </a:lnTo>
                  <a:cubicBezTo>
                    <a:pt x="110206" y="192382"/>
                    <a:pt x="120981" y="191705"/>
                    <a:pt x="127768" y="184918"/>
                  </a:cubicBezTo>
                  <a:lnTo>
                    <a:pt x="171450" y="141256"/>
                  </a:lnTo>
                  <a:lnTo>
                    <a:pt x="196082" y="165868"/>
                  </a:lnTo>
                  <a:cubicBezTo>
                    <a:pt x="203521" y="173305"/>
                    <a:pt x="215579" y="173305"/>
                    <a:pt x="223018" y="165868"/>
                  </a:cubicBezTo>
                  <a:lnTo>
                    <a:pt x="280168" y="108718"/>
                  </a:lnTo>
                  <a:cubicBezTo>
                    <a:pt x="287605" y="101279"/>
                    <a:pt x="287605" y="89221"/>
                    <a:pt x="280168" y="81782"/>
                  </a:cubicBezTo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4"/>
            <p:cNvSpPr txBox="1"/>
            <p:nvPr/>
          </p:nvSpPr>
          <p:spPr>
            <a:xfrm>
              <a:off x="9133642" y="2132648"/>
              <a:ext cx="1544717" cy="396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为客户服务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4"/>
            <p:cNvSpPr/>
            <p:nvPr/>
          </p:nvSpPr>
          <p:spPr>
            <a:xfrm>
              <a:off x="8362950" y="2495550"/>
              <a:ext cx="3086100" cy="9525"/>
            </a:xfrm>
            <a:prstGeom prst="rect">
              <a:avLst/>
            </a:prstGeom>
            <a:solidFill>
              <a:srgbClr val="E2E8F0">
                <a:alpha val="6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4"/>
            <p:cNvSpPr txBox="1"/>
            <p:nvPr/>
          </p:nvSpPr>
          <p:spPr>
            <a:xfrm>
              <a:off x="8994239" y="2714631"/>
              <a:ext cx="2523600" cy="22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持仓信息 + 股票分析，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4"/>
            <p:cNvSpPr txBox="1"/>
            <p:nvPr/>
          </p:nvSpPr>
          <p:spPr>
            <a:xfrm>
              <a:off x="9120206" y="3019433"/>
              <a:ext cx="2324100" cy="22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给出买入 / 卖出建议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4"/>
            <p:cNvSpPr/>
            <p:nvPr/>
          </p:nvSpPr>
          <p:spPr>
            <a:xfrm>
              <a:off x="8743950" y="4857750"/>
              <a:ext cx="2324100" cy="285750"/>
            </a:xfrm>
            <a:prstGeom prst="roundRect">
              <a:avLst>
                <a:gd fmla="val 50000" name="adj"/>
              </a:avLst>
            </a:prstGeom>
            <a:solidFill>
              <a:srgbClr val="FAFAF8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4"/>
            <p:cNvSpPr txBox="1"/>
            <p:nvPr/>
          </p:nvSpPr>
          <p:spPr>
            <a:xfrm>
              <a:off x="9152334" y="492680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定制化投资建议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1" name="Google Shape;561;p44"/>
          <p:cNvGrpSpPr/>
          <p:nvPr/>
        </p:nvGrpSpPr>
        <p:grpSpPr>
          <a:xfrm>
            <a:off x="928688" y="4043363"/>
            <a:ext cx="6786563" cy="392906"/>
            <a:chOff x="1238250" y="5391150"/>
            <a:chExt cx="9048750" cy="523875"/>
          </a:xfrm>
        </p:grpSpPr>
        <p:sp>
          <p:nvSpPr>
            <p:cNvPr id="562" name="Google Shape;562;p44"/>
            <p:cNvSpPr/>
            <p:nvPr/>
          </p:nvSpPr>
          <p:spPr>
            <a:xfrm>
              <a:off x="1905000" y="5391150"/>
              <a:ext cx="8382000" cy="9525"/>
            </a:xfrm>
            <a:prstGeom prst="rect">
              <a:avLst/>
            </a:prstGeom>
            <a:solidFill>
              <a:srgbClr val="E2E8F0">
                <a:alpha val="4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4"/>
            <p:cNvSpPr txBox="1"/>
            <p:nvPr/>
          </p:nvSpPr>
          <p:spPr>
            <a:xfrm>
              <a:off x="4506551" y="5466874"/>
              <a:ext cx="31788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知识库涵盖各行各业 — 你的专业积累就是你的武器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4"/>
            <p:cNvSpPr/>
            <p:nvPr/>
          </p:nvSpPr>
          <p:spPr>
            <a:xfrm>
              <a:off x="12382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12156"/>
              </a:srgbClr>
            </a:solidFill>
            <a:ln cap="flat" cmpd="sng" w="9525">
              <a:solidFill>
                <a:srgbClr val="EA580C">
                  <a:alpha val="3490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4"/>
            <p:cNvSpPr txBox="1"/>
            <p:nvPr/>
          </p:nvSpPr>
          <p:spPr>
            <a:xfrm>
              <a:off x="13049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金融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4"/>
            <p:cNvSpPr/>
            <p:nvPr/>
          </p:nvSpPr>
          <p:spPr>
            <a:xfrm>
              <a:off x="17335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16A34A">
                <a:alpha val="10196"/>
              </a:srgbClr>
            </a:solidFill>
            <a:ln cap="flat" cmpd="sng" w="9525">
              <a:solidFill>
                <a:srgbClr val="16A34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4"/>
            <p:cNvSpPr txBox="1"/>
            <p:nvPr/>
          </p:nvSpPr>
          <p:spPr>
            <a:xfrm>
              <a:off x="18002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医疗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4"/>
            <p:cNvSpPr/>
            <p:nvPr/>
          </p:nvSpPr>
          <p:spPr>
            <a:xfrm>
              <a:off x="22288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4F46E5">
                <a:alpha val="10196"/>
              </a:srgbClr>
            </a:solidFill>
            <a:ln cap="flat" cmpd="sng" w="9525">
              <a:solidFill>
                <a:srgbClr val="4F46E5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4"/>
            <p:cNvSpPr txBox="1"/>
            <p:nvPr/>
          </p:nvSpPr>
          <p:spPr>
            <a:xfrm>
              <a:off x="22955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法律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4"/>
            <p:cNvSpPr/>
            <p:nvPr/>
          </p:nvSpPr>
          <p:spPr>
            <a:xfrm>
              <a:off x="27241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12156"/>
              </a:srgbClr>
            </a:solidFill>
            <a:ln cap="flat" cmpd="sng" w="9525">
              <a:solidFill>
                <a:srgbClr val="EA580C">
                  <a:alpha val="3490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4"/>
            <p:cNvSpPr txBox="1"/>
            <p:nvPr/>
          </p:nvSpPr>
          <p:spPr>
            <a:xfrm>
              <a:off x="27908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教育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4"/>
            <p:cNvSpPr/>
            <p:nvPr/>
          </p:nvSpPr>
          <p:spPr>
            <a:xfrm>
              <a:off x="32194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16A34A">
                <a:alpha val="10196"/>
              </a:srgbClr>
            </a:solidFill>
            <a:ln cap="flat" cmpd="sng" w="9525">
              <a:solidFill>
                <a:srgbClr val="16A34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4"/>
            <p:cNvSpPr txBox="1"/>
            <p:nvPr/>
          </p:nvSpPr>
          <p:spPr>
            <a:xfrm>
              <a:off x="32861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咨询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4"/>
            <p:cNvSpPr/>
            <p:nvPr/>
          </p:nvSpPr>
          <p:spPr>
            <a:xfrm>
              <a:off x="37147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4F46E5">
                <a:alpha val="10196"/>
              </a:srgbClr>
            </a:solidFill>
            <a:ln cap="flat" cmpd="sng" w="9525">
              <a:solidFill>
                <a:srgbClr val="4F46E5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44"/>
            <p:cNvSpPr txBox="1"/>
            <p:nvPr/>
          </p:nvSpPr>
          <p:spPr>
            <a:xfrm>
              <a:off x="37814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创业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44"/>
            <p:cNvSpPr/>
            <p:nvPr/>
          </p:nvSpPr>
          <p:spPr>
            <a:xfrm>
              <a:off x="42100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12156"/>
              </a:srgbClr>
            </a:solidFill>
            <a:ln cap="flat" cmpd="sng" w="9525">
              <a:solidFill>
                <a:srgbClr val="EA580C">
                  <a:alpha val="3490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4"/>
            <p:cNvSpPr txBox="1"/>
            <p:nvPr/>
          </p:nvSpPr>
          <p:spPr>
            <a:xfrm>
              <a:off x="4335862" y="5732133"/>
              <a:ext cx="285600" cy="14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HR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44"/>
            <p:cNvSpPr/>
            <p:nvPr/>
          </p:nvSpPr>
          <p:spPr>
            <a:xfrm>
              <a:off x="47053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16A34A">
                <a:alpha val="10196"/>
              </a:srgbClr>
            </a:solidFill>
            <a:ln cap="flat" cmpd="sng" w="9525">
              <a:solidFill>
                <a:srgbClr val="16A34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4"/>
            <p:cNvSpPr txBox="1"/>
            <p:nvPr/>
          </p:nvSpPr>
          <p:spPr>
            <a:xfrm>
              <a:off x="47720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房产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44"/>
            <p:cNvSpPr/>
            <p:nvPr/>
          </p:nvSpPr>
          <p:spPr>
            <a:xfrm>
              <a:off x="52006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4F46E5">
                <a:alpha val="10196"/>
              </a:srgbClr>
            </a:solidFill>
            <a:ln cap="flat" cmpd="sng" w="9525">
              <a:solidFill>
                <a:srgbClr val="4F46E5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4"/>
            <p:cNvSpPr txBox="1"/>
            <p:nvPr/>
          </p:nvSpPr>
          <p:spPr>
            <a:xfrm>
              <a:off x="52673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营销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4"/>
            <p:cNvSpPr/>
            <p:nvPr/>
          </p:nvSpPr>
          <p:spPr>
            <a:xfrm>
              <a:off x="56959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12156"/>
              </a:srgbClr>
            </a:solidFill>
            <a:ln cap="flat" cmpd="sng" w="9525">
              <a:solidFill>
                <a:srgbClr val="EA580C">
                  <a:alpha val="3490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44"/>
            <p:cNvSpPr txBox="1"/>
            <p:nvPr/>
          </p:nvSpPr>
          <p:spPr>
            <a:xfrm>
              <a:off x="57626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科技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44"/>
            <p:cNvSpPr/>
            <p:nvPr/>
          </p:nvSpPr>
          <p:spPr>
            <a:xfrm>
              <a:off x="61912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16A34A">
                <a:alpha val="10196"/>
              </a:srgbClr>
            </a:solidFill>
            <a:ln cap="flat" cmpd="sng" w="9525">
              <a:solidFill>
                <a:srgbClr val="16A34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44"/>
            <p:cNvSpPr txBox="1"/>
            <p:nvPr/>
          </p:nvSpPr>
          <p:spPr>
            <a:xfrm>
              <a:off x="62579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保险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44"/>
            <p:cNvSpPr/>
            <p:nvPr/>
          </p:nvSpPr>
          <p:spPr>
            <a:xfrm>
              <a:off x="66865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4F46E5">
                <a:alpha val="10196"/>
              </a:srgbClr>
            </a:solidFill>
            <a:ln cap="flat" cmpd="sng" w="9525">
              <a:solidFill>
                <a:srgbClr val="4F46E5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44"/>
            <p:cNvSpPr txBox="1"/>
            <p:nvPr/>
          </p:nvSpPr>
          <p:spPr>
            <a:xfrm>
              <a:off x="67532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移民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4"/>
            <p:cNvSpPr/>
            <p:nvPr/>
          </p:nvSpPr>
          <p:spPr>
            <a:xfrm>
              <a:off x="71818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12156"/>
              </a:srgbClr>
            </a:solidFill>
            <a:ln cap="flat" cmpd="sng" w="9525">
              <a:solidFill>
                <a:srgbClr val="EA580C">
                  <a:alpha val="3490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4"/>
            <p:cNvSpPr txBox="1"/>
            <p:nvPr/>
          </p:nvSpPr>
          <p:spPr>
            <a:xfrm>
              <a:off x="72485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税务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4"/>
            <p:cNvSpPr/>
            <p:nvPr/>
          </p:nvSpPr>
          <p:spPr>
            <a:xfrm>
              <a:off x="76771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16A34A">
                <a:alpha val="10196"/>
              </a:srgbClr>
            </a:solidFill>
            <a:ln cap="flat" cmpd="sng" w="9525">
              <a:solidFill>
                <a:srgbClr val="16A34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4"/>
            <p:cNvSpPr txBox="1"/>
            <p:nvPr/>
          </p:nvSpPr>
          <p:spPr>
            <a:xfrm>
              <a:off x="77438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招聘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4"/>
            <p:cNvSpPr/>
            <p:nvPr/>
          </p:nvSpPr>
          <p:spPr>
            <a:xfrm>
              <a:off x="81724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4F46E5">
                <a:alpha val="10196"/>
              </a:srgbClr>
            </a:solidFill>
            <a:ln cap="flat" cmpd="sng" w="9525">
              <a:solidFill>
                <a:srgbClr val="4F46E5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4"/>
            <p:cNvSpPr txBox="1"/>
            <p:nvPr/>
          </p:nvSpPr>
          <p:spPr>
            <a:xfrm>
              <a:off x="82391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会计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4"/>
            <p:cNvSpPr/>
            <p:nvPr/>
          </p:nvSpPr>
          <p:spPr>
            <a:xfrm>
              <a:off x="8667750" y="5686425"/>
              <a:ext cx="533400" cy="209550"/>
            </a:xfrm>
            <a:prstGeom prst="roundRect">
              <a:avLst>
                <a:gd fmla="val 50000" name="adj"/>
              </a:avLst>
            </a:prstGeom>
            <a:solidFill>
              <a:srgbClr val="6B7280">
                <a:alpha val="7843"/>
              </a:srgbClr>
            </a:solidFill>
            <a:ln cap="flat" cmpd="sng" w="9525">
              <a:solidFill>
                <a:srgbClr val="9CA3AF">
                  <a:alpha val="2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4"/>
            <p:cNvSpPr txBox="1"/>
            <p:nvPr/>
          </p:nvSpPr>
          <p:spPr>
            <a:xfrm>
              <a:off x="8755428" y="5732145"/>
              <a:ext cx="3580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…更多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6" name="Google Shape;596;p44"/>
          <p:cNvGrpSpPr/>
          <p:nvPr/>
        </p:nvGrpSpPr>
        <p:grpSpPr>
          <a:xfrm>
            <a:off x="2407551" y="4543425"/>
            <a:ext cx="4328898" cy="296466"/>
            <a:chOff x="3210068" y="6057900"/>
            <a:chExt cx="5771864" cy="395288"/>
          </a:xfrm>
        </p:grpSpPr>
        <p:sp>
          <p:nvSpPr>
            <p:cNvPr id="597" name="Google Shape;597;p44"/>
            <p:cNvSpPr/>
            <p:nvPr/>
          </p:nvSpPr>
          <p:spPr>
            <a:xfrm>
              <a:off x="4572000" y="6057900"/>
              <a:ext cx="3048000" cy="9525"/>
            </a:xfrm>
            <a:prstGeom prst="rect">
              <a:avLst/>
            </a:prstGeom>
            <a:solidFill>
              <a:srgbClr val="E2E8F0">
                <a:alpha val="4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4"/>
            <p:cNvSpPr txBox="1"/>
            <p:nvPr/>
          </p:nvSpPr>
          <p:spPr>
            <a:xfrm>
              <a:off x="3210068" y="6178868"/>
              <a:ext cx="57718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不需要会写代码。需要的是</a:t>
              </a:r>
              <a:r>
                <a:rPr b="0" i="0" lang="en" sz="10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你的领域知识</a:t>
              </a:r>
              <a:r>
                <a:rPr b="0" i="0" lang="en" sz="10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——而那个，</a:t>
              </a:r>
              <a:r>
                <a:rPr b="1" i="0" lang="en" sz="10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你已经有了</a:t>
              </a:r>
              <a:r>
                <a:rPr b="0" i="0" lang="en" sz="10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。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9" name="Google Shape;599;p44"/>
          <p:cNvSpPr txBox="1"/>
          <p:nvPr/>
        </p:nvSpPr>
        <p:spPr>
          <a:xfrm>
            <a:off x="8638294" y="4927759"/>
            <a:ext cx="12558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5"/>
          <p:cNvSpPr/>
          <p:nvPr/>
        </p:nvSpPr>
        <p:spPr>
          <a:xfrm>
            <a:off x="457200" y="214313"/>
            <a:ext cx="35719" cy="314325"/>
          </a:xfrm>
          <a:prstGeom prst="roundRect">
            <a:avLst>
              <a:gd fmla="val 4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45"/>
          <p:cNvSpPr txBox="1"/>
          <p:nvPr/>
        </p:nvSpPr>
        <p:spPr>
          <a:xfrm>
            <a:off x="560070" y="195739"/>
            <a:ext cx="57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案例：SEPA 炒股方法论 → Claude Skill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45"/>
          <p:cNvSpPr txBox="1"/>
          <p:nvPr/>
        </p:nvSpPr>
        <p:spPr>
          <a:xfrm>
            <a:off x="574357" y="488633"/>
            <a:ext cx="3506153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Mark Minervini 的成长股策略 · 用 Claude Skills 实现 AI 化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5"/>
          <p:cNvSpPr/>
          <p:nvPr/>
        </p:nvSpPr>
        <p:spPr>
          <a:xfrm>
            <a:off x="457200" y="714375"/>
            <a:ext cx="8229600" cy="7144"/>
          </a:xfrm>
          <a:custGeom>
            <a:rect b="b" l="l" r="r" t="t"/>
            <a:pathLst>
              <a:path extrusionOk="0" h="9525" w="1097280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45"/>
          <p:cNvSpPr/>
          <p:nvPr/>
        </p:nvSpPr>
        <p:spPr>
          <a:xfrm>
            <a:off x="457200" y="842963"/>
            <a:ext cx="8229600" cy="642938"/>
          </a:xfrm>
          <a:prstGeom prst="roundRect">
            <a:avLst>
              <a:gd fmla="val 11111" name="adj"/>
            </a:avLst>
          </a:prstGeom>
          <a:solidFill>
            <a:srgbClr val="FEF3C7"/>
          </a:solidFill>
          <a:ln cap="flat" cmpd="sng" w="9525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0" name="Google Shape;610;p45"/>
          <p:cNvGrpSpPr/>
          <p:nvPr/>
        </p:nvGrpSpPr>
        <p:grpSpPr>
          <a:xfrm>
            <a:off x="655436" y="1012627"/>
            <a:ext cx="160740" cy="160986"/>
            <a:chOff x="873915" y="1350169"/>
            <a:chExt cx="214320" cy="214648"/>
          </a:xfrm>
        </p:grpSpPr>
        <p:sp>
          <p:nvSpPr>
            <p:cNvPr id="611" name="Google Shape;611;p45"/>
            <p:cNvSpPr/>
            <p:nvPr/>
          </p:nvSpPr>
          <p:spPr>
            <a:xfrm>
              <a:off x="873915" y="1350169"/>
              <a:ext cx="71445" cy="214648"/>
            </a:xfrm>
            <a:custGeom>
              <a:rect b="b" l="l" r="r" t="t"/>
              <a:pathLst>
                <a:path extrusionOk="0" h="214648" w="71445">
                  <a:moveTo>
                    <a:pt x="35723" y="0"/>
                  </a:moveTo>
                  <a:cubicBezTo>
                    <a:pt x="41759" y="1"/>
                    <a:pt x="46839" y="4519"/>
                    <a:pt x="47546" y="10513"/>
                  </a:cubicBezTo>
                  <a:lnTo>
                    <a:pt x="47629" y="11906"/>
                  </a:lnTo>
                  <a:lnTo>
                    <a:pt x="47629" y="23812"/>
                  </a:lnTo>
                  <a:cubicBezTo>
                    <a:pt x="60090" y="23809"/>
                    <a:pt x="70447" y="33413"/>
                    <a:pt x="71382" y="45839"/>
                  </a:cubicBezTo>
                  <a:lnTo>
                    <a:pt x="71441" y="47625"/>
                  </a:lnTo>
                  <a:lnTo>
                    <a:pt x="71441" y="83344"/>
                  </a:lnTo>
                  <a:cubicBezTo>
                    <a:pt x="71445" y="95805"/>
                    <a:pt x="61841" y="106162"/>
                    <a:pt x="49415" y="107097"/>
                  </a:cubicBezTo>
                  <a:lnTo>
                    <a:pt x="47629" y="107156"/>
                  </a:lnTo>
                  <a:lnTo>
                    <a:pt x="47629" y="202406"/>
                  </a:lnTo>
                  <a:cubicBezTo>
                    <a:pt x="47622" y="208706"/>
                    <a:pt x="42709" y="213910"/>
                    <a:pt x="36420" y="214279"/>
                  </a:cubicBezTo>
                  <a:cubicBezTo>
                    <a:pt x="30132" y="214648"/>
                    <a:pt x="24644" y="210055"/>
                    <a:pt x="23900" y="203799"/>
                  </a:cubicBezTo>
                  <a:lnTo>
                    <a:pt x="23816" y="202406"/>
                  </a:lnTo>
                  <a:lnTo>
                    <a:pt x="23816" y="107156"/>
                  </a:lnTo>
                  <a:cubicBezTo>
                    <a:pt x="11355" y="107160"/>
                    <a:pt x="998" y="97556"/>
                    <a:pt x="63" y="85130"/>
                  </a:cubicBezTo>
                  <a:lnTo>
                    <a:pt x="4" y="83344"/>
                  </a:lnTo>
                  <a:lnTo>
                    <a:pt x="4" y="47625"/>
                  </a:lnTo>
                  <a:cubicBezTo>
                    <a:pt x="0" y="35164"/>
                    <a:pt x="9604" y="24807"/>
                    <a:pt x="22031" y="23872"/>
                  </a:cubicBezTo>
                  <a:lnTo>
                    <a:pt x="23816" y="23812"/>
                  </a:lnTo>
                  <a:lnTo>
                    <a:pt x="23816" y="11906"/>
                  </a:lnTo>
                  <a:cubicBezTo>
                    <a:pt x="23816" y="5331"/>
                    <a:pt x="29147" y="0"/>
                    <a:pt x="35723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45"/>
            <p:cNvSpPr/>
            <p:nvPr/>
          </p:nvSpPr>
          <p:spPr>
            <a:xfrm>
              <a:off x="945352" y="1350169"/>
              <a:ext cx="71445" cy="214648"/>
            </a:xfrm>
            <a:custGeom>
              <a:rect b="b" l="l" r="r" t="t"/>
              <a:pathLst>
                <a:path extrusionOk="0" h="214648" w="71445">
                  <a:moveTo>
                    <a:pt x="35723" y="0"/>
                  </a:moveTo>
                  <a:cubicBezTo>
                    <a:pt x="41759" y="1"/>
                    <a:pt x="46839" y="4519"/>
                    <a:pt x="47546" y="10513"/>
                  </a:cubicBezTo>
                  <a:lnTo>
                    <a:pt x="47629" y="11906"/>
                  </a:lnTo>
                  <a:lnTo>
                    <a:pt x="47629" y="119062"/>
                  </a:lnTo>
                  <a:cubicBezTo>
                    <a:pt x="60090" y="119059"/>
                    <a:pt x="70447" y="128663"/>
                    <a:pt x="71382" y="141089"/>
                  </a:cubicBezTo>
                  <a:lnTo>
                    <a:pt x="71441" y="142875"/>
                  </a:lnTo>
                  <a:lnTo>
                    <a:pt x="71441" y="178594"/>
                  </a:lnTo>
                  <a:cubicBezTo>
                    <a:pt x="71445" y="191055"/>
                    <a:pt x="61841" y="201412"/>
                    <a:pt x="49415" y="202347"/>
                  </a:cubicBezTo>
                  <a:lnTo>
                    <a:pt x="47629" y="202406"/>
                  </a:lnTo>
                  <a:cubicBezTo>
                    <a:pt x="47622" y="208706"/>
                    <a:pt x="42709" y="213910"/>
                    <a:pt x="36420" y="214279"/>
                  </a:cubicBezTo>
                  <a:cubicBezTo>
                    <a:pt x="30132" y="214648"/>
                    <a:pt x="24644" y="210055"/>
                    <a:pt x="23900" y="203799"/>
                  </a:cubicBezTo>
                  <a:lnTo>
                    <a:pt x="23816" y="202406"/>
                  </a:lnTo>
                  <a:lnTo>
                    <a:pt x="22031" y="202347"/>
                  </a:lnTo>
                  <a:cubicBezTo>
                    <a:pt x="10316" y="201466"/>
                    <a:pt x="994" y="192175"/>
                    <a:pt x="75" y="180463"/>
                  </a:cubicBezTo>
                  <a:lnTo>
                    <a:pt x="4" y="178594"/>
                  </a:lnTo>
                  <a:lnTo>
                    <a:pt x="4" y="142875"/>
                  </a:lnTo>
                  <a:cubicBezTo>
                    <a:pt x="0" y="130414"/>
                    <a:pt x="9604" y="120057"/>
                    <a:pt x="22031" y="119122"/>
                  </a:cubicBezTo>
                  <a:lnTo>
                    <a:pt x="23816" y="119062"/>
                  </a:lnTo>
                  <a:lnTo>
                    <a:pt x="23816" y="11906"/>
                  </a:lnTo>
                  <a:cubicBezTo>
                    <a:pt x="23816" y="5331"/>
                    <a:pt x="29147" y="0"/>
                    <a:pt x="35723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45"/>
            <p:cNvSpPr/>
            <p:nvPr/>
          </p:nvSpPr>
          <p:spPr>
            <a:xfrm>
              <a:off x="1016790" y="1350169"/>
              <a:ext cx="71445" cy="214648"/>
            </a:xfrm>
            <a:custGeom>
              <a:rect b="b" l="l" r="r" t="t"/>
              <a:pathLst>
                <a:path extrusionOk="0" h="214648" w="71445">
                  <a:moveTo>
                    <a:pt x="35723" y="0"/>
                  </a:moveTo>
                  <a:cubicBezTo>
                    <a:pt x="41759" y="1"/>
                    <a:pt x="46839" y="4519"/>
                    <a:pt x="47546" y="10513"/>
                  </a:cubicBezTo>
                  <a:lnTo>
                    <a:pt x="47629" y="11906"/>
                  </a:lnTo>
                  <a:cubicBezTo>
                    <a:pt x="60090" y="11902"/>
                    <a:pt x="70447" y="21507"/>
                    <a:pt x="71382" y="33933"/>
                  </a:cubicBezTo>
                  <a:lnTo>
                    <a:pt x="71441" y="35719"/>
                  </a:lnTo>
                  <a:lnTo>
                    <a:pt x="71441" y="83344"/>
                  </a:lnTo>
                  <a:cubicBezTo>
                    <a:pt x="71445" y="95805"/>
                    <a:pt x="61841" y="106162"/>
                    <a:pt x="49415" y="107097"/>
                  </a:cubicBezTo>
                  <a:lnTo>
                    <a:pt x="47629" y="107156"/>
                  </a:lnTo>
                  <a:lnTo>
                    <a:pt x="47629" y="202406"/>
                  </a:lnTo>
                  <a:cubicBezTo>
                    <a:pt x="47622" y="208706"/>
                    <a:pt x="42709" y="213910"/>
                    <a:pt x="36420" y="214279"/>
                  </a:cubicBezTo>
                  <a:cubicBezTo>
                    <a:pt x="30132" y="214648"/>
                    <a:pt x="24644" y="210055"/>
                    <a:pt x="23900" y="203799"/>
                  </a:cubicBezTo>
                  <a:lnTo>
                    <a:pt x="23816" y="202406"/>
                  </a:lnTo>
                  <a:lnTo>
                    <a:pt x="23816" y="107156"/>
                  </a:lnTo>
                  <a:cubicBezTo>
                    <a:pt x="11355" y="107160"/>
                    <a:pt x="998" y="97556"/>
                    <a:pt x="63" y="85130"/>
                  </a:cubicBezTo>
                  <a:lnTo>
                    <a:pt x="4" y="83344"/>
                  </a:lnTo>
                  <a:lnTo>
                    <a:pt x="4" y="35719"/>
                  </a:lnTo>
                  <a:cubicBezTo>
                    <a:pt x="0" y="23257"/>
                    <a:pt x="9604" y="12900"/>
                    <a:pt x="22031" y="11966"/>
                  </a:cubicBezTo>
                  <a:lnTo>
                    <a:pt x="23816" y="11906"/>
                  </a:lnTo>
                  <a:cubicBezTo>
                    <a:pt x="23816" y="5331"/>
                    <a:pt x="29147" y="0"/>
                    <a:pt x="35723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4" name="Google Shape;614;p45"/>
          <p:cNvSpPr txBox="1"/>
          <p:nvPr/>
        </p:nvSpPr>
        <p:spPr>
          <a:xfrm>
            <a:off x="930116" y="976551"/>
            <a:ext cx="271187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SEPA = Specific Entry Point Analysis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45"/>
          <p:cNvSpPr txBox="1"/>
          <p:nvPr/>
        </p:nvSpPr>
        <p:spPr>
          <a:xfrm>
            <a:off x="618649" y="1215152"/>
            <a:ext cx="494836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Mark Minervini 的成长股择时策略：趋势 + 基本面 + 技术面 + 风险管理四维筛选，找最佳买入点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45"/>
          <p:cNvSpPr txBox="1"/>
          <p:nvPr/>
        </p:nvSpPr>
        <p:spPr>
          <a:xfrm>
            <a:off x="5682139" y="1000839"/>
            <a:ext cx="1400175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S4 用这个做 Skill 实战案例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5"/>
          <p:cNvSpPr/>
          <p:nvPr/>
        </p:nvSpPr>
        <p:spPr>
          <a:xfrm>
            <a:off x="457200" y="1600200"/>
            <a:ext cx="2614613" cy="142875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5"/>
          <p:cNvSpPr/>
          <p:nvPr/>
        </p:nvSpPr>
        <p:spPr>
          <a:xfrm>
            <a:off x="457200" y="1600200"/>
            <a:ext cx="2614613" cy="35719"/>
          </a:xfrm>
          <a:prstGeom prst="roundRect">
            <a:avLst>
              <a:gd fmla="val 4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9" name="Google Shape;619;p45"/>
          <p:cNvGrpSpPr/>
          <p:nvPr/>
        </p:nvGrpSpPr>
        <p:grpSpPr>
          <a:xfrm>
            <a:off x="624092" y="1767072"/>
            <a:ext cx="151818" cy="142690"/>
            <a:chOff x="832122" y="2356096"/>
            <a:chExt cx="202424" cy="190254"/>
          </a:xfrm>
        </p:grpSpPr>
        <p:sp>
          <p:nvSpPr>
            <p:cNvPr id="620" name="Google Shape;620;p45"/>
            <p:cNvSpPr/>
            <p:nvPr/>
          </p:nvSpPr>
          <p:spPr>
            <a:xfrm>
              <a:off x="833438" y="2422729"/>
              <a:ext cx="200025" cy="123621"/>
            </a:xfrm>
            <a:custGeom>
              <a:rect b="b" l="l" r="r" t="t"/>
              <a:pathLst>
                <a:path extrusionOk="0" h="123621" w="200025">
                  <a:moveTo>
                    <a:pt x="135795" y="5551"/>
                  </a:moveTo>
                  <a:cubicBezTo>
                    <a:pt x="139589" y="816"/>
                    <a:pt x="146479" y="0"/>
                    <a:pt x="151274" y="3717"/>
                  </a:cubicBezTo>
                  <a:lnTo>
                    <a:pt x="152319" y="4639"/>
                  </a:lnTo>
                  <a:lnTo>
                    <a:pt x="196769" y="49089"/>
                  </a:lnTo>
                  <a:cubicBezTo>
                    <a:pt x="198496" y="50818"/>
                    <a:pt x="199605" y="53068"/>
                    <a:pt x="199925" y="55490"/>
                  </a:cubicBezTo>
                  <a:lnTo>
                    <a:pt x="200025" y="56946"/>
                  </a:lnTo>
                  <a:lnTo>
                    <a:pt x="200025" y="112509"/>
                  </a:lnTo>
                  <a:cubicBezTo>
                    <a:pt x="200024" y="118142"/>
                    <a:pt x="195808" y="122884"/>
                    <a:pt x="190213" y="123543"/>
                  </a:cubicBezTo>
                  <a:lnTo>
                    <a:pt x="188913" y="123621"/>
                  </a:lnTo>
                  <a:lnTo>
                    <a:pt x="10868" y="123621"/>
                  </a:lnTo>
                  <a:lnTo>
                    <a:pt x="9646" y="123521"/>
                  </a:lnTo>
                  <a:lnTo>
                    <a:pt x="8423" y="123299"/>
                  </a:lnTo>
                  <a:lnTo>
                    <a:pt x="7234" y="122921"/>
                  </a:lnTo>
                  <a:lnTo>
                    <a:pt x="6067" y="122410"/>
                  </a:lnTo>
                  <a:lnTo>
                    <a:pt x="4956" y="121754"/>
                  </a:lnTo>
                  <a:lnTo>
                    <a:pt x="3912" y="120976"/>
                  </a:lnTo>
                  <a:lnTo>
                    <a:pt x="3245" y="120365"/>
                  </a:lnTo>
                  <a:lnTo>
                    <a:pt x="2445" y="119454"/>
                  </a:lnTo>
                  <a:lnTo>
                    <a:pt x="1734" y="118465"/>
                  </a:lnTo>
                  <a:lnTo>
                    <a:pt x="1133" y="117398"/>
                  </a:lnTo>
                  <a:lnTo>
                    <a:pt x="956" y="117009"/>
                  </a:lnTo>
                  <a:lnTo>
                    <a:pt x="511" y="115864"/>
                  </a:lnTo>
                  <a:lnTo>
                    <a:pt x="211" y="114687"/>
                  </a:lnTo>
                  <a:lnTo>
                    <a:pt x="44" y="113486"/>
                  </a:lnTo>
                  <a:lnTo>
                    <a:pt x="0" y="112264"/>
                  </a:lnTo>
                  <a:lnTo>
                    <a:pt x="100" y="111042"/>
                  </a:lnTo>
                  <a:lnTo>
                    <a:pt x="311" y="109875"/>
                  </a:lnTo>
                  <a:cubicBezTo>
                    <a:pt x="422" y="109430"/>
                    <a:pt x="556" y="109019"/>
                    <a:pt x="700" y="108630"/>
                  </a:cubicBezTo>
                  <a:lnTo>
                    <a:pt x="1211" y="107463"/>
                  </a:lnTo>
                  <a:lnTo>
                    <a:pt x="1867" y="106352"/>
                  </a:lnTo>
                  <a:lnTo>
                    <a:pt x="46317" y="39677"/>
                  </a:lnTo>
                  <a:cubicBezTo>
                    <a:pt x="49132" y="35440"/>
                    <a:pt x="54464" y="33654"/>
                    <a:pt x="59263" y="35343"/>
                  </a:cubicBezTo>
                  <a:lnTo>
                    <a:pt x="60530" y="35899"/>
                  </a:lnTo>
                  <a:lnTo>
                    <a:pt x="96945" y="54101"/>
                  </a:lnTo>
                  <a:lnTo>
                    <a:pt x="135784" y="5551"/>
                  </a:ln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45"/>
            <p:cNvSpPr/>
            <p:nvPr/>
          </p:nvSpPr>
          <p:spPr>
            <a:xfrm>
              <a:off x="832122" y="2356096"/>
              <a:ext cx="202424" cy="113782"/>
            </a:xfrm>
            <a:custGeom>
              <a:rect b="b" l="l" r="r" t="t"/>
              <a:pathLst>
                <a:path extrusionOk="0" h="113782" w="202424">
                  <a:moveTo>
                    <a:pt x="137243" y="5342"/>
                  </a:moveTo>
                  <a:cubicBezTo>
                    <a:pt x="141076" y="737"/>
                    <a:pt x="147869" y="0"/>
                    <a:pt x="152601" y="3675"/>
                  </a:cubicBezTo>
                  <a:lnTo>
                    <a:pt x="153634" y="4597"/>
                  </a:lnTo>
                  <a:lnTo>
                    <a:pt x="198084" y="49047"/>
                  </a:lnTo>
                  <a:cubicBezTo>
                    <a:pt x="202221" y="53198"/>
                    <a:pt x="202424" y="59846"/>
                    <a:pt x="198548" y="64241"/>
                  </a:cubicBezTo>
                  <a:cubicBezTo>
                    <a:pt x="194673" y="68636"/>
                    <a:pt x="188051" y="69267"/>
                    <a:pt x="183416" y="65683"/>
                  </a:cubicBezTo>
                  <a:lnTo>
                    <a:pt x="182371" y="64760"/>
                  </a:lnTo>
                  <a:lnTo>
                    <a:pt x="146522" y="28923"/>
                  </a:lnTo>
                  <a:lnTo>
                    <a:pt x="98750" y="86241"/>
                  </a:lnTo>
                  <a:cubicBezTo>
                    <a:pt x="95778" y="89806"/>
                    <a:pt x="90904" y="91148"/>
                    <a:pt x="86526" y="89608"/>
                  </a:cubicBezTo>
                  <a:lnTo>
                    <a:pt x="85248" y="89064"/>
                  </a:lnTo>
                  <a:lnTo>
                    <a:pt x="49088" y="70995"/>
                  </a:lnTo>
                  <a:lnTo>
                    <a:pt x="21318" y="108021"/>
                  </a:lnTo>
                  <a:cubicBezTo>
                    <a:pt x="17959" y="112501"/>
                    <a:pt x="11792" y="113782"/>
                    <a:pt x="6927" y="111011"/>
                  </a:cubicBezTo>
                  <a:lnTo>
                    <a:pt x="5760" y="110244"/>
                  </a:lnTo>
                  <a:cubicBezTo>
                    <a:pt x="1281" y="106885"/>
                    <a:pt x="0" y="100718"/>
                    <a:pt x="2771" y="95853"/>
                  </a:cubicBezTo>
                  <a:lnTo>
                    <a:pt x="3538" y="94686"/>
                  </a:lnTo>
                  <a:lnTo>
                    <a:pt x="36875" y="50236"/>
                  </a:lnTo>
                  <a:cubicBezTo>
                    <a:pt x="39801" y="46340"/>
                    <a:pt x="44923" y="44804"/>
                    <a:pt x="49510" y="46447"/>
                  </a:cubicBezTo>
                  <a:lnTo>
                    <a:pt x="50733" y="46969"/>
                  </a:lnTo>
                  <a:lnTo>
                    <a:pt x="87304" y="65249"/>
                  </a:lnTo>
                  <a:lnTo>
                    <a:pt x="137243" y="5342"/>
                  </a:ln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2" name="Google Shape;622;p45"/>
          <p:cNvSpPr txBox="1"/>
          <p:nvPr/>
        </p:nvSpPr>
        <p:spPr>
          <a:xfrm>
            <a:off x="874395" y="176022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趋势过滤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45"/>
          <p:cNvSpPr txBox="1"/>
          <p:nvPr/>
        </p:nvSpPr>
        <p:spPr>
          <a:xfrm>
            <a:off x="590789" y="2007037"/>
            <a:ext cx="1588520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股价在 200/150/50 日均线之上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45"/>
          <p:cNvSpPr txBox="1"/>
          <p:nvPr/>
        </p:nvSpPr>
        <p:spPr>
          <a:xfrm>
            <a:off x="590789" y="2164199"/>
            <a:ext cx="1604539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均线系统顺序排列（多头排列）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45"/>
          <p:cNvSpPr txBox="1"/>
          <p:nvPr/>
        </p:nvSpPr>
        <p:spPr>
          <a:xfrm>
            <a:off x="590788" y="2321362"/>
            <a:ext cx="143366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52 周高点附近，不是低位股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45"/>
          <p:cNvSpPr txBox="1"/>
          <p:nvPr/>
        </p:nvSpPr>
        <p:spPr>
          <a:xfrm>
            <a:off x="590788" y="2478524"/>
            <a:ext cx="1220063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相对强度排名 RS 前 10%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45"/>
          <p:cNvSpPr/>
          <p:nvPr/>
        </p:nvSpPr>
        <p:spPr>
          <a:xfrm>
            <a:off x="600075" y="2771775"/>
            <a:ext cx="1000125" cy="171450"/>
          </a:xfrm>
          <a:prstGeom prst="roundRect">
            <a:avLst>
              <a:gd fmla="val 50000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45"/>
          <p:cNvSpPr txBox="1"/>
          <p:nvPr/>
        </p:nvSpPr>
        <p:spPr>
          <a:xfrm>
            <a:off x="726806" y="2820352"/>
            <a:ext cx="746665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Trend Template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45"/>
          <p:cNvSpPr/>
          <p:nvPr/>
        </p:nvSpPr>
        <p:spPr>
          <a:xfrm>
            <a:off x="3193256" y="1600200"/>
            <a:ext cx="2614613" cy="142875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45"/>
          <p:cNvSpPr/>
          <p:nvPr/>
        </p:nvSpPr>
        <p:spPr>
          <a:xfrm>
            <a:off x="3193256" y="1600200"/>
            <a:ext cx="2614613" cy="35719"/>
          </a:xfrm>
          <a:prstGeom prst="roundRect">
            <a:avLst>
              <a:gd fmla="val 4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1" name="Google Shape;631;p45"/>
          <p:cNvGrpSpPr/>
          <p:nvPr/>
        </p:nvGrpSpPr>
        <p:grpSpPr>
          <a:xfrm>
            <a:off x="3361134" y="1768079"/>
            <a:ext cx="150019" cy="150019"/>
            <a:chOff x="4481512" y="2357438"/>
            <a:chExt cx="200025" cy="200025"/>
          </a:xfrm>
        </p:grpSpPr>
        <p:sp>
          <p:nvSpPr>
            <p:cNvPr id="632" name="Google Shape;632;p45"/>
            <p:cNvSpPr/>
            <p:nvPr/>
          </p:nvSpPr>
          <p:spPr>
            <a:xfrm>
              <a:off x="4481512" y="2490788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11113" y="0"/>
                  </a:moveTo>
                  <a:cubicBezTo>
                    <a:pt x="17250" y="0"/>
                    <a:pt x="22225" y="4975"/>
                    <a:pt x="22225" y="11113"/>
                  </a:cubicBezTo>
                  <a:lnTo>
                    <a:pt x="22225" y="33338"/>
                  </a:lnTo>
                  <a:cubicBezTo>
                    <a:pt x="22225" y="39475"/>
                    <a:pt x="27200" y="44450"/>
                    <a:pt x="33338" y="44450"/>
                  </a:cubicBezTo>
                  <a:lnTo>
                    <a:pt x="55562" y="44450"/>
                  </a:lnTo>
                  <a:cubicBezTo>
                    <a:pt x="61700" y="44450"/>
                    <a:pt x="66675" y="49425"/>
                    <a:pt x="66675" y="55562"/>
                  </a:cubicBezTo>
                  <a:cubicBezTo>
                    <a:pt x="66675" y="61700"/>
                    <a:pt x="61700" y="66675"/>
                    <a:pt x="55562" y="66675"/>
                  </a:cubicBezTo>
                  <a:lnTo>
                    <a:pt x="33338" y="66675"/>
                  </a:lnTo>
                  <a:cubicBezTo>
                    <a:pt x="14926" y="66675"/>
                    <a:pt x="0" y="51749"/>
                    <a:pt x="0" y="33338"/>
                  </a:cubicBezTo>
                  <a:lnTo>
                    <a:pt x="0" y="11113"/>
                  </a:lnTo>
                  <a:cubicBezTo>
                    <a:pt x="0" y="4975"/>
                    <a:pt x="4975" y="0"/>
                    <a:pt x="11113" y="0"/>
                  </a:cubicBezTo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45"/>
            <p:cNvSpPr/>
            <p:nvPr/>
          </p:nvSpPr>
          <p:spPr>
            <a:xfrm>
              <a:off x="4614862" y="2490788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55562" y="0"/>
                  </a:moveTo>
                  <a:cubicBezTo>
                    <a:pt x="61700" y="0"/>
                    <a:pt x="66675" y="4975"/>
                    <a:pt x="66675" y="11113"/>
                  </a:cubicBezTo>
                  <a:lnTo>
                    <a:pt x="66675" y="33338"/>
                  </a:lnTo>
                  <a:cubicBezTo>
                    <a:pt x="66675" y="51749"/>
                    <a:pt x="51749" y="66675"/>
                    <a:pt x="33338" y="66675"/>
                  </a:cubicBezTo>
                  <a:lnTo>
                    <a:pt x="11113" y="66675"/>
                  </a:lnTo>
                  <a:cubicBezTo>
                    <a:pt x="4975" y="66675"/>
                    <a:pt x="0" y="61700"/>
                    <a:pt x="0" y="55562"/>
                  </a:cubicBezTo>
                  <a:cubicBezTo>
                    <a:pt x="0" y="49425"/>
                    <a:pt x="4975" y="44450"/>
                    <a:pt x="11113" y="44450"/>
                  </a:cubicBezTo>
                  <a:lnTo>
                    <a:pt x="33338" y="44450"/>
                  </a:lnTo>
                  <a:cubicBezTo>
                    <a:pt x="39475" y="44450"/>
                    <a:pt x="44450" y="39475"/>
                    <a:pt x="44450" y="33338"/>
                  </a:cubicBezTo>
                  <a:lnTo>
                    <a:pt x="44450" y="11113"/>
                  </a:lnTo>
                  <a:cubicBezTo>
                    <a:pt x="44450" y="4975"/>
                    <a:pt x="49425" y="0"/>
                    <a:pt x="55562" y="0"/>
                  </a:cubicBezTo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45"/>
            <p:cNvSpPr/>
            <p:nvPr/>
          </p:nvSpPr>
          <p:spPr>
            <a:xfrm>
              <a:off x="4525962" y="2401887"/>
              <a:ext cx="112080" cy="112080"/>
            </a:xfrm>
            <a:custGeom>
              <a:rect b="b" l="l" r="r" t="t"/>
              <a:pathLst>
                <a:path extrusionOk="0" h="112080" w="112080">
                  <a:moveTo>
                    <a:pt x="44450" y="0"/>
                  </a:moveTo>
                  <a:cubicBezTo>
                    <a:pt x="60402" y="0"/>
                    <a:pt x="75130" y="8548"/>
                    <a:pt x="83044" y="22398"/>
                  </a:cubicBezTo>
                  <a:cubicBezTo>
                    <a:pt x="90958" y="36248"/>
                    <a:pt x="90843" y="53277"/>
                    <a:pt x="82744" y="67020"/>
                  </a:cubicBezTo>
                  <a:lnTo>
                    <a:pt x="107869" y="92156"/>
                  </a:lnTo>
                  <a:cubicBezTo>
                    <a:pt x="112080" y="96516"/>
                    <a:pt x="112020" y="103447"/>
                    <a:pt x="107734" y="107734"/>
                  </a:cubicBezTo>
                  <a:cubicBezTo>
                    <a:pt x="103447" y="112020"/>
                    <a:pt x="96516" y="112080"/>
                    <a:pt x="92156" y="107869"/>
                  </a:cubicBezTo>
                  <a:lnTo>
                    <a:pt x="67019" y="82755"/>
                  </a:lnTo>
                  <a:lnTo>
                    <a:pt x="66675" y="82944"/>
                  </a:lnTo>
                  <a:cubicBezTo>
                    <a:pt x="52922" y="90884"/>
                    <a:pt x="35978" y="90884"/>
                    <a:pt x="22225" y="82944"/>
                  </a:cubicBezTo>
                  <a:cubicBezTo>
                    <a:pt x="8473" y="75004"/>
                    <a:pt x="0" y="60330"/>
                    <a:pt x="0" y="44450"/>
                  </a:cubicBezTo>
                  <a:lnTo>
                    <a:pt x="56" y="42228"/>
                  </a:lnTo>
                  <a:cubicBezTo>
                    <a:pt x="1240" y="18572"/>
                    <a:pt x="20765" y="0"/>
                    <a:pt x="44450" y="0"/>
                  </a:cubicBezTo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45"/>
            <p:cNvSpPr/>
            <p:nvPr/>
          </p:nvSpPr>
          <p:spPr>
            <a:xfrm>
              <a:off x="4481512" y="2357438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55562" y="0"/>
                  </a:moveTo>
                  <a:cubicBezTo>
                    <a:pt x="61700" y="0"/>
                    <a:pt x="66675" y="4975"/>
                    <a:pt x="66675" y="11112"/>
                  </a:cubicBezTo>
                  <a:cubicBezTo>
                    <a:pt x="66675" y="17250"/>
                    <a:pt x="61700" y="22225"/>
                    <a:pt x="55562" y="22225"/>
                  </a:cubicBezTo>
                  <a:lnTo>
                    <a:pt x="33338" y="22225"/>
                  </a:lnTo>
                  <a:cubicBezTo>
                    <a:pt x="27200" y="22225"/>
                    <a:pt x="22225" y="27200"/>
                    <a:pt x="22225" y="33338"/>
                  </a:cubicBezTo>
                  <a:lnTo>
                    <a:pt x="22225" y="55563"/>
                  </a:lnTo>
                  <a:cubicBezTo>
                    <a:pt x="22225" y="61700"/>
                    <a:pt x="17250" y="66675"/>
                    <a:pt x="11113" y="66675"/>
                  </a:cubicBezTo>
                  <a:cubicBezTo>
                    <a:pt x="4975" y="66675"/>
                    <a:pt x="0" y="61700"/>
                    <a:pt x="0" y="55563"/>
                  </a:cubicBezTo>
                  <a:lnTo>
                    <a:pt x="0" y="33338"/>
                  </a:lnTo>
                  <a:cubicBezTo>
                    <a:pt x="0" y="14926"/>
                    <a:pt x="14926" y="0"/>
                    <a:pt x="33338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45"/>
            <p:cNvSpPr/>
            <p:nvPr/>
          </p:nvSpPr>
          <p:spPr>
            <a:xfrm>
              <a:off x="4614862" y="2357438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33338" y="0"/>
                  </a:moveTo>
                  <a:cubicBezTo>
                    <a:pt x="51749" y="0"/>
                    <a:pt x="66675" y="14926"/>
                    <a:pt x="66675" y="33338"/>
                  </a:cubicBezTo>
                  <a:lnTo>
                    <a:pt x="66675" y="55563"/>
                  </a:lnTo>
                  <a:cubicBezTo>
                    <a:pt x="66675" y="61700"/>
                    <a:pt x="61700" y="66675"/>
                    <a:pt x="55562" y="66675"/>
                  </a:cubicBezTo>
                  <a:cubicBezTo>
                    <a:pt x="49425" y="66675"/>
                    <a:pt x="44450" y="61700"/>
                    <a:pt x="44450" y="55563"/>
                  </a:cubicBezTo>
                  <a:lnTo>
                    <a:pt x="44450" y="33338"/>
                  </a:lnTo>
                  <a:cubicBezTo>
                    <a:pt x="44450" y="27200"/>
                    <a:pt x="39475" y="22225"/>
                    <a:pt x="33338" y="22225"/>
                  </a:cubicBezTo>
                  <a:lnTo>
                    <a:pt x="11113" y="22225"/>
                  </a:lnTo>
                  <a:cubicBezTo>
                    <a:pt x="4975" y="22225"/>
                    <a:pt x="0" y="17250"/>
                    <a:pt x="0" y="11112"/>
                  </a:cubicBezTo>
                  <a:cubicBezTo>
                    <a:pt x="0" y="4975"/>
                    <a:pt x="4975" y="0"/>
                    <a:pt x="11113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7" name="Google Shape;637;p45"/>
          <p:cNvSpPr txBox="1"/>
          <p:nvPr/>
        </p:nvSpPr>
        <p:spPr>
          <a:xfrm>
            <a:off x="3610451" y="1760220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基本面筛选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45"/>
          <p:cNvSpPr txBox="1"/>
          <p:nvPr/>
        </p:nvSpPr>
        <p:spPr>
          <a:xfrm>
            <a:off x="3326844" y="2007037"/>
            <a:ext cx="1348222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EPS 连续 3 季度增长 25%+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45"/>
          <p:cNvSpPr txBox="1"/>
          <p:nvPr/>
        </p:nvSpPr>
        <p:spPr>
          <a:xfrm>
            <a:off x="3326844" y="2164199"/>
            <a:ext cx="1390942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营收加速增长，不是一次性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45"/>
          <p:cNvSpPr txBox="1"/>
          <p:nvPr/>
        </p:nvSpPr>
        <p:spPr>
          <a:xfrm>
            <a:off x="3326844" y="2321362"/>
            <a:ext cx="1294822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ROE 17%+，净利润率扩张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5"/>
          <p:cNvSpPr txBox="1"/>
          <p:nvPr/>
        </p:nvSpPr>
        <p:spPr>
          <a:xfrm>
            <a:off x="3326844" y="2478524"/>
            <a:ext cx="963746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机构持仓正在增加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45"/>
          <p:cNvSpPr/>
          <p:nvPr/>
        </p:nvSpPr>
        <p:spPr>
          <a:xfrm>
            <a:off x="3336131" y="2771775"/>
            <a:ext cx="1000125" cy="171450"/>
          </a:xfrm>
          <a:prstGeom prst="roundRect">
            <a:avLst>
              <a:gd fmla="val 50000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5"/>
          <p:cNvSpPr txBox="1"/>
          <p:nvPr/>
        </p:nvSpPr>
        <p:spPr>
          <a:xfrm>
            <a:off x="3381530" y="2820352"/>
            <a:ext cx="90932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Fundamental Check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5"/>
          <p:cNvSpPr/>
          <p:nvPr/>
        </p:nvSpPr>
        <p:spPr>
          <a:xfrm>
            <a:off x="5929313" y="1600200"/>
            <a:ext cx="2757488" cy="142875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45"/>
          <p:cNvSpPr/>
          <p:nvPr/>
        </p:nvSpPr>
        <p:spPr>
          <a:xfrm>
            <a:off x="5929313" y="1600200"/>
            <a:ext cx="2757488" cy="35719"/>
          </a:xfrm>
          <a:prstGeom prst="roundRect">
            <a:avLst>
              <a:gd fmla="val 4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45"/>
          <p:cNvSpPr/>
          <p:nvPr/>
        </p:nvSpPr>
        <p:spPr>
          <a:xfrm>
            <a:off x="6105525" y="1759744"/>
            <a:ext cx="133350" cy="166688"/>
          </a:xfrm>
          <a:custGeom>
            <a:rect b="b" l="l" r="r" t="t"/>
            <a:pathLst>
              <a:path extrusionOk="0" h="222250" w="177800">
                <a:moveTo>
                  <a:pt x="88900" y="0"/>
                </a:moveTo>
                <a:cubicBezTo>
                  <a:pt x="119586" y="0"/>
                  <a:pt x="144463" y="24876"/>
                  <a:pt x="144463" y="55562"/>
                </a:cubicBezTo>
                <a:lnTo>
                  <a:pt x="144463" y="88900"/>
                </a:lnTo>
                <a:cubicBezTo>
                  <a:pt x="162874" y="88900"/>
                  <a:pt x="177800" y="103826"/>
                  <a:pt x="177800" y="122238"/>
                </a:cubicBezTo>
                <a:lnTo>
                  <a:pt x="177800" y="188913"/>
                </a:lnTo>
                <a:cubicBezTo>
                  <a:pt x="177800" y="207324"/>
                  <a:pt x="162874" y="222250"/>
                  <a:pt x="144463" y="222250"/>
                </a:cubicBezTo>
                <a:lnTo>
                  <a:pt x="33338" y="222250"/>
                </a:lnTo>
                <a:cubicBezTo>
                  <a:pt x="14926" y="222250"/>
                  <a:pt x="0" y="207324"/>
                  <a:pt x="0" y="188913"/>
                </a:cubicBezTo>
                <a:lnTo>
                  <a:pt x="0" y="122238"/>
                </a:lnTo>
                <a:cubicBezTo>
                  <a:pt x="0" y="103826"/>
                  <a:pt x="14926" y="88900"/>
                  <a:pt x="33338" y="88900"/>
                </a:cubicBezTo>
                <a:lnTo>
                  <a:pt x="33338" y="55562"/>
                </a:lnTo>
                <a:cubicBezTo>
                  <a:pt x="33338" y="24876"/>
                  <a:pt x="58214" y="0"/>
                  <a:pt x="88900" y="0"/>
                </a:cubicBezTo>
                <a:moveTo>
                  <a:pt x="88900" y="133350"/>
                </a:moveTo>
                <a:cubicBezTo>
                  <a:pt x="77269" y="133346"/>
                  <a:pt x="67603" y="142310"/>
                  <a:pt x="66731" y="153908"/>
                </a:cubicBezTo>
                <a:lnTo>
                  <a:pt x="66675" y="155575"/>
                </a:lnTo>
                <a:cubicBezTo>
                  <a:pt x="66675" y="167850"/>
                  <a:pt x="76625" y="177800"/>
                  <a:pt x="88900" y="177800"/>
                </a:cubicBezTo>
                <a:cubicBezTo>
                  <a:pt x="101175" y="177800"/>
                  <a:pt x="111125" y="167850"/>
                  <a:pt x="111125" y="155575"/>
                </a:cubicBezTo>
                <a:cubicBezTo>
                  <a:pt x="111125" y="143300"/>
                  <a:pt x="101175" y="133350"/>
                  <a:pt x="88900" y="133350"/>
                </a:cubicBezTo>
                <a:moveTo>
                  <a:pt x="88900" y="22225"/>
                </a:moveTo>
                <a:cubicBezTo>
                  <a:pt x="70488" y="22225"/>
                  <a:pt x="55563" y="37151"/>
                  <a:pt x="55563" y="55562"/>
                </a:cubicBezTo>
                <a:lnTo>
                  <a:pt x="55563" y="88900"/>
                </a:lnTo>
                <a:lnTo>
                  <a:pt x="122238" y="88900"/>
                </a:lnTo>
                <a:lnTo>
                  <a:pt x="122238" y="55562"/>
                </a:lnTo>
                <a:cubicBezTo>
                  <a:pt x="122238" y="37151"/>
                  <a:pt x="107312" y="22225"/>
                  <a:pt x="88900" y="22225"/>
                </a:cubicBezTo>
              </a:path>
            </a:pathLst>
          </a:cu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45"/>
          <p:cNvSpPr txBox="1"/>
          <p:nvPr/>
        </p:nvSpPr>
        <p:spPr>
          <a:xfrm>
            <a:off x="6346508" y="1760220"/>
            <a:ext cx="11477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买入点 + 风险控制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45"/>
          <p:cNvSpPr txBox="1"/>
          <p:nvPr/>
        </p:nvSpPr>
        <p:spPr>
          <a:xfrm>
            <a:off x="6062901" y="2007037"/>
            <a:ext cx="1689979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图形整固（VCP / 杯柄）突破买入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45"/>
          <p:cNvSpPr txBox="1"/>
          <p:nvPr/>
        </p:nvSpPr>
        <p:spPr>
          <a:xfrm>
            <a:off x="6062901" y="2164199"/>
            <a:ext cx="144434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止损设在整固低点下方 7-8%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45"/>
          <p:cNvSpPr txBox="1"/>
          <p:nvPr/>
        </p:nvSpPr>
        <p:spPr>
          <a:xfrm>
            <a:off x="6062901" y="2321362"/>
            <a:ext cx="1177343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仓位根据风险比例计算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45"/>
          <p:cNvSpPr txBox="1"/>
          <p:nvPr/>
        </p:nvSpPr>
        <p:spPr>
          <a:xfrm>
            <a:off x="6062901" y="2478524"/>
            <a:ext cx="1284143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止盈分批，跟踪止损退出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45"/>
          <p:cNvSpPr/>
          <p:nvPr/>
        </p:nvSpPr>
        <p:spPr>
          <a:xfrm>
            <a:off x="6072188" y="2771775"/>
            <a:ext cx="1000125" cy="171450"/>
          </a:xfrm>
          <a:prstGeom prst="roundRect">
            <a:avLst>
              <a:gd fmla="val 50000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45"/>
          <p:cNvSpPr txBox="1"/>
          <p:nvPr/>
        </p:nvSpPr>
        <p:spPr>
          <a:xfrm>
            <a:off x="6083082" y="2820352"/>
            <a:ext cx="97833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Entry Point Analysis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45"/>
          <p:cNvSpPr/>
          <p:nvPr/>
        </p:nvSpPr>
        <p:spPr>
          <a:xfrm>
            <a:off x="457200" y="3143250"/>
            <a:ext cx="8229600" cy="657225"/>
          </a:xfrm>
          <a:prstGeom prst="roundRect">
            <a:avLst>
              <a:gd fmla="val 10870" name="adj"/>
            </a:avLst>
          </a:prstGeom>
          <a:solidFill>
            <a:srgbClr val="FFF7ED"/>
          </a:solidFill>
          <a:ln cap="flat" cmpd="sng" w="9525">
            <a:solidFill>
              <a:srgbClr val="EA580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45"/>
          <p:cNvSpPr txBox="1"/>
          <p:nvPr/>
        </p:nvSpPr>
        <p:spPr>
          <a:xfrm>
            <a:off x="2807751" y="3288982"/>
            <a:ext cx="352849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S4 的做法：把 SEPA 的每个判断标准，写成 Claude Skills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45"/>
          <p:cNvSpPr txBox="1"/>
          <p:nvPr/>
        </p:nvSpPr>
        <p:spPr>
          <a:xfrm>
            <a:off x="2149572" y="3501152"/>
            <a:ext cx="4844855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你定义规则，AI 执行分析 · /ticker-scan → /stock-analyze → /stock-entry → /stock-exit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45"/>
          <p:cNvSpPr txBox="1"/>
          <p:nvPr/>
        </p:nvSpPr>
        <p:spPr>
          <a:xfrm>
            <a:off x="3449235" y="3658314"/>
            <a:ext cx="224553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你的方法论 + Claude = 自动化的投研流水线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45"/>
          <p:cNvSpPr txBox="1"/>
          <p:nvPr/>
        </p:nvSpPr>
        <p:spPr>
          <a:xfrm>
            <a:off x="8405176" y="4921687"/>
            <a:ext cx="290912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9 / 17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46"/>
          <p:cNvSpPr/>
          <p:nvPr/>
        </p:nvSpPr>
        <p:spPr>
          <a:xfrm>
            <a:off x="457200" y="214313"/>
            <a:ext cx="35719" cy="314325"/>
          </a:xfrm>
          <a:prstGeom prst="roundRect">
            <a:avLst>
              <a:gd fmla="val 4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46"/>
          <p:cNvSpPr txBox="1"/>
          <p:nvPr/>
        </p:nvSpPr>
        <p:spPr>
          <a:xfrm>
            <a:off x="560070" y="195739"/>
            <a:ext cx="44921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四个 Skill，串成完整交易流水线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46"/>
          <p:cNvSpPr txBox="1"/>
          <p:nvPr/>
        </p:nvSpPr>
        <p:spPr>
          <a:xfrm>
            <a:off x="574358" y="488633"/>
            <a:ext cx="25203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S4 核心产出 · 从扫股到退出，全程 AI 辅助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46"/>
          <p:cNvSpPr/>
          <p:nvPr/>
        </p:nvSpPr>
        <p:spPr>
          <a:xfrm>
            <a:off x="457200" y="714375"/>
            <a:ext cx="8229600" cy="7144"/>
          </a:xfrm>
          <a:custGeom>
            <a:rect b="b" l="l" r="r" t="t"/>
            <a:pathLst>
              <a:path extrusionOk="0" h="9525" w="1097280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46"/>
          <p:cNvSpPr/>
          <p:nvPr/>
        </p:nvSpPr>
        <p:spPr>
          <a:xfrm>
            <a:off x="457200" y="914400"/>
            <a:ext cx="1843088" cy="34290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46"/>
          <p:cNvSpPr/>
          <p:nvPr/>
        </p:nvSpPr>
        <p:spPr>
          <a:xfrm>
            <a:off x="457200" y="914400"/>
            <a:ext cx="1843088" cy="42863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6"/>
          <p:cNvSpPr/>
          <p:nvPr/>
        </p:nvSpPr>
        <p:spPr>
          <a:xfrm>
            <a:off x="585788" y="1042988"/>
            <a:ext cx="457200" cy="171450"/>
          </a:xfrm>
          <a:prstGeom prst="roundRect">
            <a:avLst>
              <a:gd fmla="val 50000" name="adj"/>
            </a:avLst>
          </a:prstGeom>
          <a:solidFill>
            <a:srgbClr val="FFF7ED"/>
          </a:solidFill>
          <a:ln cap="flat" cmpd="sng" w="9525">
            <a:solidFill>
              <a:srgbClr val="EA580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46"/>
          <p:cNvSpPr txBox="1"/>
          <p:nvPr/>
        </p:nvSpPr>
        <p:spPr>
          <a:xfrm>
            <a:off x="640688" y="1084421"/>
            <a:ext cx="347401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STEP 01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6"/>
          <p:cNvSpPr/>
          <p:nvPr/>
        </p:nvSpPr>
        <p:spPr>
          <a:xfrm>
            <a:off x="1007269" y="1414463"/>
            <a:ext cx="742950" cy="742950"/>
          </a:xfrm>
          <a:prstGeom prst="ellipse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46"/>
          <p:cNvSpPr/>
          <p:nvPr/>
        </p:nvSpPr>
        <p:spPr>
          <a:xfrm>
            <a:off x="1173070" y="1577556"/>
            <a:ext cx="397811" cy="400519"/>
          </a:xfrm>
          <a:custGeom>
            <a:rect b="b" l="l" r="r" t="t"/>
            <a:pathLst>
              <a:path extrusionOk="0" h="534026" w="530415">
                <a:moveTo>
                  <a:pt x="325032" y="51071"/>
                </a:moveTo>
                <a:cubicBezTo>
                  <a:pt x="375884" y="80426"/>
                  <a:pt x="411553" y="130343"/>
                  <a:pt x="422849" y="187963"/>
                </a:cubicBezTo>
                <a:cubicBezTo>
                  <a:pt x="434145" y="245583"/>
                  <a:pt x="419964" y="305272"/>
                  <a:pt x="383960" y="351655"/>
                </a:cubicBezTo>
                <a:lnTo>
                  <a:pt x="520789" y="488485"/>
                </a:lnTo>
                <a:cubicBezTo>
                  <a:pt x="530415" y="498451"/>
                  <a:pt x="530278" y="514293"/>
                  <a:pt x="520480" y="524091"/>
                </a:cubicBezTo>
                <a:cubicBezTo>
                  <a:pt x="510682" y="533889"/>
                  <a:pt x="494840" y="534026"/>
                  <a:pt x="484874" y="524400"/>
                </a:cubicBezTo>
                <a:lnTo>
                  <a:pt x="348019" y="387570"/>
                </a:lnTo>
                <a:cubicBezTo>
                  <a:pt x="267347" y="450167"/>
                  <a:pt x="152752" y="443177"/>
                  <a:pt x="80288" y="371238"/>
                </a:cubicBezTo>
                <a:cubicBezTo>
                  <a:pt x="7824" y="299299"/>
                  <a:pt x="0" y="184757"/>
                  <a:pt x="62009" y="103633"/>
                </a:cubicBezTo>
                <a:cubicBezTo>
                  <a:pt x="124017" y="22509"/>
                  <a:pt x="236598" y="0"/>
                  <a:pt x="325032" y="51046"/>
                </a:cubicBezTo>
              </a:path>
            </a:pathLst>
          </a:cu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46"/>
          <p:cNvSpPr/>
          <p:nvPr/>
        </p:nvSpPr>
        <p:spPr>
          <a:xfrm>
            <a:off x="614363" y="2286000"/>
            <a:ext cx="1528763" cy="257175"/>
          </a:xfrm>
          <a:prstGeom prst="roundRect">
            <a:avLst>
              <a:gd fmla="val 16667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46"/>
          <p:cNvSpPr txBox="1"/>
          <p:nvPr/>
        </p:nvSpPr>
        <p:spPr>
          <a:xfrm>
            <a:off x="896380" y="2348151"/>
            <a:ext cx="96472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A580C"/>
                </a:solidFill>
                <a:latin typeface="Consolas"/>
                <a:ea typeface="Consolas"/>
                <a:cs typeface="Consolas"/>
                <a:sym typeface="Consolas"/>
              </a:rPr>
              <a:t>/ticker-scan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46"/>
          <p:cNvSpPr txBox="1"/>
          <p:nvPr/>
        </p:nvSpPr>
        <p:spPr>
          <a:xfrm>
            <a:off x="977711" y="2619614"/>
            <a:ext cx="8020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扫描候选股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46"/>
          <p:cNvSpPr/>
          <p:nvPr/>
        </p:nvSpPr>
        <p:spPr>
          <a:xfrm>
            <a:off x="614363" y="2843213"/>
            <a:ext cx="1528763" cy="7144"/>
          </a:xfrm>
          <a:custGeom>
            <a:rect b="b" l="l" r="r" t="t"/>
            <a:pathLst>
              <a:path extrusionOk="0" h="9525" w="2038350">
                <a:moveTo>
                  <a:pt x="0" y="0"/>
                </a:moveTo>
                <a:lnTo>
                  <a:pt x="203835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6"/>
          <p:cNvSpPr txBox="1"/>
          <p:nvPr/>
        </p:nvSpPr>
        <p:spPr>
          <a:xfrm>
            <a:off x="785045" y="2943939"/>
            <a:ext cx="118739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输入赛道 / 板块关键词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46"/>
          <p:cNvSpPr txBox="1"/>
          <p:nvPr/>
        </p:nvSpPr>
        <p:spPr>
          <a:xfrm>
            <a:off x="851178" y="3101102"/>
            <a:ext cx="1055132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批量筛选候选股清单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46"/>
          <p:cNvSpPr/>
          <p:nvPr/>
        </p:nvSpPr>
        <p:spPr>
          <a:xfrm>
            <a:off x="614363" y="3486150"/>
            <a:ext cx="1528763" cy="185738"/>
          </a:xfrm>
          <a:prstGeom prst="roundRect">
            <a:avLst>
              <a:gd fmla="val 23077" name="adj"/>
            </a:avLst>
          </a:prstGeom>
          <a:solidFill>
            <a:srgbClr val="FFF7ED"/>
          </a:solidFill>
          <a:ln cap="flat" cmpd="sng" w="9525">
            <a:solidFill>
              <a:srgbClr val="EA580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46"/>
          <p:cNvSpPr txBox="1"/>
          <p:nvPr/>
        </p:nvSpPr>
        <p:spPr>
          <a:xfrm>
            <a:off x="692229" y="3540800"/>
            <a:ext cx="92530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46"/>
          <p:cNvSpPr txBox="1"/>
          <p:nvPr/>
        </p:nvSpPr>
        <p:spPr>
          <a:xfrm>
            <a:off x="1144964" y="3540800"/>
            <a:ext cx="467558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赛道关键词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46"/>
          <p:cNvSpPr/>
          <p:nvPr/>
        </p:nvSpPr>
        <p:spPr>
          <a:xfrm>
            <a:off x="614363" y="3729038"/>
            <a:ext cx="1528763" cy="185738"/>
          </a:xfrm>
          <a:prstGeom prst="roundRect">
            <a:avLst>
              <a:gd fmla="val 23077" name="adj"/>
            </a:avLst>
          </a:prstGeom>
          <a:solidFill>
            <a:srgbClr val="F0FDF4"/>
          </a:solidFill>
          <a:ln cap="flat" cmpd="sng" w="9525">
            <a:solidFill>
              <a:srgbClr val="16A3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46"/>
          <p:cNvSpPr txBox="1"/>
          <p:nvPr/>
        </p:nvSpPr>
        <p:spPr>
          <a:xfrm>
            <a:off x="692229" y="3783687"/>
            <a:ext cx="182898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46"/>
          <p:cNvSpPr txBox="1"/>
          <p:nvPr/>
        </p:nvSpPr>
        <p:spPr>
          <a:xfrm>
            <a:off x="1144964" y="3783687"/>
            <a:ext cx="467558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候选股清单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46"/>
          <p:cNvSpPr/>
          <p:nvPr/>
        </p:nvSpPr>
        <p:spPr>
          <a:xfrm>
            <a:off x="2300288" y="2628900"/>
            <a:ext cx="271463" cy="7144"/>
          </a:xfrm>
          <a:custGeom>
            <a:rect b="b" l="l" r="r" t="t"/>
            <a:pathLst>
              <a:path extrusionOk="0" h="9525"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cap="flat" cmpd="sng" w="19050">
            <a:solidFill>
              <a:srgbClr val="EA580C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46"/>
          <p:cNvSpPr/>
          <p:nvPr/>
        </p:nvSpPr>
        <p:spPr>
          <a:xfrm>
            <a:off x="2543175" y="2593181"/>
            <a:ext cx="71438" cy="71438"/>
          </a:xfrm>
          <a:custGeom>
            <a:rect b="b" l="l" r="r" t="t"/>
            <a:pathLst>
              <a:path extrusionOk="0" h="95250" w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EA580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46"/>
          <p:cNvSpPr/>
          <p:nvPr/>
        </p:nvSpPr>
        <p:spPr>
          <a:xfrm>
            <a:off x="2643188" y="914400"/>
            <a:ext cx="1843088" cy="34290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46"/>
          <p:cNvSpPr/>
          <p:nvPr/>
        </p:nvSpPr>
        <p:spPr>
          <a:xfrm>
            <a:off x="2643188" y="914400"/>
            <a:ext cx="1843088" cy="42863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46"/>
          <p:cNvSpPr/>
          <p:nvPr/>
        </p:nvSpPr>
        <p:spPr>
          <a:xfrm>
            <a:off x="2771775" y="1042988"/>
            <a:ext cx="457200" cy="171450"/>
          </a:xfrm>
          <a:prstGeom prst="roundRect">
            <a:avLst>
              <a:gd fmla="val 50000" name="adj"/>
            </a:avLst>
          </a:prstGeom>
          <a:solidFill>
            <a:srgbClr val="EEF2FF"/>
          </a:solidFill>
          <a:ln cap="flat" cmpd="sng" w="9525">
            <a:solidFill>
              <a:srgbClr val="4F46E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46"/>
          <p:cNvSpPr txBox="1"/>
          <p:nvPr/>
        </p:nvSpPr>
        <p:spPr>
          <a:xfrm>
            <a:off x="2814352" y="1084421"/>
            <a:ext cx="372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STEP 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46"/>
          <p:cNvSpPr/>
          <p:nvPr/>
        </p:nvSpPr>
        <p:spPr>
          <a:xfrm>
            <a:off x="3193256" y="1414463"/>
            <a:ext cx="742950" cy="74295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3" name="Google Shape;693;p46"/>
          <p:cNvGrpSpPr/>
          <p:nvPr/>
        </p:nvGrpSpPr>
        <p:grpSpPr>
          <a:xfrm>
            <a:off x="3392744" y="1650216"/>
            <a:ext cx="343974" cy="288122"/>
            <a:chOff x="4523659" y="2200288"/>
            <a:chExt cx="458632" cy="384162"/>
          </a:xfrm>
        </p:grpSpPr>
        <p:sp>
          <p:nvSpPr>
            <p:cNvPr id="694" name="Google Shape;694;p46"/>
            <p:cNvSpPr/>
            <p:nvPr/>
          </p:nvSpPr>
          <p:spPr>
            <a:xfrm>
              <a:off x="4523659" y="2533650"/>
              <a:ext cx="458632" cy="50800"/>
            </a:xfrm>
            <a:custGeom>
              <a:rect b="b" l="l" r="r" t="t"/>
              <a:pathLst>
                <a:path extrusionOk="0" h="50800" w="458632">
                  <a:moveTo>
                    <a:pt x="432516" y="0"/>
                  </a:moveTo>
                  <a:cubicBezTo>
                    <a:pt x="445955" y="15"/>
                    <a:pt x="457056" y="10496"/>
                    <a:pt x="457844" y="23911"/>
                  </a:cubicBezTo>
                  <a:cubicBezTo>
                    <a:pt x="458632" y="37327"/>
                    <a:pt x="448832" y="49035"/>
                    <a:pt x="435488" y="50622"/>
                  </a:cubicBezTo>
                  <a:lnTo>
                    <a:pt x="432516" y="50800"/>
                  </a:lnTo>
                  <a:lnTo>
                    <a:pt x="26116" y="50800"/>
                  </a:lnTo>
                  <a:cubicBezTo>
                    <a:pt x="12677" y="50785"/>
                    <a:pt x="1575" y="40304"/>
                    <a:pt x="788" y="26889"/>
                  </a:cubicBezTo>
                  <a:cubicBezTo>
                    <a:pt x="0" y="13473"/>
                    <a:pt x="9799" y="1765"/>
                    <a:pt x="23144" y="178"/>
                  </a:cubicBezTo>
                  <a:lnTo>
                    <a:pt x="26116" y="0"/>
                  </a:lnTo>
                  <a:lnTo>
                    <a:pt x="432516" y="0"/>
                  </a:ln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46"/>
            <p:cNvSpPr/>
            <p:nvPr/>
          </p:nvSpPr>
          <p:spPr>
            <a:xfrm>
              <a:off x="4524375" y="2200288"/>
              <a:ext cx="457200" cy="282562"/>
            </a:xfrm>
            <a:custGeom>
              <a:rect b="b" l="l" r="r" t="t"/>
              <a:pathLst>
                <a:path extrusionOk="0" h="282562" w="457200">
                  <a:moveTo>
                    <a:pt x="310388" y="12687"/>
                  </a:moveTo>
                  <a:cubicBezTo>
                    <a:pt x="319060" y="1865"/>
                    <a:pt x="334810" y="0"/>
                    <a:pt x="345770" y="8496"/>
                  </a:cubicBezTo>
                  <a:lnTo>
                    <a:pt x="348158" y="10604"/>
                  </a:lnTo>
                  <a:lnTo>
                    <a:pt x="449758" y="112204"/>
                  </a:lnTo>
                  <a:cubicBezTo>
                    <a:pt x="453705" y="116156"/>
                    <a:pt x="456241" y="121298"/>
                    <a:pt x="456971" y="126835"/>
                  </a:cubicBezTo>
                  <a:lnTo>
                    <a:pt x="457200" y="130162"/>
                  </a:lnTo>
                  <a:lnTo>
                    <a:pt x="457200" y="257162"/>
                  </a:lnTo>
                  <a:cubicBezTo>
                    <a:pt x="457198" y="270039"/>
                    <a:pt x="447561" y="280878"/>
                    <a:pt x="434772" y="282384"/>
                  </a:cubicBezTo>
                  <a:lnTo>
                    <a:pt x="431800" y="282562"/>
                  </a:lnTo>
                  <a:lnTo>
                    <a:pt x="24841" y="282562"/>
                  </a:lnTo>
                  <a:lnTo>
                    <a:pt x="22047" y="282334"/>
                  </a:lnTo>
                  <a:lnTo>
                    <a:pt x="19253" y="281826"/>
                  </a:lnTo>
                  <a:lnTo>
                    <a:pt x="16535" y="280962"/>
                  </a:lnTo>
                  <a:lnTo>
                    <a:pt x="13868" y="279794"/>
                  </a:lnTo>
                  <a:lnTo>
                    <a:pt x="11328" y="278295"/>
                  </a:lnTo>
                  <a:lnTo>
                    <a:pt x="8941" y="276517"/>
                  </a:lnTo>
                  <a:lnTo>
                    <a:pt x="7417" y="275120"/>
                  </a:lnTo>
                  <a:lnTo>
                    <a:pt x="5588" y="273037"/>
                  </a:lnTo>
                  <a:lnTo>
                    <a:pt x="3962" y="270777"/>
                  </a:lnTo>
                  <a:lnTo>
                    <a:pt x="2591" y="268338"/>
                  </a:lnTo>
                  <a:lnTo>
                    <a:pt x="2184" y="267449"/>
                  </a:lnTo>
                  <a:lnTo>
                    <a:pt x="1168" y="264833"/>
                  </a:lnTo>
                  <a:lnTo>
                    <a:pt x="483" y="262141"/>
                  </a:lnTo>
                  <a:lnTo>
                    <a:pt x="102" y="259397"/>
                  </a:lnTo>
                  <a:lnTo>
                    <a:pt x="0" y="256603"/>
                  </a:lnTo>
                  <a:lnTo>
                    <a:pt x="229" y="253809"/>
                  </a:lnTo>
                  <a:lnTo>
                    <a:pt x="711" y="251142"/>
                  </a:lnTo>
                  <a:cubicBezTo>
                    <a:pt x="965" y="250126"/>
                    <a:pt x="1270" y="249187"/>
                    <a:pt x="1600" y="248298"/>
                  </a:cubicBezTo>
                  <a:lnTo>
                    <a:pt x="2769" y="245631"/>
                  </a:lnTo>
                  <a:lnTo>
                    <a:pt x="4267" y="243091"/>
                  </a:lnTo>
                  <a:lnTo>
                    <a:pt x="105867" y="90691"/>
                  </a:lnTo>
                  <a:cubicBezTo>
                    <a:pt x="112301" y="81005"/>
                    <a:pt x="124490" y="76924"/>
                    <a:pt x="135458" y="80785"/>
                  </a:cubicBezTo>
                  <a:lnTo>
                    <a:pt x="138354" y="82055"/>
                  </a:lnTo>
                  <a:lnTo>
                    <a:pt x="221590" y="123660"/>
                  </a:lnTo>
                  <a:lnTo>
                    <a:pt x="310363" y="12687"/>
                  </a:ln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6" name="Google Shape;696;p46"/>
          <p:cNvSpPr/>
          <p:nvPr/>
        </p:nvSpPr>
        <p:spPr>
          <a:xfrm>
            <a:off x="2800350" y="2286000"/>
            <a:ext cx="1528763" cy="257175"/>
          </a:xfrm>
          <a:prstGeom prst="roundRect">
            <a:avLst>
              <a:gd fmla="val 16667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46"/>
          <p:cNvSpPr txBox="1"/>
          <p:nvPr/>
        </p:nvSpPr>
        <p:spPr>
          <a:xfrm>
            <a:off x="3032352" y="2354223"/>
            <a:ext cx="1064758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/stock-analyze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46"/>
          <p:cNvSpPr txBox="1"/>
          <p:nvPr/>
        </p:nvSpPr>
        <p:spPr>
          <a:xfrm>
            <a:off x="3043365" y="2619614"/>
            <a:ext cx="10427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基本面+技术面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46"/>
          <p:cNvSpPr/>
          <p:nvPr/>
        </p:nvSpPr>
        <p:spPr>
          <a:xfrm>
            <a:off x="2800350" y="2843213"/>
            <a:ext cx="1528763" cy="7144"/>
          </a:xfrm>
          <a:custGeom>
            <a:rect b="b" l="l" r="r" t="t"/>
            <a:pathLst>
              <a:path extrusionOk="0" h="9525" w="2038350">
                <a:moveTo>
                  <a:pt x="0" y="0"/>
                </a:moveTo>
                <a:lnTo>
                  <a:pt x="203835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6"/>
          <p:cNvSpPr txBox="1"/>
          <p:nvPr/>
        </p:nvSpPr>
        <p:spPr>
          <a:xfrm>
            <a:off x="3209687" y="2943939"/>
            <a:ext cx="71008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输入股票代码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6"/>
          <p:cNvSpPr txBox="1"/>
          <p:nvPr/>
        </p:nvSpPr>
        <p:spPr>
          <a:xfrm>
            <a:off x="3094673" y="3101102"/>
            <a:ext cx="94011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生成完整分析报告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6"/>
          <p:cNvSpPr/>
          <p:nvPr/>
        </p:nvSpPr>
        <p:spPr>
          <a:xfrm>
            <a:off x="2800350" y="3486150"/>
            <a:ext cx="1528763" cy="185738"/>
          </a:xfrm>
          <a:prstGeom prst="roundRect">
            <a:avLst>
              <a:gd fmla="val 23077" name="adj"/>
            </a:avLst>
          </a:prstGeom>
          <a:solidFill>
            <a:srgbClr val="FFF7ED"/>
          </a:solidFill>
          <a:ln cap="flat" cmpd="sng" w="9525">
            <a:solidFill>
              <a:srgbClr val="EA580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6"/>
          <p:cNvSpPr txBox="1"/>
          <p:nvPr/>
        </p:nvSpPr>
        <p:spPr>
          <a:xfrm>
            <a:off x="2878217" y="3540800"/>
            <a:ext cx="92530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46"/>
          <p:cNvSpPr txBox="1"/>
          <p:nvPr/>
        </p:nvSpPr>
        <p:spPr>
          <a:xfrm>
            <a:off x="3376136" y="3540800"/>
            <a:ext cx="377190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股票代码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6"/>
          <p:cNvSpPr/>
          <p:nvPr/>
        </p:nvSpPr>
        <p:spPr>
          <a:xfrm>
            <a:off x="2800350" y="3729038"/>
            <a:ext cx="1528763" cy="185738"/>
          </a:xfrm>
          <a:prstGeom prst="roundRect">
            <a:avLst>
              <a:gd fmla="val 23077" name="adj"/>
            </a:avLst>
          </a:prstGeom>
          <a:solidFill>
            <a:srgbClr val="F0FDF4"/>
          </a:solidFill>
          <a:ln cap="flat" cmpd="sng" w="9525">
            <a:solidFill>
              <a:srgbClr val="16A3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46"/>
          <p:cNvSpPr txBox="1"/>
          <p:nvPr/>
        </p:nvSpPr>
        <p:spPr>
          <a:xfrm>
            <a:off x="2878217" y="3783687"/>
            <a:ext cx="182898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6"/>
          <p:cNvSpPr txBox="1"/>
          <p:nvPr/>
        </p:nvSpPr>
        <p:spPr>
          <a:xfrm>
            <a:off x="3376136" y="3783687"/>
            <a:ext cx="377190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分析报告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46"/>
          <p:cNvSpPr/>
          <p:nvPr/>
        </p:nvSpPr>
        <p:spPr>
          <a:xfrm>
            <a:off x="4486275" y="2628900"/>
            <a:ext cx="271463" cy="7144"/>
          </a:xfrm>
          <a:custGeom>
            <a:rect b="b" l="l" r="r" t="t"/>
            <a:pathLst>
              <a:path extrusionOk="0" h="9525"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cap="flat" cmpd="sng" w="19050">
            <a:solidFill>
              <a:srgbClr val="4F46E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46"/>
          <p:cNvSpPr/>
          <p:nvPr/>
        </p:nvSpPr>
        <p:spPr>
          <a:xfrm>
            <a:off x="4729163" y="2593181"/>
            <a:ext cx="71438" cy="71438"/>
          </a:xfrm>
          <a:custGeom>
            <a:rect b="b" l="l" r="r" t="t"/>
            <a:pathLst>
              <a:path extrusionOk="0" h="95250" w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F46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46"/>
          <p:cNvSpPr/>
          <p:nvPr/>
        </p:nvSpPr>
        <p:spPr>
          <a:xfrm>
            <a:off x="4829175" y="914400"/>
            <a:ext cx="1843088" cy="34290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46"/>
          <p:cNvSpPr/>
          <p:nvPr/>
        </p:nvSpPr>
        <p:spPr>
          <a:xfrm>
            <a:off x="4829175" y="914400"/>
            <a:ext cx="1843088" cy="42863"/>
          </a:xfrm>
          <a:prstGeom prst="roundRect">
            <a:avLst>
              <a:gd fmla="val 5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6"/>
          <p:cNvSpPr/>
          <p:nvPr/>
        </p:nvSpPr>
        <p:spPr>
          <a:xfrm>
            <a:off x="4957763" y="1042988"/>
            <a:ext cx="457200" cy="171450"/>
          </a:xfrm>
          <a:prstGeom prst="roundRect">
            <a:avLst>
              <a:gd fmla="val 50000" name="adj"/>
            </a:avLst>
          </a:prstGeom>
          <a:solidFill>
            <a:srgbClr val="F0FDF4"/>
          </a:solidFill>
          <a:ln cap="flat" cmpd="sng" w="9525">
            <a:solidFill>
              <a:srgbClr val="16A34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6"/>
          <p:cNvSpPr txBox="1"/>
          <p:nvPr/>
        </p:nvSpPr>
        <p:spPr>
          <a:xfrm>
            <a:off x="5000339" y="1084421"/>
            <a:ext cx="37204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STEP 03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6"/>
          <p:cNvSpPr/>
          <p:nvPr/>
        </p:nvSpPr>
        <p:spPr>
          <a:xfrm>
            <a:off x="5379244" y="1414463"/>
            <a:ext cx="742950" cy="742950"/>
          </a:xfrm>
          <a:prstGeom prst="ellipse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6"/>
          <p:cNvSpPr/>
          <p:nvPr/>
        </p:nvSpPr>
        <p:spPr>
          <a:xfrm>
            <a:off x="5560219" y="1586904"/>
            <a:ext cx="400622" cy="401278"/>
          </a:xfrm>
          <a:custGeom>
            <a:rect b="b" l="l" r="r" t="t"/>
            <a:pathLst>
              <a:path extrusionOk="0" h="535037" w="534163">
                <a:moveTo>
                  <a:pt x="381000" y="45414"/>
                </a:moveTo>
                <a:cubicBezTo>
                  <a:pt x="486852" y="106531"/>
                  <a:pt x="534163" y="234374"/>
                  <a:pt x="493598" y="349676"/>
                </a:cubicBezTo>
                <a:cubicBezTo>
                  <a:pt x="453034" y="464978"/>
                  <a:pt x="336099" y="535037"/>
                  <a:pt x="215297" y="516415"/>
                </a:cubicBezTo>
                <a:cubicBezTo>
                  <a:pt x="94494" y="497794"/>
                  <a:pt x="4086" y="395772"/>
                  <a:pt x="127" y="273607"/>
                </a:cubicBezTo>
                <a:lnTo>
                  <a:pt x="0" y="265378"/>
                </a:lnTo>
                <a:lnTo>
                  <a:pt x="127" y="257148"/>
                </a:lnTo>
                <a:cubicBezTo>
                  <a:pt x="3021" y="167917"/>
                  <a:pt x="52548" y="86757"/>
                  <a:pt x="130579" y="43379"/>
                </a:cubicBezTo>
                <a:cubicBezTo>
                  <a:pt x="208609" y="0"/>
                  <a:pt x="303685" y="773"/>
                  <a:pt x="381000" y="45414"/>
                </a:cubicBezTo>
                <a:close/>
                <a:moveTo>
                  <a:pt x="330200" y="163778"/>
                </a:moveTo>
                <a:lnTo>
                  <a:pt x="177800" y="163778"/>
                </a:lnTo>
                <a:lnTo>
                  <a:pt x="174828" y="163955"/>
                </a:lnTo>
                <a:cubicBezTo>
                  <a:pt x="162039" y="165462"/>
                  <a:pt x="152402" y="176300"/>
                  <a:pt x="152400" y="189178"/>
                </a:cubicBezTo>
                <a:lnTo>
                  <a:pt x="152578" y="192149"/>
                </a:lnTo>
                <a:cubicBezTo>
                  <a:pt x="154084" y="204938"/>
                  <a:pt x="164923" y="214576"/>
                  <a:pt x="177800" y="214578"/>
                </a:cubicBezTo>
                <a:lnTo>
                  <a:pt x="268834" y="214578"/>
                </a:lnTo>
                <a:lnTo>
                  <a:pt x="159842" y="323620"/>
                </a:lnTo>
                <a:lnTo>
                  <a:pt x="157734" y="326007"/>
                </a:lnTo>
                <a:cubicBezTo>
                  <a:pt x="149542" y="336603"/>
                  <a:pt x="150983" y="351738"/>
                  <a:pt x="161029" y="360596"/>
                </a:cubicBezTo>
                <a:cubicBezTo>
                  <a:pt x="171074" y="369454"/>
                  <a:pt x="186272" y="368990"/>
                  <a:pt x="195758" y="359535"/>
                </a:cubicBezTo>
                <a:lnTo>
                  <a:pt x="304800" y="250493"/>
                </a:lnTo>
                <a:lnTo>
                  <a:pt x="304800" y="341578"/>
                </a:lnTo>
                <a:lnTo>
                  <a:pt x="304978" y="344549"/>
                </a:lnTo>
                <a:cubicBezTo>
                  <a:pt x="306565" y="357894"/>
                  <a:pt x="318273" y="367693"/>
                  <a:pt x="331689" y="366906"/>
                </a:cubicBezTo>
                <a:cubicBezTo>
                  <a:pt x="345104" y="366118"/>
                  <a:pt x="355585" y="355017"/>
                  <a:pt x="355600" y="341578"/>
                </a:cubicBezTo>
                <a:lnTo>
                  <a:pt x="355600" y="189178"/>
                </a:lnTo>
                <a:lnTo>
                  <a:pt x="355422" y="186206"/>
                </a:lnTo>
                <a:lnTo>
                  <a:pt x="354686" y="182421"/>
                </a:lnTo>
                <a:lnTo>
                  <a:pt x="353797" y="179754"/>
                </a:lnTo>
                <a:lnTo>
                  <a:pt x="352425" y="176884"/>
                </a:lnTo>
                <a:lnTo>
                  <a:pt x="350622" y="174065"/>
                </a:lnTo>
                <a:cubicBezTo>
                  <a:pt x="349871" y="173057"/>
                  <a:pt x="349048" y="172107"/>
                  <a:pt x="348158" y="171220"/>
                </a:cubicBezTo>
                <a:lnTo>
                  <a:pt x="345872" y="169188"/>
                </a:lnTo>
                <a:lnTo>
                  <a:pt x="343433" y="167486"/>
                </a:lnTo>
                <a:lnTo>
                  <a:pt x="340944" y="166165"/>
                </a:lnTo>
                <a:lnTo>
                  <a:pt x="338150" y="165048"/>
                </a:lnTo>
                <a:lnTo>
                  <a:pt x="335305" y="164286"/>
                </a:lnTo>
                <a:lnTo>
                  <a:pt x="332105" y="163854"/>
                </a:lnTo>
                <a:lnTo>
                  <a:pt x="330200" y="163778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46"/>
          <p:cNvSpPr/>
          <p:nvPr/>
        </p:nvSpPr>
        <p:spPr>
          <a:xfrm>
            <a:off x="4986338" y="2286000"/>
            <a:ext cx="1528763" cy="257175"/>
          </a:xfrm>
          <a:prstGeom prst="roundRect">
            <a:avLst>
              <a:gd fmla="val 16667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46"/>
          <p:cNvSpPr txBox="1"/>
          <p:nvPr/>
        </p:nvSpPr>
        <p:spPr>
          <a:xfrm>
            <a:off x="5249870" y="2348151"/>
            <a:ext cx="100169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/stock-entry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46"/>
          <p:cNvSpPr txBox="1"/>
          <p:nvPr/>
        </p:nvSpPr>
        <p:spPr>
          <a:xfrm>
            <a:off x="5349686" y="2619614"/>
            <a:ext cx="8020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确认买入点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46"/>
          <p:cNvSpPr/>
          <p:nvPr/>
        </p:nvSpPr>
        <p:spPr>
          <a:xfrm>
            <a:off x="4986338" y="2843213"/>
            <a:ext cx="1528763" cy="7144"/>
          </a:xfrm>
          <a:custGeom>
            <a:rect b="b" l="l" r="r" t="t"/>
            <a:pathLst>
              <a:path extrusionOk="0" h="9525" w="2038350">
                <a:moveTo>
                  <a:pt x="0" y="0"/>
                </a:moveTo>
                <a:lnTo>
                  <a:pt x="203835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46"/>
          <p:cNvSpPr txBox="1"/>
          <p:nvPr/>
        </p:nvSpPr>
        <p:spPr>
          <a:xfrm>
            <a:off x="5395675" y="2943939"/>
            <a:ext cx="71008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输入分析报告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6"/>
          <p:cNvSpPr txBox="1"/>
          <p:nvPr/>
        </p:nvSpPr>
        <p:spPr>
          <a:xfrm>
            <a:off x="5280660" y="3101102"/>
            <a:ext cx="94011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输出最佳买入建议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46"/>
          <p:cNvSpPr/>
          <p:nvPr/>
        </p:nvSpPr>
        <p:spPr>
          <a:xfrm>
            <a:off x="4986338" y="3486150"/>
            <a:ext cx="1528763" cy="185738"/>
          </a:xfrm>
          <a:prstGeom prst="roundRect">
            <a:avLst>
              <a:gd fmla="val 23077" name="adj"/>
            </a:avLst>
          </a:prstGeom>
          <a:solidFill>
            <a:srgbClr val="FFF7ED"/>
          </a:solidFill>
          <a:ln cap="flat" cmpd="sng" w="9525">
            <a:solidFill>
              <a:srgbClr val="EA580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6"/>
          <p:cNvSpPr txBox="1"/>
          <p:nvPr/>
        </p:nvSpPr>
        <p:spPr>
          <a:xfrm>
            <a:off x="5064204" y="3540800"/>
            <a:ext cx="92530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46"/>
          <p:cNvSpPr txBox="1"/>
          <p:nvPr/>
        </p:nvSpPr>
        <p:spPr>
          <a:xfrm>
            <a:off x="5562124" y="3540800"/>
            <a:ext cx="377190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分析报告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46"/>
          <p:cNvSpPr/>
          <p:nvPr/>
        </p:nvSpPr>
        <p:spPr>
          <a:xfrm>
            <a:off x="4986338" y="3729038"/>
            <a:ext cx="1528763" cy="185738"/>
          </a:xfrm>
          <a:prstGeom prst="roundRect">
            <a:avLst>
              <a:gd fmla="val 23077" name="adj"/>
            </a:avLst>
          </a:prstGeom>
          <a:solidFill>
            <a:srgbClr val="F0FDF4"/>
          </a:solidFill>
          <a:ln cap="flat" cmpd="sng" w="9525">
            <a:solidFill>
              <a:srgbClr val="16A3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6"/>
          <p:cNvSpPr txBox="1"/>
          <p:nvPr/>
        </p:nvSpPr>
        <p:spPr>
          <a:xfrm>
            <a:off x="5064204" y="3783687"/>
            <a:ext cx="182898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6"/>
          <p:cNvSpPr txBox="1"/>
          <p:nvPr/>
        </p:nvSpPr>
        <p:spPr>
          <a:xfrm>
            <a:off x="5419793" y="3783687"/>
            <a:ext cx="661850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买入建议 + 仓位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6"/>
          <p:cNvSpPr/>
          <p:nvPr/>
        </p:nvSpPr>
        <p:spPr>
          <a:xfrm>
            <a:off x="6672263" y="2628900"/>
            <a:ext cx="271463" cy="7144"/>
          </a:xfrm>
          <a:custGeom>
            <a:rect b="b" l="l" r="r" t="t"/>
            <a:pathLst>
              <a:path extrusionOk="0" h="9525"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cap="flat" cmpd="sng" w="19050">
            <a:solidFill>
              <a:srgbClr val="16A34A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6"/>
          <p:cNvSpPr/>
          <p:nvPr/>
        </p:nvSpPr>
        <p:spPr>
          <a:xfrm>
            <a:off x="6915150" y="2593181"/>
            <a:ext cx="71438" cy="71438"/>
          </a:xfrm>
          <a:custGeom>
            <a:rect b="b" l="l" r="r" t="t"/>
            <a:pathLst>
              <a:path extrusionOk="0" h="95250" w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6"/>
          <p:cNvSpPr/>
          <p:nvPr/>
        </p:nvSpPr>
        <p:spPr>
          <a:xfrm>
            <a:off x="7015163" y="914400"/>
            <a:ext cx="1671638" cy="342900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6"/>
          <p:cNvSpPr/>
          <p:nvPr/>
        </p:nvSpPr>
        <p:spPr>
          <a:xfrm>
            <a:off x="7015163" y="914400"/>
            <a:ext cx="1671638" cy="42863"/>
          </a:xfrm>
          <a:prstGeom prst="roundRect">
            <a:avLst>
              <a:gd fmla="val 50000" name="adj"/>
            </a:avLst>
          </a:prstGeom>
          <a:solidFill>
            <a:srgbClr val="9CA3A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6"/>
          <p:cNvSpPr/>
          <p:nvPr/>
        </p:nvSpPr>
        <p:spPr>
          <a:xfrm>
            <a:off x="7143750" y="1042988"/>
            <a:ext cx="457200" cy="171450"/>
          </a:xfrm>
          <a:prstGeom prst="roundRect">
            <a:avLst>
              <a:gd fmla="val 50000" name="adj"/>
            </a:avLst>
          </a:prstGeom>
          <a:solidFill>
            <a:srgbClr val="F3F4F6"/>
          </a:solidFill>
          <a:ln cap="flat" cmpd="sng" w="9525">
            <a:solidFill>
              <a:srgbClr val="9CA3A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6"/>
          <p:cNvSpPr txBox="1"/>
          <p:nvPr/>
        </p:nvSpPr>
        <p:spPr>
          <a:xfrm>
            <a:off x="7186327" y="1084421"/>
            <a:ext cx="37204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STEP 04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6"/>
          <p:cNvSpPr/>
          <p:nvPr/>
        </p:nvSpPr>
        <p:spPr>
          <a:xfrm>
            <a:off x="7479506" y="1414463"/>
            <a:ext cx="742950" cy="742950"/>
          </a:xfrm>
          <a:prstGeom prst="ellipse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46"/>
          <p:cNvSpPr/>
          <p:nvPr/>
        </p:nvSpPr>
        <p:spPr>
          <a:xfrm>
            <a:off x="7698581" y="1595276"/>
            <a:ext cx="304800" cy="381698"/>
          </a:xfrm>
          <a:custGeom>
            <a:rect b="b" l="l" r="r" t="t"/>
            <a:pathLst>
              <a:path extrusionOk="0" h="508931" w="406400">
                <a:moveTo>
                  <a:pt x="0" y="76416"/>
                </a:moveTo>
                <a:cubicBezTo>
                  <a:pt x="1" y="69592"/>
                  <a:pt x="2747" y="63056"/>
                  <a:pt x="7620" y="58280"/>
                </a:cubicBezTo>
                <a:cubicBezTo>
                  <a:pt x="65075" y="1957"/>
                  <a:pt x="156415" y="0"/>
                  <a:pt x="216230" y="53810"/>
                </a:cubicBezTo>
                <a:lnTo>
                  <a:pt x="225146" y="62141"/>
                </a:lnTo>
                <a:cubicBezTo>
                  <a:pt x="263468" y="95717"/>
                  <a:pt x="320732" y="95717"/>
                  <a:pt x="359054" y="62141"/>
                </a:cubicBezTo>
                <a:lnTo>
                  <a:pt x="365379" y="56375"/>
                </a:lnTo>
                <a:cubicBezTo>
                  <a:pt x="380873" y="44107"/>
                  <a:pt x="404165" y="53911"/>
                  <a:pt x="406273" y="73545"/>
                </a:cubicBezTo>
                <a:lnTo>
                  <a:pt x="406400" y="76416"/>
                </a:lnTo>
                <a:lnTo>
                  <a:pt x="406400" y="305016"/>
                </a:lnTo>
                <a:cubicBezTo>
                  <a:pt x="406399" y="311839"/>
                  <a:pt x="403653" y="318375"/>
                  <a:pt x="398780" y="323151"/>
                </a:cubicBezTo>
                <a:cubicBezTo>
                  <a:pt x="341325" y="379474"/>
                  <a:pt x="249985" y="381431"/>
                  <a:pt x="190170" y="327622"/>
                </a:cubicBezTo>
                <a:lnTo>
                  <a:pt x="181254" y="319290"/>
                </a:lnTo>
                <a:cubicBezTo>
                  <a:pt x="144217" y="286839"/>
                  <a:pt x="89241" y="285618"/>
                  <a:pt x="50800" y="316395"/>
                </a:cubicBezTo>
                <a:lnTo>
                  <a:pt x="50800" y="482816"/>
                </a:lnTo>
                <a:cubicBezTo>
                  <a:pt x="50785" y="496254"/>
                  <a:pt x="40304" y="507356"/>
                  <a:pt x="26889" y="508144"/>
                </a:cubicBezTo>
                <a:cubicBezTo>
                  <a:pt x="13473" y="508931"/>
                  <a:pt x="1765" y="499132"/>
                  <a:pt x="178" y="485787"/>
                </a:cubicBezTo>
                <a:lnTo>
                  <a:pt x="0" y="482816"/>
                </a:lnTo>
                <a:lnTo>
                  <a:pt x="0" y="76416"/>
                </a:lnTo>
                <a:close/>
              </a:path>
            </a:pathLst>
          </a:custGeom>
          <a:solidFill>
            <a:srgbClr val="9CA3A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46"/>
          <p:cNvSpPr/>
          <p:nvPr/>
        </p:nvSpPr>
        <p:spPr>
          <a:xfrm>
            <a:off x="7172325" y="2286000"/>
            <a:ext cx="1385888" cy="257175"/>
          </a:xfrm>
          <a:prstGeom prst="roundRect">
            <a:avLst>
              <a:gd fmla="val 16667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46"/>
          <p:cNvSpPr txBox="1"/>
          <p:nvPr/>
        </p:nvSpPr>
        <p:spPr>
          <a:xfrm>
            <a:off x="7409283" y="2348151"/>
            <a:ext cx="88339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/stock-exit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6"/>
          <p:cNvSpPr txBox="1"/>
          <p:nvPr/>
        </p:nvSpPr>
        <p:spPr>
          <a:xfrm>
            <a:off x="7372314" y="2619614"/>
            <a:ext cx="95733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止盈止损计划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6"/>
          <p:cNvSpPr/>
          <p:nvPr/>
        </p:nvSpPr>
        <p:spPr>
          <a:xfrm>
            <a:off x="7172325" y="2843213"/>
            <a:ext cx="1385888" cy="7144"/>
          </a:xfrm>
          <a:custGeom>
            <a:rect b="b" l="l" r="r" t="t"/>
            <a:pathLst>
              <a:path extrusionOk="0" h="9525" w="1847850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6"/>
          <p:cNvSpPr txBox="1"/>
          <p:nvPr/>
        </p:nvSpPr>
        <p:spPr>
          <a:xfrm>
            <a:off x="7495937" y="2943939"/>
            <a:ext cx="71008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输入持仓信息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6"/>
          <p:cNvSpPr txBox="1"/>
          <p:nvPr/>
        </p:nvSpPr>
        <p:spPr>
          <a:xfrm>
            <a:off x="7380923" y="3101102"/>
            <a:ext cx="94011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制定退出执行计划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6"/>
          <p:cNvSpPr/>
          <p:nvPr/>
        </p:nvSpPr>
        <p:spPr>
          <a:xfrm>
            <a:off x="7172325" y="3486150"/>
            <a:ext cx="1385888" cy="185738"/>
          </a:xfrm>
          <a:prstGeom prst="roundRect">
            <a:avLst>
              <a:gd fmla="val 23077" name="adj"/>
            </a:avLst>
          </a:prstGeom>
          <a:solidFill>
            <a:srgbClr val="FFF7ED"/>
          </a:solidFill>
          <a:ln cap="flat" cmpd="sng" w="9525">
            <a:solidFill>
              <a:srgbClr val="EA580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6"/>
          <p:cNvSpPr txBox="1"/>
          <p:nvPr/>
        </p:nvSpPr>
        <p:spPr>
          <a:xfrm>
            <a:off x="7250192" y="3540800"/>
            <a:ext cx="92530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46"/>
          <p:cNvSpPr txBox="1"/>
          <p:nvPr/>
        </p:nvSpPr>
        <p:spPr>
          <a:xfrm>
            <a:off x="7662386" y="3540800"/>
            <a:ext cx="377190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持仓信息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46"/>
          <p:cNvSpPr/>
          <p:nvPr/>
        </p:nvSpPr>
        <p:spPr>
          <a:xfrm>
            <a:off x="7172325" y="3729038"/>
            <a:ext cx="1385888" cy="185738"/>
          </a:xfrm>
          <a:prstGeom prst="roundRect">
            <a:avLst>
              <a:gd fmla="val 23077" name="adj"/>
            </a:avLst>
          </a:prstGeom>
          <a:solidFill>
            <a:srgbClr val="F0FDF4"/>
          </a:solidFill>
          <a:ln cap="flat" cmpd="sng" w="9525">
            <a:solidFill>
              <a:srgbClr val="16A3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46"/>
          <p:cNvSpPr txBox="1"/>
          <p:nvPr/>
        </p:nvSpPr>
        <p:spPr>
          <a:xfrm>
            <a:off x="7250192" y="3783687"/>
            <a:ext cx="182898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6"/>
          <p:cNvSpPr txBox="1"/>
          <p:nvPr/>
        </p:nvSpPr>
        <p:spPr>
          <a:xfrm>
            <a:off x="7662386" y="3783687"/>
            <a:ext cx="377190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退出计划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46"/>
          <p:cNvSpPr txBox="1"/>
          <p:nvPr/>
        </p:nvSpPr>
        <p:spPr>
          <a:xfrm>
            <a:off x="3276615" y="4609505"/>
            <a:ext cx="259077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一条命令 → 30 秒出结果 · 标准一致 · 不靠记忆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46"/>
          <p:cNvSpPr txBox="1"/>
          <p:nvPr/>
        </p:nvSpPr>
        <p:spPr>
          <a:xfrm>
            <a:off x="8373136" y="4921687"/>
            <a:ext cx="32295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10 / 17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47"/>
          <p:cNvSpPr/>
          <p:nvPr/>
        </p:nvSpPr>
        <p:spPr>
          <a:xfrm>
            <a:off x="457200" y="214313"/>
            <a:ext cx="35719" cy="314325"/>
          </a:xfrm>
          <a:prstGeom prst="roundRect">
            <a:avLst>
              <a:gd fmla="val 4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47"/>
          <p:cNvSpPr txBox="1"/>
          <p:nvPr/>
        </p:nvSpPr>
        <p:spPr>
          <a:xfrm>
            <a:off x="560070" y="195739"/>
            <a:ext cx="3948697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现场演示：AI 分析报告长这样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47"/>
          <p:cNvSpPr txBox="1"/>
          <p:nvPr/>
        </p:nvSpPr>
        <p:spPr>
          <a:xfrm>
            <a:off x="574358" y="488633"/>
            <a:ext cx="2829211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30 秒生成 · SEPA 框架 · 有理有据 · 直接可执行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47"/>
          <p:cNvSpPr/>
          <p:nvPr/>
        </p:nvSpPr>
        <p:spPr>
          <a:xfrm>
            <a:off x="457200" y="714375"/>
            <a:ext cx="8229600" cy="7144"/>
          </a:xfrm>
          <a:custGeom>
            <a:rect b="b" l="l" r="r" t="t"/>
            <a:pathLst>
              <a:path extrusionOk="0" h="9525" w="1097280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47"/>
          <p:cNvSpPr/>
          <p:nvPr/>
        </p:nvSpPr>
        <p:spPr>
          <a:xfrm>
            <a:off x="457200" y="842963"/>
            <a:ext cx="5000625" cy="3471863"/>
          </a:xfrm>
          <a:prstGeom prst="roundRect">
            <a:avLst>
              <a:gd fmla="val 2058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47"/>
          <p:cNvSpPr/>
          <p:nvPr/>
        </p:nvSpPr>
        <p:spPr>
          <a:xfrm>
            <a:off x="457200" y="842963"/>
            <a:ext cx="5000625" cy="257175"/>
          </a:xfrm>
          <a:prstGeom prst="roundRect">
            <a:avLst>
              <a:gd fmla="val 27778" name="adj"/>
            </a:avLst>
          </a:prstGeom>
          <a:solidFill>
            <a:srgbClr val="37415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47"/>
          <p:cNvSpPr/>
          <p:nvPr/>
        </p:nvSpPr>
        <p:spPr>
          <a:xfrm>
            <a:off x="457200" y="1057275"/>
            <a:ext cx="5000625" cy="42863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47"/>
          <p:cNvSpPr/>
          <p:nvPr/>
        </p:nvSpPr>
        <p:spPr>
          <a:xfrm>
            <a:off x="600075" y="928688"/>
            <a:ext cx="85725" cy="85725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47"/>
          <p:cNvSpPr/>
          <p:nvPr/>
        </p:nvSpPr>
        <p:spPr>
          <a:xfrm>
            <a:off x="742950" y="928688"/>
            <a:ext cx="85725" cy="85725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47"/>
          <p:cNvSpPr/>
          <p:nvPr/>
        </p:nvSpPr>
        <p:spPr>
          <a:xfrm>
            <a:off x="885825" y="928688"/>
            <a:ext cx="85725" cy="85725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47"/>
          <p:cNvSpPr txBox="1"/>
          <p:nvPr/>
        </p:nvSpPr>
        <p:spPr>
          <a:xfrm>
            <a:off x="1673361" y="928331"/>
            <a:ext cx="1796778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Claude Code — /stock-analyze NVDA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47"/>
          <p:cNvSpPr txBox="1"/>
          <p:nvPr/>
        </p:nvSpPr>
        <p:spPr>
          <a:xfrm>
            <a:off x="619363" y="1192649"/>
            <a:ext cx="1172004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$ /stock-analyze NVDA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47"/>
          <p:cNvSpPr txBox="1"/>
          <p:nvPr/>
        </p:nvSpPr>
        <p:spPr>
          <a:xfrm>
            <a:off x="620078" y="1327309"/>
            <a:ext cx="2417659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4B5563"/>
                </a:solidFill>
                <a:latin typeface="Consolas"/>
                <a:ea typeface="Consolas"/>
                <a:cs typeface="Consolas"/>
                <a:sym typeface="Consolas"/>
              </a:rPr>
              <a:t>Fetching market data... Running SEPA analysis...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47"/>
          <p:cNvSpPr txBox="1"/>
          <p:nvPr/>
        </p:nvSpPr>
        <p:spPr>
          <a:xfrm>
            <a:off x="618649" y="1500902"/>
            <a:ext cx="154768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A580C"/>
                </a:solidFill>
                <a:latin typeface="Consolas"/>
                <a:ea typeface="Consolas"/>
                <a:cs typeface="Consolas"/>
                <a:sym typeface="Consolas"/>
              </a:rPr>
              <a:t>== NVDA · SEPA 分析报告 ==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47"/>
          <p:cNvSpPr/>
          <p:nvPr/>
        </p:nvSpPr>
        <p:spPr>
          <a:xfrm>
            <a:off x="628650" y="1643063"/>
            <a:ext cx="4657725" cy="7144"/>
          </a:xfrm>
          <a:custGeom>
            <a:rect b="b" l="l" r="r" t="t"/>
            <a:pathLst>
              <a:path extrusionOk="0" h="9525" w="6210300">
                <a:moveTo>
                  <a:pt x="0" y="0"/>
                </a:moveTo>
                <a:lnTo>
                  <a:pt x="6210300" y="0"/>
                </a:lnTo>
              </a:path>
            </a:pathLst>
          </a:custGeom>
          <a:noFill/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47"/>
          <p:cNvSpPr txBox="1"/>
          <p:nvPr/>
        </p:nvSpPr>
        <p:spPr>
          <a:xfrm>
            <a:off x="620078" y="1727359"/>
            <a:ext cx="42133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D97706"/>
                </a:solidFill>
                <a:latin typeface="Consolas"/>
                <a:ea typeface="Consolas"/>
                <a:cs typeface="Consolas"/>
                <a:sym typeface="Consolas"/>
              </a:rPr>
              <a:t>[基本面]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47"/>
          <p:cNvSpPr txBox="1"/>
          <p:nvPr/>
        </p:nvSpPr>
        <p:spPr>
          <a:xfrm>
            <a:off x="620078" y="1841659"/>
            <a:ext cx="2092333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EPS YoY +122% ROE 73% 净利率 55% 无重大负债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7"/>
          <p:cNvSpPr txBox="1"/>
          <p:nvPr/>
        </p:nvSpPr>
        <p:spPr>
          <a:xfrm>
            <a:off x="620078" y="1955959"/>
            <a:ext cx="127408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护城河：CUDA 垄断 评级: A+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47"/>
          <p:cNvSpPr txBox="1"/>
          <p:nvPr/>
        </p:nvSpPr>
        <p:spPr>
          <a:xfrm>
            <a:off x="620078" y="2127409"/>
            <a:ext cx="42133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D97706"/>
                </a:solidFill>
                <a:latin typeface="Consolas"/>
                <a:ea typeface="Consolas"/>
                <a:cs typeface="Consolas"/>
                <a:sym typeface="Consolas"/>
              </a:rPr>
              <a:t>[技术面]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7"/>
          <p:cNvSpPr txBox="1"/>
          <p:nvPr/>
        </p:nvSpPr>
        <p:spPr>
          <a:xfrm>
            <a:off x="620078" y="2241709"/>
            <a:ext cx="1924741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RS=97 突破前高阻力 $875 成交量放大 2.3x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7"/>
          <p:cNvSpPr txBox="1"/>
          <p:nvPr/>
        </p:nvSpPr>
        <p:spPr>
          <a:xfrm>
            <a:off x="620078" y="2356009"/>
            <a:ext cx="116564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VCP 紧缩形态确认 评级: 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47"/>
          <p:cNvSpPr txBox="1"/>
          <p:nvPr/>
        </p:nvSpPr>
        <p:spPr>
          <a:xfrm>
            <a:off x="620078" y="2527459"/>
            <a:ext cx="51992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D97706"/>
                </a:solidFill>
                <a:latin typeface="Consolas"/>
                <a:ea typeface="Consolas"/>
                <a:cs typeface="Consolas"/>
                <a:sym typeface="Consolas"/>
              </a:rPr>
              <a:t>[趋势状态]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47"/>
          <p:cNvSpPr txBox="1"/>
          <p:nvPr/>
        </p:nvSpPr>
        <p:spPr>
          <a:xfrm>
            <a:off x="620078" y="2641759"/>
            <a:ext cx="178179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Stage 2 超级强势趋势 14 周连续 &gt; 50MA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47"/>
          <p:cNvSpPr txBox="1"/>
          <p:nvPr/>
        </p:nvSpPr>
        <p:spPr>
          <a:xfrm>
            <a:off x="620078" y="2756059"/>
            <a:ext cx="1421963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大盘相对强度持续提升 评级: A+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47"/>
          <p:cNvSpPr/>
          <p:nvPr/>
        </p:nvSpPr>
        <p:spPr>
          <a:xfrm>
            <a:off x="628650" y="2943225"/>
            <a:ext cx="4657725" cy="7144"/>
          </a:xfrm>
          <a:custGeom>
            <a:rect b="b" l="l" r="r" t="t"/>
            <a:pathLst>
              <a:path extrusionOk="0" h="9525" w="6210300">
                <a:moveTo>
                  <a:pt x="0" y="0"/>
                </a:moveTo>
                <a:lnTo>
                  <a:pt x="6210300" y="0"/>
                </a:lnTo>
              </a:path>
            </a:pathLst>
          </a:custGeom>
          <a:noFill/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47"/>
          <p:cNvSpPr txBox="1"/>
          <p:nvPr/>
        </p:nvSpPr>
        <p:spPr>
          <a:xfrm>
            <a:off x="620078" y="3013234"/>
            <a:ext cx="51992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[行动建议]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47"/>
          <p:cNvSpPr txBox="1"/>
          <p:nvPr/>
        </p:nvSpPr>
        <p:spPr>
          <a:xfrm>
            <a:off x="620078" y="3127534"/>
            <a:ext cx="104241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买入区间: $878 - $895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47"/>
          <p:cNvSpPr txBox="1"/>
          <p:nvPr/>
        </p:nvSpPr>
        <p:spPr>
          <a:xfrm>
            <a:off x="620078" y="3241834"/>
            <a:ext cx="1022699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止损位: $842 (-4.3%)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47"/>
          <p:cNvSpPr txBox="1"/>
          <p:nvPr/>
        </p:nvSpPr>
        <p:spPr>
          <a:xfrm>
            <a:off x="620078" y="3356134"/>
            <a:ext cx="108185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目标价: $1,050+ (+18%)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47"/>
          <p:cNvSpPr txBox="1"/>
          <p:nvPr/>
        </p:nvSpPr>
        <p:spPr>
          <a:xfrm>
            <a:off x="618649" y="3544014"/>
            <a:ext cx="1469183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综合评级: 强买入 [*****]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47"/>
          <p:cNvSpPr txBox="1"/>
          <p:nvPr/>
        </p:nvSpPr>
        <p:spPr>
          <a:xfrm>
            <a:off x="620792" y="3690818"/>
            <a:ext cx="2627364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4B5563"/>
                </a:solidFill>
                <a:latin typeface="Consolas"/>
                <a:ea typeface="Consolas"/>
                <a:cs typeface="Consolas"/>
                <a:sym typeface="Consolas"/>
              </a:rPr>
              <a:t>Generated in 28s · Powered by Claude + /stock-analyze Skill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47"/>
          <p:cNvSpPr/>
          <p:nvPr/>
        </p:nvSpPr>
        <p:spPr>
          <a:xfrm>
            <a:off x="5715000" y="842963"/>
            <a:ext cx="2971800" cy="1643063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47"/>
          <p:cNvSpPr/>
          <p:nvPr/>
        </p:nvSpPr>
        <p:spPr>
          <a:xfrm>
            <a:off x="5715000" y="842963"/>
            <a:ext cx="2971800" cy="35719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8" name="Google Shape;788;p47"/>
          <p:cNvGrpSpPr/>
          <p:nvPr/>
        </p:nvGrpSpPr>
        <p:grpSpPr>
          <a:xfrm>
            <a:off x="5881090" y="1009055"/>
            <a:ext cx="139308" cy="139521"/>
            <a:chOff x="7841453" y="1345406"/>
            <a:chExt cx="185744" cy="186028"/>
          </a:xfrm>
        </p:grpSpPr>
        <p:sp>
          <p:nvSpPr>
            <p:cNvPr id="789" name="Google Shape;789;p47"/>
            <p:cNvSpPr/>
            <p:nvPr/>
          </p:nvSpPr>
          <p:spPr>
            <a:xfrm>
              <a:off x="7841453" y="1345406"/>
              <a:ext cx="61919" cy="186028"/>
            </a:xfrm>
            <a:custGeom>
              <a:rect b="b" l="l" r="r" t="t"/>
              <a:pathLst>
                <a:path extrusionOk="0" h="186028" w="61919">
                  <a:moveTo>
                    <a:pt x="30960" y="0"/>
                  </a:moveTo>
                  <a:cubicBezTo>
                    <a:pt x="36191" y="1"/>
                    <a:pt x="40594" y="3916"/>
                    <a:pt x="41206" y="9111"/>
                  </a:cubicBezTo>
                  <a:lnTo>
                    <a:pt x="41278" y="10319"/>
                  </a:lnTo>
                  <a:lnTo>
                    <a:pt x="41278" y="20637"/>
                  </a:lnTo>
                  <a:cubicBezTo>
                    <a:pt x="52078" y="20634"/>
                    <a:pt x="61054" y="28958"/>
                    <a:pt x="61864" y="39727"/>
                  </a:cubicBezTo>
                  <a:lnTo>
                    <a:pt x="61916" y="41275"/>
                  </a:lnTo>
                  <a:lnTo>
                    <a:pt x="61916" y="72231"/>
                  </a:lnTo>
                  <a:cubicBezTo>
                    <a:pt x="61919" y="83031"/>
                    <a:pt x="53596" y="92007"/>
                    <a:pt x="42826" y="92817"/>
                  </a:cubicBezTo>
                  <a:lnTo>
                    <a:pt x="41278" y="92869"/>
                  </a:lnTo>
                  <a:lnTo>
                    <a:pt x="41278" y="175419"/>
                  </a:lnTo>
                  <a:cubicBezTo>
                    <a:pt x="41272" y="180878"/>
                    <a:pt x="37015" y="185388"/>
                    <a:pt x="31564" y="185708"/>
                  </a:cubicBezTo>
                  <a:cubicBezTo>
                    <a:pt x="26114" y="186028"/>
                    <a:pt x="21358" y="182047"/>
                    <a:pt x="20713" y="176626"/>
                  </a:cubicBezTo>
                  <a:lnTo>
                    <a:pt x="20641" y="175419"/>
                  </a:lnTo>
                  <a:lnTo>
                    <a:pt x="20641" y="92869"/>
                  </a:lnTo>
                  <a:cubicBezTo>
                    <a:pt x="9841" y="92872"/>
                    <a:pt x="865" y="84549"/>
                    <a:pt x="55" y="73779"/>
                  </a:cubicBezTo>
                  <a:lnTo>
                    <a:pt x="3" y="72231"/>
                  </a:lnTo>
                  <a:lnTo>
                    <a:pt x="3" y="41275"/>
                  </a:lnTo>
                  <a:cubicBezTo>
                    <a:pt x="0" y="30475"/>
                    <a:pt x="8324" y="21499"/>
                    <a:pt x="19093" y="20689"/>
                  </a:cubicBezTo>
                  <a:lnTo>
                    <a:pt x="20641" y="20637"/>
                  </a:lnTo>
                  <a:lnTo>
                    <a:pt x="20641" y="10319"/>
                  </a:lnTo>
                  <a:cubicBezTo>
                    <a:pt x="20641" y="4620"/>
                    <a:pt x="25261" y="0"/>
                    <a:pt x="30960" y="0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47"/>
            <p:cNvSpPr/>
            <p:nvPr/>
          </p:nvSpPr>
          <p:spPr>
            <a:xfrm>
              <a:off x="7903365" y="1345406"/>
              <a:ext cx="61919" cy="186028"/>
            </a:xfrm>
            <a:custGeom>
              <a:rect b="b" l="l" r="r" t="t"/>
              <a:pathLst>
                <a:path extrusionOk="0" h="186028" w="61919">
                  <a:moveTo>
                    <a:pt x="30960" y="0"/>
                  </a:moveTo>
                  <a:cubicBezTo>
                    <a:pt x="36191" y="1"/>
                    <a:pt x="40594" y="3916"/>
                    <a:pt x="41206" y="9111"/>
                  </a:cubicBezTo>
                  <a:lnTo>
                    <a:pt x="41278" y="10319"/>
                  </a:lnTo>
                  <a:lnTo>
                    <a:pt x="41278" y="103188"/>
                  </a:lnTo>
                  <a:cubicBezTo>
                    <a:pt x="52078" y="103184"/>
                    <a:pt x="61054" y="111508"/>
                    <a:pt x="61864" y="122277"/>
                  </a:cubicBezTo>
                  <a:lnTo>
                    <a:pt x="61916" y="123825"/>
                  </a:lnTo>
                  <a:lnTo>
                    <a:pt x="61916" y="154781"/>
                  </a:lnTo>
                  <a:cubicBezTo>
                    <a:pt x="61919" y="165581"/>
                    <a:pt x="53596" y="174557"/>
                    <a:pt x="42826" y="175367"/>
                  </a:cubicBezTo>
                  <a:lnTo>
                    <a:pt x="41278" y="175419"/>
                  </a:lnTo>
                  <a:cubicBezTo>
                    <a:pt x="41272" y="180878"/>
                    <a:pt x="37015" y="185388"/>
                    <a:pt x="31564" y="185708"/>
                  </a:cubicBezTo>
                  <a:cubicBezTo>
                    <a:pt x="26114" y="186028"/>
                    <a:pt x="21358" y="182047"/>
                    <a:pt x="20713" y="176626"/>
                  </a:cubicBezTo>
                  <a:lnTo>
                    <a:pt x="20641" y="175419"/>
                  </a:lnTo>
                  <a:lnTo>
                    <a:pt x="19093" y="175367"/>
                  </a:lnTo>
                  <a:cubicBezTo>
                    <a:pt x="8941" y="174604"/>
                    <a:pt x="861" y="166551"/>
                    <a:pt x="65" y="156401"/>
                  </a:cubicBezTo>
                  <a:lnTo>
                    <a:pt x="3" y="154781"/>
                  </a:lnTo>
                  <a:lnTo>
                    <a:pt x="3" y="123825"/>
                  </a:lnTo>
                  <a:cubicBezTo>
                    <a:pt x="0" y="113025"/>
                    <a:pt x="8324" y="104049"/>
                    <a:pt x="19093" y="103239"/>
                  </a:cubicBezTo>
                  <a:lnTo>
                    <a:pt x="20641" y="103188"/>
                  </a:lnTo>
                  <a:lnTo>
                    <a:pt x="20641" y="10319"/>
                  </a:lnTo>
                  <a:cubicBezTo>
                    <a:pt x="20641" y="4620"/>
                    <a:pt x="25261" y="0"/>
                    <a:pt x="30960" y="0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47"/>
            <p:cNvSpPr/>
            <p:nvPr/>
          </p:nvSpPr>
          <p:spPr>
            <a:xfrm>
              <a:off x="7965278" y="1345406"/>
              <a:ext cx="61919" cy="186028"/>
            </a:xfrm>
            <a:custGeom>
              <a:rect b="b" l="l" r="r" t="t"/>
              <a:pathLst>
                <a:path extrusionOk="0" h="186028" w="61919">
                  <a:moveTo>
                    <a:pt x="30960" y="0"/>
                  </a:moveTo>
                  <a:cubicBezTo>
                    <a:pt x="36191" y="1"/>
                    <a:pt x="40594" y="3916"/>
                    <a:pt x="41206" y="9111"/>
                  </a:cubicBezTo>
                  <a:lnTo>
                    <a:pt x="41278" y="10319"/>
                  </a:lnTo>
                  <a:cubicBezTo>
                    <a:pt x="52078" y="10315"/>
                    <a:pt x="61054" y="18639"/>
                    <a:pt x="61864" y="29408"/>
                  </a:cubicBezTo>
                  <a:lnTo>
                    <a:pt x="61916" y="30956"/>
                  </a:lnTo>
                  <a:lnTo>
                    <a:pt x="61916" y="72231"/>
                  </a:lnTo>
                  <a:cubicBezTo>
                    <a:pt x="61919" y="83031"/>
                    <a:pt x="53596" y="92007"/>
                    <a:pt x="42826" y="92817"/>
                  </a:cubicBezTo>
                  <a:lnTo>
                    <a:pt x="41278" y="92869"/>
                  </a:lnTo>
                  <a:lnTo>
                    <a:pt x="41278" y="175419"/>
                  </a:lnTo>
                  <a:cubicBezTo>
                    <a:pt x="41272" y="180878"/>
                    <a:pt x="37015" y="185388"/>
                    <a:pt x="31564" y="185708"/>
                  </a:cubicBezTo>
                  <a:cubicBezTo>
                    <a:pt x="26114" y="186028"/>
                    <a:pt x="21358" y="182047"/>
                    <a:pt x="20713" y="176626"/>
                  </a:cubicBezTo>
                  <a:lnTo>
                    <a:pt x="20641" y="175419"/>
                  </a:lnTo>
                  <a:lnTo>
                    <a:pt x="20641" y="92869"/>
                  </a:lnTo>
                  <a:cubicBezTo>
                    <a:pt x="9841" y="92872"/>
                    <a:pt x="865" y="84549"/>
                    <a:pt x="55" y="73779"/>
                  </a:cubicBezTo>
                  <a:lnTo>
                    <a:pt x="3" y="72231"/>
                  </a:lnTo>
                  <a:lnTo>
                    <a:pt x="3" y="30956"/>
                  </a:lnTo>
                  <a:cubicBezTo>
                    <a:pt x="0" y="20156"/>
                    <a:pt x="8324" y="11180"/>
                    <a:pt x="19093" y="10370"/>
                  </a:cubicBezTo>
                  <a:lnTo>
                    <a:pt x="20641" y="10319"/>
                  </a:lnTo>
                  <a:cubicBezTo>
                    <a:pt x="20641" y="4620"/>
                    <a:pt x="25261" y="0"/>
                    <a:pt x="30960" y="0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2" name="Google Shape;792;p47"/>
          <p:cNvSpPr txBox="1"/>
          <p:nvPr/>
        </p:nvSpPr>
        <p:spPr>
          <a:xfrm>
            <a:off x="6117194" y="996911"/>
            <a:ext cx="1197435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报告涵盖四大维度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47"/>
          <p:cNvSpPr txBox="1"/>
          <p:nvPr/>
        </p:nvSpPr>
        <p:spPr>
          <a:xfrm>
            <a:off x="5847874" y="1200864"/>
            <a:ext cx="183722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① 企业基本面 · EPS / ROE / 护城河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47"/>
          <p:cNvSpPr txBox="1"/>
          <p:nvPr/>
        </p:nvSpPr>
        <p:spPr>
          <a:xfrm>
            <a:off x="5847874" y="1358027"/>
            <a:ext cx="167620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② 技术面 · 阻力位 / RS / 成交量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47"/>
          <p:cNvSpPr txBox="1"/>
          <p:nvPr/>
        </p:nvSpPr>
        <p:spPr>
          <a:xfrm>
            <a:off x="5847874" y="1515189"/>
            <a:ext cx="167045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③ 趋势状态 · Stage / MA / 形态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47"/>
          <p:cNvSpPr txBox="1"/>
          <p:nvPr/>
        </p:nvSpPr>
        <p:spPr>
          <a:xfrm>
            <a:off x="5847874" y="1672352"/>
            <a:ext cx="166470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④ 行动建议 · 买点 / 止损 / 目标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47"/>
          <p:cNvSpPr txBox="1"/>
          <p:nvPr/>
        </p:nvSpPr>
        <p:spPr>
          <a:xfrm>
            <a:off x="5847874" y="1900952"/>
            <a:ext cx="166240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全程 AI 执行 · 无需手动查数据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47"/>
          <p:cNvSpPr/>
          <p:nvPr/>
        </p:nvSpPr>
        <p:spPr>
          <a:xfrm>
            <a:off x="5715000" y="2614613"/>
            <a:ext cx="2971800" cy="1700213"/>
          </a:xfrm>
          <a:prstGeom prst="roundRect">
            <a:avLst>
              <a:gd fmla="val 420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47"/>
          <p:cNvSpPr/>
          <p:nvPr/>
        </p:nvSpPr>
        <p:spPr>
          <a:xfrm>
            <a:off x="5715000" y="2614613"/>
            <a:ext cx="2971800" cy="35719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0" name="Google Shape;800;p47"/>
          <p:cNvGrpSpPr/>
          <p:nvPr/>
        </p:nvGrpSpPr>
        <p:grpSpPr>
          <a:xfrm>
            <a:off x="5873135" y="2772966"/>
            <a:ext cx="155217" cy="154781"/>
            <a:chOff x="7830847" y="3697288"/>
            <a:chExt cx="206956" cy="206375"/>
          </a:xfrm>
        </p:grpSpPr>
        <p:sp>
          <p:nvSpPr>
            <p:cNvPr id="801" name="Google Shape;801;p47"/>
            <p:cNvSpPr/>
            <p:nvPr/>
          </p:nvSpPr>
          <p:spPr>
            <a:xfrm>
              <a:off x="7830847" y="3790156"/>
              <a:ext cx="31538" cy="20637"/>
            </a:xfrm>
            <a:custGeom>
              <a:rect b="b" l="l" r="r" t="t"/>
              <a:pathLst>
                <a:path extrusionOk="0" h="20637" w="31538">
                  <a:moveTo>
                    <a:pt x="20928" y="0"/>
                  </a:moveTo>
                  <a:cubicBezTo>
                    <a:pt x="26388" y="6"/>
                    <a:pt x="30898" y="4264"/>
                    <a:pt x="31218" y="9714"/>
                  </a:cubicBezTo>
                  <a:cubicBezTo>
                    <a:pt x="31538" y="15164"/>
                    <a:pt x="27557" y="19920"/>
                    <a:pt x="22136" y="20565"/>
                  </a:cubicBezTo>
                  <a:lnTo>
                    <a:pt x="20928" y="20637"/>
                  </a:lnTo>
                  <a:lnTo>
                    <a:pt x="10610" y="20637"/>
                  </a:lnTo>
                  <a:cubicBezTo>
                    <a:pt x="5150" y="20631"/>
                    <a:pt x="640" y="16374"/>
                    <a:pt x="320" y="10923"/>
                  </a:cubicBezTo>
                  <a:cubicBezTo>
                    <a:pt x="0" y="5473"/>
                    <a:pt x="3981" y="717"/>
                    <a:pt x="9402" y="72"/>
                  </a:cubicBezTo>
                  <a:lnTo>
                    <a:pt x="10610" y="0"/>
                  </a:lnTo>
                  <a:lnTo>
                    <a:pt x="20928" y="0"/>
                  </a:ln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47"/>
            <p:cNvSpPr/>
            <p:nvPr/>
          </p:nvSpPr>
          <p:spPr>
            <a:xfrm>
              <a:off x="7924006" y="3697288"/>
              <a:ext cx="20638" cy="31247"/>
            </a:xfrm>
            <a:custGeom>
              <a:rect b="b" l="l" r="r" t="t"/>
              <a:pathLst>
                <a:path extrusionOk="0" h="31247" w="20638">
                  <a:moveTo>
                    <a:pt x="10319" y="0"/>
                  </a:moveTo>
                  <a:cubicBezTo>
                    <a:pt x="15550" y="1"/>
                    <a:pt x="19953" y="3916"/>
                    <a:pt x="20565" y="9111"/>
                  </a:cubicBezTo>
                  <a:lnTo>
                    <a:pt x="20638" y="10319"/>
                  </a:lnTo>
                  <a:lnTo>
                    <a:pt x="20638" y="20637"/>
                  </a:lnTo>
                  <a:cubicBezTo>
                    <a:pt x="20631" y="26097"/>
                    <a:pt x="16374" y="30607"/>
                    <a:pt x="10923" y="30927"/>
                  </a:cubicBezTo>
                  <a:cubicBezTo>
                    <a:pt x="5473" y="31247"/>
                    <a:pt x="717" y="27266"/>
                    <a:pt x="72" y="21845"/>
                  </a:cubicBezTo>
                  <a:lnTo>
                    <a:pt x="0" y="20637"/>
                  </a:lnTo>
                  <a:lnTo>
                    <a:pt x="0" y="10319"/>
                  </a:lnTo>
                  <a:cubicBezTo>
                    <a:pt x="0" y="4620"/>
                    <a:pt x="4620" y="0"/>
                    <a:pt x="10319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47"/>
            <p:cNvSpPr/>
            <p:nvPr/>
          </p:nvSpPr>
          <p:spPr>
            <a:xfrm>
              <a:off x="8006265" y="3790156"/>
              <a:ext cx="31538" cy="20637"/>
            </a:xfrm>
            <a:custGeom>
              <a:rect b="b" l="l" r="r" t="t"/>
              <a:pathLst>
                <a:path extrusionOk="0" h="20637" w="31538">
                  <a:moveTo>
                    <a:pt x="20928" y="0"/>
                  </a:moveTo>
                  <a:cubicBezTo>
                    <a:pt x="26388" y="6"/>
                    <a:pt x="30898" y="4264"/>
                    <a:pt x="31218" y="9714"/>
                  </a:cubicBezTo>
                  <a:cubicBezTo>
                    <a:pt x="31538" y="15164"/>
                    <a:pt x="27557" y="19920"/>
                    <a:pt x="22136" y="20565"/>
                  </a:cubicBezTo>
                  <a:lnTo>
                    <a:pt x="20928" y="20637"/>
                  </a:lnTo>
                  <a:lnTo>
                    <a:pt x="10610" y="20637"/>
                  </a:lnTo>
                  <a:cubicBezTo>
                    <a:pt x="5150" y="20631"/>
                    <a:pt x="640" y="16374"/>
                    <a:pt x="320" y="10923"/>
                  </a:cubicBezTo>
                  <a:cubicBezTo>
                    <a:pt x="0" y="5473"/>
                    <a:pt x="3981" y="717"/>
                    <a:pt x="9402" y="72"/>
                  </a:cubicBezTo>
                  <a:lnTo>
                    <a:pt x="10610" y="0"/>
                  </a:lnTo>
                  <a:lnTo>
                    <a:pt x="20928" y="0"/>
                  </a:ln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47"/>
            <p:cNvSpPr/>
            <p:nvPr/>
          </p:nvSpPr>
          <p:spPr>
            <a:xfrm>
              <a:off x="7856961" y="3723097"/>
              <a:ext cx="29871" cy="30041"/>
            </a:xfrm>
            <a:custGeom>
              <a:rect b="b" l="l" r="r" t="t"/>
              <a:pathLst>
                <a:path extrusionOk="0" h="30041" w="29871">
                  <a:moveTo>
                    <a:pt x="4028" y="4043"/>
                  </a:moveTo>
                  <a:cubicBezTo>
                    <a:pt x="7704" y="367"/>
                    <a:pt x="13541" y="0"/>
                    <a:pt x="17649" y="3186"/>
                  </a:cubicBezTo>
                  <a:lnTo>
                    <a:pt x="18619" y="4043"/>
                  </a:lnTo>
                  <a:lnTo>
                    <a:pt x="25842" y="11266"/>
                  </a:lnTo>
                  <a:cubicBezTo>
                    <a:pt x="29683" y="15120"/>
                    <a:pt x="29871" y="21294"/>
                    <a:pt x="26273" y="25375"/>
                  </a:cubicBezTo>
                  <a:cubicBezTo>
                    <a:pt x="22674" y="29456"/>
                    <a:pt x="16526" y="30041"/>
                    <a:pt x="12221" y="26713"/>
                  </a:cubicBezTo>
                  <a:lnTo>
                    <a:pt x="11251" y="25857"/>
                  </a:lnTo>
                  <a:lnTo>
                    <a:pt x="4028" y="18634"/>
                  </a:lnTo>
                  <a:cubicBezTo>
                    <a:pt x="0" y="14604"/>
                    <a:pt x="0" y="8072"/>
                    <a:pt x="4028" y="4043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47"/>
            <p:cNvSpPr/>
            <p:nvPr/>
          </p:nvSpPr>
          <p:spPr>
            <a:xfrm>
              <a:off x="7981662" y="3723110"/>
              <a:ext cx="30183" cy="29872"/>
            </a:xfrm>
            <a:custGeom>
              <a:rect b="b" l="l" r="r" t="t"/>
              <a:pathLst>
                <a:path extrusionOk="0" h="29872" w="30183">
                  <a:moveTo>
                    <a:pt x="11408" y="4029"/>
                  </a:moveTo>
                  <a:cubicBezTo>
                    <a:pt x="15262" y="189"/>
                    <a:pt x="21435" y="0"/>
                    <a:pt x="25516" y="3598"/>
                  </a:cubicBezTo>
                  <a:cubicBezTo>
                    <a:pt x="29597" y="7197"/>
                    <a:pt x="30183" y="13346"/>
                    <a:pt x="26855" y="17650"/>
                  </a:cubicBezTo>
                  <a:lnTo>
                    <a:pt x="25998" y="18620"/>
                  </a:lnTo>
                  <a:lnTo>
                    <a:pt x="18775" y="25843"/>
                  </a:lnTo>
                  <a:cubicBezTo>
                    <a:pt x="14922" y="29684"/>
                    <a:pt x="8748" y="29872"/>
                    <a:pt x="4667" y="26274"/>
                  </a:cubicBezTo>
                  <a:cubicBezTo>
                    <a:pt x="586" y="22675"/>
                    <a:pt x="0" y="16527"/>
                    <a:pt x="3328" y="12222"/>
                  </a:cubicBezTo>
                  <a:lnTo>
                    <a:pt x="4185" y="11252"/>
                  </a:lnTo>
                  <a:lnTo>
                    <a:pt x="11408" y="4029"/>
                  </a:ln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47"/>
            <p:cNvSpPr/>
            <p:nvPr/>
          </p:nvSpPr>
          <p:spPr>
            <a:xfrm>
              <a:off x="7903369" y="3862388"/>
              <a:ext cx="61912" cy="41275"/>
            </a:xfrm>
            <a:custGeom>
              <a:rect b="b" l="l" r="r" t="t"/>
              <a:pathLst>
                <a:path extrusionOk="0" h="41275" w="61912">
                  <a:moveTo>
                    <a:pt x="51594" y="0"/>
                  </a:moveTo>
                  <a:cubicBezTo>
                    <a:pt x="57293" y="0"/>
                    <a:pt x="61912" y="4620"/>
                    <a:pt x="61912" y="10319"/>
                  </a:cubicBezTo>
                  <a:cubicBezTo>
                    <a:pt x="61912" y="27415"/>
                    <a:pt x="48053" y="41275"/>
                    <a:pt x="30956" y="41275"/>
                  </a:cubicBezTo>
                  <a:cubicBezTo>
                    <a:pt x="13860" y="41275"/>
                    <a:pt x="0" y="27415"/>
                    <a:pt x="0" y="10319"/>
                  </a:cubicBezTo>
                  <a:cubicBezTo>
                    <a:pt x="1" y="5087"/>
                    <a:pt x="3916" y="684"/>
                    <a:pt x="9111" y="72"/>
                  </a:cubicBezTo>
                  <a:lnTo>
                    <a:pt x="10319" y="0"/>
                  </a:lnTo>
                  <a:lnTo>
                    <a:pt x="51594" y="0"/>
                  </a:ln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47"/>
            <p:cNvSpPr/>
            <p:nvPr/>
          </p:nvSpPr>
          <p:spPr>
            <a:xfrm>
              <a:off x="7867162" y="3738562"/>
              <a:ext cx="134325" cy="113506"/>
            </a:xfrm>
            <a:custGeom>
              <a:rect b="b" l="l" r="r" t="t"/>
              <a:pathLst>
                <a:path extrusionOk="0" h="113506" w="134325">
                  <a:moveTo>
                    <a:pt x="67163" y="0"/>
                  </a:moveTo>
                  <a:cubicBezTo>
                    <a:pt x="93812" y="0"/>
                    <a:pt x="117471" y="17053"/>
                    <a:pt x="125898" y="42334"/>
                  </a:cubicBezTo>
                  <a:cubicBezTo>
                    <a:pt x="134325" y="67616"/>
                    <a:pt x="125629" y="95453"/>
                    <a:pt x="104310" y="111442"/>
                  </a:cubicBezTo>
                  <a:cubicBezTo>
                    <a:pt x="102888" y="112511"/>
                    <a:pt x="101214" y="113193"/>
                    <a:pt x="99450" y="113424"/>
                  </a:cubicBezTo>
                  <a:lnTo>
                    <a:pt x="98119" y="113506"/>
                  </a:lnTo>
                  <a:lnTo>
                    <a:pt x="36206" y="113506"/>
                  </a:lnTo>
                  <a:cubicBezTo>
                    <a:pt x="33974" y="113506"/>
                    <a:pt x="31801" y="112782"/>
                    <a:pt x="30015" y="111442"/>
                  </a:cubicBezTo>
                  <a:cubicBezTo>
                    <a:pt x="8696" y="95453"/>
                    <a:pt x="0" y="67616"/>
                    <a:pt x="8427" y="42334"/>
                  </a:cubicBezTo>
                  <a:cubicBezTo>
                    <a:pt x="16854" y="17053"/>
                    <a:pt x="40513" y="0"/>
                    <a:pt x="67163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8" name="Google Shape;808;p47"/>
          <p:cNvSpPr txBox="1"/>
          <p:nvPr/>
        </p:nvSpPr>
        <p:spPr>
          <a:xfrm>
            <a:off x="6117194" y="2768561"/>
            <a:ext cx="1490722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学员带走的不只是工具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47"/>
          <p:cNvSpPr txBox="1"/>
          <p:nvPr/>
        </p:nvSpPr>
        <p:spPr>
          <a:xfrm>
            <a:off x="5847874" y="2972514"/>
            <a:ext cx="147493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理解 SEPA 框架，不是黑盒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47"/>
          <p:cNvSpPr txBox="1"/>
          <p:nvPr/>
        </p:nvSpPr>
        <p:spPr>
          <a:xfrm>
            <a:off x="5847874" y="3129677"/>
            <a:ext cx="154969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学会给 AI 定制你自己的逻辑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47"/>
          <p:cNvSpPr txBox="1"/>
          <p:nvPr/>
        </p:nvSpPr>
        <p:spPr>
          <a:xfrm>
            <a:off x="5847874" y="3286839"/>
            <a:ext cx="149793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可改成你自己的投资方法论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47"/>
          <p:cNvSpPr txBox="1"/>
          <p:nvPr/>
        </p:nvSpPr>
        <p:spPr>
          <a:xfrm>
            <a:off x="5847874" y="3444002"/>
            <a:ext cx="1612952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通用于任意股票池，非套模板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47"/>
          <p:cNvSpPr txBox="1"/>
          <p:nvPr/>
        </p:nvSpPr>
        <p:spPr>
          <a:xfrm>
            <a:off x="5847874" y="3729752"/>
            <a:ext cx="158994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不是工具依赖，而是方法内化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7"/>
          <p:cNvSpPr txBox="1"/>
          <p:nvPr/>
        </p:nvSpPr>
        <p:spPr>
          <a:xfrm>
            <a:off x="8399836" y="4921687"/>
            <a:ext cx="29625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11 / 17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4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48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48"/>
          <p:cNvSpPr txBox="1"/>
          <p:nvPr/>
        </p:nvSpPr>
        <p:spPr>
          <a:xfrm>
            <a:off x="4205669" y="531495"/>
            <a:ext cx="732663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今晚分享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48"/>
          <p:cNvSpPr txBox="1"/>
          <p:nvPr/>
        </p:nvSpPr>
        <p:spPr>
          <a:xfrm>
            <a:off x="2852728" y="814400"/>
            <a:ext cx="444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两份干货 · 先打地基，再学出招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48"/>
          <p:cNvSpPr/>
          <p:nvPr/>
        </p:nvSpPr>
        <p:spPr>
          <a:xfrm>
            <a:off x="628650" y="1357313"/>
            <a:ext cx="3629025" cy="2643188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48"/>
          <p:cNvSpPr/>
          <p:nvPr/>
        </p:nvSpPr>
        <p:spPr>
          <a:xfrm>
            <a:off x="628650" y="1357313"/>
            <a:ext cx="3629025" cy="42863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48"/>
          <p:cNvSpPr/>
          <p:nvPr/>
        </p:nvSpPr>
        <p:spPr>
          <a:xfrm>
            <a:off x="2043113" y="1600200"/>
            <a:ext cx="800100" cy="800100"/>
          </a:xfrm>
          <a:prstGeom prst="ellipse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6" name="Google Shape;826;p48"/>
          <p:cNvGrpSpPr/>
          <p:nvPr/>
        </p:nvGrpSpPr>
        <p:grpSpPr>
          <a:xfrm>
            <a:off x="2271706" y="1828800"/>
            <a:ext cx="342913" cy="343437"/>
            <a:chOff x="3028942" y="2438400"/>
            <a:chExt cx="457217" cy="457916"/>
          </a:xfrm>
        </p:grpSpPr>
        <p:sp>
          <p:nvSpPr>
            <p:cNvPr id="827" name="Google Shape;827;p48"/>
            <p:cNvSpPr/>
            <p:nvPr/>
          </p:nvSpPr>
          <p:spPr>
            <a:xfrm>
              <a:off x="3028942" y="2438400"/>
              <a:ext cx="152417" cy="457916"/>
            </a:xfrm>
            <a:custGeom>
              <a:rect b="b" l="l" r="r" t="t"/>
              <a:pathLst>
                <a:path extrusionOk="0" h="457916" w="152417">
                  <a:moveTo>
                    <a:pt x="76208" y="0"/>
                  </a:moveTo>
                  <a:cubicBezTo>
                    <a:pt x="89086" y="2"/>
                    <a:pt x="99924" y="9639"/>
                    <a:pt x="101431" y="22428"/>
                  </a:cubicBezTo>
                  <a:lnTo>
                    <a:pt x="101608" y="25400"/>
                  </a:lnTo>
                  <a:lnTo>
                    <a:pt x="101608" y="50800"/>
                  </a:lnTo>
                  <a:cubicBezTo>
                    <a:pt x="128193" y="50792"/>
                    <a:pt x="150288" y="71281"/>
                    <a:pt x="152281" y="97790"/>
                  </a:cubicBezTo>
                  <a:lnTo>
                    <a:pt x="152408" y="101600"/>
                  </a:lnTo>
                  <a:lnTo>
                    <a:pt x="152408" y="177800"/>
                  </a:lnTo>
                  <a:cubicBezTo>
                    <a:pt x="152417" y="204384"/>
                    <a:pt x="131928" y="226479"/>
                    <a:pt x="105418" y="228473"/>
                  </a:cubicBezTo>
                  <a:lnTo>
                    <a:pt x="101608" y="228600"/>
                  </a:lnTo>
                  <a:lnTo>
                    <a:pt x="101608" y="431800"/>
                  </a:lnTo>
                  <a:cubicBezTo>
                    <a:pt x="101594" y="445239"/>
                    <a:pt x="91113" y="456341"/>
                    <a:pt x="77697" y="457128"/>
                  </a:cubicBezTo>
                  <a:cubicBezTo>
                    <a:pt x="64281" y="457916"/>
                    <a:pt x="52573" y="448117"/>
                    <a:pt x="50986" y="434772"/>
                  </a:cubicBezTo>
                  <a:lnTo>
                    <a:pt x="50808" y="431800"/>
                  </a:lnTo>
                  <a:lnTo>
                    <a:pt x="50808" y="228600"/>
                  </a:lnTo>
                  <a:cubicBezTo>
                    <a:pt x="24224" y="228608"/>
                    <a:pt x="2129" y="208119"/>
                    <a:pt x="135" y="181610"/>
                  </a:cubicBezTo>
                  <a:lnTo>
                    <a:pt x="8" y="177800"/>
                  </a:lnTo>
                  <a:lnTo>
                    <a:pt x="8" y="101600"/>
                  </a:lnTo>
                  <a:cubicBezTo>
                    <a:pt x="0" y="75016"/>
                    <a:pt x="20489" y="52921"/>
                    <a:pt x="46998" y="50927"/>
                  </a:cubicBezTo>
                  <a:lnTo>
                    <a:pt x="50808" y="50800"/>
                  </a:lnTo>
                  <a:lnTo>
                    <a:pt x="50808" y="25400"/>
                  </a:lnTo>
                  <a:cubicBezTo>
                    <a:pt x="50808" y="11372"/>
                    <a:pt x="62180" y="0"/>
                    <a:pt x="76208" y="0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48"/>
            <p:cNvSpPr/>
            <p:nvPr/>
          </p:nvSpPr>
          <p:spPr>
            <a:xfrm>
              <a:off x="3181342" y="2438400"/>
              <a:ext cx="152417" cy="457916"/>
            </a:xfrm>
            <a:custGeom>
              <a:rect b="b" l="l" r="r" t="t"/>
              <a:pathLst>
                <a:path extrusionOk="0" h="457916" w="152417">
                  <a:moveTo>
                    <a:pt x="76208" y="0"/>
                  </a:moveTo>
                  <a:cubicBezTo>
                    <a:pt x="89086" y="2"/>
                    <a:pt x="99924" y="9639"/>
                    <a:pt x="101431" y="22428"/>
                  </a:cubicBezTo>
                  <a:lnTo>
                    <a:pt x="101608" y="25400"/>
                  </a:lnTo>
                  <a:lnTo>
                    <a:pt x="101608" y="254000"/>
                  </a:lnTo>
                  <a:cubicBezTo>
                    <a:pt x="128193" y="253992"/>
                    <a:pt x="150288" y="274481"/>
                    <a:pt x="152281" y="300990"/>
                  </a:cubicBezTo>
                  <a:lnTo>
                    <a:pt x="152408" y="304800"/>
                  </a:lnTo>
                  <a:lnTo>
                    <a:pt x="152408" y="381000"/>
                  </a:lnTo>
                  <a:cubicBezTo>
                    <a:pt x="152417" y="407584"/>
                    <a:pt x="131928" y="429679"/>
                    <a:pt x="105418" y="431673"/>
                  </a:cubicBezTo>
                  <a:lnTo>
                    <a:pt x="101608" y="431800"/>
                  </a:lnTo>
                  <a:cubicBezTo>
                    <a:pt x="101594" y="445239"/>
                    <a:pt x="91113" y="456341"/>
                    <a:pt x="77697" y="457128"/>
                  </a:cubicBezTo>
                  <a:cubicBezTo>
                    <a:pt x="64281" y="457916"/>
                    <a:pt x="52573" y="448117"/>
                    <a:pt x="50986" y="434772"/>
                  </a:cubicBezTo>
                  <a:lnTo>
                    <a:pt x="50808" y="431800"/>
                  </a:lnTo>
                  <a:lnTo>
                    <a:pt x="46998" y="431673"/>
                  </a:lnTo>
                  <a:cubicBezTo>
                    <a:pt x="22008" y="429795"/>
                    <a:pt x="2120" y="409972"/>
                    <a:pt x="161" y="384988"/>
                  </a:cubicBezTo>
                  <a:lnTo>
                    <a:pt x="8" y="381000"/>
                  </a:lnTo>
                  <a:lnTo>
                    <a:pt x="8" y="304800"/>
                  </a:lnTo>
                  <a:cubicBezTo>
                    <a:pt x="0" y="278216"/>
                    <a:pt x="20489" y="256121"/>
                    <a:pt x="46998" y="254127"/>
                  </a:cubicBezTo>
                  <a:lnTo>
                    <a:pt x="50808" y="254000"/>
                  </a:lnTo>
                  <a:lnTo>
                    <a:pt x="50808" y="25400"/>
                  </a:lnTo>
                  <a:cubicBezTo>
                    <a:pt x="50808" y="11372"/>
                    <a:pt x="62180" y="0"/>
                    <a:pt x="76208" y="0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48"/>
            <p:cNvSpPr/>
            <p:nvPr/>
          </p:nvSpPr>
          <p:spPr>
            <a:xfrm>
              <a:off x="3333742" y="2438400"/>
              <a:ext cx="152417" cy="457916"/>
            </a:xfrm>
            <a:custGeom>
              <a:rect b="b" l="l" r="r" t="t"/>
              <a:pathLst>
                <a:path extrusionOk="0" h="457916" w="152417">
                  <a:moveTo>
                    <a:pt x="76208" y="0"/>
                  </a:moveTo>
                  <a:cubicBezTo>
                    <a:pt x="89086" y="2"/>
                    <a:pt x="99924" y="9639"/>
                    <a:pt x="101431" y="22428"/>
                  </a:cubicBezTo>
                  <a:lnTo>
                    <a:pt x="101608" y="25400"/>
                  </a:lnTo>
                  <a:cubicBezTo>
                    <a:pt x="128193" y="25392"/>
                    <a:pt x="150288" y="45881"/>
                    <a:pt x="152281" y="72390"/>
                  </a:cubicBezTo>
                  <a:lnTo>
                    <a:pt x="152408" y="76200"/>
                  </a:lnTo>
                  <a:lnTo>
                    <a:pt x="152408" y="177800"/>
                  </a:lnTo>
                  <a:cubicBezTo>
                    <a:pt x="152417" y="204384"/>
                    <a:pt x="131928" y="226479"/>
                    <a:pt x="105418" y="228473"/>
                  </a:cubicBezTo>
                  <a:lnTo>
                    <a:pt x="101608" y="228600"/>
                  </a:lnTo>
                  <a:lnTo>
                    <a:pt x="101608" y="431800"/>
                  </a:lnTo>
                  <a:cubicBezTo>
                    <a:pt x="101594" y="445239"/>
                    <a:pt x="91113" y="456341"/>
                    <a:pt x="77697" y="457128"/>
                  </a:cubicBezTo>
                  <a:cubicBezTo>
                    <a:pt x="64281" y="457916"/>
                    <a:pt x="52573" y="448117"/>
                    <a:pt x="50986" y="434772"/>
                  </a:cubicBezTo>
                  <a:lnTo>
                    <a:pt x="50808" y="431800"/>
                  </a:lnTo>
                  <a:lnTo>
                    <a:pt x="50808" y="228600"/>
                  </a:lnTo>
                  <a:cubicBezTo>
                    <a:pt x="24224" y="228608"/>
                    <a:pt x="2129" y="208119"/>
                    <a:pt x="135" y="181610"/>
                  </a:cubicBezTo>
                  <a:lnTo>
                    <a:pt x="8" y="177800"/>
                  </a:lnTo>
                  <a:lnTo>
                    <a:pt x="8" y="76200"/>
                  </a:lnTo>
                  <a:cubicBezTo>
                    <a:pt x="0" y="49616"/>
                    <a:pt x="20489" y="27521"/>
                    <a:pt x="46998" y="25527"/>
                  </a:cubicBezTo>
                  <a:lnTo>
                    <a:pt x="50808" y="25400"/>
                  </a:lnTo>
                  <a:cubicBezTo>
                    <a:pt x="50808" y="11372"/>
                    <a:pt x="62180" y="0"/>
                    <a:pt x="76208" y="0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0" name="Google Shape;830;p48"/>
          <p:cNvSpPr txBox="1"/>
          <p:nvPr/>
        </p:nvSpPr>
        <p:spPr>
          <a:xfrm>
            <a:off x="1526021" y="2523887"/>
            <a:ext cx="183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C1917"/>
                </a:solidFill>
              </a:rPr>
              <a:t>投资</a:t>
            </a:r>
            <a:r>
              <a:rPr b="1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理财知识库入门教程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48"/>
          <p:cNvSpPr txBox="1"/>
          <p:nvPr/>
        </p:nvSpPr>
        <p:spPr>
          <a:xfrm>
            <a:off x="1645313" y="2772489"/>
            <a:ext cx="159569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炒股之前，先安排好账户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48"/>
          <p:cNvSpPr txBox="1"/>
          <p:nvPr/>
        </p:nvSpPr>
        <p:spPr>
          <a:xfrm>
            <a:off x="1737324" y="2929652"/>
            <a:ext cx="1411676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资产配置 · 账户规划 · 美股基础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48"/>
          <p:cNvSpPr txBox="1"/>
          <p:nvPr/>
        </p:nvSpPr>
        <p:spPr>
          <a:xfrm>
            <a:off x="1569100" y="3129675"/>
            <a:ext cx="1758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含股票知识 · 网页版直接看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48"/>
          <p:cNvSpPr/>
          <p:nvPr/>
        </p:nvSpPr>
        <p:spPr>
          <a:xfrm>
            <a:off x="914400" y="3514725"/>
            <a:ext cx="3057525" cy="314325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48"/>
          <p:cNvSpPr txBox="1"/>
          <p:nvPr/>
        </p:nvSpPr>
        <p:spPr>
          <a:xfrm>
            <a:off x="1879664" y="3610451"/>
            <a:ext cx="1127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免费领取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48"/>
          <p:cNvSpPr/>
          <p:nvPr/>
        </p:nvSpPr>
        <p:spPr>
          <a:xfrm>
            <a:off x="4886325" y="1357313"/>
            <a:ext cx="3629025" cy="2643188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48"/>
          <p:cNvSpPr/>
          <p:nvPr/>
        </p:nvSpPr>
        <p:spPr>
          <a:xfrm>
            <a:off x="4886325" y="1357313"/>
            <a:ext cx="3629025" cy="42863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48"/>
          <p:cNvSpPr/>
          <p:nvPr/>
        </p:nvSpPr>
        <p:spPr>
          <a:xfrm>
            <a:off x="6300788" y="1600200"/>
            <a:ext cx="800100" cy="8001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48"/>
          <p:cNvSpPr/>
          <p:nvPr/>
        </p:nvSpPr>
        <p:spPr>
          <a:xfrm>
            <a:off x="6548436" y="1809750"/>
            <a:ext cx="304803" cy="381001"/>
          </a:xfrm>
          <a:custGeom>
            <a:rect b="b" l="l" r="r" t="t"/>
            <a:pathLst>
              <a:path extrusionOk="0" h="508002" w="406404">
                <a:moveTo>
                  <a:pt x="203202" y="0"/>
                </a:moveTo>
                <a:lnTo>
                  <a:pt x="206174" y="178"/>
                </a:lnTo>
                <a:cubicBezTo>
                  <a:pt x="217845" y="1554"/>
                  <a:pt x="227048" y="10757"/>
                  <a:pt x="228424" y="22428"/>
                </a:cubicBezTo>
                <a:lnTo>
                  <a:pt x="228602" y="25400"/>
                </a:lnTo>
                <a:lnTo>
                  <a:pt x="228602" y="127000"/>
                </a:lnTo>
                <a:lnTo>
                  <a:pt x="228729" y="130810"/>
                </a:lnTo>
                <a:cubicBezTo>
                  <a:pt x="230607" y="155801"/>
                  <a:pt x="250430" y="175688"/>
                  <a:pt x="275414" y="177648"/>
                </a:cubicBezTo>
                <a:lnTo>
                  <a:pt x="279402" y="177800"/>
                </a:lnTo>
                <a:lnTo>
                  <a:pt x="381002" y="177800"/>
                </a:lnTo>
                <a:lnTo>
                  <a:pt x="383974" y="177978"/>
                </a:lnTo>
                <a:cubicBezTo>
                  <a:pt x="395645" y="179354"/>
                  <a:pt x="404848" y="188557"/>
                  <a:pt x="406224" y="200228"/>
                </a:cubicBezTo>
                <a:lnTo>
                  <a:pt x="406402" y="203200"/>
                </a:lnTo>
                <a:lnTo>
                  <a:pt x="406402" y="431800"/>
                </a:lnTo>
                <a:cubicBezTo>
                  <a:pt x="406404" y="472149"/>
                  <a:pt x="374953" y="505506"/>
                  <a:pt x="334673" y="507873"/>
                </a:cubicBezTo>
                <a:lnTo>
                  <a:pt x="330202" y="508000"/>
                </a:lnTo>
                <a:lnTo>
                  <a:pt x="76202" y="508000"/>
                </a:lnTo>
                <a:cubicBezTo>
                  <a:pt x="35853" y="508002"/>
                  <a:pt x="2496" y="476550"/>
                  <a:pt x="129" y="436270"/>
                </a:cubicBezTo>
                <a:lnTo>
                  <a:pt x="2" y="431800"/>
                </a:lnTo>
                <a:lnTo>
                  <a:pt x="2" y="76200"/>
                </a:lnTo>
                <a:cubicBezTo>
                  <a:pt x="0" y="35851"/>
                  <a:pt x="31452" y="2494"/>
                  <a:pt x="71732" y="127"/>
                </a:cubicBezTo>
                <a:lnTo>
                  <a:pt x="76202" y="0"/>
                </a:lnTo>
                <a:close/>
                <a:moveTo>
                  <a:pt x="203202" y="203200"/>
                </a:moveTo>
                <a:cubicBezTo>
                  <a:pt x="189174" y="203200"/>
                  <a:pt x="177802" y="214572"/>
                  <a:pt x="177802" y="228600"/>
                </a:cubicBezTo>
                <a:lnTo>
                  <a:pt x="177802" y="319659"/>
                </a:lnTo>
                <a:lnTo>
                  <a:pt x="157660" y="299542"/>
                </a:lnTo>
                <a:cubicBezTo>
                  <a:pt x="148611" y="290494"/>
                  <a:pt x="134243" y="289590"/>
                  <a:pt x="124132" y="297434"/>
                </a:cubicBezTo>
                <a:lnTo>
                  <a:pt x="121744" y="299542"/>
                </a:lnTo>
                <a:cubicBezTo>
                  <a:pt x="111829" y="309461"/>
                  <a:pt x="111829" y="325539"/>
                  <a:pt x="121744" y="335458"/>
                </a:cubicBezTo>
                <a:lnTo>
                  <a:pt x="185244" y="398958"/>
                </a:lnTo>
                <a:lnTo>
                  <a:pt x="186362" y="400025"/>
                </a:lnTo>
                <a:lnTo>
                  <a:pt x="188089" y="401422"/>
                </a:lnTo>
                <a:lnTo>
                  <a:pt x="190883" y="403225"/>
                </a:lnTo>
                <a:lnTo>
                  <a:pt x="193779" y="404597"/>
                </a:lnTo>
                <a:lnTo>
                  <a:pt x="196446" y="405486"/>
                </a:lnTo>
                <a:lnTo>
                  <a:pt x="200256" y="406248"/>
                </a:lnTo>
                <a:lnTo>
                  <a:pt x="203202" y="406400"/>
                </a:lnTo>
                <a:lnTo>
                  <a:pt x="206174" y="406222"/>
                </a:lnTo>
                <a:lnTo>
                  <a:pt x="209146" y="405714"/>
                </a:lnTo>
                <a:lnTo>
                  <a:pt x="211889" y="404876"/>
                </a:lnTo>
                <a:lnTo>
                  <a:pt x="213946" y="404012"/>
                </a:lnTo>
                <a:lnTo>
                  <a:pt x="216436" y="402692"/>
                </a:lnTo>
                <a:lnTo>
                  <a:pt x="218772" y="401066"/>
                </a:lnTo>
                <a:lnTo>
                  <a:pt x="221160" y="398958"/>
                </a:lnTo>
                <a:lnTo>
                  <a:pt x="284660" y="335458"/>
                </a:lnTo>
                <a:cubicBezTo>
                  <a:pt x="294576" y="325539"/>
                  <a:pt x="294576" y="309461"/>
                  <a:pt x="284660" y="299542"/>
                </a:cubicBezTo>
                <a:lnTo>
                  <a:pt x="282272" y="297434"/>
                </a:lnTo>
                <a:cubicBezTo>
                  <a:pt x="272161" y="289590"/>
                  <a:pt x="257794" y="290494"/>
                  <a:pt x="248744" y="299542"/>
                </a:cubicBezTo>
                <a:lnTo>
                  <a:pt x="228602" y="319634"/>
                </a:lnTo>
                <a:lnTo>
                  <a:pt x="228602" y="228600"/>
                </a:lnTo>
                <a:cubicBezTo>
                  <a:pt x="228601" y="215723"/>
                  <a:pt x="218963" y="204884"/>
                  <a:pt x="206174" y="203378"/>
                </a:cubicBezTo>
                <a:close/>
                <a:moveTo>
                  <a:pt x="279377" y="25375"/>
                </a:moveTo>
                <a:lnTo>
                  <a:pt x="381002" y="127000"/>
                </a:lnTo>
                <a:lnTo>
                  <a:pt x="279402" y="127000"/>
                </a:lnTo>
                <a:close/>
              </a:path>
            </a:pathLst>
          </a:cu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48"/>
          <p:cNvSpPr txBox="1"/>
          <p:nvPr/>
        </p:nvSpPr>
        <p:spPr>
          <a:xfrm>
            <a:off x="5821651" y="2523887"/>
            <a:ext cx="1758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SEPA 炒股方法论精华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48"/>
          <p:cNvSpPr txBox="1"/>
          <p:nvPr/>
        </p:nvSpPr>
        <p:spPr>
          <a:xfrm>
            <a:off x="6115764" y="2772489"/>
            <a:ext cx="1170146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今晚炒股 Skill 的理论基础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48"/>
          <p:cNvSpPr txBox="1"/>
          <p:nvPr/>
        </p:nvSpPr>
        <p:spPr>
          <a:xfrm>
            <a:off x="5626775" y="2929650"/>
            <a:ext cx="2105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Stage 分析 · 趋势模板 · VCP 形态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48"/>
          <p:cNvSpPr txBox="1"/>
          <p:nvPr/>
        </p:nvSpPr>
        <p:spPr>
          <a:xfrm>
            <a:off x="5419650" y="3129675"/>
            <a:ext cx="2416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Minervini 两夺全美投资冠军的体系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48"/>
          <p:cNvSpPr/>
          <p:nvPr/>
        </p:nvSpPr>
        <p:spPr>
          <a:xfrm>
            <a:off x="5172075" y="3514725"/>
            <a:ext cx="3057525" cy="314325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48"/>
          <p:cNvSpPr txBox="1"/>
          <p:nvPr/>
        </p:nvSpPr>
        <p:spPr>
          <a:xfrm>
            <a:off x="2953654" y="4174808"/>
            <a:ext cx="323669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微信：elitecoach101 · 学员平台：learn.austinxyz.ai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8"/>
          <p:cNvSpPr txBox="1"/>
          <p:nvPr/>
        </p:nvSpPr>
        <p:spPr>
          <a:xfrm>
            <a:off x="8373136" y="4921687"/>
            <a:ext cx="32295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12 / 17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8"/>
          <p:cNvSpPr txBox="1"/>
          <p:nvPr/>
        </p:nvSpPr>
        <p:spPr>
          <a:xfrm>
            <a:off x="6300789" y="3619026"/>
            <a:ext cx="1127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免费领取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49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49"/>
          <p:cNvSpPr txBox="1"/>
          <p:nvPr/>
        </p:nvSpPr>
        <p:spPr>
          <a:xfrm>
            <a:off x="488632" y="438626"/>
            <a:ext cx="62466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25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上周 Demo Day · 12 位学员全部跑出真实项目</a:t>
            </a:r>
            <a:endParaRPr/>
          </a:p>
        </p:txBody>
      </p:sp>
      <p:sp>
        <p:nvSpPr>
          <p:cNvPr id="855" name="Google Shape;855;p49"/>
          <p:cNvSpPr txBox="1"/>
          <p:nvPr/>
        </p:nvSpPr>
        <p:spPr>
          <a:xfrm>
            <a:off x="498634" y="795099"/>
            <a:ext cx="5914418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38" u="none" cap="none" strike="noStrike">
                <a:solidFill>
                  <a:srgbClr val="7371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金融理财方向的 Demo 尤其亮眼 — 而且他们都不是程序员出身</a:t>
            </a:r>
            <a:endParaRPr/>
          </a:p>
        </p:txBody>
      </p:sp>
      <p:sp>
        <p:nvSpPr>
          <p:cNvPr id="856" name="Google Shape;856;p49"/>
          <p:cNvSpPr/>
          <p:nvPr/>
        </p:nvSpPr>
        <p:spPr>
          <a:xfrm>
            <a:off x="514350" y="1200150"/>
            <a:ext cx="2571750" cy="222885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10700">
            <a:solidFill>
              <a:srgbClr val="E5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49"/>
          <p:cNvSpPr/>
          <p:nvPr/>
        </p:nvSpPr>
        <p:spPr>
          <a:xfrm>
            <a:off x="514350" y="1200150"/>
            <a:ext cx="2571750" cy="571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49"/>
          <p:cNvSpPr txBox="1"/>
          <p:nvPr/>
        </p:nvSpPr>
        <p:spPr>
          <a:xfrm>
            <a:off x="687229" y="1440894"/>
            <a:ext cx="225992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38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📈</a:t>
            </a:r>
            <a:endParaRPr/>
          </a:p>
        </p:txBody>
      </p:sp>
      <p:sp>
        <p:nvSpPr>
          <p:cNvPr id="859" name="Google Shape;859;p49"/>
          <p:cNvSpPr txBox="1"/>
          <p:nvPr/>
        </p:nvSpPr>
        <p:spPr>
          <a:xfrm>
            <a:off x="695801" y="1899524"/>
            <a:ext cx="1158538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62" u="none" cap="none" strike="noStrike">
                <a:solidFill>
                  <a:srgbClr val="EA580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投资委员会</a:t>
            </a:r>
            <a:endParaRPr/>
          </a:p>
        </p:txBody>
      </p:sp>
      <p:sp>
        <p:nvSpPr>
          <p:cNvPr id="860" name="Google Shape;860;p49"/>
          <p:cNvSpPr txBox="1"/>
          <p:nvPr/>
        </p:nvSpPr>
        <p:spPr>
          <a:xfrm>
            <a:off x="702231" y="2168486"/>
            <a:ext cx="1127606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56" u="none" cap="none" strike="noStrike">
                <a:solidFill>
                  <a:srgbClr val="7371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Tracy · 金融专家</a:t>
            </a:r>
            <a:endParaRPr/>
          </a:p>
        </p:txBody>
      </p:sp>
      <p:sp>
        <p:nvSpPr>
          <p:cNvPr id="861" name="Google Shape;861;p49"/>
          <p:cNvSpPr txBox="1"/>
          <p:nvPr/>
        </p:nvSpPr>
        <p:spPr>
          <a:xfrm>
            <a:off x="700088" y="2436019"/>
            <a:ext cx="18688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5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多个 AI 角色互相辩论，</a:t>
            </a:r>
            <a:endParaRPr/>
          </a:p>
        </p:txBody>
      </p:sp>
      <p:sp>
        <p:nvSpPr>
          <p:cNvPr id="862" name="Google Shape;862;p49"/>
          <p:cNvSpPr txBox="1"/>
          <p:nvPr/>
        </p:nvSpPr>
        <p:spPr>
          <a:xfrm>
            <a:off x="700088" y="2650331"/>
            <a:ext cx="1827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5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像真实投委会一样，</a:t>
            </a:r>
            <a:endParaRPr/>
          </a:p>
        </p:txBody>
      </p:sp>
      <p:sp>
        <p:nvSpPr>
          <p:cNvPr id="863" name="Google Shape;863;p49"/>
          <p:cNvSpPr txBox="1"/>
          <p:nvPr/>
        </p:nvSpPr>
        <p:spPr>
          <a:xfrm>
            <a:off x="700088" y="2864644"/>
            <a:ext cx="13676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5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输出专业投资建议</a:t>
            </a:r>
            <a:endParaRPr/>
          </a:p>
        </p:txBody>
      </p:sp>
      <p:sp>
        <p:nvSpPr>
          <p:cNvPr id="864" name="Google Shape;864;p49"/>
          <p:cNvSpPr/>
          <p:nvPr/>
        </p:nvSpPr>
        <p:spPr>
          <a:xfrm>
            <a:off x="3286125" y="1200150"/>
            <a:ext cx="2571750" cy="222885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10700">
            <a:solidFill>
              <a:srgbClr val="E5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49"/>
          <p:cNvSpPr/>
          <p:nvPr/>
        </p:nvSpPr>
        <p:spPr>
          <a:xfrm>
            <a:off x="3286125" y="1200150"/>
            <a:ext cx="257175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49"/>
          <p:cNvSpPr txBox="1"/>
          <p:nvPr/>
        </p:nvSpPr>
        <p:spPr>
          <a:xfrm>
            <a:off x="3459004" y="1440894"/>
            <a:ext cx="225992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38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💰</a:t>
            </a:r>
            <a:endParaRPr/>
          </a:p>
        </p:txBody>
      </p:sp>
      <p:sp>
        <p:nvSpPr>
          <p:cNvPr id="867" name="Google Shape;867;p49"/>
          <p:cNvSpPr txBox="1"/>
          <p:nvPr/>
        </p:nvSpPr>
        <p:spPr>
          <a:xfrm>
            <a:off x="3467575" y="1899525"/>
            <a:ext cx="1507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62" u="none" cap="none" strike="noStrik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理财投资知识库</a:t>
            </a:r>
            <a:endParaRPr/>
          </a:p>
        </p:txBody>
      </p:sp>
      <p:sp>
        <p:nvSpPr>
          <p:cNvPr id="868" name="Google Shape;868;p49"/>
          <p:cNvSpPr txBox="1"/>
          <p:nvPr/>
        </p:nvSpPr>
        <p:spPr>
          <a:xfrm>
            <a:off x="3474006" y="2168486"/>
            <a:ext cx="1127606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56" u="none" cap="none" strike="noStrike">
                <a:solidFill>
                  <a:srgbClr val="7371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Jason · 理财方向学员</a:t>
            </a:r>
            <a:endParaRPr/>
          </a:p>
        </p:txBody>
      </p:sp>
      <p:sp>
        <p:nvSpPr>
          <p:cNvPr id="869" name="Google Shape;869;p49"/>
          <p:cNvSpPr txBox="1"/>
          <p:nvPr/>
        </p:nvSpPr>
        <p:spPr>
          <a:xfrm>
            <a:off x="3471862" y="2436019"/>
            <a:ext cx="17455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5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理财与投资知识结构化，</a:t>
            </a:r>
            <a:endParaRPr/>
          </a:p>
        </p:txBody>
      </p:sp>
      <p:sp>
        <p:nvSpPr>
          <p:cNvPr id="870" name="Google Shape;870;p49"/>
          <p:cNvSpPr txBox="1"/>
          <p:nvPr/>
        </p:nvSpPr>
        <p:spPr>
          <a:xfrm>
            <a:off x="3471862" y="2650331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5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搭出个人专属知识库，</a:t>
            </a:r>
            <a:endParaRPr/>
          </a:p>
        </p:txBody>
      </p:sp>
      <p:sp>
        <p:nvSpPr>
          <p:cNvPr id="871" name="Google Shape;871;p49"/>
          <p:cNvSpPr txBox="1"/>
          <p:nvPr/>
        </p:nvSpPr>
        <p:spPr>
          <a:xfrm>
            <a:off x="3471862" y="2864644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5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给出专业级答案</a:t>
            </a:r>
            <a:endParaRPr/>
          </a:p>
        </p:txBody>
      </p:sp>
      <p:sp>
        <p:nvSpPr>
          <p:cNvPr id="872" name="Google Shape;872;p49"/>
          <p:cNvSpPr/>
          <p:nvPr/>
        </p:nvSpPr>
        <p:spPr>
          <a:xfrm>
            <a:off x="6057900" y="1200150"/>
            <a:ext cx="2571750" cy="222885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10700">
            <a:solidFill>
              <a:srgbClr val="E5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49"/>
          <p:cNvSpPr/>
          <p:nvPr/>
        </p:nvSpPr>
        <p:spPr>
          <a:xfrm>
            <a:off x="6057900" y="1200150"/>
            <a:ext cx="2571750" cy="571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49"/>
          <p:cNvSpPr txBox="1"/>
          <p:nvPr/>
        </p:nvSpPr>
        <p:spPr>
          <a:xfrm>
            <a:off x="6230779" y="1440894"/>
            <a:ext cx="225992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38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🏭</a:t>
            </a:r>
            <a:endParaRPr/>
          </a:p>
        </p:txBody>
      </p:sp>
      <p:sp>
        <p:nvSpPr>
          <p:cNvPr id="875" name="Google Shape;875;p49"/>
          <p:cNvSpPr txBox="1"/>
          <p:nvPr/>
        </p:nvSpPr>
        <p:spPr>
          <a:xfrm>
            <a:off x="6239351" y="1899524"/>
            <a:ext cx="1158538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62" u="none" cap="none" strike="noStrike">
                <a:solidFill>
                  <a:srgbClr val="16A3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铝业知识库</a:t>
            </a:r>
            <a:endParaRPr/>
          </a:p>
        </p:txBody>
      </p:sp>
      <p:sp>
        <p:nvSpPr>
          <p:cNvPr id="876" name="Google Shape;876;p49"/>
          <p:cNvSpPr txBox="1"/>
          <p:nvPr/>
        </p:nvSpPr>
        <p:spPr>
          <a:xfrm>
            <a:off x="6245781" y="2168486"/>
            <a:ext cx="1399942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56" u="none" cap="none" strike="noStrike">
                <a:solidFill>
                  <a:srgbClr val="7371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Sumei · 铝材料交易商</a:t>
            </a:r>
            <a:endParaRPr/>
          </a:p>
        </p:txBody>
      </p:sp>
      <p:sp>
        <p:nvSpPr>
          <p:cNvPr id="877" name="Google Shape;877;p49"/>
          <p:cNvSpPr txBox="1"/>
          <p:nvPr/>
        </p:nvSpPr>
        <p:spPr>
          <a:xfrm>
            <a:off x="6243638" y="2436019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5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上完课几周做出 10+ 项目，</a:t>
            </a:r>
            <a:endParaRPr/>
          </a:p>
        </p:txBody>
      </p:sp>
      <p:sp>
        <p:nvSpPr>
          <p:cNvPr id="878" name="Google Shape;878;p49"/>
          <p:cNvSpPr txBox="1"/>
          <p:nvPr/>
        </p:nvSpPr>
        <p:spPr>
          <a:xfrm>
            <a:off x="6243638" y="2650331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5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工作流管潜在客户，</a:t>
            </a:r>
            <a:endParaRPr/>
          </a:p>
        </p:txBody>
      </p:sp>
      <p:sp>
        <p:nvSpPr>
          <p:cNvPr id="879" name="Google Shape;879;p49"/>
          <p:cNvSpPr txBox="1"/>
          <p:nvPr/>
        </p:nvSpPr>
        <p:spPr>
          <a:xfrm>
            <a:off x="6243638" y="2864644"/>
            <a:ext cx="1343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5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知识库管专业</a:t>
            </a:r>
            <a:r>
              <a:rPr lang="en" sz="1125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投资</a:t>
            </a:r>
            <a:endParaRPr/>
          </a:p>
        </p:txBody>
      </p:sp>
      <p:sp>
        <p:nvSpPr>
          <p:cNvPr id="880" name="Google Shape;880;p49"/>
          <p:cNvSpPr/>
          <p:nvPr/>
        </p:nvSpPr>
        <p:spPr>
          <a:xfrm>
            <a:off x="514350" y="3686175"/>
            <a:ext cx="8115300" cy="600075"/>
          </a:xfrm>
          <a:prstGeom prst="roundRect">
            <a:avLst>
              <a:gd fmla="val 19048" name="adj"/>
            </a:avLst>
          </a:prstGeom>
          <a:solidFill>
            <a:srgbClr val="F4F1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49"/>
          <p:cNvSpPr txBox="1"/>
          <p:nvPr/>
        </p:nvSpPr>
        <p:spPr>
          <a:xfrm>
            <a:off x="1164536" y="3887629"/>
            <a:ext cx="6814927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75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专业知识依然有用 — 加上 AI，就像 1 后面加了多个 0</a:t>
            </a:r>
            <a:r>
              <a:rPr b="1" i="0" lang="en" sz="1575" u="none" cap="none" strike="noStrike">
                <a:solidFill>
                  <a:srgbClr val="EA580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，威力倍增</a:t>
            </a:r>
            <a:endParaRPr/>
          </a:p>
        </p:txBody>
      </p:sp>
      <p:sp>
        <p:nvSpPr>
          <p:cNvPr id="882" name="Google Shape;882;p49"/>
          <p:cNvSpPr txBox="1"/>
          <p:nvPr/>
        </p:nvSpPr>
        <p:spPr>
          <a:xfrm>
            <a:off x="2299716" y="4589145"/>
            <a:ext cx="45445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7371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完整回顾与学员 PPT：austinxyz.github.io/course-portal/demoday.html</a:t>
            </a:r>
            <a:endParaRPr/>
          </a:p>
        </p:txBody>
      </p:sp>
      <p:sp>
        <p:nvSpPr>
          <p:cNvPr id="883" name="Google Shape;883;p49"/>
          <p:cNvSpPr txBox="1"/>
          <p:nvPr/>
        </p:nvSpPr>
        <p:spPr>
          <a:xfrm>
            <a:off x="8087386" y="4864537"/>
            <a:ext cx="32295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31" u="none" cap="none" strike="noStrike">
                <a:solidFill>
                  <a:srgbClr val="A8A49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 / 17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5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50"/>
          <p:cNvSpPr txBox="1"/>
          <p:nvPr/>
        </p:nvSpPr>
        <p:spPr>
          <a:xfrm>
            <a:off x="488632" y="438626"/>
            <a:ext cx="661933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25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上课只是开始 — 你加入的是一个持续成长的社区</a:t>
            </a:r>
            <a:endParaRPr/>
          </a:p>
        </p:txBody>
      </p:sp>
      <p:sp>
        <p:nvSpPr>
          <p:cNvPr id="891" name="Google Shape;891;p50"/>
          <p:cNvSpPr txBox="1"/>
          <p:nvPr/>
        </p:nvSpPr>
        <p:spPr>
          <a:xfrm>
            <a:off x="498634" y="795099"/>
            <a:ext cx="2381012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38" u="none" cap="none" strike="noStrike">
                <a:solidFill>
                  <a:srgbClr val="7371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一个人走得快，一群人走得远</a:t>
            </a:r>
            <a:endParaRPr/>
          </a:p>
        </p:txBody>
      </p:sp>
      <p:sp>
        <p:nvSpPr>
          <p:cNvPr id="892" name="Google Shape;892;p50"/>
          <p:cNvSpPr/>
          <p:nvPr/>
        </p:nvSpPr>
        <p:spPr>
          <a:xfrm>
            <a:off x="857250" y="1500188"/>
            <a:ext cx="7144" cy="2500312"/>
          </a:xfrm>
          <a:custGeom>
            <a:rect b="b" l="l" r="r" t="t"/>
            <a:pathLst>
              <a:path extrusionOk="0" h="3333750" w="9525">
                <a:moveTo>
                  <a:pt x="0" y="0"/>
                </a:moveTo>
                <a:lnTo>
                  <a:pt x="0" y="3333750"/>
                </a:lnTo>
              </a:path>
            </a:pathLst>
          </a:custGeom>
          <a:noFill/>
          <a:ln cap="flat" cmpd="sng" w="21425">
            <a:solidFill>
              <a:srgbClr val="E5E0D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3" name="Google Shape;893;p50"/>
          <p:cNvSpPr/>
          <p:nvPr/>
        </p:nvSpPr>
        <p:spPr>
          <a:xfrm>
            <a:off x="757238" y="1471612"/>
            <a:ext cx="200025" cy="200025"/>
          </a:xfrm>
          <a:prstGeom prst="ellipse">
            <a:avLst/>
          </a:prstGeom>
          <a:solidFill>
            <a:srgbClr val="FFFFFF"/>
          </a:solidFill>
          <a:ln cap="flat" cmpd="sng" w="21425">
            <a:solidFill>
              <a:srgbClr val="7371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50"/>
          <p:cNvSpPr txBox="1"/>
          <p:nvPr/>
        </p:nvSpPr>
        <p:spPr>
          <a:xfrm>
            <a:off x="1074420" y="1431608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7371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今晚</a:t>
            </a:r>
            <a:endParaRPr/>
          </a:p>
        </p:txBody>
      </p:sp>
      <p:sp>
        <p:nvSpPr>
          <p:cNvPr id="895" name="Google Shape;895;p50"/>
          <p:cNvSpPr txBox="1"/>
          <p:nvPr/>
        </p:nvSpPr>
        <p:spPr>
          <a:xfrm>
            <a:off x="1070134" y="1580912"/>
            <a:ext cx="676664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38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报名 S4</a:t>
            </a:r>
            <a:endParaRPr/>
          </a:p>
        </p:txBody>
      </p:sp>
      <p:sp>
        <p:nvSpPr>
          <p:cNvPr id="896" name="Google Shape;896;p50"/>
          <p:cNvSpPr/>
          <p:nvPr/>
        </p:nvSpPr>
        <p:spPr>
          <a:xfrm>
            <a:off x="757238" y="2543175"/>
            <a:ext cx="200025" cy="200025"/>
          </a:xfrm>
          <a:prstGeom prst="ellipse">
            <a:avLst/>
          </a:prstGeom>
          <a:solidFill>
            <a:srgbClr val="FFFFFF"/>
          </a:solidFill>
          <a:ln cap="flat" cmpd="sng" w="21425">
            <a:solidFill>
              <a:srgbClr val="7371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50"/>
          <p:cNvSpPr txBox="1"/>
          <p:nvPr/>
        </p:nvSpPr>
        <p:spPr>
          <a:xfrm>
            <a:off x="1074420" y="2503170"/>
            <a:ext cx="3120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7371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7/26</a:t>
            </a:r>
            <a:endParaRPr/>
          </a:p>
        </p:txBody>
      </p:sp>
      <p:sp>
        <p:nvSpPr>
          <p:cNvPr id="898" name="Google Shape;898;p50"/>
          <p:cNvSpPr txBox="1"/>
          <p:nvPr/>
        </p:nvSpPr>
        <p:spPr>
          <a:xfrm>
            <a:off x="1070134" y="2652474"/>
            <a:ext cx="790527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38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正课开讲</a:t>
            </a:r>
            <a:endParaRPr/>
          </a:p>
        </p:txBody>
      </p:sp>
      <p:sp>
        <p:nvSpPr>
          <p:cNvPr id="899" name="Google Shape;899;p50"/>
          <p:cNvSpPr/>
          <p:nvPr/>
        </p:nvSpPr>
        <p:spPr>
          <a:xfrm>
            <a:off x="728662" y="3586162"/>
            <a:ext cx="257175" cy="257175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50"/>
          <p:cNvSpPr/>
          <p:nvPr/>
        </p:nvSpPr>
        <p:spPr>
          <a:xfrm>
            <a:off x="807244" y="3664744"/>
            <a:ext cx="100012" cy="1000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50"/>
          <p:cNvSpPr txBox="1"/>
          <p:nvPr/>
        </p:nvSpPr>
        <p:spPr>
          <a:xfrm>
            <a:off x="1074420" y="3531870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7371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之后</a:t>
            </a:r>
            <a:endParaRPr/>
          </a:p>
        </p:txBody>
      </p:sp>
      <p:sp>
        <p:nvSpPr>
          <p:cNvPr id="902" name="Google Shape;902;p50"/>
          <p:cNvSpPr txBox="1"/>
          <p:nvPr/>
        </p:nvSpPr>
        <p:spPr>
          <a:xfrm>
            <a:off x="1070134" y="3681174"/>
            <a:ext cx="1170075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38" u="none" cap="none" strike="noStrike">
                <a:solidFill>
                  <a:srgbClr val="EA580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社区持续成长</a:t>
            </a:r>
            <a:endParaRPr/>
          </a:p>
        </p:txBody>
      </p:sp>
      <p:sp>
        <p:nvSpPr>
          <p:cNvPr id="903" name="Google Shape;903;p50"/>
          <p:cNvSpPr/>
          <p:nvPr/>
        </p:nvSpPr>
        <p:spPr>
          <a:xfrm>
            <a:off x="1085850" y="3914775"/>
            <a:ext cx="1257300" cy="214312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50"/>
          <p:cNvSpPr txBox="1"/>
          <p:nvPr/>
        </p:nvSpPr>
        <p:spPr>
          <a:xfrm>
            <a:off x="1186220" y="3973711"/>
            <a:ext cx="10565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44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真正的价值在这里</a:t>
            </a:r>
            <a:endParaRPr/>
          </a:p>
        </p:txBody>
      </p:sp>
      <p:sp>
        <p:nvSpPr>
          <p:cNvPr id="905" name="Google Shape;905;p50"/>
          <p:cNvSpPr/>
          <p:nvPr/>
        </p:nvSpPr>
        <p:spPr>
          <a:xfrm>
            <a:off x="3000375" y="1257300"/>
            <a:ext cx="5629275" cy="842962"/>
          </a:xfrm>
          <a:prstGeom prst="roundRect">
            <a:avLst>
              <a:gd fmla="val 13559" name="adj"/>
            </a:avLst>
          </a:prstGeom>
          <a:solidFill>
            <a:srgbClr val="FFFFFF"/>
          </a:solidFill>
          <a:ln cap="flat" cmpd="sng" w="10700">
            <a:solidFill>
              <a:srgbClr val="E5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50"/>
          <p:cNvSpPr txBox="1"/>
          <p:nvPr/>
        </p:nvSpPr>
        <p:spPr>
          <a:xfrm>
            <a:off x="3206115" y="1448752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🎤</a:t>
            </a:r>
            <a:endParaRPr/>
          </a:p>
        </p:txBody>
      </p:sp>
      <p:sp>
        <p:nvSpPr>
          <p:cNvPr id="907" name="Google Shape;907;p50"/>
          <p:cNvSpPr txBox="1"/>
          <p:nvPr/>
        </p:nvSpPr>
        <p:spPr>
          <a:xfrm>
            <a:off x="3640455" y="1440180"/>
            <a:ext cx="231157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持续的活动，一场接一场</a:t>
            </a:r>
            <a:endParaRPr/>
          </a:p>
        </p:txBody>
      </p:sp>
      <p:sp>
        <p:nvSpPr>
          <p:cNvPr id="908" name="Google Shape;908;p50"/>
          <p:cNvSpPr txBox="1"/>
          <p:nvPr/>
        </p:nvSpPr>
        <p:spPr>
          <a:xfrm>
            <a:off x="3644026" y="1713428"/>
            <a:ext cx="4905614" cy="21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69" u="none" cap="none" strike="noStrike">
                <a:solidFill>
                  <a:srgbClr val="7371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 Day 成果展示 · 课后专项答疑 · 免费公开课持续开讲</a:t>
            </a:r>
            <a:endParaRPr/>
          </a:p>
        </p:txBody>
      </p:sp>
      <p:sp>
        <p:nvSpPr>
          <p:cNvPr id="909" name="Google Shape;909;p50"/>
          <p:cNvSpPr/>
          <p:nvPr/>
        </p:nvSpPr>
        <p:spPr>
          <a:xfrm>
            <a:off x="3000375" y="2243138"/>
            <a:ext cx="5629275" cy="1071562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14275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50"/>
          <p:cNvSpPr txBox="1"/>
          <p:nvPr/>
        </p:nvSpPr>
        <p:spPr>
          <a:xfrm>
            <a:off x="3206115" y="2434590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🤝</a:t>
            </a:r>
            <a:endParaRPr/>
          </a:p>
        </p:txBody>
      </p:sp>
      <p:sp>
        <p:nvSpPr>
          <p:cNvPr id="911" name="Google Shape;911;p50"/>
          <p:cNvSpPr txBox="1"/>
          <p:nvPr/>
        </p:nvSpPr>
        <p:spPr>
          <a:xfrm>
            <a:off x="3640455" y="2426018"/>
            <a:ext cx="272562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四个兴趣小组，各有组长带队</a:t>
            </a:r>
            <a:endParaRPr/>
          </a:p>
        </p:txBody>
      </p:sp>
      <p:sp>
        <p:nvSpPr>
          <p:cNvPr id="912" name="Google Shape;912;p50"/>
          <p:cNvSpPr/>
          <p:nvPr/>
        </p:nvSpPr>
        <p:spPr>
          <a:xfrm>
            <a:off x="3657600" y="2743200"/>
            <a:ext cx="1071562" cy="28575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50"/>
          <p:cNvSpPr txBox="1"/>
          <p:nvPr/>
        </p:nvSpPr>
        <p:spPr>
          <a:xfrm>
            <a:off x="3782362" y="2820710"/>
            <a:ext cx="822039" cy="21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6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金融炒股 ★</a:t>
            </a:r>
            <a:endParaRPr/>
          </a:p>
        </p:txBody>
      </p:sp>
      <p:sp>
        <p:nvSpPr>
          <p:cNvPr id="914" name="Google Shape;914;p50"/>
          <p:cNvSpPr/>
          <p:nvPr/>
        </p:nvSpPr>
        <p:spPr>
          <a:xfrm>
            <a:off x="4843462" y="2743200"/>
            <a:ext cx="928688" cy="285750"/>
          </a:xfrm>
          <a:prstGeom prst="roundRect">
            <a:avLst>
              <a:gd fmla="val 50000" name="adj"/>
            </a:avLst>
          </a:prstGeom>
          <a:solidFill>
            <a:srgbClr val="F4F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50"/>
          <p:cNvSpPr txBox="1"/>
          <p:nvPr/>
        </p:nvSpPr>
        <p:spPr>
          <a:xfrm>
            <a:off x="4982051" y="2820710"/>
            <a:ext cx="651510" cy="21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69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财富管理</a:t>
            </a:r>
            <a:endParaRPr/>
          </a:p>
        </p:txBody>
      </p:sp>
      <p:sp>
        <p:nvSpPr>
          <p:cNvPr id="916" name="Google Shape;916;p50"/>
          <p:cNvSpPr/>
          <p:nvPr/>
        </p:nvSpPr>
        <p:spPr>
          <a:xfrm>
            <a:off x="5886450" y="2743200"/>
            <a:ext cx="928688" cy="285750"/>
          </a:xfrm>
          <a:prstGeom prst="roundRect">
            <a:avLst>
              <a:gd fmla="val 50000" name="adj"/>
            </a:avLst>
          </a:prstGeom>
          <a:solidFill>
            <a:srgbClr val="F4F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50"/>
          <p:cNvSpPr txBox="1"/>
          <p:nvPr/>
        </p:nvSpPr>
        <p:spPr>
          <a:xfrm>
            <a:off x="6025039" y="2820710"/>
            <a:ext cx="651510" cy="21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69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内容创作</a:t>
            </a:r>
            <a:endParaRPr/>
          </a:p>
        </p:txBody>
      </p:sp>
      <p:sp>
        <p:nvSpPr>
          <p:cNvPr id="918" name="Google Shape;918;p50"/>
          <p:cNvSpPr/>
          <p:nvPr/>
        </p:nvSpPr>
        <p:spPr>
          <a:xfrm>
            <a:off x="6929438" y="2743200"/>
            <a:ext cx="1143000" cy="285750"/>
          </a:xfrm>
          <a:prstGeom prst="roundRect">
            <a:avLst>
              <a:gd fmla="val 50000" name="adj"/>
            </a:avLst>
          </a:prstGeom>
          <a:solidFill>
            <a:srgbClr val="F4F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50"/>
          <p:cNvSpPr txBox="1"/>
          <p:nvPr/>
        </p:nvSpPr>
        <p:spPr>
          <a:xfrm>
            <a:off x="7019092" y="2820710"/>
            <a:ext cx="963692" cy="21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69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工作流自动化</a:t>
            </a:r>
            <a:endParaRPr/>
          </a:p>
        </p:txBody>
      </p:sp>
      <p:sp>
        <p:nvSpPr>
          <p:cNvPr id="920" name="Google Shape;920;p50"/>
          <p:cNvSpPr txBox="1"/>
          <p:nvPr/>
        </p:nvSpPr>
        <p:spPr>
          <a:xfrm>
            <a:off x="3645456" y="3097173"/>
            <a:ext cx="3655456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56" u="none" cap="none" strike="noStrike">
                <a:solidFill>
                  <a:srgbClr val="7371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★ 金融炒股组 — 就是今晚这个方向，课后一起把系统跑起来</a:t>
            </a:r>
            <a:endParaRPr/>
          </a:p>
        </p:txBody>
      </p:sp>
      <p:sp>
        <p:nvSpPr>
          <p:cNvPr id="921" name="Google Shape;921;p50"/>
          <p:cNvSpPr/>
          <p:nvPr/>
        </p:nvSpPr>
        <p:spPr>
          <a:xfrm>
            <a:off x="3000375" y="3457575"/>
            <a:ext cx="5629275" cy="842962"/>
          </a:xfrm>
          <a:prstGeom prst="roundRect">
            <a:avLst>
              <a:gd fmla="val 13559" name="adj"/>
            </a:avLst>
          </a:prstGeom>
          <a:solidFill>
            <a:srgbClr val="FFFFFF"/>
          </a:solidFill>
          <a:ln cap="flat" cmpd="sng" w="10700">
            <a:solidFill>
              <a:srgbClr val="E5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50"/>
          <p:cNvSpPr txBox="1"/>
          <p:nvPr/>
        </p:nvSpPr>
        <p:spPr>
          <a:xfrm>
            <a:off x="3206115" y="3649028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📦</a:t>
            </a:r>
            <a:endParaRPr/>
          </a:p>
        </p:txBody>
      </p:sp>
      <p:sp>
        <p:nvSpPr>
          <p:cNvPr id="923" name="Google Shape;923;p50"/>
          <p:cNvSpPr txBox="1"/>
          <p:nvPr/>
        </p:nvSpPr>
        <p:spPr>
          <a:xfrm>
            <a:off x="3640455" y="3640455"/>
            <a:ext cx="210454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 u="none" cap="none" strike="noStrike">
                <a:solidFill>
                  <a:srgbClr val="1A1A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共享资源，问题不过夜</a:t>
            </a:r>
            <a:endParaRPr/>
          </a:p>
        </p:txBody>
      </p:sp>
      <p:sp>
        <p:nvSpPr>
          <p:cNvPr id="924" name="Google Shape;924;p50"/>
          <p:cNvSpPr txBox="1"/>
          <p:nvPr/>
        </p:nvSpPr>
        <p:spPr>
          <a:xfrm>
            <a:off x="3644026" y="3913703"/>
            <a:ext cx="4545979" cy="21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69" u="none" cap="none" strike="noStrike">
                <a:solidFill>
                  <a:srgbClr val="7371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微信大群随时问 · 共享 GitHub 仓库 · 学员平台讲义与录像随时查</a:t>
            </a:r>
            <a:endParaRPr/>
          </a:p>
        </p:txBody>
      </p:sp>
      <p:sp>
        <p:nvSpPr>
          <p:cNvPr id="925" name="Google Shape;925;p50"/>
          <p:cNvSpPr txBox="1"/>
          <p:nvPr/>
        </p:nvSpPr>
        <p:spPr>
          <a:xfrm>
            <a:off x="2766346" y="4589145"/>
            <a:ext cx="36113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7371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上一期学员已经在小组里互相跑通项目 · 微信：elitecoach101</a:t>
            </a:r>
            <a:endParaRPr/>
          </a:p>
        </p:txBody>
      </p:sp>
      <p:sp>
        <p:nvSpPr>
          <p:cNvPr id="926" name="Google Shape;926;p50"/>
          <p:cNvSpPr txBox="1"/>
          <p:nvPr/>
        </p:nvSpPr>
        <p:spPr>
          <a:xfrm>
            <a:off x="8087386" y="4864537"/>
            <a:ext cx="32295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31" u="none" cap="none" strike="noStrike">
                <a:solidFill>
                  <a:srgbClr val="A8A49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 / 17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1"/>
          <p:cNvSpPr/>
          <p:nvPr/>
        </p:nvSpPr>
        <p:spPr>
          <a:xfrm>
            <a:off x="0" y="104817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2" name="Google Shape;93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967" y="105575"/>
            <a:ext cx="454539" cy="628649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51"/>
          <p:cNvSpPr txBox="1"/>
          <p:nvPr/>
        </p:nvSpPr>
        <p:spPr>
          <a:xfrm>
            <a:off x="8650617" y="255746"/>
            <a:ext cx="100941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51"/>
          <p:cNvSpPr txBox="1"/>
          <p:nvPr/>
        </p:nvSpPr>
        <p:spPr>
          <a:xfrm>
            <a:off x="555900" y="242900"/>
            <a:ext cx="849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2300"/>
              <a:buFont typeface="Georgia"/>
              <a:buNone/>
            </a:pPr>
            <a:r>
              <a:rPr b="1" i="0" lang="en" sz="23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今天报名 · S4 AI 炒股分析系统 · 7/26 (周六) 8:30 PM ET · 如调整以群内通知为准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51"/>
          <p:cNvSpPr/>
          <p:nvPr/>
        </p:nvSpPr>
        <p:spPr>
          <a:xfrm>
            <a:off x="6419945" y="585788"/>
            <a:ext cx="528638" cy="14288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51"/>
          <p:cNvSpPr/>
          <p:nvPr/>
        </p:nvSpPr>
        <p:spPr>
          <a:xfrm>
            <a:off x="2683714" y="1234767"/>
            <a:ext cx="3786300" cy="2885700"/>
          </a:xfrm>
          <a:prstGeom prst="roundRect">
            <a:avLst>
              <a:gd fmla="val 2264" name="adj"/>
            </a:avLst>
          </a:prstGeom>
          <a:solidFill>
            <a:srgbClr val="FFFFFF"/>
          </a:solidFill>
          <a:ln cap="flat" cmpd="sng" w="19025">
            <a:solidFill>
              <a:srgbClr val="4F5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51"/>
          <p:cNvSpPr/>
          <p:nvPr/>
        </p:nvSpPr>
        <p:spPr>
          <a:xfrm>
            <a:off x="2683764" y="1265411"/>
            <a:ext cx="3786188" cy="893445"/>
          </a:xfrm>
          <a:custGeom>
            <a:rect b="b" l="l" r="r" t="t"/>
            <a:pathLst>
              <a:path extrusionOk="0" h="1066800" w="5048250">
                <a:moveTo>
                  <a:pt x="114300" y="0"/>
                </a:moveTo>
                <a:lnTo>
                  <a:pt x="4933950" y="0"/>
                </a:lnTo>
                <a:cubicBezTo>
                  <a:pt x="5010150" y="0"/>
                  <a:pt x="5048250" y="38100"/>
                  <a:pt x="5048250" y="114300"/>
                </a:cubicBezTo>
                <a:lnTo>
                  <a:pt x="5048250" y="1066800"/>
                </a:lnTo>
                <a:lnTo>
                  <a:pt x="0" y="1066800"/>
                </a:lnTo>
                <a:lnTo>
                  <a:pt x="0" y="114300"/>
                </a:lnTo>
                <a:cubicBezTo>
                  <a:pt x="0" y="38100"/>
                  <a:pt x="38100" y="0"/>
                  <a:pt x="114300" y="0"/>
                </a:cubicBezTo>
                <a:close/>
              </a:path>
            </a:pathLst>
          </a:custGeom>
          <a:solidFill>
            <a:srgbClr val="4F46E5">
              <a:alpha val="12156"/>
            </a:srgbClr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51"/>
          <p:cNvSpPr/>
          <p:nvPr/>
        </p:nvSpPr>
        <p:spPr>
          <a:xfrm>
            <a:off x="2826702" y="1202125"/>
            <a:ext cx="314400" cy="157200"/>
          </a:xfrm>
          <a:prstGeom prst="roundRect">
            <a:avLst>
              <a:gd fmla="val 50000" name="adj"/>
            </a:avLst>
          </a:prstGeom>
          <a:solidFill>
            <a:srgbClr val="4F46E5">
              <a:alpha val="30196"/>
            </a:srgbClr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51"/>
          <p:cNvSpPr txBox="1"/>
          <p:nvPr/>
        </p:nvSpPr>
        <p:spPr>
          <a:xfrm>
            <a:off x="2862376" y="1236039"/>
            <a:ext cx="2430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正课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51"/>
          <p:cNvSpPr txBox="1"/>
          <p:nvPr/>
        </p:nvSpPr>
        <p:spPr>
          <a:xfrm>
            <a:off x="4316727" y="1210255"/>
            <a:ext cx="116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3600"/>
              <a:buFont typeface="Georgia"/>
              <a:buNone/>
            </a:pPr>
            <a:r>
              <a:rPr b="1" i="0" lang="en" sz="3600" u="none" cap="none" strike="noStrike">
                <a:solidFill>
                  <a:srgbClr val="4F46E5"/>
                </a:solidFill>
                <a:latin typeface="Georgia"/>
                <a:ea typeface="Georgia"/>
                <a:cs typeface="Georgia"/>
                <a:sym typeface="Georgia"/>
              </a:rPr>
              <a:t>$199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51"/>
          <p:cNvSpPr txBox="1"/>
          <p:nvPr/>
        </p:nvSpPr>
        <p:spPr>
          <a:xfrm>
            <a:off x="4079024" y="1853625"/>
            <a:ext cx="1167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S4 · AI 炒股分析系统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51"/>
          <p:cNvSpPr/>
          <p:nvPr/>
        </p:nvSpPr>
        <p:spPr>
          <a:xfrm>
            <a:off x="2826639" y="1743075"/>
            <a:ext cx="3500438" cy="7144"/>
          </a:xfrm>
          <a:prstGeom prst="rect">
            <a:avLst/>
          </a:prstGeom>
          <a:solidFill>
            <a:srgbClr val="4F52A8">
              <a:alpha val="50196"/>
            </a:srgbClr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51"/>
          <p:cNvSpPr txBox="1"/>
          <p:nvPr/>
        </p:nvSpPr>
        <p:spPr>
          <a:xfrm>
            <a:off x="3113814" y="2220096"/>
            <a:ext cx="2895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知识库 + Skill 流水线 · 从扫股到分析全自动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51"/>
          <p:cNvSpPr/>
          <p:nvPr/>
        </p:nvSpPr>
        <p:spPr>
          <a:xfrm>
            <a:off x="2933795" y="2293081"/>
            <a:ext cx="71400" cy="71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51"/>
          <p:cNvSpPr txBox="1"/>
          <p:nvPr/>
        </p:nvSpPr>
        <p:spPr>
          <a:xfrm>
            <a:off x="3113818" y="2548640"/>
            <a:ext cx="135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配套讲义与演示</a:t>
            </a:r>
            <a:r>
              <a:rPr b="0" i="0" lang="en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项目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51"/>
          <p:cNvSpPr/>
          <p:nvPr/>
        </p:nvSpPr>
        <p:spPr>
          <a:xfrm>
            <a:off x="2933795" y="3048385"/>
            <a:ext cx="71400" cy="71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51"/>
          <p:cNvSpPr txBox="1"/>
          <p:nvPr/>
        </p:nvSpPr>
        <p:spPr>
          <a:xfrm>
            <a:off x="3113818" y="3303944"/>
            <a:ext cx="617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课后回放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51"/>
          <p:cNvSpPr/>
          <p:nvPr/>
        </p:nvSpPr>
        <p:spPr>
          <a:xfrm>
            <a:off x="2933795" y="3421856"/>
            <a:ext cx="71438" cy="7143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51"/>
          <p:cNvSpPr txBox="1"/>
          <p:nvPr/>
        </p:nvSpPr>
        <p:spPr>
          <a:xfrm>
            <a:off x="3113815" y="3677421"/>
            <a:ext cx="1891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专属</a:t>
            </a: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学员支持群 + </a:t>
            </a:r>
            <a:r>
              <a:rPr b="0" i="0" lang="en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组织答疑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51"/>
          <p:cNvSpPr txBox="1"/>
          <p:nvPr/>
        </p:nvSpPr>
        <p:spPr>
          <a:xfrm>
            <a:off x="6356008" y="4105513"/>
            <a:ext cx="64679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立即报名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51"/>
          <p:cNvSpPr txBox="1"/>
          <p:nvPr/>
        </p:nvSpPr>
        <p:spPr>
          <a:xfrm>
            <a:off x="2893425" y="4129075"/>
            <a:ext cx="321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Payment</a:t>
            </a:r>
            <a:endParaRPr b="1" i="0" sz="1400" u="none" cap="none" strike="noStrike">
              <a:solidFill>
                <a:srgbClr val="EA58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Zelle： </a:t>
            </a:r>
            <a:r>
              <a:rPr b="1" i="0" lang="en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info@elitecoach101.com</a:t>
            </a:r>
            <a:endParaRPr b="1" i="0" sz="1400" u="none" cap="none" strike="noStrike">
              <a:solidFill>
                <a:srgbClr val="EA58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Wechat： elitecoach101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51"/>
          <p:cNvSpPr txBox="1"/>
          <p:nvPr/>
        </p:nvSpPr>
        <p:spPr>
          <a:xfrm>
            <a:off x="8650617" y="4927759"/>
            <a:ext cx="100941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51"/>
          <p:cNvSpPr/>
          <p:nvPr/>
        </p:nvSpPr>
        <p:spPr>
          <a:xfrm>
            <a:off x="2928970" y="2670088"/>
            <a:ext cx="71400" cy="71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51"/>
          <p:cNvSpPr txBox="1"/>
          <p:nvPr/>
        </p:nvSpPr>
        <p:spPr>
          <a:xfrm>
            <a:off x="3108993" y="2925647"/>
            <a:ext cx="135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课后实战项目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5" name="Google Shape;955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5376" y="3677413"/>
            <a:ext cx="1449900" cy="1444996"/>
          </a:xfrm>
          <a:prstGeom prst="rect">
            <a:avLst/>
          </a:prstGeom>
          <a:solidFill>
            <a:srgbClr val="FAFAF8"/>
          </a:solidFill>
          <a:ln>
            <a:noFill/>
          </a:ln>
        </p:spPr>
      </p:pic>
      <p:sp>
        <p:nvSpPr>
          <p:cNvPr id="956" name="Google Shape;956;p51"/>
          <p:cNvSpPr/>
          <p:nvPr/>
        </p:nvSpPr>
        <p:spPr>
          <a:xfrm>
            <a:off x="2933795" y="3776838"/>
            <a:ext cx="71400" cy="71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5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52"/>
          <p:cNvSpPr/>
          <p:nvPr/>
        </p:nvSpPr>
        <p:spPr>
          <a:xfrm>
            <a:off x="457200" y="214313"/>
            <a:ext cx="35719" cy="314325"/>
          </a:xfrm>
          <a:prstGeom prst="roundRect">
            <a:avLst>
              <a:gd fmla="val 4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52"/>
          <p:cNvSpPr txBox="1"/>
          <p:nvPr/>
        </p:nvSpPr>
        <p:spPr>
          <a:xfrm>
            <a:off x="560070" y="195739"/>
            <a:ext cx="129359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参考资料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52"/>
          <p:cNvSpPr txBox="1"/>
          <p:nvPr/>
        </p:nvSpPr>
        <p:spPr>
          <a:xfrm>
            <a:off x="574358" y="488633"/>
            <a:ext cx="186309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今天直播涉及的工具与资源链接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52"/>
          <p:cNvSpPr/>
          <p:nvPr/>
        </p:nvSpPr>
        <p:spPr>
          <a:xfrm>
            <a:off x="457200" y="714375"/>
            <a:ext cx="8229600" cy="7144"/>
          </a:xfrm>
          <a:custGeom>
            <a:rect b="b" l="l" r="r" t="t"/>
            <a:pathLst>
              <a:path extrusionOk="0" h="9525" w="1097280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52"/>
          <p:cNvSpPr/>
          <p:nvPr/>
        </p:nvSpPr>
        <p:spPr>
          <a:xfrm>
            <a:off x="457200" y="828675"/>
            <a:ext cx="8229600" cy="628650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52"/>
          <p:cNvSpPr/>
          <p:nvPr/>
        </p:nvSpPr>
        <p:spPr>
          <a:xfrm>
            <a:off x="457200" y="828675"/>
            <a:ext cx="28575" cy="62865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52"/>
          <p:cNvSpPr/>
          <p:nvPr/>
        </p:nvSpPr>
        <p:spPr>
          <a:xfrm>
            <a:off x="619123" y="1014908"/>
            <a:ext cx="200567" cy="201349"/>
          </a:xfrm>
          <a:custGeom>
            <a:rect b="b" l="l" r="r" t="t"/>
            <a:pathLst>
              <a:path extrusionOk="0" h="268466" w="267422">
                <a:moveTo>
                  <a:pt x="190502" y="22707"/>
                </a:moveTo>
                <a:cubicBezTo>
                  <a:pt x="243877" y="53523"/>
                  <a:pt x="267422" y="118214"/>
                  <a:pt x="246342" y="176130"/>
                </a:cubicBezTo>
                <a:cubicBezTo>
                  <a:pt x="225262" y="234045"/>
                  <a:pt x="165642" y="268466"/>
                  <a:pt x="104946" y="257762"/>
                </a:cubicBezTo>
                <a:cubicBezTo>
                  <a:pt x="44250" y="247059"/>
                  <a:pt x="0" y="194322"/>
                  <a:pt x="2" y="132689"/>
                </a:cubicBezTo>
                <a:lnTo>
                  <a:pt x="65" y="128574"/>
                </a:lnTo>
                <a:cubicBezTo>
                  <a:pt x="1512" y="83959"/>
                  <a:pt x="26276" y="43379"/>
                  <a:pt x="65291" y="21689"/>
                </a:cubicBezTo>
                <a:cubicBezTo>
                  <a:pt x="104306" y="0"/>
                  <a:pt x="151844" y="386"/>
                  <a:pt x="190502" y="22707"/>
                </a:cubicBezTo>
                <a:moveTo>
                  <a:pt x="110580" y="98310"/>
                </a:moveTo>
                <a:cubicBezTo>
                  <a:pt x="105621" y="93352"/>
                  <a:pt x="97582" y="93352"/>
                  <a:pt x="92623" y="98310"/>
                </a:cubicBezTo>
                <a:lnTo>
                  <a:pt x="67223" y="123710"/>
                </a:lnTo>
                <a:cubicBezTo>
                  <a:pt x="62265" y="128669"/>
                  <a:pt x="62265" y="136708"/>
                  <a:pt x="67223" y="141668"/>
                </a:cubicBezTo>
                <a:lnTo>
                  <a:pt x="92623" y="167068"/>
                </a:lnTo>
                <a:cubicBezTo>
                  <a:pt x="97582" y="172026"/>
                  <a:pt x="105621" y="172026"/>
                  <a:pt x="110580" y="167068"/>
                </a:cubicBezTo>
                <a:lnTo>
                  <a:pt x="111635" y="165874"/>
                </a:lnTo>
                <a:cubicBezTo>
                  <a:pt x="115556" y="160818"/>
                  <a:pt x="115105" y="153635"/>
                  <a:pt x="110580" y="149110"/>
                </a:cubicBezTo>
                <a:lnTo>
                  <a:pt x="94172" y="132689"/>
                </a:lnTo>
                <a:lnTo>
                  <a:pt x="110580" y="116268"/>
                </a:lnTo>
                <a:cubicBezTo>
                  <a:pt x="115538" y="111308"/>
                  <a:pt x="115538" y="103269"/>
                  <a:pt x="110580" y="98310"/>
                </a:cubicBezTo>
                <a:moveTo>
                  <a:pt x="161380" y="98310"/>
                </a:moveTo>
                <a:cubicBezTo>
                  <a:pt x="156421" y="93352"/>
                  <a:pt x="148382" y="93352"/>
                  <a:pt x="143423" y="98310"/>
                </a:cubicBezTo>
                <a:lnTo>
                  <a:pt x="142369" y="99504"/>
                </a:lnTo>
                <a:cubicBezTo>
                  <a:pt x="138447" y="104559"/>
                  <a:pt x="138898" y="111743"/>
                  <a:pt x="143423" y="116268"/>
                </a:cubicBezTo>
                <a:lnTo>
                  <a:pt x="159831" y="132689"/>
                </a:lnTo>
                <a:lnTo>
                  <a:pt x="143423" y="149110"/>
                </a:lnTo>
                <a:cubicBezTo>
                  <a:pt x="138610" y="154093"/>
                  <a:pt x="138679" y="162014"/>
                  <a:pt x="143577" y="166913"/>
                </a:cubicBezTo>
                <a:cubicBezTo>
                  <a:pt x="148476" y="171812"/>
                  <a:pt x="156397" y="171881"/>
                  <a:pt x="161380" y="167068"/>
                </a:cubicBezTo>
                <a:lnTo>
                  <a:pt x="186780" y="141668"/>
                </a:lnTo>
                <a:cubicBezTo>
                  <a:pt x="191738" y="136708"/>
                  <a:pt x="191738" y="128669"/>
                  <a:pt x="186780" y="123710"/>
                </a:cubicBezTo>
                <a:close/>
              </a:path>
            </a:pathLst>
          </a:cu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52"/>
          <p:cNvSpPr txBox="1"/>
          <p:nvPr/>
        </p:nvSpPr>
        <p:spPr>
          <a:xfrm>
            <a:off x="930116" y="947976"/>
            <a:ext cx="88746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Claude Code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52"/>
          <p:cNvSpPr txBox="1"/>
          <p:nvPr/>
        </p:nvSpPr>
        <p:spPr>
          <a:xfrm>
            <a:off x="932974" y="1143714"/>
            <a:ext cx="163020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终端 AI 编程助手 · 今晚核心工具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52"/>
          <p:cNvSpPr txBox="1"/>
          <p:nvPr/>
        </p:nvSpPr>
        <p:spPr>
          <a:xfrm>
            <a:off x="7674531" y="1066205"/>
            <a:ext cx="9086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claude.ai/code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52"/>
          <p:cNvSpPr/>
          <p:nvPr/>
        </p:nvSpPr>
        <p:spPr>
          <a:xfrm>
            <a:off x="457200" y="1543050"/>
            <a:ext cx="8229600" cy="628650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52"/>
          <p:cNvSpPr/>
          <p:nvPr/>
        </p:nvSpPr>
        <p:spPr>
          <a:xfrm>
            <a:off x="457200" y="1543050"/>
            <a:ext cx="28575" cy="62865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52"/>
          <p:cNvSpPr/>
          <p:nvPr/>
        </p:nvSpPr>
        <p:spPr>
          <a:xfrm>
            <a:off x="619125" y="1746706"/>
            <a:ext cx="190500" cy="158719"/>
          </a:xfrm>
          <a:custGeom>
            <a:rect b="b" l="l" r="r" t="t"/>
            <a:pathLst>
              <a:path extrusionOk="0" h="211625" w="254000">
                <a:moveTo>
                  <a:pt x="247650" y="22260"/>
                </a:moveTo>
                <a:cubicBezTo>
                  <a:pt x="251118" y="24262"/>
                  <a:pt x="253438" y="27783"/>
                  <a:pt x="253911" y="31760"/>
                </a:cubicBezTo>
                <a:lnTo>
                  <a:pt x="254000" y="33258"/>
                </a:lnTo>
                <a:lnTo>
                  <a:pt x="254000" y="198358"/>
                </a:lnTo>
                <a:cubicBezTo>
                  <a:pt x="254000" y="202895"/>
                  <a:pt x="251579" y="207088"/>
                  <a:pt x="247650" y="209357"/>
                </a:cubicBezTo>
                <a:cubicBezTo>
                  <a:pt x="243720" y="211625"/>
                  <a:pt x="238879" y="211625"/>
                  <a:pt x="234950" y="209356"/>
                </a:cubicBezTo>
                <a:cubicBezTo>
                  <a:pt x="205731" y="192484"/>
                  <a:pt x="170041" y="191218"/>
                  <a:pt x="139700" y="205978"/>
                </a:cubicBezTo>
                <a:lnTo>
                  <a:pt x="139700" y="13268"/>
                </a:lnTo>
                <a:cubicBezTo>
                  <a:pt x="175221" y="0"/>
                  <a:pt x="214813" y="3298"/>
                  <a:pt x="247650" y="22260"/>
                </a:cubicBezTo>
                <a:moveTo>
                  <a:pt x="114300" y="13281"/>
                </a:moveTo>
                <a:lnTo>
                  <a:pt x="114313" y="205991"/>
                </a:lnTo>
                <a:cubicBezTo>
                  <a:pt x="85201" y="191819"/>
                  <a:pt x="51079" y="192371"/>
                  <a:pt x="22441" y="207477"/>
                </a:cubicBezTo>
                <a:lnTo>
                  <a:pt x="18288" y="209763"/>
                </a:lnTo>
                <a:lnTo>
                  <a:pt x="16980" y="210322"/>
                </a:lnTo>
                <a:lnTo>
                  <a:pt x="16358" y="210525"/>
                </a:lnTo>
                <a:lnTo>
                  <a:pt x="14961" y="210855"/>
                </a:lnTo>
                <a:lnTo>
                  <a:pt x="14186" y="210982"/>
                </a:lnTo>
                <a:lnTo>
                  <a:pt x="12700" y="211058"/>
                </a:lnTo>
                <a:lnTo>
                  <a:pt x="12167" y="211058"/>
                </a:lnTo>
                <a:lnTo>
                  <a:pt x="10770" y="210906"/>
                </a:lnTo>
                <a:lnTo>
                  <a:pt x="9792" y="210728"/>
                </a:lnTo>
                <a:lnTo>
                  <a:pt x="8420" y="210322"/>
                </a:lnTo>
                <a:lnTo>
                  <a:pt x="6820" y="209610"/>
                </a:lnTo>
                <a:lnTo>
                  <a:pt x="5613" y="208899"/>
                </a:lnTo>
                <a:lnTo>
                  <a:pt x="4483" y="208048"/>
                </a:lnTo>
                <a:lnTo>
                  <a:pt x="3721" y="207337"/>
                </a:lnTo>
                <a:lnTo>
                  <a:pt x="2794" y="206296"/>
                </a:lnTo>
                <a:lnTo>
                  <a:pt x="1981" y="205165"/>
                </a:lnTo>
                <a:lnTo>
                  <a:pt x="1702" y="204708"/>
                </a:lnTo>
                <a:lnTo>
                  <a:pt x="1295" y="203946"/>
                </a:lnTo>
                <a:lnTo>
                  <a:pt x="737" y="202638"/>
                </a:lnTo>
                <a:lnTo>
                  <a:pt x="533" y="202016"/>
                </a:lnTo>
                <a:lnTo>
                  <a:pt x="203" y="200619"/>
                </a:lnTo>
                <a:lnTo>
                  <a:pt x="76" y="199844"/>
                </a:lnTo>
                <a:lnTo>
                  <a:pt x="25" y="199222"/>
                </a:lnTo>
                <a:lnTo>
                  <a:pt x="0" y="33258"/>
                </a:lnTo>
                <a:cubicBezTo>
                  <a:pt x="0" y="28721"/>
                  <a:pt x="2421" y="24529"/>
                  <a:pt x="6350" y="22260"/>
                </a:cubicBezTo>
                <a:cubicBezTo>
                  <a:pt x="39189" y="3302"/>
                  <a:pt x="78781" y="9"/>
                  <a:pt x="114300" y="13281"/>
                </a:cubicBezTo>
              </a:path>
            </a:pathLst>
          </a:cu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52"/>
          <p:cNvSpPr txBox="1"/>
          <p:nvPr/>
        </p:nvSpPr>
        <p:spPr>
          <a:xfrm>
            <a:off x="930116" y="1662351"/>
            <a:ext cx="321650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Claude 官方文档 · Skills / Projects / MCP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52"/>
          <p:cNvSpPr txBox="1"/>
          <p:nvPr/>
        </p:nvSpPr>
        <p:spPr>
          <a:xfrm>
            <a:off x="932974" y="1858089"/>
            <a:ext cx="200400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Skills / MCP 文档 · 做 Skill 必读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52"/>
          <p:cNvSpPr txBox="1"/>
          <p:nvPr/>
        </p:nvSpPr>
        <p:spPr>
          <a:xfrm>
            <a:off x="7347972" y="1780580"/>
            <a:ext cx="12352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docs.anthropic.com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52"/>
          <p:cNvSpPr/>
          <p:nvPr/>
        </p:nvSpPr>
        <p:spPr>
          <a:xfrm>
            <a:off x="457200" y="2257425"/>
            <a:ext cx="8229600" cy="628650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52"/>
          <p:cNvSpPr/>
          <p:nvPr/>
        </p:nvSpPr>
        <p:spPr>
          <a:xfrm>
            <a:off x="457200" y="2257425"/>
            <a:ext cx="28575" cy="628650"/>
          </a:xfrm>
          <a:prstGeom prst="roundRect">
            <a:avLst>
              <a:gd fmla="val 5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0" name="Google Shape;980;p52"/>
          <p:cNvGrpSpPr/>
          <p:nvPr/>
        </p:nvGrpSpPr>
        <p:grpSpPr>
          <a:xfrm>
            <a:off x="627523" y="2456300"/>
            <a:ext cx="173506" cy="163075"/>
            <a:chOff x="836697" y="3275067"/>
            <a:chExt cx="231341" cy="217433"/>
          </a:xfrm>
        </p:grpSpPr>
        <p:sp>
          <p:nvSpPr>
            <p:cNvPr id="981" name="Google Shape;981;p52"/>
            <p:cNvSpPr/>
            <p:nvPr/>
          </p:nvSpPr>
          <p:spPr>
            <a:xfrm>
              <a:off x="838200" y="3351219"/>
              <a:ext cx="228600" cy="141281"/>
            </a:xfrm>
            <a:custGeom>
              <a:rect b="b" l="l" r="r" t="t"/>
              <a:pathLst>
                <a:path extrusionOk="0" h="141281" w="228600">
                  <a:moveTo>
                    <a:pt x="155194" y="6344"/>
                  </a:moveTo>
                  <a:cubicBezTo>
                    <a:pt x="159530" y="933"/>
                    <a:pt x="167405" y="0"/>
                    <a:pt x="172885" y="4248"/>
                  </a:cubicBezTo>
                  <a:lnTo>
                    <a:pt x="174079" y="5302"/>
                  </a:lnTo>
                  <a:lnTo>
                    <a:pt x="224879" y="56102"/>
                  </a:lnTo>
                  <a:cubicBezTo>
                    <a:pt x="226853" y="58078"/>
                    <a:pt x="228120" y="60649"/>
                    <a:pt x="228486" y="63417"/>
                  </a:cubicBezTo>
                  <a:lnTo>
                    <a:pt x="228600" y="65081"/>
                  </a:lnTo>
                  <a:lnTo>
                    <a:pt x="228600" y="128581"/>
                  </a:lnTo>
                  <a:cubicBezTo>
                    <a:pt x="228599" y="135020"/>
                    <a:pt x="223780" y="140439"/>
                    <a:pt x="217386" y="141192"/>
                  </a:cubicBezTo>
                  <a:lnTo>
                    <a:pt x="215900" y="141281"/>
                  </a:lnTo>
                  <a:lnTo>
                    <a:pt x="12421" y="141281"/>
                  </a:lnTo>
                  <a:lnTo>
                    <a:pt x="11024" y="141167"/>
                  </a:lnTo>
                  <a:lnTo>
                    <a:pt x="9627" y="140913"/>
                  </a:lnTo>
                  <a:lnTo>
                    <a:pt x="8268" y="140481"/>
                  </a:lnTo>
                  <a:lnTo>
                    <a:pt x="6934" y="139897"/>
                  </a:lnTo>
                  <a:lnTo>
                    <a:pt x="5664" y="139148"/>
                  </a:lnTo>
                  <a:lnTo>
                    <a:pt x="4470" y="138259"/>
                  </a:lnTo>
                  <a:lnTo>
                    <a:pt x="3708" y="137560"/>
                  </a:lnTo>
                  <a:lnTo>
                    <a:pt x="2794" y="136519"/>
                  </a:lnTo>
                  <a:lnTo>
                    <a:pt x="1981" y="135388"/>
                  </a:lnTo>
                  <a:lnTo>
                    <a:pt x="1295" y="134169"/>
                  </a:lnTo>
                  <a:lnTo>
                    <a:pt x="1092" y="133725"/>
                  </a:lnTo>
                  <a:lnTo>
                    <a:pt x="584" y="132417"/>
                  </a:lnTo>
                  <a:lnTo>
                    <a:pt x="241" y="131070"/>
                  </a:lnTo>
                  <a:lnTo>
                    <a:pt x="51" y="129699"/>
                  </a:lnTo>
                  <a:lnTo>
                    <a:pt x="0" y="128302"/>
                  </a:lnTo>
                  <a:lnTo>
                    <a:pt x="114" y="126905"/>
                  </a:lnTo>
                  <a:lnTo>
                    <a:pt x="356" y="125571"/>
                  </a:lnTo>
                  <a:cubicBezTo>
                    <a:pt x="483" y="125063"/>
                    <a:pt x="635" y="124593"/>
                    <a:pt x="800" y="124149"/>
                  </a:cubicBezTo>
                  <a:lnTo>
                    <a:pt x="1384" y="122815"/>
                  </a:lnTo>
                  <a:lnTo>
                    <a:pt x="2134" y="121545"/>
                  </a:lnTo>
                  <a:lnTo>
                    <a:pt x="52934" y="45345"/>
                  </a:lnTo>
                  <a:cubicBezTo>
                    <a:pt x="56150" y="40502"/>
                    <a:pt x="62245" y="38462"/>
                    <a:pt x="67729" y="40392"/>
                  </a:cubicBezTo>
                  <a:lnTo>
                    <a:pt x="69177" y="41027"/>
                  </a:lnTo>
                  <a:lnTo>
                    <a:pt x="110795" y="61830"/>
                  </a:lnTo>
                  <a:lnTo>
                    <a:pt x="155181" y="6344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52"/>
            <p:cNvSpPr/>
            <p:nvPr/>
          </p:nvSpPr>
          <p:spPr>
            <a:xfrm>
              <a:off x="836697" y="3275067"/>
              <a:ext cx="231341" cy="130036"/>
            </a:xfrm>
            <a:custGeom>
              <a:rect b="b" l="l" r="r" t="t"/>
              <a:pathLst>
                <a:path extrusionOk="0" h="130036" w="231341">
                  <a:moveTo>
                    <a:pt x="156850" y="6105"/>
                  </a:moveTo>
                  <a:cubicBezTo>
                    <a:pt x="161230" y="843"/>
                    <a:pt x="168994" y="0"/>
                    <a:pt x="174401" y="4200"/>
                  </a:cubicBezTo>
                  <a:lnTo>
                    <a:pt x="175582" y="5254"/>
                  </a:lnTo>
                  <a:lnTo>
                    <a:pt x="226382" y="56054"/>
                  </a:lnTo>
                  <a:cubicBezTo>
                    <a:pt x="231109" y="60797"/>
                    <a:pt x="231341" y="68396"/>
                    <a:pt x="226912" y="73419"/>
                  </a:cubicBezTo>
                  <a:cubicBezTo>
                    <a:pt x="222484" y="78441"/>
                    <a:pt x="214916" y="79162"/>
                    <a:pt x="209618" y="75066"/>
                  </a:cubicBezTo>
                  <a:lnTo>
                    <a:pt x="208424" y="74012"/>
                  </a:lnTo>
                  <a:lnTo>
                    <a:pt x="167454" y="33054"/>
                  </a:lnTo>
                  <a:lnTo>
                    <a:pt x="112857" y="98561"/>
                  </a:lnTo>
                  <a:cubicBezTo>
                    <a:pt x="109461" y="102635"/>
                    <a:pt x="103890" y="104170"/>
                    <a:pt x="98887" y="102409"/>
                  </a:cubicBezTo>
                  <a:lnTo>
                    <a:pt x="97426" y="101787"/>
                  </a:lnTo>
                  <a:lnTo>
                    <a:pt x="56101" y="81137"/>
                  </a:lnTo>
                  <a:lnTo>
                    <a:pt x="24363" y="123453"/>
                  </a:lnTo>
                  <a:cubicBezTo>
                    <a:pt x="20525" y="128572"/>
                    <a:pt x="13477" y="130036"/>
                    <a:pt x="7917" y="126869"/>
                  </a:cubicBezTo>
                  <a:lnTo>
                    <a:pt x="6583" y="125993"/>
                  </a:lnTo>
                  <a:cubicBezTo>
                    <a:pt x="1464" y="122154"/>
                    <a:pt x="0" y="115107"/>
                    <a:pt x="3167" y="109547"/>
                  </a:cubicBezTo>
                  <a:lnTo>
                    <a:pt x="4043" y="108213"/>
                  </a:lnTo>
                  <a:lnTo>
                    <a:pt x="42143" y="57413"/>
                  </a:lnTo>
                  <a:cubicBezTo>
                    <a:pt x="45487" y="52960"/>
                    <a:pt x="51341" y="51204"/>
                    <a:pt x="56583" y="53082"/>
                  </a:cubicBezTo>
                  <a:lnTo>
                    <a:pt x="57980" y="53679"/>
                  </a:lnTo>
                  <a:lnTo>
                    <a:pt x="99776" y="74571"/>
                  </a:lnTo>
                  <a:lnTo>
                    <a:pt x="156850" y="6105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3" name="Google Shape;983;p52"/>
          <p:cNvSpPr txBox="1"/>
          <p:nvPr/>
        </p:nvSpPr>
        <p:spPr>
          <a:xfrm>
            <a:off x="930116" y="2376726"/>
            <a:ext cx="3829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课程学员平台 · 讲义 / 干货 / 录像回放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52"/>
          <p:cNvSpPr txBox="1"/>
          <p:nvPr/>
        </p:nvSpPr>
        <p:spPr>
          <a:xfrm>
            <a:off x="932974" y="2572464"/>
            <a:ext cx="186598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全部学员资料归档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52"/>
          <p:cNvSpPr txBox="1"/>
          <p:nvPr/>
        </p:nvSpPr>
        <p:spPr>
          <a:xfrm>
            <a:off x="5917974" y="2494950"/>
            <a:ext cx="2665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https://austinxyz.github.io/course-portal/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52"/>
          <p:cNvSpPr/>
          <p:nvPr/>
        </p:nvSpPr>
        <p:spPr>
          <a:xfrm>
            <a:off x="457200" y="2971800"/>
            <a:ext cx="8229600" cy="628650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52"/>
          <p:cNvSpPr/>
          <p:nvPr/>
        </p:nvSpPr>
        <p:spPr>
          <a:xfrm>
            <a:off x="457200" y="2971800"/>
            <a:ext cx="28575" cy="62865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8" name="Google Shape;988;p52"/>
          <p:cNvGrpSpPr/>
          <p:nvPr/>
        </p:nvGrpSpPr>
        <p:grpSpPr>
          <a:xfrm>
            <a:off x="622454" y="3162300"/>
            <a:ext cx="183744" cy="189817"/>
            <a:chOff x="829939" y="4216400"/>
            <a:chExt cx="244992" cy="253089"/>
          </a:xfrm>
        </p:grpSpPr>
        <p:sp>
          <p:nvSpPr>
            <p:cNvPr id="989" name="Google Shape;989;p52"/>
            <p:cNvSpPr/>
            <p:nvPr/>
          </p:nvSpPr>
          <p:spPr>
            <a:xfrm>
              <a:off x="959688" y="4368584"/>
              <a:ext cx="115243" cy="100905"/>
            </a:xfrm>
            <a:custGeom>
              <a:rect b="b" l="l" r="r" t="t"/>
              <a:pathLst>
                <a:path extrusionOk="0" h="100905" w="115243">
                  <a:moveTo>
                    <a:pt x="88011" y="0"/>
                  </a:moveTo>
                  <a:lnTo>
                    <a:pt x="112979" y="43256"/>
                  </a:lnTo>
                  <a:cubicBezTo>
                    <a:pt x="115065" y="46871"/>
                    <a:pt x="115243" y="51280"/>
                    <a:pt x="113456" y="55052"/>
                  </a:cubicBezTo>
                  <a:cubicBezTo>
                    <a:pt x="111669" y="58824"/>
                    <a:pt x="108144" y="61478"/>
                    <a:pt x="104026" y="62154"/>
                  </a:cubicBezTo>
                  <a:lnTo>
                    <a:pt x="102591" y="62293"/>
                  </a:lnTo>
                  <a:lnTo>
                    <a:pt x="101168" y="62281"/>
                  </a:lnTo>
                  <a:lnTo>
                    <a:pt x="63919" y="59868"/>
                  </a:lnTo>
                  <a:lnTo>
                    <a:pt x="47371" y="93345"/>
                  </a:lnTo>
                  <a:cubicBezTo>
                    <a:pt x="45548" y="97023"/>
                    <a:pt x="42062" y="99594"/>
                    <a:pt x="38010" y="100249"/>
                  </a:cubicBezTo>
                  <a:cubicBezTo>
                    <a:pt x="33958" y="100905"/>
                    <a:pt x="29838" y="99563"/>
                    <a:pt x="26949" y="96647"/>
                  </a:cubicBezTo>
                  <a:lnTo>
                    <a:pt x="25908" y="95453"/>
                  </a:lnTo>
                  <a:lnTo>
                    <a:pt x="24994" y="94056"/>
                  </a:lnTo>
                  <a:lnTo>
                    <a:pt x="0" y="50787"/>
                  </a:lnTo>
                  <a:cubicBezTo>
                    <a:pt x="35666" y="48558"/>
                    <a:pt x="68234" y="29765"/>
                    <a:pt x="88011" y="0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52"/>
            <p:cNvSpPr/>
            <p:nvPr/>
          </p:nvSpPr>
          <p:spPr>
            <a:xfrm>
              <a:off x="829939" y="4368571"/>
              <a:ext cx="115322" cy="100777"/>
            </a:xfrm>
            <a:custGeom>
              <a:rect b="b" l="l" r="r" t="t"/>
              <a:pathLst>
                <a:path extrusionOk="0" h="100777" w="115322">
                  <a:moveTo>
                    <a:pt x="115322" y="50800"/>
                  </a:moveTo>
                  <a:lnTo>
                    <a:pt x="90354" y="94082"/>
                  </a:lnTo>
                  <a:cubicBezTo>
                    <a:pt x="88301" y="97639"/>
                    <a:pt x="84656" y="99986"/>
                    <a:pt x="80568" y="100382"/>
                  </a:cubicBezTo>
                  <a:cubicBezTo>
                    <a:pt x="76479" y="100777"/>
                    <a:pt x="72452" y="99173"/>
                    <a:pt x="69755" y="96075"/>
                  </a:cubicBezTo>
                  <a:lnTo>
                    <a:pt x="68789" y="94805"/>
                  </a:lnTo>
                  <a:lnTo>
                    <a:pt x="67977" y="93358"/>
                  </a:lnTo>
                  <a:lnTo>
                    <a:pt x="51416" y="59893"/>
                  </a:lnTo>
                  <a:lnTo>
                    <a:pt x="14192" y="62306"/>
                  </a:lnTo>
                  <a:cubicBezTo>
                    <a:pt x="10030" y="62574"/>
                    <a:pt x="6001" y="60783"/>
                    <a:pt x="3412" y="57514"/>
                  </a:cubicBezTo>
                  <a:cubicBezTo>
                    <a:pt x="822" y="54245"/>
                    <a:pt x="0" y="49914"/>
                    <a:pt x="1213" y="45923"/>
                  </a:cubicBezTo>
                  <a:lnTo>
                    <a:pt x="1721" y="44564"/>
                  </a:lnTo>
                  <a:lnTo>
                    <a:pt x="2356" y="43294"/>
                  </a:lnTo>
                  <a:lnTo>
                    <a:pt x="27349" y="0"/>
                  </a:lnTo>
                  <a:cubicBezTo>
                    <a:pt x="47113" y="29764"/>
                    <a:pt x="79665" y="48566"/>
                    <a:pt x="115322" y="50813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52"/>
            <p:cNvSpPr/>
            <p:nvPr/>
          </p:nvSpPr>
          <p:spPr>
            <a:xfrm>
              <a:off x="863599" y="4216400"/>
              <a:ext cx="177802" cy="177876"/>
            </a:xfrm>
            <a:custGeom>
              <a:rect b="b" l="l" r="r" t="t"/>
              <a:pathLst>
                <a:path extrusionOk="0" h="177876" w="177802">
                  <a:moveTo>
                    <a:pt x="88901" y="0"/>
                  </a:moveTo>
                  <a:lnTo>
                    <a:pt x="91949" y="51"/>
                  </a:lnTo>
                  <a:cubicBezTo>
                    <a:pt x="139833" y="1694"/>
                    <a:pt x="177802" y="40988"/>
                    <a:pt x="177801" y="88900"/>
                  </a:cubicBezTo>
                  <a:lnTo>
                    <a:pt x="177763" y="91351"/>
                  </a:lnTo>
                  <a:lnTo>
                    <a:pt x="177674" y="93789"/>
                  </a:lnTo>
                  <a:lnTo>
                    <a:pt x="177445" y="96901"/>
                  </a:lnTo>
                  <a:lnTo>
                    <a:pt x="177115" y="99974"/>
                  </a:lnTo>
                  <a:lnTo>
                    <a:pt x="176810" y="102235"/>
                  </a:lnTo>
                  <a:cubicBezTo>
                    <a:pt x="175974" y="107717"/>
                    <a:pt x="174627" y="113108"/>
                    <a:pt x="172784" y="118339"/>
                  </a:cubicBezTo>
                  <a:lnTo>
                    <a:pt x="171311" y="122250"/>
                  </a:lnTo>
                  <a:lnTo>
                    <a:pt x="169368" y="126670"/>
                  </a:lnTo>
                  <a:cubicBezTo>
                    <a:pt x="154689" y="157939"/>
                    <a:pt x="123229" y="177876"/>
                    <a:pt x="88686" y="177800"/>
                  </a:cubicBezTo>
                  <a:cubicBezTo>
                    <a:pt x="54143" y="177724"/>
                    <a:pt x="22771" y="157648"/>
                    <a:pt x="8230" y="126314"/>
                  </a:cubicBezTo>
                  <a:lnTo>
                    <a:pt x="6579" y="122542"/>
                  </a:lnTo>
                  <a:lnTo>
                    <a:pt x="5919" y="120853"/>
                  </a:lnTo>
                  <a:lnTo>
                    <a:pt x="4903" y="118097"/>
                  </a:lnTo>
                  <a:lnTo>
                    <a:pt x="3696" y="114363"/>
                  </a:lnTo>
                  <a:cubicBezTo>
                    <a:pt x="3266" y="112918"/>
                    <a:pt x="2872" y="111461"/>
                    <a:pt x="2515" y="109995"/>
                  </a:cubicBezTo>
                  <a:lnTo>
                    <a:pt x="1753" y="106553"/>
                  </a:lnTo>
                  <a:lnTo>
                    <a:pt x="1131" y="103111"/>
                  </a:lnTo>
                  <a:lnTo>
                    <a:pt x="877" y="101346"/>
                  </a:lnTo>
                  <a:lnTo>
                    <a:pt x="382" y="97244"/>
                  </a:lnTo>
                  <a:lnTo>
                    <a:pt x="77" y="92608"/>
                  </a:lnTo>
                  <a:lnTo>
                    <a:pt x="1" y="88900"/>
                  </a:lnTo>
                  <a:cubicBezTo>
                    <a:pt x="0" y="40988"/>
                    <a:pt x="37969" y="1694"/>
                    <a:pt x="85853" y="51"/>
                  </a:cubicBezTo>
                  <a:lnTo>
                    <a:pt x="88901" y="0"/>
                  </a:ln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2" name="Google Shape;992;p52"/>
          <p:cNvSpPr txBox="1"/>
          <p:nvPr/>
        </p:nvSpPr>
        <p:spPr>
          <a:xfrm>
            <a:off x="930116" y="3091101"/>
            <a:ext cx="160170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讲武堂 · 课程报名平台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52"/>
          <p:cNvSpPr txBox="1"/>
          <p:nvPr/>
        </p:nvSpPr>
        <p:spPr>
          <a:xfrm>
            <a:off x="932974" y="3286839"/>
            <a:ext cx="2084510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S4 报名入口 · 支持支付宝 / 信用卡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52"/>
          <p:cNvSpPr txBox="1"/>
          <p:nvPr/>
        </p:nvSpPr>
        <p:spPr>
          <a:xfrm>
            <a:off x="7508171" y="3209330"/>
            <a:ext cx="107504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elitecoach101.com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52"/>
          <p:cNvSpPr txBox="1"/>
          <p:nvPr/>
        </p:nvSpPr>
        <p:spPr>
          <a:xfrm>
            <a:off x="8373136" y="4921687"/>
            <a:ext cx="32295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16 / 17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5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1" name="Google Shape;1001;p53"/>
          <p:cNvGrpSpPr/>
          <p:nvPr/>
        </p:nvGrpSpPr>
        <p:grpSpPr>
          <a:xfrm>
            <a:off x="553641" y="553641"/>
            <a:ext cx="8036719" cy="3464719"/>
            <a:chOff x="738188" y="738188"/>
            <a:chExt cx="10715625" cy="4619625"/>
          </a:xfrm>
        </p:grpSpPr>
        <p:sp>
          <p:nvSpPr>
            <p:cNvPr id="1002" name="Google Shape;1002;p53"/>
            <p:cNvSpPr/>
            <p:nvPr/>
          </p:nvSpPr>
          <p:spPr>
            <a:xfrm>
              <a:off x="738188" y="73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53"/>
            <p:cNvSpPr/>
            <p:nvPr/>
          </p:nvSpPr>
          <p:spPr>
            <a:xfrm>
              <a:off x="1119188" y="73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53"/>
            <p:cNvSpPr/>
            <p:nvPr/>
          </p:nvSpPr>
          <p:spPr>
            <a:xfrm>
              <a:off x="1500188" y="73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53"/>
            <p:cNvSpPr/>
            <p:nvPr/>
          </p:nvSpPr>
          <p:spPr>
            <a:xfrm>
              <a:off x="1881188" y="73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53"/>
            <p:cNvSpPr/>
            <p:nvPr/>
          </p:nvSpPr>
          <p:spPr>
            <a:xfrm>
              <a:off x="738188" y="111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53"/>
            <p:cNvSpPr/>
            <p:nvPr/>
          </p:nvSpPr>
          <p:spPr>
            <a:xfrm>
              <a:off x="1119188" y="111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53"/>
            <p:cNvSpPr/>
            <p:nvPr/>
          </p:nvSpPr>
          <p:spPr>
            <a:xfrm>
              <a:off x="1500188" y="111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53"/>
            <p:cNvSpPr/>
            <p:nvPr/>
          </p:nvSpPr>
          <p:spPr>
            <a:xfrm>
              <a:off x="1881188" y="111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53"/>
            <p:cNvSpPr/>
            <p:nvPr/>
          </p:nvSpPr>
          <p:spPr>
            <a:xfrm>
              <a:off x="738188" y="150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53"/>
            <p:cNvSpPr/>
            <p:nvPr/>
          </p:nvSpPr>
          <p:spPr>
            <a:xfrm>
              <a:off x="1119188" y="150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53"/>
            <p:cNvSpPr/>
            <p:nvPr/>
          </p:nvSpPr>
          <p:spPr>
            <a:xfrm>
              <a:off x="1500188" y="150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53"/>
            <p:cNvSpPr/>
            <p:nvPr/>
          </p:nvSpPr>
          <p:spPr>
            <a:xfrm>
              <a:off x="1881188" y="150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53"/>
            <p:cNvSpPr/>
            <p:nvPr/>
          </p:nvSpPr>
          <p:spPr>
            <a:xfrm>
              <a:off x="10263188" y="454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53"/>
            <p:cNvSpPr/>
            <p:nvPr/>
          </p:nvSpPr>
          <p:spPr>
            <a:xfrm>
              <a:off x="10644188" y="454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53"/>
            <p:cNvSpPr/>
            <p:nvPr/>
          </p:nvSpPr>
          <p:spPr>
            <a:xfrm>
              <a:off x="11025188" y="454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53"/>
            <p:cNvSpPr/>
            <p:nvPr/>
          </p:nvSpPr>
          <p:spPr>
            <a:xfrm>
              <a:off x="11406188" y="454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53"/>
            <p:cNvSpPr/>
            <p:nvPr/>
          </p:nvSpPr>
          <p:spPr>
            <a:xfrm>
              <a:off x="10263188" y="492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53"/>
            <p:cNvSpPr/>
            <p:nvPr/>
          </p:nvSpPr>
          <p:spPr>
            <a:xfrm>
              <a:off x="10644188" y="492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53"/>
            <p:cNvSpPr/>
            <p:nvPr/>
          </p:nvSpPr>
          <p:spPr>
            <a:xfrm>
              <a:off x="11025188" y="492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53"/>
            <p:cNvSpPr/>
            <p:nvPr/>
          </p:nvSpPr>
          <p:spPr>
            <a:xfrm>
              <a:off x="11406188" y="492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53"/>
            <p:cNvSpPr/>
            <p:nvPr/>
          </p:nvSpPr>
          <p:spPr>
            <a:xfrm>
              <a:off x="10263188" y="531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53"/>
            <p:cNvSpPr/>
            <p:nvPr/>
          </p:nvSpPr>
          <p:spPr>
            <a:xfrm>
              <a:off x="10644188" y="531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53"/>
            <p:cNvSpPr/>
            <p:nvPr/>
          </p:nvSpPr>
          <p:spPr>
            <a:xfrm>
              <a:off x="11025188" y="531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53"/>
            <p:cNvSpPr/>
            <p:nvPr/>
          </p:nvSpPr>
          <p:spPr>
            <a:xfrm>
              <a:off x="11406188" y="531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6" name="Google Shape;1026;p53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53"/>
          <p:cNvSpPr/>
          <p:nvPr/>
        </p:nvSpPr>
        <p:spPr>
          <a:xfrm>
            <a:off x="57150" y="0"/>
            <a:ext cx="9086850" cy="21431"/>
          </a:xfrm>
          <a:prstGeom prst="rect">
            <a:avLst/>
          </a:prstGeom>
          <a:solidFill>
            <a:srgbClr val="EA580C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53"/>
          <p:cNvSpPr txBox="1"/>
          <p:nvPr/>
        </p:nvSpPr>
        <p:spPr>
          <a:xfrm>
            <a:off x="3949351" y="702945"/>
            <a:ext cx="124529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讲武堂 · AI 系列课程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53"/>
          <p:cNvSpPr txBox="1"/>
          <p:nvPr/>
        </p:nvSpPr>
        <p:spPr>
          <a:xfrm>
            <a:off x="3206544" y="1338739"/>
            <a:ext cx="2730913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" sz="43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专业知识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53"/>
          <p:cNvSpPr txBox="1"/>
          <p:nvPr/>
        </p:nvSpPr>
        <p:spPr>
          <a:xfrm>
            <a:off x="4411499" y="2013109"/>
            <a:ext cx="321001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" sz="29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53"/>
          <p:cNvSpPr txBox="1"/>
          <p:nvPr/>
        </p:nvSpPr>
        <p:spPr>
          <a:xfrm>
            <a:off x="3517945" y="2467451"/>
            <a:ext cx="210811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" sz="43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Claude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53"/>
          <p:cNvSpPr txBox="1"/>
          <p:nvPr/>
        </p:nvSpPr>
        <p:spPr>
          <a:xfrm>
            <a:off x="4448538" y="3100388"/>
            <a:ext cx="2469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53"/>
          <p:cNvSpPr/>
          <p:nvPr/>
        </p:nvSpPr>
        <p:spPr>
          <a:xfrm>
            <a:off x="2357438" y="3429000"/>
            <a:ext cx="4429125" cy="485775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53"/>
          <p:cNvSpPr txBox="1"/>
          <p:nvPr/>
        </p:nvSpPr>
        <p:spPr>
          <a:xfrm>
            <a:off x="3544795" y="3517582"/>
            <a:ext cx="205441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可运行 AI 产品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53"/>
          <p:cNvSpPr txBox="1"/>
          <p:nvPr/>
        </p:nvSpPr>
        <p:spPr>
          <a:xfrm>
            <a:off x="3070741" y="4064794"/>
            <a:ext cx="30025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感谢今晚参与 · 期待在 S4 课堂再见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53"/>
          <p:cNvSpPr/>
          <p:nvPr/>
        </p:nvSpPr>
        <p:spPr>
          <a:xfrm>
            <a:off x="2571750" y="4371975"/>
            <a:ext cx="4000500" cy="7144"/>
          </a:xfrm>
          <a:custGeom>
            <a:rect b="b" l="l" r="r" t="t"/>
            <a:pathLst>
              <a:path extrusionOk="0" h="9525" w="5334000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cap="flat" cmpd="sng" w="142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53"/>
          <p:cNvSpPr/>
          <p:nvPr/>
        </p:nvSpPr>
        <p:spPr>
          <a:xfrm>
            <a:off x="2649932" y="4508026"/>
            <a:ext cx="144556" cy="144090"/>
          </a:xfrm>
          <a:custGeom>
            <a:rect b="b" l="l" r="r" t="t"/>
            <a:pathLst>
              <a:path extrusionOk="0" h="192120" w="192741">
                <a:moveTo>
                  <a:pt x="152510" y="28545"/>
                </a:moveTo>
                <a:cubicBezTo>
                  <a:pt x="185240" y="56478"/>
                  <a:pt x="192741" y="104092"/>
                  <a:pt x="170182" y="140734"/>
                </a:cubicBezTo>
                <a:cubicBezTo>
                  <a:pt x="147624" y="177376"/>
                  <a:pt x="101733" y="192120"/>
                  <a:pt x="62054" y="175475"/>
                </a:cubicBezTo>
                <a:lnTo>
                  <a:pt x="60107" y="174619"/>
                </a:lnTo>
                <a:lnTo>
                  <a:pt x="18555" y="182032"/>
                </a:lnTo>
                <a:lnTo>
                  <a:pt x="17595" y="182128"/>
                </a:lnTo>
                <a:cubicBezTo>
                  <a:pt x="17275" y="182145"/>
                  <a:pt x="16954" y="182145"/>
                  <a:pt x="16634" y="182128"/>
                </a:cubicBezTo>
                <a:lnTo>
                  <a:pt x="15744" y="182014"/>
                </a:lnTo>
                <a:lnTo>
                  <a:pt x="14801" y="181805"/>
                </a:lnTo>
                <a:lnTo>
                  <a:pt x="13884" y="181482"/>
                </a:lnTo>
                <a:lnTo>
                  <a:pt x="13019" y="181071"/>
                </a:lnTo>
                <a:lnTo>
                  <a:pt x="12207" y="180565"/>
                </a:lnTo>
                <a:lnTo>
                  <a:pt x="12085" y="180469"/>
                </a:lnTo>
                <a:lnTo>
                  <a:pt x="11980" y="180408"/>
                </a:lnTo>
                <a:lnTo>
                  <a:pt x="11229" y="179770"/>
                </a:lnTo>
                <a:lnTo>
                  <a:pt x="10557" y="179072"/>
                </a:lnTo>
                <a:lnTo>
                  <a:pt x="9972" y="178304"/>
                </a:lnTo>
                <a:lnTo>
                  <a:pt x="9483" y="177483"/>
                </a:lnTo>
                <a:lnTo>
                  <a:pt x="9186" y="176872"/>
                </a:lnTo>
                <a:lnTo>
                  <a:pt x="8837" y="175929"/>
                </a:lnTo>
                <a:lnTo>
                  <a:pt x="8593" y="174811"/>
                </a:lnTo>
                <a:lnTo>
                  <a:pt x="8488" y="173920"/>
                </a:lnTo>
                <a:cubicBezTo>
                  <a:pt x="8465" y="173557"/>
                  <a:pt x="8465" y="173193"/>
                  <a:pt x="8488" y="172829"/>
                </a:cubicBezTo>
                <a:lnTo>
                  <a:pt x="8593" y="171956"/>
                </a:lnTo>
                <a:lnTo>
                  <a:pt x="8802" y="170995"/>
                </a:lnTo>
                <a:lnTo>
                  <a:pt x="9195" y="169930"/>
                </a:lnTo>
                <a:lnTo>
                  <a:pt x="21707" y="141082"/>
                </a:lnTo>
                <a:lnTo>
                  <a:pt x="21628" y="140960"/>
                </a:lnTo>
                <a:cubicBezTo>
                  <a:pt x="0" y="106044"/>
                  <a:pt x="5631" y="60775"/>
                  <a:pt x="35153" y="32221"/>
                </a:cubicBezTo>
                <a:lnTo>
                  <a:pt x="37030" y="30449"/>
                </a:lnTo>
                <a:cubicBezTo>
                  <a:pt x="69548" y="812"/>
                  <a:pt x="119037" y="0"/>
                  <a:pt x="152510" y="28554"/>
                </a:cubicBezTo>
                <a:moveTo>
                  <a:pt x="73955" y="55533"/>
                </a:moveTo>
                <a:cubicBezTo>
                  <a:pt x="66722" y="55533"/>
                  <a:pt x="60858" y="61397"/>
                  <a:pt x="60858" y="68630"/>
                </a:cubicBezTo>
                <a:lnTo>
                  <a:pt x="60858" y="77362"/>
                </a:lnTo>
                <a:cubicBezTo>
                  <a:pt x="60858" y="106294"/>
                  <a:pt x="84313" y="129749"/>
                  <a:pt x="113245" y="129749"/>
                </a:cubicBezTo>
                <a:lnTo>
                  <a:pt x="121977" y="129749"/>
                </a:lnTo>
                <a:cubicBezTo>
                  <a:pt x="129210" y="129749"/>
                  <a:pt x="135074" y="123885"/>
                  <a:pt x="135074" y="116652"/>
                </a:cubicBezTo>
                <a:cubicBezTo>
                  <a:pt x="135074" y="109419"/>
                  <a:pt x="129210" y="103555"/>
                  <a:pt x="121977" y="103555"/>
                </a:cubicBezTo>
                <a:lnTo>
                  <a:pt x="113245" y="103555"/>
                </a:lnTo>
                <a:lnTo>
                  <a:pt x="111988" y="103616"/>
                </a:lnTo>
                <a:cubicBezTo>
                  <a:pt x="107938" y="104005"/>
                  <a:pt x="104299" y="106254"/>
                  <a:pt x="102139" y="109702"/>
                </a:cubicBezTo>
                <a:lnTo>
                  <a:pt x="101773" y="110348"/>
                </a:lnTo>
                <a:lnTo>
                  <a:pt x="101580" y="110287"/>
                </a:lnTo>
                <a:cubicBezTo>
                  <a:pt x="91656" y="106759"/>
                  <a:pt x="83848" y="98950"/>
                  <a:pt x="80320" y="89027"/>
                </a:cubicBezTo>
                <a:lnTo>
                  <a:pt x="80250" y="88826"/>
                </a:lnTo>
                <a:lnTo>
                  <a:pt x="80905" y="88468"/>
                </a:lnTo>
                <a:cubicBezTo>
                  <a:pt x="84731" y="86072"/>
                  <a:pt x="87054" y="81876"/>
                  <a:pt x="87052" y="77362"/>
                </a:cubicBezTo>
                <a:lnTo>
                  <a:pt x="87052" y="68630"/>
                </a:lnTo>
                <a:cubicBezTo>
                  <a:pt x="87052" y="61397"/>
                  <a:pt x="81188" y="55533"/>
                  <a:pt x="73955" y="55533"/>
                </a:cubicBezTo>
              </a:path>
            </a:pathLst>
          </a:cu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53"/>
          <p:cNvSpPr txBox="1"/>
          <p:nvPr/>
        </p:nvSpPr>
        <p:spPr>
          <a:xfrm>
            <a:off x="2845356" y="4525923"/>
            <a:ext cx="1302181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微信：elitecoach101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53"/>
          <p:cNvSpPr txBox="1"/>
          <p:nvPr/>
        </p:nvSpPr>
        <p:spPr>
          <a:xfrm>
            <a:off x="4536960" y="4519851"/>
            <a:ext cx="700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0" name="Google Shape;1040;p53"/>
          <p:cNvGrpSpPr/>
          <p:nvPr/>
        </p:nvGrpSpPr>
        <p:grpSpPr>
          <a:xfrm>
            <a:off x="4784672" y="4513830"/>
            <a:ext cx="131860" cy="130621"/>
            <a:chOff x="6379562" y="6018440"/>
            <a:chExt cx="175814" cy="174162"/>
          </a:xfrm>
        </p:grpSpPr>
        <p:sp>
          <p:nvSpPr>
            <p:cNvPr id="1041" name="Google Shape;1041;p53"/>
            <p:cNvSpPr/>
            <p:nvPr/>
          </p:nvSpPr>
          <p:spPr>
            <a:xfrm>
              <a:off x="6473858" y="6140450"/>
              <a:ext cx="73639" cy="52152"/>
            </a:xfrm>
            <a:custGeom>
              <a:rect b="b" l="l" r="r" t="t"/>
              <a:pathLst>
                <a:path extrusionOk="0" h="52152" w="73639">
                  <a:moveTo>
                    <a:pt x="73639" y="0"/>
                  </a:moveTo>
                  <a:cubicBezTo>
                    <a:pt x="60675" y="29704"/>
                    <a:pt x="32323" y="49782"/>
                    <a:pt x="0" y="52152"/>
                  </a:cubicBezTo>
                  <a:cubicBezTo>
                    <a:pt x="2236" y="51619"/>
                    <a:pt x="4172" y="50226"/>
                    <a:pt x="5387" y="48275"/>
                  </a:cubicBezTo>
                  <a:cubicBezTo>
                    <a:pt x="14668" y="33409"/>
                    <a:pt x="21396" y="17095"/>
                    <a:pt x="25294" y="9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53"/>
            <p:cNvSpPr/>
            <p:nvPr/>
          </p:nvSpPr>
          <p:spPr>
            <a:xfrm>
              <a:off x="6387453" y="6140450"/>
              <a:ext cx="73631" cy="52152"/>
            </a:xfrm>
            <a:custGeom>
              <a:rect b="b" l="l" r="r" t="t"/>
              <a:pathLst>
                <a:path extrusionOk="0" h="52152" w="73631">
                  <a:moveTo>
                    <a:pt x="48345" y="0"/>
                  </a:moveTo>
                  <a:cubicBezTo>
                    <a:pt x="52241" y="17092"/>
                    <a:pt x="58970" y="33412"/>
                    <a:pt x="68252" y="48284"/>
                  </a:cubicBezTo>
                  <a:cubicBezTo>
                    <a:pt x="69467" y="50230"/>
                    <a:pt x="71399" y="51619"/>
                    <a:pt x="73631" y="52152"/>
                  </a:cubicBezTo>
                  <a:cubicBezTo>
                    <a:pt x="41311" y="49779"/>
                    <a:pt x="12963" y="29701"/>
                    <a:pt x="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53"/>
            <p:cNvSpPr/>
            <p:nvPr/>
          </p:nvSpPr>
          <p:spPr>
            <a:xfrm>
              <a:off x="6453767" y="6140450"/>
              <a:ext cx="27416" cy="33912"/>
            </a:xfrm>
            <a:custGeom>
              <a:rect b="b" l="l" r="r" t="t"/>
              <a:pathLst>
                <a:path extrusionOk="0" h="33912" w="27416">
                  <a:moveTo>
                    <a:pt x="27416" y="0"/>
                  </a:moveTo>
                  <a:cubicBezTo>
                    <a:pt x="24353" y="11856"/>
                    <a:pt x="19744" y="23258"/>
                    <a:pt x="13708" y="33912"/>
                  </a:cubicBezTo>
                  <a:cubicBezTo>
                    <a:pt x="7672" y="23258"/>
                    <a:pt x="3063" y="11856"/>
                    <a:pt x="0" y="0"/>
                  </a:cubicBezTo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53"/>
            <p:cNvSpPr/>
            <p:nvPr/>
          </p:nvSpPr>
          <p:spPr>
            <a:xfrm>
              <a:off x="6379562" y="6088062"/>
              <a:ext cx="53284" cy="34925"/>
            </a:xfrm>
            <a:custGeom>
              <a:rect b="b" l="l" r="r" t="t"/>
              <a:pathLst>
                <a:path extrusionOk="0" h="34925" w="53284">
                  <a:moveTo>
                    <a:pt x="53284" y="0"/>
                  </a:moveTo>
                  <a:cubicBezTo>
                    <a:pt x="51987" y="11606"/>
                    <a:pt x="51987" y="23319"/>
                    <a:pt x="53284" y="34925"/>
                  </a:cubicBezTo>
                  <a:lnTo>
                    <a:pt x="2364" y="34925"/>
                  </a:lnTo>
                  <a:cubicBezTo>
                    <a:pt x="6" y="23403"/>
                    <a:pt x="0" y="11524"/>
                    <a:pt x="2346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53"/>
            <p:cNvSpPr/>
            <p:nvPr/>
          </p:nvSpPr>
          <p:spPr>
            <a:xfrm>
              <a:off x="6448971" y="6088062"/>
              <a:ext cx="37009" cy="34925"/>
            </a:xfrm>
            <a:custGeom>
              <a:rect b="b" l="l" r="r" t="t"/>
              <a:pathLst>
                <a:path extrusionOk="0" h="34925" w="37009">
                  <a:moveTo>
                    <a:pt x="35548" y="0"/>
                  </a:moveTo>
                  <a:cubicBezTo>
                    <a:pt x="37009" y="11596"/>
                    <a:pt x="37009" y="23329"/>
                    <a:pt x="35548" y="34925"/>
                  </a:cubicBezTo>
                  <a:lnTo>
                    <a:pt x="1461" y="34925"/>
                  </a:lnTo>
                  <a:cubicBezTo>
                    <a:pt x="0" y="23329"/>
                    <a:pt x="0" y="11596"/>
                    <a:pt x="1461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53"/>
            <p:cNvSpPr/>
            <p:nvPr/>
          </p:nvSpPr>
          <p:spPr>
            <a:xfrm>
              <a:off x="6502103" y="6088062"/>
              <a:ext cx="53273" cy="34925"/>
            </a:xfrm>
            <a:custGeom>
              <a:rect b="b" l="l" r="r" t="t"/>
              <a:pathLst>
                <a:path extrusionOk="0" h="34925" w="53273">
                  <a:moveTo>
                    <a:pt x="50938" y="0"/>
                  </a:moveTo>
                  <a:cubicBezTo>
                    <a:pt x="53273" y="11525"/>
                    <a:pt x="53267" y="23402"/>
                    <a:pt x="50921" y="34925"/>
                  </a:cubicBezTo>
                  <a:lnTo>
                    <a:pt x="0" y="34925"/>
                  </a:lnTo>
                  <a:cubicBezTo>
                    <a:pt x="1301" y="23321"/>
                    <a:pt x="1301" y="11613"/>
                    <a:pt x="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53"/>
            <p:cNvSpPr/>
            <p:nvPr/>
          </p:nvSpPr>
          <p:spPr>
            <a:xfrm>
              <a:off x="6387427" y="6018448"/>
              <a:ext cx="73648" cy="52152"/>
            </a:xfrm>
            <a:custGeom>
              <a:rect b="b" l="l" r="r" t="t"/>
              <a:pathLst>
                <a:path extrusionOk="0" h="52152" w="73648">
                  <a:moveTo>
                    <a:pt x="73648" y="0"/>
                  </a:moveTo>
                  <a:cubicBezTo>
                    <a:pt x="71419" y="537"/>
                    <a:pt x="69490" y="1929"/>
                    <a:pt x="68278" y="3877"/>
                  </a:cubicBezTo>
                  <a:cubicBezTo>
                    <a:pt x="58997" y="18746"/>
                    <a:pt x="52268" y="35063"/>
                    <a:pt x="48371" y="52152"/>
                  </a:cubicBezTo>
                  <a:lnTo>
                    <a:pt x="0" y="52152"/>
                  </a:lnTo>
                  <a:cubicBezTo>
                    <a:pt x="12850" y="22742"/>
                    <a:pt x="40785" y="2741"/>
                    <a:pt x="72766" y="52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53"/>
            <p:cNvSpPr/>
            <p:nvPr/>
          </p:nvSpPr>
          <p:spPr>
            <a:xfrm>
              <a:off x="6453767" y="6036688"/>
              <a:ext cx="27416" cy="33921"/>
            </a:xfrm>
            <a:custGeom>
              <a:rect b="b" l="l" r="r" t="t"/>
              <a:pathLst>
                <a:path extrusionOk="0" h="33921" w="27416">
                  <a:moveTo>
                    <a:pt x="13708" y="0"/>
                  </a:moveTo>
                  <a:cubicBezTo>
                    <a:pt x="19745" y="10657"/>
                    <a:pt x="24354" y="22062"/>
                    <a:pt x="27416" y="33921"/>
                  </a:cubicBezTo>
                  <a:lnTo>
                    <a:pt x="0" y="33921"/>
                  </a:lnTo>
                  <a:cubicBezTo>
                    <a:pt x="2969" y="22422"/>
                    <a:pt x="7422" y="11220"/>
                    <a:pt x="13359" y="594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53"/>
            <p:cNvSpPr/>
            <p:nvPr/>
          </p:nvSpPr>
          <p:spPr>
            <a:xfrm>
              <a:off x="6473875" y="6018440"/>
              <a:ext cx="73648" cy="52160"/>
            </a:xfrm>
            <a:custGeom>
              <a:rect b="b" l="l" r="r" t="t"/>
              <a:pathLst>
                <a:path extrusionOk="0" h="52160" w="73648">
                  <a:moveTo>
                    <a:pt x="0" y="0"/>
                  </a:moveTo>
                  <a:cubicBezTo>
                    <a:pt x="32322" y="2387"/>
                    <a:pt x="60669" y="22463"/>
                    <a:pt x="73648" y="52160"/>
                  </a:cubicBezTo>
                  <a:lnTo>
                    <a:pt x="25277" y="52160"/>
                  </a:lnTo>
                  <a:cubicBezTo>
                    <a:pt x="21381" y="35068"/>
                    <a:pt x="14652" y="18748"/>
                    <a:pt x="5370" y="3877"/>
                  </a:cubicBezTo>
                  <a:cubicBezTo>
                    <a:pt x="4319" y="2194"/>
                    <a:pt x="2727" y="919"/>
                    <a:pt x="856" y="262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0" name="Google Shape;1050;p53"/>
          <p:cNvSpPr txBox="1"/>
          <p:nvPr/>
        </p:nvSpPr>
        <p:spPr>
          <a:xfrm>
            <a:off x="4988472" y="4525925"/>
            <a:ext cx="300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课程平台：https://austinxyz.github.io/course-portal/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1" name="Google Shape;1051;p53"/>
          <p:cNvGrpSpPr/>
          <p:nvPr/>
        </p:nvGrpSpPr>
        <p:grpSpPr>
          <a:xfrm>
            <a:off x="8404625" y="442916"/>
            <a:ext cx="210733" cy="200018"/>
            <a:chOff x="11206167" y="590555"/>
            <a:chExt cx="280978" cy="266690"/>
          </a:xfrm>
        </p:grpSpPr>
        <p:sp>
          <p:nvSpPr>
            <p:cNvPr id="1052" name="Google Shape;1052;p53"/>
            <p:cNvSpPr/>
            <p:nvPr/>
          </p:nvSpPr>
          <p:spPr>
            <a:xfrm>
              <a:off x="11396662" y="762005"/>
              <a:ext cx="90483" cy="95240"/>
            </a:xfrm>
            <a:custGeom>
              <a:rect b="b" l="l" r="r" t="t"/>
              <a:pathLst>
                <a:path extrusionOk="0" h="95240" w="90483">
                  <a:moveTo>
                    <a:pt x="14288" y="61908"/>
                  </a:moveTo>
                  <a:cubicBezTo>
                    <a:pt x="6397" y="61908"/>
                    <a:pt x="0" y="55511"/>
                    <a:pt x="0" y="47620"/>
                  </a:cubicBezTo>
                  <a:cubicBezTo>
                    <a:pt x="0" y="39729"/>
                    <a:pt x="6397" y="33333"/>
                    <a:pt x="14288" y="33333"/>
                  </a:cubicBezTo>
                  <a:cubicBezTo>
                    <a:pt x="22178" y="33333"/>
                    <a:pt x="28575" y="26936"/>
                    <a:pt x="28575" y="19045"/>
                  </a:cubicBezTo>
                  <a:cubicBezTo>
                    <a:pt x="28575" y="0"/>
                    <a:pt x="57150" y="0"/>
                    <a:pt x="57150" y="19045"/>
                  </a:cubicBezTo>
                  <a:cubicBezTo>
                    <a:pt x="57150" y="26936"/>
                    <a:pt x="63547" y="33333"/>
                    <a:pt x="71438" y="33333"/>
                  </a:cubicBezTo>
                  <a:cubicBezTo>
                    <a:pt x="90483" y="33333"/>
                    <a:pt x="90483" y="61908"/>
                    <a:pt x="71438" y="61908"/>
                  </a:cubicBezTo>
                  <a:cubicBezTo>
                    <a:pt x="63547" y="61908"/>
                    <a:pt x="57150" y="68304"/>
                    <a:pt x="57150" y="76195"/>
                  </a:cubicBezTo>
                  <a:cubicBezTo>
                    <a:pt x="57150" y="95240"/>
                    <a:pt x="28575" y="95240"/>
                    <a:pt x="28575" y="76195"/>
                  </a:cubicBezTo>
                  <a:cubicBezTo>
                    <a:pt x="28575" y="68304"/>
                    <a:pt x="22178" y="61908"/>
                    <a:pt x="14288" y="61908"/>
                  </a:cubicBezTo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53"/>
            <p:cNvSpPr/>
            <p:nvPr/>
          </p:nvSpPr>
          <p:spPr>
            <a:xfrm>
              <a:off x="11206167" y="619130"/>
              <a:ext cx="209540" cy="204783"/>
            </a:xfrm>
            <a:custGeom>
              <a:rect b="b" l="l" r="r" t="t"/>
              <a:pathLst>
                <a:path extrusionOk="0" h="204783" w="209540">
                  <a:moveTo>
                    <a:pt x="19045" y="90483"/>
                  </a:moveTo>
                  <a:cubicBezTo>
                    <a:pt x="58499" y="90483"/>
                    <a:pt x="90483" y="58499"/>
                    <a:pt x="90483" y="19045"/>
                  </a:cubicBezTo>
                  <a:cubicBezTo>
                    <a:pt x="90483" y="0"/>
                    <a:pt x="119058" y="0"/>
                    <a:pt x="119058" y="19045"/>
                  </a:cubicBezTo>
                  <a:cubicBezTo>
                    <a:pt x="119058" y="58499"/>
                    <a:pt x="151041" y="90483"/>
                    <a:pt x="190495" y="90483"/>
                  </a:cubicBezTo>
                  <a:cubicBezTo>
                    <a:pt x="209540" y="90483"/>
                    <a:pt x="209540" y="119058"/>
                    <a:pt x="190495" y="119058"/>
                  </a:cubicBezTo>
                  <a:cubicBezTo>
                    <a:pt x="151041" y="119058"/>
                    <a:pt x="119058" y="151041"/>
                    <a:pt x="119058" y="190495"/>
                  </a:cubicBezTo>
                  <a:cubicBezTo>
                    <a:pt x="119058" y="198386"/>
                    <a:pt x="112661" y="204783"/>
                    <a:pt x="104770" y="204783"/>
                  </a:cubicBezTo>
                  <a:cubicBezTo>
                    <a:pt x="96879" y="204783"/>
                    <a:pt x="90483" y="198386"/>
                    <a:pt x="90483" y="190495"/>
                  </a:cubicBezTo>
                  <a:cubicBezTo>
                    <a:pt x="90483" y="151041"/>
                    <a:pt x="58499" y="119058"/>
                    <a:pt x="19045" y="119058"/>
                  </a:cubicBezTo>
                  <a:cubicBezTo>
                    <a:pt x="0" y="119058"/>
                    <a:pt x="0" y="90483"/>
                    <a:pt x="19045" y="90483"/>
                  </a:cubicBezTo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53"/>
            <p:cNvSpPr/>
            <p:nvPr/>
          </p:nvSpPr>
          <p:spPr>
            <a:xfrm>
              <a:off x="11396662" y="590555"/>
              <a:ext cx="90483" cy="95240"/>
            </a:xfrm>
            <a:custGeom>
              <a:rect b="b" l="l" r="r" t="t"/>
              <a:pathLst>
                <a:path extrusionOk="0" h="95240" w="90483">
                  <a:moveTo>
                    <a:pt x="14288" y="61908"/>
                  </a:moveTo>
                  <a:cubicBezTo>
                    <a:pt x="6397" y="61908"/>
                    <a:pt x="0" y="55511"/>
                    <a:pt x="0" y="47620"/>
                  </a:cubicBezTo>
                  <a:cubicBezTo>
                    <a:pt x="0" y="39729"/>
                    <a:pt x="6397" y="33333"/>
                    <a:pt x="14288" y="33333"/>
                  </a:cubicBezTo>
                  <a:cubicBezTo>
                    <a:pt x="22178" y="33333"/>
                    <a:pt x="28575" y="26936"/>
                    <a:pt x="28575" y="19045"/>
                  </a:cubicBezTo>
                  <a:cubicBezTo>
                    <a:pt x="28575" y="0"/>
                    <a:pt x="57150" y="0"/>
                    <a:pt x="57150" y="19045"/>
                  </a:cubicBezTo>
                  <a:cubicBezTo>
                    <a:pt x="57150" y="26936"/>
                    <a:pt x="63547" y="33333"/>
                    <a:pt x="71438" y="33333"/>
                  </a:cubicBezTo>
                  <a:cubicBezTo>
                    <a:pt x="90483" y="33333"/>
                    <a:pt x="90483" y="61908"/>
                    <a:pt x="71438" y="61908"/>
                  </a:cubicBezTo>
                  <a:cubicBezTo>
                    <a:pt x="63547" y="61908"/>
                    <a:pt x="57150" y="68304"/>
                    <a:pt x="57150" y="76195"/>
                  </a:cubicBezTo>
                  <a:cubicBezTo>
                    <a:pt x="57150" y="95240"/>
                    <a:pt x="28575" y="95240"/>
                    <a:pt x="28575" y="76195"/>
                  </a:cubicBezTo>
                  <a:cubicBezTo>
                    <a:pt x="28575" y="68304"/>
                    <a:pt x="22178" y="61908"/>
                    <a:pt x="14288" y="61908"/>
                  </a:cubicBezTo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5" name="Google Shape;1055;p53"/>
          <p:cNvSpPr txBox="1"/>
          <p:nvPr/>
        </p:nvSpPr>
        <p:spPr>
          <a:xfrm>
            <a:off x="8373136" y="4921687"/>
            <a:ext cx="32295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17 / 17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