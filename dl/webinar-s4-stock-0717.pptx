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4"/>
    <p:sldMasterId id="2147483682" r:id="rId5"/>
    <p:sldMasterId id="214748368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y="5143500" cx="9144000"/>
  <p:notesSz cx="6858000" cy="9144000"/>
  <p:embeddedFontLst>
    <p:embeddedFont>
      <p:font typeface="Quattrocento Sans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font" Target="fonts/QuattrocentoSans-regular.fntdata"/><Relationship Id="rId26" Type="http://schemas.openxmlformats.org/officeDocument/2006/relationships/font" Target="fonts/QuattrocentoSans-bold.fntdata"/><Relationship Id="rId27" Type="http://schemas.openxmlformats.org/officeDocument/2006/relationships/font" Target="fonts/QuattrocentoSans-italic.fntdata"/><Relationship Id="rId28" Type="http://schemas.openxmlformats.org/officeDocument/2006/relationships/font" Target="fonts/Quattrocento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51a0bc633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g3f51a0bc633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开场白：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"大家好，我是 Austin，今晚这个 30 分钟的直播，我要教你一件事——怎么把你脑子里的专业知识，变成一个真正可以运行的 AI 工具。不是做个 ChatGPT 对话，是真的能帮你工作的那种。"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提示：等人进直播间，可以先聊聊大家在哪座城市、做什么行业。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51a0bc633_2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0" name="Google Shape;240;g3f51a0bc633_2_1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51a0bc633_2_1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g3f51a0bc633_2_1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"今晚我给大家三样干货——第一，炒股方法论文档，S3 课程的核心内容；第二，Design System 模板文件，S4 课程的核心素材；第三，更重要的是，你会理解怎么用这套思路把自己的专业做成 AI 产品。"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提示：提醒大家把链接记下来，后面会有机会下载。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f51a0bc633_2_2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g3f51a0bc633_2_2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"我来问你一个问题——你有没有这种感觉，你在某个领域积累了很多年，但是你的经验只能在你亲自工作的时候才能发挥作用？你睡着了它就停了，你不在场它就没了。"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停顿，让观众思考。"这个问题，AI 可以解决。"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f51a0bc633_2_26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g3f51a0bc633_2_26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核心信息： Charlie个人对AI的战略判断（2-3分钟，这是全场最重要的部分之一）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讲解要点（Charlie填入自己的真实判断）：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判断1：未来5年，AI将重新定义知识型岗位——用自己亲眼看到的案例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判断2：身边最厉害的人都在用AI打10倍杠杆——具体例子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判断3：窗口期就在这2-3年，所以选择现在系统性投入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注意： 这里用第一人称，讲自己的真实判断和经历，不是泛泛而谈。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语气： 自信、笃定，不是建议，是宣言。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切换到P05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f51a0bc633_2_3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g3f51a0bc633_2_3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"这就是今天最核心的一句话——专业知识 × Claude = 可运行 AI 产品。不是知识 + AI，是乘法，是你的专业让 AI 变得有价值。没有你的专业知识，AI 只是通用工具。"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可以停顿让这句话沉淀。"今天我们演示两个案例，一个是炒股，一个是知识服务网站。"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51a0bc633_2_34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0" name="Google Shape;450;g3f51a0bc633_2_34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f51a0bc633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9" name="Google Shape;509;g3f51a0bc633_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f51a0bc633_2_5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g3f51a0bc633_2_54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f51a0bc633_2_6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g3f51a0bc633_2_60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f51a0bc633_2_6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g3f51a0bc633_2_69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g3f51b9eb80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7" name="Google Shape;817;g3f51b9eb801_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3f51b9eb801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g3f51b9eb801_1_3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g3f51a0bc633_2_8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g3f51a0bc633_2_82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f51a0bc633_2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9" name="Google Shape;929;g3f51a0bc633_2_86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g3f51a0bc633_2_89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9" name="Google Shape;959;g3f51a0bc633_2_89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"所有今天提到的工具和链接我都整理在这里。Claude Code 在 claude.ai/code，文档在 docs.anthropic.com，报名平台是 elitecoach101.com，课程资料是 learn.austinxyz.ai。"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可以简单过一遍，不需要逐一点击。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g3f51a0bc633_2_9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8" name="Google Shape;998;g3f51a0bc633_2_9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结语：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"好，今晚就到这里。记住这个公式——专业知识 × Claude = 可运行 AI 产品。你有多年的积累，Claude 给你一个放大器。希望 S3 和 S4 里再见，谢谢大家。"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等直播间留言结束后退出直播。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1" name="Google Shape;131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4" name="Google Shape;134;p2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5" name="Google Shape;135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8" name="Google Shape;138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1" name="Google Shape;141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2" name="Google Shape;142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5" name="Google Shape;145;p3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0" name="Google Shape;150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3" name="Google Shape;153;p3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8" name="Google Shape;15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9" name="Google Shape;15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0" name="Google Shape;16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63" name="Google Shape;16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6" name="Google Shape;16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7" name="Google Shape;16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5" name="Google Shape;175;p37"/>
          <p:cNvGrpSpPr/>
          <p:nvPr/>
        </p:nvGrpSpPr>
        <p:grpSpPr>
          <a:xfrm>
            <a:off x="553641" y="553641"/>
            <a:ext cx="892969" cy="1464469"/>
            <a:chOff x="738188" y="738188"/>
            <a:chExt cx="1190625" cy="1952625"/>
          </a:xfrm>
        </p:grpSpPr>
        <p:sp>
          <p:nvSpPr>
            <p:cNvPr id="176" name="Google Shape;176;p37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37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37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37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37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37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37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37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37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7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7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37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37"/>
            <p:cNvSpPr/>
            <p:nvPr/>
          </p:nvSpPr>
          <p:spPr>
            <a:xfrm>
              <a:off x="738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37"/>
            <p:cNvSpPr/>
            <p:nvPr/>
          </p:nvSpPr>
          <p:spPr>
            <a:xfrm>
              <a:off x="1119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37"/>
            <p:cNvSpPr/>
            <p:nvPr/>
          </p:nvSpPr>
          <p:spPr>
            <a:xfrm>
              <a:off x="1500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37"/>
            <p:cNvSpPr/>
            <p:nvPr/>
          </p:nvSpPr>
          <p:spPr>
            <a:xfrm>
              <a:off x="1881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37"/>
            <p:cNvSpPr/>
            <p:nvPr/>
          </p:nvSpPr>
          <p:spPr>
            <a:xfrm>
              <a:off x="738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37"/>
            <p:cNvSpPr/>
            <p:nvPr/>
          </p:nvSpPr>
          <p:spPr>
            <a:xfrm>
              <a:off x="1119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37"/>
            <p:cNvSpPr/>
            <p:nvPr/>
          </p:nvSpPr>
          <p:spPr>
            <a:xfrm>
              <a:off x="1500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37"/>
            <p:cNvSpPr/>
            <p:nvPr/>
          </p:nvSpPr>
          <p:spPr>
            <a:xfrm>
              <a:off x="1881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37"/>
            <p:cNvSpPr/>
            <p:nvPr/>
          </p:nvSpPr>
          <p:spPr>
            <a:xfrm>
              <a:off x="738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37"/>
            <p:cNvSpPr/>
            <p:nvPr/>
          </p:nvSpPr>
          <p:spPr>
            <a:xfrm>
              <a:off x="1119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37"/>
            <p:cNvSpPr/>
            <p:nvPr/>
          </p:nvSpPr>
          <p:spPr>
            <a:xfrm>
              <a:off x="1500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37"/>
            <p:cNvSpPr/>
            <p:nvPr/>
          </p:nvSpPr>
          <p:spPr>
            <a:xfrm>
              <a:off x="1881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" name="Google Shape;200;p37"/>
          <p:cNvGrpSpPr/>
          <p:nvPr/>
        </p:nvGrpSpPr>
        <p:grpSpPr>
          <a:xfrm>
            <a:off x="7697391" y="3411141"/>
            <a:ext cx="892969" cy="1178719"/>
            <a:chOff x="10263188" y="4548188"/>
            <a:chExt cx="1190625" cy="1571625"/>
          </a:xfrm>
        </p:grpSpPr>
        <p:sp>
          <p:nvSpPr>
            <p:cNvPr id="201" name="Google Shape;201;p37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37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37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37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37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37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37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37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37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37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37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37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37"/>
            <p:cNvSpPr/>
            <p:nvPr/>
          </p:nvSpPr>
          <p:spPr>
            <a:xfrm>
              <a:off x="10263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37"/>
            <p:cNvSpPr/>
            <p:nvPr/>
          </p:nvSpPr>
          <p:spPr>
            <a:xfrm>
              <a:off x="10644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37"/>
            <p:cNvSpPr/>
            <p:nvPr/>
          </p:nvSpPr>
          <p:spPr>
            <a:xfrm>
              <a:off x="11025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37"/>
            <p:cNvSpPr/>
            <p:nvPr/>
          </p:nvSpPr>
          <p:spPr>
            <a:xfrm>
              <a:off x="11406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37"/>
            <p:cNvSpPr/>
            <p:nvPr/>
          </p:nvSpPr>
          <p:spPr>
            <a:xfrm>
              <a:off x="10263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37"/>
            <p:cNvSpPr/>
            <p:nvPr/>
          </p:nvSpPr>
          <p:spPr>
            <a:xfrm>
              <a:off x="10644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37"/>
            <p:cNvSpPr/>
            <p:nvPr/>
          </p:nvSpPr>
          <p:spPr>
            <a:xfrm>
              <a:off x="11025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37"/>
            <p:cNvSpPr/>
            <p:nvPr/>
          </p:nvSpPr>
          <p:spPr>
            <a:xfrm>
              <a:off x="11406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1" name="Google Shape;221;p37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7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3370993" y="531495"/>
            <a:ext cx="2402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 · Claude Code + AI 炒股 公开课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1829825" y="1410175"/>
            <a:ext cx="63168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lang="en" sz="4300">
                <a:solidFill>
                  <a:srgbClr val="1C1917"/>
                </a:solidFill>
              </a:rPr>
              <a:t>炒股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 </a:t>
            </a:r>
            <a:r>
              <a:rPr b="1" i="0" lang="en" sz="43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1311775" y="2081700"/>
            <a:ext cx="69903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可运行 </a:t>
            </a: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4300">
                <a:solidFill>
                  <a:srgbClr val="1C1917"/>
                </a:solidFill>
              </a:rPr>
              <a:t>股票分析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37"/>
          <p:cNvSpPr/>
          <p:nvPr/>
        </p:nvSpPr>
        <p:spPr>
          <a:xfrm>
            <a:off x="2428875" y="2671763"/>
            <a:ext cx="4286250" cy="28575"/>
          </a:xfrm>
          <a:prstGeom prst="roundRect">
            <a:avLst>
              <a:gd fmla="val 50000" name="adj"/>
            </a:avLst>
          </a:prstGeom>
          <a:solidFill>
            <a:srgbClr val="EA580C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7"/>
          <p:cNvSpPr/>
          <p:nvPr/>
        </p:nvSpPr>
        <p:spPr>
          <a:xfrm>
            <a:off x="2857500" y="3343275"/>
            <a:ext cx="3429000" cy="7144"/>
          </a:xfrm>
          <a:custGeom>
            <a:rect b="b" l="l" r="r" t="t"/>
            <a:pathLst>
              <a:path extrusionOk="0" h="9525" w="4572000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7"/>
          <p:cNvSpPr/>
          <p:nvPr/>
        </p:nvSpPr>
        <p:spPr>
          <a:xfrm>
            <a:off x="2814638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3068663" y="3545086"/>
            <a:ext cx="920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7"/>
          <p:cNvSpPr/>
          <p:nvPr/>
        </p:nvSpPr>
        <p:spPr>
          <a:xfrm>
            <a:off x="4900613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5099646" y="3545086"/>
            <a:ext cx="10306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 炒股 · Skill 实战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3522877" y="4025861"/>
            <a:ext cx="2098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Austin Xu · 硅谷 500 强工程经理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3" name="Google Shape;233;p37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234" name="Google Shape;234;p37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37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37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7" name="Google Shape;237;p37"/>
          <p:cNvSpPr txBox="1"/>
          <p:nvPr/>
        </p:nvSpPr>
        <p:spPr>
          <a:xfrm>
            <a:off x="8431875" y="4921687"/>
            <a:ext cx="2642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8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8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8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8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8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381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0" name="Google Shape;250;p38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842503" y="2866363"/>
            <a:ext cx="16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8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12700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8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8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8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8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8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8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8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8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8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8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8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8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8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8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8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8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8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8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8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8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8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8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8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8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9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9"/>
          <p:cNvSpPr txBox="1"/>
          <p:nvPr/>
        </p:nvSpPr>
        <p:spPr>
          <a:xfrm>
            <a:off x="3969068" y="53149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今晚直播的收获预览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9"/>
          <p:cNvSpPr txBox="1"/>
          <p:nvPr/>
        </p:nvSpPr>
        <p:spPr>
          <a:xfrm>
            <a:off x="2911667" y="802243"/>
            <a:ext cx="3320665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今晚你会带走什么？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9"/>
          <p:cNvSpPr/>
          <p:nvPr/>
        </p:nvSpPr>
        <p:spPr>
          <a:xfrm>
            <a:off x="628650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9"/>
          <p:cNvSpPr/>
          <p:nvPr/>
        </p:nvSpPr>
        <p:spPr>
          <a:xfrm>
            <a:off x="628650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9"/>
          <p:cNvSpPr/>
          <p:nvPr/>
        </p:nvSpPr>
        <p:spPr>
          <a:xfrm>
            <a:off x="1435894" y="170021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9"/>
          <p:cNvSpPr/>
          <p:nvPr/>
        </p:nvSpPr>
        <p:spPr>
          <a:xfrm>
            <a:off x="1616867" y="1872654"/>
            <a:ext cx="401134" cy="402698"/>
          </a:xfrm>
          <a:custGeom>
            <a:rect b="b" l="l" r="r" t="t"/>
            <a:pathLst>
              <a:path extrusionOk="0" h="536931" w="534845">
                <a:moveTo>
                  <a:pt x="381003" y="45414"/>
                </a:moveTo>
                <a:cubicBezTo>
                  <a:pt x="487754" y="107046"/>
                  <a:pt x="534845" y="236428"/>
                  <a:pt x="492684" y="352259"/>
                </a:cubicBezTo>
                <a:cubicBezTo>
                  <a:pt x="450524" y="468090"/>
                  <a:pt x="331285" y="536931"/>
                  <a:pt x="209892" y="515525"/>
                </a:cubicBezTo>
                <a:cubicBezTo>
                  <a:pt x="88500" y="494118"/>
                  <a:pt x="0" y="388643"/>
                  <a:pt x="3" y="265378"/>
                </a:cubicBezTo>
                <a:lnTo>
                  <a:pt x="130" y="257148"/>
                </a:lnTo>
                <a:cubicBezTo>
                  <a:pt x="3024" y="167917"/>
                  <a:pt x="52551" y="86757"/>
                  <a:pt x="130582" y="43379"/>
                </a:cubicBezTo>
                <a:cubicBezTo>
                  <a:pt x="208612" y="0"/>
                  <a:pt x="303688" y="773"/>
                  <a:pt x="381003" y="45414"/>
                </a:cubicBezTo>
                <a:moveTo>
                  <a:pt x="221161" y="196620"/>
                </a:moveTo>
                <a:cubicBezTo>
                  <a:pt x="211242" y="186704"/>
                  <a:pt x="195164" y="186704"/>
                  <a:pt x="185245" y="196620"/>
                </a:cubicBezTo>
                <a:lnTo>
                  <a:pt x="134445" y="247420"/>
                </a:lnTo>
                <a:cubicBezTo>
                  <a:pt x="124530" y="257339"/>
                  <a:pt x="124530" y="273417"/>
                  <a:pt x="134445" y="283335"/>
                </a:cubicBezTo>
                <a:lnTo>
                  <a:pt x="185245" y="334135"/>
                </a:lnTo>
                <a:cubicBezTo>
                  <a:pt x="195164" y="344051"/>
                  <a:pt x="211242" y="344051"/>
                  <a:pt x="221161" y="334135"/>
                </a:cubicBezTo>
                <a:lnTo>
                  <a:pt x="223269" y="331748"/>
                </a:lnTo>
                <a:cubicBezTo>
                  <a:pt x="231113" y="321636"/>
                  <a:pt x="230209" y="307269"/>
                  <a:pt x="221161" y="298220"/>
                </a:cubicBezTo>
                <a:lnTo>
                  <a:pt x="188344" y="265378"/>
                </a:lnTo>
                <a:lnTo>
                  <a:pt x="221161" y="232535"/>
                </a:lnTo>
                <a:cubicBezTo>
                  <a:pt x="231077" y="222617"/>
                  <a:pt x="231077" y="206539"/>
                  <a:pt x="221161" y="196620"/>
                </a:cubicBezTo>
                <a:moveTo>
                  <a:pt x="322761" y="196620"/>
                </a:moveTo>
                <a:cubicBezTo>
                  <a:pt x="312842" y="186704"/>
                  <a:pt x="296764" y="186704"/>
                  <a:pt x="286845" y="196620"/>
                </a:cubicBezTo>
                <a:lnTo>
                  <a:pt x="284737" y="199007"/>
                </a:lnTo>
                <a:cubicBezTo>
                  <a:pt x="276894" y="209119"/>
                  <a:pt x="277797" y="223486"/>
                  <a:pt x="286845" y="232535"/>
                </a:cubicBezTo>
                <a:lnTo>
                  <a:pt x="319662" y="265378"/>
                </a:lnTo>
                <a:lnTo>
                  <a:pt x="286845" y="298220"/>
                </a:lnTo>
                <a:cubicBezTo>
                  <a:pt x="277219" y="308186"/>
                  <a:pt x="277357" y="324028"/>
                  <a:pt x="287155" y="333826"/>
                </a:cubicBezTo>
                <a:cubicBezTo>
                  <a:pt x="296952" y="343624"/>
                  <a:pt x="312795" y="343761"/>
                  <a:pt x="322761" y="334135"/>
                </a:cubicBezTo>
                <a:lnTo>
                  <a:pt x="373561" y="283335"/>
                </a:lnTo>
                <a:cubicBezTo>
                  <a:pt x="383477" y="273417"/>
                  <a:pt x="383477" y="257339"/>
                  <a:pt x="373561" y="24742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9"/>
          <p:cNvSpPr txBox="1"/>
          <p:nvPr/>
        </p:nvSpPr>
        <p:spPr>
          <a:xfrm>
            <a:off x="1046791" y="2566749"/>
            <a:ext cx="152115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9"/>
          <p:cNvSpPr txBox="1"/>
          <p:nvPr/>
        </p:nvSpPr>
        <p:spPr>
          <a:xfrm>
            <a:off x="1269846" y="2823567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它是什么·能做什么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9"/>
          <p:cNvSpPr txBox="1"/>
          <p:nvPr/>
        </p:nvSpPr>
        <p:spPr>
          <a:xfrm>
            <a:off x="1214393" y="2995017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和别的 AI 有什么不同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9"/>
          <p:cNvSpPr/>
          <p:nvPr/>
        </p:nvSpPr>
        <p:spPr>
          <a:xfrm>
            <a:off x="1092994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9"/>
          <p:cNvSpPr txBox="1"/>
          <p:nvPr/>
        </p:nvSpPr>
        <p:spPr>
          <a:xfrm>
            <a:off x="1495307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今晚的基础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9"/>
          <p:cNvSpPr/>
          <p:nvPr/>
        </p:nvSpPr>
        <p:spPr>
          <a:xfrm>
            <a:off x="3393281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9"/>
          <p:cNvSpPr/>
          <p:nvPr/>
        </p:nvSpPr>
        <p:spPr>
          <a:xfrm>
            <a:off x="3393281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9"/>
          <p:cNvSpPr/>
          <p:nvPr/>
        </p:nvSpPr>
        <p:spPr>
          <a:xfrm>
            <a:off x="4200525" y="170021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9" name="Google Shape;299;p39"/>
          <p:cNvGrpSpPr/>
          <p:nvPr/>
        </p:nvGrpSpPr>
        <p:grpSpPr>
          <a:xfrm>
            <a:off x="4400550" y="1900238"/>
            <a:ext cx="342900" cy="342900"/>
            <a:chOff x="5867400" y="2533650"/>
            <a:chExt cx="457200" cy="457200"/>
          </a:xfrm>
        </p:grpSpPr>
        <p:sp>
          <p:nvSpPr>
            <p:cNvPr id="300" name="Google Shape;300;p39"/>
            <p:cNvSpPr/>
            <p:nvPr/>
          </p:nvSpPr>
          <p:spPr>
            <a:xfrm>
              <a:off x="5867400" y="2533650"/>
              <a:ext cx="203200" cy="457200"/>
            </a:xfrm>
            <a:custGeom>
              <a:rect b="b" l="l" r="r" t="t"/>
              <a:pathLst>
                <a:path extrusionOk="0" h="4572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381000"/>
                  </a:lnTo>
                  <a:cubicBezTo>
                    <a:pt x="203200" y="423084"/>
                    <a:pt x="169084" y="457200"/>
                    <a:pt x="12700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39"/>
            <p:cNvSpPr/>
            <p:nvPr/>
          </p:nvSpPr>
          <p:spPr>
            <a:xfrm>
              <a:off x="6121400" y="2533650"/>
              <a:ext cx="203200" cy="304800"/>
            </a:xfrm>
            <a:custGeom>
              <a:rect b="b" l="l" r="r" t="t"/>
              <a:pathLst>
                <a:path extrusionOk="0" h="3048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228600"/>
                  </a:lnTo>
                  <a:cubicBezTo>
                    <a:pt x="203200" y="270684"/>
                    <a:pt x="169084" y="304800"/>
                    <a:pt x="127000" y="304800"/>
                  </a:cubicBezTo>
                  <a:lnTo>
                    <a:pt x="76200" y="304800"/>
                  </a:lnTo>
                  <a:cubicBezTo>
                    <a:pt x="34116" y="304800"/>
                    <a:pt x="0" y="270684"/>
                    <a:pt x="0" y="2286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2" name="Google Shape;302;p39"/>
          <p:cNvSpPr txBox="1"/>
          <p:nvPr/>
        </p:nvSpPr>
        <p:spPr>
          <a:xfrm>
            <a:off x="3730768" y="2566749"/>
            <a:ext cx="168246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AI 炒股 Skill 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9"/>
          <p:cNvSpPr txBox="1"/>
          <p:nvPr/>
        </p:nvSpPr>
        <p:spPr>
          <a:xfrm>
            <a:off x="3926651" y="282356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方法论怎么变成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9"/>
          <p:cNvSpPr txBox="1"/>
          <p:nvPr/>
        </p:nvSpPr>
        <p:spPr>
          <a:xfrm>
            <a:off x="4068366" y="299501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从扫股到分析全自动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9"/>
          <p:cNvSpPr/>
          <p:nvPr/>
        </p:nvSpPr>
        <p:spPr>
          <a:xfrm>
            <a:off x="3857625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9"/>
          <p:cNvSpPr txBox="1"/>
          <p:nvPr/>
        </p:nvSpPr>
        <p:spPr>
          <a:xfrm>
            <a:off x="4259938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今晚的主角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9"/>
          <p:cNvSpPr/>
          <p:nvPr/>
        </p:nvSpPr>
        <p:spPr>
          <a:xfrm>
            <a:off x="6157913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9"/>
          <p:cNvSpPr/>
          <p:nvPr/>
        </p:nvSpPr>
        <p:spPr>
          <a:xfrm>
            <a:off x="6157913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9"/>
          <p:cNvSpPr/>
          <p:nvPr/>
        </p:nvSpPr>
        <p:spPr>
          <a:xfrm>
            <a:off x="6965156" y="170021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9"/>
          <p:cNvSpPr/>
          <p:nvPr/>
        </p:nvSpPr>
        <p:spPr>
          <a:xfrm>
            <a:off x="7146131" y="1880616"/>
            <a:ext cx="381000" cy="381572"/>
          </a:xfrm>
          <a:custGeom>
            <a:rect b="b" l="l" r="r" t="t"/>
            <a:pathLst>
              <a:path extrusionOk="0" h="508762" w="508000">
                <a:moveTo>
                  <a:pt x="228600" y="305562"/>
                </a:moveTo>
                <a:lnTo>
                  <a:pt x="228600" y="508762"/>
                </a:lnTo>
                <a:lnTo>
                  <a:pt x="127000" y="508762"/>
                </a:lnTo>
                <a:cubicBezTo>
                  <a:pt x="84916" y="508762"/>
                  <a:pt x="50800" y="474646"/>
                  <a:pt x="50800" y="432562"/>
                </a:cubicBezTo>
                <a:lnTo>
                  <a:pt x="50800" y="330962"/>
                </a:lnTo>
                <a:cubicBezTo>
                  <a:pt x="50800" y="316934"/>
                  <a:pt x="62172" y="305562"/>
                  <a:pt x="76200" y="305562"/>
                </a:cubicBezTo>
                <a:lnTo>
                  <a:pt x="228600" y="305562"/>
                </a:lnTo>
                <a:close/>
                <a:moveTo>
                  <a:pt x="431800" y="305562"/>
                </a:moveTo>
                <a:cubicBezTo>
                  <a:pt x="445828" y="305562"/>
                  <a:pt x="457200" y="316934"/>
                  <a:pt x="457200" y="330962"/>
                </a:cubicBezTo>
                <a:lnTo>
                  <a:pt x="457200" y="432562"/>
                </a:lnTo>
                <a:cubicBezTo>
                  <a:pt x="457200" y="474646"/>
                  <a:pt x="423084" y="508762"/>
                  <a:pt x="381000" y="508762"/>
                </a:cubicBezTo>
                <a:lnTo>
                  <a:pt x="279400" y="508762"/>
                </a:lnTo>
                <a:lnTo>
                  <a:pt x="279400" y="305562"/>
                </a:lnTo>
                <a:lnTo>
                  <a:pt x="431800" y="305562"/>
                </a:lnTo>
                <a:close/>
                <a:moveTo>
                  <a:pt x="368300" y="762"/>
                </a:moveTo>
                <a:cubicBezTo>
                  <a:pt x="398786" y="756"/>
                  <a:pt x="427149" y="16371"/>
                  <a:pt x="443448" y="42135"/>
                </a:cubicBezTo>
                <a:cubicBezTo>
                  <a:pt x="459746" y="67899"/>
                  <a:pt x="461706" y="100217"/>
                  <a:pt x="448640" y="127762"/>
                </a:cubicBezTo>
                <a:lnTo>
                  <a:pt x="457200" y="127762"/>
                </a:lnTo>
                <a:cubicBezTo>
                  <a:pt x="485256" y="127762"/>
                  <a:pt x="508000" y="150506"/>
                  <a:pt x="508000" y="178562"/>
                </a:cubicBezTo>
                <a:lnTo>
                  <a:pt x="508000" y="203962"/>
                </a:lnTo>
                <a:cubicBezTo>
                  <a:pt x="508000" y="232018"/>
                  <a:pt x="485256" y="254762"/>
                  <a:pt x="457200" y="254762"/>
                </a:cubicBezTo>
                <a:lnTo>
                  <a:pt x="279400" y="254762"/>
                </a:lnTo>
                <a:lnTo>
                  <a:pt x="279400" y="127762"/>
                </a:lnTo>
                <a:lnTo>
                  <a:pt x="228600" y="127762"/>
                </a:lnTo>
                <a:lnTo>
                  <a:pt x="228600" y="254762"/>
                </a:lnTo>
                <a:lnTo>
                  <a:pt x="50800" y="254762"/>
                </a:lnTo>
                <a:cubicBezTo>
                  <a:pt x="22744" y="254762"/>
                  <a:pt x="0" y="232018"/>
                  <a:pt x="0" y="203962"/>
                </a:cubicBezTo>
                <a:lnTo>
                  <a:pt x="0" y="178562"/>
                </a:lnTo>
                <a:cubicBezTo>
                  <a:pt x="0" y="150506"/>
                  <a:pt x="22744" y="127762"/>
                  <a:pt x="50800" y="127762"/>
                </a:cubicBezTo>
                <a:lnTo>
                  <a:pt x="59360" y="127762"/>
                </a:lnTo>
                <a:cubicBezTo>
                  <a:pt x="53707" y="115857"/>
                  <a:pt x="50782" y="102841"/>
                  <a:pt x="50800" y="89662"/>
                </a:cubicBezTo>
                <a:cubicBezTo>
                  <a:pt x="50800" y="40564"/>
                  <a:pt x="90602" y="762"/>
                  <a:pt x="139268" y="762"/>
                </a:cubicBezTo>
                <a:cubicBezTo>
                  <a:pt x="183845" y="0"/>
                  <a:pt x="223393" y="28499"/>
                  <a:pt x="250546" y="75286"/>
                </a:cubicBezTo>
                <a:lnTo>
                  <a:pt x="254000" y="81458"/>
                </a:lnTo>
                <a:cubicBezTo>
                  <a:pt x="280238" y="32842"/>
                  <a:pt x="319024" y="2362"/>
                  <a:pt x="362991" y="813"/>
                </a:cubicBezTo>
                <a:lnTo>
                  <a:pt x="368300" y="762"/>
                </a:lnTo>
                <a:close/>
                <a:moveTo>
                  <a:pt x="139700" y="51562"/>
                </a:moveTo>
                <a:cubicBezTo>
                  <a:pt x="118658" y="51562"/>
                  <a:pt x="101600" y="68620"/>
                  <a:pt x="101600" y="89662"/>
                </a:cubicBezTo>
                <a:cubicBezTo>
                  <a:pt x="101600" y="110704"/>
                  <a:pt x="118658" y="127762"/>
                  <a:pt x="139700" y="127762"/>
                </a:cubicBezTo>
                <a:lnTo>
                  <a:pt x="219532" y="127762"/>
                </a:lnTo>
                <a:cubicBezTo>
                  <a:pt x="200711" y="79375"/>
                  <a:pt x="170028" y="51054"/>
                  <a:pt x="139700" y="51562"/>
                </a:cubicBezTo>
                <a:close/>
                <a:moveTo>
                  <a:pt x="367868" y="51562"/>
                </a:moveTo>
                <a:cubicBezTo>
                  <a:pt x="337896" y="51054"/>
                  <a:pt x="307289" y="79400"/>
                  <a:pt x="288468" y="127762"/>
                </a:cubicBezTo>
                <a:lnTo>
                  <a:pt x="368300" y="127762"/>
                </a:lnTo>
                <a:cubicBezTo>
                  <a:pt x="389342" y="127643"/>
                  <a:pt x="406303" y="110488"/>
                  <a:pt x="406184" y="89446"/>
                </a:cubicBezTo>
                <a:cubicBezTo>
                  <a:pt x="406065" y="68404"/>
                  <a:pt x="388910" y="51443"/>
                  <a:pt x="367868" y="51562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/>
          <p:nvPr/>
        </p:nvSpPr>
        <p:spPr>
          <a:xfrm>
            <a:off x="6751594" y="2566749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免费带走干货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9"/>
          <p:cNvSpPr txBox="1"/>
          <p:nvPr/>
        </p:nvSpPr>
        <p:spPr>
          <a:xfrm>
            <a:off x="6495500" y="2845114"/>
            <a:ext cx="168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SEPA 炒股方法论精华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9"/>
          <p:cNvSpPr txBox="1"/>
          <p:nvPr/>
        </p:nvSpPr>
        <p:spPr>
          <a:xfrm>
            <a:off x="6832997" y="2995017"/>
            <a:ext cx="100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现场演示录像回放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9"/>
          <p:cNvSpPr/>
          <p:nvPr/>
        </p:nvSpPr>
        <p:spPr>
          <a:xfrm>
            <a:off x="6622256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9"/>
          <p:cNvSpPr txBox="1"/>
          <p:nvPr/>
        </p:nvSpPr>
        <p:spPr>
          <a:xfrm>
            <a:off x="7103066" y="3428643"/>
            <a:ext cx="46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免费下载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9"/>
          <p:cNvSpPr txBox="1"/>
          <p:nvPr/>
        </p:nvSpPr>
        <p:spPr>
          <a:xfrm>
            <a:off x="2814208" y="3976926"/>
            <a:ext cx="35155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开始之前 — 先说说你现在遇到最大的 AI 问题是什么？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3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0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0"/>
          <p:cNvSpPr txBox="1"/>
          <p:nvPr/>
        </p:nvSpPr>
        <p:spPr>
          <a:xfrm>
            <a:off x="560070" y="195739"/>
            <a:ext cx="346736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你是不是也有这种感觉？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0"/>
          <p:cNvSpPr txBox="1"/>
          <p:nvPr/>
        </p:nvSpPr>
        <p:spPr>
          <a:xfrm>
            <a:off x="574358" y="488633"/>
            <a:ext cx="20273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很多人用 AI，但总觉得"差点意思"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0"/>
          <p:cNvSpPr/>
          <p:nvPr/>
        </p:nvSpPr>
        <p:spPr>
          <a:xfrm>
            <a:off x="457200" y="857250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40"/>
          <p:cNvSpPr/>
          <p:nvPr/>
        </p:nvSpPr>
        <p:spPr>
          <a:xfrm>
            <a:off x="457200" y="857250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0"/>
          <p:cNvSpPr txBox="1"/>
          <p:nvPr/>
        </p:nvSpPr>
        <p:spPr>
          <a:xfrm>
            <a:off x="7964574" y="1134428"/>
            <a:ext cx="63078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0"/>
          <p:cNvSpPr/>
          <p:nvPr/>
        </p:nvSpPr>
        <p:spPr>
          <a:xfrm>
            <a:off x="636314" y="1015037"/>
            <a:ext cx="198880" cy="172575"/>
          </a:xfrm>
          <a:custGeom>
            <a:rect b="b" l="l" r="r" t="t"/>
            <a:pathLst>
              <a:path extrusionOk="0" h="230100" w="265173">
                <a:moveTo>
                  <a:pt x="132656" y="0"/>
                </a:moveTo>
                <a:cubicBezTo>
                  <a:pt x="144026" y="0"/>
                  <a:pt x="154623" y="5560"/>
                  <a:pt x="161112" y="14847"/>
                </a:cubicBezTo>
                <a:lnTo>
                  <a:pt x="162362" y="16752"/>
                </a:lnTo>
                <a:lnTo>
                  <a:pt x="258969" y="178058"/>
                </a:lnTo>
                <a:cubicBezTo>
                  <a:pt x="264937" y="188394"/>
                  <a:pt x="265173" y="201073"/>
                  <a:pt x="259594" y="211624"/>
                </a:cubicBezTo>
                <a:cubicBezTo>
                  <a:pt x="254015" y="222175"/>
                  <a:pt x="243404" y="229118"/>
                  <a:pt x="231502" y="230005"/>
                </a:cubicBezTo>
                <a:lnTo>
                  <a:pt x="229180" y="230100"/>
                </a:lnTo>
                <a:lnTo>
                  <a:pt x="36001" y="230100"/>
                </a:lnTo>
                <a:cubicBezTo>
                  <a:pt x="24087" y="229966"/>
                  <a:pt x="13075" y="223728"/>
                  <a:pt x="6835" y="213578"/>
                </a:cubicBezTo>
                <a:cubicBezTo>
                  <a:pt x="595" y="203427"/>
                  <a:pt x="0" y="190785"/>
                  <a:pt x="5259" y="180094"/>
                </a:cubicBezTo>
                <a:lnTo>
                  <a:pt x="6438" y="177891"/>
                </a:lnTo>
                <a:lnTo>
                  <a:pt x="102997" y="16704"/>
                </a:lnTo>
                <a:cubicBezTo>
                  <a:pt x="109285" y="6336"/>
                  <a:pt x="120530" y="3"/>
                  <a:pt x="132656" y="0"/>
                </a:cubicBezTo>
                <a:close/>
                <a:moveTo>
                  <a:pt x="132775" y="158710"/>
                </a:moveTo>
                <a:lnTo>
                  <a:pt x="131263" y="158794"/>
                </a:lnTo>
                <a:cubicBezTo>
                  <a:pt x="125273" y="159506"/>
                  <a:pt x="120763" y="164585"/>
                  <a:pt x="120763" y="170617"/>
                </a:cubicBezTo>
                <a:cubicBezTo>
                  <a:pt x="120763" y="176648"/>
                  <a:pt x="125273" y="181727"/>
                  <a:pt x="131263" y="182439"/>
                </a:cubicBezTo>
                <a:lnTo>
                  <a:pt x="132656" y="182523"/>
                </a:lnTo>
                <a:lnTo>
                  <a:pt x="134168" y="182439"/>
                </a:lnTo>
                <a:cubicBezTo>
                  <a:pt x="140157" y="181727"/>
                  <a:pt x="144668" y="176648"/>
                  <a:pt x="144668" y="170617"/>
                </a:cubicBezTo>
                <a:cubicBezTo>
                  <a:pt x="144668" y="164585"/>
                  <a:pt x="140157" y="159506"/>
                  <a:pt x="134168" y="158794"/>
                </a:cubicBezTo>
                <a:lnTo>
                  <a:pt x="132775" y="158710"/>
                </a:lnTo>
                <a:close/>
                <a:moveTo>
                  <a:pt x="132656" y="75367"/>
                </a:moveTo>
                <a:cubicBezTo>
                  <a:pt x="126620" y="75367"/>
                  <a:pt x="121539" y="79885"/>
                  <a:pt x="120833" y="85880"/>
                </a:cubicBezTo>
                <a:lnTo>
                  <a:pt x="120750" y="87273"/>
                </a:lnTo>
                <a:lnTo>
                  <a:pt x="120750" y="134898"/>
                </a:lnTo>
                <a:lnTo>
                  <a:pt x="120833" y="136291"/>
                </a:lnTo>
                <a:cubicBezTo>
                  <a:pt x="121545" y="142280"/>
                  <a:pt x="126624" y="146791"/>
                  <a:pt x="132656" y="146791"/>
                </a:cubicBezTo>
                <a:cubicBezTo>
                  <a:pt x="138688" y="146791"/>
                  <a:pt x="143766" y="142280"/>
                  <a:pt x="144479" y="136291"/>
                </a:cubicBezTo>
                <a:lnTo>
                  <a:pt x="144562" y="134898"/>
                </a:lnTo>
                <a:lnTo>
                  <a:pt x="144562" y="87273"/>
                </a:lnTo>
                <a:lnTo>
                  <a:pt x="144479" y="85880"/>
                </a:lnTo>
                <a:cubicBezTo>
                  <a:pt x="143773" y="79885"/>
                  <a:pt x="138692" y="75367"/>
                  <a:pt x="132656" y="75367"/>
                </a:cubicBezTo>
                <a:close/>
              </a:path>
            </a:pathLst>
          </a:cu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0"/>
          <p:cNvSpPr txBox="1"/>
          <p:nvPr/>
        </p:nvSpPr>
        <p:spPr>
          <a:xfrm>
            <a:off x="914400" y="1035844"/>
            <a:ext cx="298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给的是通用答案，不是你领域的答案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0"/>
          <p:cNvSpPr txBox="1"/>
          <p:nvPr/>
        </p:nvSpPr>
        <p:spPr>
          <a:xfrm>
            <a:off x="617934" y="1280517"/>
            <a:ext cx="448850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问 AI "怎么炒股"，给的是教科书答案 · 问 AI "帮我写营销文案"，写出来像机器人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40"/>
          <p:cNvSpPr txBox="1"/>
          <p:nvPr/>
        </p:nvSpPr>
        <p:spPr>
          <a:xfrm>
            <a:off x="617934" y="1466255"/>
            <a:ext cx="23812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根本原因：AI 没有你的专业知识和行业经验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40"/>
          <p:cNvSpPr/>
          <p:nvPr/>
        </p:nvSpPr>
        <p:spPr>
          <a:xfrm>
            <a:off x="457200" y="1900238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40"/>
          <p:cNvSpPr/>
          <p:nvPr/>
        </p:nvSpPr>
        <p:spPr>
          <a:xfrm>
            <a:off x="457200" y="1900238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40"/>
          <p:cNvSpPr txBox="1"/>
          <p:nvPr/>
        </p:nvSpPr>
        <p:spPr>
          <a:xfrm>
            <a:off x="7809305" y="2177415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0"/>
          <p:cNvSpPr/>
          <p:nvPr/>
        </p:nvSpPr>
        <p:spPr>
          <a:xfrm>
            <a:off x="663965" y="2060972"/>
            <a:ext cx="143684" cy="181906"/>
          </a:xfrm>
          <a:custGeom>
            <a:rect b="b" l="l" r="r" t="t"/>
            <a:pathLst>
              <a:path extrusionOk="0" h="242542" w="191578">
                <a:moveTo>
                  <a:pt x="107695" y="0"/>
                </a:moveTo>
                <a:lnTo>
                  <a:pt x="107910" y="12"/>
                </a:lnTo>
                <a:lnTo>
                  <a:pt x="108100" y="24"/>
                </a:lnTo>
                <a:lnTo>
                  <a:pt x="109088" y="83"/>
                </a:lnTo>
                <a:lnTo>
                  <a:pt x="109219" y="107"/>
                </a:lnTo>
                <a:lnTo>
                  <a:pt x="109350" y="107"/>
                </a:lnTo>
                <a:lnTo>
                  <a:pt x="109803" y="214"/>
                </a:lnTo>
                <a:lnTo>
                  <a:pt x="110422" y="310"/>
                </a:lnTo>
                <a:lnTo>
                  <a:pt x="110612" y="381"/>
                </a:lnTo>
                <a:lnTo>
                  <a:pt x="110743" y="393"/>
                </a:lnTo>
                <a:lnTo>
                  <a:pt x="111089" y="524"/>
                </a:lnTo>
                <a:lnTo>
                  <a:pt x="111708" y="691"/>
                </a:lnTo>
                <a:lnTo>
                  <a:pt x="111934" y="798"/>
                </a:lnTo>
                <a:lnTo>
                  <a:pt x="112113" y="845"/>
                </a:lnTo>
                <a:lnTo>
                  <a:pt x="112446" y="1012"/>
                </a:lnTo>
                <a:lnTo>
                  <a:pt x="112922" y="1214"/>
                </a:lnTo>
                <a:lnTo>
                  <a:pt x="113172" y="1357"/>
                </a:lnTo>
                <a:lnTo>
                  <a:pt x="113434" y="1476"/>
                </a:lnTo>
                <a:lnTo>
                  <a:pt x="113708" y="1655"/>
                </a:lnTo>
                <a:lnTo>
                  <a:pt x="114077" y="1857"/>
                </a:lnTo>
                <a:lnTo>
                  <a:pt x="114482" y="2143"/>
                </a:lnTo>
                <a:lnTo>
                  <a:pt x="114696" y="2274"/>
                </a:lnTo>
                <a:lnTo>
                  <a:pt x="114851" y="2417"/>
                </a:lnTo>
                <a:lnTo>
                  <a:pt x="115137" y="2619"/>
                </a:lnTo>
                <a:lnTo>
                  <a:pt x="115589" y="3024"/>
                </a:lnTo>
                <a:lnTo>
                  <a:pt x="115851" y="3227"/>
                </a:lnTo>
                <a:lnTo>
                  <a:pt x="115946" y="3346"/>
                </a:lnTo>
                <a:lnTo>
                  <a:pt x="116113" y="3489"/>
                </a:lnTo>
                <a:lnTo>
                  <a:pt x="116542" y="3977"/>
                </a:lnTo>
                <a:lnTo>
                  <a:pt x="116851" y="4298"/>
                </a:lnTo>
                <a:lnTo>
                  <a:pt x="116923" y="4405"/>
                </a:lnTo>
                <a:cubicBezTo>
                  <a:pt x="118351" y="6156"/>
                  <a:pt x="119256" y="8239"/>
                  <a:pt x="119518" y="10513"/>
                </a:cubicBezTo>
                <a:lnTo>
                  <a:pt x="119530" y="10656"/>
                </a:lnTo>
                <a:lnTo>
                  <a:pt x="119554" y="11144"/>
                </a:lnTo>
                <a:lnTo>
                  <a:pt x="119602" y="11906"/>
                </a:lnTo>
                <a:lnTo>
                  <a:pt x="119602" y="83344"/>
                </a:lnTo>
                <a:lnTo>
                  <a:pt x="179133" y="83344"/>
                </a:lnTo>
                <a:cubicBezTo>
                  <a:pt x="183380" y="83343"/>
                  <a:pt x="187306" y="85604"/>
                  <a:pt x="189436" y="89278"/>
                </a:cubicBezTo>
                <a:cubicBezTo>
                  <a:pt x="191566" y="92952"/>
                  <a:pt x="191578" y="97482"/>
                  <a:pt x="189467" y="101167"/>
                </a:cubicBezTo>
                <a:lnTo>
                  <a:pt x="188753" y="102251"/>
                </a:lnTo>
                <a:lnTo>
                  <a:pt x="93503" y="233220"/>
                </a:lnTo>
                <a:cubicBezTo>
                  <a:pt x="86740" y="242542"/>
                  <a:pt x="71977" y="237744"/>
                  <a:pt x="71977" y="226219"/>
                </a:cubicBezTo>
                <a:lnTo>
                  <a:pt x="71977" y="154781"/>
                </a:lnTo>
                <a:lnTo>
                  <a:pt x="12445" y="154781"/>
                </a:lnTo>
                <a:cubicBezTo>
                  <a:pt x="8198" y="154782"/>
                  <a:pt x="4273" y="152521"/>
                  <a:pt x="2142" y="148847"/>
                </a:cubicBezTo>
                <a:cubicBezTo>
                  <a:pt x="12" y="145173"/>
                  <a:pt x="0" y="140643"/>
                  <a:pt x="2111" y="136958"/>
                </a:cubicBezTo>
                <a:lnTo>
                  <a:pt x="2825" y="135874"/>
                </a:lnTo>
                <a:lnTo>
                  <a:pt x="98075" y="4905"/>
                </a:lnTo>
                <a:lnTo>
                  <a:pt x="98194" y="4751"/>
                </a:lnTo>
                <a:lnTo>
                  <a:pt x="98408" y="4465"/>
                </a:lnTo>
                <a:lnTo>
                  <a:pt x="98801" y="4012"/>
                </a:lnTo>
                <a:lnTo>
                  <a:pt x="99016" y="3750"/>
                </a:lnTo>
                <a:lnTo>
                  <a:pt x="99123" y="3655"/>
                </a:lnTo>
                <a:lnTo>
                  <a:pt x="99278" y="3489"/>
                </a:lnTo>
                <a:lnTo>
                  <a:pt x="99754" y="3060"/>
                </a:lnTo>
                <a:lnTo>
                  <a:pt x="100087" y="2750"/>
                </a:lnTo>
                <a:lnTo>
                  <a:pt x="100182" y="2679"/>
                </a:lnTo>
                <a:cubicBezTo>
                  <a:pt x="101578" y="1537"/>
                  <a:pt x="103215" y="727"/>
                  <a:pt x="104969" y="310"/>
                </a:cubicBezTo>
                <a:lnTo>
                  <a:pt x="105100" y="298"/>
                </a:lnTo>
                <a:lnTo>
                  <a:pt x="105421" y="238"/>
                </a:lnTo>
                <a:lnTo>
                  <a:pt x="106302" y="83"/>
                </a:lnTo>
                <a:lnTo>
                  <a:pt x="106433" y="71"/>
                </a:lnTo>
                <a:lnTo>
                  <a:pt x="106921" y="4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0"/>
          <p:cNvSpPr txBox="1"/>
          <p:nvPr/>
        </p:nvSpPr>
        <p:spPr>
          <a:xfrm>
            <a:off x="914400" y="2078831"/>
            <a:ext cx="261639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每次都要重新解释背景，效率极低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0"/>
          <p:cNvSpPr txBox="1"/>
          <p:nvPr/>
        </p:nvSpPr>
        <p:spPr>
          <a:xfrm>
            <a:off x="617934" y="2323505"/>
            <a:ext cx="37676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每次新对话，AI 又变成"新同事" · 昨天讲过的事，今天还要再讲一遍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0"/>
          <p:cNvSpPr txBox="1"/>
          <p:nvPr/>
        </p:nvSpPr>
        <p:spPr>
          <a:xfrm>
            <a:off x="617934" y="2509242"/>
            <a:ext cx="25229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背景信息丢失 → 输出质量差 → 用完一次就放弃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0"/>
          <p:cNvSpPr/>
          <p:nvPr/>
        </p:nvSpPr>
        <p:spPr>
          <a:xfrm>
            <a:off x="457200" y="2943225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40"/>
          <p:cNvSpPr/>
          <p:nvPr/>
        </p:nvSpPr>
        <p:spPr>
          <a:xfrm>
            <a:off x="457200" y="2943225"/>
            <a:ext cx="42863" cy="928688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40"/>
          <p:cNvSpPr txBox="1"/>
          <p:nvPr/>
        </p:nvSpPr>
        <p:spPr>
          <a:xfrm>
            <a:off x="7809305" y="3220402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5" name="Google Shape;345;p40"/>
          <p:cNvGrpSpPr/>
          <p:nvPr/>
        </p:nvGrpSpPr>
        <p:grpSpPr>
          <a:xfrm>
            <a:off x="655439" y="3112889"/>
            <a:ext cx="160735" cy="160735"/>
            <a:chOff x="873919" y="4150519"/>
            <a:chExt cx="214313" cy="214313"/>
          </a:xfrm>
        </p:grpSpPr>
        <p:sp>
          <p:nvSpPr>
            <p:cNvPr id="346" name="Google Shape;346;p40"/>
            <p:cNvSpPr/>
            <p:nvPr/>
          </p:nvSpPr>
          <p:spPr>
            <a:xfrm>
              <a:off x="873919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11906" y="0"/>
                  </a:moveTo>
                  <a:cubicBezTo>
                    <a:pt x="18482" y="0"/>
                    <a:pt x="23812" y="5331"/>
                    <a:pt x="23812" y="11906"/>
                  </a:cubicBezTo>
                  <a:lnTo>
                    <a:pt x="23812" y="35719"/>
                  </a:lnTo>
                  <a:cubicBezTo>
                    <a:pt x="23812" y="42294"/>
                    <a:pt x="29143" y="47625"/>
                    <a:pt x="35719" y="47625"/>
                  </a:cubicBezTo>
                  <a:lnTo>
                    <a:pt x="59531" y="47625"/>
                  </a:lnTo>
                  <a:cubicBezTo>
                    <a:pt x="66107" y="47625"/>
                    <a:pt x="71438" y="52956"/>
                    <a:pt x="71438" y="59531"/>
                  </a:cubicBezTo>
                  <a:cubicBezTo>
                    <a:pt x="71438" y="66107"/>
                    <a:pt x="66107" y="71438"/>
                    <a:pt x="59531" y="71438"/>
                  </a:cubicBezTo>
                  <a:lnTo>
                    <a:pt x="35719" y="71438"/>
                  </a:lnTo>
                  <a:cubicBezTo>
                    <a:pt x="15992" y="71438"/>
                    <a:pt x="0" y="55446"/>
                    <a:pt x="0" y="35719"/>
                  </a:cubicBezTo>
                  <a:lnTo>
                    <a:pt x="0" y="11906"/>
                  </a:lnTo>
                  <a:cubicBezTo>
                    <a:pt x="0" y="5331"/>
                    <a:pt x="5331" y="0"/>
                    <a:pt x="11906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1016794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lnTo>
                    <a:pt x="71438" y="35719"/>
                  </a:lnTo>
                  <a:cubicBezTo>
                    <a:pt x="71438" y="55446"/>
                    <a:pt x="55446" y="71438"/>
                    <a:pt x="35719" y="71438"/>
                  </a:cubicBezTo>
                  <a:lnTo>
                    <a:pt x="11906" y="71438"/>
                  </a:lnTo>
                  <a:cubicBezTo>
                    <a:pt x="5331" y="71438"/>
                    <a:pt x="0" y="66107"/>
                    <a:pt x="0" y="59531"/>
                  </a:cubicBezTo>
                  <a:cubicBezTo>
                    <a:pt x="0" y="52956"/>
                    <a:pt x="5331" y="47625"/>
                    <a:pt x="11906" y="47625"/>
                  </a:cubicBezTo>
                  <a:lnTo>
                    <a:pt x="35719" y="47625"/>
                  </a:lnTo>
                  <a:cubicBezTo>
                    <a:pt x="42294" y="47625"/>
                    <a:pt x="47625" y="42294"/>
                    <a:pt x="47625" y="35719"/>
                  </a:cubicBezTo>
                  <a:lnTo>
                    <a:pt x="47625" y="11906"/>
                  </a:lnTo>
                  <a:cubicBezTo>
                    <a:pt x="47625" y="5331"/>
                    <a:pt x="52956" y="0"/>
                    <a:pt x="59531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40"/>
            <p:cNvSpPr/>
            <p:nvPr/>
          </p:nvSpPr>
          <p:spPr>
            <a:xfrm>
              <a:off x="921544" y="4198144"/>
              <a:ext cx="120086" cy="120086"/>
            </a:xfrm>
            <a:custGeom>
              <a:rect b="b" l="l" r="r" t="t"/>
              <a:pathLst>
                <a:path extrusionOk="0" h="120086" w="120086">
                  <a:moveTo>
                    <a:pt x="47625" y="0"/>
                  </a:moveTo>
                  <a:cubicBezTo>
                    <a:pt x="64716" y="0"/>
                    <a:pt x="80497" y="9158"/>
                    <a:pt x="88976" y="23998"/>
                  </a:cubicBezTo>
                  <a:cubicBezTo>
                    <a:pt x="97455" y="38837"/>
                    <a:pt x="97332" y="57083"/>
                    <a:pt x="88654" y="71807"/>
                  </a:cubicBezTo>
                  <a:lnTo>
                    <a:pt x="115574" y="98739"/>
                  </a:lnTo>
                  <a:cubicBezTo>
                    <a:pt x="120086" y="103410"/>
                    <a:pt x="120022" y="110836"/>
                    <a:pt x="115429" y="115429"/>
                  </a:cubicBezTo>
                  <a:cubicBezTo>
                    <a:pt x="110836" y="120022"/>
                    <a:pt x="103410" y="120086"/>
                    <a:pt x="98739" y="115574"/>
                  </a:cubicBezTo>
                  <a:lnTo>
                    <a:pt x="71807" y="88666"/>
                  </a:lnTo>
                  <a:lnTo>
                    <a:pt x="71438" y="88868"/>
                  </a:lnTo>
                  <a:cubicBezTo>
                    <a:pt x="56702" y="97376"/>
                    <a:pt x="38548" y="97376"/>
                    <a:pt x="23813" y="88869"/>
                  </a:cubicBezTo>
                  <a:cubicBezTo>
                    <a:pt x="9078" y="80361"/>
                    <a:pt x="0" y="64640"/>
                    <a:pt x="0" y="47625"/>
                  </a:cubicBezTo>
                  <a:lnTo>
                    <a:pt x="60" y="45244"/>
                  </a:lnTo>
                  <a:cubicBezTo>
                    <a:pt x="1328" y="19899"/>
                    <a:pt x="22248" y="0"/>
                    <a:pt x="47625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40"/>
            <p:cNvSpPr/>
            <p:nvPr/>
          </p:nvSpPr>
          <p:spPr>
            <a:xfrm>
              <a:off x="873919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cubicBezTo>
                    <a:pt x="71438" y="18482"/>
                    <a:pt x="66107" y="23812"/>
                    <a:pt x="59531" y="23812"/>
                  </a:cubicBezTo>
                  <a:lnTo>
                    <a:pt x="35719" y="23812"/>
                  </a:lnTo>
                  <a:cubicBezTo>
                    <a:pt x="29143" y="23812"/>
                    <a:pt x="23812" y="29143"/>
                    <a:pt x="23812" y="35719"/>
                  </a:cubicBezTo>
                  <a:lnTo>
                    <a:pt x="23812" y="59531"/>
                  </a:lnTo>
                  <a:cubicBezTo>
                    <a:pt x="23812" y="66107"/>
                    <a:pt x="18482" y="71438"/>
                    <a:pt x="11906" y="71438"/>
                  </a:cubicBezTo>
                  <a:cubicBezTo>
                    <a:pt x="5331" y="71438"/>
                    <a:pt x="0" y="66107"/>
                    <a:pt x="0" y="59531"/>
                  </a:cubicBezTo>
                  <a:lnTo>
                    <a:pt x="0" y="35719"/>
                  </a:lnTo>
                  <a:cubicBezTo>
                    <a:pt x="0" y="15992"/>
                    <a:pt x="15992" y="0"/>
                    <a:pt x="357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40"/>
            <p:cNvSpPr/>
            <p:nvPr/>
          </p:nvSpPr>
          <p:spPr>
            <a:xfrm>
              <a:off x="1016794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35719" y="0"/>
                  </a:moveTo>
                  <a:cubicBezTo>
                    <a:pt x="55446" y="0"/>
                    <a:pt x="71438" y="15992"/>
                    <a:pt x="71438" y="35719"/>
                  </a:cubicBezTo>
                  <a:lnTo>
                    <a:pt x="71438" y="59531"/>
                  </a:lnTo>
                  <a:cubicBezTo>
                    <a:pt x="71438" y="66107"/>
                    <a:pt x="66107" y="71438"/>
                    <a:pt x="59531" y="71438"/>
                  </a:cubicBezTo>
                  <a:cubicBezTo>
                    <a:pt x="52956" y="71438"/>
                    <a:pt x="47625" y="66107"/>
                    <a:pt x="47625" y="59531"/>
                  </a:cubicBezTo>
                  <a:lnTo>
                    <a:pt x="47625" y="35719"/>
                  </a:lnTo>
                  <a:cubicBezTo>
                    <a:pt x="47625" y="29143"/>
                    <a:pt x="42294" y="23812"/>
                    <a:pt x="35719" y="23812"/>
                  </a:cubicBezTo>
                  <a:lnTo>
                    <a:pt x="11906" y="23812"/>
                  </a:lnTo>
                  <a:cubicBezTo>
                    <a:pt x="5331" y="23812"/>
                    <a:pt x="0" y="18482"/>
                    <a:pt x="0" y="11906"/>
                  </a:cubicBezTo>
                  <a:cubicBezTo>
                    <a:pt x="0" y="5331"/>
                    <a:pt x="5331" y="0"/>
                    <a:pt x="11906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1" name="Google Shape;351;p40"/>
          <p:cNvSpPr txBox="1"/>
          <p:nvPr/>
        </p:nvSpPr>
        <p:spPr>
          <a:xfrm>
            <a:off x="914400" y="3121819"/>
            <a:ext cx="259914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会用 AI 聊天，但不会用 AI 造产品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0"/>
          <p:cNvSpPr txBox="1"/>
          <p:nvPr/>
        </p:nvSpPr>
        <p:spPr>
          <a:xfrm>
            <a:off x="617934" y="3366492"/>
            <a:ext cx="358893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 工具停留在"对话"阶段 · 没有变成你自己可以交付/变现的产品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0"/>
          <p:cNvSpPr txBox="1"/>
          <p:nvPr/>
        </p:nvSpPr>
        <p:spPr>
          <a:xfrm>
            <a:off x="617934" y="3552230"/>
            <a:ext cx="188219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工具会用了，但不知道怎么"造枪"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0"/>
          <p:cNvSpPr/>
          <p:nvPr/>
        </p:nvSpPr>
        <p:spPr>
          <a:xfrm>
            <a:off x="457200" y="4014788"/>
            <a:ext cx="8229600" cy="428625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0"/>
          <p:cNvSpPr txBox="1"/>
          <p:nvPr/>
        </p:nvSpPr>
        <p:spPr>
          <a:xfrm>
            <a:off x="2299972" y="4155519"/>
            <a:ext cx="454405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课程设计目标：把你的方法论变成 AI 可以理解并执行的产品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0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4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1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1"/>
          <p:cNvSpPr txBox="1"/>
          <p:nvPr/>
        </p:nvSpPr>
        <p:spPr>
          <a:xfrm>
            <a:off x="2499044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1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1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1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1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3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1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1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41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41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1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1"/>
          <p:cNvSpPr txBox="1"/>
          <p:nvPr/>
        </p:nvSpPr>
        <p:spPr>
          <a:xfrm>
            <a:off x="2880664" y="2601039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1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1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41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41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41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41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1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1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41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1"/>
          <p:cNvSpPr txBox="1"/>
          <p:nvPr/>
        </p:nvSpPr>
        <p:spPr>
          <a:xfrm>
            <a:off x="2529866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1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41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41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41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41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41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41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41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1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41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41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1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41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1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41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1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1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1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41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41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1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41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Claude Code / Cowork 带你进入第二层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41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1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41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41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1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1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1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1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1"/>
          <p:cNvSpPr txBox="1"/>
          <p:nvPr/>
        </p:nvSpPr>
        <p:spPr>
          <a:xfrm>
            <a:off x="5762879" y="1606975"/>
            <a:ext cx="2270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今晚示范：把炒股方法论写成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1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1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2"/>
          <p:cNvSpPr/>
          <p:nvPr/>
        </p:nvSpPr>
        <p:spPr>
          <a:xfrm>
            <a:off x="2571750" y="428625"/>
            <a:ext cx="4000500" cy="400050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2"/>
          <p:cNvSpPr/>
          <p:nvPr/>
        </p:nvSpPr>
        <p:spPr>
          <a:xfrm>
            <a:off x="3000375" y="857250"/>
            <a:ext cx="3143250" cy="314325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6" name="Google Shape;426;p42"/>
          <p:cNvGrpSpPr/>
          <p:nvPr/>
        </p:nvGrpSpPr>
        <p:grpSpPr>
          <a:xfrm>
            <a:off x="696516" y="696516"/>
            <a:ext cx="7750969" cy="3750469"/>
            <a:chOff x="928688" y="928688"/>
            <a:chExt cx="10334625" cy="5000625"/>
          </a:xfrm>
        </p:grpSpPr>
        <p:sp>
          <p:nvSpPr>
            <p:cNvPr id="427" name="Google Shape;427;p42"/>
            <p:cNvSpPr/>
            <p:nvPr/>
          </p:nvSpPr>
          <p:spPr>
            <a:xfrm>
              <a:off x="928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42"/>
            <p:cNvSpPr/>
            <p:nvPr/>
          </p:nvSpPr>
          <p:spPr>
            <a:xfrm>
              <a:off x="1309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42"/>
            <p:cNvSpPr/>
            <p:nvPr/>
          </p:nvSpPr>
          <p:spPr>
            <a:xfrm>
              <a:off x="1690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42"/>
            <p:cNvSpPr/>
            <p:nvPr/>
          </p:nvSpPr>
          <p:spPr>
            <a:xfrm>
              <a:off x="928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42"/>
            <p:cNvSpPr/>
            <p:nvPr/>
          </p:nvSpPr>
          <p:spPr>
            <a:xfrm>
              <a:off x="1309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42"/>
            <p:cNvSpPr/>
            <p:nvPr/>
          </p:nvSpPr>
          <p:spPr>
            <a:xfrm>
              <a:off x="1690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42"/>
            <p:cNvSpPr/>
            <p:nvPr/>
          </p:nvSpPr>
          <p:spPr>
            <a:xfrm>
              <a:off x="10453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42"/>
            <p:cNvSpPr/>
            <p:nvPr/>
          </p:nvSpPr>
          <p:spPr>
            <a:xfrm>
              <a:off x="10834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42"/>
            <p:cNvSpPr/>
            <p:nvPr/>
          </p:nvSpPr>
          <p:spPr>
            <a:xfrm>
              <a:off x="11215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42"/>
            <p:cNvSpPr/>
            <p:nvPr/>
          </p:nvSpPr>
          <p:spPr>
            <a:xfrm>
              <a:off x="10453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42"/>
            <p:cNvSpPr/>
            <p:nvPr/>
          </p:nvSpPr>
          <p:spPr>
            <a:xfrm>
              <a:off x="10834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42"/>
            <p:cNvSpPr/>
            <p:nvPr/>
          </p:nvSpPr>
          <p:spPr>
            <a:xfrm>
              <a:off x="11215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9" name="Google Shape;439;p42"/>
          <p:cNvSpPr txBox="1"/>
          <p:nvPr/>
        </p:nvSpPr>
        <p:spPr>
          <a:xfrm>
            <a:off x="3955825" y="668298"/>
            <a:ext cx="123235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今晚的核心公式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2"/>
          <p:cNvSpPr txBox="1"/>
          <p:nvPr/>
        </p:nvSpPr>
        <p:spPr>
          <a:xfrm>
            <a:off x="3134678" y="1285875"/>
            <a:ext cx="287464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2"/>
          <p:cNvSpPr txBox="1"/>
          <p:nvPr/>
        </p:nvSpPr>
        <p:spPr>
          <a:xfrm>
            <a:off x="4411499" y="1970246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2"/>
          <p:cNvSpPr txBox="1"/>
          <p:nvPr/>
        </p:nvSpPr>
        <p:spPr>
          <a:xfrm>
            <a:off x="3462469" y="2428875"/>
            <a:ext cx="2219063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42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2"/>
          <p:cNvSpPr/>
          <p:nvPr/>
        </p:nvSpPr>
        <p:spPr>
          <a:xfrm>
            <a:off x="2357438" y="3457575"/>
            <a:ext cx="4429125" cy="5143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2"/>
          <p:cNvSpPr txBox="1"/>
          <p:nvPr/>
        </p:nvSpPr>
        <p:spPr>
          <a:xfrm>
            <a:off x="3544795" y="3553301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42"/>
          <p:cNvSpPr txBox="1"/>
          <p:nvPr/>
        </p:nvSpPr>
        <p:spPr>
          <a:xfrm>
            <a:off x="2433527" y="4268748"/>
            <a:ext cx="42769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你懂的领域 + 正确的工具 + 方法论 = 别人做不了、你却能交付的东西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2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3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今晚的基础工具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43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43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43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43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>
            <a:off x="1615777" y="2183130"/>
            <a:ext cx="11832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3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3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3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3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"帮我写一个炒股分析工具"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3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3"/>
          <p:cNvSpPr txBox="1"/>
          <p:nvPr/>
        </p:nvSpPr>
        <p:spPr>
          <a:xfrm>
            <a:off x="1372190" y="3601164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3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3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3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43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43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3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3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3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3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8" name="Google Shape;478;p43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479" name="Google Shape;479;p43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43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1" name="Google Shape;481;p43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43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43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3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3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6" name="Google Shape;486;p43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9"/>
          </a:xfrm>
        </p:grpSpPr>
        <p:sp>
          <p:nvSpPr>
            <p:cNvPr id="487" name="Google Shape;487;p43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43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43"/>
            <p:cNvSpPr/>
            <p:nvPr/>
          </p:nvSpPr>
          <p:spPr>
            <a:xfrm>
              <a:off x="5778010" y="3873686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43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43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43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3" name="Google Shape;493;p43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3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3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3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43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8" name="Google Shape;498;p43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499" name="Google Shape;499;p43"/>
            <p:cNvSpPr/>
            <p:nvPr/>
          </p:nvSpPr>
          <p:spPr>
            <a:xfrm>
              <a:off x="5815012" y="4956173"/>
              <a:ext cx="103594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43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43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43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3" name="Google Shape;503;p43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3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3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3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1" name="Google Shape;511;p44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512" name="Google Shape;512;p4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11363325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44"/>
            <p:cNvSpPr/>
            <p:nvPr/>
          </p:nvSpPr>
          <p:spPr>
            <a:xfrm>
              <a:off x="11510962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5" name="Google Shape;515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6" name="Google Shape;516;p44"/>
          <p:cNvGrpSpPr/>
          <p:nvPr/>
        </p:nvGrpSpPr>
        <p:grpSpPr>
          <a:xfrm>
            <a:off x="2350110" y="255746"/>
            <a:ext cx="6413771" cy="422910"/>
            <a:chOff x="3133480" y="340995"/>
            <a:chExt cx="8551694" cy="563880"/>
          </a:xfrm>
        </p:grpSpPr>
        <p:sp>
          <p:nvSpPr>
            <p:cNvPr id="517" name="Google Shape;517;p44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44"/>
            <p:cNvSpPr txBox="1"/>
            <p:nvPr/>
          </p:nvSpPr>
          <p:spPr>
            <a:xfrm>
              <a:off x="3133480" y="402908"/>
              <a:ext cx="5925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AI 炒股的知识库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5619750" y="885825"/>
              <a:ext cx="952500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0" name="Google Shape;520;p44"/>
          <p:cNvGrpSpPr/>
          <p:nvPr/>
        </p:nvGrpSpPr>
        <p:grpSpPr>
          <a:xfrm>
            <a:off x="428625" y="828675"/>
            <a:ext cx="2571750" cy="3143250"/>
            <a:chOff x="571500" y="1104900"/>
            <a:chExt cx="3429000" cy="4191000"/>
          </a:xfrm>
        </p:grpSpPr>
        <p:sp>
          <p:nvSpPr>
            <p:cNvPr id="521" name="Google Shape;521;p44"/>
            <p:cNvSpPr/>
            <p:nvPr/>
          </p:nvSpPr>
          <p:spPr>
            <a:xfrm>
              <a:off x="57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4"/>
            <p:cNvSpPr/>
            <p:nvPr/>
          </p:nvSpPr>
          <p:spPr>
            <a:xfrm>
              <a:off x="57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4"/>
            <p:cNvSpPr/>
            <p:nvPr/>
          </p:nvSpPr>
          <p:spPr>
            <a:xfrm>
              <a:off x="74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44"/>
            <p:cNvSpPr txBox="1"/>
            <p:nvPr/>
          </p:nvSpPr>
          <p:spPr>
            <a:xfrm>
              <a:off x="825263" y="1255395"/>
              <a:ext cx="1401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44"/>
            <p:cNvSpPr/>
            <p:nvPr/>
          </p:nvSpPr>
          <p:spPr>
            <a:xfrm>
              <a:off x="2095500" y="1397913"/>
              <a:ext cx="381000" cy="317438"/>
            </a:xfrm>
            <a:custGeom>
              <a:rect b="b" l="l" r="r" t="t"/>
              <a:pathLst>
                <a:path extrusionOk="0" h="317438" w="381000">
                  <a:moveTo>
                    <a:pt x="371475" y="33390"/>
                  </a:moveTo>
                  <a:cubicBezTo>
                    <a:pt x="376677" y="36394"/>
                    <a:pt x="380158" y="41675"/>
                    <a:pt x="380867" y="47640"/>
                  </a:cubicBezTo>
                  <a:lnTo>
                    <a:pt x="381000" y="49887"/>
                  </a:lnTo>
                  <a:lnTo>
                    <a:pt x="381000" y="297537"/>
                  </a:lnTo>
                  <a:cubicBezTo>
                    <a:pt x="381000" y="304343"/>
                    <a:pt x="377369" y="310632"/>
                    <a:pt x="371475" y="314035"/>
                  </a:cubicBezTo>
                  <a:cubicBezTo>
                    <a:pt x="365581" y="317438"/>
                    <a:pt x="358319" y="317438"/>
                    <a:pt x="352425" y="314035"/>
                  </a:cubicBezTo>
                  <a:cubicBezTo>
                    <a:pt x="308596" y="288726"/>
                    <a:pt x="255062" y="286828"/>
                    <a:pt x="209550" y="308967"/>
                  </a:cubicBezTo>
                  <a:lnTo>
                    <a:pt x="209550" y="19903"/>
                  </a:lnTo>
                  <a:cubicBezTo>
                    <a:pt x="262832" y="0"/>
                    <a:pt x="322220" y="4947"/>
                    <a:pt x="371475" y="33390"/>
                  </a:cubicBezTo>
                  <a:moveTo>
                    <a:pt x="171450" y="19922"/>
                  </a:moveTo>
                  <a:lnTo>
                    <a:pt x="171469" y="308986"/>
                  </a:lnTo>
                  <a:cubicBezTo>
                    <a:pt x="127802" y="287729"/>
                    <a:pt x="76618" y="288557"/>
                    <a:pt x="33661" y="311215"/>
                  </a:cubicBezTo>
                  <a:lnTo>
                    <a:pt x="27432" y="314644"/>
                  </a:lnTo>
                  <a:lnTo>
                    <a:pt x="25470" y="315483"/>
                  </a:lnTo>
                  <a:lnTo>
                    <a:pt x="24536" y="315787"/>
                  </a:lnTo>
                  <a:lnTo>
                    <a:pt x="22441" y="316283"/>
                  </a:lnTo>
                  <a:lnTo>
                    <a:pt x="21279" y="316473"/>
                  </a:lnTo>
                  <a:lnTo>
                    <a:pt x="19050" y="316587"/>
                  </a:lnTo>
                  <a:lnTo>
                    <a:pt x="18250" y="316587"/>
                  </a:lnTo>
                  <a:lnTo>
                    <a:pt x="16154" y="316359"/>
                  </a:lnTo>
                  <a:lnTo>
                    <a:pt x="14688" y="316092"/>
                  </a:lnTo>
                  <a:lnTo>
                    <a:pt x="12630" y="315483"/>
                  </a:lnTo>
                  <a:lnTo>
                    <a:pt x="10230" y="314416"/>
                  </a:lnTo>
                  <a:lnTo>
                    <a:pt x="8420" y="313349"/>
                  </a:lnTo>
                  <a:lnTo>
                    <a:pt x="6725" y="312073"/>
                  </a:lnTo>
                  <a:lnTo>
                    <a:pt x="5582" y="311006"/>
                  </a:lnTo>
                  <a:lnTo>
                    <a:pt x="4191" y="309444"/>
                  </a:lnTo>
                  <a:lnTo>
                    <a:pt x="2972" y="307748"/>
                  </a:lnTo>
                  <a:lnTo>
                    <a:pt x="2553" y="307062"/>
                  </a:lnTo>
                  <a:lnTo>
                    <a:pt x="1943" y="305919"/>
                  </a:lnTo>
                  <a:lnTo>
                    <a:pt x="1105" y="303957"/>
                  </a:lnTo>
                  <a:lnTo>
                    <a:pt x="800" y="303024"/>
                  </a:lnTo>
                  <a:lnTo>
                    <a:pt x="305" y="300928"/>
                  </a:lnTo>
                  <a:lnTo>
                    <a:pt x="114" y="299766"/>
                  </a:lnTo>
                  <a:lnTo>
                    <a:pt x="38" y="298833"/>
                  </a:lnTo>
                  <a:lnTo>
                    <a:pt x="0" y="49887"/>
                  </a:lnTo>
                  <a:cubicBezTo>
                    <a:pt x="0" y="43082"/>
                    <a:pt x="3631" y="36793"/>
                    <a:pt x="9525" y="33390"/>
                  </a:cubicBezTo>
                  <a:cubicBezTo>
                    <a:pt x="58783" y="4953"/>
                    <a:pt x="118171" y="13"/>
                    <a:pt x="171450" y="1992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44"/>
            <p:cNvSpPr txBox="1"/>
            <p:nvPr/>
          </p:nvSpPr>
          <p:spPr>
            <a:xfrm>
              <a:off x="1663160" y="2132648"/>
              <a:ext cx="1245680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44"/>
            <p:cNvSpPr/>
            <p:nvPr/>
          </p:nvSpPr>
          <p:spPr>
            <a:xfrm>
              <a:off x="74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44"/>
            <p:cNvSpPr txBox="1"/>
            <p:nvPr/>
          </p:nvSpPr>
          <p:spPr>
            <a:xfrm>
              <a:off x="1500203" y="2714633"/>
              <a:ext cx="20097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股票财报、成交信息、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44"/>
            <p:cNvSpPr txBox="1"/>
            <p:nvPr/>
          </p:nvSpPr>
          <p:spPr>
            <a:xfrm>
              <a:off x="1281112" y="3019425"/>
              <a:ext cx="20097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行情与市场新闻数据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44"/>
            <p:cNvSpPr/>
            <p:nvPr/>
          </p:nvSpPr>
          <p:spPr>
            <a:xfrm>
              <a:off x="112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4"/>
            <p:cNvSpPr txBox="1"/>
            <p:nvPr/>
          </p:nvSpPr>
          <p:spPr>
            <a:xfrm>
              <a:off x="1614488" y="492680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公开可得的原始资料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2" name="Google Shape;532;p44"/>
          <p:cNvSpPr/>
          <p:nvPr/>
        </p:nvSpPr>
        <p:spPr>
          <a:xfrm>
            <a:off x="30146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3" name="Google Shape;533;p44"/>
          <p:cNvGrpSpPr/>
          <p:nvPr/>
        </p:nvGrpSpPr>
        <p:grpSpPr>
          <a:xfrm>
            <a:off x="3286125" y="828675"/>
            <a:ext cx="2571750" cy="3143250"/>
            <a:chOff x="4381500" y="1104900"/>
            <a:chExt cx="3429000" cy="4191000"/>
          </a:xfrm>
        </p:grpSpPr>
        <p:sp>
          <p:nvSpPr>
            <p:cNvPr id="534" name="Google Shape;534;p44"/>
            <p:cNvSpPr/>
            <p:nvPr/>
          </p:nvSpPr>
          <p:spPr>
            <a:xfrm>
              <a:off x="438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44"/>
            <p:cNvSpPr/>
            <p:nvPr/>
          </p:nvSpPr>
          <p:spPr>
            <a:xfrm>
              <a:off x="438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44"/>
            <p:cNvSpPr/>
            <p:nvPr/>
          </p:nvSpPr>
          <p:spPr>
            <a:xfrm>
              <a:off x="455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44"/>
            <p:cNvSpPr txBox="1"/>
            <p:nvPr/>
          </p:nvSpPr>
          <p:spPr>
            <a:xfrm>
              <a:off x="461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38" name="Google Shape;538;p44"/>
            <p:cNvGrpSpPr/>
            <p:nvPr/>
          </p:nvGrpSpPr>
          <p:grpSpPr>
            <a:xfrm>
              <a:off x="5924549" y="1371600"/>
              <a:ext cx="342901" cy="381000"/>
              <a:chOff x="5924549" y="1371600"/>
              <a:chExt cx="342901" cy="381000"/>
            </a:xfrm>
          </p:grpSpPr>
          <p:sp>
            <p:nvSpPr>
              <p:cNvPr id="539" name="Google Shape;539;p44"/>
              <p:cNvSpPr/>
              <p:nvPr/>
            </p:nvSpPr>
            <p:spPr>
              <a:xfrm>
                <a:off x="5924550" y="16331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89421"/>
                      <a:pt x="268700" y="118205"/>
                      <a:pt x="177298" y="119386"/>
                    </a:cubicBezTo>
                    <a:lnTo>
                      <a:pt x="171450" y="119424"/>
                    </a:lnTo>
                    <a:cubicBezTo>
                      <a:pt x="77381" y="119424"/>
                      <a:pt x="0" y="90411"/>
                      <a:pt x="0" y="4322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44"/>
              <p:cNvSpPr/>
              <p:nvPr/>
            </p:nvSpPr>
            <p:spPr>
              <a:xfrm>
                <a:off x="5924550" y="15188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90411"/>
                      <a:pt x="265519" y="119424"/>
                      <a:pt x="171450" y="119424"/>
                    </a:cubicBezTo>
                    <a:cubicBezTo>
                      <a:pt x="80048" y="119424"/>
                      <a:pt x="4382" y="92031"/>
                      <a:pt x="400" y="47130"/>
                    </a:cubicBezTo>
                    <a:lnTo>
                      <a:pt x="95" y="45206"/>
                    </a:lnTo>
                    <a:lnTo>
                      <a:pt x="0" y="43224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1" name="Google Shape;541;p44"/>
              <p:cNvSpPr/>
              <p:nvPr/>
            </p:nvSpPr>
            <p:spPr>
              <a:xfrm>
                <a:off x="5924549" y="1371600"/>
                <a:ext cx="342901" cy="152400"/>
              </a:xfrm>
              <a:custGeom>
                <a:rect b="b" l="l" r="r" t="t"/>
                <a:pathLst>
                  <a:path extrusionOk="0" h="152400" w="342901">
                    <a:moveTo>
                      <a:pt x="171451" y="0"/>
                    </a:moveTo>
                    <a:cubicBezTo>
                      <a:pt x="191283" y="0"/>
                      <a:pt x="210390" y="1295"/>
                      <a:pt x="228163" y="3772"/>
                    </a:cubicBezTo>
                    <a:lnTo>
                      <a:pt x="237098" y="5124"/>
                    </a:lnTo>
                    <a:cubicBezTo>
                      <a:pt x="247766" y="6902"/>
                      <a:pt x="257837" y="9112"/>
                      <a:pt x="267311" y="11754"/>
                    </a:cubicBezTo>
                    <a:lnTo>
                      <a:pt x="275693" y="14249"/>
                    </a:lnTo>
                    <a:lnTo>
                      <a:pt x="277122" y="14707"/>
                    </a:lnTo>
                    <a:cubicBezTo>
                      <a:pt x="282306" y="16411"/>
                      <a:pt x="287422" y="18318"/>
                      <a:pt x="292457" y="20422"/>
                    </a:cubicBezTo>
                    <a:lnTo>
                      <a:pt x="296248" y="22060"/>
                    </a:lnTo>
                    <a:cubicBezTo>
                      <a:pt x="303043" y="25133"/>
                      <a:pt x="309183" y="28499"/>
                      <a:pt x="314669" y="32156"/>
                    </a:cubicBezTo>
                    <a:cubicBezTo>
                      <a:pt x="316765" y="33553"/>
                      <a:pt x="318752" y="34982"/>
                      <a:pt x="320632" y="36443"/>
                    </a:cubicBezTo>
                    <a:cubicBezTo>
                      <a:pt x="325393" y="40137"/>
                      <a:pt x="329675" y="44412"/>
                      <a:pt x="333376" y="49168"/>
                    </a:cubicBezTo>
                    <a:lnTo>
                      <a:pt x="335110" y="51606"/>
                    </a:lnTo>
                    <a:cubicBezTo>
                      <a:pt x="335999" y="52940"/>
                      <a:pt x="336818" y="54280"/>
                      <a:pt x="337567" y="55626"/>
                    </a:cubicBezTo>
                    <a:lnTo>
                      <a:pt x="338901" y="58274"/>
                    </a:lnTo>
                    <a:cubicBezTo>
                      <a:pt x="340971" y="62719"/>
                      <a:pt x="342241" y="67354"/>
                      <a:pt x="342711" y="72180"/>
                    </a:cubicBezTo>
                    <a:lnTo>
                      <a:pt x="342901" y="76200"/>
                    </a:lnTo>
                    <a:cubicBezTo>
                      <a:pt x="342901" y="123387"/>
                      <a:pt x="265520" y="152400"/>
                      <a:pt x="171451" y="152400"/>
                    </a:cubicBezTo>
                    <a:cubicBezTo>
                      <a:pt x="80050" y="152400"/>
                      <a:pt x="4383" y="125006"/>
                      <a:pt x="402" y="80105"/>
                    </a:cubicBezTo>
                    <a:cubicBezTo>
                      <a:pt x="134" y="78821"/>
                      <a:pt x="0" y="77512"/>
                      <a:pt x="1" y="76200"/>
                    </a:cubicBezTo>
                    <a:lnTo>
                      <a:pt x="97" y="74219"/>
                    </a:lnTo>
                    <a:lnTo>
                      <a:pt x="402" y="72314"/>
                    </a:lnTo>
                    <a:cubicBezTo>
                      <a:pt x="4307" y="28384"/>
                      <a:pt x="76792" y="1200"/>
                      <a:pt x="165508" y="38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42" name="Google Shape;542;p44"/>
            <p:cNvSpPr txBox="1"/>
            <p:nvPr/>
          </p:nvSpPr>
          <p:spPr>
            <a:xfrm>
              <a:off x="5622679" y="2132648"/>
              <a:ext cx="946642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44"/>
            <p:cNvSpPr/>
            <p:nvPr/>
          </p:nvSpPr>
          <p:spPr>
            <a:xfrm>
              <a:off x="455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4"/>
            <p:cNvSpPr txBox="1"/>
            <p:nvPr/>
          </p:nvSpPr>
          <p:spPr>
            <a:xfrm>
              <a:off x="4933966" y="2714633"/>
              <a:ext cx="22002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个股分析、买卖点判断，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4"/>
            <p:cNvSpPr txBox="1"/>
            <p:nvPr/>
          </p:nvSpPr>
          <p:spPr>
            <a:xfrm>
              <a:off x="5529262" y="3019425"/>
              <a:ext cx="1133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结构化存入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44"/>
            <p:cNvSpPr/>
            <p:nvPr/>
          </p:nvSpPr>
          <p:spPr>
            <a:xfrm>
              <a:off x="493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44"/>
            <p:cNvSpPr txBox="1"/>
            <p:nvPr/>
          </p:nvSpPr>
          <p:spPr>
            <a:xfrm>
              <a:off x="5387519" y="4926806"/>
              <a:ext cx="14169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你的股票分析知识库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8" name="Google Shape;548;p44"/>
          <p:cNvSpPr/>
          <p:nvPr/>
        </p:nvSpPr>
        <p:spPr>
          <a:xfrm>
            <a:off x="58721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9" name="Google Shape;549;p44"/>
          <p:cNvGrpSpPr/>
          <p:nvPr/>
        </p:nvGrpSpPr>
        <p:grpSpPr>
          <a:xfrm>
            <a:off x="6143625" y="828675"/>
            <a:ext cx="2571750" cy="3143250"/>
            <a:chOff x="8191500" y="1104900"/>
            <a:chExt cx="3429000" cy="4191000"/>
          </a:xfrm>
        </p:grpSpPr>
        <p:sp>
          <p:nvSpPr>
            <p:cNvPr id="550" name="Google Shape;550;p44"/>
            <p:cNvSpPr/>
            <p:nvPr/>
          </p:nvSpPr>
          <p:spPr>
            <a:xfrm>
              <a:off x="819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44"/>
            <p:cNvSpPr/>
            <p:nvPr/>
          </p:nvSpPr>
          <p:spPr>
            <a:xfrm>
              <a:off x="819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44"/>
            <p:cNvSpPr/>
            <p:nvPr/>
          </p:nvSpPr>
          <p:spPr>
            <a:xfrm>
              <a:off x="836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4"/>
            <p:cNvSpPr txBox="1"/>
            <p:nvPr/>
          </p:nvSpPr>
          <p:spPr>
            <a:xfrm>
              <a:off x="842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44"/>
            <p:cNvSpPr/>
            <p:nvPr/>
          </p:nvSpPr>
          <p:spPr>
            <a:xfrm>
              <a:off x="9715500" y="1390650"/>
              <a:ext cx="381000" cy="342900"/>
            </a:xfrm>
            <a:custGeom>
              <a:rect b="b" l="l" r="r" t="t"/>
              <a:pathLst>
                <a:path extrusionOk="0" h="342900" w="381000">
                  <a:moveTo>
                    <a:pt x="361950" y="0"/>
                  </a:moveTo>
                  <a:cubicBezTo>
                    <a:pt x="372471" y="0"/>
                    <a:pt x="381000" y="8529"/>
                    <a:pt x="381000" y="19050"/>
                  </a:cubicBezTo>
                  <a:cubicBezTo>
                    <a:pt x="381000" y="29571"/>
                    <a:pt x="372471" y="38100"/>
                    <a:pt x="361950" y="38100"/>
                  </a:cubicBezTo>
                  <a:lnTo>
                    <a:pt x="361950" y="209550"/>
                  </a:lnTo>
                  <a:cubicBezTo>
                    <a:pt x="361950" y="241113"/>
                    <a:pt x="336363" y="266700"/>
                    <a:pt x="304800" y="266700"/>
                  </a:cubicBezTo>
                  <a:lnTo>
                    <a:pt x="209550" y="266700"/>
                  </a:lnTo>
                  <a:lnTo>
                    <a:pt x="209550" y="304800"/>
                  </a:lnTo>
                  <a:lnTo>
                    <a:pt x="247650" y="304800"/>
                  </a:lnTo>
                  <a:cubicBezTo>
                    <a:pt x="258171" y="304800"/>
                    <a:pt x="266700" y="313329"/>
                    <a:pt x="266700" y="323850"/>
                  </a:cubicBezTo>
                  <a:cubicBezTo>
                    <a:pt x="266700" y="334371"/>
                    <a:pt x="258171" y="342900"/>
                    <a:pt x="247650" y="342900"/>
                  </a:cubicBezTo>
                  <a:lnTo>
                    <a:pt x="133350" y="342900"/>
                  </a:lnTo>
                  <a:cubicBezTo>
                    <a:pt x="122829" y="342900"/>
                    <a:pt x="114300" y="334371"/>
                    <a:pt x="114300" y="323850"/>
                  </a:cubicBezTo>
                  <a:cubicBezTo>
                    <a:pt x="114300" y="313329"/>
                    <a:pt x="122829" y="304800"/>
                    <a:pt x="133350" y="304800"/>
                  </a:cubicBezTo>
                  <a:lnTo>
                    <a:pt x="171450" y="304800"/>
                  </a:lnTo>
                  <a:lnTo>
                    <a:pt x="171450" y="266700"/>
                  </a:lnTo>
                  <a:lnTo>
                    <a:pt x="76200" y="266700"/>
                  </a:lnTo>
                  <a:cubicBezTo>
                    <a:pt x="44637" y="266700"/>
                    <a:pt x="19050" y="241113"/>
                    <a:pt x="19050" y="209550"/>
                  </a:cubicBez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lose/>
                  <a:moveTo>
                    <a:pt x="280168" y="81782"/>
                  </a:moveTo>
                  <a:cubicBezTo>
                    <a:pt x="272729" y="74345"/>
                    <a:pt x="260671" y="74345"/>
                    <a:pt x="253232" y="81782"/>
                  </a:cubicBezTo>
                  <a:lnTo>
                    <a:pt x="209550" y="125444"/>
                  </a:lnTo>
                  <a:lnTo>
                    <a:pt x="184918" y="100832"/>
                  </a:lnTo>
                  <a:cubicBezTo>
                    <a:pt x="177479" y="93395"/>
                    <a:pt x="165421" y="93395"/>
                    <a:pt x="157982" y="100832"/>
                  </a:cubicBezTo>
                  <a:lnTo>
                    <a:pt x="100832" y="157982"/>
                  </a:lnTo>
                  <a:cubicBezTo>
                    <a:pt x="93395" y="165421"/>
                    <a:pt x="93395" y="177479"/>
                    <a:pt x="100832" y="184918"/>
                  </a:cubicBezTo>
                  <a:lnTo>
                    <a:pt x="102622" y="186500"/>
                  </a:lnTo>
                  <a:cubicBezTo>
                    <a:pt x="110206" y="192382"/>
                    <a:pt x="120981" y="191705"/>
                    <a:pt x="127768" y="184918"/>
                  </a:cubicBezTo>
                  <a:lnTo>
                    <a:pt x="171450" y="141256"/>
                  </a:lnTo>
                  <a:lnTo>
                    <a:pt x="196082" y="165868"/>
                  </a:lnTo>
                  <a:cubicBezTo>
                    <a:pt x="203521" y="173305"/>
                    <a:pt x="215579" y="173305"/>
                    <a:pt x="223018" y="165868"/>
                  </a:cubicBezTo>
                  <a:lnTo>
                    <a:pt x="280168" y="108718"/>
                  </a:lnTo>
                  <a:cubicBezTo>
                    <a:pt x="287605" y="101279"/>
                    <a:pt x="287605" y="89221"/>
                    <a:pt x="280168" y="8178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44"/>
            <p:cNvSpPr txBox="1"/>
            <p:nvPr/>
          </p:nvSpPr>
          <p:spPr>
            <a:xfrm>
              <a:off x="9133642" y="2132648"/>
              <a:ext cx="1544717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为客户服务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44"/>
            <p:cNvSpPr/>
            <p:nvPr/>
          </p:nvSpPr>
          <p:spPr>
            <a:xfrm>
              <a:off x="836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4"/>
            <p:cNvSpPr txBox="1"/>
            <p:nvPr/>
          </p:nvSpPr>
          <p:spPr>
            <a:xfrm>
              <a:off x="8994239" y="2714631"/>
              <a:ext cx="25236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持仓信息 + 股票分析，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4"/>
            <p:cNvSpPr txBox="1"/>
            <p:nvPr/>
          </p:nvSpPr>
          <p:spPr>
            <a:xfrm>
              <a:off x="9120206" y="3019433"/>
              <a:ext cx="23241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给出买入 / 卖出建议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4"/>
            <p:cNvSpPr/>
            <p:nvPr/>
          </p:nvSpPr>
          <p:spPr>
            <a:xfrm>
              <a:off x="874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4"/>
            <p:cNvSpPr txBox="1"/>
            <p:nvPr/>
          </p:nvSpPr>
          <p:spPr>
            <a:xfrm>
              <a:off x="9152334" y="49268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定制化投资建议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61" name="Google Shape;561;p44"/>
          <p:cNvGrpSpPr/>
          <p:nvPr/>
        </p:nvGrpSpPr>
        <p:grpSpPr>
          <a:xfrm>
            <a:off x="928688" y="4043363"/>
            <a:ext cx="6786563" cy="392906"/>
            <a:chOff x="1238250" y="5391150"/>
            <a:chExt cx="9048750" cy="523875"/>
          </a:xfrm>
        </p:grpSpPr>
        <p:sp>
          <p:nvSpPr>
            <p:cNvPr id="562" name="Google Shape;562;p44"/>
            <p:cNvSpPr/>
            <p:nvPr/>
          </p:nvSpPr>
          <p:spPr>
            <a:xfrm>
              <a:off x="1905000" y="5391150"/>
              <a:ext cx="8382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4"/>
            <p:cNvSpPr txBox="1"/>
            <p:nvPr/>
          </p:nvSpPr>
          <p:spPr>
            <a:xfrm>
              <a:off x="4506551" y="5466874"/>
              <a:ext cx="31788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知识库涵盖各行各业 — 你的专业积累就是你的武器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4"/>
            <p:cNvSpPr/>
            <p:nvPr/>
          </p:nvSpPr>
          <p:spPr>
            <a:xfrm>
              <a:off x="1238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4"/>
            <p:cNvSpPr txBox="1"/>
            <p:nvPr/>
          </p:nvSpPr>
          <p:spPr>
            <a:xfrm>
              <a:off x="1304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金融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1733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4"/>
            <p:cNvSpPr txBox="1"/>
            <p:nvPr/>
          </p:nvSpPr>
          <p:spPr>
            <a:xfrm>
              <a:off x="1800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4"/>
            <p:cNvSpPr/>
            <p:nvPr/>
          </p:nvSpPr>
          <p:spPr>
            <a:xfrm>
              <a:off x="2228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4"/>
            <p:cNvSpPr txBox="1"/>
            <p:nvPr/>
          </p:nvSpPr>
          <p:spPr>
            <a:xfrm>
              <a:off x="2295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4"/>
            <p:cNvSpPr/>
            <p:nvPr/>
          </p:nvSpPr>
          <p:spPr>
            <a:xfrm>
              <a:off x="2724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4"/>
            <p:cNvSpPr txBox="1"/>
            <p:nvPr/>
          </p:nvSpPr>
          <p:spPr>
            <a:xfrm>
              <a:off x="2790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教育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4"/>
            <p:cNvSpPr/>
            <p:nvPr/>
          </p:nvSpPr>
          <p:spPr>
            <a:xfrm>
              <a:off x="3219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4"/>
            <p:cNvSpPr txBox="1"/>
            <p:nvPr/>
          </p:nvSpPr>
          <p:spPr>
            <a:xfrm>
              <a:off x="3286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咨询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4"/>
            <p:cNvSpPr/>
            <p:nvPr/>
          </p:nvSpPr>
          <p:spPr>
            <a:xfrm>
              <a:off x="37147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p44"/>
            <p:cNvSpPr txBox="1"/>
            <p:nvPr/>
          </p:nvSpPr>
          <p:spPr>
            <a:xfrm>
              <a:off x="37814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44"/>
            <p:cNvSpPr/>
            <p:nvPr/>
          </p:nvSpPr>
          <p:spPr>
            <a:xfrm>
              <a:off x="42100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4"/>
            <p:cNvSpPr txBox="1"/>
            <p:nvPr/>
          </p:nvSpPr>
          <p:spPr>
            <a:xfrm>
              <a:off x="4335862" y="5732133"/>
              <a:ext cx="2856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HR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44"/>
            <p:cNvSpPr/>
            <p:nvPr/>
          </p:nvSpPr>
          <p:spPr>
            <a:xfrm>
              <a:off x="47053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4"/>
            <p:cNvSpPr txBox="1"/>
            <p:nvPr/>
          </p:nvSpPr>
          <p:spPr>
            <a:xfrm>
              <a:off x="47720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房产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4"/>
            <p:cNvSpPr/>
            <p:nvPr/>
          </p:nvSpPr>
          <p:spPr>
            <a:xfrm>
              <a:off x="52006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4"/>
            <p:cNvSpPr txBox="1"/>
            <p:nvPr/>
          </p:nvSpPr>
          <p:spPr>
            <a:xfrm>
              <a:off x="52673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营销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4"/>
            <p:cNvSpPr/>
            <p:nvPr/>
          </p:nvSpPr>
          <p:spPr>
            <a:xfrm>
              <a:off x="56959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4"/>
            <p:cNvSpPr txBox="1"/>
            <p:nvPr/>
          </p:nvSpPr>
          <p:spPr>
            <a:xfrm>
              <a:off x="57626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科技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4"/>
            <p:cNvSpPr/>
            <p:nvPr/>
          </p:nvSpPr>
          <p:spPr>
            <a:xfrm>
              <a:off x="6191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4"/>
            <p:cNvSpPr txBox="1"/>
            <p:nvPr/>
          </p:nvSpPr>
          <p:spPr>
            <a:xfrm>
              <a:off x="6257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保险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4"/>
            <p:cNvSpPr/>
            <p:nvPr/>
          </p:nvSpPr>
          <p:spPr>
            <a:xfrm>
              <a:off x="6686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4"/>
            <p:cNvSpPr txBox="1"/>
            <p:nvPr/>
          </p:nvSpPr>
          <p:spPr>
            <a:xfrm>
              <a:off x="6753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移民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4"/>
            <p:cNvSpPr/>
            <p:nvPr/>
          </p:nvSpPr>
          <p:spPr>
            <a:xfrm>
              <a:off x="7181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4"/>
            <p:cNvSpPr txBox="1"/>
            <p:nvPr/>
          </p:nvSpPr>
          <p:spPr>
            <a:xfrm>
              <a:off x="7248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税务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4"/>
            <p:cNvSpPr/>
            <p:nvPr/>
          </p:nvSpPr>
          <p:spPr>
            <a:xfrm>
              <a:off x="7677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4"/>
            <p:cNvSpPr txBox="1"/>
            <p:nvPr/>
          </p:nvSpPr>
          <p:spPr>
            <a:xfrm>
              <a:off x="7743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招聘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4"/>
            <p:cNvSpPr/>
            <p:nvPr/>
          </p:nvSpPr>
          <p:spPr>
            <a:xfrm>
              <a:off x="8172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4"/>
            <p:cNvSpPr txBox="1"/>
            <p:nvPr/>
          </p:nvSpPr>
          <p:spPr>
            <a:xfrm>
              <a:off x="8239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会计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4"/>
            <p:cNvSpPr/>
            <p:nvPr/>
          </p:nvSpPr>
          <p:spPr>
            <a:xfrm>
              <a:off x="8667750" y="5686425"/>
              <a:ext cx="533400" cy="209550"/>
            </a:xfrm>
            <a:prstGeom prst="roundRect">
              <a:avLst>
                <a:gd fmla="val 50000" name="adj"/>
              </a:avLst>
            </a:prstGeom>
            <a:solidFill>
              <a:srgbClr val="6B7280">
                <a:alpha val="7843"/>
              </a:srgbClr>
            </a:solidFill>
            <a:ln cap="flat" cmpd="sng" w="9525">
              <a:solidFill>
                <a:srgbClr val="9CA3AF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4"/>
            <p:cNvSpPr txBox="1"/>
            <p:nvPr/>
          </p:nvSpPr>
          <p:spPr>
            <a:xfrm>
              <a:off x="8755428" y="5732145"/>
              <a:ext cx="3580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…更多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6" name="Google Shape;596;p44"/>
          <p:cNvGrpSpPr/>
          <p:nvPr/>
        </p:nvGrpSpPr>
        <p:grpSpPr>
          <a:xfrm>
            <a:off x="2407551" y="4543425"/>
            <a:ext cx="4328898" cy="296466"/>
            <a:chOff x="3210068" y="6057900"/>
            <a:chExt cx="5771864" cy="395288"/>
          </a:xfrm>
        </p:grpSpPr>
        <p:sp>
          <p:nvSpPr>
            <p:cNvPr id="597" name="Google Shape;597;p44"/>
            <p:cNvSpPr/>
            <p:nvPr/>
          </p:nvSpPr>
          <p:spPr>
            <a:xfrm>
              <a:off x="4572000" y="6057900"/>
              <a:ext cx="3048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44"/>
            <p:cNvSpPr txBox="1"/>
            <p:nvPr/>
          </p:nvSpPr>
          <p:spPr>
            <a:xfrm>
              <a:off x="3210068" y="6178868"/>
              <a:ext cx="57718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不需要会写代码。需要的是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你的领域知识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——而那个，</a:t>
              </a: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你已经有了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。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9" name="Google Shape;599;p44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5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560070" y="195739"/>
            <a:ext cx="576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案例：SEPA 炒股方法论 → Claude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5"/>
          <p:cNvSpPr txBox="1"/>
          <p:nvPr/>
        </p:nvSpPr>
        <p:spPr>
          <a:xfrm>
            <a:off x="574357" y="488633"/>
            <a:ext cx="350615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的成长股策略 · 用 Claude Skills 实现 AI 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45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45"/>
          <p:cNvSpPr/>
          <p:nvPr/>
        </p:nvSpPr>
        <p:spPr>
          <a:xfrm>
            <a:off x="457200" y="842963"/>
            <a:ext cx="8229600" cy="642938"/>
          </a:xfrm>
          <a:prstGeom prst="roundRect">
            <a:avLst>
              <a:gd fmla="val 11111" name="adj"/>
            </a:avLst>
          </a:prstGeom>
          <a:solidFill>
            <a:srgbClr val="FEF3C7"/>
          </a:solidFill>
          <a:ln cap="flat" cmpd="sng" w="9525">
            <a:solidFill>
              <a:srgbClr val="D9770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0" name="Google Shape;610;p45"/>
          <p:cNvGrpSpPr/>
          <p:nvPr/>
        </p:nvGrpSpPr>
        <p:grpSpPr>
          <a:xfrm>
            <a:off x="655436" y="1012627"/>
            <a:ext cx="160740" cy="160986"/>
            <a:chOff x="873915" y="1350169"/>
            <a:chExt cx="214320" cy="214648"/>
          </a:xfrm>
        </p:grpSpPr>
        <p:sp>
          <p:nvSpPr>
            <p:cNvPr id="611" name="Google Shape;611;p45"/>
            <p:cNvSpPr/>
            <p:nvPr/>
          </p:nvSpPr>
          <p:spPr>
            <a:xfrm>
              <a:off x="873915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23812"/>
                  </a:lnTo>
                  <a:cubicBezTo>
                    <a:pt x="60090" y="23809"/>
                    <a:pt x="70447" y="33413"/>
                    <a:pt x="71382" y="45839"/>
                  </a:cubicBezTo>
                  <a:lnTo>
                    <a:pt x="71441" y="47625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47625"/>
                  </a:lnTo>
                  <a:cubicBezTo>
                    <a:pt x="0" y="35164"/>
                    <a:pt x="9604" y="24807"/>
                    <a:pt x="22031" y="23872"/>
                  </a:cubicBezTo>
                  <a:lnTo>
                    <a:pt x="23816" y="2381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45"/>
            <p:cNvSpPr/>
            <p:nvPr/>
          </p:nvSpPr>
          <p:spPr>
            <a:xfrm>
              <a:off x="945352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119062"/>
                  </a:lnTo>
                  <a:cubicBezTo>
                    <a:pt x="60090" y="119059"/>
                    <a:pt x="70447" y="128663"/>
                    <a:pt x="71382" y="141089"/>
                  </a:cubicBezTo>
                  <a:lnTo>
                    <a:pt x="71441" y="142875"/>
                  </a:lnTo>
                  <a:lnTo>
                    <a:pt x="71441" y="178594"/>
                  </a:lnTo>
                  <a:cubicBezTo>
                    <a:pt x="71445" y="191055"/>
                    <a:pt x="61841" y="201412"/>
                    <a:pt x="49415" y="202347"/>
                  </a:cubicBez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2031" y="202347"/>
                  </a:lnTo>
                  <a:cubicBezTo>
                    <a:pt x="10316" y="201466"/>
                    <a:pt x="994" y="192175"/>
                    <a:pt x="75" y="180463"/>
                  </a:cubicBezTo>
                  <a:lnTo>
                    <a:pt x="4" y="178594"/>
                  </a:lnTo>
                  <a:lnTo>
                    <a:pt x="4" y="142875"/>
                  </a:lnTo>
                  <a:cubicBezTo>
                    <a:pt x="0" y="130414"/>
                    <a:pt x="9604" y="120057"/>
                    <a:pt x="22031" y="119122"/>
                  </a:cubicBezTo>
                  <a:lnTo>
                    <a:pt x="23816" y="11906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45"/>
            <p:cNvSpPr/>
            <p:nvPr/>
          </p:nvSpPr>
          <p:spPr>
            <a:xfrm>
              <a:off x="1016790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cubicBezTo>
                    <a:pt x="60090" y="11902"/>
                    <a:pt x="70447" y="21507"/>
                    <a:pt x="71382" y="33933"/>
                  </a:cubicBezTo>
                  <a:lnTo>
                    <a:pt x="71441" y="35719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35719"/>
                  </a:lnTo>
                  <a:cubicBezTo>
                    <a:pt x="0" y="23257"/>
                    <a:pt x="9604" y="12900"/>
                    <a:pt x="22031" y="11966"/>
                  </a:cubicBez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4" name="Google Shape;614;p45"/>
          <p:cNvSpPr txBox="1"/>
          <p:nvPr/>
        </p:nvSpPr>
        <p:spPr>
          <a:xfrm>
            <a:off x="930116" y="976551"/>
            <a:ext cx="27118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= Specific Entry Point Analysis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5"/>
          <p:cNvSpPr txBox="1"/>
          <p:nvPr/>
        </p:nvSpPr>
        <p:spPr>
          <a:xfrm>
            <a:off x="618649" y="1215152"/>
            <a:ext cx="494836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的成长股择时策略：趋势 + 基本面 + 技术面 + 风险管理四维筛选，找最佳买入点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5"/>
          <p:cNvSpPr txBox="1"/>
          <p:nvPr/>
        </p:nvSpPr>
        <p:spPr>
          <a:xfrm>
            <a:off x="5682139" y="10008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S4 用这个做 Skill 实战案例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457200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457200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9" name="Google Shape;619;p45"/>
          <p:cNvGrpSpPr/>
          <p:nvPr/>
        </p:nvGrpSpPr>
        <p:grpSpPr>
          <a:xfrm>
            <a:off x="624092" y="1767072"/>
            <a:ext cx="151818" cy="142690"/>
            <a:chOff x="832122" y="2356096"/>
            <a:chExt cx="202424" cy="190254"/>
          </a:xfrm>
        </p:grpSpPr>
        <p:sp>
          <p:nvSpPr>
            <p:cNvPr id="620" name="Google Shape;620;p45"/>
            <p:cNvSpPr/>
            <p:nvPr/>
          </p:nvSpPr>
          <p:spPr>
            <a:xfrm>
              <a:off x="833438" y="2422729"/>
              <a:ext cx="200025" cy="123621"/>
            </a:xfrm>
            <a:custGeom>
              <a:rect b="b" l="l" r="r" t="t"/>
              <a:pathLst>
                <a:path extrusionOk="0" h="123621" w="200025">
                  <a:moveTo>
                    <a:pt x="135795" y="5551"/>
                  </a:moveTo>
                  <a:cubicBezTo>
                    <a:pt x="139589" y="816"/>
                    <a:pt x="146479" y="0"/>
                    <a:pt x="151274" y="3717"/>
                  </a:cubicBezTo>
                  <a:lnTo>
                    <a:pt x="152319" y="4639"/>
                  </a:lnTo>
                  <a:lnTo>
                    <a:pt x="196769" y="49089"/>
                  </a:lnTo>
                  <a:cubicBezTo>
                    <a:pt x="198496" y="50818"/>
                    <a:pt x="199605" y="53068"/>
                    <a:pt x="199925" y="55490"/>
                  </a:cubicBezTo>
                  <a:lnTo>
                    <a:pt x="200025" y="56946"/>
                  </a:lnTo>
                  <a:lnTo>
                    <a:pt x="200025" y="112509"/>
                  </a:lnTo>
                  <a:cubicBezTo>
                    <a:pt x="200024" y="118142"/>
                    <a:pt x="195808" y="122884"/>
                    <a:pt x="190213" y="123543"/>
                  </a:cubicBezTo>
                  <a:lnTo>
                    <a:pt x="188913" y="123621"/>
                  </a:lnTo>
                  <a:lnTo>
                    <a:pt x="10868" y="123621"/>
                  </a:lnTo>
                  <a:lnTo>
                    <a:pt x="9646" y="123521"/>
                  </a:lnTo>
                  <a:lnTo>
                    <a:pt x="8423" y="123299"/>
                  </a:lnTo>
                  <a:lnTo>
                    <a:pt x="7234" y="122921"/>
                  </a:lnTo>
                  <a:lnTo>
                    <a:pt x="6067" y="122410"/>
                  </a:lnTo>
                  <a:lnTo>
                    <a:pt x="4956" y="121754"/>
                  </a:lnTo>
                  <a:lnTo>
                    <a:pt x="3912" y="120976"/>
                  </a:lnTo>
                  <a:lnTo>
                    <a:pt x="3245" y="120365"/>
                  </a:lnTo>
                  <a:lnTo>
                    <a:pt x="2445" y="119454"/>
                  </a:lnTo>
                  <a:lnTo>
                    <a:pt x="1734" y="118465"/>
                  </a:lnTo>
                  <a:lnTo>
                    <a:pt x="1133" y="117398"/>
                  </a:lnTo>
                  <a:lnTo>
                    <a:pt x="956" y="117009"/>
                  </a:lnTo>
                  <a:lnTo>
                    <a:pt x="511" y="115864"/>
                  </a:lnTo>
                  <a:lnTo>
                    <a:pt x="211" y="114687"/>
                  </a:lnTo>
                  <a:lnTo>
                    <a:pt x="44" y="113486"/>
                  </a:lnTo>
                  <a:lnTo>
                    <a:pt x="0" y="112264"/>
                  </a:lnTo>
                  <a:lnTo>
                    <a:pt x="100" y="111042"/>
                  </a:lnTo>
                  <a:lnTo>
                    <a:pt x="311" y="109875"/>
                  </a:lnTo>
                  <a:cubicBezTo>
                    <a:pt x="422" y="109430"/>
                    <a:pt x="556" y="109019"/>
                    <a:pt x="700" y="108630"/>
                  </a:cubicBezTo>
                  <a:lnTo>
                    <a:pt x="1211" y="107463"/>
                  </a:lnTo>
                  <a:lnTo>
                    <a:pt x="1867" y="106352"/>
                  </a:lnTo>
                  <a:lnTo>
                    <a:pt x="46317" y="39677"/>
                  </a:lnTo>
                  <a:cubicBezTo>
                    <a:pt x="49132" y="35440"/>
                    <a:pt x="54464" y="33654"/>
                    <a:pt x="59263" y="35343"/>
                  </a:cubicBezTo>
                  <a:lnTo>
                    <a:pt x="60530" y="35899"/>
                  </a:lnTo>
                  <a:lnTo>
                    <a:pt x="96945" y="54101"/>
                  </a:lnTo>
                  <a:lnTo>
                    <a:pt x="135784" y="5551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45"/>
            <p:cNvSpPr/>
            <p:nvPr/>
          </p:nvSpPr>
          <p:spPr>
            <a:xfrm>
              <a:off x="832122" y="2356096"/>
              <a:ext cx="202424" cy="113782"/>
            </a:xfrm>
            <a:custGeom>
              <a:rect b="b" l="l" r="r" t="t"/>
              <a:pathLst>
                <a:path extrusionOk="0" h="113782" w="202424">
                  <a:moveTo>
                    <a:pt x="137243" y="5342"/>
                  </a:moveTo>
                  <a:cubicBezTo>
                    <a:pt x="141076" y="737"/>
                    <a:pt x="147869" y="0"/>
                    <a:pt x="152601" y="3675"/>
                  </a:cubicBezTo>
                  <a:lnTo>
                    <a:pt x="153634" y="4597"/>
                  </a:lnTo>
                  <a:lnTo>
                    <a:pt x="198084" y="49047"/>
                  </a:lnTo>
                  <a:cubicBezTo>
                    <a:pt x="202221" y="53198"/>
                    <a:pt x="202424" y="59846"/>
                    <a:pt x="198548" y="64241"/>
                  </a:cubicBezTo>
                  <a:cubicBezTo>
                    <a:pt x="194673" y="68636"/>
                    <a:pt x="188051" y="69267"/>
                    <a:pt x="183416" y="65683"/>
                  </a:cubicBezTo>
                  <a:lnTo>
                    <a:pt x="182371" y="64760"/>
                  </a:lnTo>
                  <a:lnTo>
                    <a:pt x="146522" y="28923"/>
                  </a:lnTo>
                  <a:lnTo>
                    <a:pt x="98750" y="86241"/>
                  </a:lnTo>
                  <a:cubicBezTo>
                    <a:pt x="95778" y="89806"/>
                    <a:pt x="90904" y="91148"/>
                    <a:pt x="86526" y="89608"/>
                  </a:cubicBezTo>
                  <a:lnTo>
                    <a:pt x="85248" y="89064"/>
                  </a:lnTo>
                  <a:lnTo>
                    <a:pt x="49088" y="70995"/>
                  </a:lnTo>
                  <a:lnTo>
                    <a:pt x="21318" y="108021"/>
                  </a:lnTo>
                  <a:cubicBezTo>
                    <a:pt x="17959" y="112501"/>
                    <a:pt x="11792" y="113782"/>
                    <a:pt x="6927" y="111011"/>
                  </a:cubicBezTo>
                  <a:lnTo>
                    <a:pt x="5760" y="110244"/>
                  </a:lnTo>
                  <a:cubicBezTo>
                    <a:pt x="1281" y="106885"/>
                    <a:pt x="0" y="100718"/>
                    <a:pt x="2771" y="95853"/>
                  </a:cubicBezTo>
                  <a:lnTo>
                    <a:pt x="3538" y="94686"/>
                  </a:lnTo>
                  <a:lnTo>
                    <a:pt x="36875" y="50236"/>
                  </a:lnTo>
                  <a:cubicBezTo>
                    <a:pt x="39801" y="46340"/>
                    <a:pt x="44923" y="44804"/>
                    <a:pt x="49510" y="46447"/>
                  </a:cubicBezTo>
                  <a:lnTo>
                    <a:pt x="50733" y="46969"/>
                  </a:lnTo>
                  <a:lnTo>
                    <a:pt x="87304" y="65249"/>
                  </a:lnTo>
                  <a:lnTo>
                    <a:pt x="137243" y="5342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22" name="Google Shape;622;p45"/>
          <p:cNvSpPr txBox="1"/>
          <p:nvPr/>
        </p:nvSpPr>
        <p:spPr>
          <a:xfrm>
            <a:off x="874395" y="1760220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趋势过滤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45"/>
          <p:cNvSpPr txBox="1"/>
          <p:nvPr/>
        </p:nvSpPr>
        <p:spPr>
          <a:xfrm>
            <a:off x="590789" y="2007037"/>
            <a:ext cx="158852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股价在 200/150/50 日均线之上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5"/>
          <p:cNvSpPr txBox="1"/>
          <p:nvPr/>
        </p:nvSpPr>
        <p:spPr>
          <a:xfrm>
            <a:off x="590789" y="2164199"/>
            <a:ext cx="160453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均线系统顺序排列（多头排列）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5"/>
          <p:cNvSpPr txBox="1"/>
          <p:nvPr/>
        </p:nvSpPr>
        <p:spPr>
          <a:xfrm>
            <a:off x="590788" y="2321362"/>
            <a:ext cx="143366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52 周高点附近，不是低位股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45"/>
          <p:cNvSpPr txBox="1"/>
          <p:nvPr/>
        </p:nvSpPr>
        <p:spPr>
          <a:xfrm>
            <a:off x="590788" y="2478524"/>
            <a:ext cx="12200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相对强度排名 RS 前 10%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5"/>
          <p:cNvSpPr/>
          <p:nvPr/>
        </p:nvSpPr>
        <p:spPr>
          <a:xfrm>
            <a:off x="600075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5"/>
          <p:cNvSpPr txBox="1"/>
          <p:nvPr/>
        </p:nvSpPr>
        <p:spPr>
          <a:xfrm>
            <a:off x="726806" y="2820352"/>
            <a:ext cx="74666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Trend Template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5"/>
          <p:cNvSpPr/>
          <p:nvPr/>
        </p:nvSpPr>
        <p:spPr>
          <a:xfrm>
            <a:off x="3193256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5"/>
          <p:cNvSpPr/>
          <p:nvPr/>
        </p:nvSpPr>
        <p:spPr>
          <a:xfrm>
            <a:off x="3193256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31" name="Google Shape;631;p45"/>
          <p:cNvGrpSpPr/>
          <p:nvPr/>
        </p:nvGrpSpPr>
        <p:grpSpPr>
          <a:xfrm>
            <a:off x="3361134" y="1768079"/>
            <a:ext cx="150019" cy="150019"/>
            <a:chOff x="4481512" y="2357438"/>
            <a:chExt cx="200025" cy="200025"/>
          </a:xfrm>
        </p:grpSpPr>
        <p:sp>
          <p:nvSpPr>
            <p:cNvPr id="632" name="Google Shape;632;p45"/>
            <p:cNvSpPr/>
            <p:nvPr/>
          </p:nvSpPr>
          <p:spPr>
            <a:xfrm>
              <a:off x="448151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11113" y="0"/>
                  </a:moveTo>
                  <a:cubicBezTo>
                    <a:pt x="17250" y="0"/>
                    <a:pt x="22225" y="4975"/>
                    <a:pt x="22225" y="11113"/>
                  </a:cubicBezTo>
                  <a:lnTo>
                    <a:pt x="22225" y="33338"/>
                  </a:lnTo>
                  <a:cubicBezTo>
                    <a:pt x="22225" y="39475"/>
                    <a:pt x="27200" y="44450"/>
                    <a:pt x="33338" y="44450"/>
                  </a:cubicBezTo>
                  <a:lnTo>
                    <a:pt x="55562" y="44450"/>
                  </a:lnTo>
                  <a:cubicBezTo>
                    <a:pt x="61700" y="44450"/>
                    <a:pt x="66675" y="49425"/>
                    <a:pt x="66675" y="55562"/>
                  </a:cubicBezTo>
                  <a:cubicBezTo>
                    <a:pt x="66675" y="61700"/>
                    <a:pt x="61700" y="66675"/>
                    <a:pt x="55562" y="66675"/>
                  </a:cubicBezTo>
                  <a:lnTo>
                    <a:pt x="33338" y="66675"/>
                  </a:lnTo>
                  <a:cubicBezTo>
                    <a:pt x="14926" y="66675"/>
                    <a:pt x="0" y="51749"/>
                    <a:pt x="0" y="33338"/>
                  </a:cubicBezTo>
                  <a:lnTo>
                    <a:pt x="0" y="11113"/>
                  </a:lnTo>
                  <a:cubicBezTo>
                    <a:pt x="0" y="4975"/>
                    <a:pt x="4975" y="0"/>
                    <a:pt x="11113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45"/>
            <p:cNvSpPr/>
            <p:nvPr/>
          </p:nvSpPr>
          <p:spPr>
            <a:xfrm>
              <a:off x="461486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3"/>
                  </a:cubicBezTo>
                  <a:lnTo>
                    <a:pt x="66675" y="33338"/>
                  </a:lnTo>
                  <a:cubicBezTo>
                    <a:pt x="66675" y="51749"/>
                    <a:pt x="51749" y="66675"/>
                    <a:pt x="33338" y="66675"/>
                  </a:cubicBezTo>
                  <a:lnTo>
                    <a:pt x="11113" y="66675"/>
                  </a:lnTo>
                  <a:cubicBezTo>
                    <a:pt x="4975" y="66675"/>
                    <a:pt x="0" y="61700"/>
                    <a:pt x="0" y="55562"/>
                  </a:cubicBezTo>
                  <a:cubicBezTo>
                    <a:pt x="0" y="49425"/>
                    <a:pt x="4975" y="44450"/>
                    <a:pt x="11113" y="44450"/>
                  </a:cubicBezTo>
                  <a:lnTo>
                    <a:pt x="33338" y="44450"/>
                  </a:lnTo>
                  <a:cubicBezTo>
                    <a:pt x="39475" y="44450"/>
                    <a:pt x="44450" y="39475"/>
                    <a:pt x="44450" y="33338"/>
                  </a:cubicBezTo>
                  <a:lnTo>
                    <a:pt x="44450" y="11113"/>
                  </a:lnTo>
                  <a:cubicBezTo>
                    <a:pt x="44450" y="4975"/>
                    <a:pt x="49425" y="0"/>
                    <a:pt x="55562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45"/>
            <p:cNvSpPr/>
            <p:nvPr/>
          </p:nvSpPr>
          <p:spPr>
            <a:xfrm>
              <a:off x="4525962" y="2401887"/>
              <a:ext cx="112080" cy="112080"/>
            </a:xfrm>
            <a:custGeom>
              <a:rect b="b" l="l" r="r" t="t"/>
              <a:pathLst>
                <a:path extrusionOk="0" h="112080" w="112080">
                  <a:moveTo>
                    <a:pt x="44450" y="0"/>
                  </a:moveTo>
                  <a:cubicBezTo>
                    <a:pt x="60402" y="0"/>
                    <a:pt x="75130" y="8548"/>
                    <a:pt x="83044" y="22398"/>
                  </a:cubicBezTo>
                  <a:cubicBezTo>
                    <a:pt x="90958" y="36248"/>
                    <a:pt x="90843" y="53277"/>
                    <a:pt x="82744" y="67020"/>
                  </a:cubicBezTo>
                  <a:lnTo>
                    <a:pt x="107869" y="92156"/>
                  </a:lnTo>
                  <a:cubicBezTo>
                    <a:pt x="112080" y="96516"/>
                    <a:pt x="112020" y="103447"/>
                    <a:pt x="107734" y="107734"/>
                  </a:cubicBezTo>
                  <a:cubicBezTo>
                    <a:pt x="103447" y="112020"/>
                    <a:pt x="96516" y="112080"/>
                    <a:pt x="92156" y="107869"/>
                  </a:cubicBezTo>
                  <a:lnTo>
                    <a:pt x="67019" y="82755"/>
                  </a:lnTo>
                  <a:lnTo>
                    <a:pt x="66675" y="82944"/>
                  </a:lnTo>
                  <a:cubicBezTo>
                    <a:pt x="52922" y="90884"/>
                    <a:pt x="35978" y="90884"/>
                    <a:pt x="22225" y="82944"/>
                  </a:cubicBezTo>
                  <a:cubicBezTo>
                    <a:pt x="8473" y="75004"/>
                    <a:pt x="0" y="60330"/>
                    <a:pt x="0" y="44450"/>
                  </a:cubicBezTo>
                  <a:lnTo>
                    <a:pt x="56" y="42228"/>
                  </a:lnTo>
                  <a:cubicBezTo>
                    <a:pt x="1240" y="18572"/>
                    <a:pt x="20765" y="0"/>
                    <a:pt x="4445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45"/>
            <p:cNvSpPr/>
            <p:nvPr/>
          </p:nvSpPr>
          <p:spPr>
            <a:xfrm>
              <a:off x="448151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2"/>
                  </a:cubicBezTo>
                  <a:cubicBezTo>
                    <a:pt x="66675" y="17250"/>
                    <a:pt x="61700" y="22225"/>
                    <a:pt x="55562" y="22225"/>
                  </a:cubicBezTo>
                  <a:lnTo>
                    <a:pt x="33338" y="22225"/>
                  </a:lnTo>
                  <a:cubicBezTo>
                    <a:pt x="27200" y="22225"/>
                    <a:pt x="22225" y="27200"/>
                    <a:pt x="22225" y="33338"/>
                  </a:cubicBezTo>
                  <a:lnTo>
                    <a:pt x="22225" y="55563"/>
                  </a:lnTo>
                  <a:cubicBezTo>
                    <a:pt x="22225" y="61700"/>
                    <a:pt x="17250" y="66675"/>
                    <a:pt x="11113" y="66675"/>
                  </a:cubicBezTo>
                  <a:cubicBezTo>
                    <a:pt x="4975" y="66675"/>
                    <a:pt x="0" y="61700"/>
                    <a:pt x="0" y="55563"/>
                  </a:cubicBezTo>
                  <a:lnTo>
                    <a:pt x="0" y="33338"/>
                  </a:lnTo>
                  <a:cubicBezTo>
                    <a:pt x="0" y="14926"/>
                    <a:pt x="14926" y="0"/>
                    <a:pt x="33338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45"/>
            <p:cNvSpPr/>
            <p:nvPr/>
          </p:nvSpPr>
          <p:spPr>
            <a:xfrm>
              <a:off x="461486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33338" y="0"/>
                  </a:moveTo>
                  <a:cubicBezTo>
                    <a:pt x="51749" y="0"/>
                    <a:pt x="66675" y="14926"/>
                    <a:pt x="66675" y="33338"/>
                  </a:cubicBezTo>
                  <a:lnTo>
                    <a:pt x="66675" y="55563"/>
                  </a:lnTo>
                  <a:cubicBezTo>
                    <a:pt x="66675" y="61700"/>
                    <a:pt x="61700" y="66675"/>
                    <a:pt x="55562" y="66675"/>
                  </a:cubicBezTo>
                  <a:cubicBezTo>
                    <a:pt x="49425" y="66675"/>
                    <a:pt x="44450" y="61700"/>
                    <a:pt x="44450" y="55563"/>
                  </a:cubicBezTo>
                  <a:lnTo>
                    <a:pt x="44450" y="33338"/>
                  </a:lnTo>
                  <a:cubicBezTo>
                    <a:pt x="44450" y="27200"/>
                    <a:pt x="39475" y="22225"/>
                    <a:pt x="33338" y="22225"/>
                  </a:cubicBezTo>
                  <a:lnTo>
                    <a:pt x="11113" y="22225"/>
                  </a:lnTo>
                  <a:cubicBezTo>
                    <a:pt x="4975" y="22225"/>
                    <a:pt x="0" y="17250"/>
                    <a:pt x="0" y="11112"/>
                  </a:cubicBezTo>
                  <a:cubicBezTo>
                    <a:pt x="0" y="4975"/>
                    <a:pt x="4975" y="0"/>
                    <a:pt x="1111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7" name="Google Shape;637;p45"/>
          <p:cNvSpPr txBox="1"/>
          <p:nvPr/>
        </p:nvSpPr>
        <p:spPr>
          <a:xfrm>
            <a:off x="3610451" y="176022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基本面筛选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5"/>
          <p:cNvSpPr txBox="1"/>
          <p:nvPr/>
        </p:nvSpPr>
        <p:spPr>
          <a:xfrm>
            <a:off x="3326844" y="2007037"/>
            <a:ext cx="13482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EPS 连续 3 季度增长 25%+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5"/>
          <p:cNvSpPr txBox="1"/>
          <p:nvPr/>
        </p:nvSpPr>
        <p:spPr>
          <a:xfrm>
            <a:off x="3326844" y="2164199"/>
            <a:ext cx="13909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营收加速增长，不是一次性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5"/>
          <p:cNvSpPr txBox="1"/>
          <p:nvPr/>
        </p:nvSpPr>
        <p:spPr>
          <a:xfrm>
            <a:off x="3326844" y="2321362"/>
            <a:ext cx="12948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ROE 17%+，净利润率扩张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5"/>
          <p:cNvSpPr txBox="1"/>
          <p:nvPr/>
        </p:nvSpPr>
        <p:spPr>
          <a:xfrm>
            <a:off x="3326844" y="2478524"/>
            <a:ext cx="9637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机构持仓正在增加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45"/>
          <p:cNvSpPr/>
          <p:nvPr/>
        </p:nvSpPr>
        <p:spPr>
          <a:xfrm>
            <a:off x="3336131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5"/>
          <p:cNvSpPr txBox="1"/>
          <p:nvPr/>
        </p:nvSpPr>
        <p:spPr>
          <a:xfrm>
            <a:off x="3381530" y="2820352"/>
            <a:ext cx="9093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Fundamental Check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5"/>
          <p:cNvSpPr/>
          <p:nvPr/>
        </p:nvSpPr>
        <p:spPr>
          <a:xfrm>
            <a:off x="5929313" y="1600200"/>
            <a:ext cx="2757488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45"/>
          <p:cNvSpPr/>
          <p:nvPr/>
        </p:nvSpPr>
        <p:spPr>
          <a:xfrm>
            <a:off x="5929313" y="1600200"/>
            <a:ext cx="2757488" cy="35719"/>
          </a:xfrm>
          <a:prstGeom prst="roundRect">
            <a:avLst>
              <a:gd fmla="val 4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45"/>
          <p:cNvSpPr/>
          <p:nvPr/>
        </p:nvSpPr>
        <p:spPr>
          <a:xfrm>
            <a:off x="6105525" y="1759744"/>
            <a:ext cx="133350" cy="166688"/>
          </a:xfrm>
          <a:custGeom>
            <a:rect b="b" l="l" r="r" t="t"/>
            <a:pathLst>
              <a:path extrusionOk="0" h="222250" w="177800">
                <a:moveTo>
                  <a:pt x="88900" y="0"/>
                </a:moveTo>
                <a:cubicBezTo>
                  <a:pt x="119586" y="0"/>
                  <a:pt x="144463" y="24876"/>
                  <a:pt x="144463" y="55562"/>
                </a:cubicBezTo>
                <a:lnTo>
                  <a:pt x="144463" y="88900"/>
                </a:lnTo>
                <a:cubicBezTo>
                  <a:pt x="162874" y="88900"/>
                  <a:pt x="177800" y="103826"/>
                  <a:pt x="177800" y="122238"/>
                </a:cubicBezTo>
                <a:lnTo>
                  <a:pt x="177800" y="188913"/>
                </a:lnTo>
                <a:cubicBezTo>
                  <a:pt x="177800" y="207324"/>
                  <a:pt x="162874" y="222250"/>
                  <a:pt x="144463" y="222250"/>
                </a:cubicBezTo>
                <a:lnTo>
                  <a:pt x="33338" y="222250"/>
                </a:lnTo>
                <a:cubicBezTo>
                  <a:pt x="14926" y="222250"/>
                  <a:pt x="0" y="207324"/>
                  <a:pt x="0" y="188913"/>
                </a:cubicBezTo>
                <a:lnTo>
                  <a:pt x="0" y="122238"/>
                </a:lnTo>
                <a:cubicBezTo>
                  <a:pt x="0" y="103826"/>
                  <a:pt x="14926" y="88900"/>
                  <a:pt x="33338" y="88900"/>
                </a:cubicBezTo>
                <a:lnTo>
                  <a:pt x="33338" y="55562"/>
                </a:lnTo>
                <a:cubicBezTo>
                  <a:pt x="33338" y="24876"/>
                  <a:pt x="58214" y="0"/>
                  <a:pt x="88900" y="0"/>
                </a:cubicBezTo>
                <a:moveTo>
                  <a:pt x="88900" y="133350"/>
                </a:moveTo>
                <a:cubicBezTo>
                  <a:pt x="77269" y="133346"/>
                  <a:pt x="67603" y="142310"/>
                  <a:pt x="66731" y="153908"/>
                </a:cubicBezTo>
                <a:lnTo>
                  <a:pt x="66675" y="155575"/>
                </a:lnTo>
                <a:cubicBezTo>
                  <a:pt x="66675" y="167850"/>
                  <a:pt x="76625" y="177800"/>
                  <a:pt x="88900" y="177800"/>
                </a:cubicBezTo>
                <a:cubicBezTo>
                  <a:pt x="101175" y="177800"/>
                  <a:pt x="111125" y="167850"/>
                  <a:pt x="111125" y="155575"/>
                </a:cubicBezTo>
                <a:cubicBezTo>
                  <a:pt x="111125" y="143300"/>
                  <a:pt x="101175" y="133350"/>
                  <a:pt x="88900" y="133350"/>
                </a:cubicBezTo>
                <a:moveTo>
                  <a:pt x="88900" y="22225"/>
                </a:moveTo>
                <a:cubicBezTo>
                  <a:pt x="70488" y="22225"/>
                  <a:pt x="55563" y="37151"/>
                  <a:pt x="55563" y="55562"/>
                </a:cubicBezTo>
                <a:lnTo>
                  <a:pt x="55563" y="88900"/>
                </a:lnTo>
                <a:lnTo>
                  <a:pt x="122238" y="88900"/>
                </a:lnTo>
                <a:lnTo>
                  <a:pt x="122238" y="55562"/>
                </a:lnTo>
                <a:cubicBezTo>
                  <a:pt x="122238" y="37151"/>
                  <a:pt x="107312" y="22225"/>
                  <a:pt x="88900" y="22225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45"/>
          <p:cNvSpPr txBox="1"/>
          <p:nvPr/>
        </p:nvSpPr>
        <p:spPr>
          <a:xfrm>
            <a:off x="6346508" y="1760220"/>
            <a:ext cx="11477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买入点 + 风险控制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45"/>
          <p:cNvSpPr txBox="1"/>
          <p:nvPr/>
        </p:nvSpPr>
        <p:spPr>
          <a:xfrm>
            <a:off x="6062901" y="2007037"/>
            <a:ext cx="168997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图形整固（VCP / 杯柄）突破买入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45"/>
          <p:cNvSpPr txBox="1"/>
          <p:nvPr/>
        </p:nvSpPr>
        <p:spPr>
          <a:xfrm>
            <a:off x="6062901" y="2164199"/>
            <a:ext cx="14443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止损设在整固低点下方 7-8%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45"/>
          <p:cNvSpPr txBox="1"/>
          <p:nvPr/>
        </p:nvSpPr>
        <p:spPr>
          <a:xfrm>
            <a:off x="6062901" y="2321362"/>
            <a:ext cx="11773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仓位根据风险比例计算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45"/>
          <p:cNvSpPr txBox="1"/>
          <p:nvPr/>
        </p:nvSpPr>
        <p:spPr>
          <a:xfrm>
            <a:off x="6062901" y="2478524"/>
            <a:ext cx="12841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止盈分批，跟踪止损退出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45"/>
          <p:cNvSpPr/>
          <p:nvPr/>
        </p:nvSpPr>
        <p:spPr>
          <a:xfrm>
            <a:off x="6072188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5"/>
          <p:cNvSpPr txBox="1"/>
          <p:nvPr/>
        </p:nvSpPr>
        <p:spPr>
          <a:xfrm>
            <a:off x="6083082" y="2820352"/>
            <a:ext cx="97833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Entry Point Analysis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45"/>
          <p:cNvSpPr/>
          <p:nvPr/>
        </p:nvSpPr>
        <p:spPr>
          <a:xfrm>
            <a:off x="457200" y="3143250"/>
            <a:ext cx="8229600" cy="657225"/>
          </a:xfrm>
          <a:prstGeom prst="roundRect">
            <a:avLst>
              <a:gd fmla="val 1087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45"/>
          <p:cNvSpPr txBox="1"/>
          <p:nvPr/>
        </p:nvSpPr>
        <p:spPr>
          <a:xfrm>
            <a:off x="2807751" y="3288982"/>
            <a:ext cx="3528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S4 的做法：把 SEPA 的每个判断标准，写成 Claude Skills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5"/>
          <p:cNvSpPr txBox="1"/>
          <p:nvPr/>
        </p:nvSpPr>
        <p:spPr>
          <a:xfrm>
            <a:off x="2149572" y="3501152"/>
            <a:ext cx="48448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你定义规则，AI 执行分析 · /ticker-scan → /stock-analyze → /stock-entry → /stock-exit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45"/>
          <p:cNvSpPr txBox="1"/>
          <p:nvPr/>
        </p:nvSpPr>
        <p:spPr>
          <a:xfrm>
            <a:off x="3449235" y="3658314"/>
            <a:ext cx="22455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你的方法论 + Claude = 自动化的投研流水线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45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9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46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46"/>
          <p:cNvSpPr txBox="1"/>
          <p:nvPr/>
        </p:nvSpPr>
        <p:spPr>
          <a:xfrm>
            <a:off x="560070" y="195739"/>
            <a:ext cx="44921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四个 Skill，串成完整交易流水线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46"/>
          <p:cNvSpPr txBox="1"/>
          <p:nvPr/>
        </p:nvSpPr>
        <p:spPr>
          <a:xfrm>
            <a:off x="574358" y="488633"/>
            <a:ext cx="25203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核心产出 · 从扫股到退出，全程 AI 辅助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46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46"/>
          <p:cNvSpPr/>
          <p:nvPr/>
        </p:nvSpPr>
        <p:spPr>
          <a:xfrm>
            <a:off x="457200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46"/>
          <p:cNvSpPr/>
          <p:nvPr/>
        </p:nvSpPr>
        <p:spPr>
          <a:xfrm>
            <a:off x="457200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46"/>
          <p:cNvSpPr/>
          <p:nvPr/>
        </p:nvSpPr>
        <p:spPr>
          <a:xfrm>
            <a:off x="585788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46"/>
          <p:cNvSpPr txBox="1"/>
          <p:nvPr/>
        </p:nvSpPr>
        <p:spPr>
          <a:xfrm>
            <a:off x="640688" y="1084421"/>
            <a:ext cx="3474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STEP 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46"/>
          <p:cNvSpPr/>
          <p:nvPr/>
        </p:nvSpPr>
        <p:spPr>
          <a:xfrm>
            <a:off x="1007269" y="141446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46"/>
          <p:cNvSpPr/>
          <p:nvPr/>
        </p:nvSpPr>
        <p:spPr>
          <a:xfrm>
            <a:off x="1173070" y="1577556"/>
            <a:ext cx="397811" cy="400519"/>
          </a:xfrm>
          <a:custGeom>
            <a:rect b="b" l="l" r="r" t="t"/>
            <a:pathLst>
              <a:path extrusionOk="0" h="534026" w="530415">
                <a:moveTo>
                  <a:pt x="325032" y="51071"/>
                </a:moveTo>
                <a:cubicBezTo>
                  <a:pt x="375884" y="80426"/>
                  <a:pt x="411553" y="130343"/>
                  <a:pt x="422849" y="187963"/>
                </a:cubicBezTo>
                <a:cubicBezTo>
                  <a:pt x="434145" y="245583"/>
                  <a:pt x="419964" y="305272"/>
                  <a:pt x="383960" y="351655"/>
                </a:cubicBezTo>
                <a:lnTo>
                  <a:pt x="520789" y="488485"/>
                </a:lnTo>
                <a:cubicBezTo>
                  <a:pt x="530415" y="498451"/>
                  <a:pt x="530278" y="514293"/>
                  <a:pt x="520480" y="524091"/>
                </a:cubicBezTo>
                <a:cubicBezTo>
                  <a:pt x="510682" y="533889"/>
                  <a:pt x="494840" y="534026"/>
                  <a:pt x="484874" y="524400"/>
                </a:cubicBezTo>
                <a:lnTo>
                  <a:pt x="348019" y="387570"/>
                </a:lnTo>
                <a:cubicBezTo>
                  <a:pt x="267347" y="450167"/>
                  <a:pt x="152752" y="443177"/>
                  <a:pt x="80288" y="371238"/>
                </a:cubicBezTo>
                <a:cubicBezTo>
                  <a:pt x="7824" y="299299"/>
                  <a:pt x="0" y="184757"/>
                  <a:pt x="62009" y="103633"/>
                </a:cubicBezTo>
                <a:cubicBezTo>
                  <a:pt x="124017" y="22509"/>
                  <a:pt x="236598" y="0"/>
                  <a:pt x="325032" y="51046"/>
                </a:cubicBezTo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6"/>
          <p:cNvSpPr/>
          <p:nvPr/>
        </p:nvSpPr>
        <p:spPr>
          <a:xfrm>
            <a:off x="614363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6"/>
          <p:cNvSpPr txBox="1"/>
          <p:nvPr/>
        </p:nvSpPr>
        <p:spPr>
          <a:xfrm>
            <a:off x="896380" y="2348151"/>
            <a:ext cx="96472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/ticker-scan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6"/>
          <p:cNvSpPr txBox="1"/>
          <p:nvPr/>
        </p:nvSpPr>
        <p:spPr>
          <a:xfrm>
            <a:off x="977711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扫描候选股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46"/>
          <p:cNvSpPr/>
          <p:nvPr/>
        </p:nvSpPr>
        <p:spPr>
          <a:xfrm>
            <a:off x="614363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46"/>
          <p:cNvSpPr txBox="1"/>
          <p:nvPr/>
        </p:nvSpPr>
        <p:spPr>
          <a:xfrm>
            <a:off x="785045" y="294393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输入赛道 / 板块关键词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46"/>
          <p:cNvSpPr txBox="1"/>
          <p:nvPr/>
        </p:nvSpPr>
        <p:spPr>
          <a:xfrm>
            <a:off x="851178" y="3101102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批量筛选候选股清单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6"/>
          <p:cNvSpPr/>
          <p:nvPr/>
        </p:nvSpPr>
        <p:spPr>
          <a:xfrm>
            <a:off x="614363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46"/>
          <p:cNvSpPr txBox="1"/>
          <p:nvPr/>
        </p:nvSpPr>
        <p:spPr>
          <a:xfrm>
            <a:off x="692229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6"/>
          <p:cNvSpPr txBox="1"/>
          <p:nvPr/>
        </p:nvSpPr>
        <p:spPr>
          <a:xfrm>
            <a:off x="1144964" y="3540800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赛道关键词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614363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46"/>
          <p:cNvSpPr txBox="1"/>
          <p:nvPr/>
        </p:nvSpPr>
        <p:spPr>
          <a:xfrm>
            <a:off x="692229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6"/>
          <p:cNvSpPr txBox="1"/>
          <p:nvPr/>
        </p:nvSpPr>
        <p:spPr>
          <a:xfrm>
            <a:off x="1144964" y="3783687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46"/>
          <p:cNvSpPr/>
          <p:nvPr/>
        </p:nvSpPr>
        <p:spPr>
          <a:xfrm>
            <a:off x="2300288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EA580C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46"/>
          <p:cNvSpPr/>
          <p:nvPr/>
        </p:nvSpPr>
        <p:spPr>
          <a:xfrm>
            <a:off x="2543175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46"/>
          <p:cNvSpPr/>
          <p:nvPr/>
        </p:nvSpPr>
        <p:spPr>
          <a:xfrm>
            <a:off x="2643188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46"/>
          <p:cNvSpPr/>
          <p:nvPr/>
        </p:nvSpPr>
        <p:spPr>
          <a:xfrm>
            <a:off x="2643188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46"/>
          <p:cNvSpPr/>
          <p:nvPr/>
        </p:nvSpPr>
        <p:spPr>
          <a:xfrm>
            <a:off x="2771775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46"/>
          <p:cNvSpPr txBox="1"/>
          <p:nvPr/>
        </p:nvSpPr>
        <p:spPr>
          <a:xfrm>
            <a:off x="2814352" y="1084421"/>
            <a:ext cx="37204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STEP 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3193256" y="141446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3" name="Google Shape;693;p46"/>
          <p:cNvGrpSpPr/>
          <p:nvPr/>
        </p:nvGrpSpPr>
        <p:grpSpPr>
          <a:xfrm>
            <a:off x="3392744" y="1650216"/>
            <a:ext cx="343974" cy="288122"/>
            <a:chOff x="4523659" y="2200288"/>
            <a:chExt cx="458632" cy="384162"/>
          </a:xfrm>
        </p:grpSpPr>
        <p:sp>
          <p:nvSpPr>
            <p:cNvPr id="694" name="Google Shape;694;p46"/>
            <p:cNvSpPr/>
            <p:nvPr/>
          </p:nvSpPr>
          <p:spPr>
            <a:xfrm>
              <a:off x="4523659" y="2533650"/>
              <a:ext cx="458632" cy="50800"/>
            </a:xfrm>
            <a:custGeom>
              <a:rect b="b" l="l" r="r" t="t"/>
              <a:pathLst>
                <a:path extrusionOk="0" h="50800" w="458632">
                  <a:moveTo>
                    <a:pt x="432516" y="0"/>
                  </a:moveTo>
                  <a:cubicBezTo>
                    <a:pt x="445955" y="15"/>
                    <a:pt x="457056" y="10496"/>
                    <a:pt x="457844" y="23911"/>
                  </a:cubicBezTo>
                  <a:cubicBezTo>
                    <a:pt x="458632" y="37327"/>
                    <a:pt x="448832" y="49035"/>
                    <a:pt x="435488" y="50622"/>
                  </a:cubicBezTo>
                  <a:lnTo>
                    <a:pt x="432516" y="50800"/>
                  </a:lnTo>
                  <a:lnTo>
                    <a:pt x="26116" y="50800"/>
                  </a:lnTo>
                  <a:cubicBezTo>
                    <a:pt x="12677" y="50785"/>
                    <a:pt x="1575" y="40304"/>
                    <a:pt x="788" y="26889"/>
                  </a:cubicBezTo>
                  <a:cubicBezTo>
                    <a:pt x="0" y="13473"/>
                    <a:pt x="9799" y="1765"/>
                    <a:pt x="23144" y="178"/>
                  </a:cubicBezTo>
                  <a:lnTo>
                    <a:pt x="26116" y="0"/>
                  </a:lnTo>
                  <a:lnTo>
                    <a:pt x="432516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46"/>
            <p:cNvSpPr/>
            <p:nvPr/>
          </p:nvSpPr>
          <p:spPr>
            <a:xfrm>
              <a:off x="4524375" y="2200288"/>
              <a:ext cx="457200" cy="282562"/>
            </a:xfrm>
            <a:custGeom>
              <a:rect b="b" l="l" r="r" t="t"/>
              <a:pathLst>
                <a:path extrusionOk="0" h="282562" w="457200">
                  <a:moveTo>
                    <a:pt x="310388" y="12687"/>
                  </a:moveTo>
                  <a:cubicBezTo>
                    <a:pt x="319060" y="1865"/>
                    <a:pt x="334810" y="0"/>
                    <a:pt x="345770" y="8496"/>
                  </a:cubicBezTo>
                  <a:lnTo>
                    <a:pt x="348158" y="10604"/>
                  </a:lnTo>
                  <a:lnTo>
                    <a:pt x="449758" y="112204"/>
                  </a:lnTo>
                  <a:cubicBezTo>
                    <a:pt x="453705" y="116156"/>
                    <a:pt x="456241" y="121298"/>
                    <a:pt x="456971" y="126835"/>
                  </a:cubicBezTo>
                  <a:lnTo>
                    <a:pt x="457200" y="130162"/>
                  </a:lnTo>
                  <a:lnTo>
                    <a:pt x="457200" y="257162"/>
                  </a:lnTo>
                  <a:cubicBezTo>
                    <a:pt x="457198" y="270039"/>
                    <a:pt x="447561" y="280878"/>
                    <a:pt x="434772" y="282384"/>
                  </a:cubicBezTo>
                  <a:lnTo>
                    <a:pt x="431800" y="282562"/>
                  </a:lnTo>
                  <a:lnTo>
                    <a:pt x="24841" y="282562"/>
                  </a:lnTo>
                  <a:lnTo>
                    <a:pt x="22047" y="282334"/>
                  </a:lnTo>
                  <a:lnTo>
                    <a:pt x="19253" y="281826"/>
                  </a:lnTo>
                  <a:lnTo>
                    <a:pt x="16535" y="280962"/>
                  </a:lnTo>
                  <a:lnTo>
                    <a:pt x="13868" y="279794"/>
                  </a:lnTo>
                  <a:lnTo>
                    <a:pt x="11328" y="278295"/>
                  </a:lnTo>
                  <a:lnTo>
                    <a:pt x="8941" y="276517"/>
                  </a:lnTo>
                  <a:lnTo>
                    <a:pt x="7417" y="275120"/>
                  </a:lnTo>
                  <a:lnTo>
                    <a:pt x="5588" y="273037"/>
                  </a:lnTo>
                  <a:lnTo>
                    <a:pt x="3962" y="270777"/>
                  </a:lnTo>
                  <a:lnTo>
                    <a:pt x="2591" y="268338"/>
                  </a:lnTo>
                  <a:lnTo>
                    <a:pt x="2184" y="267449"/>
                  </a:lnTo>
                  <a:lnTo>
                    <a:pt x="1168" y="264833"/>
                  </a:lnTo>
                  <a:lnTo>
                    <a:pt x="483" y="262141"/>
                  </a:lnTo>
                  <a:lnTo>
                    <a:pt x="102" y="259397"/>
                  </a:lnTo>
                  <a:lnTo>
                    <a:pt x="0" y="256603"/>
                  </a:lnTo>
                  <a:lnTo>
                    <a:pt x="229" y="253809"/>
                  </a:lnTo>
                  <a:lnTo>
                    <a:pt x="711" y="251142"/>
                  </a:lnTo>
                  <a:cubicBezTo>
                    <a:pt x="965" y="250126"/>
                    <a:pt x="1270" y="249187"/>
                    <a:pt x="1600" y="248298"/>
                  </a:cubicBezTo>
                  <a:lnTo>
                    <a:pt x="2769" y="245631"/>
                  </a:lnTo>
                  <a:lnTo>
                    <a:pt x="4267" y="243091"/>
                  </a:lnTo>
                  <a:lnTo>
                    <a:pt x="105867" y="90691"/>
                  </a:lnTo>
                  <a:cubicBezTo>
                    <a:pt x="112301" y="81005"/>
                    <a:pt x="124490" y="76924"/>
                    <a:pt x="135458" y="80785"/>
                  </a:cubicBezTo>
                  <a:lnTo>
                    <a:pt x="138354" y="82055"/>
                  </a:lnTo>
                  <a:lnTo>
                    <a:pt x="221590" y="123660"/>
                  </a:lnTo>
                  <a:lnTo>
                    <a:pt x="310363" y="12687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6" name="Google Shape;696;p46"/>
          <p:cNvSpPr/>
          <p:nvPr/>
        </p:nvSpPr>
        <p:spPr>
          <a:xfrm>
            <a:off x="2800350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46"/>
          <p:cNvSpPr txBox="1"/>
          <p:nvPr/>
        </p:nvSpPr>
        <p:spPr>
          <a:xfrm>
            <a:off x="3032352" y="2354223"/>
            <a:ext cx="106475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/stock-analyze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46"/>
          <p:cNvSpPr txBox="1"/>
          <p:nvPr/>
        </p:nvSpPr>
        <p:spPr>
          <a:xfrm>
            <a:off x="3043365" y="2619614"/>
            <a:ext cx="10427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基本面+技术面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46"/>
          <p:cNvSpPr/>
          <p:nvPr/>
        </p:nvSpPr>
        <p:spPr>
          <a:xfrm>
            <a:off x="2800350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46"/>
          <p:cNvSpPr txBox="1"/>
          <p:nvPr/>
        </p:nvSpPr>
        <p:spPr>
          <a:xfrm>
            <a:off x="320968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输入股票代码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309467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生成完整分析报告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6"/>
          <p:cNvSpPr/>
          <p:nvPr/>
        </p:nvSpPr>
        <p:spPr>
          <a:xfrm>
            <a:off x="2800350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2878217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337613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股票代码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46"/>
          <p:cNvSpPr/>
          <p:nvPr/>
        </p:nvSpPr>
        <p:spPr>
          <a:xfrm>
            <a:off x="2800350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2878217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6"/>
          <p:cNvSpPr txBox="1"/>
          <p:nvPr/>
        </p:nvSpPr>
        <p:spPr>
          <a:xfrm>
            <a:off x="337613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46"/>
          <p:cNvSpPr/>
          <p:nvPr/>
        </p:nvSpPr>
        <p:spPr>
          <a:xfrm>
            <a:off x="4486275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4F46E5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46"/>
          <p:cNvSpPr/>
          <p:nvPr/>
        </p:nvSpPr>
        <p:spPr>
          <a:xfrm>
            <a:off x="4729163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46"/>
          <p:cNvSpPr/>
          <p:nvPr/>
        </p:nvSpPr>
        <p:spPr>
          <a:xfrm>
            <a:off x="4829175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46"/>
          <p:cNvSpPr/>
          <p:nvPr/>
        </p:nvSpPr>
        <p:spPr>
          <a:xfrm>
            <a:off x="4829175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46"/>
          <p:cNvSpPr/>
          <p:nvPr/>
        </p:nvSpPr>
        <p:spPr>
          <a:xfrm>
            <a:off x="4957763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46"/>
          <p:cNvSpPr txBox="1"/>
          <p:nvPr/>
        </p:nvSpPr>
        <p:spPr>
          <a:xfrm>
            <a:off x="5000339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STEP 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46"/>
          <p:cNvSpPr/>
          <p:nvPr/>
        </p:nvSpPr>
        <p:spPr>
          <a:xfrm>
            <a:off x="5379244" y="141446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46"/>
          <p:cNvSpPr/>
          <p:nvPr/>
        </p:nvSpPr>
        <p:spPr>
          <a:xfrm>
            <a:off x="5560219" y="1586904"/>
            <a:ext cx="400622" cy="401278"/>
          </a:xfrm>
          <a:custGeom>
            <a:rect b="b" l="l" r="r" t="t"/>
            <a:pathLst>
              <a:path extrusionOk="0" h="535037" w="534163">
                <a:moveTo>
                  <a:pt x="381000" y="45414"/>
                </a:moveTo>
                <a:cubicBezTo>
                  <a:pt x="486852" y="106531"/>
                  <a:pt x="534163" y="234374"/>
                  <a:pt x="493598" y="349676"/>
                </a:cubicBezTo>
                <a:cubicBezTo>
                  <a:pt x="453034" y="464978"/>
                  <a:pt x="336099" y="535037"/>
                  <a:pt x="215297" y="516415"/>
                </a:cubicBezTo>
                <a:cubicBezTo>
                  <a:pt x="94494" y="497794"/>
                  <a:pt x="4086" y="395772"/>
                  <a:pt x="127" y="273607"/>
                </a:cubicBezTo>
                <a:lnTo>
                  <a:pt x="0" y="265378"/>
                </a:lnTo>
                <a:lnTo>
                  <a:pt x="127" y="257148"/>
                </a:lnTo>
                <a:cubicBezTo>
                  <a:pt x="3021" y="167917"/>
                  <a:pt x="52548" y="86757"/>
                  <a:pt x="130579" y="43379"/>
                </a:cubicBezTo>
                <a:cubicBezTo>
                  <a:pt x="208609" y="0"/>
                  <a:pt x="303685" y="773"/>
                  <a:pt x="381000" y="45414"/>
                </a:cubicBezTo>
                <a:close/>
                <a:moveTo>
                  <a:pt x="330200" y="163778"/>
                </a:moveTo>
                <a:lnTo>
                  <a:pt x="177800" y="163778"/>
                </a:lnTo>
                <a:lnTo>
                  <a:pt x="174828" y="163955"/>
                </a:lnTo>
                <a:cubicBezTo>
                  <a:pt x="162039" y="165462"/>
                  <a:pt x="152402" y="176300"/>
                  <a:pt x="152400" y="189178"/>
                </a:cubicBezTo>
                <a:lnTo>
                  <a:pt x="152578" y="192149"/>
                </a:lnTo>
                <a:cubicBezTo>
                  <a:pt x="154084" y="204938"/>
                  <a:pt x="164923" y="214576"/>
                  <a:pt x="177800" y="214578"/>
                </a:cubicBezTo>
                <a:lnTo>
                  <a:pt x="268834" y="214578"/>
                </a:lnTo>
                <a:lnTo>
                  <a:pt x="159842" y="323620"/>
                </a:lnTo>
                <a:lnTo>
                  <a:pt x="157734" y="326007"/>
                </a:lnTo>
                <a:cubicBezTo>
                  <a:pt x="149542" y="336603"/>
                  <a:pt x="150983" y="351738"/>
                  <a:pt x="161029" y="360596"/>
                </a:cubicBezTo>
                <a:cubicBezTo>
                  <a:pt x="171074" y="369454"/>
                  <a:pt x="186272" y="368990"/>
                  <a:pt x="195758" y="359535"/>
                </a:cubicBezTo>
                <a:lnTo>
                  <a:pt x="304800" y="250493"/>
                </a:lnTo>
                <a:lnTo>
                  <a:pt x="304800" y="341578"/>
                </a:lnTo>
                <a:lnTo>
                  <a:pt x="304978" y="344549"/>
                </a:lnTo>
                <a:cubicBezTo>
                  <a:pt x="306565" y="357894"/>
                  <a:pt x="318273" y="367693"/>
                  <a:pt x="331689" y="366906"/>
                </a:cubicBezTo>
                <a:cubicBezTo>
                  <a:pt x="345104" y="366118"/>
                  <a:pt x="355585" y="355017"/>
                  <a:pt x="355600" y="341578"/>
                </a:cubicBezTo>
                <a:lnTo>
                  <a:pt x="355600" y="189178"/>
                </a:lnTo>
                <a:lnTo>
                  <a:pt x="355422" y="186206"/>
                </a:lnTo>
                <a:lnTo>
                  <a:pt x="354686" y="182421"/>
                </a:lnTo>
                <a:lnTo>
                  <a:pt x="353797" y="179754"/>
                </a:lnTo>
                <a:lnTo>
                  <a:pt x="352425" y="176884"/>
                </a:lnTo>
                <a:lnTo>
                  <a:pt x="350622" y="174065"/>
                </a:lnTo>
                <a:cubicBezTo>
                  <a:pt x="349871" y="173057"/>
                  <a:pt x="349048" y="172107"/>
                  <a:pt x="348158" y="171220"/>
                </a:cubicBezTo>
                <a:lnTo>
                  <a:pt x="345872" y="169188"/>
                </a:lnTo>
                <a:lnTo>
                  <a:pt x="343433" y="167486"/>
                </a:lnTo>
                <a:lnTo>
                  <a:pt x="340944" y="166165"/>
                </a:lnTo>
                <a:lnTo>
                  <a:pt x="338150" y="165048"/>
                </a:lnTo>
                <a:lnTo>
                  <a:pt x="335305" y="164286"/>
                </a:lnTo>
                <a:lnTo>
                  <a:pt x="332105" y="163854"/>
                </a:lnTo>
                <a:lnTo>
                  <a:pt x="330200" y="16377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6"/>
          <p:cNvSpPr/>
          <p:nvPr/>
        </p:nvSpPr>
        <p:spPr>
          <a:xfrm>
            <a:off x="4986338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46"/>
          <p:cNvSpPr txBox="1"/>
          <p:nvPr/>
        </p:nvSpPr>
        <p:spPr>
          <a:xfrm>
            <a:off x="5249870" y="2348151"/>
            <a:ext cx="1001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/stock-entry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5349686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确认买入点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46"/>
          <p:cNvSpPr/>
          <p:nvPr/>
        </p:nvSpPr>
        <p:spPr>
          <a:xfrm>
            <a:off x="4986338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6"/>
          <p:cNvSpPr txBox="1"/>
          <p:nvPr/>
        </p:nvSpPr>
        <p:spPr>
          <a:xfrm>
            <a:off x="5395675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46"/>
          <p:cNvSpPr txBox="1"/>
          <p:nvPr/>
        </p:nvSpPr>
        <p:spPr>
          <a:xfrm>
            <a:off x="5280660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输出最佳买入建议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46"/>
          <p:cNvSpPr/>
          <p:nvPr/>
        </p:nvSpPr>
        <p:spPr>
          <a:xfrm>
            <a:off x="4986338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46"/>
          <p:cNvSpPr txBox="1"/>
          <p:nvPr/>
        </p:nvSpPr>
        <p:spPr>
          <a:xfrm>
            <a:off x="5064204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46"/>
          <p:cNvSpPr txBox="1"/>
          <p:nvPr/>
        </p:nvSpPr>
        <p:spPr>
          <a:xfrm>
            <a:off x="5562124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46"/>
          <p:cNvSpPr/>
          <p:nvPr/>
        </p:nvSpPr>
        <p:spPr>
          <a:xfrm>
            <a:off x="4986338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46"/>
          <p:cNvSpPr txBox="1"/>
          <p:nvPr/>
        </p:nvSpPr>
        <p:spPr>
          <a:xfrm>
            <a:off x="5064204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46"/>
          <p:cNvSpPr txBox="1"/>
          <p:nvPr/>
        </p:nvSpPr>
        <p:spPr>
          <a:xfrm>
            <a:off x="5419793" y="3783687"/>
            <a:ext cx="66185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买入建议 + 仓位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46"/>
          <p:cNvSpPr/>
          <p:nvPr/>
        </p:nvSpPr>
        <p:spPr>
          <a:xfrm>
            <a:off x="6672263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16A34A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46"/>
          <p:cNvSpPr/>
          <p:nvPr/>
        </p:nvSpPr>
        <p:spPr>
          <a:xfrm>
            <a:off x="6915150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46"/>
          <p:cNvSpPr/>
          <p:nvPr/>
        </p:nvSpPr>
        <p:spPr>
          <a:xfrm>
            <a:off x="7015163" y="914400"/>
            <a:ext cx="1671638" cy="342900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46"/>
          <p:cNvSpPr/>
          <p:nvPr/>
        </p:nvSpPr>
        <p:spPr>
          <a:xfrm>
            <a:off x="7015163" y="914400"/>
            <a:ext cx="1671638" cy="42863"/>
          </a:xfrm>
          <a:prstGeom prst="roundRect">
            <a:avLst>
              <a:gd fmla="val 50000" name="adj"/>
            </a:avLst>
          </a:pr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46"/>
          <p:cNvSpPr/>
          <p:nvPr/>
        </p:nvSpPr>
        <p:spPr>
          <a:xfrm>
            <a:off x="7143750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3F4F6"/>
          </a:solidFill>
          <a:ln cap="flat" cmpd="sng" w="9525">
            <a:solidFill>
              <a:srgbClr val="9CA3A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6"/>
          <p:cNvSpPr txBox="1"/>
          <p:nvPr/>
        </p:nvSpPr>
        <p:spPr>
          <a:xfrm>
            <a:off x="7186327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STEP 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6"/>
          <p:cNvSpPr/>
          <p:nvPr/>
        </p:nvSpPr>
        <p:spPr>
          <a:xfrm>
            <a:off x="7479506" y="1414463"/>
            <a:ext cx="742950" cy="742950"/>
          </a:xfrm>
          <a:prstGeom prst="ellipse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46"/>
          <p:cNvSpPr/>
          <p:nvPr/>
        </p:nvSpPr>
        <p:spPr>
          <a:xfrm>
            <a:off x="7698581" y="1595276"/>
            <a:ext cx="304800" cy="381698"/>
          </a:xfrm>
          <a:custGeom>
            <a:rect b="b" l="l" r="r" t="t"/>
            <a:pathLst>
              <a:path extrusionOk="0" h="508931" w="406400">
                <a:moveTo>
                  <a:pt x="0" y="76416"/>
                </a:moveTo>
                <a:cubicBezTo>
                  <a:pt x="1" y="69592"/>
                  <a:pt x="2747" y="63056"/>
                  <a:pt x="7620" y="58280"/>
                </a:cubicBezTo>
                <a:cubicBezTo>
                  <a:pt x="65075" y="1957"/>
                  <a:pt x="156415" y="0"/>
                  <a:pt x="216230" y="53810"/>
                </a:cubicBezTo>
                <a:lnTo>
                  <a:pt x="225146" y="62141"/>
                </a:lnTo>
                <a:cubicBezTo>
                  <a:pt x="263468" y="95717"/>
                  <a:pt x="320732" y="95717"/>
                  <a:pt x="359054" y="62141"/>
                </a:cubicBezTo>
                <a:lnTo>
                  <a:pt x="365379" y="56375"/>
                </a:lnTo>
                <a:cubicBezTo>
                  <a:pt x="380873" y="44107"/>
                  <a:pt x="404165" y="53911"/>
                  <a:pt x="406273" y="73545"/>
                </a:cubicBezTo>
                <a:lnTo>
                  <a:pt x="406400" y="76416"/>
                </a:lnTo>
                <a:lnTo>
                  <a:pt x="406400" y="305016"/>
                </a:lnTo>
                <a:cubicBezTo>
                  <a:pt x="406399" y="311839"/>
                  <a:pt x="403653" y="318375"/>
                  <a:pt x="398780" y="323151"/>
                </a:cubicBezTo>
                <a:cubicBezTo>
                  <a:pt x="341325" y="379474"/>
                  <a:pt x="249985" y="381431"/>
                  <a:pt x="190170" y="327622"/>
                </a:cubicBezTo>
                <a:lnTo>
                  <a:pt x="181254" y="319290"/>
                </a:lnTo>
                <a:cubicBezTo>
                  <a:pt x="144217" y="286839"/>
                  <a:pt x="89241" y="285618"/>
                  <a:pt x="50800" y="316395"/>
                </a:cubicBezTo>
                <a:lnTo>
                  <a:pt x="50800" y="482816"/>
                </a:lnTo>
                <a:cubicBezTo>
                  <a:pt x="50785" y="496254"/>
                  <a:pt x="40304" y="507356"/>
                  <a:pt x="26889" y="508144"/>
                </a:cubicBezTo>
                <a:cubicBezTo>
                  <a:pt x="13473" y="508931"/>
                  <a:pt x="1765" y="499132"/>
                  <a:pt x="178" y="485787"/>
                </a:cubicBezTo>
                <a:lnTo>
                  <a:pt x="0" y="482816"/>
                </a:lnTo>
                <a:lnTo>
                  <a:pt x="0" y="76416"/>
                </a:lnTo>
                <a:close/>
              </a:path>
            </a:pathLst>
          </a:cu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6"/>
          <p:cNvSpPr/>
          <p:nvPr/>
        </p:nvSpPr>
        <p:spPr>
          <a:xfrm>
            <a:off x="7172325" y="2286000"/>
            <a:ext cx="1385888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46"/>
          <p:cNvSpPr txBox="1"/>
          <p:nvPr/>
        </p:nvSpPr>
        <p:spPr>
          <a:xfrm>
            <a:off x="7409283" y="2348151"/>
            <a:ext cx="883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/stock-exit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46"/>
          <p:cNvSpPr txBox="1"/>
          <p:nvPr/>
        </p:nvSpPr>
        <p:spPr>
          <a:xfrm>
            <a:off x="7372314" y="2619614"/>
            <a:ext cx="95733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止盈止损计划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46"/>
          <p:cNvSpPr/>
          <p:nvPr/>
        </p:nvSpPr>
        <p:spPr>
          <a:xfrm>
            <a:off x="7172325" y="2843213"/>
            <a:ext cx="1385888" cy="7144"/>
          </a:xfrm>
          <a:custGeom>
            <a:rect b="b" l="l" r="r" t="t"/>
            <a:pathLst>
              <a:path extrusionOk="0" h="9525" w="1847850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46"/>
          <p:cNvSpPr txBox="1"/>
          <p:nvPr/>
        </p:nvSpPr>
        <p:spPr>
          <a:xfrm>
            <a:off x="749593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输入持仓信息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46"/>
          <p:cNvSpPr txBox="1"/>
          <p:nvPr/>
        </p:nvSpPr>
        <p:spPr>
          <a:xfrm>
            <a:off x="738092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制定退出执行计划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6"/>
          <p:cNvSpPr/>
          <p:nvPr/>
        </p:nvSpPr>
        <p:spPr>
          <a:xfrm>
            <a:off x="7172325" y="3486150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46"/>
          <p:cNvSpPr txBox="1"/>
          <p:nvPr/>
        </p:nvSpPr>
        <p:spPr>
          <a:xfrm>
            <a:off x="7250192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46"/>
          <p:cNvSpPr txBox="1"/>
          <p:nvPr/>
        </p:nvSpPr>
        <p:spPr>
          <a:xfrm>
            <a:off x="766238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持仓信息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46"/>
          <p:cNvSpPr/>
          <p:nvPr/>
        </p:nvSpPr>
        <p:spPr>
          <a:xfrm>
            <a:off x="7172325" y="3729038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6"/>
          <p:cNvSpPr txBox="1"/>
          <p:nvPr/>
        </p:nvSpPr>
        <p:spPr>
          <a:xfrm>
            <a:off x="7250192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46"/>
          <p:cNvSpPr txBox="1"/>
          <p:nvPr/>
        </p:nvSpPr>
        <p:spPr>
          <a:xfrm>
            <a:off x="766238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退出计划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6"/>
          <p:cNvSpPr txBox="1"/>
          <p:nvPr/>
        </p:nvSpPr>
        <p:spPr>
          <a:xfrm>
            <a:off x="3276615" y="4609505"/>
            <a:ext cx="25907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一条命令 → 30 秒出结果 · 标准一致 · 不靠记忆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46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10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47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47"/>
          <p:cNvSpPr txBox="1"/>
          <p:nvPr/>
        </p:nvSpPr>
        <p:spPr>
          <a:xfrm>
            <a:off x="560070" y="195739"/>
            <a:ext cx="394869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现场演示：AI 分析报告长这样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47"/>
          <p:cNvSpPr txBox="1"/>
          <p:nvPr/>
        </p:nvSpPr>
        <p:spPr>
          <a:xfrm>
            <a:off x="574358" y="488633"/>
            <a:ext cx="282921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30 秒生成 · SEPA 框架 · 有理有据 · 直接可执行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47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47"/>
          <p:cNvSpPr/>
          <p:nvPr/>
        </p:nvSpPr>
        <p:spPr>
          <a:xfrm>
            <a:off x="457200" y="842963"/>
            <a:ext cx="5000625" cy="3471863"/>
          </a:xfrm>
          <a:prstGeom prst="roundRect">
            <a:avLst>
              <a:gd fmla="val 2058" name="adj"/>
            </a:avLst>
          </a:prstGeom>
          <a:solidFill>
            <a:srgbClr val="11182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47"/>
          <p:cNvSpPr/>
          <p:nvPr/>
        </p:nvSpPr>
        <p:spPr>
          <a:xfrm>
            <a:off x="457200" y="842963"/>
            <a:ext cx="5000625" cy="257175"/>
          </a:xfrm>
          <a:prstGeom prst="roundRect">
            <a:avLst>
              <a:gd fmla="val 27778" name="adj"/>
            </a:avLst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47"/>
          <p:cNvSpPr/>
          <p:nvPr/>
        </p:nvSpPr>
        <p:spPr>
          <a:xfrm>
            <a:off x="457200" y="1057275"/>
            <a:ext cx="5000625" cy="42863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47"/>
          <p:cNvSpPr/>
          <p:nvPr/>
        </p:nvSpPr>
        <p:spPr>
          <a:xfrm>
            <a:off x="600075" y="928688"/>
            <a:ext cx="85725" cy="8572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47"/>
          <p:cNvSpPr/>
          <p:nvPr/>
        </p:nvSpPr>
        <p:spPr>
          <a:xfrm>
            <a:off x="742950" y="928688"/>
            <a:ext cx="85725" cy="85725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47"/>
          <p:cNvSpPr/>
          <p:nvPr/>
        </p:nvSpPr>
        <p:spPr>
          <a:xfrm>
            <a:off x="885825" y="928688"/>
            <a:ext cx="85725" cy="85725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47"/>
          <p:cNvSpPr txBox="1"/>
          <p:nvPr/>
        </p:nvSpPr>
        <p:spPr>
          <a:xfrm>
            <a:off x="1673361" y="928331"/>
            <a:ext cx="17967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Claude Code — /stock-analyze NVDA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7"/>
          <p:cNvSpPr txBox="1"/>
          <p:nvPr/>
        </p:nvSpPr>
        <p:spPr>
          <a:xfrm>
            <a:off x="619363" y="1192649"/>
            <a:ext cx="11720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$ /stock-analyze NVDA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47"/>
          <p:cNvSpPr txBox="1"/>
          <p:nvPr/>
        </p:nvSpPr>
        <p:spPr>
          <a:xfrm>
            <a:off x="620078" y="1327309"/>
            <a:ext cx="24176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Fetching market data... Running SEPA analysis...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47"/>
          <p:cNvSpPr txBox="1"/>
          <p:nvPr/>
        </p:nvSpPr>
        <p:spPr>
          <a:xfrm>
            <a:off x="618649" y="1500902"/>
            <a:ext cx="154768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== NVDA · SEPA 分析报告 ==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47"/>
          <p:cNvSpPr/>
          <p:nvPr/>
        </p:nvSpPr>
        <p:spPr>
          <a:xfrm>
            <a:off x="628650" y="1643063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47"/>
          <p:cNvSpPr txBox="1"/>
          <p:nvPr/>
        </p:nvSpPr>
        <p:spPr>
          <a:xfrm>
            <a:off x="620078" y="172735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[基本面]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47"/>
          <p:cNvSpPr txBox="1"/>
          <p:nvPr/>
        </p:nvSpPr>
        <p:spPr>
          <a:xfrm>
            <a:off x="620078" y="1841659"/>
            <a:ext cx="20923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EPS YoY +122% ROE 73% 净利率 55% 无重大负债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47"/>
          <p:cNvSpPr txBox="1"/>
          <p:nvPr/>
        </p:nvSpPr>
        <p:spPr>
          <a:xfrm>
            <a:off x="620078" y="1955959"/>
            <a:ext cx="127408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护城河：CUDA 垄断 评级: A+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47"/>
          <p:cNvSpPr txBox="1"/>
          <p:nvPr/>
        </p:nvSpPr>
        <p:spPr>
          <a:xfrm>
            <a:off x="620078" y="212740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[技术面]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47"/>
          <p:cNvSpPr txBox="1"/>
          <p:nvPr/>
        </p:nvSpPr>
        <p:spPr>
          <a:xfrm>
            <a:off x="620078" y="2241709"/>
            <a:ext cx="19247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RS=97 突破前高阻力 $875 成交量放大 2.3x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7"/>
          <p:cNvSpPr txBox="1"/>
          <p:nvPr/>
        </p:nvSpPr>
        <p:spPr>
          <a:xfrm>
            <a:off x="620078" y="2356009"/>
            <a:ext cx="11656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VCP 紧缩形态确认 评级: 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47"/>
          <p:cNvSpPr txBox="1"/>
          <p:nvPr/>
        </p:nvSpPr>
        <p:spPr>
          <a:xfrm>
            <a:off x="620078" y="2527459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[趋势状态]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47"/>
          <p:cNvSpPr txBox="1"/>
          <p:nvPr/>
        </p:nvSpPr>
        <p:spPr>
          <a:xfrm>
            <a:off x="620078" y="2641759"/>
            <a:ext cx="178179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Stage 2 超级强势趋势 14 周连续 &gt; 50MA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47"/>
          <p:cNvSpPr txBox="1"/>
          <p:nvPr/>
        </p:nvSpPr>
        <p:spPr>
          <a:xfrm>
            <a:off x="620078" y="2756059"/>
            <a:ext cx="142196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大盘相对强度持续提升 评级: A+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47"/>
          <p:cNvSpPr/>
          <p:nvPr/>
        </p:nvSpPr>
        <p:spPr>
          <a:xfrm>
            <a:off x="628650" y="2943225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47"/>
          <p:cNvSpPr txBox="1"/>
          <p:nvPr/>
        </p:nvSpPr>
        <p:spPr>
          <a:xfrm>
            <a:off x="620078" y="3013234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rPr>
              <a:t>[行动建议]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47"/>
          <p:cNvSpPr txBox="1"/>
          <p:nvPr/>
        </p:nvSpPr>
        <p:spPr>
          <a:xfrm>
            <a:off x="620078" y="3127534"/>
            <a:ext cx="104241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买入区间: $878 - $895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47"/>
          <p:cNvSpPr txBox="1"/>
          <p:nvPr/>
        </p:nvSpPr>
        <p:spPr>
          <a:xfrm>
            <a:off x="620078" y="3241834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止损位: $842 (-4.3%)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47"/>
          <p:cNvSpPr txBox="1"/>
          <p:nvPr/>
        </p:nvSpPr>
        <p:spPr>
          <a:xfrm>
            <a:off x="620078" y="3356134"/>
            <a:ext cx="108185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目标价: $1,050+ (+18%)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7"/>
          <p:cNvSpPr txBox="1"/>
          <p:nvPr/>
        </p:nvSpPr>
        <p:spPr>
          <a:xfrm>
            <a:off x="618649" y="3544014"/>
            <a:ext cx="14691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综合评级: 强买入 [*****]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47"/>
          <p:cNvSpPr txBox="1"/>
          <p:nvPr/>
        </p:nvSpPr>
        <p:spPr>
          <a:xfrm>
            <a:off x="620792" y="3690818"/>
            <a:ext cx="262736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Generated in 28s · Powered by Claude + /stock-analyze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47"/>
          <p:cNvSpPr/>
          <p:nvPr/>
        </p:nvSpPr>
        <p:spPr>
          <a:xfrm>
            <a:off x="5715000" y="842963"/>
            <a:ext cx="2971800" cy="1643063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7"/>
          <p:cNvSpPr/>
          <p:nvPr/>
        </p:nvSpPr>
        <p:spPr>
          <a:xfrm>
            <a:off x="5715000" y="84296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88" name="Google Shape;788;p47"/>
          <p:cNvGrpSpPr/>
          <p:nvPr/>
        </p:nvGrpSpPr>
        <p:grpSpPr>
          <a:xfrm>
            <a:off x="5881090" y="1009055"/>
            <a:ext cx="139308" cy="139521"/>
            <a:chOff x="7841453" y="1345406"/>
            <a:chExt cx="185744" cy="186028"/>
          </a:xfrm>
        </p:grpSpPr>
        <p:sp>
          <p:nvSpPr>
            <p:cNvPr id="789" name="Google Shape;789;p47"/>
            <p:cNvSpPr/>
            <p:nvPr/>
          </p:nvSpPr>
          <p:spPr>
            <a:xfrm>
              <a:off x="7841453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20637"/>
                  </a:lnTo>
                  <a:cubicBezTo>
                    <a:pt x="52078" y="20634"/>
                    <a:pt x="61054" y="28958"/>
                    <a:pt x="61864" y="39727"/>
                  </a:cubicBezTo>
                  <a:lnTo>
                    <a:pt x="61916" y="41275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41275"/>
                  </a:lnTo>
                  <a:cubicBezTo>
                    <a:pt x="0" y="30475"/>
                    <a:pt x="8324" y="21499"/>
                    <a:pt x="19093" y="20689"/>
                  </a:cubicBezTo>
                  <a:lnTo>
                    <a:pt x="20641" y="20637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7903365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103188"/>
                  </a:lnTo>
                  <a:cubicBezTo>
                    <a:pt x="52078" y="103184"/>
                    <a:pt x="61054" y="111508"/>
                    <a:pt x="61864" y="122277"/>
                  </a:cubicBezTo>
                  <a:lnTo>
                    <a:pt x="61916" y="123825"/>
                  </a:lnTo>
                  <a:lnTo>
                    <a:pt x="61916" y="154781"/>
                  </a:lnTo>
                  <a:cubicBezTo>
                    <a:pt x="61919" y="165581"/>
                    <a:pt x="53596" y="174557"/>
                    <a:pt x="42826" y="175367"/>
                  </a:cubicBez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19093" y="175367"/>
                  </a:lnTo>
                  <a:cubicBezTo>
                    <a:pt x="8941" y="174604"/>
                    <a:pt x="861" y="166551"/>
                    <a:pt x="65" y="156401"/>
                  </a:cubicBezTo>
                  <a:lnTo>
                    <a:pt x="3" y="154781"/>
                  </a:lnTo>
                  <a:lnTo>
                    <a:pt x="3" y="123825"/>
                  </a:lnTo>
                  <a:cubicBezTo>
                    <a:pt x="0" y="113025"/>
                    <a:pt x="8324" y="104049"/>
                    <a:pt x="19093" y="103239"/>
                  </a:cubicBezTo>
                  <a:lnTo>
                    <a:pt x="20641" y="103188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7965278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cubicBezTo>
                    <a:pt x="52078" y="10315"/>
                    <a:pt x="61054" y="18639"/>
                    <a:pt x="61864" y="29408"/>
                  </a:cubicBezTo>
                  <a:lnTo>
                    <a:pt x="61916" y="30956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30956"/>
                  </a:lnTo>
                  <a:cubicBezTo>
                    <a:pt x="0" y="20156"/>
                    <a:pt x="8324" y="11180"/>
                    <a:pt x="19093" y="10370"/>
                  </a:cubicBez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2" name="Google Shape;792;p47"/>
          <p:cNvSpPr txBox="1"/>
          <p:nvPr/>
        </p:nvSpPr>
        <p:spPr>
          <a:xfrm>
            <a:off x="6117194" y="996911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报告涵盖四大维度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47"/>
          <p:cNvSpPr txBox="1"/>
          <p:nvPr/>
        </p:nvSpPr>
        <p:spPr>
          <a:xfrm>
            <a:off x="5847874" y="1200864"/>
            <a:ext cx="18372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① 企业基本面 · EPS / ROE / 护城河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47"/>
          <p:cNvSpPr txBox="1"/>
          <p:nvPr/>
        </p:nvSpPr>
        <p:spPr>
          <a:xfrm>
            <a:off x="5847874" y="1358027"/>
            <a:ext cx="16762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② 技术面 · 阻力位 / RS / 成交量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47"/>
          <p:cNvSpPr txBox="1"/>
          <p:nvPr/>
        </p:nvSpPr>
        <p:spPr>
          <a:xfrm>
            <a:off x="5847874" y="1515189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③ 趋势状态 · Stage / MA / 形态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7"/>
          <p:cNvSpPr txBox="1"/>
          <p:nvPr/>
        </p:nvSpPr>
        <p:spPr>
          <a:xfrm>
            <a:off x="5847874" y="1672352"/>
            <a:ext cx="16647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④ 行动建议 · 买点 / 止损 / 目标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47"/>
          <p:cNvSpPr txBox="1"/>
          <p:nvPr/>
        </p:nvSpPr>
        <p:spPr>
          <a:xfrm>
            <a:off x="5847874" y="1900952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全程 AI 执行 · 无需手动查数据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47"/>
          <p:cNvSpPr/>
          <p:nvPr/>
        </p:nvSpPr>
        <p:spPr>
          <a:xfrm>
            <a:off x="5715000" y="2614613"/>
            <a:ext cx="2971800" cy="1700213"/>
          </a:xfrm>
          <a:prstGeom prst="roundRect">
            <a:avLst>
              <a:gd fmla="val 420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47"/>
          <p:cNvSpPr/>
          <p:nvPr/>
        </p:nvSpPr>
        <p:spPr>
          <a:xfrm>
            <a:off x="5715000" y="261461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0" name="Google Shape;800;p47"/>
          <p:cNvGrpSpPr/>
          <p:nvPr/>
        </p:nvGrpSpPr>
        <p:grpSpPr>
          <a:xfrm>
            <a:off x="5873135" y="2772966"/>
            <a:ext cx="155217" cy="154781"/>
            <a:chOff x="7830847" y="3697288"/>
            <a:chExt cx="206956" cy="206375"/>
          </a:xfrm>
        </p:grpSpPr>
        <p:sp>
          <p:nvSpPr>
            <p:cNvPr id="801" name="Google Shape;801;p47"/>
            <p:cNvSpPr/>
            <p:nvPr/>
          </p:nvSpPr>
          <p:spPr>
            <a:xfrm>
              <a:off x="7830847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7924006" y="3697288"/>
              <a:ext cx="20638" cy="31247"/>
            </a:xfrm>
            <a:custGeom>
              <a:rect b="b" l="l" r="r" t="t"/>
              <a:pathLst>
                <a:path extrusionOk="0" h="31247" w="20638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8" y="10319"/>
                  </a:lnTo>
                  <a:lnTo>
                    <a:pt x="20638" y="20637"/>
                  </a:lnTo>
                  <a:cubicBezTo>
                    <a:pt x="20631" y="26097"/>
                    <a:pt x="16374" y="30607"/>
                    <a:pt x="10923" y="30927"/>
                  </a:cubicBezTo>
                  <a:cubicBezTo>
                    <a:pt x="5473" y="31247"/>
                    <a:pt x="717" y="27266"/>
                    <a:pt x="72" y="21845"/>
                  </a:cubicBezTo>
                  <a:lnTo>
                    <a:pt x="0" y="20637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47"/>
            <p:cNvSpPr/>
            <p:nvPr/>
          </p:nvSpPr>
          <p:spPr>
            <a:xfrm>
              <a:off x="8006265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47"/>
            <p:cNvSpPr/>
            <p:nvPr/>
          </p:nvSpPr>
          <p:spPr>
            <a:xfrm>
              <a:off x="7856961" y="3723097"/>
              <a:ext cx="29871" cy="30041"/>
            </a:xfrm>
            <a:custGeom>
              <a:rect b="b" l="l" r="r" t="t"/>
              <a:pathLst>
                <a:path extrusionOk="0" h="30041" w="29871">
                  <a:moveTo>
                    <a:pt x="4028" y="4043"/>
                  </a:moveTo>
                  <a:cubicBezTo>
                    <a:pt x="7704" y="367"/>
                    <a:pt x="13541" y="0"/>
                    <a:pt x="17649" y="3186"/>
                  </a:cubicBezTo>
                  <a:lnTo>
                    <a:pt x="18619" y="4043"/>
                  </a:lnTo>
                  <a:lnTo>
                    <a:pt x="25842" y="11266"/>
                  </a:lnTo>
                  <a:cubicBezTo>
                    <a:pt x="29683" y="15120"/>
                    <a:pt x="29871" y="21294"/>
                    <a:pt x="26273" y="25375"/>
                  </a:cubicBezTo>
                  <a:cubicBezTo>
                    <a:pt x="22674" y="29456"/>
                    <a:pt x="16526" y="30041"/>
                    <a:pt x="12221" y="26713"/>
                  </a:cubicBezTo>
                  <a:lnTo>
                    <a:pt x="11251" y="25857"/>
                  </a:lnTo>
                  <a:lnTo>
                    <a:pt x="4028" y="18634"/>
                  </a:lnTo>
                  <a:cubicBezTo>
                    <a:pt x="0" y="14604"/>
                    <a:pt x="0" y="8072"/>
                    <a:pt x="4028" y="4043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47"/>
            <p:cNvSpPr/>
            <p:nvPr/>
          </p:nvSpPr>
          <p:spPr>
            <a:xfrm>
              <a:off x="7981662" y="3723110"/>
              <a:ext cx="30183" cy="29872"/>
            </a:xfrm>
            <a:custGeom>
              <a:rect b="b" l="l" r="r" t="t"/>
              <a:pathLst>
                <a:path extrusionOk="0" h="29872" w="30183">
                  <a:moveTo>
                    <a:pt x="11408" y="4029"/>
                  </a:moveTo>
                  <a:cubicBezTo>
                    <a:pt x="15262" y="189"/>
                    <a:pt x="21435" y="0"/>
                    <a:pt x="25516" y="3598"/>
                  </a:cubicBezTo>
                  <a:cubicBezTo>
                    <a:pt x="29597" y="7197"/>
                    <a:pt x="30183" y="13346"/>
                    <a:pt x="26855" y="17650"/>
                  </a:cubicBezTo>
                  <a:lnTo>
                    <a:pt x="25998" y="18620"/>
                  </a:lnTo>
                  <a:lnTo>
                    <a:pt x="18775" y="25843"/>
                  </a:lnTo>
                  <a:cubicBezTo>
                    <a:pt x="14922" y="29684"/>
                    <a:pt x="8748" y="29872"/>
                    <a:pt x="4667" y="26274"/>
                  </a:cubicBezTo>
                  <a:cubicBezTo>
                    <a:pt x="586" y="22675"/>
                    <a:pt x="0" y="16527"/>
                    <a:pt x="3328" y="12222"/>
                  </a:cubicBezTo>
                  <a:lnTo>
                    <a:pt x="4185" y="11252"/>
                  </a:lnTo>
                  <a:lnTo>
                    <a:pt x="11408" y="4029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47"/>
            <p:cNvSpPr/>
            <p:nvPr/>
          </p:nvSpPr>
          <p:spPr>
            <a:xfrm>
              <a:off x="7903369" y="3862388"/>
              <a:ext cx="61912" cy="41275"/>
            </a:xfrm>
            <a:custGeom>
              <a:rect b="b" l="l" r="r" t="t"/>
              <a:pathLst>
                <a:path extrusionOk="0" h="41275" w="61912">
                  <a:moveTo>
                    <a:pt x="51594" y="0"/>
                  </a:moveTo>
                  <a:cubicBezTo>
                    <a:pt x="57293" y="0"/>
                    <a:pt x="61912" y="4620"/>
                    <a:pt x="61912" y="10319"/>
                  </a:cubicBezTo>
                  <a:cubicBezTo>
                    <a:pt x="61912" y="27415"/>
                    <a:pt x="48053" y="41275"/>
                    <a:pt x="30956" y="41275"/>
                  </a:cubicBezTo>
                  <a:cubicBezTo>
                    <a:pt x="13860" y="41275"/>
                    <a:pt x="0" y="27415"/>
                    <a:pt x="0" y="10319"/>
                  </a:cubicBezTo>
                  <a:cubicBezTo>
                    <a:pt x="1" y="5087"/>
                    <a:pt x="3916" y="684"/>
                    <a:pt x="9111" y="72"/>
                  </a:cubicBezTo>
                  <a:lnTo>
                    <a:pt x="10319" y="0"/>
                  </a:lnTo>
                  <a:lnTo>
                    <a:pt x="51594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47"/>
            <p:cNvSpPr/>
            <p:nvPr/>
          </p:nvSpPr>
          <p:spPr>
            <a:xfrm>
              <a:off x="7867162" y="3738562"/>
              <a:ext cx="134325" cy="113506"/>
            </a:xfrm>
            <a:custGeom>
              <a:rect b="b" l="l" r="r" t="t"/>
              <a:pathLst>
                <a:path extrusionOk="0" h="113506" w="134325">
                  <a:moveTo>
                    <a:pt x="67163" y="0"/>
                  </a:moveTo>
                  <a:cubicBezTo>
                    <a:pt x="93812" y="0"/>
                    <a:pt x="117471" y="17053"/>
                    <a:pt x="125898" y="42334"/>
                  </a:cubicBezTo>
                  <a:cubicBezTo>
                    <a:pt x="134325" y="67616"/>
                    <a:pt x="125629" y="95453"/>
                    <a:pt x="104310" y="111442"/>
                  </a:cubicBezTo>
                  <a:cubicBezTo>
                    <a:pt x="102888" y="112511"/>
                    <a:pt x="101214" y="113193"/>
                    <a:pt x="99450" y="113424"/>
                  </a:cubicBezTo>
                  <a:lnTo>
                    <a:pt x="98119" y="113506"/>
                  </a:lnTo>
                  <a:lnTo>
                    <a:pt x="36206" y="113506"/>
                  </a:lnTo>
                  <a:cubicBezTo>
                    <a:pt x="33974" y="113506"/>
                    <a:pt x="31801" y="112782"/>
                    <a:pt x="30015" y="111442"/>
                  </a:cubicBezTo>
                  <a:cubicBezTo>
                    <a:pt x="8696" y="95453"/>
                    <a:pt x="0" y="67616"/>
                    <a:pt x="8427" y="42334"/>
                  </a:cubicBezTo>
                  <a:cubicBezTo>
                    <a:pt x="16854" y="17053"/>
                    <a:pt x="40513" y="0"/>
                    <a:pt x="6716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08" name="Google Shape;808;p47"/>
          <p:cNvSpPr txBox="1"/>
          <p:nvPr/>
        </p:nvSpPr>
        <p:spPr>
          <a:xfrm>
            <a:off x="6117194" y="2768561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学员带走的不只是工具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47"/>
          <p:cNvSpPr txBox="1"/>
          <p:nvPr/>
        </p:nvSpPr>
        <p:spPr>
          <a:xfrm>
            <a:off x="5847874" y="2972514"/>
            <a:ext cx="14749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理解 SEPA 框架，不是黑盒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47"/>
          <p:cNvSpPr txBox="1"/>
          <p:nvPr/>
        </p:nvSpPr>
        <p:spPr>
          <a:xfrm>
            <a:off x="5847874" y="3129677"/>
            <a:ext cx="15496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学会给 AI 定制你自己的逻辑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47"/>
          <p:cNvSpPr txBox="1"/>
          <p:nvPr/>
        </p:nvSpPr>
        <p:spPr>
          <a:xfrm>
            <a:off x="5847874" y="3286839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可改成你自己的投资方法论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7"/>
          <p:cNvSpPr txBox="1"/>
          <p:nvPr/>
        </p:nvSpPr>
        <p:spPr>
          <a:xfrm>
            <a:off x="5847874" y="3444002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通用于任意股票池，非套模板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47"/>
          <p:cNvSpPr txBox="1"/>
          <p:nvPr/>
        </p:nvSpPr>
        <p:spPr>
          <a:xfrm>
            <a:off x="5847874" y="3729752"/>
            <a:ext cx="15899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不是工具依赖，而是方法内化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47"/>
          <p:cNvSpPr txBox="1"/>
          <p:nvPr/>
        </p:nvSpPr>
        <p:spPr>
          <a:xfrm>
            <a:off x="8399836" y="4921687"/>
            <a:ext cx="2962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11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48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48"/>
          <p:cNvSpPr txBox="1"/>
          <p:nvPr/>
        </p:nvSpPr>
        <p:spPr>
          <a:xfrm>
            <a:off x="4205669" y="53149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今晚分享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48"/>
          <p:cNvSpPr txBox="1"/>
          <p:nvPr/>
        </p:nvSpPr>
        <p:spPr>
          <a:xfrm>
            <a:off x="2852728" y="814400"/>
            <a:ext cx="44475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两份干货 · 先打地基，再学出招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48"/>
          <p:cNvSpPr/>
          <p:nvPr/>
        </p:nvSpPr>
        <p:spPr>
          <a:xfrm>
            <a:off x="628650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48"/>
          <p:cNvSpPr/>
          <p:nvPr/>
        </p:nvSpPr>
        <p:spPr>
          <a:xfrm>
            <a:off x="628650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8"/>
          <p:cNvSpPr/>
          <p:nvPr/>
        </p:nvSpPr>
        <p:spPr>
          <a:xfrm>
            <a:off x="2043113" y="1600200"/>
            <a:ext cx="800100" cy="8001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6" name="Google Shape;826;p48"/>
          <p:cNvGrpSpPr/>
          <p:nvPr/>
        </p:nvGrpSpPr>
        <p:grpSpPr>
          <a:xfrm>
            <a:off x="2271706" y="1828800"/>
            <a:ext cx="342913" cy="343437"/>
            <a:chOff x="3028942" y="2438400"/>
            <a:chExt cx="457217" cy="457916"/>
          </a:xfrm>
        </p:grpSpPr>
        <p:sp>
          <p:nvSpPr>
            <p:cNvPr id="827" name="Google Shape;827;p48"/>
            <p:cNvSpPr/>
            <p:nvPr/>
          </p:nvSpPr>
          <p:spPr>
            <a:xfrm>
              <a:off x="30289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50800"/>
                  </a:lnTo>
                  <a:cubicBezTo>
                    <a:pt x="128193" y="50792"/>
                    <a:pt x="150288" y="71281"/>
                    <a:pt x="152281" y="97790"/>
                  </a:cubicBezTo>
                  <a:lnTo>
                    <a:pt x="152408" y="1016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101600"/>
                  </a:lnTo>
                  <a:cubicBezTo>
                    <a:pt x="0" y="75016"/>
                    <a:pt x="20489" y="52921"/>
                    <a:pt x="46998" y="50927"/>
                  </a:cubicBezTo>
                  <a:lnTo>
                    <a:pt x="50808" y="508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48"/>
            <p:cNvSpPr/>
            <p:nvPr/>
          </p:nvSpPr>
          <p:spPr>
            <a:xfrm>
              <a:off x="31813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254000"/>
                  </a:lnTo>
                  <a:cubicBezTo>
                    <a:pt x="128193" y="253992"/>
                    <a:pt x="150288" y="274481"/>
                    <a:pt x="152281" y="300990"/>
                  </a:cubicBezTo>
                  <a:lnTo>
                    <a:pt x="152408" y="304800"/>
                  </a:lnTo>
                  <a:lnTo>
                    <a:pt x="152408" y="381000"/>
                  </a:lnTo>
                  <a:cubicBezTo>
                    <a:pt x="152417" y="407584"/>
                    <a:pt x="131928" y="429679"/>
                    <a:pt x="105418" y="431673"/>
                  </a:cubicBez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46998" y="431673"/>
                  </a:lnTo>
                  <a:cubicBezTo>
                    <a:pt x="22008" y="429795"/>
                    <a:pt x="2120" y="409972"/>
                    <a:pt x="161" y="384988"/>
                  </a:cubicBezTo>
                  <a:lnTo>
                    <a:pt x="8" y="381000"/>
                  </a:lnTo>
                  <a:lnTo>
                    <a:pt x="8" y="304800"/>
                  </a:lnTo>
                  <a:cubicBezTo>
                    <a:pt x="0" y="278216"/>
                    <a:pt x="20489" y="256121"/>
                    <a:pt x="46998" y="254127"/>
                  </a:cubicBezTo>
                  <a:lnTo>
                    <a:pt x="50808" y="2540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48"/>
            <p:cNvSpPr/>
            <p:nvPr/>
          </p:nvSpPr>
          <p:spPr>
            <a:xfrm>
              <a:off x="33337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cubicBezTo>
                    <a:pt x="128193" y="25392"/>
                    <a:pt x="150288" y="45881"/>
                    <a:pt x="152281" y="72390"/>
                  </a:cubicBezTo>
                  <a:lnTo>
                    <a:pt x="152408" y="762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76200"/>
                  </a:lnTo>
                  <a:cubicBezTo>
                    <a:pt x="0" y="49616"/>
                    <a:pt x="20489" y="27521"/>
                    <a:pt x="46998" y="25527"/>
                  </a:cubicBez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0" name="Google Shape;830;p48"/>
          <p:cNvSpPr txBox="1"/>
          <p:nvPr/>
        </p:nvSpPr>
        <p:spPr>
          <a:xfrm>
            <a:off x="1526021" y="2523887"/>
            <a:ext cx="183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" sz="1200">
                <a:solidFill>
                  <a:srgbClr val="1C1917"/>
                </a:solidFill>
              </a:rPr>
              <a:t>投资</a:t>
            </a: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理财知识库入门教程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48"/>
          <p:cNvSpPr txBox="1"/>
          <p:nvPr/>
        </p:nvSpPr>
        <p:spPr>
          <a:xfrm>
            <a:off x="1645313" y="2772489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炒股之前，先安排好账户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48"/>
          <p:cNvSpPr txBox="1"/>
          <p:nvPr/>
        </p:nvSpPr>
        <p:spPr>
          <a:xfrm>
            <a:off x="1737324" y="2929652"/>
            <a:ext cx="14116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资产配置 · 账户规划 · 美股基础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48"/>
          <p:cNvSpPr txBox="1"/>
          <p:nvPr/>
        </p:nvSpPr>
        <p:spPr>
          <a:xfrm>
            <a:off x="1569100" y="3129675"/>
            <a:ext cx="175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含股票知识 · 网页版直接看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48"/>
          <p:cNvSpPr/>
          <p:nvPr/>
        </p:nvSpPr>
        <p:spPr>
          <a:xfrm>
            <a:off x="914400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48"/>
          <p:cNvSpPr txBox="1"/>
          <p:nvPr/>
        </p:nvSpPr>
        <p:spPr>
          <a:xfrm>
            <a:off x="1879664" y="3610451"/>
            <a:ext cx="112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48"/>
          <p:cNvSpPr/>
          <p:nvPr/>
        </p:nvSpPr>
        <p:spPr>
          <a:xfrm>
            <a:off x="4886325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48"/>
          <p:cNvSpPr/>
          <p:nvPr/>
        </p:nvSpPr>
        <p:spPr>
          <a:xfrm>
            <a:off x="4886325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48"/>
          <p:cNvSpPr/>
          <p:nvPr/>
        </p:nvSpPr>
        <p:spPr>
          <a:xfrm>
            <a:off x="6300788" y="1600200"/>
            <a:ext cx="800100" cy="8001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48"/>
          <p:cNvSpPr/>
          <p:nvPr/>
        </p:nvSpPr>
        <p:spPr>
          <a:xfrm>
            <a:off x="6548436" y="1809750"/>
            <a:ext cx="304803" cy="381001"/>
          </a:xfrm>
          <a:custGeom>
            <a:rect b="b" l="l" r="r" t="t"/>
            <a:pathLst>
              <a:path extrusionOk="0" h="508002" w="406404">
                <a:moveTo>
                  <a:pt x="203202" y="0"/>
                </a:moveTo>
                <a:lnTo>
                  <a:pt x="206174" y="178"/>
                </a:lnTo>
                <a:cubicBezTo>
                  <a:pt x="217845" y="1554"/>
                  <a:pt x="227048" y="10757"/>
                  <a:pt x="228424" y="22428"/>
                </a:cubicBezTo>
                <a:lnTo>
                  <a:pt x="228602" y="25400"/>
                </a:lnTo>
                <a:lnTo>
                  <a:pt x="228602" y="127000"/>
                </a:lnTo>
                <a:lnTo>
                  <a:pt x="228729" y="130810"/>
                </a:lnTo>
                <a:cubicBezTo>
                  <a:pt x="230607" y="155801"/>
                  <a:pt x="250430" y="175688"/>
                  <a:pt x="275414" y="177648"/>
                </a:cubicBezTo>
                <a:lnTo>
                  <a:pt x="279402" y="177800"/>
                </a:lnTo>
                <a:lnTo>
                  <a:pt x="381002" y="177800"/>
                </a:lnTo>
                <a:lnTo>
                  <a:pt x="383974" y="177978"/>
                </a:lnTo>
                <a:cubicBezTo>
                  <a:pt x="395645" y="179354"/>
                  <a:pt x="404848" y="188557"/>
                  <a:pt x="406224" y="200228"/>
                </a:cubicBezTo>
                <a:lnTo>
                  <a:pt x="406402" y="203200"/>
                </a:lnTo>
                <a:lnTo>
                  <a:pt x="406402" y="431800"/>
                </a:lnTo>
                <a:cubicBezTo>
                  <a:pt x="406404" y="472149"/>
                  <a:pt x="374953" y="505506"/>
                  <a:pt x="334673" y="507873"/>
                </a:cubicBezTo>
                <a:lnTo>
                  <a:pt x="330202" y="508000"/>
                </a:lnTo>
                <a:lnTo>
                  <a:pt x="76202" y="508000"/>
                </a:lnTo>
                <a:cubicBezTo>
                  <a:pt x="35853" y="508002"/>
                  <a:pt x="2496" y="476550"/>
                  <a:pt x="129" y="436270"/>
                </a:cubicBezTo>
                <a:lnTo>
                  <a:pt x="2" y="431800"/>
                </a:lnTo>
                <a:lnTo>
                  <a:pt x="2" y="76200"/>
                </a:lnTo>
                <a:cubicBezTo>
                  <a:pt x="0" y="35851"/>
                  <a:pt x="31452" y="2494"/>
                  <a:pt x="71732" y="127"/>
                </a:cubicBezTo>
                <a:lnTo>
                  <a:pt x="76202" y="0"/>
                </a:lnTo>
                <a:close/>
                <a:moveTo>
                  <a:pt x="203202" y="203200"/>
                </a:moveTo>
                <a:cubicBezTo>
                  <a:pt x="189174" y="203200"/>
                  <a:pt x="177802" y="214572"/>
                  <a:pt x="177802" y="228600"/>
                </a:cubicBezTo>
                <a:lnTo>
                  <a:pt x="177802" y="319659"/>
                </a:lnTo>
                <a:lnTo>
                  <a:pt x="157660" y="299542"/>
                </a:lnTo>
                <a:cubicBezTo>
                  <a:pt x="148611" y="290494"/>
                  <a:pt x="134243" y="289590"/>
                  <a:pt x="124132" y="297434"/>
                </a:cubicBezTo>
                <a:lnTo>
                  <a:pt x="121744" y="299542"/>
                </a:lnTo>
                <a:cubicBezTo>
                  <a:pt x="111829" y="309461"/>
                  <a:pt x="111829" y="325539"/>
                  <a:pt x="121744" y="335458"/>
                </a:cubicBezTo>
                <a:lnTo>
                  <a:pt x="185244" y="398958"/>
                </a:lnTo>
                <a:lnTo>
                  <a:pt x="186362" y="400025"/>
                </a:lnTo>
                <a:lnTo>
                  <a:pt x="188089" y="401422"/>
                </a:lnTo>
                <a:lnTo>
                  <a:pt x="190883" y="403225"/>
                </a:lnTo>
                <a:lnTo>
                  <a:pt x="193779" y="404597"/>
                </a:lnTo>
                <a:lnTo>
                  <a:pt x="196446" y="405486"/>
                </a:lnTo>
                <a:lnTo>
                  <a:pt x="200256" y="406248"/>
                </a:lnTo>
                <a:lnTo>
                  <a:pt x="203202" y="406400"/>
                </a:lnTo>
                <a:lnTo>
                  <a:pt x="206174" y="406222"/>
                </a:lnTo>
                <a:lnTo>
                  <a:pt x="209146" y="405714"/>
                </a:lnTo>
                <a:lnTo>
                  <a:pt x="211889" y="404876"/>
                </a:lnTo>
                <a:lnTo>
                  <a:pt x="213946" y="404012"/>
                </a:lnTo>
                <a:lnTo>
                  <a:pt x="216436" y="402692"/>
                </a:lnTo>
                <a:lnTo>
                  <a:pt x="218772" y="401066"/>
                </a:lnTo>
                <a:lnTo>
                  <a:pt x="221160" y="398958"/>
                </a:lnTo>
                <a:lnTo>
                  <a:pt x="284660" y="335458"/>
                </a:lnTo>
                <a:cubicBezTo>
                  <a:pt x="294576" y="325539"/>
                  <a:pt x="294576" y="309461"/>
                  <a:pt x="284660" y="299542"/>
                </a:cubicBezTo>
                <a:lnTo>
                  <a:pt x="282272" y="297434"/>
                </a:lnTo>
                <a:cubicBezTo>
                  <a:pt x="272161" y="289590"/>
                  <a:pt x="257794" y="290494"/>
                  <a:pt x="248744" y="299542"/>
                </a:cubicBezTo>
                <a:lnTo>
                  <a:pt x="228602" y="319634"/>
                </a:lnTo>
                <a:lnTo>
                  <a:pt x="228602" y="228600"/>
                </a:lnTo>
                <a:cubicBezTo>
                  <a:pt x="228601" y="215723"/>
                  <a:pt x="218963" y="204884"/>
                  <a:pt x="206174" y="203378"/>
                </a:cubicBezTo>
                <a:close/>
                <a:moveTo>
                  <a:pt x="279377" y="25375"/>
                </a:moveTo>
                <a:lnTo>
                  <a:pt x="381002" y="127000"/>
                </a:lnTo>
                <a:lnTo>
                  <a:pt x="279402" y="12700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48"/>
          <p:cNvSpPr txBox="1"/>
          <p:nvPr/>
        </p:nvSpPr>
        <p:spPr>
          <a:xfrm>
            <a:off x="5821651" y="2523887"/>
            <a:ext cx="1758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炒股方法论精华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48"/>
          <p:cNvSpPr txBox="1"/>
          <p:nvPr/>
        </p:nvSpPr>
        <p:spPr>
          <a:xfrm>
            <a:off x="6115764" y="277248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今晚炒股 Skill 的理论基础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48"/>
          <p:cNvSpPr txBox="1"/>
          <p:nvPr/>
        </p:nvSpPr>
        <p:spPr>
          <a:xfrm>
            <a:off x="5626775" y="2929650"/>
            <a:ext cx="2105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Stage 分析 · 趋势模板 · VCP 形态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48"/>
          <p:cNvSpPr txBox="1"/>
          <p:nvPr/>
        </p:nvSpPr>
        <p:spPr>
          <a:xfrm>
            <a:off x="5419650" y="3129675"/>
            <a:ext cx="241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Minervini 两夺全美投资冠军的体系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48"/>
          <p:cNvSpPr/>
          <p:nvPr/>
        </p:nvSpPr>
        <p:spPr>
          <a:xfrm>
            <a:off x="5172075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48"/>
          <p:cNvSpPr txBox="1"/>
          <p:nvPr/>
        </p:nvSpPr>
        <p:spPr>
          <a:xfrm>
            <a:off x="2953654" y="4174808"/>
            <a:ext cx="32366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 · 学员平台：learn.austinxyz.ai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48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12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8"/>
          <p:cNvSpPr txBox="1"/>
          <p:nvPr/>
        </p:nvSpPr>
        <p:spPr>
          <a:xfrm>
            <a:off x="6300789" y="3619026"/>
            <a:ext cx="112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49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9"/>
          <p:cNvSpPr txBox="1"/>
          <p:nvPr/>
        </p:nvSpPr>
        <p:spPr>
          <a:xfrm>
            <a:off x="488632" y="438626"/>
            <a:ext cx="624668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上周 Demo Day · 12 位学员全部跑出真实项目</a:t>
            </a:r>
            <a:endParaRPr/>
          </a:p>
        </p:txBody>
      </p:sp>
      <p:sp>
        <p:nvSpPr>
          <p:cNvPr id="855" name="Google Shape;855;p49"/>
          <p:cNvSpPr txBox="1"/>
          <p:nvPr/>
        </p:nvSpPr>
        <p:spPr>
          <a:xfrm>
            <a:off x="498634" y="795099"/>
            <a:ext cx="591441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38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金融理财方向的 Demo 尤其亮眼 — 而且他们都不是程序员出身</a:t>
            </a:r>
            <a:endParaRPr/>
          </a:p>
        </p:txBody>
      </p:sp>
      <p:sp>
        <p:nvSpPr>
          <p:cNvPr id="856" name="Google Shape;856;p49"/>
          <p:cNvSpPr/>
          <p:nvPr/>
        </p:nvSpPr>
        <p:spPr>
          <a:xfrm>
            <a:off x="514350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49"/>
          <p:cNvSpPr/>
          <p:nvPr/>
        </p:nvSpPr>
        <p:spPr>
          <a:xfrm>
            <a:off x="514350" y="1200150"/>
            <a:ext cx="257175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49"/>
          <p:cNvSpPr txBox="1"/>
          <p:nvPr/>
        </p:nvSpPr>
        <p:spPr>
          <a:xfrm>
            <a:off x="68722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📈</a:t>
            </a:r>
            <a:endParaRPr/>
          </a:p>
        </p:txBody>
      </p:sp>
      <p:sp>
        <p:nvSpPr>
          <p:cNvPr id="859" name="Google Shape;859;p49"/>
          <p:cNvSpPr txBox="1"/>
          <p:nvPr/>
        </p:nvSpPr>
        <p:spPr>
          <a:xfrm>
            <a:off x="69580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投资委员会</a:t>
            </a:r>
            <a:endParaRPr/>
          </a:p>
        </p:txBody>
      </p:sp>
      <p:sp>
        <p:nvSpPr>
          <p:cNvPr id="860" name="Google Shape;860;p49"/>
          <p:cNvSpPr txBox="1"/>
          <p:nvPr/>
        </p:nvSpPr>
        <p:spPr>
          <a:xfrm>
            <a:off x="702231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Tracy · 金融专家</a:t>
            </a:r>
            <a:endParaRPr/>
          </a:p>
        </p:txBody>
      </p:sp>
      <p:sp>
        <p:nvSpPr>
          <p:cNvPr id="861" name="Google Shape;861;p49"/>
          <p:cNvSpPr txBox="1"/>
          <p:nvPr/>
        </p:nvSpPr>
        <p:spPr>
          <a:xfrm>
            <a:off x="700088" y="2436019"/>
            <a:ext cx="18688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多个 AI 角色互相辩论，</a:t>
            </a:r>
            <a:endParaRPr/>
          </a:p>
        </p:txBody>
      </p:sp>
      <p:sp>
        <p:nvSpPr>
          <p:cNvPr id="862" name="Google Shape;862;p49"/>
          <p:cNvSpPr txBox="1"/>
          <p:nvPr/>
        </p:nvSpPr>
        <p:spPr>
          <a:xfrm>
            <a:off x="700088" y="2650331"/>
            <a:ext cx="182772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像真实投委会一样，</a:t>
            </a:r>
            <a:endParaRPr/>
          </a:p>
        </p:txBody>
      </p:sp>
      <p:sp>
        <p:nvSpPr>
          <p:cNvPr id="863" name="Google Shape;863;p49"/>
          <p:cNvSpPr txBox="1"/>
          <p:nvPr/>
        </p:nvSpPr>
        <p:spPr>
          <a:xfrm>
            <a:off x="700088" y="2864644"/>
            <a:ext cx="136767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输出专业投资建议</a:t>
            </a:r>
            <a:endParaRPr/>
          </a:p>
        </p:txBody>
      </p:sp>
      <p:sp>
        <p:nvSpPr>
          <p:cNvPr id="864" name="Google Shape;864;p49"/>
          <p:cNvSpPr/>
          <p:nvPr/>
        </p:nvSpPr>
        <p:spPr>
          <a:xfrm>
            <a:off x="3286125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49"/>
          <p:cNvSpPr/>
          <p:nvPr/>
        </p:nvSpPr>
        <p:spPr>
          <a:xfrm>
            <a:off x="3286125" y="1200150"/>
            <a:ext cx="2571750" cy="5715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49"/>
          <p:cNvSpPr txBox="1"/>
          <p:nvPr/>
        </p:nvSpPr>
        <p:spPr>
          <a:xfrm>
            <a:off x="3459004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💰</a:t>
            </a:r>
            <a:endParaRPr/>
          </a:p>
        </p:txBody>
      </p:sp>
      <p:sp>
        <p:nvSpPr>
          <p:cNvPr id="867" name="Google Shape;867;p49"/>
          <p:cNvSpPr txBox="1"/>
          <p:nvPr/>
        </p:nvSpPr>
        <p:spPr>
          <a:xfrm>
            <a:off x="3467575" y="1899525"/>
            <a:ext cx="15072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理财投资知识库</a:t>
            </a:r>
            <a:endParaRPr/>
          </a:p>
        </p:txBody>
      </p:sp>
      <p:sp>
        <p:nvSpPr>
          <p:cNvPr id="868" name="Google Shape;868;p49"/>
          <p:cNvSpPr txBox="1"/>
          <p:nvPr/>
        </p:nvSpPr>
        <p:spPr>
          <a:xfrm>
            <a:off x="3474006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Jason · 理财方向学员</a:t>
            </a:r>
            <a:endParaRPr/>
          </a:p>
        </p:txBody>
      </p:sp>
      <p:sp>
        <p:nvSpPr>
          <p:cNvPr id="869" name="Google Shape;869;p49"/>
          <p:cNvSpPr txBox="1"/>
          <p:nvPr/>
        </p:nvSpPr>
        <p:spPr>
          <a:xfrm>
            <a:off x="3471862" y="2436019"/>
            <a:ext cx="17455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理财与投资知识结构化，</a:t>
            </a:r>
            <a:endParaRPr/>
          </a:p>
        </p:txBody>
      </p:sp>
      <p:sp>
        <p:nvSpPr>
          <p:cNvPr id="870" name="Google Shape;870;p49"/>
          <p:cNvSpPr txBox="1"/>
          <p:nvPr/>
        </p:nvSpPr>
        <p:spPr>
          <a:xfrm>
            <a:off x="3471862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搭出个人专属知识库，</a:t>
            </a:r>
            <a:endParaRPr/>
          </a:p>
        </p:txBody>
      </p:sp>
      <p:sp>
        <p:nvSpPr>
          <p:cNvPr id="871" name="Google Shape;871;p49"/>
          <p:cNvSpPr txBox="1"/>
          <p:nvPr/>
        </p:nvSpPr>
        <p:spPr>
          <a:xfrm>
            <a:off x="3471862" y="286464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给出专业级答案</a:t>
            </a:r>
            <a:endParaRPr/>
          </a:p>
        </p:txBody>
      </p:sp>
      <p:sp>
        <p:nvSpPr>
          <p:cNvPr id="872" name="Google Shape;872;p49"/>
          <p:cNvSpPr/>
          <p:nvPr/>
        </p:nvSpPr>
        <p:spPr>
          <a:xfrm>
            <a:off x="6057900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49"/>
          <p:cNvSpPr/>
          <p:nvPr/>
        </p:nvSpPr>
        <p:spPr>
          <a:xfrm>
            <a:off x="6057900" y="1200150"/>
            <a:ext cx="2571750" cy="5715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49"/>
          <p:cNvSpPr txBox="1"/>
          <p:nvPr/>
        </p:nvSpPr>
        <p:spPr>
          <a:xfrm>
            <a:off x="623077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🏭</a:t>
            </a:r>
            <a:endParaRPr/>
          </a:p>
        </p:txBody>
      </p:sp>
      <p:sp>
        <p:nvSpPr>
          <p:cNvPr id="875" name="Google Shape;875;p49"/>
          <p:cNvSpPr txBox="1"/>
          <p:nvPr/>
        </p:nvSpPr>
        <p:spPr>
          <a:xfrm>
            <a:off x="623935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16A34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铝业知识库</a:t>
            </a:r>
            <a:endParaRPr/>
          </a:p>
        </p:txBody>
      </p:sp>
      <p:sp>
        <p:nvSpPr>
          <p:cNvPr id="876" name="Google Shape;876;p49"/>
          <p:cNvSpPr txBox="1"/>
          <p:nvPr/>
        </p:nvSpPr>
        <p:spPr>
          <a:xfrm>
            <a:off x="6245781" y="2168486"/>
            <a:ext cx="13999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Sumei · 铝材料交易商</a:t>
            </a:r>
            <a:endParaRPr/>
          </a:p>
        </p:txBody>
      </p:sp>
      <p:sp>
        <p:nvSpPr>
          <p:cNvPr id="877" name="Google Shape;877;p49"/>
          <p:cNvSpPr txBox="1"/>
          <p:nvPr/>
        </p:nvSpPr>
        <p:spPr>
          <a:xfrm>
            <a:off x="6243638" y="2436019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上完课几周做出 10+ 项目，</a:t>
            </a:r>
            <a:endParaRPr/>
          </a:p>
        </p:txBody>
      </p:sp>
      <p:sp>
        <p:nvSpPr>
          <p:cNvPr id="878" name="Google Shape;878;p49"/>
          <p:cNvSpPr txBox="1"/>
          <p:nvPr/>
        </p:nvSpPr>
        <p:spPr>
          <a:xfrm>
            <a:off x="6243638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工作流管潜在客户，</a:t>
            </a:r>
            <a:endParaRPr/>
          </a:p>
        </p:txBody>
      </p:sp>
      <p:sp>
        <p:nvSpPr>
          <p:cNvPr id="879" name="Google Shape;879;p49"/>
          <p:cNvSpPr txBox="1"/>
          <p:nvPr/>
        </p:nvSpPr>
        <p:spPr>
          <a:xfrm>
            <a:off x="6243638" y="2864644"/>
            <a:ext cx="1343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知识库管专业</a:t>
            </a:r>
            <a:r>
              <a:rPr lang="en" sz="1125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投资</a:t>
            </a:r>
            <a:endParaRPr/>
          </a:p>
        </p:txBody>
      </p:sp>
      <p:sp>
        <p:nvSpPr>
          <p:cNvPr id="880" name="Google Shape;880;p49"/>
          <p:cNvSpPr/>
          <p:nvPr/>
        </p:nvSpPr>
        <p:spPr>
          <a:xfrm>
            <a:off x="514350" y="3686175"/>
            <a:ext cx="8115300" cy="600075"/>
          </a:xfrm>
          <a:prstGeom prst="roundRect">
            <a:avLst>
              <a:gd fmla="val 19048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49"/>
          <p:cNvSpPr txBox="1"/>
          <p:nvPr/>
        </p:nvSpPr>
        <p:spPr>
          <a:xfrm>
            <a:off x="1164536" y="3887629"/>
            <a:ext cx="681492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7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专业知识依然有用 — 加上 AI，就像 1 后面加了多个 0</a:t>
            </a:r>
            <a:r>
              <a:rPr b="1" i="0" lang="en" sz="1575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，威力倍增</a:t>
            </a:r>
            <a:endParaRPr/>
          </a:p>
        </p:txBody>
      </p:sp>
      <p:sp>
        <p:nvSpPr>
          <p:cNvPr id="882" name="Google Shape;882;p49"/>
          <p:cNvSpPr txBox="1"/>
          <p:nvPr/>
        </p:nvSpPr>
        <p:spPr>
          <a:xfrm>
            <a:off x="2299716" y="4589145"/>
            <a:ext cx="45445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完整回顾与学员 PPT：austinxyz.github.io/course-portal/demoday.html</a:t>
            </a:r>
            <a:endParaRPr/>
          </a:p>
        </p:txBody>
      </p:sp>
      <p:sp>
        <p:nvSpPr>
          <p:cNvPr id="883" name="Google Shape;883;p49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/ 17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9" name="Google Shape;889;p50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50"/>
          <p:cNvSpPr txBox="1"/>
          <p:nvPr/>
        </p:nvSpPr>
        <p:spPr>
          <a:xfrm>
            <a:off x="488632" y="438626"/>
            <a:ext cx="661933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上课只是开始 — 你加入的是一个持续成长的社区</a:t>
            </a:r>
            <a:endParaRPr/>
          </a:p>
        </p:txBody>
      </p:sp>
      <p:sp>
        <p:nvSpPr>
          <p:cNvPr id="891" name="Google Shape;891;p50"/>
          <p:cNvSpPr txBox="1"/>
          <p:nvPr/>
        </p:nvSpPr>
        <p:spPr>
          <a:xfrm>
            <a:off x="498634" y="795099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38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一个人走得快，一群人走得远</a:t>
            </a:r>
            <a:endParaRPr/>
          </a:p>
        </p:txBody>
      </p:sp>
      <p:sp>
        <p:nvSpPr>
          <p:cNvPr id="892" name="Google Shape;892;p50"/>
          <p:cNvSpPr/>
          <p:nvPr/>
        </p:nvSpPr>
        <p:spPr>
          <a:xfrm>
            <a:off x="857250" y="1500188"/>
            <a:ext cx="7144" cy="2500312"/>
          </a:xfrm>
          <a:custGeom>
            <a:rect b="b" l="l" r="r" t="t"/>
            <a:pathLst>
              <a:path extrusionOk="0" h="3333750" w="9525">
                <a:moveTo>
                  <a:pt x="0" y="0"/>
                </a:moveTo>
                <a:lnTo>
                  <a:pt x="0" y="3333750"/>
                </a:lnTo>
              </a:path>
            </a:pathLst>
          </a:custGeom>
          <a:noFill/>
          <a:ln cap="flat" cmpd="sng" w="21425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893" name="Google Shape;893;p50"/>
          <p:cNvSpPr/>
          <p:nvPr/>
        </p:nvSpPr>
        <p:spPr>
          <a:xfrm>
            <a:off x="757238" y="1471612"/>
            <a:ext cx="200025" cy="200025"/>
          </a:xfrm>
          <a:prstGeom prst="ellipse">
            <a:avLst/>
          </a:prstGeom>
          <a:solidFill>
            <a:srgbClr val="FFFFFF"/>
          </a:solidFill>
          <a:ln cap="flat" cmpd="sng" w="21425">
            <a:solidFill>
              <a:srgbClr val="7371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50"/>
          <p:cNvSpPr txBox="1"/>
          <p:nvPr/>
        </p:nvSpPr>
        <p:spPr>
          <a:xfrm>
            <a:off x="1074420" y="1431608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今晚</a:t>
            </a:r>
            <a:endParaRPr/>
          </a:p>
        </p:txBody>
      </p:sp>
      <p:sp>
        <p:nvSpPr>
          <p:cNvPr id="895" name="Google Shape;895;p50"/>
          <p:cNvSpPr txBox="1"/>
          <p:nvPr/>
        </p:nvSpPr>
        <p:spPr>
          <a:xfrm>
            <a:off x="1070134" y="1580912"/>
            <a:ext cx="67666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报名 S4</a:t>
            </a:r>
            <a:endParaRPr/>
          </a:p>
        </p:txBody>
      </p:sp>
      <p:sp>
        <p:nvSpPr>
          <p:cNvPr id="896" name="Google Shape;896;p50"/>
          <p:cNvSpPr/>
          <p:nvPr/>
        </p:nvSpPr>
        <p:spPr>
          <a:xfrm>
            <a:off x="757238" y="2543175"/>
            <a:ext cx="200025" cy="200025"/>
          </a:xfrm>
          <a:prstGeom prst="ellipse">
            <a:avLst/>
          </a:prstGeom>
          <a:solidFill>
            <a:srgbClr val="FFFFFF"/>
          </a:solidFill>
          <a:ln cap="flat" cmpd="sng" w="21425">
            <a:solidFill>
              <a:srgbClr val="7371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7" name="Google Shape;897;p50"/>
          <p:cNvSpPr txBox="1"/>
          <p:nvPr/>
        </p:nvSpPr>
        <p:spPr>
          <a:xfrm>
            <a:off x="1074420" y="2503170"/>
            <a:ext cx="3120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7/26</a:t>
            </a:r>
            <a:endParaRPr/>
          </a:p>
        </p:txBody>
      </p:sp>
      <p:sp>
        <p:nvSpPr>
          <p:cNvPr id="898" name="Google Shape;898;p50"/>
          <p:cNvSpPr txBox="1"/>
          <p:nvPr/>
        </p:nvSpPr>
        <p:spPr>
          <a:xfrm>
            <a:off x="1070134" y="2652474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正课开讲</a:t>
            </a:r>
            <a:endParaRPr/>
          </a:p>
        </p:txBody>
      </p:sp>
      <p:sp>
        <p:nvSpPr>
          <p:cNvPr id="899" name="Google Shape;899;p50"/>
          <p:cNvSpPr/>
          <p:nvPr/>
        </p:nvSpPr>
        <p:spPr>
          <a:xfrm>
            <a:off x="728662" y="3586162"/>
            <a:ext cx="257175" cy="257175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0" name="Google Shape;900;p50"/>
          <p:cNvSpPr/>
          <p:nvPr/>
        </p:nvSpPr>
        <p:spPr>
          <a:xfrm>
            <a:off x="807244" y="3664744"/>
            <a:ext cx="100012" cy="100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1" name="Google Shape;901;p50"/>
          <p:cNvSpPr txBox="1"/>
          <p:nvPr/>
        </p:nvSpPr>
        <p:spPr>
          <a:xfrm>
            <a:off x="1074420" y="35318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之后</a:t>
            </a:r>
            <a:endParaRPr/>
          </a:p>
        </p:txBody>
      </p:sp>
      <p:sp>
        <p:nvSpPr>
          <p:cNvPr id="902" name="Google Shape;902;p50"/>
          <p:cNvSpPr txBox="1"/>
          <p:nvPr/>
        </p:nvSpPr>
        <p:spPr>
          <a:xfrm>
            <a:off x="1070134" y="3681174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社区持续成长</a:t>
            </a:r>
            <a:endParaRPr/>
          </a:p>
        </p:txBody>
      </p:sp>
      <p:sp>
        <p:nvSpPr>
          <p:cNvPr id="903" name="Google Shape;903;p50"/>
          <p:cNvSpPr/>
          <p:nvPr/>
        </p:nvSpPr>
        <p:spPr>
          <a:xfrm>
            <a:off x="1085850" y="3914775"/>
            <a:ext cx="1257300" cy="214312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p50"/>
          <p:cNvSpPr txBox="1"/>
          <p:nvPr/>
        </p:nvSpPr>
        <p:spPr>
          <a:xfrm>
            <a:off x="1186220" y="3973711"/>
            <a:ext cx="10565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44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真正的价值在这里</a:t>
            </a:r>
            <a:endParaRPr/>
          </a:p>
        </p:txBody>
      </p:sp>
      <p:sp>
        <p:nvSpPr>
          <p:cNvPr id="905" name="Google Shape;905;p50"/>
          <p:cNvSpPr/>
          <p:nvPr/>
        </p:nvSpPr>
        <p:spPr>
          <a:xfrm>
            <a:off x="3000375" y="1257300"/>
            <a:ext cx="5629275" cy="842962"/>
          </a:xfrm>
          <a:prstGeom prst="roundRect">
            <a:avLst>
              <a:gd fmla="val 13559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50"/>
          <p:cNvSpPr txBox="1"/>
          <p:nvPr/>
        </p:nvSpPr>
        <p:spPr>
          <a:xfrm>
            <a:off x="3206115" y="1448752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🎤</a:t>
            </a:r>
            <a:endParaRPr/>
          </a:p>
        </p:txBody>
      </p:sp>
      <p:sp>
        <p:nvSpPr>
          <p:cNvPr id="907" name="Google Shape;907;p50"/>
          <p:cNvSpPr txBox="1"/>
          <p:nvPr/>
        </p:nvSpPr>
        <p:spPr>
          <a:xfrm>
            <a:off x="3640455" y="1440180"/>
            <a:ext cx="231157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持续的活动，一场接一场</a:t>
            </a:r>
            <a:endParaRPr/>
          </a:p>
        </p:txBody>
      </p:sp>
      <p:sp>
        <p:nvSpPr>
          <p:cNvPr id="908" name="Google Shape;908;p50"/>
          <p:cNvSpPr txBox="1"/>
          <p:nvPr/>
        </p:nvSpPr>
        <p:spPr>
          <a:xfrm>
            <a:off x="3644026" y="1713428"/>
            <a:ext cx="4905614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 Day 成果展示 · 课后专项答疑 · 免费公开课持续开讲</a:t>
            </a:r>
            <a:endParaRPr/>
          </a:p>
        </p:txBody>
      </p:sp>
      <p:sp>
        <p:nvSpPr>
          <p:cNvPr id="909" name="Google Shape;909;p50"/>
          <p:cNvSpPr/>
          <p:nvPr/>
        </p:nvSpPr>
        <p:spPr>
          <a:xfrm>
            <a:off x="3000375" y="2243138"/>
            <a:ext cx="5629275" cy="1071562"/>
          </a:xfrm>
          <a:prstGeom prst="roundRect">
            <a:avLst>
              <a:gd fmla="val 10667" name="adj"/>
            </a:avLst>
          </a:prstGeom>
          <a:solidFill>
            <a:srgbClr val="FFFFFF"/>
          </a:solidFill>
          <a:ln cap="flat" cmpd="sng" w="142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0" name="Google Shape;910;p50"/>
          <p:cNvSpPr txBox="1"/>
          <p:nvPr/>
        </p:nvSpPr>
        <p:spPr>
          <a:xfrm>
            <a:off x="3206115" y="24345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🤝</a:t>
            </a:r>
            <a:endParaRPr/>
          </a:p>
        </p:txBody>
      </p:sp>
      <p:sp>
        <p:nvSpPr>
          <p:cNvPr id="911" name="Google Shape;911;p50"/>
          <p:cNvSpPr txBox="1"/>
          <p:nvPr/>
        </p:nvSpPr>
        <p:spPr>
          <a:xfrm>
            <a:off x="3640455" y="2426018"/>
            <a:ext cx="272562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四个兴趣小组，各有组长带队</a:t>
            </a:r>
            <a:endParaRPr/>
          </a:p>
        </p:txBody>
      </p:sp>
      <p:sp>
        <p:nvSpPr>
          <p:cNvPr id="912" name="Google Shape;912;p50"/>
          <p:cNvSpPr/>
          <p:nvPr/>
        </p:nvSpPr>
        <p:spPr>
          <a:xfrm>
            <a:off x="3657600" y="2743200"/>
            <a:ext cx="1071562" cy="2857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3" name="Google Shape;913;p50"/>
          <p:cNvSpPr txBox="1"/>
          <p:nvPr/>
        </p:nvSpPr>
        <p:spPr>
          <a:xfrm>
            <a:off x="3782362" y="2820710"/>
            <a:ext cx="822039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69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金融炒股 ★</a:t>
            </a:r>
            <a:endParaRPr/>
          </a:p>
        </p:txBody>
      </p:sp>
      <p:sp>
        <p:nvSpPr>
          <p:cNvPr id="914" name="Google Shape;914;p50"/>
          <p:cNvSpPr/>
          <p:nvPr/>
        </p:nvSpPr>
        <p:spPr>
          <a:xfrm>
            <a:off x="4843462" y="2743200"/>
            <a:ext cx="928688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5" name="Google Shape;915;p50"/>
          <p:cNvSpPr txBox="1"/>
          <p:nvPr/>
        </p:nvSpPr>
        <p:spPr>
          <a:xfrm>
            <a:off x="4982051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财富管理</a:t>
            </a:r>
            <a:endParaRPr/>
          </a:p>
        </p:txBody>
      </p:sp>
      <p:sp>
        <p:nvSpPr>
          <p:cNvPr id="916" name="Google Shape;916;p50"/>
          <p:cNvSpPr/>
          <p:nvPr/>
        </p:nvSpPr>
        <p:spPr>
          <a:xfrm>
            <a:off x="5886450" y="2743200"/>
            <a:ext cx="928688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50"/>
          <p:cNvSpPr txBox="1"/>
          <p:nvPr/>
        </p:nvSpPr>
        <p:spPr>
          <a:xfrm>
            <a:off x="6025039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内容创作</a:t>
            </a:r>
            <a:endParaRPr/>
          </a:p>
        </p:txBody>
      </p:sp>
      <p:sp>
        <p:nvSpPr>
          <p:cNvPr id="918" name="Google Shape;918;p50"/>
          <p:cNvSpPr/>
          <p:nvPr/>
        </p:nvSpPr>
        <p:spPr>
          <a:xfrm>
            <a:off x="6929438" y="2743200"/>
            <a:ext cx="1143000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50"/>
          <p:cNvSpPr txBox="1"/>
          <p:nvPr/>
        </p:nvSpPr>
        <p:spPr>
          <a:xfrm>
            <a:off x="7019092" y="2820710"/>
            <a:ext cx="963692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工作流自动化</a:t>
            </a:r>
            <a:endParaRPr/>
          </a:p>
        </p:txBody>
      </p:sp>
      <p:sp>
        <p:nvSpPr>
          <p:cNvPr id="920" name="Google Shape;920;p50"/>
          <p:cNvSpPr txBox="1"/>
          <p:nvPr/>
        </p:nvSpPr>
        <p:spPr>
          <a:xfrm>
            <a:off x="3645456" y="3097173"/>
            <a:ext cx="365545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★ 金融炒股组 — 就是今晚这个方向，课后一起把系统跑起来</a:t>
            </a:r>
            <a:endParaRPr/>
          </a:p>
        </p:txBody>
      </p:sp>
      <p:sp>
        <p:nvSpPr>
          <p:cNvPr id="921" name="Google Shape;921;p50"/>
          <p:cNvSpPr/>
          <p:nvPr/>
        </p:nvSpPr>
        <p:spPr>
          <a:xfrm>
            <a:off x="3000375" y="3457575"/>
            <a:ext cx="5629275" cy="842962"/>
          </a:xfrm>
          <a:prstGeom prst="roundRect">
            <a:avLst>
              <a:gd fmla="val 13559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2" name="Google Shape;922;p50"/>
          <p:cNvSpPr txBox="1"/>
          <p:nvPr/>
        </p:nvSpPr>
        <p:spPr>
          <a:xfrm>
            <a:off x="3206115" y="3649028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📦</a:t>
            </a:r>
            <a:endParaRPr/>
          </a:p>
        </p:txBody>
      </p:sp>
      <p:sp>
        <p:nvSpPr>
          <p:cNvPr id="923" name="Google Shape;923;p50"/>
          <p:cNvSpPr txBox="1"/>
          <p:nvPr/>
        </p:nvSpPr>
        <p:spPr>
          <a:xfrm>
            <a:off x="3640455" y="3640455"/>
            <a:ext cx="210454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共享资源，问题不过夜</a:t>
            </a:r>
            <a:endParaRPr/>
          </a:p>
        </p:txBody>
      </p:sp>
      <p:sp>
        <p:nvSpPr>
          <p:cNvPr id="924" name="Google Shape;924;p50"/>
          <p:cNvSpPr txBox="1"/>
          <p:nvPr/>
        </p:nvSpPr>
        <p:spPr>
          <a:xfrm>
            <a:off x="3644026" y="3913703"/>
            <a:ext cx="4545979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微信大群随时问 · 共享 GitHub 仓库 · 学员平台讲义与录像随时查</a:t>
            </a:r>
            <a:endParaRPr/>
          </a:p>
        </p:txBody>
      </p:sp>
      <p:sp>
        <p:nvSpPr>
          <p:cNvPr id="925" name="Google Shape;925;p50"/>
          <p:cNvSpPr txBox="1"/>
          <p:nvPr/>
        </p:nvSpPr>
        <p:spPr>
          <a:xfrm>
            <a:off x="2766346" y="4589145"/>
            <a:ext cx="36113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上一期学员已经在小组里互相跑通项目 · 微信：elitecoach101</a:t>
            </a:r>
            <a:endParaRPr/>
          </a:p>
        </p:txBody>
      </p:sp>
      <p:sp>
        <p:nvSpPr>
          <p:cNvPr id="926" name="Google Shape;926;p50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/ 17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51"/>
          <p:cNvSpPr/>
          <p:nvPr/>
        </p:nvSpPr>
        <p:spPr>
          <a:xfrm>
            <a:off x="0" y="104817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2" name="Google Shape;932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67" y="105575"/>
            <a:ext cx="454539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933" name="Google Shape;933;p51"/>
          <p:cNvSpPr txBox="1"/>
          <p:nvPr/>
        </p:nvSpPr>
        <p:spPr>
          <a:xfrm>
            <a:off x="8650617" y="255746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51"/>
          <p:cNvSpPr txBox="1"/>
          <p:nvPr/>
        </p:nvSpPr>
        <p:spPr>
          <a:xfrm>
            <a:off x="555900" y="242900"/>
            <a:ext cx="8493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2300"/>
              <a:buFont typeface="Georgia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今天报名 · S3 Claude Design · 7/19 (周日) + S4 AI 炒股 · 7/26 (周日) · 8:30 PM ET · 如调整以群内通知为准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51"/>
          <p:cNvSpPr/>
          <p:nvPr/>
        </p:nvSpPr>
        <p:spPr>
          <a:xfrm>
            <a:off x="6419945" y="585788"/>
            <a:ext cx="528638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51"/>
          <p:cNvSpPr/>
          <p:nvPr/>
        </p:nvSpPr>
        <p:spPr>
          <a:xfrm>
            <a:off x="2683714" y="1234767"/>
            <a:ext cx="3786300" cy="28857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9025">
            <a:solidFill>
              <a:srgbClr val="4F52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51"/>
          <p:cNvSpPr/>
          <p:nvPr/>
        </p:nvSpPr>
        <p:spPr>
          <a:xfrm>
            <a:off x="2683764" y="1265411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4F46E5">
              <a:alpha val="1215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51"/>
          <p:cNvSpPr/>
          <p:nvPr/>
        </p:nvSpPr>
        <p:spPr>
          <a:xfrm>
            <a:off x="2826702" y="1202125"/>
            <a:ext cx="314400" cy="157200"/>
          </a:xfrm>
          <a:prstGeom prst="roundRect">
            <a:avLst>
              <a:gd fmla="val 50000" name="adj"/>
            </a:avLst>
          </a:prstGeom>
          <a:solidFill>
            <a:srgbClr val="4F46E5">
              <a:alpha val="3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51"/>
          <p:cNvSpPr txBox="1"/>
          <p:nvPr/>
        </p:nvSpPr>
        <p:spPr>
          <a:xfrm>
            <a:off x="2862376" y="1236039"/>
            <a:ext cx="243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正课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51"/>
          <p:cNvSpPr txBox="1"/>
          <p:nvPr/>
        </p:nvSpPr>
        <p:spPr>
          <a:xfrm>
            <a:off x="4316727" y="1210255"/>
            <a:ext cx="1167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3600"/>
              <a:buFont typeface="Georgia"/>
              <a:buNone/>
            </a:p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Claude Design $199 · 7/19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3600"/>
              <a:buFont typeface="Georgia"/>
              <a:buNone/>
            </a:pP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AI 炒股 $249 · 7/26</a:t>
            </a: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3600"/>
              <a:buFont typeface="Georgia"/>
              <a:buNone/>
            </a:pP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两节课合买 $399</a:t>
            </a:r>
          </a:p>
        </p:txBody>
      </p:sp>
      <p:sp>
        <p:nvSpPr>
          <p:cNvPr id="941" name="Google Shape;941;p51"/>
          <p:cNvSpPr txBox="1"/>
          <p:nvPr/>
        </p:nvSpPr>
        <p:spPr>
          <a:xfrm>
            <a:off x="4079024" y="1853625"/>
            <a:ext cx="1167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S3 Claude Design · S4 AI 炒股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51"/>
          <p:cNvSpPr/>
          <p:nvPr/>
        </p:nvSpPr>
        <p:spPr>
          <a:xfrm>
            <a:off x="2826639" y="1743075"/>
            <a:ext cx="3500438" cy="7144"/>
          </a:xfrm>
          <a:prstGeom prst="rect">
            <a:avLst/>
          </a:prstGeom>
          <a:solidFill>
            <a:srgbClr val="4F52A8">
              <a:alpha val="5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51"/>
          <p:cNvSpPr txBox="1"/>
          <p:nvPr/>
        </p:nvSpPr>
        <p:spPr>
          <a:xfrm>
            <a:off x="3113814" y="2220096"/>
            <a:ext cx="2895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知识库 + Skill 流水线 · 从扫股到分析全自动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51"/>
          <p:cNvSpPr/>
          <p:nvPr/>
        </p:nvSpPr>
        <p:spPr>
          <a:xfrm>
            <a:off x="2933795" y="2293081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51"/>
          <p:cNvSpPr txBox="1"/>
          <p:nvPr/>
        </p:nvSpPr>
        <p:spPr>
          <a:xfrm>
            <a:off x="3113818" y="2548640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51"/>
          <p:cNvSpPr/>
          <p:nvPr/>
        </p:nvSpPr>
        <p:spPr>
          <a:xfrm>
            <a:off x="2933795" y="3048385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51"/>
          <p:cNvSpPr txBox="1"/>
          <p:nvPr/>
        </p:nvSpPr>
        <p:spPr>
          <a:xfrm>
            <a:off x="3113818" y="3303944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51"/>
          <p:cNvSpPr/>
          <p:nvPr/>
        </p:nvSpPr>
        <p:spPr>
          <a:xfrm>
            <a:off x="2933795" y="3421856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51"/>
          <p:cNvSpPr txBox="1"/>
          <p:nvPr/>
        </p:nvSpPr>
        <p:spPr>
          <a:xfrm>
            <a:off x="3113815" y="3677421"/>
            <a:ext cx="1891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专属</a:t>
            </a: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学员支持群 + 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组织答疑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51"/>
          <p:cNvSpPr txBox="1"/>
          <p:nvPr/>
        </p:nvSpPr>
        <p:spPr>
          <a:xfrm>
            <a:off x="6356008" y="4105513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立即报名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51"/>
          <p:cNvSpPr txBox="1"/>
          <p:nvPr/>
        </p:nvSpPr>
        <p:spPr>
          <a:xfrm>
            <a:off x="2893425" y="4129075"/>
            <a:ext cx="3219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Payment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Zelle： </a:t>
            </a:r>
            <a:r>
              <a:rPr b="1" i="0" lang="en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info@elitecoach101.com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Wechat： elitecoach101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51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51"/>
          <p:cNvSpPr/>
          <p:nvPr/>
        </p:nvSpPr>
        <p:spPr>
          <a:xfrm>
            <a:off x="2928970" y="267008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51"/>
          <p:cNvSpPr txBox="1"/>
          <p:nvPr/>
        </p:nvSpPr>
        <p:spPr>
          <a:xfrm>
            <a:off x="3108993" y="2925647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课后实战项目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5" name="Google Shape;955;p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5376" y="3677413"/>
            <a:ext cx="1449900" cy="1444996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pic>
      <p:sp>
        <p:nvSpPr>
          <p:cNvPr id="956" name="Google Shape;956;p51"/>
          <p:cNvSpPr/>
          <p:nvPr/>
        </p:nvSpPr>
        <p:spPr>
          <a:xfrm>
            <a:off x="2933795" y="377683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5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52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52"/>
          <p:cNvSpPr txBox="1"/>
          <p:nvPr/>
        </p:nvSpPr>
        <p:spPr>
          <a:xfrm>
            <a:off x="560070" y="195739"/>
            <a:ext cx="129359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参考资料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52"/>
          <p:cNvSpPr txBox="1"/>
          <p:nvPr/>
        </p:nvSpPr>
        <p:spPr>
          <a:xfrm>
            <a:off x="574358" y="488633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今天直播涉及的工具与资源链接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52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52"/>
          <p:cNvSpPr/>
          <p:nvPr/>
        </p:nvSpPr>
        <p:spPr>
          <a:xfrm>
            <a:off x="457200" y="82867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52"/>
          <p:cNvSpPr/>
          <p:nvPr/>
        </p:nvSpPr>
        <p:spPr>
          <a:xfrm>
            <a:off x="457200" y="82867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52"/>
          <p:cNvSpPr/>
          <p:nvPr/>
        </p:nvSpPr>
        <p:spPr>
          <a:xfrm>
            <a:off x="619123" y="1014908"/>
            <a:ext cx="200567" cy="201349"/>
          </a:xfrm>
          <a:custGeom>
            <a:rect b="b" l="l" r="r" t="t"/>
            <a:pathLst>
              <a:path extrusionOk="0" h="268466" w="267422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52"/>
          <p:cNvSpPr txBox="1"/>
          <p:nvPr/>
        </p:nvSpPr>
        <p:spPr>
          <a:xfrm>
            <a:off x="930116" y="947976"/>
            <a:ext cx="88746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2"/>
          <p:cNvSpPr txBox="1"/>
          <p:nvPr/>
        </p:nvSpPr>
        <p:spPr>
          <a:xfrm>
            <a:off x="932974" y="1143714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终端 AI 编程助手 · 今晚核心工具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2"/>
          <p:cNvSpPr txBox="1"/>
          <p:nvPr/>
        </p:nvSpPr>
        <p:spPr>
          <a:xfrm>
            <a:off x="7674531" y="1066205"/>
            <a:ext cx="90868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claude.ai/code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2"/>
          <p:cNvSpPr/>
          <p:nvPr/>
        </p:nvSpPr>
        <p:spPr>
          <a:xfrm>
            <a:off x="457200" y="154305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52"/>
          <p:cNvSpPr/>
          <p:nvPr/>
        </p:nvSpPr>
        <p:spPr>
          <a:xfrm>
            <a:off x="457200" y="154305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52"/>
          <p:cNvSpPr/>
          <p:nvPr/>
        </p:nvSpPr>
        <p:spPr>
          <a:xfrm>
            <a:off x="619125" y="1746706"/>
            <a:ext cx="190500" cy="158719"/>
          </a:xfrm>
          <a:custGeom>
            <a:rect b="b" l="l" r="r" t="t"/>
            <a:pathLst>
              <a:path extrusionOk="0" h="211625" w="254000">
                <a:moveTo>
                  <a:pt x="247650" y="22260"/>
                </a:moveTo>
                <a:cubicBezTo>
                  <a:pt x="251118" y="24262"/>
                  <a:pt x="253438" y="27783"/>
                  <a:pt x="253911" y="31760"/>
                </a:cubicBezTo>
                <a:lnTo>
                  <a:pt x="254000" y="33258"/>
                </a:lnTo>
                <a:lnTo>
                  <a:pt x="254000" y="198358"/>
                </a:lnTo>
                <a:cubicBezTo>
                  <a:pt x="254000" y="202895"/>
                  <a:pt x="251579" y="207088"/>
                  <a:pt x="247650" y="209357"/>
                </a:cubicBezTo>
                <a:cubicBezTo>
                  <a:pt x="243720" y="211625"/>
                  <a:pt x="238879" y="211625"/>
                  <a:pt x="234950" y="209356"/>
                </a:cubicBezTo>
                <a:cubicBezTo>
                  <a:pt x="205731" y="192484"/>
                  <a:pt x="170041" y="191218"/>
                  <a:pt x="139700" y="205978"/>
                </a:cubicBezTo>
                <a:lnTo>
                  <a:pt x="139700" y="13268"/>
                </a:lnTo>
                <a:cubicBezTo>
                  <a:pt x="175221" y="0"/>
                  <a:pt x="214813" y="3298"/>
                  <a:pt x="247650" y="22260"/>
                </a:cubicBezTo>
                <a:moveTo>
                  <a:pt x="114300" y="13281"/>
                </a:moveTo>
                <a:lnTo>
                  <a:pt x="114313" y="205991"/>
                </a:lnTo>
                <a:cubicBezTo>
                  <a:pt x="85201" y="191819"/>
                  <a:pt x="51079" y="192371"/>
                  <a:pt x="22441" y="207477"/>
                </a:cubicBezTo>
                <a:lnTo>
                  <a:pt x="18288" y="209763"/>
                </a:lnTo>
                <a:lnTo>
                  <a:pt x="16980" y="210322"/>
                </a:lnTo>
                <a:lnTo>
                  <a:pt x="16358" y="210525"/>
                </a:lnTo>
                <a:lnTo>
                  <a:pt x="14961" y="210855"/>
                </a:lnTo>
                <a:lnTo>
                  <a:pt x="14186" y="210982"/>
                </a:lnTo>
                <a:lnTo>
                  <a:pt x="12700" y="211058"/>
                </a:lnTo>
                <a:lnTo>
                  <a:pt x="12167" y="211058"/>
                </a:lnTo>
                <a:lnTo>
                  <a:pt x="10770" y="210906"/>
                </a:lnTo>
                <a:lnTo>
                  <a:pt x="9792" y="210728"/>
                </a:lnTo>
                <a:lnTo>
                  <a:pt x="8420" y="210322"/>
                </a:lnTo>
                <a:lnTo>
                  <a:pt x="6820" y="209610"/>
                </a:lnTo>
                <a:lnTo>
                  <a:pt x="5613" y="208899"/>
                </a:lnTo>
                <a:lnTo>
                  <a:pt x="4483" y="208048"/>
                </a:lnTo>
                <a:lnTo>
                  <a:pt x="3721" y="207337"/>
                </a:lnTo>
                <a:lnTo>
                  <a:pt x="2794" y="206296"/>
                </a:lnTo>
                <a:lnTo>
                  <a:pt x="1981" y="205165"/>
                </a:lnTo>
                <a:lnTo>
                  <a:pt x="1702" y="204708"/>
                </a:lnTo>
                <a:lnTo>
                  <a:pt x="1295" y="203946"/>
                </a:lnTo>
                <a:lnTo>
                  <a:pt x="737" y="202638"/>
                </a:lnTo>
                <a:lnTo>
                  <a:pt x="533" y="202016"/>
                </a:lnTo>
                <a:lnTo>
                  <a:pt x="203" y="200619"/>
                </a:lnTo>
                <a:lnTo>
                  <a:pt x="76" y="199844"/>
                </a:lnTo>
                <a:lnTo>
                  <a:pt x="25" y="199222"/>
                </a:lnTo>
                <a:lnTo>
                  <a:pt x="0" y="33258"/>
                </a:lnTo>
                <a:cubicBezTo>
                  <a:pt x="0" y="28721"/>
                  <a:pt x="2421" y="24529"/>
                  <a:pt x="6350" y="22260"/>
                </a:cubicBezTo>
                <a:cubicBezTo>
                  <a:pt x="39189" y="3302"/>
                  <a:pt x="78781" y="9"/>
                  <a:pt x="114300" y="13281"/>
                </a:cubicBezTo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52"/>
          <p:cNvSpPr txBox="1"/>
          <p:nvPr/>
        </p:nvSpPr>
        <p:spPr>
          <a:xfrm>
            <a:off x="930116" y="1662351"/>
            <a:ext cx="321650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官方文档 · Skills / Projects /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52"/>
          <p:cNvSpPr txBox="1"/>
          <p:nvPr/>
        </p:nvSpPr>
        <p:spPr>
          <a:xfrm>
            <a:off x="932974" y="1858089"/>
            <a:ext cx="20040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Skills / MCP 文档 · 做 Skill 必读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52"/>
          <p:cNvSpPr txBox="1"/>
          <p:nvPr/>
        </p:nvSpPr>
        <p:spPr>
          <a:xfrm>
            <a:off x="7347972" y="1780580"/>
            <a:ext cx="12352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docs.anthropic.com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52"/>
          <p:cNvSpPr/>
          <p:nvPr/>
        </p:nvSpPr>
        <p:spPr>
          <a:xfrm>
            <a:off x="457200" y="225742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9" name="Google Shape;979;p52"/>
          <p:cNvSpPr/>
          <p:nvPr/>
        </p:nvSpPr>
        <p:spPr>
          <a:xfrm>
            <a:off x="457200" y="225742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80" name="Google Shape;980;p52"/>
          <p:cNvGrpSpPr/>
          <p:nvPr/>
        </p:nvGrpSpPr>
        <p:grpSpPr>
          <a:xfrm>
            <a:off x="627523" y="2456300"/>
            <a:ext cx="173506" cy="163075"/>
            <a:chOff x="836697" y="3275067"/>
            <a:chExt cx="231341" cy="217433"/>
          </a:xfrm>
        </p:grpSpPr>
        <p:sp>
          <p:nvSpPr>
            <p:cNvPr id="981" name="Google Shape;981;p52"/>
            <p:cNvSpPr/>
            <p:nvPr/>
          </p:nvSpPr>
          <p:spPr>
            <a:xfrm>
              <a:off x="838200" y="3351219"/>
              <a:ext cx="228600" cy="141281"/>
            </a:xfrm>
            <a:custGeom>
              <a:rect b="b" l="l" r="r" t="t"/>
              <a:pathLst>
                <a:path extrusionOk="0" h="141281" w="228600">
                  <a:moveTo>
                    <a:pt x="155194" y="6344"/>
                  </a:moveTo>
                  <a:cubicBezTo>
                    <a:pt x="159530" y="933"/>
                    <a:pt x="167405" y="0"/>
                    <a:pt x="172885" y="4248"/>
                  </a:cubicBezTo>
                  <a:lnTo>
                    <a:pt x="174079" y="5302"/>
                  </a:lnTo>
                  <a:lnTo>
                    <a:pt x="224879" y="56102"/>
                  </a:lnTo>
                  <a:cubicBezTo>
                    <a:pt x="226853" y="58078"/>
                    <a:pt x="228120" y="60649"/>
                    <a:pt x="228486" y="63417"/>
                  </a:cubicBezTo>
                  <a:lnTo>
                    <a:pt x="228600" y="65081"/>
                  </a:lnTo>
                  <a:lnTo>
                    <a:pt x="228600" y="128581"/>
                  </a:lnTo>
                  <a:cubicBezTo>
                    <a:pt x="228599" y="135020"/>
                    <a:pt x="223780" y="140439"/>
                    <a:pt x="217386" y="141192"/>
                  </a:cubicBezTo>
                  <a:lnTo>
                    <a:pt x="215900" y="141281"/>
                  </a:lnTo>
                  <a:lnTo>
                    <a:pt x="12421" y="141281"/>
                  </a:lnTo>
                  <a:lnTo>
                    <a:pt x="11024" y="141167"/>
                  </a:lnTo>
                  <a:lnTo>
                    <a:pt x="9627" y="140913"/>
                  </a:lnTo>
                  <a:lnTo>
                    <a:pt x="8268" y="140481"/>
                  </a:lnTo>
                  <a:lnTo>
                    <a:pt x="6934" y="139897"/>
                  </a:lnTo>
                  <a:lnTo>
                    <a:pt x="5664" y="139148"/>
                  </a:lnTo>
                  <a:lnTo>
                    <a:pt x="4470" y="138259"/>
                  </a:lnTo>
                  <a:lnTo>
                    <a:pt x="3708" y="137560"/>
                  </a:lnTo>
                  <a:lnTo>
                    <a:pt x="2794" y="136519"/>
                  </a:lnTo>
                  <a:lnTo>
                    <a:pt x="1981" y="135388"/>
                  </a:lnTo>
                  <a:lnTo>
                    <a:pt x="1295" y="134169"/>
                  </a:lnTo>
                  <a:lnTo>
                    <a:pt x="1092" y="133725"/>
                  </a:lnTo>
                  <a:lnTo>
                    <a:pt x="584" y="132417"/>
                  </a:lnTo>
                  <a:lnTo>
                    <a:pt x="241" y="131070"/>
                  </a:lnTo>
                  <a:lnTo>
                    <a:pt x="51" y="129699"/>
                  </a:lnTo>
                  <a:lnTo>
                    <a:pt x="0" y="128302"/>
                  </a:lnTo>
                  <a:lnTo>
                    <a:pt x="114" y="126905"/>
                  </a:lnTo>
                  <a:lnTo>
                    <a:pt x="356" y="125571"/>
                  </a:lnTo>
                  <a:cubicBezTo>
                    <a:pt x="483" y="125063"/>
                    <a:pt x="635" y="124593"/>
                    <a:pt x="800" y="124149"/>
                  </a:cubicBezTo>
                  <a:lnTo>
                    <a:pt x="1384" y="122815"/>
                  </a:lnTo>
                  <a:lnTo>
                    <a:pt x="2134" y="121545"/>
                  </a:lnTo>
                  <a:lnTo>
                    <a:pt x="52934" y="45345"/>
                  </a:lnTo>
                  <a:cubicBezTo>
                    <a:pt x="56150" y="40502"/>
                    <a:pt x="62245" y="38462"/>
                    <a:pt x="67729" y="40392"/>
                  </a:cubicBezTo>
                  <a:lnTo>
                    <a:pt x="69177" y="41027"/>
                  </a:lnTo>
                  <a:lnTo>
                    <a:pt x="110795" y="61830"/>
                  </a:lnTo>
                  <a:lnTo>
                    <a:pt x="155181" y="6344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52"/>
            <p:cNvSpPr/>
            <p:nvPr/>
          </p:nvSpPr>
          <p:spPr>
            <a:xfrm>
              <a:off x="836697" y="3275067"/>
              <a:ext cx="231341" cy="130036"/>
            </a:xfrm>
            <a:custGeom>
              <a:rect b="b" l="l" r="r" t="t"/>
              <a:pathLst>
                <a:path extrusionOk="0" h="130036" w="231341">
                  <a:moveTo>
                    <a:pt x="156850" y="6105"/>
                  </a:moveTo>
                  <a:cubicBezTo>
                    <a:pt x="161230" y="843"/>
                    <a:pt x="168994" y="0"/>
                    <a:pt x="174401" y="4200"/>
                  </a:cubicBezTo>
                  <a:lnTo>
                    <a:pt x="175582" y="5254"/>
                  </a:lnTo>
                  <a:lnTo>
                    <a:pt x="226382" y="56054"/>
                  </a:lnTo>
                  <a:cubicBezTo>
                    <a:pt x="231109" y="60797"/>
                    <a:pt x="231341" y="68396"/>
                    <a:pt x="226912" y="73419"/>
                  </a:cubicBezTo>
                  <a:cubicBezTo>
                    <a:pt x="222484" y="78441"/>
                    <a:pt x="214916" y="79162"/>
                    <a:pt x="209618" y="75066"/>
                  </a:cubicBezTo>
                  <a:lnTo>
                    <a:pt x="208424" y="74012"/>
                  </a:lnTo>
                  <a:lnTo>
                    <a:pt x="167454" y="33054"/>
                  </a:lnTo>
                  <a:lnTo>
                    <a:pt x="112857" y="98561"/>
                  </a:lnTo>
                  <a:cubicBezTo>
                    <a:pt x="109461" y="102635"/>
                    <a:pt x="103890" y="104170"/>
                    <a:pt x="98887" y="102409"/>
                  </a:cubicBezTo>
                  <a:lnTo>
                    <a:pt x="97426" y="101787"/>
                  </a:lnTo>
                  <a:lnTo>
                    <a:pt x="56101" y="81137"/>
                  </a:lnTo>
                  <a:lnTo>
                    <a:pt x="24363" y="123453"/>
                  </a:lnTo>
                  <a:cubicBezTo>
                    <a:pt x="20525" y="128572"/>
                    <a:pt x="13477" y="130036"/>
                    <a:pt x="7917" y="126869"/>
                  </a:cubicBezTo>
                  <a:lnTo>
                    <a:pt x="6583" y="125993"/>
                  </a:lnTo>
                  <a:cubicBezTo>
                    <a:pt x="1464" y="122154"/>
                    <a:pt x="0" y="115107"/>
                    <a:pt x="3167" y="109547"/>
                  </a:cubicBezTo>
                  <a:lnTo>
                    <a:pt x="4043" y="108213"/>
                  </a:lnTo>
                  <a:lnTo>
                    <a:pt x="42143" y="57413"/>
                  </a:lnTo>
                  <a:cubicBezTo>
                    <a:pt x="45487" y="52960"/>
                    <a:pt x="51341" y="51204"/>
                    <a:pt x="56583" y="53082"/>
                  </a:cubicBezTo>
                  <a:lnTo>
                    <a:pt x="57980" y="53679"/>
                  </a:lnTo>
                  <a:lnTo>
                    <a:pt x="99776" y="74571"/>
                  </a:lnTo>
                  <a:lnTo>
                    <a:pt x="156850" y="6105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3" name="Google Shape;983;p52"/>
          <p:cNvSpPr txBox="1"/>
          <p:nvPr/>
        </p:nvSpPr>
        <p:spPr>
          <a:xfrm>
            <a:off x="930116" y="2376726"/>
            <a:ext cx="3829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课程学员平台 · 讲义 / 干货 / 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52"/>
          <p:cNvSpPr txBox="1"/>
          <p:nvPr/>
        </p:nvSpPr>
        <p:spPr>
          <a:xfrm>
            <a:off x="932974" y="2572464"/>
            <a:ext cx="18659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全部学员资料归档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52"/>
          <p:cNvSpPr txBox="1"/>
          <p:nvPr/>
        </p:nvSpPr>
        <p:spPr>
          <a:xfrm>
            <a:off x="5917974" y="2494950"/>
            <a:ext cx="266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52"/>
          <p:cNvSpPr/>
          <p:nvPr/>
        </p:nvSpPr>
        <p:spPr>
          <a:xfrm>
            <a:off x="457200" y="297180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52"/>
          <p:cNvSpPr/>
          <p:nvPr/>
        </p:nvSpPr>
        <p:spPr>
          <a:xfrm>
            <a:off x="457200" y="297180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88" name="Google Shape;988;p52"/>
          <p:cNvGrpSpPr/>
          <p:nvPr/>
        </p:nvGrpSpPr>
        <p:grpSpPr>
          <a:xfrm>
            <a:off x="622454" y="3162300"/>
            <a:ext cx="183744" cy="189817"/>
            <a:chOff x="829939" y="4216400"/>
            <a:chExt cx="244992" cy="253089"/>
          </a:xfrm>
        </p:grpSpPr>
        <p:sp>
          <p:nvSpPr>
            <p:cNvPr id="989" name="Google Shape;989;p52"/>
            <p:cNvSpPr/>
            <p:nvPr/>
          </p:nvSpPr>
          <p:spPr>
            <a:xfrm>
              <a:off x="959688" y="4368584"/>
              <a:ext cx="115243" cy="100905"/>
            </a:xfrm>
            <a:custGeom>
              <a:rect b="b" l="l" r="r" t="t"/>
              <a:pathLst>
                <a:path extrusionOk="0" h="100905" w="115243">
                  <a:moveTo>
                    <a:pt x="88011" y="0"/>
                  </a:moveTo>
                  <a:lnTo>
                    <a:pt x="112979" y="43256"/>
                  </a:lnTo>
                  <a:cubicBezTo>
                    <a:pt x="115065" y="46871"/>
                    <a:pt x="115243" y="51280"/>
                    <a:pt x="113456" y="55052"/>
                  </a:cubicBezTo>
                  <a:cubicBezTo>
                    <a:pt x="111669" y="58824"/>
                    <a:pt x="108144" y="61478"/>
                    <a:pt x="104026" y="62154"/>
                  </a:cubicBezTo>
                  <a:lnTo>
                    <a:pt x="102591" y="62293"/>
                  </a:lnTo>
                  <a:lnTo>
                    <a:pt x="101168" y="62281"/>
                  </a:lnTo>
                  <a:lnTo>
                    <a:pt x="63919" y="59868"/>
                  </a:lnTo>
                  <a:lnTo>
                    <a:pt x="47371" y="93345"/>
                  </a:lnTo>
                  <a:cubicBezTo>
                    <a:pt x="45548" y="97023"/>
                    <a:pt x="42062" y="99594"/>
                    <a:pt x="38010" y="100249"/>
                  </a:cubicBezTo>
                  <a:cubicBezTo>
                    <a:pt x="33958" y="100905"/>
                    <a:pt x="29838" y="99563"/>
                    <a:pt x="26949" y="96647"/>
                  </a:cubicBezTo>
                  <a:lnTo>
                    <a:pt x="25908" y="95453"/>
                  </a:lnTo>
                  <a:lnTo>
                    <a:pt x="24994" y="94056"/>
                  </a:lnTo>
                  <a:lnTo>
                    <a:pt x="0" y="50787"/>
                  </a:lnTo>
                  <a:cubicBezTo>
                    <a:pt x="35666" y="48558"/>
                    <a:pt x="68234" y="29765"/>
                    <a:pt x="88011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52"/>
            <p:cNvSpPr/>
            <p:nvPr/>
          </p:nvSpPr>
          <p:spPr>
            <a:xfrm>
              <a:off x="829939" y="4368571"/>
              <a:ext cx="115322" cy="100777"/>
            </a:xfrm>
            <a:custGeom>
              <a:rect b="b" l="l" r="r" t="t"/>
              <a:pathLst>
                <a:path extrusionOk="0" h="100777" w="115322">
                  <a:moveTo>
                    <a:pt x="115322" y="50800"/>
                  </a:moveTo>
                  <a:lnTo>
                    <a:pt x="90354" y="94082"/>
                  </a:lnTo>
                  <a:cubicBezTo>
                    <a:pt x="88301" y="97639"/>
                    <a:pt x="84656" y="99986"/>
                    <a:pt x="80568" y="100382"/>
                  </a:cubicBezTo>
                  <a:cubicBezTo>
                    <a:pt x="76479" y="100777"/>
                    <a:pt x="72452" y="99173"/>
                    <a:pt x="69755" y="96075"/>
                  </a:cubicBezTo>
                  <a:lnTo>
                    <a:pt x="68789" y="94805"/>
                  </a:lnTo>
                  <a:lnTo>
                    <a:pt x="67977" y="93358"/>
                  </a:lnTo>
                  <a:lnTo>
                    <a:pt x="51416" y="59893"/>
                  </a:lnTo>
                  <a:lnTo>
                    <a:pt x="14192" y="62306"/>
                  </a:lnTo>
                  <a:cubicBezTo>
                    <a:pt x="10030" y="62574"/>
                    <a:pt x="6001" y="60783"/>
                    <a:pt x="3412" y="57514"/>
                  </a:cubicBezTo>
                  <a:cubicBezTo>
                    <a:pt x="822" y="54245"/>
                    <a:pt x="0" y="49914"/>
                    <a:pt x="1213" y="45923"/>
                  </a:cubicBezTo>
                  <a:lnTo>
                    <a:pt x="1721" y="44564"/>
                  </a:lnTo>
                  <a:lnTo>
                    <a:pt x="2356" y="43294"/>
                  </a:lnTo>
                  <a:lnTo>
                    <a:pt x="27349" y="0"/>
                  </a:lnTo>
                  <a:cubicBezTo>
                    <a:pt x="47113" y="29764"/>
                    <a:pt x="79665" y="48566"/>
                    <a:pt x="115322" y="50813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52"/>
            <p:cNvSpPr/>
            <p:nvPr/>
          </p:nvSpPr>
          <p:spPr>
            <a:xfrm>
              <a:off x="863599" y="4216400"/>
              <a:ext cx="177802" cy="177876"/>
            </a:xfrm>
            <a:custGeom>
              <a:rect b="b" l="l" r="r" t="t"/>
              <a:pathLst>
                <a:path extrusionOk="0" h="177876" w="177802">
                  <a:moveTo>
                    <a:pt x="88901" y="0"/>
                  </a:moveTo>
                  <a:lnTo>
                    <a:pt x="91949" y="51"/>
                  </a:lnTo>
                  <a:cubicBezTo>
                    <a:pt x="139833" y="1694"/>
                    <a:pt x="177802" y="40988"/>
                    <a:pt x="177801" y="88900"/>
                  </a:cubicBezTo>
                  <a:lnTo>
                    <a:pt x="177763" y="91351"/>
                  </a:lnTo>
                  <a:lnTo>
                    <a:pt x="177674" y="93789"/>
                  </a:lnTo>
                  <a:lnTo>
                    <a:pt x="177445" y="96901"/>
                  </a:lnTo>
                  <a:lnTo>
                    <a:pt x="177115" y="99974"/>
                  </a:lnTo>
                  <a:lnTo>
                    <a:pt x="176810" y="102235"/>
                  </a:lnTo>
                  <a:cubicBezTo>
                    <a:pt x="175974" y="107717"/>
                    <a:pt x="174627" y="113108"/>
                    <a:pt x="172784" y="118339"/>
                  </a:cubicBezTo>
                  <a:lnTo>
                    <a:pt x="171311" y="122250"/>
                  </a:lnTo>
                  <a:lnTo>
                    <a:pt x="169368" y="126670"/>
                  </a:lnTo>
                  <a:cubicBezTo>
                    <a:pt x="154689" y="157939"/>
                    <a:pt x="123229" y="177876"/>
                    <a:pt x="88686" y="177800"/>
                  </a:cubicBezTo>
                  <a:cubicBezTo>
                    <a:pt x="54143" y="177724"/>
                    <a:pt x="22771" y="157648"/>
                    <a:pt x="8230" y="126314"/>
                  </a:cubicBezTo>
                  <a:lnTo>
                    <a:pt x="6579" y="122542"/>
                  </a:lnTo>
                  <a:lnTo>
                    <a:pt x="5919" y="120853"/>
                  </a:lnTo>
                  <a:lnTo>
                    <a:pt x="4903" y="118097"/>
                  </a:lnTo>
                  <a:lnTo>
                    <a:pt x="3696" y="114363"/>
                  </a:lnTo>
                  <a:cubicBezTo>
                    <a:pt x="3266" y="112918"/>
                    <a:pt x="2872" y="111461"/>
                    <a:pt x="2515" y="109995"/>
                  </a:cubicBezTo>
                  <a:lnTo>
                    <a:pt x="1753" y="106553"/>
                  </a:lnTo>
                  <a:lnTo>
                    <a:pt x="1131" y="103111"/>
                  </a:lnTo>
                  <a:lnTo>
                    <a:pt x="877" y="101346"/>
                  </a:lnTo>
                  <a:lnTo>
                    <a:pt x="382" y="97244"/>
                  </a:lnTo>
                  <a:lnTo>
                    <a:pt x="77" y="92608"/>
                  </a:lnTo>
                  <a:lnTo>
                    <a:pt x="1" y="88900"/>
                  </a:lnTo>
                  <a:cubicBezTo>
                    <a:pt x="0" y="40988"/>
                    <a:pt x="37969" y="1694"/>
                    <a:pt x="85853" y="51"/>
                  </a:cubicBezTo>
                  <a:lnTo>
                    <a:pt x="88901" y="0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92" name="Google Shape;992;p52"/>
          <p:cNvSpPr txBox="1"/>
          <p:nvPr/>
        </p:nvSpPr>
        <p:spPr>
          <a:xfrm>
            <a:off x="930116" y="3091101"/>
            <a:ext cx="160170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讲武堂 · 课程报名平台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52"/>
          <p:cNvSpPr txBox="1"/>
          <p:nvPr/>
        </p:nvSpPr>
        <p:spPr>
          <a:xfrm>
            <a:off x="932974" y="3286839"/>
            <a:ext cx="20845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报名入口 · 支持支付宝 / 信用卡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52"/>
          <p:cNvSpPr txBox="1"/>
          <p:nvPr/>
        </p:nvSpPr>
        <p:spPr>
          <a:xfrm>
            <a:off x="7508171" y="3209330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elitecoach101.com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52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5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1" name="Google Shape;1001;p53"/>
          <p:cNvGrpSpPr/>
          <p:nvPr/>
        </p:nvGrpSpPr>
        <p:grpSpPr>
          <a:xfrm>
            <a:off x="553641" y="553641"/>
            <a:ext cx="8036719" cy="3464719"/>
            <a:chOff x="738188" y="738188"/>
            <a:chExt cx="10715625" cy="4619625"/>
          </a:xfrm>
        </p:grpSpPr>
        <p:sp>
          <p:nvSpPr>
            <p:cNvPr id="1002" name="Google Shape;1002;p53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53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53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53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53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53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53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53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53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53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53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53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53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53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53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53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53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53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53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53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53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53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53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53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6" name="Google Shape;1026;p53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53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53"/>
          <p:cNvSpPr txBox="1"/>
          <p:nvPr/>
        </p:nvSpPr>
        <p:spPr>
          <a:xfrm>
            <a:off x="3949351" y="702945"/>
            <a:ext cx="124529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53"/>
          <p:cNvSpPr txBox="1"/>
          <p:nvPr/>
        </p:nvSpPr>
        <p:spPr>
          <a:xfrm>
            <a:off x="3206544" y="1338739"/>
            <a:ext cx="2730913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53"/>
          <p:cNvSpPr txBox="1"/>
          <p:nvPr/>
        </p:nvSpPr>
        <p:spPr>
          <a:xfrm>
            <a:off x="4411499" y="2013109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53"/>
          <p:cNvSpPr txBox="1"/>
          <p:nvPr/>
        </p:nvSpPr>
        <p:spPr>
          <a:xfrm>
            <a:off x="3517945" y="2467451"/>
            <a:ext cx="210811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53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53"/>
          <p:cNvSpPr/>
          <p:nvPr/>
        </p:nvSpPr>
        <p:spPr>
          <a:xfrm>
            <a:off x="2357438" y="3429000"/>
            <a:ext cx="4429125" cy="48577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53"/>
          <p:cNvSpPr txBox="1"/>
          <p:nvPr/>
        </p:nvSpPr>
        <p:spPr>
          <a:xfrm>
            <a:off x="3544795" y="3517582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53"/>
          <p:cNvSpPr txBox="1"/>
          <p:nvPr/>
        </p:nvSpPr>
        <p:spPr>
          <a:xfrm>
            <a:off x="3070741" y="4064794"/>
            <a:ext cx="30025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感谢今晚参与 · 期待在 S4 课堂再见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53"/>
          <p:cNvSpPr/>
          <p:nvPr/>
        </p:nvSpPr>
        <p:spPr>
          <a:xfrm>
            <a:off x="2571750" y="43719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53"/>
          <p:cNvSpPr/>
          <p:nvPr/>
        </p:nvSpPr>
        <p:spPr>
          <a:xfrm>
            <a:off x="2649932" y="4508026"/>
            <a:ext cx="144556" cy="144090"/>
          </a:xfrm>
          <a:custGeom>
            <a:rect b="b" l="l" r="r" t="t"/>
            <a:pathLst>
              <a:path extrusionOk="0" h="192120" w="192741">
                <a:moveTo>
                  <a:pt x="152510" y="28545"/>
                </a:moveTo>
                <a:cubicBezTo>
                  <a:pt x="185240" y="56478"/>
                  <a:pt x="192741" y="104092"/>
                  <a:pt x="170182" y="140734"/>
                </a:cubicBezTo>
                <a:cubicBezTo>
                  <a:pt x="147624" y="177376"/>
                  <a:pt x="101733" y="192120"/>
                  <a:pt x="62054" y="175475"/>
                </a:cubicBezTo>
                <a:lnTo>
                  <a:pt x="60107" y="174619"/>
                </a:lnTo>
                <a:lnTo>
                  <a:pt x="18555" y="182032"/>
                </a:lnTo>
                <a:lnTo>
                  <a:pt x="17595" y="182128"/>
                </a:lnTo>
                <a:cubicBezTo>
                  <a:pt x="17275" y="182145"/>
                  <a:pt x="16954" y="182145"/>
                  <a:pt x="16634" y="182128"/>
                </a:cubicBezTo>
                <a:lnTo>
                  <a:pt x="15744" y="182014"/>
                </a:lnTo>
                <a:lnTo>
                  <a:pt x="14801" y="181805"/>
                </a:lnTo>
                <a:lnTo>
                  <a:pt x="13884" y="181482"/>
                </a:lnTo>
                <a:lnTo>
                  <a:pt x="13019" y="181071"/>
                </a:lnTo>
                <a:lnTo>
                  <a:pt x="12207" y="180565"/>
                </a:lnTo>
                <a:lnTo>
                  <a:pt x="12085" y="180469"/>
                </a:lnTo>
                <a:lnTo>
                  <a:pt x="11980" y="180408"/>
                </a:lnTo>
                <a:lnTo>
                  <a:pt x="11229" y="179770"/>
                </a:lnTo>
                <a:lnTo>
                  <a:pt x="10557" y="179072"/>
                </a:lnTo>
                <a:lnTo>
                  <a:pt x="9972" y="178304"/>
                </a:lnTo>
                <a:lnTo>
                  <a:pt x="9483" y="177483"/>
                </a:lnTo>
                <a:lnTo>
                  <a:pt x="9186" y="176872"/>
                </a:lnTo>
                <a:lnTo>
                  <a:pt x="8837" y="175929"/>
                </a:lnTo>
                <a:lnTo>
                  <a:pt x="8593" y="174811"/>
                </a:lnTo>
                <a:lnTo>
                  <a:pt x="8488" y="173920"/>
                </a:lnTo>
                <a:cubicBezTo>
                  <a:pt x="8465" y="173557"/>
                  <a:pt x="8465" y="173193"/>
                  <a:pt x="8488" y="172829"/>
                </a:cubicBezTo>
                <a:lnTo>
                  <a:pt x="8593" y="171956"/>
                </a:lnTo>
                <a:lnTo>
                  <a:pt x="8802" y="170995"/>
                </a:lnTo>
                <a:lnTo>
                  <a:pt x="9195" y="169930"/>
                </a:lnTo>
                <a:lnTo>
                  <a:pt x="21707" y="141082"/>
                </a:lnTo>
                <a:lnTo>
                  <a:pt x="21628" y="140960"/>
                </a:lnTo>
                <a:cubicBezTo>
                  <a:pt x="0" y="106044"/>
                  <a:pt x="5631" y="60775"/>
                  <a:pt x="35153" y="32221"/>
                </a:cubicBezTo>
                <a:lnTo>
                  <a:pt x="37030" y="30449"/>
                </a:lnTo>
                <a:cubicBezTo>
                  <a:pt x="69548" y="812"/>
                  <a:pt x="119037" y="0"/>
                  <a:pt x="152510" y="28554"/>
                </a:cubicBezTo>
                <a:moveTo>
                  <a:pt x="73955" y="55533"/>
                </a:moveTo>
                <a:cubicBezTo>
                  <a:pt x="66722" y="55533"/>
                  <a:pt x="60858" y="61397"/>
                  <a:pt x="60858" y="68630"/>
                </a:cubicBezTo>
                <a:lnTo>
                  <a:pt x="60858" y="77362"/>
                </a:lnTo>
                <a:cubicBezTo>
                  <a:pt x="60858" y="106294"/>
                  <a:pt x="84313" y="129749"/>
                  <a:pt x="113245" y="129749"/>
                </a:cubicBezTo>
                <a:lnTo>
                  <a:pt x="121977" y="129749"/>
                </a:lnTo>
                <a:cubicBezTo>
                  <a:pt x="129210" y="129749"/>
                  <a:pt x="135074" y="123885"/>
                  <a:pt x="135074" y="116652"/>
                </a:cubicBezTo>
                <a:cubicBezTo>
                  <a:pt x="135074" y="109419"/>
                  <a:pt x="129210" y="103555"/>
                  <a:pt x="121977" y="103555"/>
                </a:cubicBezTo>
                <a:lnTo>
                  <a:pt x="113245" y="103555"/>
                </a:lnTo>
                <a:lnTo>
                  <a:pt x="111988" y="103616"/>
                </a:lnTo>
                <a:cubicBezTo>
                  <a:pt x="107938" y="104005"/>
                  <a:pt x="104299" y="106254"/>
                  <a:pt x="102139" y="109702"/>
                </a:cubicBezTo>
                <a:lnTo>
                  <a:pt x="101773" y="110348"/>
                </a:lnTo>
                <a:lnTo>
                  <a:pt x="101580" y="110287"/>
                </a:lnTo>
                <a:cubicBezTo>
                  <a:pt x="91656" y="106759"/>
                  <a:pt x="83848" y="98950"/>
                  <a:pt x="80320" y="89027"/>
                </a:cubicBezTo>
                <a:lnTo>
                  <a:pt x="80250" y="88826"/>
                </a:lnTo>
                <a:lnTo>
                  <a:pt x="80905" y="88468"/>
                </a:lnTo>
                <a:cubicBezTo>
                  <a:pt x="84731" y="86072"/>
                  <a:pt x="87054" y="81876"/>
                  <a:pt x="87052" y="77362"/>
                </a:cubicBezTo>
                <a:lnTo>
                  <a:pt x="87052" y="68630"/>
                </a:lnTo>
                <a:cubicBezTo>
                  <a:pt x="87052" y="61397"/>
                  <a:pt x="81188" y="55533"/>
                  <a:pt x="73955" y="55533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53"/>
          <p:cNvSpPr txBox="1"/>
          <p:nvPr/>
        </p:nvSpPr>
        <p:spPr>
          <a:xfrm>
            <a:off x="2845356" y="4525923"/>
            <a:ext cx="130218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53"/>
          <p:cNvSpPr txBox="1"/>
          <p:nvPr/>
        </p:nvSpPr>
        <p:spPr>
          <a:xfrm>
            <a:off x="4536960" y="4519851"/>
            <a:ext cx="700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0" name="Google Shape;1040;p53"/>
          <p:cNvGrpSpPr/>
          <p:nvPr/>
        </p:nvGrpSpPr>
        <p:grpSpPr>
          <a:xfrm>
            <a:off x="4784672" y="4513830"/>
            <a:ext cx="131860" cy="130621"/>
            <a:chOff x="6379562" y="6018440"/>
            <a:chExt cx="175814" cy="174162"/>
          </a:xfrm>
        </p:grpSpPr>
        <p:sp>
          <p:nvSpPr>
            <p:cNvPr id="1041" name="Google Shape;1041;p53"/>
            <p:cNvSpPr/>
            <p:nvPr/>
          </p:nvSpPr>
          <p:spPr>
            <a:xfrm>
              <a:off x="6473858" y="6140450"/>
              <a:ext cx="73639" cy="52152"/>
            </a:xfrm>
            <a:custGeom>
              <a:rect b="b" l="l" r="r" t="t"/>
              <a:pathLst>
                <a:path extrusionOk="0" h="52152" w="73639">
                  <a:moveTo>
                    <a:pt x="73639" y="0"/>
                  </a:moveTo>
                  <a:cubicBezTo>
                    <a:pt x="60675" y="29704"/>
                    <a:pt x="32323" y="49782"/>
                    <a:pt x="0" y="52152"/>
                  </a:cubicBezTo>
                  <a:cubicBezTo>
                    <a:pt x="2236" y="51619"/>
                    <a:pt x="4172" y="50226"/>
                    <a:pt x="5387" y="48275"/>
                  </a:cubicBezTo>
                  <a:cubicBezTo>
                    <a:pt x="14668" y="33409"/>
                    <a:pt x="21396" y="17095"/>
                    <a:pt x="25294" y="9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53"/>
            <p:cNvSpPr/>
            <p:nvPr/>
          </p:nvSpPr>
          <p:spPr>
            <a:xfrm>
              <a:off x="6387453" y="6140450"/>
              <a:ext cx="73631" cy="52152"/>
            </a:xfrm>
            <a:custGeom>
              <a:rect b="b" l="l" r="r" t="t"/>
              <a:pathLst>
                <a:path extrusionOk="0" h="52152" w="73631">
                  <a:moveTo>
                    <a:pt x="48345" y="0"/>
                  </a:moveTo>
                  <a:cubicBezTo>
                    <a:pt x="52241" y="17092"/>
                    <a:pt x="58970" y="33412"/>
                    <a:pt x="68252" y="48284"/>
                  </a:cubicBezTo>
                  <a:cubicBezTo>
                    <a:pt x="69467" y="50230"/>
                    <a:pt x="71399" y="51619"/>
                    <a:pt x="73631" y="52152"/>
                  </a:cubicBezTo>
                  <a:cubicBezTo>
                    <a:pt x="41311" y="49779"/>
                    <a:pt x="12963" y="29701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53"/>
            <p:cNvSpPr/>
            <p:nvPr/>
          </p:nvSpPr>
          <p:spPr>
            <a:xfrm>
              <a:off x="6453767" y="6140450"/>
              <a:ext cx="27416" cy="33912"/>
            </a:xfrm>
            <a:custGeom>
              <a:rect b="b" l="l" r="r" t="t"/>
              <a:pathLst>
                <a:path extrusionOk="0" h="33912" w="27416">
                  <a:moveTo>
                    <a:pt x="27416" y="0"/>
                  </a:moveTo>
                  <a:cubicBezTo>
                    <a:pt x="24353" y="11856"/>
                    <a:pt x="19744" y="23258"/>
                    <a:pt x="13708" y="33912"/>
                  </a:cubicBezTo>
                  <a:cubicBezTo>
                    <a:pt x="7672" y="23258"/>
                    <a:pt x="3063" y="11856"/>
                    <a:pt x="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53"/>
            <p:cNvSpPr/>
            <p:nvPr/>
          </p:nvSpPr>
          <p:spPr>
            <a:xfrm>
              <a:off x="6379562" y="6088062"/>
              <a:ext cx="53284" cy="34925"/>
            </a:xfrm>
            <a:custGeom>
              <a:rect b="b" l="l" r="r" t="t"/>
              <a:pathLst>
                <a:path extrusionOk="0" h="34925" w="53284">
                  <a:moveTo>
                    <a:pt x="53284" y="0"/>
                  </a:moveTo>
                  <a:cubicBezTo>
                    <a:pt x="51987" y="11606"/>
                    <a:pt x="51987" y="23319"/>
                    <a:pt x="53284" y="34925"/>
                  </a:cubicBezTo>
                  <a:lnTo>
                    <a:pt x="2364" y="34925"/>
                  </a:lnTo>
                  <a:cubicBezTo>
                    <a:pt x="6" y="23403"/>
                    <a:pt x="0" y="11524"/>
                    <a:pt x="2346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53"/>
            <p:cNvSpPr/>
            <p:nvPr/>
          </p:nvSpPr>
          <p:spPr>
            <a:xfrm>
              <a:off x="6448971" y="6088062"/>
              <a:ext cx="37009" cy="34925"/>
            </a:xfrm>
            <a:custGeom>
              <a:rect b="b" l="l" r="r" t="t"/>
              <a:pathLst>
                <a:path extrusionOk="0" h="34925" w="37009">
                  <a:moveTo>
                    <a:pt x="35548" y="0"/>
                  </a:moveTo>
                  <a:cubicBezTo>
                    <a:pt x="37009" y="11596"/>
                    <a:pt x="37009" y="23329"/>
                    <a:pt x="35548" y="34925"/>
                  </a:cubicBezTo>
                  <a:lnTo>
                    <a:pt x="1461" y="34925"/>
                  </a:lnTo>
                  <a:cubicBezTo>
                    <a:pt x="0" y="23329"/>
                    <a:pt x="0" y="11596"/>
                    <a:pt x="1461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53"/>
            <p:cNvSpPr/>
            <p:nvPr/>
          </p:nvSpPr>
          <p:spPr>
            <a:xfrm>
              <a:off x="6502103" y="6088062"/>
              <a:ext cx="53273" cy="34925"/>
            </a:xfrm>
            <a:custGeom>
              <a:rect b="b" l="l" r="r" t="t"/>
              <a:pathLst>
                <a:path extrusionOk="0" h="34925" w="53273">
                  <a:moveTo>
                    <a:pt x="50938" y="0"/>
                  </a:moveTo>
                  <a:cubicBezTo>
                    <a:pt x="53273" y="11525"/>
                    <a:pt x="53267" y="23402"/>
                    <a:pt x="50921" y="34925"/>
                  </a:cubicBezTo>
                  <a:lnTo>
                    <a:pt x="0" y="34925"/>
                  </a:lnTo>
                  <a:cubicBezTo>
                    <a:pt x="1301" y="23321"/>
                    <a:pt x="1301" y="11613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53"/>
            <p:cNvSpPr/>
            <p:nvPr/>
          </p:nvSpPr>
          <p:spPr>
            <a:xfrm>
              <a:off x="6387427" y="6018448"/>
              <a:ext cx="73648" cy="52152"/>
            </a:xfrm>
            <a:custGeom>
              <a:rect b="b" l="l" r="r" t="t"/>
              <a:pathLst>
                <a:path extrusionOk="0" h="52152" w="73648">
                  <a:moveTo>
                    <a:pt x="73648" y="0"/>
                  </a:moveTo>
                  <a:cubicBezTo>
                    <a:pt x="71419" y="537"/>
                    <a:pt x="69490" y="1929"/>
                    <a:pt x="68278" y="3877"/>
                  </a:cubicBezTo>
                  <a:cubicBezTo>
                    <a:pt x="58997" y="18746"/>
                    <a:pt x="52268" y="35063"/>
                    <a:pt x="48371" y="52152"/>
                  </a:cubicBezTo>
                  <a:lnTo>
                    <a:pt x="0" y="52152"/>
                  </a:lnTo>
                  <a:cubicBezTo>
                    <a:pt x="12850" y="22742"/>
                    <a:pt x="40785" y="2741"/>
                    <a:pt x="72766" y="5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53"/>
            <p:cNvSpPr/>
            <p:nvPr/>
          </p:nvSpPr>
          <p:spPr>
            <a:xfrm>
              <a:off x="6453767" y="6036688"/>
              <a:ext cx="27416" cy="33921"/>
            </a:xfrm>
            <a:custGeom>
              <a:rect b="b" l="l" r="r" t="t"/>
              <a:pathLst>
                <a:path extrusionOk="0" h="33921" w="27416">
                  <a:moveTo>
                    <a:pt x="13708" y="0"/>
                  </a:moveTo>
                  <a:cubicBezTo>
                    <a:pt x="19745" y="10657"/>
                    <a:pt x="24354" y="22062"/>
                    <a:pt x="27416" y="33921"/>
                  </a:cubicBezTo>
                  <a:lnTo>
                    <a:pt x="0" y="33921"/>
                  </a:lnTo>
                  <a:cubicBezTo>
                    <a:pt x="2969" y="22422"/>
                    <a:pt x="7422" y="11220"/>
                    <a:pt x="13359" y="594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53"/>
            <p:cNvSpPr/>
            <p:nvPr/>
          </p:nvSpPr>
          <p:spPr>
            <a:xfrm>
              <a:off x="6473875" y="6018440"/>
              <a:ext cx="73648" cy="52160"/>
            </a:xfrm>
            <a:custGeom>
              <a:rect b="b" l="l" r="r" t="t"/>
              <a:pathLst>
                <a:path extrusionOk="0" h="52160" w="73648">
                  <a:moveTo>
                    <a:pt x="0" y="0"/>
                  </a:moveTo>
                  <a:cubicBezTo>
                    <a:pt x="32322" y="2387"/>
                    <a:pt x="60669" y="22463"/>
                    <a:pt x="73648" y="52160"/>
                  </a:cubicBezTo>
                  <a:lnTo>
                    <a:pt x="25277" y="52160"/>
                  </a:lnTo>
                  <a:cubicBezTo>
                    <a:pt x="21381" y="35068"/>
                    <a:pt x="14652" y="18748"/>
                    <a:pt x="5370" y="3877"/>
                  </a:cubicBezTo>
                  <a:cubicBezTo>
                    <a:pt x="4319" y="2194"/>
                    <a:pt x="2727" y="919"/>
                    <a:pt x="856" y="26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0" name="Google Shape;1050;p53"/>
          <p:cNvSpPr txBox="1"/>
          <p:nvPr/>
        </p:nvSpPr>
        <p:spPr>
          <a:xfrm>
            <a:off x="4988472" y="4525925"/>
            <a:ext cx="30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课程平台：https://austinxyz.github.io/course-portal/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1" name="Google Shape;1051;p53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1052" name="Google Shape;1052;p53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53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53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5" name="Google Shape;1055;p53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