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notesSlides/_rels/notesSlide1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.xml"/>
</Relationships>
</file>

<file path=ppt/notesSlides/_rels/notesSlide2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2.xml"/>
</Relationships>
</file>

<file path=ppt/notesSlides/_rels/notesSlide3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3.xml"/>
</Relationships>
</file>

<file path=ppt/notesSlides/_rels/notesSlide4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4.xml"/>
</Relationships>
</file>

<file path=ppt/notesSlides/_rels/notesSlide5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5.xml"/>
</Relationships>
</file>

<file path=ppt/notesSlides/_rels/notesSlide6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6.xml"/>
</Relationships>
</file>

<file path=ppt/notesSlides/_rels/notesSlide7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7.xml"/>
</Relationships>
</file>

<file path=ppt/notesSlides/_rels/notesSlide8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8.xml"/>
</Relationships>
</file>

<file path=ppt/notesSlides/_rels/notesSlide9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9.xml"/>
</Relationships>
</file>

<file path=ppt/notesSlides/_rels/notesSlide10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0.xml"/>
</Relationships>
</file>

<file path=ppt/notesSlides/_rels/notesSlide11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1.xml"/>
</Relationships>
</file>

<file path=ppt/notesSlides/_rels/notesSlide12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2.xml"/>
</Relationships>
</file>

<file path=ppt/notesSlides/_rels/notesSlide13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3.xml"/>
</Relationships>
</file>

<file path=ppt/notesSlides/_rels/notesSlide14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4.xml"/>
</Relationships>
</file>

<file path=ppt/notesSlides/_rels/notesSlide15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5.xml"/>
</Relationships>
</file>

<file path=ppt/notesSlides/_rels/notesSlide16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6.xml"/>
</Relationships>
</file>

<file path=ppt/notesSlides/_rels/notesSlide17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7.xml"/>
</Relationships>
</file>

<file path=ppt/notesSlides/_rels/notesSlide18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8.xml"/>
</Relationships>
</file>

<file path=ppt/notesSlides/_rels/notesSlide19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9.xml"/>
</Relationships>
</file>

<file path=ppt/notesSlides/_rels/notesSlide20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20.xml"/>
</Relationships>
</file>

<file path=ppt/notesSlides/_rels/notesSlide21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21.xml"/>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大家好，欢迎来到今天的课程。</a:t>
            </a:r>
          </a:p>
          <a:p>
            <a:endParaRPr lang="zh-CN" dirty="0"/>
          </a:p>
          <a:p>
            <a:r>
              <a:rPr lang="zh-CN" dirty="0"/>
              <a:t>今天我们的主题是：从设计到上线——用 Claude Design + Code 做你的知识服务网站。</a:t>
            </a:r>
          </a:p>
          <a:p>
            <a:endParaRPr lang="zh-CN" dirty="0"/>
          </a:p>
          <a:p>
            <a:r>
              <a:rPr lang="zh-CN" dirty="0"/>
              <a:t>今天和前两节课不一样。S1 我们做的是求职 Agent，S2 我们做的是知识库。今天我们要做的，是把你的知识变成一个真实的、可以让别人访问的网站——从设计到上线，全程用 Claude 完成。</a:t>
            </a:r>
          </a:p>
          <a:p>
            <a:endParaRPr lang="zh-CN" dirty="0"/>
          </a:p>
          <a:p>
            <a:r>
              <a:rPr lang="zh-CN" dirty="0"/>
              <a:t>不需要会写代码，不需要会做设计，今天做完你就有了自己的知识服务网站。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在开始之前，我先帮大家回顾一下。</a:t>
            </a:r>
          </a:p>
          <a:p>
            <a:endParaRPr lang="zh-CN" dirty="0"/>
          </a:p>
          <a:p>
            <a:r>
              <a:rPr lang="zh-CN" dirty="0"/>
              <a:t>左边是 S1——我们学会了用 Claude 建找工作的 Agent 流水线，让 Claude 替你做重复的求职工作。</a:t>
            </a:r>
          </a:p>
          <a:p>
            <a:endParaRPr lang="zh-CN" dirty="0"/>
          </a:p>
          <a:p>
            <a:r>
              <a:rPr lang="zh-CN" dirty="0"/>
              <a:t>右边是 S2——我们学会了用 Claude Code 建个人知识库，把你的笔记、文档变成可检索的知识资产。</a:t>
            </a:r>
          </a:p>
          <a:p>
            <a:endParaRPr lang="zh-CN" dirty="0"/>
          </a:p>
          <a:p>
            <a:r>
              <a:rPr lang="zh-CN" dirty="0"/>
              <a:t>今天的 S4，是在这两个基础上再加一层：把你的知识「包装」出来，做成别人能看到的网站。</a:t>
            </a:r>
          </a:p>
          <a:p>
            <a:endParaRPr lang="zh-CN" dirty="0"/>
          </a:p>
          <a:p>
            <a:r>
              <a:rPr lang="zh-CN" dirty="0"/>
              <a:t>S1 是枪，S2 是子弹，S4 是让别人看见你的舞台。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今天我们一共做三件事，非常清晰：</a:t>
            </a:r>
          </a:p>
          <a:p>
            <a:endParaRPr lang="zh-CN" dirty="0"/>
          </a:p>
          <a:p>
            <a:r>
              <a:rPr lang="zh-CN" dirty="0"/>
              <a:t>第一，学会用 Claude Design 做设计——配色、排版、信息结构，全部用 AI 搞定。</a:t>
            </a:r>
          </a:p>
          <a:p>
            <a:endParaRPr lang="zh-CN" dirty="0"/>
          </a:p>
          <a:p>
            <a:r>
              <a:rPr lang="zh-CN" dirty="0"/>
              <a:t>第二，用 Claude Code 把设计变成真实的网页——HTML、CSS、JS，还有 Chatbot 彩蛋。</a:t>
            </a:r>
          </a:p>
          <a:p>
            <a:endParaRPr lang="zh-CN" dirty="0"/>
          </a:p>
          <a:p>
            <a:r>
              <a:rPr lang="zh-CN" dirty="0"/>
              <a:t>第三，上线发布——把网站部署到 GitHub Pages，生成真实可访问的 URL。</a:t>
            </a:r>
          </a:p>
          <a:p>
            <a:endParaRPr lang="zh-CN" dirty="0"/>
          </a:p>
          <a:p>
            <a:r>
              <a:rPr lang="zh-CN" dirty="0"/>
              <a:t>这三件事我会先讲原理，然后现场演示，然后你们跟着做。大概 40 分钟演示，25 分钟跟我做时间。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很多人第一次听到 Claude Design 会问：这和 Figma 有什么区别？</a:t>
            </a:r>
          </a:p>
          <a:p>
            <a:endParaRPr lang="zh-CN" dirty="0"/>
          </a:p>
          <a:p>
            <a:r>
              <a:rPr lang="zh-CN" dirty="0"/>
              <a:t>区别很大。Figma 是工具，你还是要懂设计才能用好。Claude Design 是 AI 帮你做设计决策——你只需要告诉它你的目标，它来生成配色方案、排版建议、页面结构。</a:t>
            </a:r>
          </a:p>
          <a:p>
            <a:endParaRPr lang="zh-CN" dirty="0"/>
          </a:p>
          <a:p>
            <a:r>
              <a:rPr lang="zh-CN" dirty="0"/>
              <a:t>具体能做什么？</a:t>
            </a:r>
          </a:p>
          <a:p>
            <a:endParaRPr lang="zh-CN" dirty="0"/>
          </a:p>
          <a:p>
            <a:r>
              <a:rPr lang="zh-CN" dirty="0"/>
              <a:t>• 视觉风格生成：给你 3-5 套配色方案可以选</a:t>
            </a:r>
          </a:p>
          <a:p>
            <a:r>
              <a:rPr lang="zh-CN" dirty="0"/>
              <a:t>• 配色和排版：字体大小、行间距、主色调，全部建议</a:t>
            </a:r>
          </a:p>
          <a:p>
            <a:r>
              <a:rPr lang="zh-CN" dirty="0"/>
              <a:t>• 页面结构规划：告诉你信息放在哪里、顺序是什么</a:t>
            </a:r>
          </a:p>
          <a:p>
            <a:r>
              <a:rPr lang="zh-CN" dirty="0"/>
              <a:t>• Design Brief 生成：帮你写给 Claude Code 看的设计说明书</a:t>
            </a:r>
          </a:p>
          <a:p>
            <a:r>
              <a:rPr lang="zh-CN" dirty="0"/>
              <a:t>• 多版本迭代对比：不满意可以继续改，直到你满意</a:t>
            </a:r>
          </a:p>
          <a:p>
            <a:endParaRPr lang="zh-CN" dirty="0"/>
          </a:p>
          <a:p>
            <a:r>
              <a:rPr lang="zh-CN" dirty="0"/>
              <a:t>今天的演示会全部用到这些能力。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让我直接给你们看一个对比。</a:t>
            </a:r>
          </a:p>
          <a:p>
            <a:endParaRPr lang="zh-CN" dirty="0"/>
          </a:p>
          <a:p>
            <a:r>
              <a:rPr lang="zh-CN" dirty="0"/>
              <a:t>左边是传统方式：你要找设计师，来回沟通需求，等待交付，费用至少几百美元，时间至少一两周。最痛苦的是，你说不清楚你想要什么，设计师也做不到你心里想的那个样子。</a:t>
            </a:r>
          </a:p>
          <a:p>
            <a:endParaRPr lang="zh-CN" dirty="0"/>
          </a:p>
          <a:p>
            <a:r>
              <a:rPr lang="zh-CN" dirty="0"/>
              <a:t>右边是用 Claude Design：你花 5 分钟写一段需求描述，10 分钟内得到可用的设计方案，可以立刻和 Claude Code 配合开始开发。</a:t>
            </a:r>
          </a:p>
          <a:p>
            <a:endParaRPr lang="zh-CN" dirty="0"/>
          </a:p>
          <a:p>
            <a:r>
              <a:rPr lang="zh-CN" dirty="0"/>
              <a:t>这不是夸张。今天你们会亲眼看到这个过程。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设计有一个核心原则叫「5 秒法则」：访客打开你的网站，5 秒内如果看不懂这个网站是做什么的、对我有什么用，他就会关掉。</a:t>
            </a:r>
          </a:p>
          <a:p>
            <a:endParaRPr lang="zh-CN" dirty="0"/>
          </a:p>
          <a:p>
            <a:r>
              <a:rPr lang="zh-CN" dirty="0"/>
              <a:t>左边这个反例——满屏文字，没有重点，访客的第一反应是「这是什么？」</a:t>
            </a:r>
          </a:p>
          <a:p>
            <a:endParaRPr lang="zh-CN" dirty="0"/>
          </a:p>
          <a:p>
            <a:r>
              <a:rPr lang="zh-CN" dirty="0"/>
              <a:t>右边这个正例——清晰的标题、突出的 CTA 按钮、干净的视觉层次，访客 5 秒内就知道该做什么。</a:t>
            </a:r>
          </a:p>
          <a:p>
            <a:endParaRPr lang="zh-CN" dirty="0"/>
          </a:p>
          <a:p>
            <a:r>
              <a:rPr lang="zh-CN" dirty="0"/>
              <a:t>Claude Design 的一个核心价值就是帮你通过这个 5 秒测试。我们在生成设计的时候，会一直问自己：「5 秒内，访客能看懂吗？」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在让 Claude Design 做设计之前，你要先想清楚信息结构——你的网站要放什么内容，顺序是什么。</a:t>
            </a:r>
          </a:p>
          <a:p>
            <a:endParaRPr lang="zh-CN" dirty="0"/>
          </a:p>
          <a:p>
            <a:r>
              <a:rPr lang="zh-CN" dirty="0"/>
              <a:t>一个知识服务网站的经典结构是这 5 层：</a:t>
            </a:r>
          </a:p>
          <a:p>
            <a:endParaRPr lang="zh-CN" dirty="0"/>
          </a:p>
          <a:p>
            <a:r>
              <a:rPr lang="zh-CN" dirty="0"/>
              <a:t>1. Hero：第一屏，告诉访客「你是谁」「你能帮我什么」</a:t>
            </a:r>
          </a:p>
          <a:p>
            <a:r>
              <a:rPr lang="zh-CN" dirty="0"/>
              <a:t>2. 问题痛点：访客来这里之前遇到了什么问题？</a:t>
            </a:r>
          </a:p>
          <a:p>
            <a:r>
              <a:rPr lang="zh-CN" dirty="0"/>
              <a:t>3. 解决方案：你怎么解决这个问题？</a:t>
            </a:r>
          </a:p>
          <a:p>
            <a:r>
              <a:rPr lang="zh-CN" dirty="0"/>
              <a:t>4. 社会证明：有没有其他人用过你的方案并且有好结果？</a:t>
            </a:r>
          </a:p>
          <a:p>
            <a:r>
              <a:rPr lang="zh-CN" dirty="0"/>
              <a:t>5. CTA：最后，告诉访客下一步该做什么</a:t>
            </a:r>
          </a:p>
          <a:p>
            <a:endParaRPr lang="zh-CN" dirty="0"/>
          </a:p>
          <a:p>
            <a:r>
              <a:rPr lang="zh-CN" dirty="0"/>
              <a:t>这个结构是经过验证的。今天的演示就会按这个结构来建网站。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在用 Claude Design 生成设计之前，我们先讲三个核心原则，这三个原则会贯穿今天所有的设计决策。</a:t>
            </a:r>
          </a:p>
          <a:p>
            <a:endParaRPr lang="zh-CN" dirty="0"/>
          </a:p>
          <a:p>
            <a:r>
              <a:rPr lang="zh-CN" dirty="0"/>
              <a:t>第一：留白优于堆砌。 很多人觉得页面里放更多内容更好。恰恰相反。空白是设计语言，它告诉访客「这个地方很重要」。</a:t>
            </a:r>
          </a:p>
          <a:p>
            <a:endParaRPr lang="zh-CN" dirty="0"/>
          </a:p>
          <a:p>
            <a:r>
              <a:rPr lang="zh-CN" dirty="0"/>
              <a:t>第二：对比创造层级。 大小不同、颜色不同、粗细不同——这些差异告诉访客该看哪里、哪个更重要。</a:t>
            </a:r>
          </a:p>
          <a:p>
            <a:endParaRPr lang="zh-CN" dirty="0"/>
          </a:p>
          <a:p>
            <a:r>
              <a:rPr lang="zh-CN" dirty="0"/>
              <a:t>第三：一致性建立信任。 所有页面用同一套颜色、同一套字体、同一套间距。一致性让网站看起来专业，建立信任。</a:t>
            </a:r>
          </a:p>
          <a:p>
            <a:endParaRPr lang="zh-CN" dirty="0"/>
          </a:p>
          <a:p>
            <a:r>
              <a:rPr lang="zh-CN" dirty="0"/>
              <a:t>后面我们用 CLAUDE.md 来强制保证这种一致性。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让我直接对比一下数字。</a:t>
            </a:r>
          </a:p>
          <a:p>
            <a:endParaRPr lang="zh-CN" dirty="0"/>
          </a:p>
          <a:p>
            <a:r>
              <a:rPr lang="zh-CN" dirty="0"/>
              <a:t>旧的工作流：需求沟通、设计稿、Review、修改、前端开发、后端接入、测试上线——8 个步骤，4-8 周，$1500 以上的预算。</a:t>
            </a:r>
          </a:p>
          <a:p>
            <a:endParaRPr lang="zh-CN" dirty="0"/>
          </a:p>
          <a:p>
            <a:r>
              <a:rPr lang="zh-CN" dirty="0"/>
              <a:t>新的 AI 驱动工作流：写 Brief、生成设计、Claude Code 开发、部署——4 个步骤，1-2 天，几乎 $0 的成本。</a:t>
            </a:r>
          </a:p>
          <a:p>
            <a:endParaRPr lang="zh-CN" dirty="0"/>
          </a:p>
          <a:p>
            <a:r>
              <a:rPr lang="zh-CN" dirty="0"/>
              <a:t>这不是说传统工作流不好，而是说对于个人知识服务网站这种场景，AI 工作流已经完全够用了，而且快了 10 倍、省了 99% 的成本。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这是今天最重要的概念之一——CLAUDE.md。</a:t>
            </a:r>
          </a:p>
          <a:p>
            <a:endParaRPr lang="zh-CN" dirty="0"/>
          </a:p>
          <a:p>
            <a:r>
              <a:rPr lang="zh-CN" dirty="0"/>
              <a:t>CLAUDE.md 是一个放在你项目根目录里的文件，Claude Code 在生成代码之前会先读这个文件。</a:t>
            </a:r>
          </a:p>
          <a:p>
            <a:endParaRPr lang="zh-CN" dirty="0"/>
          </a:p>
          <a:p>
            <a:r>
              <a:rPr lang="zh-CN" dirty="0"/>
              <a:t>你在 CLAUDE.md 里写：「主色是 #2563EB，字体是 Inter，按钮圆角是 8px」——然后不管你让 Claude Code 生成哪个页面，它都会遵守这些规范。</a:t>
            </a:r>
          </a:p>
          <a:p>
            <a:endParaRPr lang="zh-CN" dirty="0"/>
          </a:p>
          <a:p>
            <a:r>
              <a:rPr lang="zh-CN" dirty="0"/>
              <a:t>这解决了一个最大的问题：当你有多个页面的时候，每次都要在 prompt 里重复说设计规范。有了 CLAUDE.md，你只说一次，Claude Code 自动记住。</a:t>
            </a:r>
          </a:p>
          <a:p>
            <a:endParaRPr lang="zh-CN" dirty="0"/>
          </a:p>
          <a:p>
            <a:r>
              <a:rPr lang="zh-CN" dirty="0"/>
              <a:t>这是「Design to Code」工作流的核心枢纽。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Claude Design 能做得好不好，80% 取决于你的 Brief 写得好不好。</a:t>
            </a:r>
          </a:p>
          <a:p>
            <a:endParaRPr lang="zh-CN" dirty="0"/>
          </a:p>
          <a:p>
            <a:r>
              <a:rPr lang="zh-CN" dirty="0"/>
              <a:t>一个好的 Brief 要包含四个要素：</a:t>
            </a:r>
          </a:p>
          <a:p>
            <a:endParaRPr lang="zh-CN" dirty="0"/>
          </a:p>
          <a:p>
            <a:r>
              <a:rPr lang="zh-CN" dirty="0"/>
              <a:t>WHO——你的目标受众是谁？「北美华人，有一定 AI 工具基础，想通过知识变现」比「想学 AI 的人」好 10 倍。</a:t>
            </a:r>
          </a:p>
          <a:p>
            <a:endParaRPr lang="zh-CN" dirty="0"/>
          </a:p>
          <a:p>
            <a:r>
              <a:rPr lang="zh-CN" dirty="0"/>
              <a:t>WHY——这个网站要达成什么目的？是让访客报名课程？下载资料？联系你？</a:t>
            </a:r>
          </a:p>
          <a:p>
            <a:endParaRPr lang="zh-CN" dirty="0"/>
          </a:p>
          <a:p>
            <a:r>
              <a:rPr lang="zh-CN" dirty="0"/>
              <a:t>STYLE——风格偏好是什么？「简洁专业，参考苹果官网」比「要好看」有用得多。</a:t>
            </a:r>
          </a:p>
          <a:p>
            <a:endParaRPr lang="zh-CN" dirty="0"/>
          </a:p>
          <a:p>
            <a:r>
              <a:rPr lang="zh-CN" dirty="0"/>
              <a:t>WHAT——具体功能需求？几个页面？要不要表单？有没有特别要放的内容？</a:t>
            </a:r>
          </a:p>
          <a:p>
            <a:endParaRPr lang="zh-CN" dirty="0"/>
          </a:p>
          <a:p>
            <a:r>
              <a:rPr lang="zh-CN" dirty="0"/>
              <a:t>今天演示的时候我会现场写一个 Brief，大家可以参考我的格式。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当你的网站不止一个页面的时候，怎么保证所有页面看起来像同一个网站？</a:t>
            </a:r>
          </a:p>
          <a:p>
            <a:endParaRPr lang="zh-CN" dirty="0"/>
          </a:p>
          <a:p>
            <a:r>
              <a:rPr lang="zh-CN" dirty="0"/>
              <a:t>三个方法：</a:t>
            </a:r>
          </a:p>
          <a:p>
            <a:endParaRPr lang="zh-CN" dirty="0"/>
          </a:p>
          <a:p>
            <a:r>
              <a:rPr lang="zh-CN" dirty="0"/>
              <a:t>第一：CLAUDE.md 写死设计规范。 颜色、字体、间距、组件规范，全部写进去，一次写好，永久生效。</a:t>
            </a:r>
          </a:p>
          <a:p>
            <a:endParaRPr lang="zh-CN" dirty="0"/>
          </a:p>
          <a:p>
            <a:r>
              <a:rPr lang="zh-CN" dirty="0"/>
              <a:t>第二：新页面 prompt 引用已有页面。 让 Claude Code 生成新页面的时候，告诉它「参考我已经有的 index.html 的风格」。</a:t>
            </a:r>
          </a:p>
          <a:p>
            <a:endParaRPr lang="zh-CN" dirty="0"/>
          </a:p>
          <a:p>
            <a:r>
              <a:rPr lang="zh-CN" dirty="0"/>
              <a:t>第三：CSS 变量统一样式。 让 Claude Code 用 CSS variables 来管理所有颜色和字体，改一个地方全部生效。</a:t>
            </a:r>
          </a:p>
          <a:p>
            <a:endParaRPr lang="zh-CN" dirty="0"/>
          </a:p>
          <a:p>
            <a:r>
              <a:rPr lang="zh-CN" dirty="0"/>
              <a:t>这三个方法组合起来，可以保证 10 个页面都像出自同一个设计师之手。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好，理论讲完了，我们来看今天演示的全流程。</a:t>
            </a:r>
          </a:p>
          <a:p>
            <a:endParaRPr lang="zh-CN" dirty="0"/>
          </a:p>
          <a:p>
            <a:r>
              <a:rPr lang="zh-CN" dirty="0"/>
              <a:t>一共六步：需求分析 → Design Brief → 视觉稿生成 → CLAUDE.md 配置 → Claude Code 开发 → 上线部署。</a:t>
            </a:r>
          </a:p>
          <a:p>
            <a:endParaRPr lang="zh-CN" dirty="0"/>
          </a:p>
          <a:p>
            <a:r>
              <a:rPr lang="zh-CN" dirty="0"/>
              <a:t>Row 1 是设计阶段，Row 2 是开发和发布阶段。</a:t>
            </a:r>
          </a:p>
          <a:p>
            <a:endParaRPr lang="zh-CN" dirty="0"/>
          </a:p>
          <a:p>
            <a:r>
              <a:rPr lang="zh-CN" dirty="0"/>
              <a:t>这六步我会完整地现场演示一遍，大概需要 40 分钟。你们不用现在跟，先看我做一遍，然后再有 25 分钟的跟我做时间。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这是一个清单，你们可以在跟我做的时候参考。</a:t>
            </a:r>
          </a:p>
          <a:p>
            <a:endParaRPr lang="zh-CN" dirty="0"/>
          </a:p>
          <a:p>
            <a:r>
              <a:rPr lang="zh-CN" dirty="0"/>
              <a:t>五个步骤，每步用什么工具、产出什么、大概多长时间——都在这里。</a:t>
            </a:r>
          </a:p>
          <a:p>
            <a:endParaRPr lang="zh-CN" dirty="0"/>
          </a:p>
          <a:p>
            <a:r>
              <a:rPr lang="zh-CN" dirty="0"/>
              <a:t>重点看最后一步：部署上线用 GitHub Pages，产出是一个真实的、全球可访问的 URL。这是今天最有成就感的那一刻。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好，演示完了。现在是跟我做时间。</a:t>
            </a:r>
          </a:p>
          <a:p>
            <a:endParaRPr lang="zh-CN" dirty="0"/>
          </a:p>
          <a:p>
            <a:r>
              <a:rPr lang="zh-CN" dirty="0"/>
              <a:t>打开你的浏览器，进入 claude.ai。</a:t>
            </a:r>
          </a:p>
          <a:p>
            <a:endParaRPr lang="zh-CN" dirty="0"/>
          </a:p>
          <a:p>
            <a:r>
              <a:rPr lang="zh-CN" dirty="0"/>
              <a:t>接下来 25 分钟，我会一步一步做，你们同步在自己电脑上操作。</a:t>
            </a:r>
          </a:p>
          <a:p>
            <a:endParaRPr lang="zh-CN" dirty="0"/>
          </a:p>
          <a:p>
            <a:r>
              <a:rPr lang="zh-CN" dirty="0"/>
              <a:t>有问题随时举手，不要憋着——这 25 分钟的价值就在于现场解决你遇到的问题。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（跟我做结束后）</a:t>
            </a:r>
          </a:p>
          <a:p>
            <a:endParaRPr lang="zh-CN" dirty="0"/>
          </a:p>
          <a:p>
            <a:r>
              <a:rPr lang="zh-CN" dirty="0"/>
              <a:t>好，大家的网站应该都快出来了。</a:t>
            </a:r>
          </a:p>
          <a:p>
            <a:endParaRPr lang="zh-CN" dirty="0"/>
          </a:p>
          <a:p>
            <a:r>
              <a:rPr lang="zh-CN" dirty="0"/>
              <a:t>但是——你有没有想过一个问题：网站做好了，有访客来了，他有一个问题想问你，但是你不在线，怎么办？</a:t>
            </a:r>
          </a:p>
          <a:p>
            <a:endParaRPr lang="zh-CN" dirty="0"/>
          </a:p>
          <a:p>
            <a:r>
              <a:rPr lang="zh-CN" dirty="0"/>
              <a:t>访客等不到回复，30 秒内就走了。你的第一印象机会就这样错过了。</a:t>
            </a:r>
          </a:p>
          <a:p>
            <a:endParaRPr lang="zh-CN" dirty="0"/>
          </a:p>
          <a:p>
            <a:r>
              <a:rPr lang="zh-CN" dirty="0"/>
              <a:t>这个问题怎么解决？我们今天有一个彩蛋。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彩蛋来了！</a:t>
            </a:r>
          </a:p>
          <a:p>
            <a:endParaRPr lang="zh-CN" dirty="0"/>
          </a:p>
          <a:p>
            <a:r>
              <a:rPr lang="zh-CN" dirty="0"/>
              <a:t>我们要在你的网站里嵌入一个 AI Chatbot——访客来了，有问题，直接问 Chatbot，7×24 小时自动回答，就像你本人一直在线一样。</a:t>
            </a:r>
          </a:p>
          <a:p>
            <a:endParaRPr lang="zh-CN" dirty="0"/>
          </a:p>
          <a:p>
            <a:r>
              <a:rPr lang="zh-CN" dirty="0"/>
              <a:t>这个 Chatbot 可以：</a:t>
            </a:r>
          </a:p>
          <a:p>
            <a:r>
              <a:rPr lang="zh-CN" dirty="0"/>
              <a:t>• 回答课程相关问题（价格、内容、适合人群）</a:t>
            </a:r>
          </a:p>
          <a:p>
            <a:r>
              <a:rPr lang="zh-CN" dirty="0"/>
              <a:t>• 根据访客需求推荐最适合他的课程</a:t>
            </a:r>
          </a:p>
          <a:p>
            <a:r>
              <a:rPr lang="zh-CN" dirty="0"/>
              <a:t>• 记录访客常问的问题，帮你改进网站内容</a:t>
            </a:r>
          </a:p>
          <a:p>
            <a:endParaRPr lang="zh-CN" dirty="0"/>
          </a:p>
          <a:p>
            <a:r>
              <a:rPr lang="zh-CN" dirty="0"/>
              <a:t>技术实现：Claude API + 嵌入式 chat widget，今天用 Claude Code 现场搭出来。</a:t>
            </a:r>
          </a:p>
          <a:p>
            <a:endParaRPr lang="zh-CN" dirty="0"/>
          </a:p>
          <a:p>
            <a:r>
              <a:rPr lang="zh-CN" dirty="0"/>
              <a:t>不需要服务器，不需要 DevOps，5 分钟搞定。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好，今天的课程内容到这里。</a:t>
            </a:r>
          </a:p>
          <a:p>
            <a:endParaRPr lang="zh-CN" dirty="0"/>
          </a:p>
          <a:p>
            <a:r>
              <a:rPr lang="zh-CN" dirty="0"/>
              <a:t>给大家布置一个作业，6 个步骤：</a:t>
            </a:r>
          </a:p>
          <a:p>
            <a:endParaRPr lang="zh-CN" dirty="0"/>
          </a:p>
          <a:p>
            <a:r>
              <a:rPr lang="zh-CN" dirty="0"/>
              <a:t>1. 写你自己的 Design Brief</a:t>
            </a:r>
          </a:p>
          <a:p>
            <a:r>
              <a:rPr lang="zh-CN" dirty="0"/>
              <a:t>2. 用 Claude Design 生成视觉稿</a:t>
            </a:r>
          </a:p>
          <a:p>
            <a:r>
              <a:rPr lang="zh-CN" dirty="0"/>
              <a:t>3. 配置你的 CLAUDE.md</a:t>
            </a:r>
          </a:p>
          <a:p>
            <a:r>
              <a:rPr lang="zh-CN" dirty="0"/>
              <a:t>4. 用 Claude Code 开发多个页面</a:t>
            </a:r>
          </a:p>
          <a:p>
            <a:r>
              <a:rPr lang="zh-CN" dirty="0"/>
              <a:t>5. 加入 Chatbot 彩蛋（可选进阶）</a:t>
            </a:r>
          </a:p>
          <a:p>
            <a:r>
              <a:rPr lang="zh-CN" dirty="0"/>
              <a:t>6. 部署上线，把链接发到群里</a:t>
            </a:r>
          </a:p>
          <a:p>
            <a:endParaRPr lang="zh-CN" dirty="0"/>
          </a:p>
          <a:p>
            <a:r>
              <a:rPr lang="zh-CN" dirty="0"/>
              <a:t>建议 7 天内完成，今晚就可以开始步骤 1 和 2，最快明天就能有一个可访问的网站。</a:t>
            </a:r>
          </a:p>
          <a:p>
            <a:endParaRPr lang="zh-CN" dirty="0"/>
          </a:p>
          <a:p>
            <a:r>
              <a:rPr lang="zh-CN" dirty="0"/>
              <a:t>做完有任何问题发到群里，我帮你看。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做完作业之后，你有四条路可以走：</a:t>
            </a:r>
          </a:p>
          <a:p>
            <a:endParaRPr lang="zh-CN" dirty="0"/>
          </a:p>
          <a:p>
            <a:r>
              <a:rPr lang="zh-CN" dirty="0"/>
              <a:t>深化设计系统——在现有网站基础上继续迭代，做更多页面变体，建立自己的 CSS 组件库。</a:t>
            </a:r>
          </a:p>
          <a:p>
            <a:endParaRPr lang="zh-CN" dirty="0"/>
          </a:p>
          <a:p>
            <a:r>
              <a:rPr lang="zh-CN" dirty="0"/>
              <a:t>加入知识库能力——把 S2 的知识库和今天的网站结合起来，Chatbot 可以直接调用你自己的笔记内容。</a:t>
            </a:r>
          </a:p>
          <a:p>
            <a:endParaRPr lang="zh-CN" dirty="0"/>
          </a:p>
          <a:p>
            <a:r>
              <a:rPr lang="zh-CN" dirty="0"/>
              <a:t>Demo Day 展示——7 月 11 日，我们有一个线上展示会，带着你的作品来，3 分钟展示，获得同行反馈。</a:t>
            </a:r>
          </a:p>
          <a:p>
            <a:endParaRPr lang="zh-CN" dirty="0"/>
          </a:p>
          <a:p>
            <a:r>
              <a:rPr lang="zh-CN" dirty="0"/>
              <a:t>开始商业变现——接入 Stripe 或微信支付，加 SEO 优化，让网站帮你赚钱。</a:t>
            </a:r>
          </a:p>
          <a:p>
            <a:endParaRPr lang="zh-CN" dirty="0"/>
          </a:p>
          <a:p>
            <a:r>
              <a:rPr lang="zh-CN" dirty="0"/>
              <a:t>四条路都可以走，也可以都走。优先完成作业，先把网站做出来。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让我帮大家梳理一下，S1 + S2 + S4 三节课学下来，你的 Claude 技能栈是什么样的。</a:t>
            </a:r>
          </a:p>
          <a:p>
            <a:endParaRPr lang="zh-CN" dirty="0"/>
          </a:p>
          <a:p>
            <a:r>
              <a:rPr lang="zh-CN" dirty="0"/>
              <a:t>S1：Prompt 工程 + Agent 流水线 → 求职自动化，节省 80% 求职时间。</a:t>
            </a:r>
          </a:p>
          <a:p>
            <a:r>
              <a:rPr lang="zh-CN" dirty="0"/>
              <a:t>S2：Claude Code + 文件系统 → 个人知识库，知识管理效率翻倍。</a:t>
            </a:r>
          </a:p>
          <a:p>
            <a:r>
              <a:rPr lang="zh-CN" dirty="0"/>
              <a:t>S4：AI 设计 + 全栈网站开发 → 真实可访问的知识服务网站。</a:t>
            </a:r>
          </a:p>
          <a:p>
            <a:endParaRPr lang="zh-CN" dirty="0"/>
          </a:p>
          <a:p>
            <a:r>
              <a:rPr lang="zh-CN" dirty="0"/>
              <a:t>三个技能组合在一起：求职×知识管理×作品展示——这是一套完整的 AI 超能力。</a:t>
            </a:r>
          </a:p>
          <a:p>
            <a:endParaRPr lang="zh-CN" dirty="0"/>
          </a:p>
          <a:p>
            <a:r>
              <a:rPr lang="zh-CN" dirty="0"/>
              <a:t>面试的时候，这三个都是可以展示的真实项目案例。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好，今天的课到这里。</a:t>
            </a:r>
          </a:p>
          <a:p>
            <a:endParaRPr lang="zh-CN" dirty="0"/>
          </a:p>
          <a:p>
            <a:r>
              <a:rPr lang="zh-CN" dirty="0"/>
              <a:t>你的网站已经在路上了。从今天开始，你不再需要工程师，不再需要设计师——你自己就是全栈的知识服务创业者。</a:t>
            </a:r>
          </a:p>
          <a:p>
            <a:endParaRPr lang="zh-CN" dirty="0"/>
          </a:p>
          <a:p>
            <a:r>
              <a:rPr lang="zh-CN" dirty="0"/>
              <a:t>我是 Austin，硅谷 500 强工程经理。有问题可以微信找我：elitecoach101，或者发邮件：austin.aicourse@gmail.com。</a:t>
            </a:r>
          </a:p>
          <a:p>
            <a:endParaRPr lang="zh-CN" dirty="0"/>
          </a:p>
          <a:p>
            <a:r>
              <a:rPr lang="zh-CN" dirty="0"/>
              <a:t>记住三件事：</a:t>
            </a:r>
          </a:p>
          <a:p>
            <a:r>
              <a:rPr lang="zh-CN" dirty="0"/>
              <a:t>• 完成 6 步作业，做出你的网站</a:t>
            </a:r>
          </a:p>
          <a:p>
            <a:r>
              <a:rPr lang="zh-CN" dirty="0"/>
              <a:t>• 把链接发到微信群分享</a:t>
            </a:r>
          </a:p>
          <a:p>
            <a:r>
              <a:rPr lang="zh-CN" dirty="0"/>
              <a:t>• 报名 7 月 11 日的 Demo Day</a:t>
            </a:r>
          </a:p>
          <a:p>
            <a:endParaRPr lang="zh-CN" dirty="0"/>
          </a:p>
          <a:p>
            <a:r>
              <a:rPr lang="zh-CN" dirty="0"/>
              <a:t>谢谢大家，我们群里见！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2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3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4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5.xml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6.xml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7.xml"/>
</Relationships>
</file>

<file path=ppt/slides/_rels/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8.xml"/>
</Relationships>
</file>

<file path=ppt/slides/_rels/slide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9.xml"/>
</Relationships>
</file>

<file path=ppt/slides/_rels/slide1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10.xml"/>
</Relationships>
</file>

<file path=ppt/slides/_rels/slide1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11.xml"/>
</Relationships>
</file>

<file path=ppt/slides/_rels/slide1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12.xml"/>
</Relationships>
</file>

<file path=ppt/slides/_rels/slide1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13.xml"/>
</Relationships>
</file>

<file path=ppt/slides/_rels/slide1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14.xml"/>
</Relationships>
</file>

<file path=ppt/slides/_rels/slide1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15.xml"/>
</Relationships>
</file>

<file path=ppt/slides/_rels/slide1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16.xml"/>
</Relationships>
</file>

<file path=ppt/slides/_rels/slide1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17.xml"/>
</Relationships>
</file>

<file path=ppt/slides/_rels/slide1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18.xml"/>
</Relationships>
</file>

<file path=ppt/slides/_rels/slide1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19.xml"/>
</Relationships>
</file>

<file path=ppt/slides/_rels/slide2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20.xml"/>
</Relationships>
</file>

<file path=ppt/slides/_rels/slide2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21.xml"/>
</Relationships>
</file>

<file path=ppt/slides/_rels/slide2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8572500" y="0"/>
            <a:ext cx="3619500" cy="1905000"/>
          </a:xfrm>
          <a:prstGeom prst="rect">
            <a:avLst/>
          </a:prstGeom>
          <a:solidFill>
            <a:srgbClr val="F0EDE8"/>
          </a:solidFill>
          <a:ln>
            <a:noFill/>
          </a:ln>
        </p:spPr>
      </p:sp>
      <p:sp>
        <p:nvSpPr>
          <p:cNvPr id="5" name="Rectangle 5"/>
          <p:cNvSpPr/>
          <p:nvPr/>
        </p:nvSpPr>
        <p:spPr>
          <a:xfrm>
            <a:off x="8572500" y="0"/>
            <a:ext cx="3619500" cy="38100"/>
          </a:xfrm>
          <a:prstGeom prst="rect">
            <a:avLst/>
          </a:prstGeom>
          <a:solidFill>
            <a:srgbClr val="C96133">
              <a:alpha val="0"/>
            </a:srgbClr>
          </a:solidFill>
          <a:ln>
            <a:noFill/>
          </a:ln>
        </p:spPr>
      </p:sp>
      <p:sp>
        <p:nvSpPr>
          <p:cNvPr id="6" name="Ellipse 6"/>
          <p:cNvSpPr/>
          <p:nvPr/>
        </p:nvSpPr>
        <p:spPr>
          <a:xfrm>
            <a:off x="8382000" y="-1333500"/>
            <a:ext cx="4191000" cy="4191000"/>
          </a:xfrm>
          <a:prstGeom prst="ellipse">
            <a:avLst/>
          </a:prstGeom>
          <a:solidFill>
            <a:srgbClr val="E8DDD5">
              <a:alpha val="35000"/>
            </a:srgbClr>
          </a:solidFill>
          <a:ln>
            <a:noFill/>
          </a:ln>
        </p:spPr>
      </p:sp>
      <p:sp>
        <p:nvSpPr>
          <p:cNvPr id="7" name="Ellipse 7"/>
          <p:cNvSpPr/>
          <p:nvPr/>
        </p:nvSpPr>
        <p:spPr>
          <a:xfrm>
            <a:off x="9144000" y="-571500"/>
            <a:ext cx="2667000" cy="2667000"/>
          </a:xfrm>
          <a:prstGeom prst="ellipse">
            <a:avLst/>
          </a:prstGeom>
          <a:solidFill>
            <a:srgbClr val="E0D5CC">
              <a:alpha val="30000"/>
            </a:srgbClr>
          </a:solidFill>
          <a:ln>
            <a:noFill/>
          </a:ln>
        </p:spPr>
      </p:sp>
      <p:sp>
        <p:nvSpPr>
          <p:cNvPr id="8" name="Ellipse 8"/>
          <p:cNvSpPr/>
          <p:nvPr/>
        </p:nvSpPr>
        <p:spPr>
          <a:xfrm>
            <a:off x="-762000" y="4953000"/>
            <a:ext cx="3048000" cy="3048000"/>
          </a:xfrm>
          <a:prstGeom prst="ellipse">
            <a:avLst/>
          </a:prstGeom>
          <a:solidFill>
            <a:srgbClr val="F0EDE8">
              <a:alpha val="60000"/>
            </a:srgbClr>
          </a:solidFill>
          <a:ln>
            <a:noFill/>
          </a:ln>
        </p:spPr>
      </p:sp>
      <p:sp>
        <p:nvSpPr>
          <p:cNvPr id="9" name="Ellipse 9"/>
          <p:cNvSpPr/>
          <p:nvPr/>
        </p:nvSpPr>
        <p:spPr>
          <a:xfrm>
            <a:off x="-95250" y="5619750"/>
            <a:ext cx="1714500" cy="1714500"/>
          </a:xfrm>
          <a:prstGeom prst="ellipse">
            <a:avLst/>
          </a:prstGeom>
          <a:solidFill>
            <a:srgbClr val="E8DDD5">
              <a:alpha val="40000"/>
            </a:srgbClr>
          </a:solidFill>
          <a:ln>
            <a:noFill/>
          </a:ln>
        </p:spPr>
      </p:sp>
      <p:sp>
        <p:nvSpPr>
          <p:cNvPr id="10" name="Line 10"/>
          <p:cNvSpPr/>
          <p:nvPr/>
        </p:nvSpPr>
        <p:spPr>
          <a:xfrm>
            <a:off x="762000" y="5048250"/>
            <a:ext cx="6477000" cy="9525"/>
          </a:xfrm>
          <a:custGeom>
            <a:avLst/>
            <a:gdLst/>
            <a:ahLst/>
            <a:cxnLst/>
            <a:rect l="l" t="t" r="r" b="b"/>
            <a:pathLst>
              <a:path w="6477000" h="9525">
                <a:moveTo>
                  <a:pt x="0" y="0"/>
                </a:moveTo>
                <a:lnTo>
                  <a:pt x="6477000" y="0"/>
                </a:lnTo>
              </a:path>
            </a:pathLst>
          </a:custGeom>
          <a:noFill/>
          <a:ln w="14288">
            <a:solidFill>
              <a:srgbClr val="E0D8D0"/>
            </a:solidFill>
          </a:ln>
        </p:spPr>
      </p:sp>
      <p:grpSp>
        <p:nvGrpSpPr>
          <p:cNvPr id="23" name="Group 23"/>
          <p:cNvGrpSpPr/>
          <p:nvPr/>
        </p:nvGrpSpPr>
        <p:grpSpPr>
          <a:xfrm>
            <a:off x="712470" y="1571625"/>
            <a:ext cx="6707786" cy="4357687"/>
            <a:chOff x="712470" y="1571625"/>
            <a:chExt cx="6707786" cy="4357687"/>
          </a:xfrm>
        </p:grpSpPr>
        <p:sp>
          <p:nvSpPr>
            <p:cNvPr id="11" name="Rectangle 11"/>
            <p:cNvSpPr/>
            <p:nvPr/>
          </p:nvSpPr>
          <p:spPr>
            <a:xfrm>
              <a:off x="762000" y="1571625"/>
              <a:ext cx="1714500" cy="304800"/>
            </a:xfrm>
            <a:prstGeom prst="roundRect">
              <a:avLst>
                <a:gd name="adj" fmla="val 12500"/>
              </a:avLst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247645" y="1658302"/>
              <a:ext cx="74321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Session 4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12470" y="2198370"/>
              <a:ext cx="3687508" cy="7924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9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从设计到上线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12470" y="2865120"/>
              <a:ext cx="6707786" cy="7924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9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用 Claude Design + Code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12470" y="3531870"/>
              <a:ext cx="5481733" cy="7924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900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做你的知识服务网站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41045" y="4393882"/>
              <a:ext cx="4813364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北美华人 Claude AI 课程 · 理论 + Demo 实战</a:t>
              </a:r>
            </a:p>
          </p:txBody>
        </p:sp>
        <p:grpSp>
          <p:nvGrpSpPr>
            <p:cNvPr id="20" name="Group 20"/>
            <p:cNvGrpSpPr/>
            <p:nvPr/>
          </p:nvGrpSpPr>
          <p:grpSpPr>
            <a:xfrm>
              <a:off x="783171" y="5367871"/>
              <a:ext cx="249758" cy="237058"/>
              <a:chOff x="783171" y="5367871"/>
              <a:chExt cx="249758" cy="237058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952500" y="5520271"/>
                <a:ext cx="80429" cy="84658"/>
              </a:xfrm>
              <a:custGeom>
                <a:avLst/>
                <a:gdLst/>
                <a:ahLst/>
                <a:cxnLst/>
                <a:rect l="l" t="t" r="r" b="b"/>
                <a:pathLst>
                  <a:path w="80429" h="84658">
                    <a:moveTo>
                      <a:pt x="12700" y="55029"/>
                    </a:moveTo>
                    <a:cubicBezTo>
                      <a:pt x="5686" y="55029"/>
                      <a:pt x="0" y="49343"/>
                      <a:pt x="0" y="42329"/>
                    </a:cubicBezTo>
                    <a:cubicBezTo>
                      <a:pt x="0" y="35315"/>
                      <a:pt x="5686" y="29629"/>
                      <a:pt x="12700" y="29629"/>
                    </a:cubicBezTo>
                    <a:cubicBezTo>
                      <a:pt x="19714" y="29629"/>
                      <a:pt x="25400" y="23943"/>
                      <a:pt x="25400" y="16929"/>
                    </a:cubicBezTo>
                    <a:cubicBezTo>
                      <a:pt x="25400" y="0"/>
                      <a:pt x="50800" y="0"/>
                      <a:pt x="50800" y="16929"/>
                    </a:cubicBezTo>
                    <a:cubicBezTo>
                      <a:pt x="50800" y="23943"/>
                      <a:pt x="56486" y="29629"/>
                      <a:pt x="63500" y="29629"/>
                    </a:cubicBezTo>
                    <a:cubicBezTo>
                      <a:pt x="80429" y="29629"/>
                      <a:pt x="80429" y="55029"/>
                      <a:pt x="63500" y="55029"/>
                    </a:cubicBezTo>
                    <a:cubicBezTo>
                      <a:pt x="56486" y="55029"/>
                      <a:pt x="50800" y="60715"/>
                      <a:pt x="50800" y="67729"/>
                    </a:cubicBezTo>
                    <a:cubicBezTo>
                      <a:pt x="50800" y="84658"/>
                      <a:pt x="25400" y="84658"/>
                      <a:pt x="25400" y="67729"/>
                    </a:cubicBezTo>
                    <a:cubicBezTo>
                      <a:pt x="25400" y="60715"/>
                      <a:pt x="19714" y="55029"/>
                      <a:pt x="12700" y="55029"/>
                    </a:cubicBezTo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783171" y="5393271"/>
                <a:ext cx="186258" cy="182029"/>
              </a:xfrm>
              <a:custGeom>
                <a:avLst/>
                <a:gdLst/>
                <a:ahLst/>
                <a:cxnLst/>
                <a:rect l="l" t="t" r="r" b="b"/>
                <a:pathLst>
                  <a:path w="186258" h="182029">
                    <a:moveTo>
                      <a:pt x="16929" y="80429"/>
                    </a:moveTo>
                    <a:cubicBezTo>
                      <a:pt x="51999" y="80429"/>
                      <a:pt x="80429" y="51999"/>
                      <a:pt x="80429" y="16929"/>
                    </a:cubicBezTo>
                    <a:cubicBezTo>
                      <a:pt x="80429" y="0"/>
                      <a:pt x="105829" y="0"/>
                      <a:pt x="105829" y="16929"/>
                    </a:cubicBezTo>
                    <a:cubicBezTo>
                      <a:pt x="105829" y="51999"/>
                      <a:pt x="134259" y="80429"/>
                      <a:pt x="169329" y="80429"/>
                    </a:cubicBezTo>
                    <a:cubicBezTo>
                      <a:pt x="186258" y="80429"/>
                      <a:pt x="186258" y="105829"/>
                      <a:pt x="169329" y="105829"/>
                    </a:cubicBezTo>
                    <a:cubicBezTo>
                      <a:pt x="134259" y="105829"/>
                      <a:pt x="105829" y="134259"/>
                      <a:pt x="105829" y="169329"/>
                    </a:cubicBezTo>
                    <a:cubicBezTo>
                      <a:pt x="105829" y="176343"/>
                      <a:pt x="100143" y="182029"/>
                      <a:pt x="93129" y="182029"/>
                    </a:cubicBezTo>
                    <a:cubicBezTo>
                      <a:pt x="86115" y="182029"/>
                      <a:pt x="80429" y="176343"/>
                      <a:pt x="80429" y="169329"/>
                    </a:cubicBezTo>
                    <a:cubicBezTo>
                      <a:pt x="80429" y="134259"/>
                      <a:pt x="51999" y="105829"/>
                      <a:pt x="16929" y="105829"/>
                    </a:cubicBezTo>
                    <a:cubicBezTo>
                      <a:pt x="0" y="105829"/>
                      <a:pt x="0" y="80429"/>
                      <a:pt x="16929" y="80429"/>
                    </a:cubicBezTo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952500" y="5367871"/>
                <a:ext cx="80429" cy="84658"/>
              </a:xfrm>
              <a:custGeom>
                <a:avLst/>
                <a:gdLst/>
                <a:ahLst/>
                <a:cxnLst/>
                <a:rect l="l" t="t" r="r" b="b"/>
                <a:pathLst>
                  <a:path w="80429" h="84658">
                    <a:moveTo>
                      <a:pt x="12700" y="55029"/>
                    </a:moveTo>
                    <a:cubicBezTo>
                      <a:pt x="5686" y="55029"/>
                      <a:pt x="0" y="49343"/>
                      <a:pt x="0" y="42329"/>
                    </a:cubicBezTo>
                    <a:cubicBezTo>
                      <a:pt x="0" y="35315"/>
                      <a:pt x="5686" y="29629"/>
                      <a:pt x="12700" y="29629"/>
                    </a:cubicBezTo>
                    <a:cubicBezTo>
                      <a:pt x="19714" y="29629"/>
                      <a:pt x="25400" y="23943"/>
                      <a:pt x="25400" y="16929"/>
                    </a:cubicBezTo>
                    <a:cubicBezTo>
                      <a:pt x="25400" y="0"/>
                      <a:pt x="50800" y="0"/>
                      <a:pt x="50800" y="16929"/>
                    </a:cubicBezTo>
                    <a:cubicBezTo>
                      <a:pt x="50800" y="23943"/>
                      <a:pt x="56486" y="29629"/>
                      <a:pt x="63500" y="29629"/>
                    </a:cubicBezTo>
                    <a:cubicBezTo>
                      <a:pt x="80429" y="29629"/>
                      <a:pt x="80429" y="55029"/>
                      <a:pt x="63500" y="55029"/>
                    </a:cubicBezTo>
                    <a:cubicBezTo>
                      <a:pt x="56486" y="55029"/>
                      <a:pt x="50800" y="60715"/>
                      <a:pt x="50800" y="67729"/>
                    </a:cubicBezTo>
                    <a:cubicBezTo>
                      <a:pt x="50800" y="84658"/>
                      <a:pt x="25400" y="84658"/>
                      <a:pt x="25400" y="67729"/>
                    </a:cubicBezTo>
                    <a:cubicBezTo>
                      <a:pt x="25400" y="60715"/>
                      <a:pt x="19714" y="55029"/>
                      <a:pt x="12700" y="55029"/>
                    </a:cubicBezTo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</p:grpSp>
        <p:sp>
          <p:nvSpPr>
            <p:cNvPr id="21" name="TextBox 21"/>
            <p:cNvSpPr txBox="1"/>
            <p:nvPr/>
          </p:nvSpPr>
          <p:spPr>
            <a:xfrm>
              <a:off x="1146810" y="5414010"/>
              <a:ext cx="263309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Austin Xu · 硅谷 500 强工程经理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48665" y="5715952"/>
              <a:ext cx="115381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2026 · 付费正课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8953500" y="2667000"/>
            <a:ext cx="2571750" cy="2171700"/>
            <a:chOff x="8953500" y="2667000"/>
            <a:chExt cx="2571750" cy="2171700"/>
          </a:xfrm>
        </p:grpSpPr>
        <p:sp>
          <p:nvSpPr>
            <p:cNvPr id="24" name="Rectangle 24"/>
            <p:cNvSpPr/>
            <p:nvPr/>
          </p:nvSpPr>
          <p:spPr>
            <a:xfrm>
              <a:off x="9334500" y="2667000"/>
              <a:ext cx="2095500" cy="533400"/>
            </a:xfrm>
            <a:prstGeom prst="roundRect">
              <a:avLst>
                <a:gd name="adj" fmla="val 50000"/>
              </a:avLst>
            </a:prstGeom>
            <a:solidFill>
              <a:srgbClr val="C96133">
                <a:alpha val="12000"/>
              </a:srgbClr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627108" y="2828925"/>
              <a:ext cx="1510284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Claude Design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953500" y="3390900"/>
              <a:ext cx="2476500" cy="533400"/>
            </a:xfrm>
            <a:prstGeom prst="roundRect">
              <a:avLst>
                <a:gd name="adj" fmla="val 50000"/>
              </a:avLst>
            </a:prstGeom>
            <a:solidFill>
              <a:srgbClr val="3D7DE4">
                <a:alpha val="12000"/>
              </a:srgbClr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534370" y="3552825"/>
              <a:ext cx="1314760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3D7DE4"/>
                  </a:solidFill>
                  <a:latin typeface="Arial"/>
                  <a:ea typeface="Microsoft YaHei"/>
                  <a:cs typeface="Arial"/>
                </a:rPr>
                <a:t>Claude Code</a:t>
              </a:r>
            </a:p>
          </p:txBody>
        </p:sp>
        <p:grpSp>
          <p:nvGrpSpPr>
            <p:cNvPr id="32" name="Group 32"/>
            <p:cNvGrpSpPr/>
            <p:nvPr/>
          </p:nvGrpSpPr>
          <p:grpSpPr>
            <a:xfrm>
              <a:off x="11137253" y="3731096"/>
              <a:ext cx="296890" cy="403291"/>
              <a:chOff x="11137253" y="3731096"/>
              <a:chExt cx="296890" cy="403291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11163300" y="3790947"/>
                <a:ext cx="191251" cy="191971"/>
              </a:xfrm>
              <a:custGeom>
                <a:avLst/>
                <a:gdLst/>
                <a:ahLst/>
                <a:cxnLst/>
                <a:rect l="l" t="t" r="r" b="b"/>
                <a:pathLst>
                  <a:path w="191251" h="191971">
                    <a:moveTo>
                      <a:pt x="95250" y="3"/>
                    </a:moveTo>
                    <a:cubicBezTo>
                      <a:pt x="147318" y="0"/>
                      <a:pt x="189740" y="41808"/>
                      <a:pt x="190495" y="93871"/>
                    </a:cubicBezTo>
                    <a:cubicBezTo>
                      <a:pt x="191251" y="145934"/>
                      <a:pt x="150060" y="188955"/>
                      <a:pt x="98014" y="190463"/>
                    </a:cubicBezTo>
                    <a:cubicBezTo>
                      <a:pt x="45967" y="191971"/>
                      <a:pt x="2355" y="151406"/>
                      <a:pt x="95" y="99387"/>
                    </a:cubicBezTo>
                    <a:lnTo>
                      <a:pt x="0" y="95253"/>
                    </a:lnTo>
                    <a:lnTo>
                      <a:pt x="95" y="91119"/>
                    </a:lnTo>
                    <a:cubicBezTo>
                      <a:pt x="2308" y="40172"/>
                      <a:pt x="44255" y="6"/>
                      <a:pt x="95250" y="3"/>
                    </a:cubicBez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11137253" y="3731096"/>
                <a:ext cx="296890" cy="337775"/>
              </a:xfrm>
              <a:custGeom>
                <a:avLst/>
                <a:gdLst/>
                <a:ahLst/>
                <a:cxnLst/>
                <a:rect l="l" t="t" r="r" b="b"/>
                <a:pathLst>
                  <a:path w="296890" h="337775">
                    <a:moveTo>
                      <a:pt x="180981" y="12267"/>
                    </a:moveTo>
                    <a:cubicBezTo>
                      <a:pt x="186221" y="3147"/>
                      <a:pt x="197862" y="0"/>
                      <a:pt x="206984" y="5238"/>
                    </a:cubicBezTo>
                    <a:cubicBezTo>
                      <a:pt x="263626" y="37793"/>
                      <a:pt x="296890" y="99667"/>
                      <a:pt x="292806" y="164870"/>
                    </a:cubicBezTo>
                    <a:cubicBezTo>
                      <a:pt x="288721" y="230073"/>
                      <a:pt x="247994" y="287312"/>
                      <a:pt x="187732" y="312543"/>
                    </a:cubicBezTo>
                    <a:cubicBezTo>
                      <a:pt x="127470" y="337775"/>
                      <a:pt x="58110" y="326629"/>
                      <a:pt x="8788" y="283787"/>
                    </a:cubicBezTo>
                    <a:cubicBezTo>
                      <a:pt x="844" y="276885"/>
                      <a:pt x="0" y="264851"/>
                      <a:pt x="6902" y="256907"/>
                    </a:cubicBezTo>
                    <a:cubicBezTo>
                      <a:pt x="13804" y="248964"/>
                      <a:pt x="25838" y="248120"/>
                      <a:pt x="33781" y="255021"/>
                    </a:cubicBezTo>
                    <a:cubicBezTo>
                      <a:pt x="72162" y="288358"/>
                      <a:pt x="126132" y="297031"/>
                      <a:pt x="173025" y="277397"/>
                    </a:cubicBezTo>
                    <a:cubicBezTo>
                      <a:pt x="219917" y="257764"/>
                      <a:pt x="251608" y="213225"/>
                      <a:pt x="254788" y="162488"/>
                    </a:cubicBezTo>
                    <a:cubicBezTo>
                      <a:pt x="257968" y="111751"/>
                      <a:pt x="232084" y="63604"/>
                      <a:pt x="188010" y="38270"/>
                    </a:cubicBezTo>
                    <a:cubicBezTo>
                      <a:pt x="178890" y="33030"/>
                      <a:pt x="175743" y="21389"/>
                      <a:pt x="180981" y="12267"/>
                    </a:cubicBez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11239500" y="4019550"/>
                <a:ext cx="38100" cy="114837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114837">
                    <a:moveTo>
                      <a:pt x="19050" y="0"/>
                    </a:moveTo>
                    <a:cubicBezTo>
                      <a:pt x="28708" y="1"/>
                      <a:pt x="36837" y="7230"/>
                      <a:pt x="37967" y="16821"/>
                    </a:cubicBezTo>
                    <a:lnTo>
                      <a:pt x="38100" y="19050"/>
                    </a:lnTo>
                    <a:lnTo>
                      <a:pt x="38100" y="95250"/>
                    </a:lnTo>
                    <a:cubicBezTo>
                      <a:pt x="38089" y="105329"/>
                      <a:pt x="30228" y="113655"/>
                      <a:pt x="20166" y="114246"/>
                    </a:cubicBezTo>
                    <a:cubicBezTo>
                      <a:pt x="10105" y="114837"/>
                      <a:pt x="1324" y="107488"/>
                      <a:pt x="133" y="97479"/>
                    </a:cubicBezTo>
                    <a:lnTo>
                      <a:pt x="0" y="95250"/>
                    </a:lnTo>
                    <a:lnTo>
                      <a:pt x="0" y="19050"/>
                    </a:lnTo>
                    <a:cubicBezTo>
                      <a:pt x="0" y="8529"/>
                      <a:pt x="8529" y="0"/>
                      <a:pt x="19050" y="0"/>
                    </a:cubicBez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11162763" y="4095750"/>
                <a:ext cx="191574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191574" h="38100">
                    <a:moveTo>
                      <a:pt x="171987" y="0"/>
                    </a:moveTo>
                    <a:cubicBezTo>
                      <a:pt x="182066" y="11"/>
                      <a:pt x="190392" y="7872"/>
                      <a:pt x="190983" y="17934"/>
                    </a:cubicBezTo>
                    <a:cubicBezTo>
                      <a:pt x="191574" y="27995"/>
                      <a:pt x="184224" y="36776"/>
                      <a:pt x="174216" y="37967"/>
                    </a:cubicBezTo>
                    <a:lnTo>
                      <a:pt x="171987" y="38100"/>
                    </a:lnTo>
                    <a:lnTo>
                      <a:pt x="19587" y="38100"/>
                    </a:lnTo>
                    <a:cubicBezTo>
                      <a:pt x="9508" y="38089"/>
                      <a:pt x="1181" y="30228"/>
                      <a:pt x="591" y="20166"/>
                    </a:cubicBezTo>
                    <a:cubicBezTo>
                      <a:pt x="0" y="10105"/>
                      <a:pt x="7349" y="1324"/>
                      <a:pt x="17358" y="133"/>
                    </a:cubicBezTo>
                    <a:lnTo>
                      <a:pt x="19587" y="0"/>
                    </a:lnTo>
                    <a:lnTo>
                      <a:pt x="171987" y="0"/>
                    </a:ln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</p:grpSp>
        <p:sp>
          <p:nvSpPr>
            <p:cNvPr id="33" name="TextBox 33"/>
            <p:cNvSpPr txBox="1"/>
            <p:nvPr/>
          </p:nvSpPr>
          <p:spPr>
            <a:xfrm>
              <a:off x="10295025" y="4012882"/>
              <a:ext cx="17445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↓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9239250" y="4305300"/>
              <a:ext cx="2286000" cy="533400"/>
            </a:xfrm>
            <a:prstGeom prst="roundRect">
              <a:avLst>
                <a:gd name="adj" fmla="val 50000"/>
              </a:avLst>
            </a:prstGeom>
            <a:solidFill>
              <a:srgbClr val="3A9E6A">
                <a:alpha val="12000"/>
              </a:srgbClr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9443085" y="4467225"/>
              <a:ext cx="1878330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3A9E6A"/>
                  </a:solidFill>
                  <a:latin typeface="Arial"/>
                  <a:ea typeface="Microsoft YaHei"/>
                  <a:cs typeface="Arial"/>
                </a:rPr>
                <a:t>知识服务网站上线</a:t>
              </a:r>
            </a:p>
          </p:txBody>
        </p:sp>
      </p:grpSp>
      <p:sp>
        <p:nvSpPr>
          <p:cNvPr id="37" name="Rectangle 37"/>
          <p:cNvSpPr/>
          <p:nvPr/>
        </p:nvSpPr>
        <p:spPr>
          <a:xfrm>
            <a:off x="0" y="6800850"/>
            <a:ext cx="12192000" cy="57150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38" name="TextBox 38"/>
          <p:cNvSpPr txBox="1"/>
          <p:nvPr/>
        </p:nvSpPr>
        <p:spPr>
          <a:xfrm>
            <a:off x="11131772" y="6554152"/>
            <a:ext cx="50206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01 / 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3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1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36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727710" y="451485"/>
            <a:ext cx="10702290" cy="796290"/>
            <a:chOff x="727710" y="451485"/>
            <a:chExt cx="10702290" cy="796290"/>
          </a:xfrm>
        </p:grpSpPr>
        <p:sp>
          <p:nvSpPr>
            <p:cNvPr id="4" name="TextBox 4"/>
            <p:cNvSpPr txBox="1"/>
            <p:nvPr/>
          </p:nvSpPr>
          <p:spPr>
            <a:xfrm>
              <a:off x="727710" y="451485"/>
              <a:ext cx="2966942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你已经有了武器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741045" y="869632"/>
              <a:ext cx="4475988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S1 + S2 给了你什么能力？今天带你用上它</a:t>
              </a:r>
            </a:p>
          </p:txBody>
        </p:sp>
        <p:sp>
          <p:nvSpPr>
            <p:cNvPr id="6" name="Line 6"/>
            <p:cNvSpPr/>
            <p:nvPr/>
          </p:nvSpPr>
          <p:spPr>
            <a:xfrm>
              <a:off x="762000" y="12382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4288">
              <a:solidFill>
                <a:srgbClr val="E0D8D0"/>
              </a:solidFill>
            </a:ln>
          </p:spPr>
        </p:sp>
      </p:grpSp>
      <p:grpSp>
        <p:nvGrpSpPr>
          <p:cNvPr id="30" name="Group 30"/>
          <p:cNvGrpSpPr/>
          <p:nvPr/>
        </p:nvGrpSpPr>
        <p:grpSpPr>
          <a:xfrm>
            <a:off x="762000" y="1524000"/>
            <a:ext cx="4953000" cy="4572000"/>
            <a:chOff x="762000" y="1524000"/>
            <a:chExt cx="4953000" cy="4572000"/>
          </a:xfrm>
        </p:grpSpPr>
        <p:sp>
          <p:nvSpPr>
            <p:cNvPr id="8" name="Rectangle 8"/>
            <p:cNvSpPr/>
            <p:nvPr/>
          </p:nvSpPr>
          <p:spPr>
            <a:xfrm>
              <a:off x="762000" y="1524000"/>
              <a:ext cx="4953000" cy="4572000"/>
            </a:xfrm>
            <a:prstGeom prst="roundRect">
              <a:avLst>
                <a:gd name="adj" fmla="val 3333"/>
              </a:avLst>
            </a:prstGeom>
            <a:solidFill>
              <a:srgbClr val="F0EDE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1524000"/>
              <a:ext cx="4953000" cy="76200"/>
            </a:xfrm>
            <a:prstGeom prst="roundRect">
              <a:avLst>
                <a:gd name="adj" fmla="val 50000"/>
              </a:avLst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762000" y="1562100"/>
              <a:ext cx="4953000" cy="38100"/>
            </a:xfrm>
            <a:prstGeom prst="rect">
              <a:avLst/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1066800" y="1857375"/>
              <a:ext cx="533400" cy="533400"/>
            </a:xfrm>
            <a:prstGeom prst="roundRect">
              <a:avLst>
                <a:gd name="adj" fmla="val 21429"/>
              </a:avLst>
            </a:prstGeom>
            <a:solidFill>
              <a:srgbClr val="C96133">
                <a:alpha val="15000"/>
              </a:srgbClr>
            </a:solidFill>
            <a:ln>
              <a:noFill/>
            </a:ln>
          </p:spPr>
        </p:sp>
        <p:grpSp>
          <p:nvGrpSpPr>
            <p:cNvPr id="15" name="Group 15"/>
            <p:cNvGrpSpPr/>
            <p:nvPr/>
          </p:nvGrpSpPr>
          <p:grpSpPr>
            <a:xfrm>
              <a:off x="1190624" y="1965325"/>
              <a:ext cx="285751" cy="317500"/>
              <a:chOff x="1190624" y="1965325"/>
              <a:chExt cx="285751" cy="317500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1190625" y="2183305"/>
                <a:ext cx="285750" cy="99520"/>
              </a:xfrm>
              <a:custGeom>
                <a:avLst/>
                <a:gdLst/>
                <a:ahLst/>
                <a:cxnLst/>
                <a:rect l="l" t="t" r="r" b="b"/>
                <a:pathLst>
                  <a:path w="285750" h="99520">
                    <a:moveTo>
                      <a:pt x="0" y="0"/>
                    </a:moveTo>
                    <a:cubicBezTo>
                      <a:pt x="31242" y="23924"/>
                      <a:pt x="83090" y="36020"/>
                      <a:pt x="142875" y="36020"/>
                    </a:cubicBezTo>
                    <a:cubicBezTo>
                      <a:pt x="202565" y="36020"/>
                      <a:pt x="254397" y="23955"/>
                      <a:pt x="285750" y="270"/>
                    </a:cubicBezTo>
                    <a:lnTo>
                      <a:pt x="285750" y="36020"/>
                    </a:lnTo>
                    <a:cubicBezTo>
                      <a:pt x="285750" y="74517"/>
                      <a:pt x="223917" y="98504"/>
                      <a:pt x="147749" y="99489"/>
                    </a:cubicBezTo>
                    <a:lnTo>
                      <a:pt x="142875" y="99520"/>
                    </a:lnTo>
                    <a:cubicBezTo>
                      <a:pt x="64484" y="99520"/>
                      <a:pt x="0" y="75343"/>
                      <a:pt x="0" y="36020"/>
                    </a:cubicBez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1190625" y="2088055"/>
                <a:ext cx="285750" cy="99520"/>
              </a:xfrm>
              <a:custGeom>
                <a:avLst/>
                <a:gdLst/>
                <a:ahLst/>
                <a:cxnLst/>
                <a:rect l="l" t="t" r="r" b="b"/>
                <a:pathLst>
                  <a:path w="285750" h="99520">
                    <a:moveTo>
                      <a:pt x="0" y="0"/>
                    </a:moveTo>
                    <a:cubicBezTo>
                      <a:pt x="31242" y="23924"/>
                      <a:pt x="83090" y="36020"/>
                      <a:pt x="142875" y="36020"/>
                    </a:cubicBezTo>
                    <a:cubicBezTo>
                      <a:pt x="202565" y="36020"/>
                      <a:pt x="254397" y="23955"/>
                      <a:pt x="285750" y="270"/>
                    </a:cubicBezTo>
                    <a:lnTo>
                      <a:pt x="285750" y="36020"/>
                    </a:lnTo>
                    <a:cubicBezTo>
                      <a:pt x="285750" y="75343"/>
                      <a:pt x="221266" y="99520"/>
                      <a:pt x="142875" y="99520"/>
                    </a:cubicBezTo>
                    <a:cubicBezTo>
                      <a:pt x="66707" y="99520"/>
                      <a:pt x="3651" y="76692"/>
                      <a:pt x="333" y="39275"/>
                    </a:cubicBezTo>
                    <a:lnTo>
                      <a:pt x="79" y="37671"/>
                    </a:lnTo>
                    <a:lnTo>
                      <a:pt x="0" y="36020"/>
                    </a:ln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1190624" y="1965325"/>
                <a:ext cx="285751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127000">
                    <a:moveTo>
                      <a:pt x="142876" y="0"/>
                    </a:moveTo>
                    <a:cubicBezTo>
                      <a:pt x="159402" y="0"/>
                      <a:pt x="175325" y="1079"/>
                      <a:pt x="190136" y="3143"/>
                    </a:cubicBezTo>
                    <a:lnTo>
                      <a:pt x="197581" y="4270"/>
                    </a:lnTo>
                    <a:cubicBezTo>
                      <a:pt x="206471" y="5752"/>
                      <a:pt x="214864" y="7594"/>
                      <a:pt x="222759" y="9795"/>
                    </a:cubicBezTo>
                    <a:lnTo>
                      <a:pt x="229744" y="11875"/>
                    </a:lnTo>
                    <a:lnTo>
                      <a:pt x="230935" y="12255"/>
                    </a:lnTo>
                    <a:cubicBezTo>
                      <a:pt x="235255" y="13676"/>
                      <a:pt x="239518" y="15265"/>
                      <a:pt x="243714" y="17018"/>
                    </a:cubicBezTo>
                    <a:lnTo>
                      <a:pt x="246873" y="18383"/>
                    </a:lnTo>
                    <a:cubicBezTo>
                      <a:pt x="252535" y="20944"/>
                      <a:pt x="257652" y="23749"/>
                      <a:pt x="262224" y="26797"/>
                    </a:cubicBezTo>
                    <a:cubicBezTo>
                      <a:pt x="263971" y="27961"/>
                      <a:pt x="265627" y="29152"/>
                      <a:pt x="267193" y="30369"/>
                    </a:cubicBezTo>
                    <a:cubicBezTo>
                      <a:pt x="271161" y="33448"/>
                      <a:pt x="274729" y="37010"/>
                      <a:pt x="277814" y="40973"/>
                    </a:cubicBezTo>
                    <a:lnTo>
                      <a:pt x="279258" y="43005"/>
                    </a:lnTo>
                    <a:cubicBezTo>
                      <a:pt x="279999" y="44117"/>
                      <a:pt x="280682" y="45233"/>
                      <a:pt x="281306" y="46355"/>
                    </a:cubicBezTo>
                    <a:lnTo>
                      <a:pt x="282417" y="48562"/>
                    </a:lnTo>
                    <a:cubicBezTo>
                      <a:pt x="284143" y="52266"/>
                      <a:pt x="285201" y="56129"/>
                      <a:pt x="285592" y="60150"/>
                    </a:cubicBezTo>
                    <a:lnTo>
                      <a:pt x="285751" y="63500"/>
                    </a:lnTo>
                    <a:cubicBezTo>
                      <a:pt x="285751" y="102822"/>
                      <a:pt x="221267" y="127000"/>
                      <a:pt x="142876" y="127000"/>
                    </a:cubicBezTo>
                    <a:cubicBezTo>
                      <a:pt x="66708" y="127000"/>
                      <a:pt x="3652" y="104172"/>
                      <a:pt x="335" y="66754"/>
                    </a:cubicBezTo>
                    <a:cubicBezTo>
                      <a:pt x="112" y="65684"/>
                      <a:pt x="0" y="64593"/>
                      <a:pt x="1" y="63500"/>
                    </a:cubicBezTo>
                    <a:lnTo>
                      <a:pt x="81" y="61849"/>
                    </a:lnTo>
                    <a:lnTo>
                      <a:pt x="335" y="60261"/>
                    </a:lnTo>
                    <a:cubicBezTo>
                      <a:pt x="3589" y="23654"/>
                      <a:pt x="63993" y="1000"/>
                      <a:pt x="137923" y="32"/>
                    </a:cubicBez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</p:grpSp>
        <p:sp>
          <p:nvSpPr>
            <p:cNvPr id="16" name="TextBox 16"/>
            <p:cNvSpPr txBox="1"/>
            <p:nvPr/>
          </p:nvSpPr>
          <p:spPr>
            <a:xfrm>
              <a:off x="1748790" y="1963102"/>
              <a:ext cx="735159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SESSION 1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739265" y="2110740"/>
              <a:ext cx="262664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找工作 Agent 流水线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1066800" y="2619375"/>
              <a:ext cx="4343400" cy="9525"/>
            </a:xfrm>
            <a:custGeom>
              <a:avLst/>
              <a:gdLst/>
              <a:ahLst/>
              <a:cxnLst/>
              <a:rect l="l" t="t" r="r" b="b"/>
              <a:pathLst>
                <a:path w="4343400" h="9525">
                  <a:moveTo>
                    <a:pt x="0" y="0"/>
                  </a:moveTo>
                  <a:lnTo>
                    <a:pt x="4343400" y="0"/>
                  </a:lnTo>
                </a:path>
              </a:pathLst>
            </a:custGeom>
            <a:noFill/>
            <a:ln w="9525">
              <a:solidFill>
                <a:srgbClr val="E0D8D0"/>
              </a:solidFill>
            </a:ln>
          </p:spPr>
        </p:sp>
        <p:grpSp>
          <p:nvGrpSpPr>
            <p:cNvPr id="27" name="Group 27"/>
            <p:cNvGrpSpPr/>
            <p:nvPr/>
          </p:nvGrpSpPr>
          <p:grpSpPr>
            <a:xfrm>
              <a:off x="1162050" y="2905125"/>
              <a:ext cx="2468404" cy="1847850"/>
              <a:chOff x="1162050" y="2905125"/>
              <a:chExt cx="2468404" cy="1847850"/>
            </a:xfrm>
          </p:grpSpPr>
          <p:sp>
            <p:nvSpPr>
              <p:cNvPr id="19" name="Ellipse 19"/>
              <p:cNvSpPr/>
              <p:nvPr/>
            </p:nvSpPr>
            <p:spPr>
              <a:xfrm>
                <a:off x="1162050" y="2962275"/>
                <a:ext cx="95250" cy="95250"/>
              </a:xfrm>
              <a:prstGeom prst="ellipse">
                <a:avLst/>
              </a:pr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20" name="TextBox 20"/>
              <p:cNvSpPr txBox="1"/>
              <p:nvPr/>
            </p:nvSpPr>
            <p:spPr>
              <a:xfrm>
                <a:off x="1390650" y="2905125"/>
                <a:ext cx="196596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dirty="0">
                    <a:solidFill>
                      <a:srgbClr val="1E1E1E"/>
                    </a:solidFill>
                    <a:latin typeface="Arial"/>
                    <a:ea typeface="Microsoft YaHei"/>
                    <a:cs typeface="Arial"/>
                  </a:rPr>
                  <a:t>Prompt 提示词框架</a:t>
                </a:r>
              </a:p>
            </p:txBody>
          </p:sp>
          <p:sp>
            <p:nvSpPr>
              <p:cNvPr id="21" name="Ellipse 21"/>
              <p:cNvSpPr/>
              <p:nvPr/>
            </p:nvSpPr>
            <p:spPr>
              <a:xfrm>
                <a:off x="1162050" y="3476625"/>
                <a:ext cx="95250" cy="95250"/>
              </a:xfrm>
              <a:prstGeom prst="ellipse">
                <a:avLst/>
              </a:pr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22" name="TextBox 22"/>
              <p:cNvSpPr txBox="1"/>
              <p:nvPr/>
            </p:nvSpPr>
            <p:spPr>
              <a:xfrm>
                <a:off x="1390650" y="3419475"/>
                <a:ext cx="17907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dirty="0">
                    <a:solidFill>
                      <a:srgbClr val="1E1E1E"/>
                    </a:solidFill>
                    <a:latin typeface="Arial"/>
                    <a:ea typeface="Microsoft YaHei"/>
                    <a:cs typeface="Arial"/>
                  </a:rPr>
                  <a:t>多轮对话结构设计</a:t>
                </a:r>
              </a:p>
            </p:txBody>
          </p:sp>
          <p:sp>
            <p:nvSpPr>
              <p:cNvPr id="23" name="Ellipse 23"/>
              <p:cNvSpPr/>
              <p:nvPr/>
            </p:nvSpPr>
            <p:spPr>
              <a:xfrm>
                <a:off x="1162050" y="3990975"/>
                <a:ext cx="95250" cy="95250"/>
              </a:xfrm>
              <a:prstGeom prst="ellipse">
                <a:avLst/>
              </a:pr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24" name="TextBox 24"/>
              <p:cNvSpPr txBox="1"/>
              <p:nvPr/>
            </p:nvSpPr>
            <p:spPr>
              <a:xfrm>
                <a:off x="1390650" y="3933825"/>
                <a:ext cx="218503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dirty="0">
                    <a:solidFill>
                      <a:srgbClr val="1E1E1E"/>
                    </a:solidFill>
                    <a:latin typeface="Arial"/>
                    <a:ea typeface="Microsoft YaHei"/>
                    <a:cs typeface="Arial"/>
                  </a:rPr>
                  <a:t>Claude Projects 实战</a:t>
                </a:r>
              </a:p>
            </p:txBody>
          </p:sp>
          <p:sp>
            <p:nvSpPr>
              <p:cNvPr id="25" name="Ellipse 25"/>
              <p:cNvSpPr/>
              <p:nvPr/>
            </p:nvSpPr>
            <p:spPr>
              <a:xfrm>
                <a:off x="1162050" y="4505325"/>
                <a:ext cx="95250" cy="95250"/>
              </a:xfrm>
              <a:prstGeom prst="ellipse">
                <a:avLst/>
              </a:pr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26" name="TextBox 26"/>
              <p:cNvSpPr txBox="1"/>
              <p:nvPr/>
            </p:nvSpPr>
            <p:spPr>
              <a:xfrm>
                <a:off x="1390650" y="4448175"/>
                <a:ext cx="2239804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dirty="0">
                    <a:solidFill>
                      <a:srgbClr val="1E1E1E"/>
                    </a:solidFill>
                    <a:latin typeface="Arial"/>
                    <a:ea typeface="Microsoft YaHei"/>
                    <a:cs typeface="Arial"/>
                  </a:rPr>
                  <a:t>Agent 工作流搭建思路</a:t>
                </a:r>
              </a:p>
            </p:txBody>
          </p:sp>
        </p:grpSp>
        <p:sp>
          <p:nvSpPr>
            <p:cNvPr id="28" name="Rectangle 28"/>
            <p:cNvSpPr/>
            <p:nvPr/>
          </p:nvSpPr>
          <p:spPr>
            <a:xfrm>
              <a:off x="1066800" y="5429250"/>
              <a:ext cx="1524000" cy="323850"/>
            </a:xfrm>
            <a:prstGeom prst="roundRect">
              <a:avLst>
                <a:gd name="adj" fmla="val 50000"/>
              </a:avLst>
            </a:prstGeom>
            <a:solidFill>
              <a:srgbClr val="C96133">
                <a:alpha val="12000"/>
              </a:srgbClr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344391" y="5517356"/>
              <a:ext cx="96881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会用 AI 思考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6286500" y="1524000"/>
            <a:ext cx="5143500" cy="4572000"/>
            <a:chOff x="6286500" y="1524000"/>
            <a:chExt cx="5143500" cy="4572000"/>
          </a:xfrm>
        </p:grpSpPr>
        <p:sp>
          <p:nvSpPr>
            <p:cNvPr id="31" name="Rectangle 31"/>
            <p:cNvSpPr/>
            <p:nvPr/>
          </p:nvSpPr>
          <p:spPr>
            <a:xfrm>
              <a:off x="6286500" y="1524000"/>
              <a:ext cx="5143500" cy="4572000"/>
            </a:xfrm>
            <a:prstGeom prst="roundRect">
              <a:avLst>
                <a:gd name="adj" fmla="val 3333"/>
              </a:avLst>
            </a:prstGeom>
            <a:solidFill>
              <a:srgbClr val="EBF0F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6286500" y="1524000"/>
              <a:ext cx="5143500" cy="76200"/>
            </a:xfrm>
            <a:prstGeom prst="roundRect">
              <a:avLst>
                <a:gd name="adj" fmla="val 50000"/>
              </a:avLst>
            </a:prstGeom>
            <a:solidFill>
              <a:srgbClr val="3D7DE4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6286500" y="1562100"/>
              <a:ext cx="5143500" cy="38100"/>
            </a:xfrm>
            <a:prstGeom prst="rect">
              <a:avLst/>
            </a:prstGeom>
            <a:solidFill>
              <a:srgbClr val="3D7DE4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6591300" y="1857375"/>
              <a:ext cx="533400" cy="533400"/>
            </a:xfrm>
            <a:prstGeom prst="roundRect">
              <a:avLst>
                <a:gd name="adj" fmla="val 21429"/>
              </a:avLst>
            </a:prstGeom>
            <a:solidFill>
              <a:srgbClr val="3D7DE4">
                <a:alpha val="15000"/>
              </a:srgbClr>
            </a:solidFill>
            <a:ln>
              <a:noFill/>
            </a:ln>
          </p:spPr>
        </p:sp>
        <p:sp>
          <p:nvSpPr>
            <p:cNvPr id="35" name="Freeform 35"/>
            <p:cNvSpPr/>
            <p:nvPr/>
          </p:nvSpPr>
          <p:spPr>
            <a:xfrm>
              <a:off x="6682683" y="1997075"/>
              <a:ext cx="349926" cy="254000"/>
            </a:xfrm>
            <a:custGeom>
              <a:avLst/>
              <a:gdLst/>
              <a:ahLst/>
              <a:cxnLst/>
              <a:rect l="l" t="t" r="r" b="b"/>
              <a:pathLst>
                <a:path w="349926" h="254000">
                  <a:moveTo>
                    <a:pt x="175317" y="0"/>
                  </a:moveTo>
                  <a:cubicBezTo>
                    <a:pt x="243420" y="0"/>
                    <a:pt x="300142" y="38560"/>
                    <a:pt x="344624" y="113570"/>
                  </a:cubicBezTo>
                  <a:lnTo>
                    <a:pt x="348116" y="119586"/>
                  </a:lnTo>
                  <a:lnTo>
                    <a:pt x="348830" y="121174"/>
                  </a:lnTo>
                  <a:lnTo>
                    <a:pt x="349307" y="122492"/>
                  </a:lnTo>
                  <a:lnTo>
                    <a:pt x="349529" y="123365"/>
                  </a:lnTo>
                  <a:lnTo>
                    <a:pt x="349751" y="124666"/>
                  </a:lnTo>
                  <a:lnTo>
                    <a:pt x="349926" y="126254"/>
                  </a:lnTo>
                  <a:lnTo>
                    <a:pt x="349926" y="128000"/>
                  </a:lnTo>
                  <a:lnTo>
                    <a:pt x="349704" y="129762"/>
                  </a:lnTo>
                  <a:cubicBezTo>
                    <a:pt x="349599" y="130352"/>
                    <a:pt x="349461" y="130935"/>
                    <a:pt x="349291" y="131509"/>
                  </a:cubicBezTo>
                  <a:lnTo>
                    <a:pt x="348672" y="133223"/>
                  </a:lnTo>
                  <a:lnTo>
                    <a:pt x="348100" y="134414"/>
                  </a:lnTo>
                  <a:lnTo>
                    <a:pt x="347846" y="134890"/>
                  </a:lnTo>
                  <a:cubicBezTo>
                    <a:pt x="303968" y="211661"/>
                    <a:pt x="247834" y="252047"/>
                    <a:pt x="180286" y="253936"/>
                  </a:cubicBezTo>
                  <a:lnTo>
                    <a:pt x="175317" y="254000"/>
                  </a:lnTo>
                  <a:cubicBezTo>
                    <a:pt x="105530" y="254000"/>
                    <a:pt x="47729" y="213535"/>
                    <a:pt x="2787" y="134874"/>
                  </a:cubicBezTo>
                  <a:cubicBezTo>
                    <a:pt x="0" y="129995"/>
                    <a:pt x="0" y="124005"/>
                    <a:pt x="2787" y="119126"/>
                  </a:cubicBezTo>
                  <a:cubicBezTo>
                    <a:pt x="47729" y="40465"/>
                    <a:pt x="105530" y="0"/>
                    <a:pt x="175317" y="0"/>
                  </a:cubicBezTo>
                  <a:close/>
                  <a:moveTo>
                    <a:pt x="175317" y="79375"/>
                  </a:moveTo>
                  <a:cubicBezTo>
                    <a:pt x="149014" y="79375"/>
                    <a:pt x="127692" y="100697"/>
                    <a:pt x="127692" y="127000"/>
                  </a:cubicBezTo>
                  <a:cubicBezTo>
                    <a:pt x="127692" y="153303"/>
                    <a:pt x="149014" y="174625"/>
                    <a:pt x="175317" y="174625"/>
                  </a:cubicBezTo>
                  <a:cubicBezTo>
                    <a:pt x="201619" y="174625"/>
                    <a:pt x="222942" y="153303"/>
                    <a:pt x="222942" y="127000"/>
                  </a:cubicBezTo>
                  <a:cubicBezTo>
                    <a:pt x="222942" y="100697"/>
                    <a:pt x="201619" y="79375"/>
                    <a:pt x="175317" y="79375"/>
                  </a:cubicBezTo>
                </a:path>
              </a:pathLst>
            </a:custGeom>
            <a:solidFill>
              <a:srgbClr val="3D7DE4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273290" y="1963102"/>
              <a:ext cx="775414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3D7DE4"/>
                  </a:solidFill>
                  <a:latin typeface="Arial"/>
                  <a:ea typeface="Microsoft YaHei"/>
                  <a:cs typeface="Arial"/>
                </a:rPr>
                <a:t>SESSION 2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263765" y="2110740"/>
              <a:ext cx="276466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Claude Code 建知识库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6591300" y="2619375"/>
              <a:ext cx="4533900" cy="9525"/>
            </a:xfrm>
            <a:custGeom>
              <a:avLst/>
              <a:gdLst/>
              <a:ahLst/>
              <a:cxnLst/>
              <a:rect l="l" t="t" r="r" b="b"/>
              <a:pathLst>
                <a:path w="4533900" h="9525">
                  <a:moveTo>
                    <a:pt x="0" y="0"/>
                  </a:moveTo>
                  <a:lnTo>
                    <a:pt x="4533900" y="0"/>
                  </a:lnTo>
                </a:path>
              </a:pathLst>
            </a:custGeom>
            <a:noFill/>
            <a:ln w="9525">
              <a:solidFill>
                <a:srgbClr val="C8D8F0"/>
              </a:solidFill>
            </a:ln>
          </p:spPr>
        </p:sp>
        <p:grpSp>
          <p:nvGrpSpPr>
            <p:cNvPr id="47" name="Group 47"/>
            <p:cNvGrpSpPr/>
            <p:nvPr/>
          </p:nvGrpSpPr>
          <p:grpSpPr>
            <a:xfrm>
              <a:off x="6686550" y="2905125"/>
              <a:ext cx="3640455" cy="1847850"/>
              <a:chOff x="6686550" y="2905125"/>
              <a:chExt cx="3640455" cy="1847850"/>
            </a:xfrm>
          </p:grpSpPr>
          <p:sp>
            <p:nvSpPr>
              <p:cNvPr id="39" name="Ellipse 39"/>
              <p:cNvSpPr/>
              <p:nvPr/>
            </p:nvSpPr>
            <p:spPr>
              <a:xfrm>
                <a:off x="6686550" y="2962275"/>
                <a:ext cx="95250" cy="95250"/>
              </a:xfrm>
              <a:prstGeom prst="ellipse">
                <a:avLst/>
              </a:prstGeom>
              <a:solidFill>
                <a:srgbClr val="3D7DE4"/>
              </a:solidFill>
              <a:ln>
                <a:noFill/>
              </a:ln>
            </p:spPr>
          </p:sp>
          <p:sp>
            <p:nvSpPr>
              <p:cNvPr id="40" name="TextBox 40"/>
              <p:cNvSpPr txBox="1"/>
              <p:nvPr/>
            </p:nvSpPr>
            <p:spPr>
              <a:xfrm>
                <a:off x="6915150" y="2905125"/>
                <a:ext cx="2415064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dirty="0">
                    <a:solidFill>
                      <a:srgbClr val="1E1E1E"/>
                    </a:solidFill>
                    <a:latin typeface="Arial"/>
                    <a:ea typeface="Microsoft YaHei"/>
                    <a:cs typeface="Arial"/>
                  </a:rPr>
                  <a:t>Claude Code 命令行开发</a:t>
                </a:r>
              </a:p>
            </p:txBody>
          </p:sp>
          <p:sp>
            <p:nvSpPr>
              <p:cNvPr id="41" name="Ellipse 41"/>
              <p:cNvSpPr/>
              <p:nvPr/>
            </p:nvSpPr>
            <p:spPr>
              <a:xfrm>
                <a:off x="6686550" y="3476625"/>
                <a:ext cx="95250" cy="95250"/>
              </a:xfrm>
              <a:prstGeom prst="ellipse">
                <a:avLst/>
              </a:prstGeom>
              <a:solidFill>
                <a:srgbClr val="3D7DE4"/>
              </a:solidFill>
              <a:ln>
                <a:noFill/>
              </a:ln>
            </p:spPr>
          </p:sp>
          <p:sp>
            <p:nvSpPr>
              <p:cNvPr id="42" name="TextBox 42"/>
              <p:cNvSpPr txBox="1"/>
              <p:nvPr/>
            </p:nvSpPr>
            <p:spPr>
              <a:xfrm>
                <a:off x="6915150" y="3419475"/>
                <a:ext cx="2108359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dirty="0">
                    <a:solidFill>
                      <a:srgbClr val="1E1E1E"/>
                    </a:solidFill>
                    <a:latin typeface="Arial"/>
                    <a:ea typeface="Microsoft YaHei"/>
                    <a:cs typeface="Arial"/>
                  </a:rPr>
                  <a:t>CLAUDE.md 项目配置</a:t>
                </a:r>
              </a:p>
            </p:txBody>
          </p:sp>
          <p:sp>
            <p:nvSpPr>
              <p:cNvPr id="43" name="Ellipse 43"/>
              <p:cNvSpPr/>
              <p:nvPr/>
            </p:nvSpPr>
            <p:spPr>
              <a:xfrm>
                <a:off x="6686550" y="3990975"/>
                <a:ext cx="95250" cy="95250"/>
              </a:xfrm>
              <a:prstGeom prst="ellipse">
                <a:avLst/>
              </a:prstGeom>
              <a:solidFill>
                <a:srgbClr val="3D7DE4"/>
              </a:solidFill>
              <a:ln>
                <a:noFill/>
              </a:ln>
            </p:spPr>
          </p:sp>
          <p:sp>
            <p:nvSpPr>
              <p:cNvPr id="44" name="TextBox 44"/>
              <p:cNvSpPr txBox="1"/>
              <p:nvPr/>
            </p:nvSpPr>
            <p:spPr>
              <a:xfrm>
                <a:off x="6915150" y="3933825"/>
                <a:ext cx="244792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dirty="0">
                    <a:solidFill>
                      <a:srgbClr val="1E1E1E"/>
                    </a:solidFill>
                    <a:latin typeface="Arial"/>
                    <a:ea typeface="Microsoft YaHei"/>
                    <a:cs typeface="Arial"/>
                  </a:rPr>
                  <a:t>Skills 工程 + 工具流搭建</a:t>
                </a:r>
              </a:p>
            </p:txBody>
          </p:sp>
          <p:sp>
            <p:nvSpPr>
              <p:cNvPr id="45" name="Ellipse 45"/>
              <p:cNvSpPr/>
              <p:nvPr/>
            </p:nvSpPr>
            <p:spPr>
              <a:xfrm>
                <a:off x="6686550" y="4505325"/>
                <a:ext cx="95250" cy="95250"/>
              </a:xfrm>
              <a:prstGeom prst="ellipse">
                <a:avLst/>
              </a:prstGeom>
              <a:solidFill>
                <a:srgbClr val="3D7DE4"/>
              </a:solidFill>
              <a:ln>
                <a:noFill/>
              </a:ln>
            </p:spPr>
          </p:sp>
          <p:sp>
            <p:nvSpPr>
              <p:cNvPr id="46" name="TextBox 46"/>
              <p:cNvSpPr txBox="1"/>
              <p:nvPr/>
            </p:nvSpPr>
            <p:spPr>
              <a:xfrm>
                <a:off x="6915150" y="4448175"/>
                <a:ext cx="341185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dirty="0">
                    <a:solidFill>
                      <a:srgbClr val="1E1E1E"/>
                    </a:solidFill>
                    <a:latin typeface="Arial"/>
                    <a:ea typeface="Microsoft YaHei"/>
                    <a:cs typeface="Arial"/>
                  </a:rPr>
                  <a:t>Superpowers / ppt-master 实战</a:t>
                </a:r>
              </a:p>
            </p:txBody>
          </p:sp>
        </p:grpSp>
        <p:sp>
          <p:nvSpPr>
            <p:cNvPr id="48" name="Rectangle 48"/>
            <p:cNvSpPr/>
            <p:nvPr/>
          </p:nvSpPr>
          <p:spPr>
            <a:xfrm>
              <a:off x="6591300" y="5429250"/>
              <a:ext cx="1524000" cy="323850"/>
            </a:xfrm>
            <a:prstGeom prst="roundRect">
              <a:avLst>
                <a:gd name="adj" fmla="val 50000"/>
              </a:avLst>
            </a:prstGeom>
            <a:solidFill>
              <a:srgbClr val="3D7DE4">
                <a:alpha val="12000"/>
              </a:srgbClr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782630" y="5517356"/>
              <a:ext cx="114133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3D7DE4"/>
                  </a:solidFill>
                  <a:latin typeface="Arial"/>
                  <a:ea typeface="Microsoft YaHei"/>
                  <a:cs typeface="Arial"/>
                </a:rPr>
                <a:t>会用 AI 写代码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5770245" y="3726180"/>
            <a:ext cx="594360" cy="700564"/>
            <a:chOff x="5770245" y="3726180"/>
            <a:chExt cx="594360" cy="700564"/>
          </a:xfrm>
        </p:grpSpPr>
        <p:sp>
          <p:nvSpPr>
            <p:cNvPr id="51" name="TextBox 51"/>
            <p:cNvSpPr txBox="1"/>
            <p:nvPr/>
          </p:nvSpPr>
          <p:spPr>
            <a:xfrm>
              <a:off x="5952194" y="3726180"/>
              <a:ext cx="230462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100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+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5770245" y="4228624"/>
              <a:ext cx="59436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今天合体</a:t>
              </a:r>
            </a:p>
          </p:txBody>
        </p:sp>
      </p:grpSp>
      <p:sp>
        <p:nvSpPr>
          <p:cNvPr id="54" name="TextBox 54"/>
          <p:cNvSpPr txBox="1"/>
          <p:nvPr/>
        </p:nvSpPr>
        <p:spPr>
          <a:xfrm>
            <a:off x="4131254" y="6554152"/>
            <a:ext cx="392949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今天的课把这两把武器合起来用 — 设计 + 代码 = 完整网站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11093434" y="6554152"/>
            <a:ext cx="54040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02 / 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5" presetClass="entr" presetSubtype="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1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50" grpId="0"/>
      <p:bldP spid="5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762000" y="394335"/>
            <a:ext cx="10668000" cy="796290"/>
            <a:chOff x="762000" y="394335"/>
            <a:chExt cx="10668000" cy="796290"/>
          </a:xfrm>
        </p:grpSpPr>
        <p:sp>
          <p:nvSpPr>
            <p:cNvPr id="4" name="TextBox 4"/>
            <p:cNvSpPr txBox="1"/>
            <p:nvPr/>
          </p:nvSpPr>
          <p:spPr>
            <a:xfrm>
              <a:off x="4612529" y="394335"/>
              <a:ext cx="2966942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7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今天要做三件事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4333946" y="812482"/>
              <a:ext cx="3524107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设计 → 开发 → 上线 · 全流程实战</a:t>
              </a:r>
            </a:p>
          </p:txBody>
        </p:sp>
        <p:sp>
          <p:nvSpPr>
            <p:cNvPr id="6" name="Line 6"/>
            <p:cNvSpPr/>
            <p:nvPr/>
          </p:nvSpPr>
          <p:spPr>
            <a:xfrm>
              <a:off x="762000" y="11811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4288">
              <a:solidFill>
                <a:srgbClr val="E0D8D0"/>
              </a:solidFill>
            </a:ln>
          </p:spPr>
        </p:sp>
      </p:grpSp>
      <p:sp>
        <p:nvSpPr>
          <p:cNvPr id="8" name="Line 8"/>
          <p:cNvSpPr/>
          <p:nvPr/>
        </p:nvSpPr>
        <p:spPr>
          <a:xfrm>
            <a:off x="3981450" y="2952750"/>
            <a:ext cx="762000" cy="9525"/>
          </a:xfrm>
          <a:custGeom>
            <a:avLst/>
            <a:gdLst/>
            <a:ahLst/>
            <a:cxnLst/>
            <a:rect l="l" t="t" r="r" b="b"/>
            <a:pathLst>
              <a:path w="762000" h="9525">
                <a:moveTo>
                  <a:pt x="0" y="0"/>
                </a:moveTo>
                <a:lnTo>
                  <a:pt x="762000" y="0"/>
                </a:lnTo>
              </a:path>
            </a:pathLst>
          </a:custGeom>
          <a:noFill/>
          <a:ln w="28575">
            <a:solidFill>
              <a:srgbClr val="E0D8D0"/>
            </a:solidFill>
          </a:ln>
        </p:spPr>
      </p:sp>
      <p:sp>
        <p:nvSpPr>
          <p:cNvPr id="9" name="Polygon 9"/>
          <p:cNvSpPr/>
          <p:nvPr/>
        </p:nvSpPr>
        <p:spPr>
          <a:xfrm>
            <a:off x="4743450" y="2886075"/>
            <a:ext cx="152400" cy="133350"/>
          </a:xfrm>
          <a:custGeom>
            <a:avLst/>
            <a:gdLst/>
            <a:ahLst/>
            <a:cxnLst/>
            <a:rect l="l" t="t" r="r" b="b"/>
            <a:pathLst>
              <a:path w="152400" h="133350">
                <a:moveTo>
                  <a:pt x="0" y="0"/>
                </a:moveTo>
                <a:lnTo>
                  <a:pt x="152400" y="66675"/>
                </a:lnTo>
                <a:lnTo>
                  <a:pt x="0" y="133350"/>
                </a:lnTo>
                <a:close/>
              </a:path>
            </a:pathLst>
          </a:custGeom>
          <a:solidFill>
            <a:srgbClr val="C96133">
              <a:alpha val="50000"/>
            </a:srgbClr>
          </a:solidFill>
          <a:ln>
            <a:noFill/>
          </a:ln>
        </p:spPr>
      </p:sp>
      <p:sp>
        <p:nvSpPr>
          <p:cNvPr id="10" name="Line 10"/>
          <p:cNvSpPr/>
          <p:nvPr/>
        </p:nvSpPr>
        <p:spPr>
          <a:xfrm>
            <a:off x="7448550" y="2952750"/>
            <a:ext cx="762000" cy="9525"/>
          </a:xfrm>
          <a:custGeom>
            <a:avLst/>
            <a:gdLst/>
            <a:ahLst/>
            <a:cxnLst/>
            <a:rect l="l" t="t" r="r" b="b"/>
            <a:pathLst>
              <a:path w="762000" h="9525">
                <a:moveTo>
                  <a:pt x="0" y="0"/>
                </a:moveTo>
                <a:lnTo>
                  <a:pt x="762000" y="0"/>
                </a:lnTo>
              </a:path>
            </a:pathLst>
          </a:custGeom>
          <a:noFill/>
          <a:ln w="28575">
            <a:solidFill>
              <a:srgbClr val="E0D8D0"/>
            </a:solidFill>
          </a:ln>
        </p:spPr>
      </p:sp>
      <p:sp>
        <p:nvSpPr>
          <p:cNvPr id="11" name="Polygon 11"/>
          <p:cNvSpPr/>
          <p:nvPr/>
        </p:nvSpPr>
        <p:spPr>
          <a:xfrm>
            <a:off x="8210550" y="2886075"/>
            <a:ext cx="152400" cy="133350"/>
          </a:xfrm>
          <a:custGeom>
            <a:avLst/>
            <a:gdLst/>
            <a:ahLst/>
            <a:cxnLst/>
            <a:rect l="l" t="t" r="r" b="b"/>
            <a:pathLst>
              <a:path w="152400" h="133350">
                <a:moveTo>
                  <a:pt x="0" y="0"/>
                </a:moveTo>
                <a:lnTo>
                  <a:pt x="152400" y="66675"/>
                </a:lnTo>
                <a:lnTo>
                  <a:pt x="0" y="133350"/>
                </a:lnTo>
                <a:close/>
              </a:path>
            </a:pathLst>
          </a:custGeom>
          <a:solidFill>
            <a:srgbClr val="C96133">
              <a:alpha val="50000"/>
            </a:srgbClr>
          </a:solidFill>
          <a:ln>
            <a:noFill/>
          </a:ln>
        </p:spPr>
      </p:sp>
      <p:grpSp>
        <p:nvGrpSpPr>
          <p:cNvPr id="29" name="Group 29"/>
          <p:cNvGrpSpPr/>
          <p:nvPr/>
        </p:nvGrpSpPr>
        <p:grpSpPr>
          <a:xfrm>
            <a:off x="571500" y="1866900"/>
            <a:ext cx="3409950" cy="4133850"/>
            <a:chOff x="571500" y="1866900"/>
            <a:chExt cx="3409950" cy="4133850"/>
          </a:xfrm>
        </p:grpSpPr>
        <p:sp>
          <p:nvSpPr>
            <p:cNvPr id="12" name="Ellipse 12"/>
            <p:cNvSpPr/>
            <p:nvPr/>
          </p:nvSpPr>
          <p:spPr>
            <a:xfrm>
              <a:off x="1638300" y="1866900"/>
              <a:ext cx="838200" cy="838200"/>
            </a:xfrm>
            <a:prstGeom prst="ellipse">
              <a:avLst/>
            </a:prstGeom>
            <a:solidFill>
              <a:srgbClr val="C96133">
                <a:alpha val="12000"/>
              </a:srgbClr>
            </a:solidFill>
            <a:ln>
              <a:noFill/>
            </a:ln>
          </p:spPr>
        </p:sp>
        <p:sp>
          <p:nvSpPr>
            <p:cNvPr id="13" name="Ellipse 13"/>
            <p:cNvSpPr/>
            <p:nvPr/>
          </p:nvSpPr>
          <p:spPr>
            <a:xfrm>
              <a:off x="1733550" y="1962150"/>
              <a:ext cx="647700" cy="647700"/>
            </a:xfrm>
            <a:prstGeom prst="ellipse">
              <a:avLst/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928907" y="2060258"/>
              <a:ext cx="256987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934963" y="2327434"/>
              <a:ext cx="244873" cy="137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6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STEP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2057400" y="2609850"/>
              <a:ext cx="9525" cy="342900"/>
            </a:xfrm>
            <a:custGeom>
              <a:avLst/>
              <a:gdLst/>
              <a:ahLst/>
              <a:cxnLst/>
              <a:rect l="l" t="t" r="r" b="b"/>
              <a:pathLst>
                <a:path w="9525"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noFill/>
            <a:ln w="19050">
              <a:solidFill>
                <a:srgbClr val="C96133">
                  <a:alpha val="50000"/>
                </a:srgbClr>
              </a:solidFill>
              <a:custDash>
                <a:ds d="200000" sp="150000"/>
              </a:custDash>
            </a:ln>
          </p:spPr>
        </p:sp>
        <p:sp>
          <p:nvSpPr>
            <p:cNvPr id="17" name="Rectangle 17"/>
            <p:cNvSpPr/>
            <p:nvPr/>
          </p:nvSpPr>
          <p:spPr>
            <a:xfrm>
              <a:off x="571500" y="2952750"/>
              <a:ext cx="3409950" cy="3048000"/>
            </a:xfrm>
            <a:prstGeom prst="roundRect">
              <a:avLst>
                <a:gd name="adj" fmla="val 3750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571500" y="2952750"/>
              <a:ext cx="47625" cy="3048000"/>
            </a:xfrm>
            <a:prstGeom prst="roundRect">
              <a:avLst>
                <a:gd name="adj" fmla="val 40000"/>
              </a:avLst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809625" y="3219450"/>
              <a:ext cx="495300" cy="495300"/>
            </a:xfrm>
            <a:prstGeom prst="roundRect">
              <a:avLst>
                <a:gd name="adj" fmla="val 19231"/>
              </a:avLst>
            </a:prstGeom>
            <a:solidFill>
              <a:srgbClr val="C96133">
                <a:alpha val="10000"/>
              </a:srgbClr>
            </a:solidFill>
            <a:ln>
              <a:noFill/>
            </a:ln>
          </p:spPr>
        </p:sp>
        <p:sp>
          <p:nvSpPr>
            <p:cNvPr id="20" name="Freeform 20"/>
            <p:cNvSpPr/>
            <p:nvPr/>
          </p:nvSpPr>
          <p:spPr>
            <a:xfrm>
              <a:off x="898525" y="3308350"/>
              <a:ext cx="317500" cy="317824"/>
            </a:xfrm>
            <a:custGeom>
              <a:avLst/>
              <a:gdLst/>
              <a:ahLst/>
              <a:cxnLst/>
              <a:rect l="l" t="t" r="r" b="b"/>
              <a:pathLst>
                <a:path w="317500" h="317824">
                  <a:moveTo>
                    <a:pt x="158750" y="0"/>
                  </a:moveTo>
                  <a:cubicBezTo>
                    <a:pt x="246031" y="0"/>
                    <a:pt x="317500" y="63532"/>
                    <a:pt x="317500" y="142875"/>
                  </a:cubicBezTo>
                  <a:cubicBezTo>
                    <a:pt x="317500" y="164322"/>
                    <a:pt x="307975" y="184785"/>
                    <a:pt x="291243" y="199644"/>
                  </a:cubicBezTo>
                  <a:cubicBezTo>
                    <a:pt x="274891" y="214154"/>
                    <a:pt x="252952" y="222250"/>
                    <a:pt x="230187" y="222250"/>
                  </a:cubicBezTo>
                  <a:lnTo>
                    <a:pt x="190246" y="222250"/>
                  </a:lnTo>
                  <a:cubicBezTo>
                    <a:pt x="182960" y="222133"/>
                    <a:pt x="176529" y="226991"/>
                    <a:pt x="174651" y="234033"/>
                  </a:cubicBezTo>
                  <a:cubicBezTo>
                    <a:pt x="172774" y="241074"/>
                    <a:pt x="175931" y="248489"/>
                    <a:pt x="182308" y="252016"/>
                  </a:cubicBezTo>
                  <a:cubicBezTo>
                    <a:pt x="183420" y="252631"/>
                    <a:pt x="184454" y="253377"/>
                    <a:pt x="185388" y="254238"/>
                  </a:cubicBezTo>
                  <a:cubicBezTo>
                    <a:pt x="196517" y="264508"/>
                    <a:pt x="200152" y="280581"/>
                    <a:pt x="194525" y="294639"/>
                  </a:cubicBezTo>
                  <a:cubicBezTo>
                    <a:pt x="188898" y="308698"/>
                    <a:pt x="175177" y="317824"/>
                    <a:pt x="160036" y="317579"/>
                  </a:cubicBezTo>
                  <a:lnTo>
                    <a:pt x="157559" y="317437"/>
                  </a:lnTo>
                  <a:lnTo>
                    <a:pt x="158639" y="317500"/>
                  </a:lnTo>
                  <a:lnTo>
                    <a:pt x="154305" y="317437"/>
                  </a:lnTo>
                  <a:cubicBezTo>
                    <a:pt x="70167" y="315119"/>
                    <a:pt x="2381" y="247333"/>
                    <a:pt x="63" y="163195"/>
                  </a:cubicBezTo>
                  <a:lnTo>
                    <a:pt x="0" y="158750"/>
                  </a:lnTo>
                  <a:cubicBezTo>
                    <a:pt x="0" y="71072"/>
                    <a:pt x="71072" y="0"/>
                    <a:pt x="158750" y="0"/>
                  </a:cubicBezTo>
                  <a:moveTo>
                    <a:pt x="103187" y="103188"/>
                  </a:moveTo>
                  <a:cubicBezTo>
                    <a:pt x="86572" y="103182"/>
                    <a:pt x="72763" y="115988"/>
                    <a:pt x="71517" y="132556"/>
                  </a:cubicBezTo>
                  <a:lnTo>
                    <a:pt x="71438" y="134938"/>
                  </a:lnTo>
                  <a:cubicBezTo>
                    <a:pt x="71438" y="152473"/>
                    <a:pt x="85652" y="166688"/>
                    <a:pt x="103187" y="166688"/>
                  </a:cubicBezTo>
                  <a:cubicBezTo>
                    <a:pt x="120723" y="166688"/>
                    <a:pt x="134937" y="152473"/>
                    <a:pt x="134937" y="134938"/>
                  </a:cubicBezTo>
                  <a:cubicBezTo>
                    <a:pt x="134937" y="117402"/>
                    <a:pt x="120723" y="103188"/>
                    <a:pt x="103187" y="103188"/>
                  </a:cubicBezTo>
                  <a:moveTo>
                    <a:pt x="230187" y="103188"/>
                  </a:moveTo>
                  <a:cubicBezTo>
                    <a:pt x="213572" y="103182"/>
                    <a:pt x="199763" y="115988"/>
                    <a:pt x="198517" y="132556"/>
                  </a:cubicBezTo>
                  <a:lnTo>
                    <a:pt x="198437" y="134938"/>
                  </a:lnTo>
                  <a:cubicBezTo>
                    <a:pt x="198437" y="152473"/>
                    <a:pt x="212652" y="166688"/>
                    <a:pt x="230187" y="166688"/>
                  </a:cubicBezTo>
                  <a:cubicBezTo>
                    <a:pt x="247723" y="166688"/>
                    <a:pt x="261938" y="152473"/>
                    <a:pt x="261938" y="134938"/>
                  </a:cubicBezTo>
                  <a:cubicBezTo>
                    <a:pt x="261938" y="117402"/>
                    <a:pt x="247723" y="103188"/>
                    <a:pt x="230187" y="103188"/>
                  </a:cubicBezTo>
                  <a:moveTo>
                    <a:pt x="166688" y="55563"/>
                  </a:moveTo>
                  <a:cubicBezTo>
                    <a:pt x="150072" y="55557"/>
                    <a:pt x="136263" y="68363"/>
                    <a:pt x="135017" y="84931"/>
                  </a:cubicBezTo>
                  <a:lnTo>
                    <a:pt x="134937" y="87313"/>
                  </a:lnTo>
                  <a:cubicBezTo>
                    <a:pt x="134937" y="104848"/>
                    <a:pt x="149152" y="119062"/>
                    <a:pt x="166687" y="119062"/>
                  </a:cubicBezTo>
                  <a:cubicBezTo>
                    <a:pt x="184223" y="119062"/>
                    <a:pt x="198437" y="104848"/>
                    <a:pt x="198437" y="87313"/>
                  </a:cubicBezTo>
                  <a:cubicBezTo>
                    <a:pt x="198437" y="69777"/>
                    <a:pt x="184223" y="55563"/>
                    <a:pt x="166687" y="55563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788670" y="3784282"/>
              <a:ext cx="1661312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Claude Design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95338" y="4088606"/>
              <a:ext cx="108958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视觉稿 &amp; 布局</a:t>
              </a:r>
            </a:p>
          </p:txBody>
        </p:sp>
        <p:sp>
          <p:nvSpPr>
            <p:cNvPr id="23" name="Line 23"/>
            <p:cNvSpPr/>
            <p:nvPr/>
          </p:nvSpPr>
          <p:spPr>
            <a:xfrm>
              <a:off x="809625" y="4381500"/>
              <a:ext cx="2981325" cy="9525"/>
            </a:xfrm>
            <a:custGeom>
              <a:avLst/>
              <a:gdLst/>
              <a:ahLst/>
              <a:cxnLst/>
              <a:rect l="l" t="t" r="r" b="b"/>
              <a:pathLst>
                <a:path w="2981325" h="9525">
                  <a:moveTo>
                    <a:pt x="0" y="0"/>
                  </a:moveTo>
                  <a:lnTo>
                    <a:pt x="2981325" y="0"/>
                  </a:lnTo>
                </a:path>
              </a:pathLst>
            </a:custGeom>
            <a:noFill/>
            <a:ln w="14288">
              <a:solidFill>
                <a:srgbClr val="F0EDE8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92480" y="4521518"/>
              <a:ext cx="200596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· 网站风格 &amp; 配色方案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92480" y="4788218"/>
              <a:ext cx="200596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· 页面布局 &amp; 信息结构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92480" y="5054918"/>
              <a:ext cx="196653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· 5 秒法则 brief 技巧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09625" y="5524500"/>
              <a:ext cx="914400" cy="266700"/>
            </a:xfrm>
            <a:prstGeom prst="roundRect">
              <a:avLst>
                <a:gd name="adj" fmla="val 50000"/>
              </a:avLst>
            </a:prstGeom>
            <a:solidFill>
              <a:srgbClr val="F0EDE8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839528" y="5590699"/>
              <a:ext cx="85459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理论 + Demo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4610100" y="1866900"/>
            <a:ext cx="3409950" cy="4133850"/>
            <a:chOff x="4610100" y="1866900"/>
            <a:chExt cx="3409950" cy="4133850"/>
          </a:xfrm>
        </p:grpSpPr>
        <p:sp>
          <p:nvSpPr>
            <p:cNvPr id="30" name="Ellipse 30"/>
            <p:cNvSpPr/>
            <p:nvPr/>
          </p:nvSpPr>
          <p:spPr>
            <a:xfrm>
              <a:off x="5676900" y="1866900"/>
              <a:ext cx="838200" cy="838200"/>
            </a:xfrm>
            <a:prstGeom prst="ellipse">
              <a:avLst/>
            </a:prstGeom>
            <a:solidFill>
              <a:srgbClr val="3D7DE4">
                <a:alpha val="12000"/>
              </a:srgbClr>
            </a:solidFill>
            <a:ln>
              <a:noFill/>
            </a:ln>
          </p:spPr>
        </p:sp>
        <p:sp>
          <p:nvSpPr>
            <p:cNvPr id="31" name="Ellipse 31"/>
            <p:cNvSpPr/>
            <p:nvPr/>
          </p:nvSpPr>
          <p:spPr>
            <a:xfrm>
              <a:off x="5772150" y="1962150"/>
              <a:ext cx="647700" cy="647700"/>
            </a:xfrm>
            <a:prstGeom prst="ellipse">
              <a:avLst/>
            </a:prstGeom>
            <a:solidFill>
              <a:srgbClr val="3D7DE4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5935878" y="2060258"/>
              <a:ext cx="320245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5973563" y="2327434"/>
              <a:ext cx="244873" cy="137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6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STEP</a:t>
              </a:r>
            </a:p>
          </p:txBody>
        </p:sp>
        <p:sp>
          <p:nvSpPr>
            <p:cNvPr id="34" name="Line 34"/>
            <p:cNvSpPr/>
            <p:nvPr/>
          </p:nvSpPr>
          <p:spPr>
            <a:xfrm>
              <a:off x="6096000" y="2609850"/>
              <a:ext cx="9525" cy="342900"/>
            </a:xfrm>
            <a:custGeom>
              <a:avLst/>
              <a:gdLst/>
              <a:ahLst/>
              <a:cxnLst/>
              <a:rect l="l" t="t" r="r" b="b"/>
              <a:pathLst>
                <a:path w="9525"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noFill/>
            <a:ln w="19050">
              <a:solidFill>
                <a:srgbClr val="3D7DE4">
                  <a:alpha val="50000"/>
                </a:srgbClr>
              </a:solidFill>
              <a:custDash>
                <a:ds d="200000" sp="150000"/>
              </a:custDash>
            </a:ln>
          </p:spPr>
        </p:sp>
        <p:sp>
          <p:nvSpPr>
            <p:cNvPr id="35" name="Rectangle 35"/>
            <p:cNvSpPr/>
            <p:nvPr/>
          </p:nvSpPr>
          <p:spPr>
            <a:xfrm>
              <a:off x="4610100" y="2952750"/>
              <a:ext cx="3409950" cy="3048000"/>
            </a:xfrm>
            <a:prstGeom prst="roundRect">
              <a:avLst>
                <a:gd name="adj" fmla="val 3750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610100" y="2952750"/>
              <a:ext cx="47625" cy="3048000"/>
            </a:xfrm>
            <a:prstGeom prst="roundRect">
              <a:avLst>
                <a:gd name="adj" fmla="val 40000"/>
              </a:avLst>
            </a:prstGeom>
            <a:solidFill>
              <a:srgbClr val="3D7DE4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848225" y="3219450"/>
              <a:ext cx="495300" cy="495300"/>
            </a:xfrm>
            <a:prstGeom prst="roundRect">
              <a:avLst>
                <a:gd name="adj" fmla="val 19231"/>
              </a:avLst>
            </a:prstGeom>
            <a:solidFill>
              <a:srgbClr val="3D7DE4">
                <a:alpha val="10000"/>
              </a:srgbClr>
            </a:solidFill>
            <a:ln>
              <a:noFill/>
            </a:ln>
          </p:spPr>
        </p:sp>
        <p:sp>
          <p:nvSpPr>
            <p:cNvPr id="38" name="Freeform 38"/>
            <p:cNvSpPr/>
            <p:nvPr/>
          </p:nvSpPr>
          <p:spPr>
            <a:xfrm>
              <a:off x="4937123" y="3301239"/>
              <a:ext cx="334278" cy="335582"/>
            </a:xfrm>
            <a:custGeom>
              <a:avLst/>
              <a:gdLst/>
              <a:ahLst/>
              <a:cxnLst/>
              <a:rect l="l" t="t" r="r" b="b"/>
              <a:pathLst>
                <a:path w="334278" h="335582">
                  <a:moveTo>
                    <a:pt x="238127" y="28384"/>
                  </a:moveTo>
                  <a:cubicBezTo>
                    <a:pt x="304846" y="66904"/>
                    <a:pt x="334278" y="147768"/>
                    <a:pt x="307928" y="220162"/>
                  </a:cubicBezTo>
                  <a:cubicBezTo>
                    <a:pt x="281578" y="292557"/>
                    <a:pt x="207053" y="335582"/>
                    <a:pt x="131183" y="322203"/>
                  </a:cubicBezTo>
                  <a:cubicBezTo>
                    <a:pt x="55312" y="308824"/>
                    <a:pt x="0" y="242902"/>
                    <a:pt x="2" y="165861"/>
                  </a:cubicBezTo>
                  <a:lnTo>
                    <a:pt x="81" y="160718"/>
                  </a:lnTo>
                  <a:cubicBezTo>
                    <a:pt x="1890" y="104948"/>
                    <a:pt x="32845" y="54223"/>
                    <a:pt x="81614" y="27112"/>
                  </a:cubicBezTo>
                  <a:cubicBezTo>
                    <a:pt x="130383" y="0"/>
                    <a:pt x="189805" y="483"/>
                    <a:pt x="238127" y="28384"/>
                  </a:cubicBezTo>
                  <a:moveTo>
                    <a:pt x="138226" y="122887"/>
                  </a:moveTo>
                  <a:cubicBezTo>
                    <a:pt x="132026" y="116690"/>
                    <a:pt x="121978" y="116690"/>
                    <a:pt x="115778" y="122887"/>
                  </a:cubicBezTo>
                  <a:lnTo>
                    <a:pt x="84028" y="154637"/>
                  </a:lnTo>
                  <a:cubicBezTo>
                    <a:pt x="77831" y="160837"/>
                    <a:pt x="77831" y="170885"/>
                    <a:pt x="84028" y="177085"/>
                  </a:cubicBezTo>
                  <a:lnTo>
                    <a:pt x="115778" y="208835"/>
                  </a:lnTo>
                  <a:cubicBezTo>
                    <a:pt x="121978" y="215032"/>
                    <a:pt x="132026" y="215032"/>
                    <a:pt x="138226" y="208835"/>
                  </a:cubicBezTo>
                  <a:lnTo>
                    <a:pt x="139543" y="207342"/>
                  </a:lnTo>
                  <a:cubicBezTo>
                    <a:pt x="144445" y="201023"/>
                    <a:pt x="143881" y="192043"/>
                    <a:pt x="138226" y="186387"/>
                  </a:cubicBezTo>
                  <a:lnTo>
                    <a:pt x="117715" y="165861"/>
                  </a:lnTo>
                  <a:lnTo>
                    <a:pt x="138226" y="145335"/>
                  </a:lnTo>
                  <a:cubicBezTo>
                    <a:pt x="144423" y="139135"/>
                    <a:pt x="144423" y="129087"/>
                    <a:pt x="138226" y="122887"/>
                  </a:cubicBezTo>
                  <a:moveTo>
                    <a:pt x="201726" y="122887"/>
                  </a:moveTo>
                  <a:cubicBezTo>
                    <a:pt x="195526" y="116690"/>
                    <a:pt x="185478" y="116690"/>
                    <a:pt x="179278" y="122887"/>
                  </a:cubicBezTo>
                  <a:lnTo>
                    <a:pt x="177961" y="124380"/>
                  </a:lnTo>
                  <a:cubicBezTo>
                    <a:pt x="173058" y="130699"/>
                    <a:pt x="173623" y="139679"/>
                    <a:pt x="179278" y="145335"/>
                  </a:cubicBezTo>
                  <a:lnTo>
                    <a:pt x="199789" y="165861"/>
                  </a:lnTo>
                  <a:lnTo>
                    <a:pt x="179278" y="186387"/>
                  </a:lnTo>
                  <a:cubicBezTo>
                    <a:pt x="173262" y="192616"/>
                    <a:pt x="173348" y="202518"/>
                    <a:pt x="179472" y="208641"/>
                  </a:cubicBezTo>
                  <a:cubicBezTo>
                    <a:pt x="185595" y="214765"/>
                    <a:pt x="195497" y="214851"/>
                    <a:pt x="201726" y="208835"/>
                  </a:cubicBezTo>
                  <a:lnTo>
                    <a:pt x="233476" y="177085"/>
                  </a:lnTo>
                  <a:cubicBezTo>
                    <a:pt x="239673" y="170885"/>
                    <a:pt x="239673" y="160837"/>
                    <a:pt x="233476" y="154637"/>
                  </a:cubicBezTo>
                  <a:close/>
                </a:path>
              </a:pathLst>
            </a:custGeom>
            <a:solidFill>
              <a:srgbClr val="3D7DE4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827270" y="3784282"/>
              <a:ext cx="1446236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Claude Code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833938" y="4088606"/>
              <a:ext cx="126210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3D7DE4"/>
                  </a:solidFill>
                  <a:latin typeface="Arial"/>
                  <a:ea typeface="Microsoft YaHei"/>
                  <a:cs typeface="Arial"/>
                </a:rPr>
                <a:t>代码实现 &amp; 调试</a:t>
              </a:r>
            </a:p>
          </p:txBody>
        </p:sp>
        <p:sp>
          <p:nvSpPr>
            <p:cNvPr id="41" name="Line 41"/>
            <p:cNvSpPr/>
            <p:nvPr/>
          </p:nvSpPr>
          <p:spPr>
            <a:xfrm>
              <a:off x="4848225" y="4381500"/>
              <a:ext cx="2981325" cy="9525"/>
            </a:xfrm>
            <a:custGeom>
              <a:avLst/>
              <a:gdLst/>
              <a:ahLst/>
              <a:cxnLst/>
              <a:rect l="l" t="t" r="r" b="b"/>
              <a:pathLst>
                <a:path w="2981325" h="9525">
                  <a:moveTo>
                    <a:pt x="0" y="0"/>
                  </a:moveTo>
                  <a:lnTo>
                    <a:pt x="2981325" y="0"/>
                  </a:lnTo>
                </a:path>
              </a:pathLst>
            </a:custGeom>
            <a:noFill/>
            <a:ln w="14288">
              <a:solidFill>
                <a:srgbClr val="EBF0FA"/>
              </a:solidFill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4831080" y="4521518"/>
              <a:ext cx="222284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· CLAUDE.md 项目 brief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4831080" y="4788218"/>
              <a:ext cx="177922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· 多页面一致性保障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4831080" y="5054918"/>
              <a:ext cx="24003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· 彩蛋：访客问题 chatbot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4848225" y="5524500"/>
              <a:ext cx="914400" cy="266700"/>
            </a:xfrm>
            <a:prstGeom prst="roundRect">
              <a:avLst>
                <a:gd name="adj" fmla="val 50000"/>
              </a:avLst>
            </a:prstGeom>
            <a:solidFill>
              <a:srgbClr val="EBF0FA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4919246" y="5590699"/>
              <a:ext cx="772358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3D7DE4"/>
                  </a:solidFill>
                  <a:latin typeface="Arial"/>
                  <a:ea typeface="Microsoft YaHei"/>
                  <a:cs typeface="Arial"/>
                </a:rPr>
                <a:t>跟我做实战</a:t>
              </a:r>
            </a:p>
          </p:txBody>
        </p:sp>
      </p:grpSp>
      <p:grpSp>
        <p:nvGrpSpPr>
          <p:cNvPr id="69" name="Group 69"/>
          <p:cNvGrpSpPr/>
          <p:nvPr/>
        </p:nvGrpSpPr>
        <p:grpSpPr>
          <a:xfrm>
            <a:off x="8648700" y="1866900"/>
            <a:ext cx="3409950" cy="4133850"/>
            <a:chOff x="8648700" y="1866900"/>
            <a:chExt cx="3409950" cy="4133850"/>
          </a:xfrm>
        </p:grpSpPr>
        <p:sp>
          <p:nvSpPr>
            <p:cNvPr id="48" name="Ellipse 48"/>
            <p:cNvSpPr/>
            <p:nvPr/>
          </p:nvSpPr>
          <p:spPr>
            <a:xfrm>
              <a:off x="9715500" y="1866900"/>
              <a:ext cx="838200" cy="838200"/>
            </a:xfrm>
            <a:prstGeom prst="ellipse">
              <a:avLst/>
            </a:prstGeom>
            <a:solidFill>
              <a:srgbClr val="3A9E6A">
                <a:alpha val="12000"/>
              </a:srgbClr>
            </a:solidFill>
            <a:ln>
              <a:noFill/>
            </a:ln>
          </p:spPr>
        </p:sp>
        <p:sp>
          <p:nvSpPr>
            <p:cNvPr id="49" name="Ellipse 49"/>
            <p:cNvSpPr/>
            <p:nvPr/>
          </p:nvSpPr>
          <p:spPr>
            <a:xfrm>
              <a:off x="9810750" y="1962150"/>
              <a:ext cx="647700" cy="647700"/>
            </a:xfrm>
            <a:prstGeom prst="ellipse">
              <a:avLst/>
            </a:prstGeom>
            <a:solidFill>
              <a:srgbClr val="3A9E6A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9974478" y="2060258"/>
              <a:ext cx="320245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0012163" y="2327434"/>
              <a:ext cx="244873" cy="137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6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STEP</a:t>
              </a:r>
            </a:p>
          </p:txBody>
        </p:sp>
        <p:sp>
          <p:nvSpPr>
            <p:cNvPr id="52" name="Line 52"/>
            <p:cNvSpPr/>
            <p:nvPr/>
          </p:nvSpPr>
          <p:spPr>
            <a:xfrm>
              <a:off x="10134600" y="2609850"/>
              <a:ext cx="9525" cy="342900"/>
            </a:xfrm>
            <a:custGeom>
              <a:avLst/>
              <a:gdLst/>
              <a:ahLst/>
              <a:cxnLst/>
              <a:rect l="l" t="t" r="r" b="b"/>
              <a:pathLst>
                <a:path w="9525"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noFill/>
            <a:ln w="19050">
              <a:solidFill>
                <a:srgbClr val="3A9E6A">
                  <a:alpha val="50000"/>
                </a:srgbClr>
              </a:solidFill>
              <a:custDash>
                <a:ds d="200000" sp="150000"/>
              </a:custDash>
            </a:ln>
          </p:spPr>
        </p:sp>
        <p:sp>
          <p:nvSpPr>
            <p:cNvPr id="53" name="Rectangle 53"/>
            <p:cNvSpPr/>
            <p:nvPr/>
          </p:nvSpPr>
          <p:spPr>
            <a:xfrm>
              <a:off x="8648700" y="2952750"/>
              <a:ext cx="3409950" cy="3048000"/>
            </a:xfrm>
            <a:prstGeom prst="roundRect">
              <a:avLst>
                <a:gd name="adj" fmla="val 3750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54" name="Rectangle 54"/>
            <p:cNvSpPr/>
            <p:nvPr/>
          </p:nvSpPr>
          <p:spPr>
            <a:xfrm>
              <a:off x="8648700" y="2952750"/>
              <a:ext cx="47625" cy="3048000"/>
            </a:xfrm>
            <a:prstGeom prst="roundRect">
              <a:avLst>
                <a:gd name="adj" fmla="val 40000"/>
              </a:avLst>
            </a:prstGeom>
            <a:solidFill>
              <a:srgbClr val="3A9E6A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8886825" y="3219450"/>
              <a:ext cx="495300" cy="495300"/>
            </a:xfrm>
            <a:prstGeom prst="roundRect">
              <a:avLst>
                <a:gd name="adj" fmla="val 19231"/>
              </a:avLst>
            </a:prstGeom>
            <a:solidFill>
              <a:srgbClr val="3A9E6A">
                <a:alpha val="10000"/>
              </a:srgbClr>
            </a:solidFill>
            <a:ln>
              <a:noFill/>
            </a:ln>
          </p:spPr>
        </p:sp>
        <p:grpSp>
          <p:nvGrpSpPr>
            <p:cNvPr id="60" name="Group 60"/>
            <p:cNvGrpSpPr/>
            <p:nvPr/>
          </p:nvGrpSpPr>
          <p:grpSpPr>
            <a:xfrm>
              <a:off x="9017519" y="3290222"/>
              <a:ext cx="247409" cy="336075"/>
              <a:chOff x="9017519" y="3290222"/>
              <a:chExt cx="247409" cy="336075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9039225" y="3340097"/>
                <a:ext cx="159376" cy="159976"/>
              </a:xfrm>
              <a:custGeom>
                <a:avLst/>
                <a:gdLst/>
                <a:ahLst/>
                <a:cxnLst/>
                <a:rect l="l" t="t" r="r" b="b"/>
                <a:pathLst>
                  <a:path w="159376" h="159976">
                    <a:moveTo>
                      <a:pt x="79375" y="3"/>
                    </a:moveTo>
                    <a:cubicBezTo>
                      <a:pt x="122765" y="0"/>
                      <a:pt x="158117" y="34840"/>
                      <a:pt x="158746" y="78226"/>
                    </a:cubicBezTo>
                    <a:cubicBezTo>
                      <a:pt x="159376" y="121612"/>
                      <a:pt x="125050" y="157463"/>
                      <a:pt x="81678" y="158719"/>
                    </a:cubicBezTo>
                    <a:cubicBezTo>
                      <a:pt x="38306" y="159976"/>
                      <a:pt x="1963" y="126172"/>
                      <a:pt x="79" y="82822"/>
                    </a:cubicBezTo>
                    <a:lnTo>
                      <a:pt x="0" y="79378"/>
                    </a:lnTo>
                    <a:lnTo>
                      <a:pt x="79" y="75933"/>
                    </a:lnTo>
                    <a:cubicBezTo>
                      <a:pt x="1924" y="33477"/>
                      <a:pt x="36879" y="5"/>
                      <a:pt x="79375" y="3"/>
                    </a:cubicBezTo>
                    <a:close/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9017519" y="3290222"/>
                <a:ext cx="247409" cy="281479"/>
              </a:xfrm>
              <a:custGeom>
                <a:avLst/>
                <a:gdLst/>
                <a:ahLst/>
                <a:cxnLst/>
                <a:rect l="l" t="t" r="r" b="b"/>
                <a:pathLst>
                  <a:path w="247409" h="281479">
                    <a:moveTo>
                      <a:pt x="150817" y="10223"/>
                    </a:moveTo>
                    <a:cubicBezTo>
                      <a:pt x="155184" y="2622"/>
                      <a:pt x="164885" y="0"/>
                      <a:pt x="172487" y="4365"/>
                    </a:cubicBezTo>
                    <a:cubicBezTo>
                      <a:pt x="219688" y="31494"/>
                      <a:pt x="247409" y="83056"/>
                      <a:pt x="244005" y="137392"/>
                    </a:cubicBezTo>
                    <a:cubicBezTo>
                      <a:pt x="240601" y="191728"/>
                      <a:pt x="206662" y="239427"/>
                      <a:pt x="156443" y="260453"/>
                    </a:cubicBezTo>
                    <a:cubicBezTo>
                      <a:pt x="106225" y="281479"/>
                      <a:pt x="48425" y="272191"/>
                      <a:pt x="7323" y="236489"/>
                    </a:cubicBezTo>
                    <a:cubicBezTo>
                      <a:pt x="704" y="230738"/>
                      <a:pt x="0" y="220709"/>
                      <a:pt x="5751" y="214089"/>
                    </a:cubicBezTo>
                    <a:cubicBezTo>
                      <a:pt x="11503" y="207470"/>
                      <a:pt x="21532" y="206766"/>
                      <a:pt x="28151" y="212518"/>
                    </a:cubicBezTo>
                    <a:cubicBezTo>
                      <a:pt x="60135" y="240298"/>
                      <a:pt x="105110" y="247526"/>
                      <a:pt x="144187" y="231165"/>
                    </a:cubicBezTo>
                    <a:cubicBezTo>
                      <a:pt x="183264" y="214803"/>
                      <a:pt x="209674" y="177688"/>
                      <a:pt x="212323" y="135407"/>
                    </a:cubicBezTo>
                    <a:cubicBezTo>
                      <a:pt x="214973" y="93126"/>
                      <a:pt x="193404" y="53004"/>
                      <a:pt x="156675" y="31892"/>
                    </a:cubicBezTo>
                    <a:cubicBezTo>
                      <a:pt x="149075" y="27525"/>
                      <a:pt x="146452" y="17824"/>
                      <a:pt x="150817" y="10223"/>
                    </a:cubicBezTo>
                    <a:close/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</p:sp>
          <p:sp>
            <p:nvSpPr>
              <p:cNvPr id="58" name="Freeform 58"/>
              <p:cNvSpPr/>
              <p:nvPr/>
            </p:nvSpPr>
            <p:spPr>
              <a:xfrm>
                <a:off x="9102725" y="3530600"/>
                <a:ext cx="31750" cy="95697"/>
              </a:xfrm>
              <a:custGeom>
                <a:avLst/>
                <a:gdLst/>
                <a:ahLst/>
                <a:cxnLst/>
                <a:rect l="l" t="t" r="r" b="b"/>
                <a:pathLst>
                  <a:path w="31750" h="95697">
                    <a:moveTo>
                      <a:pt x="15875" y="0"/>
                    </a:moveTo>
                    <a:cubicBezTo>
                      <a:pt x="23923" y="1"/>
                      <a:pt x="30697" y="6025"/>
                      <a:pt x="31639" y="14018"/>
                    </a:cubicBezTo>
                    <a:lnTo>
                      <a:pt x="31750" y="15875"/>
                    </a:lnTo>
                    <a:lnTo>
                      <a:pt x="31750" y="79375"/>
                    </a:lnTo>
                    <a:cubicBezTo>
                      <a:pt x="31741" y="87774"/>
                      <a:pt x="25190" y="94713"/>
                      <a:pt x="16805" y="95205"/>
                    </a:cubicBezTo>
                    <a:cubicBezTo>
                      <a:pt x="8420" y="95697"/>
                      <a:pt x="1103" y="89573"/>
                      <a:pt x="111" y="81232"/>
                    </a:cubicBezTo>
                    <a:lnTo>
                      <a:pt x="0" y="79375"/>
                    </a:ln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close/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</p:sp>
          <p:sp>
            <p:nvSpPr>
              <p:cNvPr id="59" name="Freeform 59"/>
              <p:cNvSpPr/>
              <p:nvPr/>
            </p:nvSpPr>
            <p:spPr>
              <a:xfrm>
                <a:off x="9038778" y="3594100"/>
                <a:ext cx="159645" cy="31750"/>
              </a:xfrm>
              <a:custGeom>
                <a:avLst/>
                <a:gdLst/>
                <a:ahLst/>
                <a:cxnLst/>
                <a:rect l="l" t="t" r="r" b="b"/>
                <a:pathLst>
                  <a:path w="159645" h="31750">
                    <a:moveTo>
                      <a:pt x="143322" y="0"/>
                    </a:moveTo>
                    <a:cubicBezTo>
                      <a:pt x="151722" y="9"/>
                      <a:pt x="158660" y="6560"/>
                      <a:pt x="159152" y="14945"/>
                    </a:cubicBezTo>
                    <a:cubicBezTo>
                      <a:pt x="159645" y="23330"/>
                      <a:pt x="153520" y="30647"/>
                      <a:pt x="145180" y="31639"/>
                    </a:cubicBezTo>
                    <a:lnTo>
                      <a:pt x="143322" y="31750"/>
                    </a:lnTo>
                    <a:lnTo>
                      <a:pt x="16322" y="31750"/>
                    </a:lnTo>
                    <a:cubicBezTo>
                      <a:pt x="7923" y="31741"/>
                      <a:pt x="984" y="25190"/>
                      <a:pt x="492" y="16805"/>
                    </a:cubicBezTo>
                    <a:cubicBezTo>
                      <a:pt x="0" y="8420"/>
                      <a:pt x="6124" y="1103"/>
                      <a:pt x="14465" y="111"/>
                    </a:cubicBezTo>
                    <a:lnTo>
                      <a:pt x="16322" y="0"/>
                    </a:lnTo>
                    <a:lnTo>
                      <a:pt x="143322" y="0"/>
                    </a:lnTo>
                    <a:close/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</p:sp>
        </p:grpSp>
        <p:sp>
          <p:nvSpPr>
            <p:cNvPr id="61" name="TextBox 61"/>
            <p:cNvSpPr txBox="1"/>
            <p:nvPr/>
          </p:nvSpPr>
          <p:spPr>
            <a:xfrm>
              <a:off x="8865870" y="3784282"/>
              <a:ext cx="1054036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上线发布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8872538" y="4088606"/>
              <a:ext cx="126210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3A9E6A"/>
                  </a:solidFill>
                  <a:latin typeface="Arial"/>
                  <a:ea typeface="Microsoft YaHei"/>
                  <a:cs typeface="Arial"/>
                </a:rPr>
                <a:t>部署 &amp; 对外开放</a:t>
              </a:r>
            </a:p>
          </p:txBody>
        </p:sp>
        <p:sp>
          <p:nvSpPr>
            <p:cNvPr id="63" name="Line 63"/>
            <p:cNvSpPr/>
            <p:nvPr/>
          </p:nvSpPr>
          <p:spPr>
            <a:xfrm>
              <a:off x="8886825" y="4381500"/>
              <a:ext cx="2981325" cy="9525"/>
            </a:xfrm>
            <a:custGeom>
              <a:avLst/>
              <a:gdLst/>
              <a:ahLst/>
              <a:cxnLst/>
              <a:rect l="l" t="t" r="r" b="b"/>
              <a:pathLst>
                <a:path w="2981325" h="9525">
                  <a:moveTo>
                    <a:pt x="0" y="0"/>
                  </a:moveTo>
                  <a:lnTo>
                    <a:pt x="2981325" y="0"/>
                  </a:lnTo>
                </a:path>
              </a:pathLst>
            </a:custGeom>
            <a:noFill/>
            <a:ln w="14288">
              <a:solidFill>
                <a:srgbClr val="E8F5EE"/>
              </a:solidFill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8869680" y="4521518"/>
              <a:ext cx="215384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· Git + Vercel 自动部署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8869680" y="4788218"/>
              <a:ext cx="158205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· 自定义域名配置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8869680" y="5054918"/>
              <a:ext cx="158205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· 发布给真实用户</a:t>
              </a:r>
            </a:p>
          </p:txBody>
        </p:sp>
        <p:sp>
          <p:nvSpPr>
            <p:cNvPr id="67" name="Rectangle 67"/>
            <p:cNvSpPr/>
            <p:nvPr/>
          </p:nvSpPr>
          <p:spPr>
            <a:xfrm>
              <a:off x="8886825" y="5524500"/>
              <a:ext cx="914400" cy="266700"/>
            </a:xfrm>
            <a:prstGeom prst="roundRect">
              <a:avLst>
                <a:gd name="adj" fmla="val 50000"/>
              </a:avLst>
            </a:prstGeom>
            <a:solidFill>
              <a:srgbClr val="E8F5EE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9032605" y="5590699"/>
              <a:ext cx="62284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3A9E6A"/>
                  </a:solidFill>
                  <a:latin typeface="Arial"/>
                  <a:ea typeface="Microsoft YaHei"/>
                  <a:cs typeface="Arial"/>
                </a:rPr>
                <a:t>最终成果</a:t>
              </a:r>
            </a:p>
          </p:txBody>
        </p:sp>
      </p:grpSp>
      <p:sp>
        <p:nvSpPr>
          <p:cNvPr id="70" name="TextBox 70"/>
          <p:cNvSpPr txBox="1"/>
          <p:nvPr/>
        </p:nvSpPr>
        <p:spPr>
          <a:xfrm>
            <a:off x="11093434" y="6554152"/>
            <a:ext cx="54040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03 / 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4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15" dur="4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47" grpId="0"/>
      <p:bldP spid="69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762000" y="356235"/>
            <a:ext cx="10668000" cy="796290"/>
            <a:chOff x="762000" y="356235"/>
            <a:chExt cx="10668000" cy="796290"/>
          </a:xfrm>
        </p:grpSpPr>
        <p:sp>
          <p:nvSpPr>
            <p:cNvPr id="4" name="TextBox 4"/>
            <p:cNvSpPr txBox="1"/>
            <p:nvPr/>
          </p:nvSpPr>
          <p:spPr>
            <a:xfrm>
              <a:off x="3639507" y="356235"/>
              <a:ext cx="4912985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7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Claude Design 能做什么？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4074890" y="774382"/>
              <a:ext cx="4042219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五大核心能力 · 让 AI 成为你的设计师</a:t>
              </a:r>
            </a:p>
          </p:txBody>
        </p:sp>
        <p:sp>
          <p:nvSpPr>
            <p:cNvPr id="6" name="Line 6"/>
            <p:cNvSpPr/>
            <p:nvPr/>
          </p:nvSpPr>
          <p:spPr>
            <a:xfrm>
              <a:off x="762000" y="1143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4288">
              <a:solidFill>
                <a:srgbClr val="E0D8D0"/>
              </a:solidFill>
            </a:ln>
          </p:spPr>
        </p:sp>
      </p:grpSp>
      <p:grpSp>
        <p:nvGrpSpPr>
          <p:cNvPr id="26" name="Group 26"/>
          <p:cNvGrpSpPr/>
          <p:nvPr/>
        </p:nvGrpSpPr>
        <p:grpSpPr>
          <a:xfrm>
            <a:off x="762000" y="1352550"/>
            <a:ext cx="3390900" cy="2095500"/>
            <a:chOff x="762000" y="1352550"/>
            <a:chExt cx="3390900" cy="2095500"/>
          </a:xfrm>
        </p:grpSpPr>
        <p:sp>
          <p:nvSpPr>
            <p:cNvPr id="8" name="Rectangle 8"/>
            <p:cNvSpPr/>
            <p:nvPr/>
          </p:nvSpPr>
          <p:spPr>
            <a:xfrm>
              <a:off x="762000" y="1352550"/>
              <a:ext cx="3390900" cy="2095500"/>
            </a:xfrm>
            <a:prstGeom prst="roundRect">
              <a:avLst>
                <a:gd name="adj" fmla="val 6364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1352550"/>
              <a:ext cx="3390900" cy="47625"/>
            </a:xfrm>
            <a:prstGeom prst="roundRect">
              <a:avLst>
                <a:gd name="adj" fmla="val 50000"/>
              </a:avLst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3361592" y="1546860"/>
              <a:ext cx="654148" cy="853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4200" b="1" dirty="0">
                  <a:solidFill>
                    <a:srgbClr val="C96133">
                      <a:alphaMod val="6000"/>
                    </a:srgbClr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1009650" y="1600200"/>
              <a:ext cx="457200" cy="457200"/>
            </a:xfrm>
            <a:prstGeom prst="roundRect">
              <a:avLst>
                <a:gd name="adj" fmla="val 20833"/>
              </a:avLst>
            </a:prstGeom>
            <a:solidFill>
              <a:srgbClr val="C96133">
                <a:alpha val="10000"/>
              </a:srgbClr>
            </a:solidFill>
            <a:ln>
              <a:noFill/>
            </a:ln>
          </p:spPr>
        </p:sp>
        <p:grpSp>
          <p:nvGrpSpPr>
            <p:cNvPr id="21" name="Group 21"/>
            <p:cNvGrpSpPr/>
            <p:nvPr/>
          </p:nvGrpSpPr>
          <p:grpSpPr>
            <a:xfrm>
              <a:off x="1094972" y="1685925"/>
              <a:ext cx="286556" cy="286152"/>
              <a:chOff x="1094972" y="1685925"/>
              <a:chExt cx="286556" cy="286152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1166812" y="1757362"/>
                <a:ext cx="14287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42875">
                    <a:moveTo>
                      <a:pt x="114300" y="0"/>
                    </a:moveTo>
                    <a:lnTo>
                      <a:pt x="28575" y="0"/>
                    </a:lnTo>
                    <a:cubicBezTo>
                      <a:pt x="12793" y="0"/>
                      <a:pt x="0" y="12793"/>
                      <a:pt x="0" y="28575"/>
                    </a:cubicBezTo>
                    <a:lnTo>
                      <a:pt x="0" y="114300"/>
                    </a:lnTo>
                    <a:cubicBezTo>
                      <a:pt x="0" y="130082"/>
                      <a:pt x="12793" y="142875"/>
                      <a:pt x="28575" y="142875"/>
                    </a:cubicBezTo>
                    <a:lnTo>
                      <a:pt x="114300" y="142875"/>
                    </a:lnTo>
                    <a:cubicBezTo>
                      <a:pt x="130082" y="142875"/>
                      <a:pt x="142875" y="130082"/>
                      <a:pt x="142875" y="114300"/>
                    </a:cubicBezTo>
                    <a:lnTo>
                      <a:pt x="142875" y="28575"/>
                    </a:lnTo>
                    <a:cubicBezTo>
                      <a:pt x="142875" y="12793"/>
                      <a:pt x="130082" y="0"/>
                      <a:pt x="114300" y="0"/>
                    </a:cubicBez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1094972" y="1757362"/>
                <a:ext cx="43668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43668" h="28575">
                    <a:moveTo>
                      <a:pt x="28978" y="0"/>
                    </a:moveTo>
                    <a:cubicBezTo>
                      <a:pt x="36537" y="8"/>
                      <a:pt x="42782" y="5904"/>
                      <a:pt x="43225" y="13450"/>
                    </a:cubicBezTo>
                    <a:cubicBezTo>
                      <a:pt x="43668" y="20997"/>
                      <a:pt x="38156" y="27582"/>
                      <a:pt x="30649" y="28475"/>
                    </a:cubicBezTo>
                    <a:lnTo>
                      <a:pt x="28978" y="28575"/>
                    </a:lnTo>
                    <a:lnTo>
                      <a:pt x="14690" y="28575"/>
                    </a:lnTo>
                    <a:cubicBezTo>
                      <a:pt x="7131" y="28567"/>
                      <a:pt x="886" y="22671"/>
                      <a:pt x="443" y="15125"/>
                    </a:cubicBezTo>
                    <a:cubicBezTo>
                      <a:pt x="0" y="7578"/>
                      <a:pt x="5512" y="993"/>
                      <a:pt x="13018" y="100"/>
                    </a:cubicBezTo>
                    <a:lnTo>
                      <a:pt x="14690" y="0"/>
                    </a:lnTo>
                    <a:lnTo>
                      <a:pt x="28978" y="0"/>
                    </a:ln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1094972" y="1871662"/>
                <a:ext cx="43668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43668" h="28575">
                    <a:moveTo>
                      <a:pt x="28978" y="0"/>
                    </a:moveTo>
                    <a:cubicBezTo>
                      <a:pt x="36537" y="8"/>
                      <a:pt x="42782" y="5904"/>
                      <a:pt x="43225" y="13450"/>
                    </a:cubicBezTo>
                    <a:cubicBezTo>
                      <a:pt x="43668" y="20997"/>
                      <a:pt x="38156" y="27582"/>
                      <a:pt x="30649" y="28475"/>
                    </a:cubicBezTo>
                    <a:lnTo>
                      <a:pt x="28978" y="28575"/>
                    </a:lnTo>
                    <a:lnTo>
                      <a:pt x="14690" y="28575"/>
                    </a:lnTo>
                    <a:cubicBezTo>
                      <a:pt x="7131" y="28567"/>
                      <a:pt x="886" y="22671"/>
                      <a:pt x="443" y="15125"/>
                    </a:cubicBezTo>
                    <a:cubicBezTo>
                      <a:pt x="0" y="7578"/>
                      <a:pt x="5512" y="993"/>
                      <a:pt x="13018" y="100"/>
                    </a:cubicBezTo>
                    <a:lnTo>
                      <a:pt x="14690" y="0"/>
                    </a:lnTo>
                    <a:lnTo>
                      <a:pt x="28978" y="0"/>
                    </a:ln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1166812" y="1685925"/>
                <a:ext cx="28575" cy="43265"/>
              </a:xfrm>
              <a:custGeom>
                <a:avLst/>
                <a:gdLst/>
                <a:ahLst/>
                <a:cxnLst/>
                <a:rect l="l" t="t" r="r" b="b"/>
                <a:pathLst>
                  <a:path w="28575" h="43265">
                    <a:moveTo>
                      <a:pt x="14288" y="0"/>
                    </a:moveTo>
                    <a:cubicBezTo>
                      <a:pt x="21531" y="1"/>
                      <a:pt x="27628" y="5422"/>
                      <a:pt x="28475" y="12616"/>
                    </a:cubicBezTo>
                    <a:lnTo>
                      <a:pt x="28575" y="14288"/>
                    </a:lnTo>
                    <a:lnTo>
                      <a:pt x="28575" y="28575"/>
                    </a:lnTo>
                    <a:cubicBezTo>
                      <a:pt x="28567" y="36134"/>
                      <a:pt x="22671" y="42379"/>
                      <a:pt x="15125" y="42822"/>
                    </a:cubicBezTo>
                    <a:cubicBezTo>
                      <a:pt x="7578" y="43265"/>
                      <a:pt x="993" y="37753"/>
                      <a:pt x="100" y="30247"/>
                    </a:cubicBezTo>
                    <a:lnTo>
                      <a:pt x="0" y="28575"/>
                    </a:lnTo>
                    <a:lnTo>
                      <a:pt x="0" y="14288"/>
                    </a:lnTo>
                    <a:cubicBezTo>
                      <a:pt x="0" y="6397"/>
                      <a:pt x="6397" y="0"/>
                      <a:pt x="14288" y="0"/>
                    </a:cubicBez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1281112" y="1685925"/>
                <a:ext cx="28575" cy="43265"/>
              </a:xfrm>
              <a:custGeom>
                <a:avLst/>
                <a:gdLst/>
                <a:ahLst/>
                <a:cxnLst/>
                <a:rect l="l" t="t" r="r" b="b"/>
                <a:pathLst>
                  <a:path w="28575" h="43265">
                    <a:moveTo>
                      <a:pt x="14288" y="0"/>
                    </a:moveTo>
                    <a:cubicBezTo>
                      <a:pt x="21531" y="1"/>
                      <a:pt x="27628" y="5422"/>
                      <a:pt x="28475" y="12616"/>
                    </a:cubicBezTo>
                    <a:lnTo>
                      <a:pt x="28575" y="14288"/>
                    </a:lnTo>
                    <a:lnTo>
                      <a:pt x="28575" y="28575"/>
                    </a:lnTo>
                    <a:cubicBezTo>
                      <a:pt x="28567" y="36134"/>
                      <a:pt x="22671" y="42379"/>
                      <a:pt x="15125" y="42822"/>
                    </a:cubicBezTo>
                    <a:cubicBezTo>
                      <a:pt x="7578" y="43265"/>
                      <a:pt x="993" y="37753"/>
                      <a:pt x="100" y="30247"/>
                    </a:cubicBezTo>
                    <a:lnTo>
                      <a:pt x="0" y="28575"/>
                    </a:lnTo>
                    <a:lnTo>
                      <a:pt x="0" y="14288"/>
                    </a:lnTo>
                    <a:cubicBezTo>
                      <a:pt x="0" y="6397"/>
                      <a:pt x="6397" y="0"/>
                      <a:pt x="14288" y="0"/>
                    </a:cubicBez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17" name="Freeform 17"/>
              <p:cNvSpPr/>
              <p:nvPr/>
            </p:nvSpPr>
            <p:spPr>
              <a:xfrm>
                <a:off x="1337860" y="1757362"/>
                <a:ext cx="43668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43668" h="28575">
                    <a:moveTo>
                      <a:pt x="28978" y="0"/>
                    </a:moveTo>
                    <a:cubicBezTo>
                      <a:pt x="36537" y="8"/>
                      <a:pt x="42782" y="5904"/>
                      <a:pt x="43225" y="13450"/>
                    </a:cubicBezTo>
                    <a:cubicBezTo>
                      <a:pt x="43668" y="20997"/>
                      <a:pt x="38156" y="27582"/>
                      <a:pt x="30649" y="28475"/>
                    </a:cubicBezTo>
                    <a:lnTo>
                      <a:pt x="28978" y="28575"/>
                    </a:lnTo>
                    <a:lnTo>
                      <a:pt x="14690" y="28575"/>
                    </a:lnTo>
                    <a:cubicBezTo>
                      <a:pt x="7131" y="28567"/>
                      <a:pt x="886" y="22671"/>
                      <a:pt x="443" y="15125"/>
                    </a:cubicBezTo>
                    <a:cubicBezTo>
                      <a:pt x="0" y="7578"/>
                      <a:pt x="5512" y="993"/>
                      <a:pt x="13018" y="100"/>
                    </a:cubicBezTo>
                    <a:lnTo>
                      <a:pt x="14690" y="0"/>
                    </a:lnTo>
                    <a:lnTo>
                      <a:pt x="28978" y="0"/>
                    </a:ln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1337860" y="1871662"/>
                <a:ext cx="43668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43668" h="28575">
                    <a:moveTo>
                      <a:pt x="28978" y="0"/>
                    </a:moveTo>
                    <a:cubicBezTo>
                      <a:pt x="36537" y="8"/>
                      <a:pt x="42782" y="5904"/>
                      <a:pt x="43225" y="13450"/>
                    </a:cubicBezTo>
                    <a:cubicBezTo>
                      <a:pt x="43668" y="20997"/>
                      <a:pt x="38156" y="27582"/>
                      <a:pt x="30649" y="28475"/>
                    </a:cubicBezTo>
                    <a:lnTo>
                      <a:pt x="28978" y="28575"/>
                    </a:lnTo>
                    <a:lnTo>
                      <a:pt x="14690" y="28575"/>
                    </a:lnTo>
                    <a:cubicBezTo>
                      <a:pt x="7131" y="28567"/>
                      <a:pt x="886" y="22671"/>
                      <a:pt x="443" y="15125"/>
                    </a:cubicBezTo>
                    <a:cubicBezTo>
                      <a:pt x="0" y="7578"/>
                      <a:pt x="5512" y="993"/>
                      <a:pt x="13018" y="100"/>
                    </a:cubicBezTo>
                    <a:lnTo>
                      <a:pt x="14690" y="0"/>
                    </a:lnTo>
                    <a:lnTo>
                      <a:pt x="28978" y="0"/>
                    </a:ln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1166812" y="1928812"/>
                <a:ext cx="28575" cy="43265"/>
              </a:xfrm>
              <a:custGeom>
                <a:avLst/>
                <a:gdLst/>
                <a:ahLst/>
                <a:cxnLst/>
                <a:rect l="l" t="t" r="r" b="b"/>
                <a:pathLst>
                  <a:path w="28575" h="43265">
                    <a:moveTo>
                      <a:pt x="14288" y="0"/>
                    </a:moveTo>
                    <a:cubicBezTo>
                      <a:pt x="21531" y="1"/>
                      <a:pt x="27628" y="5422"/>
                      <a:pt x="28475" y="12616"/>
                    </a:cubicBezTo>
                    <a:lnTo>
                      <a:pt x="28575" y="14288"/>
                    </a:lnTo>
                    <a:lnTo>
                      <a:pt x="28575" y="28575"/>
                    </a:lnTo>
                    <a:cubicBezTo>
                      <a:pt x="28567" y="36134"/>
                      <a:pt x="22671" y="42379"/>
                      <a:pt x="15125" y="42822"/>
                    </a:cubicBezTo>
                    <a:cubicBezTo>
                      <a:pt x="7578" y="43265"/>
                      <a:pt x="993" y="37753"/>
                      <a:pt x="100" y="30247"/>
                    </a:cubicBezTo>
                    <a:lnTo>
                      <a:pt x="0" y="28575"/>
                    </a:lnTo>
                    <a:lnTo>
                      <a:pt x="0" y="14288"/>
                    </a:lnTo>
                    <a:cubicBezTo>
                      <a:pt x="0" y="6397"/>
                      <a:pt x="6397" y="0"/>
                      <a:pt x="14288" y="0"/>
                    </a:cubicBez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1281112" y="1928812"/>
                <a:ext cx="28575" cy="43265"/>
              </a:xfrm>
              <a:custGeom>
                <a:avLst/>
                <a:gdLst/>
                <a:ahLst/>
                <a:cxnLst/>
                <a:rect l="l" t="t" r="r" b="b"/>
                <a:pathLst>
                  <a:path w="28575" h="43265">
                    <a:moveTo>
                      <a:pt x="14288" y="0"/>
                    </a:moveTo>
                    <a:cubicBezTo>
                      <a:pt x="21531" y="1"/>
                      <a:pt x="27628" y="5422"/>
                      <a:pt x="28475" y="12616"/>
                    </a:cubicBezTo>
                    <a:lnTo>
                      <a:pt x="28575" y="14288"/>
                    </a:lnTo>
                    <a:lnTo>
                      <a:pt x="28575" y="28575"/>
                    </a:lnTo>
                    <a:cubicBezTo>
                      <a:pt x="28567" y="36134"/>
                      <a:pt x="22671" y="42379"/>
                      <a:pt x="15125" y="42822"/>
                    </a:cubicBezTo>
                    <a:cubicBezTo>
                      <a:pt x="7578" y="43265"/>
                      <a:pt x="993" y="37753"/>
                      <a:pt x="100" y="30247"/>
                    </a:cubicBezTo>
                    <a:lnTo>
                      <a:pt x="0" y="28575"/>
                    </a:lnTo>
                    <a:lnTo>
                      <a:pt x="0" y="14288"/>
                    </a:lnTo>
                    <a:cubicBezTo>
                      <a:pt x="0" y="6397"/>
                      <a:pt x="6397" y="0"/>
                      <a:pt x="14288" y="0"/>
                    </a:cubicBez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</p:grpSp>
        <p:sp>
          <p:nvSpPr>
            <p:cNvPr id="22" name="TextBox 22"/>
            <p:cNvSpPr txBox="1"/>
            <p:nvPr/>
          </p:nvSpPr>
          <p:spPr>
            <a:xfrm>
              <a:off x="990600" y="2162175"/>
              <a:ext cx="1418272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视觉风格生成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97268" y="2428399"/>
              <a:ext cx="129567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STYLE GENERATION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94410" y="2670810"/>
              <a:ext cx="162534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根据 brief 生成完整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94410" y="2880360"/>
              <a:ext cx="125730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网页视觉稿方案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4400550" y="1352550"/>
            <a:ext cx="3390900" cy="2095500"/>
            <a:chOff x="4400550" y="1352550"/>
            <a:chExt cx="3390900" cy="2095500"/>
          </a:xfrm>
        </p:grpSpPr>
        <p:sp>
          <p:nvSpPr>
            <p:cNvPr id="27" name="Rectangle 27"/>
            <p:cNvSpPr/>
            <p:nvPr/>
          </p:nvSpPr>
          <p:spPr>
            <a:xfrm>
              <a:off x="4400550" y="1352550"/>
              <a:ext cx="3390900" cy="2095500"/>
            </a:xfrm>
            <a:prstGeom prst="roundRect">
              <a:avLst>
                <a:gd name="adj" fmla="val 6364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4400550" y="1352550"/>
              <a:ext cx="3390900" cy="47625"/>
            </a:xfrm>
            <a:prstGeom prst="roundRect">
              <a:avLst>
                <a:gd name="adj" fmla="val 50000"/>
              </a:avLst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839121" y="1546860"/>
              <a:ext cx="815169" cy="853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4200" b="1" dirty="0">
                  <a:solidFill>
                    <a:srgbClr val="C96133">
                      <a:alphaMod val="6000"/>
                    </a:srgbClr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4648200" y="1600200"/>
              <a:ext cx="457200" cy="457200"/>
            </a:xfrm>
            <a:prstGeom prst="roundRect">
              <a:avLst>
                <a:gd name="adj" fmla="val 20833"/>
              </a:avLst>
            </a:prstGeom>
            <a:solidFill>
              <a:srgbClr val="C96133">
                <a:alpha val="10000"/>
              </a:srgbClr>
            </a:solidFill>
            <a:ln>
              <a:noFill/>
            </a:ln>
          </p:spPr>
        </p:sp>
        <p:sp>
          <p:nvSpPr>
            <p:cNvPr id="31" name="Freeform 31"/>
            <p:cNvSpPr/>
            <p:nvPr/>
          </p:nvSpPr>
          <p:spPr>
            <a:xfrm>
              <a:off x="4733925" y="1685925"/>
              <a:ext cx="285750" cy="286042"/>
            </a:xfrm>
            <a:custGeom>
              <a:avLst/>
              <a:gdLst/>
              <a:ahLst/>
              <a:cxnLst/>
              <a:rect l="l" t="t" r="r" b="b"/>
              <a:pathLst>
                <a:path w="285750" h="286042">
                  <a:moveTo>
                    <a:pt x="142875" y="0"/>
                  </a:moveTo>
                  <a:cubicBezTo>
                    <a:pt x="221428" y="0"/>
                    <a:pt x="285750" y="57179"/>
                    <a:pt x="285750" y="128588"/>
                  </a:cubicBezTo>
                  <a:cubicBezTo>
                    <a:pt x="285750" y="147890"/>
                    <a:pt x="277178" y="166307"/>
                    <a:pt x="262118" y="179680"/>
                  </a:cubicBezTo>
                  <a:cubicBezTo>
                    <a:pt x="247402" y="192738"/>
                    <a:pt x="227657" y="200025"/>
                    <a:pt x="207169" y="200025"/>
                  </a:cubicBezTo>
                  <a:lnTo>
                    <a:pt x="171221" y="200025"/>
                  </a:lnTo>
                  <a:cubicBezTo>
                    <a:pt x="164664" y="199919"/>
                    <a:pt x="158876" y="204292"/>
                    <a:pt x="157186" y="210629"/>
                  </a:cubicBezTo>
                  <a:cubicBezTo>
                    <a:pt x="155496" y="216967"/>
                    <a:pt x="158338" y="223640"/>
                    <a:pt x="164078" y="226814"/>
                  </a:cubicBezTo>
                  <a:cubicBezTo>
                    <a:pt x="165078" y="227367"/>
                    <a:pt x="166009" y="228039"/>
                    <a:pt x="166849" y="228814"/>
                  </a:cubicBezTo>
                  <a:cubicBezTo>
                    <a:pt x="176865" y="238057"/>
                    <a:pt x="180137" y="252523"/>
                    <a:pt x="175072" y="265175"/>
                  </a:cubicBezTo>
                  <a:cubicBezTo>
                    <a:pt x="170008" y="277828"/>
                    <a:pt x="157659" y="286042"/>
                    <a:pt x="144032" y="285821"/>
                  </a:cubicBezTo>
                  <a:lnTo>
                    <a:pt x="141803" y="285693"/>
                  </a:lnTo>
                  <a:lnTo>
                    <a:pt x="142775" y="285750"/>
                  </a:lnTo>
                  <a:lnTo>
                    <a:pt x="138874" y="285693"/>
                  </a:lnTo>
                  <a:cubicBezTo>
                    <a:pt x="63151" y="283607"/>
                    <a:pt x="2143" y="222599"/>
                    <a:pt x="57" y="146876"/>
                  </a:cubicBezTo>
                  <a:lnTo>
                    <a:pt x="0" y="142875"/>
                  </a:lnTo>
                  <a:cubicBezTo>
                    <a:pt x="0" y="63965"/>
                    <a:pt x="63965" y="0"/>
                    <a:pt x="142875" y="0"/>
                  </a:cubicBezTo>
                  <a:moveTo>
                    <a:pt x="92869" y="92869"/>
                  </a:moveTo>
                  <a:cubicBezTo>
                    <a:pt x="77915" y="92864"/>
                    <a:pt x="65487" y="104389"/>
                    <a:pt x="64365" y="119301"/>
                  </a:cubicBezTo>
                  <a:lnTo>
                    <a:pt x="64294" y="121444"/>
                  </a:lnTo>
                  <a:cubicBezTo>
                    <a:pt x="64294" y="137225"/>
                    <a:pt x="77087" y="150019"/>
                    <a:pt x="92869" y="150019"/>
                  </a:cubicBezTo>
                  <a:cubicBezTo>
                    <a:pt x="108650" y="150019"/>
                    <a:pt x="121444" y="137225"/>
                    <a:pt x="121444" y="121444"/>
                  </a:cubicBezTo>
                  <a:cubicBezTo>
                    <a:pt x="121444" y="105662"/>
                    <a:pt x="108650" y="92869"/>
                    <a:pt x="92869" y="92869"/>
                  </a:cubicBezTo>
                  <a:moveTo>
                    <a:pt x="207169" y="92869"/>
                  </a:moveTo>
                  <a:cubicBezTo>
                    <a:pt x="192215" y="92864"/>
                    <a:pt x="179787" y="104389"/>
                    <a:pt x="178665" y="119301"/>
                  </a:cubicBezTo>
                  <a:lnTo>
                    <a:pt x="178594" y="121444"/>
                  </a:lnTo>
                  <a:cubicBezTo>
                    <a:pt x="178594" y="137225"/>
                    <a:pt x="191387" y="150019"/>
                    <a:pt x="207169" y="150019"/>
                  </a:cubicBezTo>
                  <a:cubicBezTo>
                    <a:pt x="222950" y="150019"/>
                    <a:pt x="235744" y="137225"/>
                    <a:pt x="235744" y="121444"/>
                  </a:cubicBezTo>
                  <a:cubicBezTo>
                    <a:pt x="235744" y="105662"/>
                    <a:pt x="222950" y="92869"/>
                    <a:pt x="207169" y="92869"/>
                  </a:cubicBezTo>
                  <a:moveTo>
                    <a:pt x="150019" y="50006"/>
                  </a:moveTo>
                  <a:cubicBezTo>
                    <a:pt x="135065" y="50002"/>
                    <a:pt x="122637" y="61527"/>
                    <a:pt x="121515" y="76438"/>
                  </a:cubicBezTo>
                  <a:lnTo>
                    <a:pt x="121444" y="78581"/>
                  </a:lnTo>
                  <a:cubicBezTo>
                    <a:pt x="121444" y="94363"/>
                    <a:pt x="134237" y="107156"/>
                    <a:pt x="150019" y="107156"/>
                  </a:cubicBezTo>
                  <a:cubicBezTo>
                    <a:pt x="165800" y="107156"/>
                    <a:pt x="178594" y="94363"/>
                    <a:pt x="178594" y="78581"/>
                  </a:cubicBezTo>
                  <a:cubicBezTo>
                    <a:pt x="178594" y="62800"/>
                    <a:pt x="165800" y="50006"/>
                    <a:pt x="150019" y="50006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4629150" y="2162175"/>
              <a:ext cx="1222748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配色 &amp; 排版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635818" y="2428399"/>
              <a:ext cx="151995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COLOR &amp; TYPOGRAPHY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632960" y="2670810"/>
              <a:ext cx="16078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输出色板、字体层级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632960" y="2880360"/>
              <a:ext cx="90678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与间距规范</a:t>
              </a: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8039100" y="1352550"/>
            <a:ext cx="3390900" cy="2095500"/>
            <a:chOff x="8039100" y="1352550"/>
            <a:chExt cx="3390900" cy="2095500"/>
          </a:xfrm>
        </p:grpSpPr>
        <p:sp>
          <p:nvSpPr>
            <p:cNvPr id="37" name="Rectangle 37"/>
            <p:cNvSpPr/>
            <p:nvPr/>
          </p:nvSpPr>
          <p:spPr>
            <a:xfrm>
              <a:off x="8039100" y="1352550"/>
              <a:ext cx="3390900" cy="2095500"/>
            </a:xfrm>
            <a:prstGeom prst="roundRect">
              <a:avLst>
                <a:gd name="adj" fmla="val 6364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8039100" y="1352550"/>
              <a:ext cx="3390900" cy="47625"/>
            </a:xfrm>
            <a:prstGeom prst="roundRect">
              <a:avLst>
                <a:gd name="adj" fmla="val 50000"/>
              </a:avLst>
            </a:prstGeom>
            <a:solidFill>
              <a:srgbClr val="3D7DE4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10477671" y="1546860"/>
              <a:ext cx="815169" cy="853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4200" b="1" dirty="0">
                  <a:solidFill>
                    <a:srgbClr val="3D7DE4">
                      <a:alphaMod val="6000"/>
                    </a:srgbClr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8286750" y="1600200"/>
              <a:ext cx="457200" cy="457200"/>
            </a:xfrm>
            <a:prstGeom prst="roundRect">
              <a:avLst>
                <a:gd name="adj" fmla="val 20833"/>
              </a:avLst>
            </a:prstGeom>
            <a:solidFill>
              <a:srgbClr val="3D7DE4">
                <a:alpha val="10000"/>
              </a:srgbClr>
            </a:solidFill>
            <a:ln>
              <a:noFill/>
            </a:ln>
          </p:spPr>
        </p:sp>
        <p:grpSp>
          <p:nvGrpSpPr>
            <p:cNvPr id="43" name="Group 43"/>
            <p:cNvGrpSpPr/>
            <p:nvPr/>
          </p:nvGrpSpPr>
          <p:grpSpPr>
            <a:xfrm>
              <a:off x="8386762" y="1700212"/>
              <a:ext cx="257176" cy="257175"/>
              <a:chOff x="8386762" y="1700212"/>
              <a:chExt cx="257176" cy="257175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8386762" y="1700212"/>
                <a:ext cx="114300" cy="257175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257175">
                    <a:moveTo>
                      <a:pt x="71438" y="0"/>
                    </a:moveTo>
                    <a:cubicBezTo>
                      <a:pt x="95110" y="0"/>
                      <a:pt x="114300" y="19190"/>
                      <a:pt x="114300" y="42862"/>
                    </a:cubicBezTo>
                    <a:lnTo>
                      <a:pt x="114300" y="214312"/>
                    </a:lnTo>
                    <a:cubicBezTo>
                      <a:pt x="114300" y="237985"/>
                      <a:pt x="95110" y="257175"/>
                      <a:pt x="71438" y="257175"/>
                    </a:cubicBezTo>
                    <a:lnTo>
                      <a:pt x="42862" y="257175"/>
                    </a:lnTo>
                    <a:cubicBezTo>
                      <a:pt x="19190" y="257175"/>
                      <a:pt x="0" y="237985"/>
                      <a:pt x="0" y="214312"/>
                    </a:cubicBezTo>
                    <a:lnTo>
                      <a:pt x="0" y="42862"/>
                    </a:lnTo>
                    <a:cubicBezTo>
                      <a:pt x="0" y="19190"/>
                      <a:pt x="19190" y="0"/>
                      <a:pt x="42862" y="0"/>
                    </a:cubicBezTo>
                    <a:close/>
                  </a:path>
                </a:pathLst>
              </a:custGeom>
              <a:solidFill>
                <a:srgbClr val="3D7DE4"/>
              </a:solidFill>
              <a:ln>
                <a:noFill/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8529638" y="1700212"/>
                <a:ext cx="11430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171450">
                    <a:moveTo>
                      <a:pt x="71438" y="0"/>
                    </a:moveTo>
                    <a:cubicBezTo>
                      <a:pt x="95110" y="0"/>
                      <a:pt x="114300" y="19190"/>
                      <a:pt x="114300" y="42862"/>
                    </a:cubicBezTo>
                    <a:lnTo>
                      <a:pt x="114300" y="128588"/>
                    </a:lnTo>
                    <a:cubicBezTo>
                      <a:pt x="114300" y="152260"/>
                      <a:pt x="95110" y="171450"/>
                      <a:pt x="71438" y="171450"/>
                    </a:cubicBezTo>
                    <a:lnTo>
                      <a:pt x="42862" y="171450"/>
                    </a:lnTo>
                    <a:cubicBezTo>
                      <a:pt x="19190" y="171450"/>
                      <a:pt x="0" y="152260"/>
                      <a:pt x="0" y="128588"/>
                    </a:cubicBezTo>
                    <a:lnTo>
                      <a:pt x="0" y="42862"/>
                    </a:lnTo>
                    <a:cubicBezTo>
                      <a:pt x="0" y="19190"/>
                      <a:pt x="19190" y="0"/>
                      <a:pt x="42862" y="0"/>
                    </a:cubicBezTo>
                    <a:close/>
                  </a:path>
                </a:pathLst>
              </a:custGeom>
              <a:solidFill>
                <a:srgbClr val="3D7DE4"/>
              </a:solidFill>
              <a:ln>
                <a:noFill/>
              </a:ln>
            </p:spPr>
          </p:sp>
        </p:grpSp>
        <p:sp>
          <p:nvSpPr>
            <p:cNvPr id="44" name="TextBox 44"/>
            <p:cNvSpPr txBox="1"/>
            <p:nvPr/>
          </p:nvSpPr>
          <p:spPr>
            <a:xfrm>
              <a:off x="8267700" y="2162175"/>
              <a:ext cx="1418272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页面结构规划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274368" y="2428399"/>
              <a:ext cx="1348005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3D7DE4"/>
                  </a:solidFill>
                  <a:latin typeface="Arial"/>
                  <a:ea typeface="Microsoft YaHei"/>
                  <a:cs typeface="Arial"/>
                </a:rPr>
                <a:t>PAGE ARCHITECTURE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8271510" y="2670810"/>
              <a:ext cx="165163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Hero/内容/CTA 区块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271510" y="2880360"/>
              <a:ext cx="108204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信息层级设计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1628775" y="3695700"/>
            <a:ext cx="3981450" cy="2000250"/>
            <a:chOff x="1628775" y="3695700"/>
            <a:chExt cx="3981450" cy="2000250"/>
          </a:xfrm>
        </p:grpSpPr>
        <p:sp>
          <p:nvSpPr>
            <p:cNvPr id="49" name="Rectangle 49"/>
            <p:cNvSpPr/>
            <p:nvPr/>
          </p:nvSpPr>
          <p:spPr>
            <a:xfrm>
              <a:off x="1628775" y="3695700"/>
              <a:ext cx="3981450" cy="2000250"/>
            </a:xfrm>
            <a:prstGeom prst="roundRect">
              <a:avLst>
                <a:gd name="adj" fmla="val 6667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1628775" y="3695700"/>
              <a:ext cx="3981450" cy="47625"/>
            </a:xfrm>
            <a:prstGeom prst="roundRect">
              <a:avLst>
                <a:gd name="adj" fmla="val 50000"/>
              </a:avLst>
            </a:prstGeom>
            <a:solidFill>
              <a:srgbClr val="3D7DE4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4657896" y="3870960"/>
              <a:ext cx="815169" cy="853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4200" b="1" dirty="0">
                  <a:solidFill>
                    <a:srgbClr val="3D7DE4">
                      <a:alphaMod val="6000"/>
                    </a:srgbClr>
                  </a:solidFill>
                  <a:latin typeface="Arial"/>
                  <a:ea typeface="Microsoft YaHei"/>
                  <a:cs typeface="Arial"/>
                </a:rPr>
                <a:t>04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1876425" y="3924300"/>
              <a:ext cx="457200" cy="457200"/>
            </a:xfrm>
            <a:prstGeom prst="roundRect">
              <a:avLst>
                <a:gd name="adj" fmla="val 20833"/>
              </a:avLst>
            </a:prstGeom>
            <a:solidFill>
              <a:srgbClr val="3D7DE4">
                <a:alpha val="10000"/>
              </a:srgbClr>
            </a:solidFill>
            <a:ln>
              <a:noFill/>
            </a:ln>
          </p:spPr>
        </p:sp>
        <p:sp>
          <p:nvSpPr>
            <p:cNvPr id="53" name="Freeform 53"/>
            <p:cNvSpPr/>
            <p:nvPr/>
          </p:nvSpPr>
          <p:spPr>
            <a:xfrm>
              <a:off x="1976438" y="4030718"/>
              <a:ext cx="250778" cy="250769"/>
            </a:xfrm>
            <a:custGeom>
              <a:avLst/>
              <a:gdLst/>
              <a:ahLst/>
              <a:cxnLst/>
              <a:rect l="l" t="t" r="r" b="b"/>
              <a:pathLst>
                <a:path w="250778" h="250769">
                  <a:moveTo>
                    <a:pt x="129802" y="43600"/>
                  </a:moveTo>
                  <a:lnTo>
                    <a:pt x="207169" y="120967"/>
                  </a:lnTo>
                  <a:lnTo>
                    <a:pt x="81539" y="246583"/>
                  </a:lnTo>
                  <a:cubicBezTo>
                    <a:pt x="78860" y="249262"/>
                    <a:pt x="75226" y="250768"/>
                    <a:pt x="71438" y="250769"/>
                  </a:cubicBezTo>
                  <a:lnTo>
                    <a:pt x="14288" y="250769"/>
                  </a:lnTo>
                  <a:cubicBezTo>
                    <a:pt x="6397" y="250769"/>
                    <a:pt x="0" y="244372"/>
                    <a:pt x="0" y="236482"/>
                  </a:cubicBezTo>
                  <a:lnTo>
                    <a:pt x="0" y="179332"/>
                  </a:lnTo>
                  <a:cubicBezTo>
                    <a:pt x="1" y="175543"/>
                    <a:pt x="1507" y="171909"/>
                    <a:pt x="4186" y="169230"/>
                  </a:cubicBezTo>
                  <a:close/>
                  <a:moveTo>
                    <a:pt x="207040" y="5053"/>
                  </a:moveTo>
                  <a:cubicBezTo>
                    <a:pt x="225918" y="10108"/>
                    <a:pt x="240663" y="24853"/>
                    <a:pt x="245721" y="43730"/>
                  </a:cubicBezTo>
                  <a:cubicBezTo>
                    <a:pt x="250778" y="62607"/>
                    <a:pt x="245379" y="82748"/>
                    <a:pt x="231558" y="96564"/>
                  </a:cubicBezTo>
                  <a:lnTo>
                    <a:pt x="227386" y="100750"/>
                  </a:lnTo>
                  <a:lnTo>
                    <a:pt x="150019" y="23384"/>
                  </a:lnTo>
                  <a:lnTo>
                    <a:pt x="154205" y="19212"/>
                  </a:lnTo>
                  <a:cubicBezTo>
                    <a:pt x="168025" y="5397"/>
                    <a:pt x="188164" y="0"/>
                    <a:pt x="207040" y="5053"/>
                  </a:cubicBezTo>
                </a:path>
              </a:pathLst>
            </a:custGeom>
            <a:solidFill>
              <a:srgbClr val="3D7DE4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1857375" y="4486275"/>
              <a:ext cx="1671304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设计 Brief 生成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864042" y="4752499"/>
              <a:ext cx="125829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3D7DE4"/>
                  </a:solidFill>
                  <a:latin typeface="Arial"/>
                  <a:ea typeface="Microsoft YaHei"/>
                  <a:cs typeface="Arial"/>
                </a:rPr>
                <a:t>BRIEF GENERATION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861185" y="4994910"/>
              <a:ext cx="145008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结构化 brief 直接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861185" y="5204460"/>
              <a:ext cx="140627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喂给 Claude Code</a:t>
              </a:r>
            </a:p>
          </p:txBody>
        </p:sp>
      </p:grpSp>
      <p:grpSp>
        <p:nvGrpSpPr>
          <p:cNvPr id="71" name="Group 71"/>
          <p:cNvGrpSpPr/>
          <p:nvPr/>
        </p:nvGrpSpPr>
        <p:grpSpPr>
          <a:xfrm>
            <a:off x="6581775" y="3695700"/>
            <a:ext cx="3981450" cy="2000250"/>
            <a:chOff x="6581775" y="3695700"/>
            <a:chExt cx="3981450" cy="2000250"/>
          </a:xfrm>
        </p:grpSpPr>
        <p:sp>
          <p:nvSpPr>
            <p:cNvPr id="59" name="Rectangle 59"/>
            <p:cNvSpPr/>
            <p:nvPr/>
          </p:nvSpPr>
          <p:spPr>
            <a:xfrm>
              <a:off x="6581775" y="3695700"/>
              <a:ext cx="3981450" cy="2000250"/>
            </a:xfrm>
            <a:prstGeom prst="roundRect">
              <a:avLst>
                <a:gd name="adj" fmla="val 6667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60" name="Rectangle 60"/>
            <p:cNvSpPr/>
            <p:nvPr/>
          </p:nvSpPr>
          <p:spPr>
            <a:xfrm>
              <a:off x="6581775" y="3695700"/>
              <a:ext cx="3981450" cy="47625"/>
            </a:xfrm>
            <a:prstGeom prst="roundRect">
              <a:avLst>
                <a:gd name="adj" fmla="val 50000"/>
              </a:avLst>
            </a:prstGeom>
            <a:solidFill>
              <a:srgbClr val="3A9E6A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9610896" y="3870960"/>
              <a:ext cx="815169" cy="853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4200" b="1" dirty="0">
                  <a:solidFill>
                    <a:srgbClr val="3A9E6A">
                      <a:alphaMod val="6000"/>
                    </a:srgbClr>
                  </a:solidFill>
                  <a:latin typeface="Arial"/>
                  <a:ea typeface="Microsoft YaHei"/>
                  <a:cs typeface="Arial"/>
                </a:rPr>
                <a:t>05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6829425" y="3924300"/>
              <a:ext cx="457200" cy="457200"/>
            </a:xfrm>
            <a:prstGeom prst="roundRect">
              <a:avLst>
                <a:gd name="adj" fmla="val 20833"/>
              </a:avLst>
            </a:prstGeom>
            <a:solidFill>
              <a:srgbClr val="3A9E6A">
                <a:alpha val="10000"/>
              </a:srgbClr>
            </a:solidFill>
            <a:ln>
              <a:noFill/>
            </a:ln>
          </p:spPr>
        </p:sp>
        <p:grpSp>
          <p:nvGrpSpPr>
            <p:cNvPr id="66" name="Group 66"/>
            <p:cNvGrpSpPr/>
            <p:nvPr/>
          </p:nvGrpSpPr>
          <p:grpSpPr>
            <a:xfrm>
              <a:off x="6910392" y="4019555"/>
              <a:ext cx="280979" cy="266690"/>
              <a:chOff x="6910392" y="4019555"/>
              <a:chExt cx="280979" cy="266690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7100888" y="4191005"/>
                <a:ext cx="90483" cy="95240"/>
              </a:xfrm>
              <a:custGeom>
                <a:avLst/>
                <a:gdLst/>
                <a:ahLst/>
                <a:cxnLst/>
                <a:rect l="l" t="t" r="r" b="b"/>
                <a:pathLst>
                  <a:path w="90483" h="95240">
                    <a:moveTo>
                      <a:pt x="14288" y="61908"/>
                    </a:moveTo>
                    <a:cubicBezTo>
                      <a:pt x="6397" y="61908"/>
                      <a:pt x="0" y="55511"/>
                      <a:pt x="0" y="47620"/>
                    </a:cubicBezTo>
                    <a:cubicBezTo>
                      <a:pt x="0" y="39729"/>
                      <a:pt x="6397" y="33333"/>
                      <a:pt x="14288" y="33333"/>
                    </a:cubicBezTo>
                    <a:cubicBezTo>
                      <a:pt x="22178" y="33333"/>
                      <a:pt x="28575" y="26936"/>
                      <a:pt x="28575" y="19045"/>
                    </a:cubicBezTo>
                    <a:cubicBezTo>
                      <a:pt x="28575" y="0"/>
                      <a:pt x="57150" y="0"/>
                      <a:pt x="57150" y="19045"/>
                    </a:cubicBezTo>
                    <a:cubicBezTo>
                      <a:pt x="57150" y="26936"/>
                      <a:pt x="63547" y="33333"/>
                      <a:pt x="71438" y="33333"/>
                    </a:cubicBezTo>
                    <a:cubicBezTo>
                      <a:pt x="90483" y="33333"/>
                      <a:pt x="90483" y="61908"/>
                      <a:pt x="71438" y="61908"/>
                    </a:cubicBezTo>
                    <a:cubicBezTo>
                      <a:pt x="63547" y="61908"/>
                      <a:pt x="57150" y="68304"/>
                      <a:pt x="57150" y="76195"/>
                    </a:cubicBezTo>
                    <a:cubicBezTo>
                      <a:pt x="57150" y="95240"/>
                      <a:pt x="28575" y="95240"/>
                      <a:pt x="28575" y="76195"/>
                    </a:cubicBezTo>
                    <a:cubicBezTo>
                      <a:pt x="28575" y="68304"/>
                      <a:pt x="22178" y="61908"/>
                      <a:pt x="14288" y="61908"/>
                    </a:cubicBezTo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</p:sp>
          <p:sp>
            <p:nvSpPr>
              <p:cNvPr id="64" name="Freeform 64"/>
              <p:cNvSpPr/>
              <p:nvPr/>
            </p:nvSpPr>
            <p:spPr>
              <a:xfrm>
                <a:off x="6910392" y="4048130"/>
                <a:ext cx="209540" cy="204783"/>
              </a:xfrm>
              <a:custGeom>
                <a:avLst/>
                <a:gdLst/>
                <a:ahLst/>
                <a:cxnLst/>
                <a:rect l="l" t="t" r="r" b="b"/>
                <a:pathLst>
                  <a:path w="209540" h="204783">
                    <a:moveTo>
                      <a:pt x="19045" y="90483"/>
                    </a:moveTo>
                    <a:cubicBezTo>
                      <a:pt x="58499" y="90483"/>
                      <a:pt x="90483" y="58499"/>
                      <a:pt x="90483" y="19045"/>
                    </a:cubicBezTo>
                    <a:cubicBezTo>
                      <a:pt x="90483" y="0"/>
                      <a:pt x="119058" y="0"/>
                      <a:pt x="119058" y="19045"/>
                    </a:cubicBezTo>
                    <a:cubicBezTo>
                      <a:pt x="119058" y="58499"/>
                      <a:pt x="151041" y="90483"/>
                      <a:pt x="190495" y="90483"/>
                    </a:cubicBezTo>
                    <a:cubicBezTo>
                      <a:pt x="209540" y="90483"/>
                      <a:pt x="209540" y="119058"/>
                      <a:pt x="190495" y="119058"/>
                    </a:cubicBezTo>
                    <a:cubicBezTo>
                      <a:pt x="151041" y="119058"/>
                      <a:pt x="119058" y="151041"/>
                      <a:pt x="119058" y="190495"/>
                    </a:cubicBezTo>
                    <a:cubicBezTo>
                      <a:pt x="119058" y="198386"/>
                      <a:pt x="112661" y="204783"/>
                      <a:pt x="104770" y="204783"/>
                    </a:cubicBezTo>
                    <a:cubicBezTo>
                      <a:pt x="96879" y="204783"/>
                      <a:pt x="90483" y="198386"/>
                      <a:pt x="90483" y="190495"/>
                    </a:cubicBezTo>
                    <a:cubicBezTo>
                      <a:pt x="90483" y="151041"/>
                      <a:pt x="58499" y="119058"/>
                      <a:pt x="19045" y="119058"/>
                    </a:cubicBezTo>
                    <a:cubicBezTo>
                      <a:pt x="0" y="119058"/>
                      <a:pt x="0" y="90483"/>
                      <a:pt x="19045" y="90483"/>
                    </a:cubicBezTo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</p:sp>
          <p:sp>
            <p:nvSpPr>
              <p:cNvPr id="65" name="Freeform 65"/>
              <p:cNvSpPr/>
              <p:nvPr/>
            </p:nvSpPr>
            <p:spPr>
              <a:xfrm>
                <a:off x="7100888" y="4019555"/>
                <a:ext cx="90483" cy="95240"/>
              </a:xfrm>
              <a:custGeom>
                <a:avLst/>
                <a:gdLst/>
                <a:ahLst/>
                <a:cxnLst/>
                <a:rect l="l" t="t" r="r" b="b"/>
                <a:pathLst>
                  <a:path w="90483" h="95240">
                    <a:moveTo>
                      <a:pt x="14288" y="61908"/>
                    </a:moveTo>
                    <a:cubicBezTo>
                      <a:pt x="6397" y="61908"/>
                      <a:pt x="0" y="55511"/>
                      <a:pt x="0" y="47620"/>
                    </a:cubicBezTo>
                    <a:cubicBezTo>
                      <a:pt x="0" y="39729"/>
                      <a:pt x="6397" y="33333"/>
                      <a:pt x="14288" y="33333"/>
                    </a:cubicBezTo>
                    <a:cubicBezTo>
                      <a:pt x="22178" y="33333"/>
                      <a:pt x="28575" y="26936"/>
                      <a:pt x="28575" y="19045"/>
                    </a:cubicBezTo>
                    <a:cubicBezTo>
                      <a:pt x="28575" y="0"/>
                      <a:pt x="57150" y="0"/>
                      <a:pt x="57150" y="19045"/>
                    </a:cubicBezTo>
                    <a:cubicBezTo>
                      <a:pt x="57150" y="26936"/>
                      <a:pt x="63547" y="33333"/>
                      <a:pt x="71438" y="33333"/>
                    </a:cubicBezTo>
                    <a:cubicBezTo>
                      <a:pt x="90483" y="33333"/>
                      <a:pt x="90483" y="61908"/>
                      <a:pt x="71438" y="61908"/>
                    </a:cubicBezTo>
                    <a:cubicBezTo>
                      <a:pt x="63547" y="61908"/>
                      <a:pt x="57150" y="68304"/>
                      <a:pt x="57150" y="76195"/>
                    </a:cubicBezTo>
                    <a:cubicBezTo>
                      <a:pt x="57150" y="95240"/>
                      <a:pt x="28575" y="95240"/>
                      <a:pt x="28575" y="76195"/>
                    </a:cubicBezTo>
                    <a:cubicBezTo>
                      <a:pt x="28575" y="68304"/>
                      <a:pt x="22178" y="61908"/>
                      <a:pt x="14288" y="61908"/>
                    </a:cubicBezTo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</p:sp>
        </p:grpSp>
        <p:sp>
          <p:nvSpPr>
            <p:cNvPr id="67" name="TextBox 67"/>
            <p:cNvSpPr txBox="1"/>
            <p:nvPr/>
          </p:nvSpPr>
          <p:spPr>
            <a:xfrm>
              <a:off x="6810375" y="4486275"/>
              <a:ext cx="1648301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多版本迭代对比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6817042" y="4752499"/>
              <a:ext cx="1527428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3A9E6A"/>
                  </a:solidFill>
                  <a:latin typeface="Arial"/>
                  <a:ea typeface="Microsoft YaHei"/>
                  <a:cs typeface="Arial"/>
                </a:rPr>
                <a:t>ITERATION &amp; COMPARE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6814185" y="4994910"/>
              <a:ext cx="143256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快速生成多套方案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6814185" y="5204460"/>
              <a:ext cx="125730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供人工选择决策</a:t>
              </a:r>
            </a:p>
          </p:txBody>
        </p:sp>
      </p:grpSp>
      <p:sp>
        <p:nvSpPr>
          <p:cNvPr id="72" name="Line 72"/>
          <p:cNvSpPr/>
          <p:nvPr/>
        </p:nvSpPr>
        <p:spPr>
          <a:xfrm>
            <a:off x="762000" y="59436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73" name="TextBox 73"/>
          <p:cNvSpPr txBox="1"/>
          <p:nvPr/>
        </p:nvSpPr>
        <p:spPr>
          <a:xfrm>
            <a:off x="3355467" y="6061710"/>
            <a:ext cx="5481066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Claude Design = 你的 AI 设计顾问 · 不懂 PS/Figma 也能出专业视觉稿</a:t>
            </a:r>
          </a:p>
        </p:txBody>
      </p:sp>
      <p:sp>
        <p:nvSpPr>
          <p:cNvPr id="74" name="TextBox 74"/>
          <p:cNvSpPr txBox="1"/>
          <p:nvPr/>
        </p:nvSpPr>
        <p:spPr>
          <a:xfrm>
            <a:off x="11093434" y="6554152"/>
            <a:ext cx="54040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04 / 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4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1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4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5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16" presetClass="entr" presetSubtype="2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9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18" presetClass="entr" presetSubtype="1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23" dur="4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36" grpId="0"/>
      <p:bldP spid="48" grpId="0"/>
      <p:bldP spid="58" grpId="0"/>
      <p:bldP spid="7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grpSp>
        <p:nvGrpSpPr>
          <p:cNvPr id="6" name="Group 6"/>
          <p:cNvGrpSpPr/>
          <p:nvPr/>
        </p:nvGrpSpPr>
        <p:grpSpPr>
          <a:xfrm>
            <a:off x="762000" y="394335"/>
            <a:ext cx="10668000" cy="548640"/>
            <a:chOff x="762000" y="394335"/>
            <a:chExt cx="10668000" cy="548640"/>
          </a:xfrm>
        </p:grpSpPr>
        <p:sp>
          <p:nvSpPr>
            <p:cNvPr id="4" name="TextBox 4"/>
            <p:cNvSpPr txBox="1"/>
            <p:nvPr/>
          </p:nvSpPr>
          <p:spPr>
            <a:xfrm>
              <a:off x="3080537" y="394335"/>
              <a:ext cx="6030925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7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没有 Claude Design vs 有了以后</a:t>
              </a:r>
            </a:p>
          </p:txBody>
        </p:sp>
        <p:sp>
          <p:nvSpPr>
            <p:cNvPr id="5" name="Line 5"/>
            <p:cNvSpPr/>
            <p:nvPr/>
          </p:nvSpPr>
          <p:spPr>
            <a:xfrm>
              <a:off x="762000" y="9144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4288">
              <a:solidFill>
                <a:srgbClr val="E0D8D0"/>
              </a:solidFill>
            </a:ln>
          </p:spPr>
        </p:sp>
      </p:grpSp>
      <p:grpSp>
        <p:nvGrpSpPr>
          <p:cNvPr id="25" name="Group 25"/>
          <p:cNvGrpSpPr/>
          <p:nvPr/>
        </p:nvGrpSpPr>
        <p:grpSpPr>
          <a:xfrm>
            <a:off x="571500" y="1123950"/>
            <a:ext cx="5143500" cy="5029200"/>
            <a:chOff x="571500" y="1123950"/>
            <a:chExt cx="5143500" cy="5029200"/>
          </a:xfrm>
        </p:grpSpPr>
        <p:sp>
          <p:nvSpPr>
            <p:cNvPr id="7" name="Rectangle 7"/>
            <p:cNvSpPr/>
            <p:nvPr/>
          </p:nvSpPr>
          <p:spPr>
            <a:xfrm>
              <a:off x="571500" y="1123950"/>
              <a:ext cx="5143500" cy="5029200"/>
            </a:xfrm>
            <a:prstGeom prst="roundRect">
              <a:avLst>
                <a:gd name="adj" fmla="val 3788"/>
              </a:avLst>
            </a:prstGeom>
            <a:solidFill>
              <a:srgbClr val="F0EDE8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571500" y="1123950"/>
              <a:ext cx="5143500" cy="552450"/>
            </a:xfrm>
            <a:prstGeom prst="roundRect">
              <a:avLst>
                <a:gd name="adj" fmla="val 34483"/>
              </a:avLst>
            </a:prstGeom>
            <a:solidFill>
              <a:srgbClr val="9E9E9E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571500" y="1409700"/>
              <a:ext cx="5143500" cy="266700"/>
            </a:xfrm>
            <a:prstGeom prst="rect">
              <a:avLst/>
            </a:prstGeom>
            <a:solidFill>
              <a:srgbClr val="9E9E9E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2230718" y="1321118"/>
              <a:ext cx="182506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BEFORE · 传统方式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838200" y="1924050"/>
              <a:ext cx="4610100" cy="1047750"/>
            </a:xfrm>
            <a:prstGeom prst="roundRect">
              <a:avLst>
                <a:gd name="adj" fmla="val 9091"/>
              </a:avLst>
            </a:prstGeom>
            <a:solidFill>
              <a:srgbClr val="FFFFFF">
                <a:alpha val="70000"/>
              </a:srgbClr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87755" y="2121218"/>
              <a:ext cx="169049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😥 找设计师 / 外包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9660" y="2404110"/>
              <a:ext cx="284340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费用 $500~$3000，等 2~4 周才出稿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89660" y="2632710"/>
              <a:ext cx="195834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沟通成本高，改稿无底洞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838200" y="3124200"/>
              <a:ext cx="4610100" cy="1047750"/>
            </a:xfrm>
            <a:prstGeom prst="roundRect">
              <a:avLst>
                <a:gd name="adj" fmla="val 9091"/>
              </a:avLst>
            </a:prstGeom>
            <a:solidFill>
              <a:srgbClr val="FFFFFF">
                <a:alpha val="70000"/>
              </a:srgbClr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087755" y="3321368"/>
              <a:ext cx="17112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😕 自学 Figma / PS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89660" y="3604260"/>
              <a:ext cx="213360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入门门槛高，软件操作复杂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089660" y="3832860"/>
              <a:ext cx="178308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学会之前网站上不了线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838200" y="4324350"/>
              <a:ext cx="4610100" cy="1047750"/>
            </a:xfrm>
            <a:prstGeom prst="roundRect">
              <a:avLst>
                <a:gd name="adj" fmla="val 9091"/>
              </a:avLst>
            </a:prstGeom>
            <a:solidFill>
              <a:srgbClr val="FFFFFF">
                <a:alpha val="70000"/>
              </a:srgbClr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87755" y="4521518"/>
              <a:ext cx="145241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😰 反复修稿循环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89660" y="4804410"/>
              <a:ext cx="230886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设计与代码脱节，改一处全崩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89660" y="5033010"/>
              <a:ext cx="213360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视觉稿和实现结果相差很大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38200" y="5562600"/>
              <a:ext cx="4610100" cy="419100"/>
            </a:xfrm>
            <a:prstGeom prst="roundRect">
              <a:avLst>
                <a:gd name="adj" fmla="val 18182"/>
              </a:avLst>
            </a:prstGeom>
            <a:solidFill>
              <a:srgbClr val="9E9E9E">
                <a:alpha val="25000"/>
              </a:srgbClr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1831708" y="5682139"/>
              <a:ext cx="2623084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75" b="1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⌛ 平均周期 4~8 周 · 成本高昂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5753100" y="3295650"/>
            <a:ext cx="685800" cy="685800"/>
            <a:chOff x="5753100" y="3295650"/>
            <a:chExt cx="685800" cy="685800"/>
          </a:xfrm>
        </p:grpSpPr>
        <p:sp>
          <p:nvSpPr>
            <p:cNvPr id="26" name="Ellipse 26"/>
            <p:cNvSpPr/>
            <p:nvPr/>
          </p:nvSpPr>
          <p:spPr>
            <a:xfrm>
              <a:off x="5753100" y="3295650"/>
              <a:ext cx="685800" cy="685800"/>
            </a:xfrm>
            <a:prstGeom prst="ellipse">
              <a:avLst/>
            </a:prstGeom>
            <a:solidFill>
              <a:srgbClr val="1E1E1E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5979547" y="3451860"/>
              <a:ext cx="23290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VS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026229" y="3690938"/>
              <a:ext cx="139541" cy="152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50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PK</a:t>
              </a: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6477000" y="1123950"/>
            <a:ext cx="5143500" cy="5029200"/>
            <a:chOff x="6477000" y="1123950"/>
            <a:chExt cx="5143500" cy="5029200"/>
          </a:xfrm>
        </p:grpSpPr>
        <p:sp>
          <p:nvSpPr>
            <p:cNvPr id="30" name="Rectangle 30"/>
            <p:cNvSpPr/>
            <p:nvPr/>
          </p:nvSpPr>
          <p:spPr>
            <a:xfrm>
              <a:off x="6477000" y="1123950"/>
              <a:ext cx="5143500" cy="5029200"/>
            </a:xfrm>
            <a:prstGeom prst="roundRect">
              <a:avLst>
                <a:gd name="adj" fmla="val 3788"/>
              </a:avLst>
            </a:prstGeom>
            <a:solidFill>
              <a:srgbClr val="F5EDE6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6477000" y="1123950"/>
              <a:ext cx="5143500" cy="552450"/>
            </a:xfrm>
            <a:prstGeom prst="roundRect">
              <a:avLst>
                <a:gd name="adj" fmla="val 34483"/>
              </a:avLst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6477000" y="1409700"/>
              <a:ext cx="5143500" cy="266700"/>
            </a:xfrm>
            <a:prstGeom prst="rect">
              <a:avLst/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965422" y="1321118"/>
              <a:ext cx="216665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AFTER · Claude Design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743700" y="1924050"/>
              <a:ext cx="4610100" cy="1047750"/>
            </a:xfrm>
            <a:prstGeom prst="roundRect">
              <a:avLst>
                <a:gd name="adj" fmla="val 9091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993255" y="2121218"/>
              <a:ext cx="210454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✨ 文字描述 → 即时出稿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995160" y="2404110"/>
              <a:ext cx="24841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用中文描述你的需求和风格偏好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995160" y="2632710"/>
              <a:ext cx="210731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5 分钟内生成完整视觉方案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743700" y="3124200"/>
              <a:ext cx="4610100" cy="1047750"/>
            </a:xfrm>
            <a:prstGeom prst="roundRect">
              <a:avLst>
                <a:gd name="adj" fmla="val 9091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993255" y="3321368"/>
              <a:ext cx="165944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🌟 多版本对比选择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995160" y="3604260"/>
              <a:ext cx="1984629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一次生成 3 套风格供你选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995160" y="3832860"/>
              <a:ext cx="213360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不满意继续改，分钟级迭代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743700" y="4324350"/>
              <a:ext cx="4610100" cy="1047750"/>
            </a:xfrm>
            <a:prstGeom prst="roundRect">
              <a:avLst>
                <a:gd name="adj" fmla="val 9091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993255" y="4521518"/>
              <a:ext cx="145241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🔗 设计直通代码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995160" y="4804410"/>
              <a:ext cx="283464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Design Brief 直接喂给 Claude Code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995160" y="5033010"/>
              <a:ext cx="240525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设计与实现 100% 对齐，无断层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6743700" y="5562600"/>
              <a:ext cx="4610100" cy="419100"/>
            </a:xfrm>
            <a:prstGeom prst="roundRect">
              <a:avLst>
                <a:gd name="adj" fmla="val 18182"/>
              </a:avLst>
            </a:prstGeom>
            <a:solidFill>
              <a:srgbClr val="C96133">
                <a:alpha val="15000"/>
              </a:srgbClr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7663886" y="5682139"/>
              <a:ext cx="2769727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75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⚡ 当天完成视觉稿 · 零设计成本</a:t>
              </a:r>
            </a:p>
          </p:txBody>
        </p:sp>
      </p:grpSp>
      <p:sp>
        <p:nvSpPr>
          <p:cNvPr id="49" name="TextBox 49"/>
          <p:cNvSpPr txBox="1"/>
          <p:nvPr/>
        </p:nvSpPr>
        <p:spPr>
          <a:xfrm>
            <a:off x="11093434" y="6554152"/>
            <a:ext cx="54040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05 / 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1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4)">
                                      <p:cBhvr>
                                        <p:cTn id="15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9" grpId="0"/>
      <p:bldP spid="4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762000" y="356235"/>
            <a:ext cx="10668000" cy="796290"/>
            <a:chOff x="762000" y="356235"/>
            <a:chExt cx="10668000" cy="796290"/>
          </a:xfrm>
        </p:grpSpPr>
        <p:sp>
          <p:nvSpPr>
            <p:cNvPr id="4" name="TextBox 4"/>
            <p:cNvSpPr txBox="1"/>
            <p:nvPr/>
          </p:nvSpPr>
          <p:spPr>
            <a:xfrm>
              <a:off x="5264660" y="356235"/>
              <a:ext cx="1662679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7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5 秒法则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3870055" y="774382"/>
              <a:ext cx="445189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访客落地 5 秒内 — 他能不能看懂你是谁？</a:t>
              </a:r>
            </a:p>
          </p:txBody>
        </p:sp>
        <p:sp>
          <p:nvSpPr>
            <p:cNvPr id="6" name="Line 6"/>
            <p:cNvSpPr/>
            <p:nvPr/>
          </p:nvSpPr>
          <p:spPr>
            <a:xfrm>
              <a:off x="762000" y="1143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4288">
              <a:solidFill>
                <a:srgbClr val="E0D8D0"/>
              </a:solidFill>
            </a:ln>
          </p:spPr>
        </p:sp>
      </p:grpSp>
      <p:sp>
        <p:nvSpPr>
          <p:cNvPr id="8" name="Rectangle 8"/>
          <p:cNvSpPr/>
          <p:nvPr/>
        </p:nvSpPr>
        <p:spPr>
          <a:xfrm>
            <a:off x="762000" y="1314450"/>
            <a:ext cx="10668000" cy="419100"/>
          </a:xfrm>
          <a:prstGeom prst="roundRect">
            <a:avLst>
              <a:gd name="adj" fmla="val 18182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3086421" y="1433989"/>
            <a:ext cx="6019157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 xml:space="preserve">研究表明：用户决定留下还是离开，平均只需 </a:t>
            </a:r>
            <a:r>
              <a:rPr lang="zh-CN" sz="1275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5 秒</a:t>
            </a:r>
            <a:r>
              <a:rPr lang="zh-CN" sz="12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。首屏设计决定一切。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571500" y="1924050"/>
            <a:ext cx="5295900" cy="4191000"/>
            <a:chOff x="571500" y="1924050"/>
            <a:chExt cx="5295900" cy="4191000"/>
          </a:xfrm>
        </p:grpSpPr>
        <p:sp>
          <p:nvSpPr>
            <p:cNvPr id="10" name="Rectangle 10"/>
            <p:cNvSpPr/>
            <p:nvPr/>
          </p:nvSpPr>
          <p:spPr>
            <a:xfrm>
              <a:off x="571500" y="1924050"/>
              <a:ext cx="5295900" cy="4191000"/>
            </a:xfrm>
            <a:prstGeom prst="roundRect">
              <a:avLst>
                <a:gd name="adj" fmla="val 4545"/>
              </a:avLst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1990725" y="1924050"/>
              <a:ext cx="2457450" cy="495300"/>
            </a:xfrm>
            <a:custGeom>
              <a:avLst/>
              <a:gdLst/>
              <a:ahLst/>
              <a:cxnLst/>
              <a:rect l="l" t="t" r="r" b="b"/>
              <a:pathLst>
                <a:path w="2457450" h="495300">
                  <a:moveTo>
                    <a:pt x="228600" y="0"/>
                  </a:moveTo>
                  <a:lnTo>
                    <a:pt x="2228850" y="0"/>
                  </a:lnTo>
                  <a:cubicBezTo>
                    <a:pt x="2355102" y="0"/>
                    <a:pt x="2457450" y="102348"/>
                    <a:pt x="2457450" y="228600"/>
                  </a:cubicBezTo>
                  <a:lnTo>
                    <a:pt x="2457450" y="495300"/>
                  </a:lnTo>
                  <a:lnTo>
                    <a:pt x="0" y="495300"/>
                  </a:ln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D44545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2560129" y="2146935"/>
              <a:ext cx="131864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✘ 反例 — 看不懂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2571750"/>
              <a:ext cx="4914900" cy="2095500"/>
            </a:xfrm>
            <a:prstGeom prst="roundRect">
              <a:avLst>
                <a:gd name="adj" fmla="val 4545"/>
              </a:avLst>
            </a:prstGeom>
            <a:solidFill>
              <a:srgbClr val="FFFFFF"/>
            </a:solidFill>
            <a:ln w="9525">
              <a:solidFill>
                <a:srgbClr val="E0D8D0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762000" y="2571750"/>
              <a:ext cx="4914900" cy="361950"/>
            </a:xfrm>
            <a:prstGeom prst="roundRect">
              <a:avLst>
                <a:gd name="adj" fmla="val 26316"/>
              </a:avLst>
            </a:prstGeom>
            <a:solidFill>
              <a:srgbClr val="EEEEEE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762000" y="2762250"/>
              <a:ext cx="4914900" cy="171450"/>
            </a:xfrm>
            <a:prstGeom prst="rect">
              <a:avLst/>
            </a:prstGeom>
            <a:solidFill>
              <a:srgbClr val="EEEEEE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016318" y="2714149"/>
              <a:ext cx="75099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MyWebsite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369118" y="2714149"/>
              <a:ext cx="1391793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Home About Contact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797225" y="3152775"/>
              <a:ext cx="2844451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333333"/>
                  </a:solidFill>
                  <a:latin typeface="Arial"/>
                  <a:ea typeface="Microsoft YaHei"/>
                  <a:cs typeface="Arial"/>
                </a:rPr>
                <a:t>Welcome to Our Platform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036802" y="3449002"/>
              <a:ext cx="236529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We provide innovative solutions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270665" y="3639502"/>
              <a:ext cx="189757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for your business needs.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2552700" y="3962400"/>
              <a:ext cx="1333500" cy="342900"/>
            </a:xfrm>
            <a:prstGeom prst="roundRect">
              <a:avLst>
                <a:gd name="adj" fmla="val 50000"/>
              </a:avLst>
            </a:prstGeom>
            <a:solidFill>
              <a:srgbClr val="CCCCCC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2788229" y="4068128"/>
              <a:ext cx="86244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666666"/>
                  </a:solidFill>
                  <a:latin typeface="Arial"/>
                  <a:ea typeface="Microsoft YaHei"/>
                  <a:cs typeface="Arial"/>
                </a:rPr>
                <a:t>Learn More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4800600"/>
              <a:ext cx="4914900" cy="1143000"/>
            </a:xfrm>
            <a:prstGeom prst="roundRect">
              <a:avLst>
                <a:gd name="adj" fmla="val 8333"/>
              </a:avLst>
            </a:prstGeom>
            <a:solidFill>
              <a:srgbClr val="FFF0F0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1014412" y="4926806"/>
              <a:ext cx="1607147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D44545"/>
                  </a:solidFill>
                  <a:latin typeface="Arial"/>
                  <a:ea typeface="Microsoft YaHei"/>
                  <a:cs typeface="Arial"/>
                </a:rPr>
                <a:t>访客 5 秒后的疑问：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14412" y="5174456"/>
              <a:ext cx="164699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· 你到底是做什么的？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014412" y="5384006"/>
              <a:ext cx="164699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· 这跟我有什么关系？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014412" y="5593556"/>
              <a:ext cx="164699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· 我为什么要留下来？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6324600" y="1924050"/>
            <a:ext cx="5295900" cy="4191000"/>
            <a:chOff x="6324600" y="1924050"/>
            <a:chExt cx="5295900" cy="4191000"/>
          </a:xfrm>
        </p:grpSpPr>
        <p:sp>
          <p:nvSpPr>
            <p:cNvPr id="29" name="Rectangle 29"/>
            <p:cNvSpPr/>
            <p:nvPr/>
          </p:nvSpPr>
          <p:spPr>
            <a:xfrm>
              <a:off x="6324600" y="1924050"/>
              <a:ext cx="5295900" cy="4191000"/>
            </a:xfrm>
            <a:prstGeom prst="roundRect">
              <a:avLst>
                <a:gd name="adj" fmla="val 4545"/>
              </a:avLst>
            </a:prstGeom>
            <a:solidFill>
              <a:srgbClr val="EDF6F1"/>
            </a:solidFill>
            <a:ln>
              <a:noFill/>
            </a:ln>
          </p:spPr>
        </p:sp>
        <p:sp>
          <p:nvSpPr>
            <p:cNvPr id="30" name="Freeform 30"/>
            <p:cNvSpPr/>
            <p:nvPr/>
          </p:nvSpPr>
          <p:spPr>
            <a:xfrm>
              <a:off x="7743825" y="1924050"/>
              <a:ext cx="2457450" cy="495300"/>
            </a:xfrm>
            <a:custGeom>
              <a:avLst/>
              <a:gdLst/>
              <a:ahLst/>
              <a:cxnLst/>
              <a:rect l="l" t="t" r="r" b="b"/>
              <a:pathLst>
                <a:path w="2457450" h="495300">
                  <a:moveTo>
                    <a:pt x="228600" y="0"/>
                  </a:moveTo>
                  <a:lnTo>
                    <a:pt x="2228850" y="0"/>
                  </a:lnTo>
                  <a:cubicBezTo>
                    <a:pt x="2355102" y="0"/>
                    <a:pt x="2457450" y="102348"/>
                    <a:pt x="2457450" y="228600"/>
                  </a:cubicBezTo>
                  <a:lnTo>
                    <a:pt x="2457450" y="495300"/>
                  </a:lnTo>
                  <a:lnTo>
                    <a:pt x="0" y="495300"/>
                  </a:ln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3A9E6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221218" y="2146935"/>
              <a:ext cx="1502664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✔ 正例 — 一眼秒懂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515100" y="2571750"/>
              <a:ext cx="4914900" cy="2095500"/>
            </a:xfrm>
            <a:prstGeom prst="roundRect">
              <a:avLst>
                <a:gd name="adj" fmla="val 4545"/>
              </a:avLst>
            </a:prstGeom>
            <a:solidFill>
              <a:srgbClr val="FFFFFF"/>
            </a:solidFill>
            <a:ln w="9525">
              <a:solidFill>
                <a:srgbClr val="C8E6D8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6515100" y="2571750"/>
              <a:ext cx="4914900" cy="361950"/>
            </a:xfrm>
            <a:prstGeom prst="roundRect">
              <a:avLst>
                <a:gd name="adj" fmla="val 26316"/>
              </a:avLst>
            </a:prstGeom>
            <a:solidFill>
              <a:srgbClr val="F9F9F9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6515100" y="2762250"/>
              <a:ext cx="4914900" cy="171450"/>
            </a:xfrm>
            <a:prstGeom prst="rect">
              <a:avLst/>
            </a:prstGeom>
            <a:solidFill>
              <a:srgbClr val="F9F9F9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769418" y="2714149"/>
              <a:ext cx="652743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Austin AI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122218" y="2714149"/>
              <a:ext cx="96459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课程 案例 联系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467546" y="3100864"/>
              <a:ext cx="1010007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75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帮北美华人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836980" y="3329464"/>
              <a:ext cx="2271140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75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用 AI 工具找到更好的工作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774698" y="3609499"/>
              <a:ext cx="239570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免费公开课 · 付费实战营 · Demo Day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8210550" y="3886200"/>
              <a:ext cx="1524000" cy="342900"/>
            </a:xfrm>
            <a:prstGeom prst="roundRect">
              <a:avLst>
                <a:gd name="adj" fmla="val 50000"/>
              </a:avLst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476155" y="3991928"/>
              <a:ext cx="99279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立即了解课程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515100" y="4800600"/>
              <a:ext cx="4914900" cy="1143000"/>
            </a:xfrm>
            <a:prstGeom prst="roundRect">
              <a:avLst>
                <a:gd name="adj" fmla="val 8333"/>
              </a:avLst>
            </a:prstGeom>
            <a:solidFill>
              <a:srgbClr val="EDF6F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767512" y="4926806"/>
              <a:ext cx="177966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3A9E6A"/>
                  </a:solidFill>
                  <a:latin typeface="Arial"/>
                  <a:ea typeface="Microsoft YaHei"/>
                  <a:cs typeface="Arial"/>
                </a:rPr>
                <a:t>访客 5 秒后清楚知道：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767512" y="5174456"/>
              <a:ext cx="221384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✓ 这是 AI 课程，面向北美华人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767512" y="5384006"/>
              <a:ext cx="181129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✓ 能帮我找到更好的工作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767512" y="5593556"/>
              <a:ext cx="164699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✓ 有免费课可以先体验</a:t>
              </a:r>
            </a:p>
          </p:txBody>
        </p:sp>
      </p:grpSp>
      <p:sp>
        <p:nvSpPr>
          <p:cNvPr id="48" name="TextBox 48"/>
          <p:cNvSpPr txBox="1"/>
          <p:nvPr/>
        </p:nvSpPr>
        <p:spPr>
          <a:xfrm>
            <a:off x="3774710" y="6535102"/>
            <a:ext cx="464258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Brief 给 Claude Design 时第一句就要说清楚：谁 · 做什么 · 服务谁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1093434" y="6535102"/>
            <a:ext cx="54040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06 / 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47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727710" y="356235"/>
            <a:ext cx="10702290" cy="777240"/>
            <a:chOff x="727710" y="356235"/>
            <a:chExt cx="10702290" cy="777240"/>
          </a:xfrm>
        </p:grpSpPr>
        <p:sp>
          <p:nvSpPr>
            <p:cNvPr id="4" name="TextBox 4"/>
            <p:cNvSpPr txBox="1"/>
            <p:nvPr/>
          </p:nvSpPr>
          <p:spPr>
            <a:xfrm>
              <a:off x="727710" y="356235"/>
              <a:ext cx="4623149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网站信息结构：五层模型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741045" y="774382"/>
              <a:ext cx="4656725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访客视角从上到下 · 每层解决一个核心问题</a:t>
              </a:r>
            </a:p>
          </p:txBody>
        </p:sp>
        <p:sp>
          <p:nvSpPr>
            <p:cNvPr id="6" name="Line 6"/>
            <p:cNvSpPr/>
            <p:nvPr/>
          </p:nvSpPr>
          <p:spPr>
            <a:xfrm>
              <a:off x="762000" y="11239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4288">
              <a:solidFill>
                <a:srgbClr val="E0D8D0"/>
              </a:solidFill>
            </a:ln>
          </p:spPr>
        </p:sp>
      </p:grpSp>
      <p:sp>
        <p:nvSpPr>
          <p:cNvPr id="8" name="Line 8"/>
          <p:cNvSpPr/>
          <p:nvPr/>
        </p:nvSpPr>
        <p:spPr>
          <a:xfrm>
            <a:off x="1676400" y="1333500"/>
            <a:ext cx="9525" cy="4953000"/>
          </a:xfrm>
          <a:custGeom>
            <a:avLst/>
            <a:gdLst/>
            <a:ahLst/>
            <a:cxnLst/>
            <a:rect l="l" t="t" r="r" b="b"/>
            <a:pathLst>
              <a:path w="9525" h="4953000">
                <a:moveTo>
                  <a:pt x="0" y="0"/>
                </a:moveTo>
                <a:lnTo>
                  <a:pt x="0" y="4953000"/>
                </a:lnTo>
              </a:path>
            </a:pathLst>
          </a:custGeom>
          <a:noFill/>
          <a:ln w="28575" cap="rnd">
            <a:solidFill>
              <a:srgbClr val="E0D8D0"/>
            </a:solidFill>
          </a:ln>
        </p:spPr>
      </p:sp>
      <p:sp>
        <p:nvSpPr>
          <p:cNvPr id="9" name="Polygon 9"/>
          <p:cNvSpPr/>
          <p:nvPr/>
        </p:nvSpPr>
        <p:spPr>
          <a:xfrm>
            <a:off x="1600200" y="6229350"/>
            <a:ext cx="152400" cy="133350"/>
          </a:xfrm>
          <a:custGeom>
            <a:avLst/>
            <a:gdLst/>
            <a:ahLst/>
            <a:cxnLst/>
            <a:rect l="l" t="t" r="r" b="b"/>
            <a:pathLst>
              <a:path w="152400" h="133350">
                <a:moveTo>
                  <a:pt x="76200" y="133350"/>
                </a:moveTo>
                <a:lnTo>
                  <a:pt x="152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C96133">
              <a:alpha val="50000"/>
            </a:srgbClr>
          </a:solidFill>
          <a:ln>
            <a:noFill/>
          </a:ln>
        </p:spPr>
      </p:sp>
      <p:grpSp>
        <p:nvGrpSpPr>
          <p:cNvPr id="21" name="Group 21"/>
          <p:cNvGrpSpPr/>
          <p:nvPr/>
        </p:nvGrpSpPr>
        <p:grpSpPr>
          <a:xfrm>
            <a:off x="1409700" y="1333500"/>
            <a:ext cx="10210800" cy="609600"/>
            <a:chOff x="1409700" y="1333500"/>
            <a:chExt cx="10210800" cy="609600"/>
          </a:xfrm>
        </p:grpSpPr>
        <p:sp>
          <p:nvSpPr>
            <p:cNvPr id="10" name="Ellipse 10"/>
            <p:cNvSpPr/>
            <p:nvPr/>
          </p:nvSpPr>
          <p:spPr>
            <a:xfrm>
              <a:off x="1409700" y="1371600"/>
              <a:ext cx="533400" cy="533400"/>
            </a:xfrm>
            <a:prstGeom prst="ellipse">
              <a:avLst/>
            </a:prstGeom>
            <a:solidFill>
              <a:srgbClr val="C96133">
                <a:alpha val="15000"/>
              </a:srgbClr>
            </a:solidFill>
            <a:ln>
              <a:noFill/>
            </a:ln>
          </p:spPr>
        </p:sp>
        <p:sp>
          <p:nvSpPr>
            <p:cNvPr id="11" name="Ellipse 11"/>
            <p:cNvSpPr/>
            <p:nvPr/>
          </p:nvSpPr>
          <p:spPr>
            <a:xfrm>
              <a:off x="1485900" y="1447800"/>
              <a:ext cx="381000" cy="381000"/>
            </a:xfrm>
            <a:prstGeom prst="ellipse">
              <a:avLst/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600472" y="1599724"/>
              <a:ext cx="15185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3" name="Line 13"/>
            <p:cNvSpPr/>
            <p:nvPr/>
          </p:nvSpPr>
          <p:spPr>
            <a:xfrm>
              <a:off x="1943100" y="1638300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9050">
              <a:solidFill>
                <a:srgbClr val="C96133">
                  <a:alpha val="60000"/>
                </a:srgbClr>
              </a:solidFill>
              <a:custDash>
                <a:ds d="200000" sp="150000"/>
              </a:custDash>
            </a:ln>
          </p:spPr>
        </p:sp>
        <p:sp>
          <p:nvSpPr>
            <p:cNvPr id="14" name="Rectangle 14"/>
            <p:cNvSpPr/>
            <p:nvPr/>
          </p:nvSpPr>
          <p:spPr>
            <a:xfrm>
              <a:off x="2286000" y="1333500"/>
              <a:ext cx="9334500" cy="609600"/>
            </a:xfrm>
            <a:prstGeom prst="roundRect">
              <a:avLst>
                <a:gd name="adj" fmla="val 15625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2286000" y="1333500"/>
              <a:ext cx="47625" cy="609600"/>
            </a:xfrm>
            <a:prstGeom prst="roundRect">
              <a:avLst>
                <a:gd name="adj" fmla="val 40000"/>
              </a:avLst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2533650" y="1409700"/>
              <a:ext cx="843201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Hero 区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537460" y="1661160"/>
              <a:ext cx="460476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一句话价值主张 + 核心受众 + 最强 CTA。5 秒法则的战场。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0344874" y="1359218"/>
              <a:ext cx="1121321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2850" b="1" dirty="0">
                  <a:solidFill>
                    <a:srgbClr val="C96133">
                      <a:alphaMod val="7000"/>
                    </a:srgbClr>
                  </a:solidFill>
                  <a:latin typeface="Arial"/>
                  <a:ea typeface="Microsoft YaHei"/>
                  <a:cs typeface="Arial"/>
                </a:rPr>
                <a:t>HERO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8458200" y="1428750"/>
              <a:ext cx="914400" cy="228600"/>
            </a:xfrm>
            <a:prstGeom prst="roundRect">
              <a:avLst>
                <a:gd name="adj" fmla="val 50000"/>
              </a:avLst>
            </a:prstGeom>
            <a:solidFill>
              <a:srgbClr val="F0EDE8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529221" y="1485424"/>
              <a:ext cx="772358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最高优先级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1409700" y="2190750"/>
            <a:ext cx="10210800" cy="609600"/>
            <a:chOff x="1409700" y="2190750"/>
            <a:chExt cx="10210800" cy="609600"/>
          </a:xfrm>
        </p:grpSpPr>
        <p:sp>
          <p:nvSpPr>
            <p:cNvPr id="22" name="Ellipse 22"/>
            <p:cNvSpPr/>
            <p:nvPr/>
          </p:nvSpPr>
          <p:spPr>
            <a:xfrm>
              <a:off x="1409700" y="2228850"/>
              <a:ext cx="533400" cy="533400"/>
            </a:xfrm>
            <a:prstGeom prst="ellipse">
              <a:avLst/>
            </a:prstGeom>
            <a:solidFill>
              <a:srgbClr val="D44545">
                <a:alpha val="12000"/>
              </a:srgbClr>
            </a:solidFill>
            <a:ln>
              <a:noFill/>
            </a:ln>
          </p:spPr>
        </p:sp>
        <p:sp>
          <p:nvSpPr>
            <p:cNvPr id="23" name="Ellipse 23"/>
            <p:cNvSpPr/>
            <p:nvPr/>
          </p:nvSpPr>
          <p:spPr>
            <a:xfrm>
              <a:off x="1485900" y="2305050"/>
              <a:ext cx="381000" cy="381000"/>
            </a:xfrm>
            <a:prstGeom prst="ellipse">
              <a:avLst/>
            </a:prstGeom>
            <a:solidFill>
              <a:srgbClr val="D44545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1581782" y="2456974"/>
              <a:ext cx="18923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Line 25"/>
            <p:cNvSpPr/>
            <p:nvPr/>
          </p:nvSpPr>
          <p:spPr>
            <a:xfrm>
              <a:off x="1943100" y="2495550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9050">
              <a:solidFill>
                <a:srgbClr val="D44545">
                  <a:alpha val="60000"/>
                </a:srgbClr>
              </a:solidFill>
              <a:custDash>
                <a:ds d="200000" sp="150000"/>
              </a:custDash>
            </a:ln>
          </p:spPr>
        </p:sp>
        <p:sp>
          <p:nvSpPr>
            <p:cNvPr id="26" name="Rectangle 26"/>
            <p:cNvSpPr/>
            <p:nvPr/>
          </p:nvSpPr>
          <p:spPr>
            <a:xfrm>
              <a:off x="2286000" y="2190750"/>
              <a:ext cx="9334500" cy="609600"/>
            </a:xfrm>
            <a:prstGeom prst="roundRect">
              <a:avLst>
                <a:gd name="adj" fmla="val 15625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2286000" y="2190750"/>
              <a:ext cx="47625" cy="609600"/>
            </a:xfrm>
            <a:prstGeom prst="roundRect">
              <a:avLst>
                <a:gd name="adj" fmla="val 40000"/>
              </a:avLst>
            </a:prstGeom>
            <a:solidFill>
              <a:srgbClr val="D44545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2533650" y="2266950"/>
              <a:ext cx="1222748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问题 / 痛点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2537460" y="2518410"/>
              <a:ext cx="478002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用访客自己的语言描述他的痛点，让他感到"这就是在说我"。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541548" y="2216468"/>
              <a:ext cx="924647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2850" b="1" dirty="0">
                  <a:solidFill>
                    <a:srgbClr val="D44545">
                      <a:alphaMod val="7000"/>
                    </a:srgbClr>
                  </a:solidFill>
                  <a:latin typeface="Arial"/>
                  <a:ea typeface="Microsoft YaHei"/>
                  <a:cs typeface="Arial"/>
                </a:rPr>
                <a:t>PAIN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1409700" y="3048000"/>
            <a:ext cx="10210800" cy="609600"/>
            <a:chOff x="1409700" y="3048000"/>
            <a:chExt cx="10210800" cy="609600"/>
          </a:xfrm>
        </p:grpSpPr>
        <p:sp>
          <p:nvSpPr>
            <p:cNvPr id="32" name="Ellipse 32"/>
            <p:cNvSpPr/>
            <p:nvPr/>
          </p:nvSpPr>
          <p:spPr>
            <a:xfrm>
              <a:off x="1409700" y="3086100"/>
              <a:ext cx="533400" cy="533400"/>
            </a:xfrm>
            <a:prstGeom prst="ellipse">
              <a:avLst/>
            </a:prstGeom>
            <a:solidFill>
              <a:srgbClr val="3D7DE4">
                <a:alpha val="12000"/>
              </a:srgbClr>
            </a:solidFill>
            <a:ln>
              <a:noFill/>
            </a:ln>
          </p:spPr>
        </p:sp>
        <p:sp>
          <p:nvSpPr>
            <p:cNvPr id="33" name="Ellipse 33"/>
            <p:cNvSpPr/>
            <p:nvPr/>
          </p:nvSpPr>
          <p:spPr>
            <a:xfrm>
              <a:off x="1485900" y="3162300"/>
              <a:ext cx="381000" cy="381000"/>
            </a:xfrm>
            <a:prstGeom prst="ellipse">
              <a:avLst/>
            </a:prstGeom>
            <a:solidFill>
              <a:srgbClr val="3D7DE4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1581782" y="3314224"/>
              <a:ext cx="18923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1943100" y="3352800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9050">
              <a:solidFill>
                <a:srgbClr val="3D7DE4">
                  <a:alpha val="60000"/>
                </a:srgbClr>
              </a:solidFill>
              <a:custDash>
                <a:ds d="200000" sp="150000"/>
              </a:custDash>
            </a:ln>
          </p:spPr>
        </p:sp>
        <p:sp>
          <p:nvSpPr>
            <p:cNvPr id="36" name="Rectangle 36"/>
            <p:cNvSpPr/>
            <p:nvPr/>
          </p:nvSpPr>
          <p:spPr>
            <a:xfrm>
              <a:off x="2286000" y="3048000"/>
              <a:ext cx="9334500" cy="609600"/>
            </a:xfrm>
            <a:prstGeom prst="roundRect">
              <a:avLst>
                <a:gd name="adj" fmla="val 15625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2286000" y="3048000"/>
              <a:ext cx="47625" cy="609600"/>
            </a:xfrm>
            <a:prstGeom prst="roundRect">
              <a:avLst>
                <a:gd name="adj" fmla="val 40000"/>
              </a:avLst>
            </a:prstGeom>
            <a:solidFill>
              <a:srgbClr val="3D7DE4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2533650" y="3124200"/>
              <a:ext cx="95821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解决方案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2537460" y="3375660"/>
              <a:ext cx="4964049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展示你的产品 / 服务如何解决上面的痛点，聚焦结果而非功能。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9405206" y="3073718"/>
              <a:ext cx="2060989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2850" b="1" dirty="0">
                  <a:solidFill>
                    <a:srgbClr val="3D7DE4">
                      <a:alphaMod val="7000"/>
                    </a:srgbClr>
                  </a:solidFill>
                  <a:latin typeface="Arial"/>
                  <a:ea typeface="Microsoft YaHei"/>
                  <a:cs typeface="Arial"/>
                </a:rPr>
                <a:t>SOLUTION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1409700" y="3905250"/>
            <a:ext cx="10210800" cy="609600"/>
            <a:chOff x="1409700" y="3905250"/>
            <a:chExt cx="10210800" cy="609600"/>
          </a:xfrm>
        </p:grpSpPr>
        <p:sp>
          <p:nvSpPr>
            <p:cNvPr id="42" name="Ellipse 42"/>
            <p:cNvSpPr/>
            <p:nvPr/>
          </p:nvSpPr>
          <p:spPr>
            <a:xfrm>
              <a:off x="1409700" y="3943350"/>
              <a:ext cx="533400" cy="533400"/>
            </a:xfrm>
            <a:prstGeom prst="ellipse">
              <a:avLst/>
            </a:prstGeom>
            <a:solidFill>
              <a:srgbClr val="9E9E9E">
                <a:alpha val="20000"/>
              </a:srgbClr>
            </a:solidFill>
            <a:ln>
              <a:noFill/>
            </a:ln>
          </p:spPr>
        </p:sp>
        <p:sp>
          <p:nvSpPr>
            <p:cNvPr id="43" name="Ellipse 43"/>
            <p:cNvSpPr/>
            <p:nvPr/>
          </p:nvSpPr>
          <p:spPr>
            <a:xfrm>
              <a:off x="1485900" y="4019550"/>
              <a:ext cx="381000" cy="381000"/>
            </a:xfrm>
            <a:prstGeom prst="ellipse">
              <a:avLst/>
            </a:prstGeom>
            <a:solidFill>
              <a:srgbClr val="5A5A5A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1581782" y="4171474"/>
              <a:ext cx="18923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04</a:t>
              </a:r>
            </a:p>
          </p:txBody>
        </p:sp>
        <p:sp>
          <p:nvSpPr>
            <p:cNvPr id="45" name="Line 45"/>
            <p:cNvSpPr/>
            <p:nvPr/>
          </p:nvSpPr>
          <p:spPr>
            <a:xfrm>
              <a:off x="1943100" y="4210050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9050">
              <a:solidFill>
                <a:srgbClr val="5A5A5A">
                  <a:alpha val="40000"/>
                </a:srgbClr>
              </a:solidFill>
              <a:custDash>
                <a:ds d="200000" sp="150000"/>
              </a:custDash>
            </a:ln>
          </p:spPr>
        </p:sp>
        <p:sp>
          <p:nvSpPr>
            <p:cNvPr id="46" name="Rectangle 46"/>
            <p:cNvSpPr/>
            <p:nvPr/>
          </p:nvSpPr>
          <p:spPr>
            <a:xfrm>
              <a:off x="2286000" y="3905250"/>
              <a:ext cx="9334500" cy="609600"/>
            </a:xfrm>
            <a:prstGeom prst="roundRect">
              <a:avLst>
                <a:gd name="adj" fmla="val 15625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2286000" y="3905250"/>
              <a:ext cx="47625" cy="609600"/>
            </a:xfrm>
            <a:prstGeom prst="roundRect">
              <a:avLst>
                <a:gd name="adj" fmla="val 40000"/>
              </a:avLst>
            </a:prstGeom>
            <a:solidFill>
              <a:srgbClr val="5A5A5A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2533650" y="3981450"/>
              <a:ext cx="95821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社会证明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2537460" y="4232910"/>
              <a:ext cx="478002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学员评价、案例数据、媒体背书。让访客看到"别人也在用"。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0017083" y="3930968"/>
              <a:ext cx="1449112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2850" b="1" dirty="0">
                  <a:solidFill>
                    <a:srgbClr val="5A5A5A">
                      <a:alphaMod val="7000"/>
                    </a:srgbClr>
                  </a:solidFill>
                  <a:latin typeface="Arial"/>
                  <a:ea typeface="Microsoft YaHei"/>
                  <a:cs typeface="Arial"/>
                </a:rPr>
                <a:t>PROOF</a:t>
              </a:r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1409700" y="4762500"/>
            <a:ext cx="10210800" cy="609600"/>
            <a:chOff x="1409700" y="4762500"/>
            <a:chExt cx="10210800" cy="609600"/>
          </a:xfrm>
        </p:grpSpPr>
        <p:sp>
          <p:nvSpPr>
            <p:cNvPr id="52" name="Ellipse 52"/>
            <p:cNvSpPr/>
            <p:nvPr/>
          </p:nvSpPr>
          <p:spPr>
            <a:xfrm>
              <a:off x="1409700" y="4800600"/>
              <a:ext cx="533400" cy="533400"/>
            </a:xfrm>
            <a:prstGeom prst="ellipse">
              <a:avLst/>
            </a:prstGeom>
            <a:solidFill>
              <a:srgbClr val="3A9E6A">
                <a:alpha val="15000"/>
              </a:srgbClr>
            </a:solidFill>
            <a:ln>
              <a:noFill/>
            </a:ln>
          </p:spPr>
        </p:sp>
        <p:sp>
          <p:nvSpPr>
            <p:cNvPr id="53" name="Ellipse 53"/>
            <p:cNvSpPr/>
            <p:nvPr/>
          </p:nvSpPr>
          <p:spPr>
            <a:xfrm>
              <a:off x="1485900" y="4876800"/>
              <a:ext cx="381000" cy="381000"/>
            </a:xfrm>
            <a:prstGeom prst="ellipse">
              <a:avLst/>
            </a:prstGeom>
            <a:solidFill>
              <a:srgbClr val="3A9E6A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1581782" y="5028724"/>
              <a:ext cx="18923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05</a:t>
              </a:r>
            </a:p>
          </p:txBody>
        </p:sp>
        <p:sp>
          <p:nvSpPr>
            <p:cNvPr id="55" name="Line 55"/>
            <p:cNvSpPr/>
            <p:nvPr/>
          </p:nvSpPr>
          <p:spPr>
            <a:xfrm>
              <a:off x="1943100" y="5067300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9050">
              <a:solidFill>
                <a:srgbClr val="3A9E6A">
                  <a:alpha val="60000"/>
                </a:srgbClr>
              </a:solidFill>
              <a:custDash>
                <a:ds d="200000" sp="150000"/>
              </a:custDash>
            </a:ln>
          </p:spPr>
        </p:sp>
        <p:sp>
          <p:nvSpPr>
            <p:cNvPr id="56" name="Rectangle 56"/>
            <p:cNvSpPr/>
            <p:nvPr/>
          </p:nvSpPr>
          <p:spPr>
            <a:xfrm>
              <a:off x="2286000" y="4762500"/>
              <a:ext cx="9334500" cy="609600"/>
            </a:xfrm>
            <a:prstGeom prst="roundRect">
              <a:avLst>
                <a:gd name="adj" fmla="val 15625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57" name="Rectangle 57"/>
            <p:cNvSpPr/>
            <p:nvPr/>
          </p:nvSpPr>
          <p:spPr>
            <a:xfrm>
              <a:off x="2286000" y="4762500"/>
              <a:ext cx="47625" cy="609600"/>
            </a:xfrm>
            <a:prstGeom prst="roundRect">
              <a:avLst>
                <a:gd name="adj" fmla="val 40000"/>
              </a:avLst>
            </a:prstGeom>
            <a:solidFill>
              <a:srgbClr val="3A9E6A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2533650" y="4838700"/>
              <a:ext cx="1406771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行动号召 CTA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2537460" y="5090160"/>
              <a:ext cx="515683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明确下一步行动：报名 / 下载 / 联系。一个页面只有一个主 CTA。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0672665" y="4788218"/>
              <a:ext cx="79353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2850" b="1" dirty="0">
                  <a:solidFill>
                    <a:srgbClr val="3A9E6A">
                      <a:alphaMod val="7000"/>
                    </a:srgbClr>
                  </a:solidFill>
                  <a:latin typeface="Arial"/>
                  <a:ea typeface="Microsoft YaHei"/>
                  <a:cs typeface="Arial"/>
                </a:rPr>
                <a:t>CTA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8458200" y="4857750"/>
              <a:ext cx="914400" cy="228600"/>
            </a:xfrm>
            <a:prstGeom prst="roundRect">
              <a:avLst>
                <a:gd name="adj" fmla="val 50000"/>
              </a:avLst>
            </a:prstGeom>
            <a:solidFill>
              <a:srgbClr val="E8F5EE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8603980" y="4914424"/>
              <a:ext cx="62284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3A9E6A"/>
                  </a:solidFill>
                  <a:latin typeface="Arial"/>
                  <a:ea typeface="Microsoft YaHei"/>
                  <a:cs typeface="Arial"/>
                </a:rPr>
                <a:t>转化关键</a:t>
              </a:r>
            </a:p>
          </p:txBody>
        </p:sp>
      </p:grpSp>
      <p:sp>
        <p:nvSpPr>
          <p:cNvPr id="64" name="Rectangle 64"/>
          <p:cNvSpPr/>
          <p:nvPr/>
        </p:nvSpPr>
        <p:spPr>
          <a:xfrm>
            <a:off x="2286000" y="5657850"/>
            <a:ext cx="9334500" cy="533400"/>
          </a:xfrm>
          <a:prstGeom prst="roundRect">
            <a:avLst>
              <a:gd name="adj" fmla="val 17857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65" name="TextBox 65"/>
          <p:cNvSpPr txBox="1"/>
          <p:nvPr/>
        </p:nvSpPr>
        <p:spPr>
          <a:xfrm>
            <a:off x="6491754" y="5775960"/>
            <a:ext cx="92299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💡 实操提示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4055388" y="5984081"/>
            <a:ext cx="579572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把这 5 层结构直接写进给 Claude Design 的 brief — 它会自动按层排布页面内容</a:t>
            </a:r>
          </a:p>
        </p:txBody>
      </p:sp>
      <p:sp>
        <p:nvSpPr>
          <p:cNvPr id="67" name="TextBox 67"/>
          <p:cNvSpPr txBox="1"/>
          <p:nvPr/>
        </p:nvSpPr>
        <p:spPr>
          <a:xfrm>
            <a:off x="11093434" y="6554152"/>
            <a:ext cx="54040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07 / 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5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etch(across)">
                                      <p:cBhvr>
                                        <p:cTn id="11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1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9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23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31" grpId="0"/>
      <p:bldP spid="41" grpId="0"/>
      <p:bldP spid="51" grpId="0"/>
      <p:bldP spid="6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762000" y="356235"/>
            <a:ext cx="10668000" cy="796290"/>
            <a:chOff x="762000" y="356235"/>
            <a:chExt cx="10668000" cy="796290"/>
          </a:xfrm>
        </p:grpSpPr>
        <p:sp>
          <p:nvSpPr>
            <p:cNvPr id="4" name="TextBox 4"/>
            <p:cNvSpPr txBox="1"/>
            <p:nvPr/>
          </p:nvSpPr>
          <p:spPr>
            <a:xfrm>
              <a:off x="4819555" y="356235"/>
              <a:ext cx="255289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7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三个设计原则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3809810" y="774382"/>
              <a:ext cx="4572381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Brief 给 Claude Design 前，先记住这三条</a:t>
              </a:r>
            </a:p>
          </p:txBody>
        </p:sp>
        <p:sp>
          <p:nvSpPr>
            <p:cNvPr id="6" name="Line 6"/>
            <p:cNvSpPr/>
            <p:nvPr/>
          </p:nvSpPr>
          <p:spPr>
            <a:xfrm>
              <a:off x="762000" y="1143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4288">
              <a:solidFill>
                <a:srgbClr val="E0D8D0"/>
              </a:solidFill>
            </a:ln>
          </p:spPr>
        </p:sp>
      </p:grpSp>
      <p:grpSp>
        <p:nvGrpSpPr>
          <p:cNvPr id="35" name="Group 35"/>
          <p:cNvGrpSpPr/>
          <p:nvPr/>
        </p:nvGrpSpPr>
        <p:grpSpPr>
          <a:xfrm>
            <a:off x="571500" y="1409700"/>
            <a:ext cx="3429000" cy="4762500"/>
            <a:chOff x="571500" y="1409700"/>
            <a:chExt cx="3429000" cy="4762500"/>
          </a:xfrm>
        </p:grpSpPr>
        <p:sp>
          <p:nvSpPr>
            <p:cNvPr id="8" name="Rectangle 8"/>
            <p:cNvSpPr/>
            <p:nvPr/>
          </p:nvSpPr>
          <p:spPr>
            <a:xfrm>
              <a:off x="571500" y="1409700"/>
              <a:ext cx="3429000" cy="4762500"/>
            </a:xfrm>
            <a:prstGeom prst="roundRect">
              <a:avLst>
                <a:gd name="adj" fmla="val 5556"/>
              </a:avLst>
            </a:prstGeom>
            <a:solidFill>
              <a:srgbClr val="F0EDE8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1009650" y="1409700"/>
              <a:ext cx="2552700" cy="533400"/>
            </a:xfrm>
            <a:custGeom>
              <a:avLst/>
              <a:gdLst/>
              <a:ahLst/>
              <a:cxnLst/>
              <a:rect l="l" t="t" r="r" b="b"/>
              <a:pathLst>
                <a:path w="2552700" h="533400">
                  <a:moveTo>
                    <a:pt x="228600" y="0"/>
                  </a:moveTo>
                  <a:lnTo>
                    <a:pt x="2324100" y="0"/>
                  </a:lnTo>
                  <a:cubicBezTo>
                    <a:pt x="2450352" y="0"/>
                    <a:pt x="2552700" y="102348"/>
                    <a:pt x="2552700" y="228600"/>
                  </a:cubicBezTo>
                  <a:lnTo>
                    <a:pt x="2552700" y="533400"/>
                  </a:lnTo>
                  <a:lnTo>
                    <a:pt x="0" y="533400"/>
                  </a:ln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999991" y="1516856"/>
              <a:ext cx="57201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原则 01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885581" y="1714024"/>
              <a:ext cx="800838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FFFFFF">
                      <a:alphaMod val="80000"/>
                    </a:srgbClr>
                  </a:solidFill>
                  <a:latin typeface="Arial"/>
                  <a:ea typeface="Microsoft YaHei"/>
                  <a:cs typeface="Arial"/>
                </a:rPr>
                <a:t>WHITESPACE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2095500"/>
              <a:ext cx="3048000" cy="3886200"/>
            </a:xfrm>
            <a:prstGeom prst="roundRect">
              <a:avLst>
                <a:gd name="adj" fmla="val 375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505950" y="2374582"/>
              <a:ext cx="156010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留白优于堆砌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52500" y="2781300"/>
              <a:ext cx="1238250" cy="762000"/>
            </a:xfrm>
            <a:prstGeom prst="roundRect">
              <a:avLst>
                <a:gd name="adj" fmla="val 7500"/>
              </a:avLst>
            </a:prstGeom>
            <a:solidFill>
              <a:srgbClr val="FFF0F0"/>
            </a:solidFill>
            <a:ln w="9525">
              <a:solidFill>
                <a:srgbClr val="FFCCCC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1028700" y="2857500"/>
              <a:ext cx="1085850" cy="95250"/>
            </a:xfrm>
            <a:prstGeom prst="roundRect">
              <a:avLst>
                <a:gd name="adj" fmla="val 20000"/>
              </a:avLst>
            </a:prstGeom>
            <a:solidFill>
              <a:srgbClr val="FFBBBB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1028700" y="3009900"/>
              <a:ext cx="857250" cy="76200"/>
            </a:xfrm>
            <a:prstGeom prst="roundRect">
              <a:avLst>
                <a:gd name="adj" fmla="val 25000"/>
              </a:avLst>
            </a:prstGeom>
            <a:solidFill>
              <a:srgbClr val="FFCC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1028700" y="3143250"/>
              <a:ext cx="1085850" cy="76200"/>
            </a:xfrm>
            <a:prstGeom prst="roundRect">
              <a:avLst>
                <a:gd name="adj" fmla="val 25000"/>
              </a:avLst>
            </a:prstGeom>
            <a:solidFill>
              <a:srgbClr val="FFBBBB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1028700" y="3276600"/>
              <a:ext cx="666750" cy="76200"/>
            </a:xfrm>
            <a:prstGeom prst="roundRect">
              <a:avLst>
                <a:gd name="adj" fmla="val 25000"/>
              </a:avLst>
            </a:prstGeom>
            <a:solidFill>
              <a:srgbClr val="FFCCCC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1028700" y="3409950"/>
              <a:ext cx="952500" cy="76200"/>
            </a:xfrm>
            <a:prstGeom prst="roundRect">
              <a:avLst>
                <a:gd name="adj" fmla="val 25000"/>
              </a:avLst>
            </a:prstGeom>
            <a:solidFill>
              <a:srgbClr val="FFBBBB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372886" y="3560445"/>
              <a:ext cx="39747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D44545"/>
                  </a:solidFill>
                  <a:latin typeface="Arial"/>
                  <a:ea typeface="Microsoft YaHei"/>
                  <a:cs typeface="Arial"/>
                </a:rPr>
                <a:t>堆砌 ✘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2381250" y="2781300"/>
              <a:ext cx="1238250" cy="762000"/>
            </a:xfrm>
            <a:prstGeom prst="roundRect">
              <a:avLst>
                <a:gd name="adj" fmla="val 7500"/>
              </a:avLst>
            </a:prstGeom>
            <a:solidFill>
              <a:srgbClr val="F0FAF4"/>
            </a:solidFill>
            <a:ln w="9525">
              <a:solidFill>
                <a:srgbClr val="C8E6D8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2571750" y="3009900"/>
              <a:ext cx="857250" cy="95250"/>
            </a:xfrm>
            <a:prstGeom prst="roundRect">
              <a:avLst>
                <a:gd name="adj" fmla="val 20000"/>
              </a:avLst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2571750" y="3181350"/>
              <a:ext cx="666750" cy="66675"/>
            </a:xfrm>
            <a:prstGeom prst="roundRect">
              <a:avLst>
                <a:gd name="adj" fmla="val 28571"/>
              </a:avLst>
            </a:prstGeom>
            <a:solidFill>
              <a:srgbClr val="9E9E9E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2571750" y="3429000"/>
              <a:ext cx="762000" cy="209550"/>
            </a:xfrm>
            <a:prstGeom prst="roundRect">
              <a:avLst>
                <a:gd name="adj" fmla="val 50000"/>
              </a:avLst>
            </a:prstGeom>
            <a:solidFill>
              <a:srgbClr val="C96133">
                <a:alpha val="15000"/>
              </a:srgbClr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2842867" y="3492341"/>
              <a:ext cx="219766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CTA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801636" y="3560445"/>
              <a:ext cx="39747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3A9E6A"/>
                  </a:solidFill>
                  <a:latin typeface="Arial"/>
                  <a:ea typeface="Microsoft YaHei"/>
                  <a:cs typeface="Arial"/>
                </a:rPr>
                <a:t>留白 ✔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952500" y="3829050"/>
              <a:ext cx="2667000" cy="9525"/>
            </a:xfrm>
            <a:custGeom>
              <a:avLst/>
              <a:gdLst/>
              <a:ahLst/>
              <a:cxnLst/>
              <a:rect l="l" t="t" r="r" b="b"/>
              <a:pathLst>
                <a:path w="2667000" h="9525">
                  <a:moveTo>
                    <a:pt x="0" y="0"/>
                  </a:moveTo>
                  <a:lnTo>
                    <a:pt x="2667000" y="0"/>
                  </a:lnTo>
                </a:path>
              </a:pathLst>
            </a:custGeom>
            <a:noFill/>
            <a:ln w="14288">
              <a:solidFill>
                <a:srgbClr val="F0EDE8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1394460" y="3947160"/>
              <a:ext cx="178308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空白不是浪费，是引导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306830" y="4175760"/>
              <a:ext cx="195834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视线的工具。内容越少，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744980" y="4404360"/>
              <a:ext cx="108204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重点越突出。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952500" y="4914900"/>
              <a:ext cx="2667000" cy="838200"/>
            </a:xfrm>
            <a:prstGeom prst="roundRect">
              <a:avLst>
                <a:gd name="adj" fmla="val 9091"/>
              </a:avLst>
            </a:prstGeom>
            <a:solidFill>
              <a:srgbClr val="F0EDE8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1840013" y="5019199"/>
              <a:ext cx="891973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Brief 关键词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693759" y="5220652"/>
              <a:ext cx="118448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"简洁克制风格，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540407" y="5411152"/>
              <a:ext cx="149118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大量留白，信息精简"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4381500" y="1409700"/>
            <a:ext cx="3429000" cy="4762500"/>
            <a:chOff x="4381500" y="1409700"/>
            <a:chExt cx="3429000" cy="4762500"/>
          </a:xfrm>
        </p:grpSpPr>
        <p:sp>
          <p:nvSpPr>
            <p:cNvPr id="36" name="Rectangle 36"/>
            <p:cNvSpPr/>
            <p:nvPr/>
          </p:nvSpPr>
          <p:spPr>
            <a:xfrm>
              <a:off x="4381500" y="1409700"/>
              <a:ext cx="3429000" cy="4762500"/>
            </a:xfrm>
            <a:prstGeom prst="roundRect">
              <a:avLst>
                <a:gd name="adj" fmla="val 5556"/>
              </a:avLst>
            </a:prstGeom>
            <a:solidFill>
              <a:srgbClr val="EBF0FA"/>
            </a:solidFill>
            <a:ln>
              <a:noFill/>
            </a:ln>
          </p:spPr>
        </p:sp>
        <p:sp>
          <p:nvSpPr>
            <p:cNvPr id="37" name="Freeform 37"/>
            <p:cNvSpPr/>
            <p:nvPr/>
          </p:nvSpPr>
          <p:spPr>
            <a:xfrm>
              <a:off x="4819650" y="1409700"/>
              <a:ext cx="2552700" cy="533400"/>
            </a:xfrm>
            <a:custGeom>
              <a:avLst/>
              <a:gdLst/>
              <a:ahLst/>
              <a:cxnLst/>
              <a:rect l="l" t="t" r="r" b="b"/>
              <a:pathLst>
                <a:path w="2552700" h="533400">
                  <a:moveTo>
                    <a:pt x="228600" y="0"/>
                  </a:moveTo>
                  <a:lnTo>
                    <a:pt x="2324100" y="0"/>
                  </a:lnTo>
                  <a:cubicBezTo>
                    <a:pt x="2450352" y="0"/>
                    <a:pt x="2552700" y="102348"/>
                    <a:pt x="2552700" y="228600"/>
                  </a:cubicBezTo>
                  <a:lnTo>
                    <a:pt x="2552700" y="533400"/>
                  </a:lnTo>
                  <a:lnTo>
                    <a:pt x="0" y="533400"/>
                  </a:ln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3D7DE4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5788426" y="1516856"/>
              <a:ext cx="61514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原则 02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5756100" y="1714024"/>
              <a:ext cx="67979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FFFFFF">
                      <a:alphaMod val="80000"/>
                    </a:srgbClr>
                  </a:solidFill>
                  <a:latin typeface="Arial"/>
                  <a:ea typeface="Microsoft YaHei"/>
                  <a:cs typeface="Arial"/>
                </a:rPr>
                <a:t>CONTRAST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4572000" y="2095500"/>
              <a:ext cx="3048000" cy="3886200"/>
            </a:xfrm>
            <a:prstGeom prst="roundRect">
              <a:avLst>
                <a:gd name="adj" fmla="val 375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5315950" y="2374582"/>
              <a:ext cx="156010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对比创造层级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4762500" y="2781300"/>
              <a:ext cx="2667000" cy="952500"/>
            </a:xfrm>
            <a:prstGeom prst="roundRect">
              <a:avLst>
                <a:gd name="adj" fmla="val 6000"/>
              </a:avLst>
            </a:prstGeom>
            <a:solidFill>
              <a:srgbClr val="F8F9FC"/>
            </a:solidFill>
            <a:ln w="9525">
              <a:solidFill>
                <a:srgbClr val="E0D8D0"/>
              </a:solidFill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4838700" y="2867025"/>
              <a:ext cx="1188244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主标题文字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4843462" y="3136106"/>
              <a:ext cx="167163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副标题说明文字，较小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4846320" y="3350895"/>
              <a:ext cx="120586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注释文字，最小最浅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4857750" y="3543300"/>
              <a:ext cx="762000" cy="133350"/>
            </a:xfrm>
            <a:prstGeom prst="roundRect">
              <a:avLst>
                <a:gd name="adj" fmla="val 28571"/>
              </a:avLst>
            </a:prstGeom>
            <a:solidFill>
              <a:srgbClr val="9E9E9E">
                <a:alpha val="20000"/>
              </a:srgbClr>
            </a:solidFill>
            <a:ln>
              <a:noFill/>
            </a:ln>
          </p:spPr>
        </p:sp>
        <p:sp>
          <p:nvSpPr>
            <p:cNvPr id="47" name="Line 47"/>
            <p:cNvSpPr/>
            <p:nvPr/>
          </p:nvSpPr>
          <p:spPr>
            <a:xfrm>
              <a:off x="4572000" y="3867150"/>
              <a:ext cx="2667000" cy="9525"/>
            </a:xfrm>
            <a:custGeom>
              <a:avLst/>
              <a:gdLst/>
              <a:ahLst/>
              <a:cxnLst/>
              <a:rect l="l" t="t" r="r" b="b"/>
              <a:pathLst>
                <a:path w="2667000" h="9525">
                  <a:moveTo>
                    <a:pt x="0" y="0"/>
                  </a:moveTo>
                  <a:lnTo>
                    <a:pt x="2667000" y="0"/>
                  </a:lnTo>
                </a:path>
              </a:pathLst>
            </a:custGeom>
            <a:noFill/>
            <a:ln w="14288">
              <a:solidFill>
                <a:srgbClr val="F0EDE8"/>
              </a:solidFill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5204460" y="3985260"/>
              <a:ext cx="178308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大小、粗细、颜色三个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5292090" y="4213860"/>
              <a:ext cx="16078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维度形成视觉层级，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5292090" y="4442460"/>
              <a:ext cx="16078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引导读者阅读顺序。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4762500" y="4914900"/>
              <a:ext cx="2667000" cy="838200"/>
            </a:xfrm>
            <a:prstGeom prst="roundRect">
              <a:avLst>
                <a:gd name="adj" fmla="val 9091"/>
              </a:avLst>
            </a:prstGeom>
            <a:solidFill>
              <a:srgbClr val="EBF0FA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5650013" y="5019199"/>
              <a:ext cx="891973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3D7DE4"/>
                  </a:solidFill>
                  <a:latin typeface="Arial"/>
                  <a:ea typeface="Microsoft YaHei"/>
                  <a:cs typeface="Arial"/>
                </a:rPr>
                <a:t>Brief 关键词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5503759" y="5220652"/>
              <a:ext cx="118448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"主标题大而粗，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5427083" y="5411152"/>
              <a:ext cx="1337834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辅助文字灰色偏小"</a:t>
              </a:r>
            </a:p>
          </p:txBody>
        </p:sp>
      </p:grpSp>
      <p:grpSp>
        <p:nvGrpSpPr>
          <p:cNvPr id="79" name="Group 79"/>
          <p:cNvGrpSpPr/>
          <p:nvPr/>
        </p:nvGrpSpPr>
        <p:grpSpPr>
          <a:xfrm>
            <a:off x="8191500" y="1409700"/>
            <a:ext cx="3429000" cy="4762500"/>
            <a:chOff x="8191500" y="1409700"/>
            <a:chExt cx="3429000" cy="4762500"/>
          </a:xfrm>
        </p:grpSpPr>
        <p:sp>
          <p:nvSpPr>
            <p:cNvPr id="56" name="Rectangle 56"/>
            <p:cNvSpPr/>
            <p:nvPr/>
          </p:nvSpPr>
          <p:spPr>
            <a:xfrm>
              <a:off x="8191500" y="1409700"/>
              <a:ext cx="3429000" cy="4762500"/>
            </a:xfrm>
            <a:prstGeom prst="roundRect">
              <a:avLst>
                <a:gd name="adj" fmla="val 5556"/>
              </a:avLst>
            </a:prstGeom>
            <a:solidFill>
              <a:srgbClr val="EDF6F1"/>
            </a:solidFill>
            <a:ln>
              <a:noFill/>
            </a:ln>
          </p:spPr>
        </p:sp>
        <p:sp>
          <p:nvSpPr>
            <p:cNvPr id="57" name="Freeform 57"/>
            <p:cNvSpPr/>
            <p:nvPr/>
          </p:nvSpPr>
          <p:spPr>
            <a:xfrm>
              <a:off x="8629650" y="1409700"/>
              <a:ext cx="2552700" cy="533400"/>
            </a:xfrm>
            <a:custGeom>
              <a:avLst/>
              <a:gdLst/>
              <a:ahLst/>
              <a:cxnLst/>
              <a:rect l="l" t="t" r="r" b="b"/>
              <a:pathLst>
                <a:path w="2552700" h="533400">
                  <a:moveTo>
                    <a:pt x="228600" y="0"/>
                  </a:moveTo>
                  <a:lnTo>
                    <a:pt x="2324100" y="0"/>
                  </a:lnTo>
                  <a:cubicBezTo>
                    <a:pt x="2450352" y="0"/>
                    <a:pt x="2552700" y="102348"/>
                    <a:pt x="2552700" y="228600"/>
                  </a:cubicBezTo>
                  <a:lnTo>
                    <a:pt x="2552700" y="533400"/>
                  </a:lnTo>
                  <a:lnTo>
                    <a:pt x="0" y="533400"/>
                  </a:ln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3A9E6A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9598426" y="1516856"/>
              <a:ext cx="61514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原则 03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9466421" y="1714024"/>
              <a:ext cx="87915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FFFFFF">
                      <a:alphaMod val="80000"/>
                    </a:srgbClr>
                  </a:solidFill>
                  <a:latin typeface="Arial"/>
                  <a:ea typeface="Microsoft YaHei"/>
                  <a:cs typeface="Arial"/>
                </a:rPr>
                <a:t>CONSISTENCY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8382000" y="2095500"/>
              <a:ext cx="3048000" cy="3886200"/>
            </a:xfrm>
            <a:prstGeom prst="roundRect">
              <a:avLst>
                <a:gd name="adj" fmla="val 375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8999434" y="2374582"/>
              <a:ext cx="1813131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一致性建立信任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8572500" y="2781300"/>
              <a:ext cx="2667000" cy="952500"/>
            </a:xfrm>
            <a:prstGeom prst="roundRect">
              <a:avLst>
                <a:gd name="adj" fmla="val 6000"/>
              </a:avLst>
            </a:prstGeom>
            <a:solidFill>
              <a:srgbClr val="F8F9FC"/>
            </a:solidFill>
            <a:ln w="9525">
              <a:solidFill>
                <a:srgbClr val="E0D8D0"/>
              </a:solidFill>
            </a:ln>
          </p:spPr>
        </p:sp>
        <p:sp>
          <p:nvSpPr>
            <p:cNvPr id="63" name="Rectangle 63"/>
            <p:cNvSpPr/>
            <p:nvPr/>
          </p:nvSpPr>
          <p:spPr>
            <a:xfrm>
              <a:off x="8724900" y="2933700"/>
              <a:ext cx="685800" cy="266700"/>
            </a:xfrm>
            <a:prstGeom prst="roundRect">
              <a:avLst>
                <a:gd name="adj" fmla="val 50000"/>
              </a:avLst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8918353" y="3017520"/>
              <a:ext cx="298894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报名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9486900" y="2933700"/>
              <a:ext cx="685800" cy="266700"/>
            </a:xfrm>
            <a:prstGeom prst="roundRect">
              <a:avLst>
                <a:gd name="adj" fmla="val 50000"/>
              </a:avLst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9680353" y="3017520"/>
              <a:ext cx="298894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了解</a:t>
              </a:r>
            </a:p>
          </p:txBody>
        </p:sp>
        <p:sp>
          <p:nvSpPr>
            <p:cNvPr id="67" name="Rectangle 67"/>
            <p:cNvSpPr/>
            <p:nvPr/>
          </p:nvSpPr>
          <p:spPr>
            <a:xfrm>
              <a:off x="10248900" y="2933700"/>
              <a:ext cx="685800" cy="266700"/>
            </a:xfrm>
            <a:prstGeom prst="roundRect">
              <a:avLst>
                <a:gd name="adj" fmla="val 50000"/>
              </a:avLst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10442353" y="3017520"/>
              <a:ext cx="298894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联系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8712518" y="3323749"/>
              <a:ext cx="206106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相同圆角 · 相同颜色 · 相同字体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8712518" y="3495199"/>
              <a:ext cx="87915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3A9E6A"/>
                  </a:solidFill>
                  <a:latin typeface="Arial"/>
                  <a:ea typeface="Microsoft YaHei"/>
                  <a:cs typeface="Arial"/>
                </a:rPr>
                <a:t>= 专业 &amp; 可信</a:t>
              </a:r>
            </a:p>
          </p:txBody>
        </p:sp>
        <p:sp>
          <p:nvSpPr>
            <p:cNvPr id="71" name="Line 71"/>
            <p:cNvSpPr/>
            <p:nvPr/>
          </p:nvSpPr>
          <p:spPr>
            <a:xfrm>
              <a:off x="8382000" y="3867150"/>
              <a:ext cx="2667000" cy="9525"/>
            </a:xfrm>
            <a:custGeom>
              <a:avLst/>
              <a:gdLst/>
              <a:ahLst/>
              <a:cxnLst/>
              <a:rect l="l" t="t" r="r" b="b"/>
              <a:pathLst>
                <a:path w="2667000" h="9525">
                  <a:moveTo>
                    <a:pt x="0" y="0"/>
                  </a:moveTo>
                  <a:lnTo>
                    <a:pt x="2667000" y="0"/>
                  </a:lnTo>
                </a:path>
              </a:pathLst>
            </a:custGeom>
            <a:noFill/>
            <a:ln w="14288">
              <a:solidFill>
                <a:srgbClr val="F0EDE8"/>
              </a:solidFill>
            </a:ln>
          </p:spPr>
        </p:sp>
        <p:sp>
          <p:nvSpPr>
            <p:cNvPr id="72" name="TextBox 72"/>
            <p:cNvSpPr txBox="1"/>
            <p:nvPr/>
          </p:nvSpPr>
          <p:spPr>
            <a:xfrm>
              <a:off x="9102090" y="3985260"/>
              <a:ext cx="16078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颜色、字体、圆角、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9102090" y="4213860"/>
              <a:ext cx="16078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间距保持统一，访客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9180957" y="4442460"/>
              <a:ext cx="145008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感受到"专业感"。</a:t>
              </a:r>
            </a:p>
          </p:txBody>
        </p:sp>
        <p:sp>
          <p:nvSpPr>
            <p:cNvPr id="75" name="Rectangle 75"/>
            <p:cNvSpPr/>
            <p:nvPr/>
          </p:nvSpPr>
          <p:spPr>
            <a:xfrm>
              <a:off x="8572500" y="4914900"/>
              <a:ext cx="2667000" cy="838200"/>
            </a:xfrm>
            <a:prstGeom prst="roundRect">
              <a:avLst>
                <a:gd name="adj" fmla="val 9091"/>
              </a:avLst>
            </a:prstGeom>
            <a:solidFill>
              <a:srgbClr val="EDF6F1"/>
            </a:solidFill>
            <a:ln>
              <a:noFill/>
            </a:ln>
          </p:spPr>
        </p:sp>
        <p:sp>
          <p:nvSpPr>
            <p:cNvPr id="76" name="TextBox 76"/>
            <p:cNvSpPr txBox="1"/>
            <p:nvPr/>
          </p:nvSpPr>
          <p:spPr>
            <a:xfrm>
              <a:off x="9460013" y="5019199"/>
              <a:ext cx="891973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3A9E6A"/>
                  </a:solidFill>
                  <a:latin typeface="Arial"/>
                  <a:ea typeface="Microsoft YaHei"/>
                  <a:cs typeface="Arial"/>
                </a:rPr>
                <a:t>Brief 关键词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9313759" y="5220652"/>
              <a:ext cx="118448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"全站统一主色，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9237083" y="5411152"/>
              <a:ext cx="1337834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按钮风格保持一致"</a:t>
              </a:r>
            </a:p>
          </p:txBody>
        </p:sp>
      </p:grpSp>
      <p:sp>
        <p:nvSpPr>
          <p:cNvPr id="80" name="TextBox 80"/>
          <p:cNvSpPr txBox="1"/>
          <p:nvPr/>
        </p:nvSpPr>
        <p:spPr>
          <a:xfrm>
            <a:off x="11093434" y="6554152"/>
            <a:ext cx="54040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08 / 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3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1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5" presetClass="entr" presetSubtype="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5" dur="4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55" grpId="0"/>
      <p:bldP spid="79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762000" y="356235"/>
            <a:ext cx="10668000" cy="796290"/>
            <a:chOff x="762000" y="356235"/>
            <a:chExt cx="10668000" cy="796290"/>
          </a:xfrm>
        </p:grpSpPr>
        <p:sp>
          <p:nvSpPr>
            <p:cNvPr id="4" name="TextBox 4"/>
            <p:cNvSpPr txBox="1"/>
            <p:nvPr/>
          </p:nvSpPr>
          <p:spPr>
            <a:xfrm>
              <a:off x="4819555" y="356235"/>
              <a:ext cx="255289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7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工作流的革命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3906202" y="774382"/>
              <a:ext cx="4379595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同样一个网站，两条路径的差距有多大？</a:t>
              </a:r>
            </a:p>
          </p:txBody>
        </p:sp>
        <p:sp>
          <p:nvSpPr>
            <p:cNvPr id="6" name="Line 6"/>
            <p:cNvSpPr/>
            <p:nvPr/>
          </p:nvSpPr>
          <p:spPr>
            <a:xfrm>
              <a:off x="762000" y="1143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4288">
              <a:solidFill>
                <a:srgbClr val="E0D8D0"/>
              </a:solidFill>
            </a:ln>
          </p:spPr>
        </p:sp>
      </p:grpSp>
      <p:grpSp>
        <p:nvGrpSpPr>
          <p:cNvPr id="39" name="Group 39"/>
          <p:cNvGrpSpPr/>
          <p:nvPr/>
        </p:nvGrpSpPr>
        <p:grpSpPr>
          <a:xfrm>
            <a:off x="571500" y="1371600"/>
            <a:ext cx="5295900" cy="4838700"/>
            <a:chOff x="571500" y="1371600"/>
            <a:chExt cx="5295900" cy="4838700"/>
          </a:xfrm>
        </p:grpSpPr>
        <p:sp>
          <p:nvSpPr>
            <p:cNvPr id="8" name="Rectangle 8"/>
            <p:cNvSpPr/>
            <p:nvPr/>
          </p:nvSpPr>
          <p:spPr>
            <a:xfrm>
              <a:off x="571500" y="1371600"/>
              <a:ext cx="5295900" cy="4838700"/>
            </a:xfrm>
            <a:prstGeom prst="roundRect">
              <a:avLst>
                <a:gd name="adj" fmla="val 3937"/>
              </a:avLst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1628775" y="1371600"/>
              <a:ext cx="3181350" cy="533400"/>
            </a:xfrm>
            <a:custGeom>
              <a:avLst/>
              <a:gdLst/>
              <a:ahLst/>
              <a:cxnLst/>
              <a:rect l="l" t="t" r="r" b="b"/>
              <a:pathLst>
                <a:path w="3181350" h="533400">
                  <a:moveTo>
                    <a:pt x="228600" y="0"/>
                  </a:moveTo>
                  <a:lnTo>
                    <a:pt x="2952750" y="0"/>
                  </a:lnTo>
                  <a:cubicBezTo>
                    <a:pt x="3079002" y="0"/>
                    <a:pt x="3181350" y="102348"/>
                    <a:pt x="3181350" y="228600"/>
                  </a:cubicBezTo>
                  <a:lnTo>
                    <a:pt x="3181350" y="533400"/>
                  </a:lnTo>
                  <a:lnTo>
                    <a:pt x="0" y="533400"/>
                  </a:ln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9E9E9E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2744152" y="1470660"/>
              <a:ext cx="95059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传统工作流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468642" y="1684020"/>
              <a:ext cx="150161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FFFFFF">
                      <a:alphaMod val="80000"/>
                    </a:srgbClr>
                  </a:solidFill>
                  <a:latin typeface="Arial"/>
                  <a:ea typeface="Microsoft YaHei"/>
                  <a:cs typeface="Arial"/>
                </a:rPr>
                <a:t>TRADITIONAL WORKFLOW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2057400"/>
              <a:ext cx="4914900" cy="3810000"/>
            </a:xfrm>
            <a:prstGeom prst="roundRect">
              <a:avLst>
                <a:gd name="adj" fmla="val 300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952500" y="2228850"/>
              <a:ext cx="1143000" cy="342900"/>
            </a:xfrm>
            <a:prstGeom prst="roundRect">
              <a:avLst>
                <a:gd name="adj" fmla="val 16667"/>
              </a:avLst>
            </a:prstGeom>
            <a:solidFill>
              <a:srgbClr val="EEEEEE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215461" y="2334578"/>
              <a:ext cx="61707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💡 有想法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089214" y="2318385"/>
              <a:ext cx="12687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→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2324100" y="2228850"/>
              <a:ext cx="1295400" cy="342900"/>
            </a:xfrm>
            <a:prstGeom prst="roundRect">
              <a:avLst>
                <a:gd name="adj" fmla="val 16667"/>
              </a:avLst>
            </a:prstGeom>
            <a:solidFill>
              <a:srgbClr val="EEEEEE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2651760" y="2334578"/>
              <a:ext cx="64008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找设计师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613213" y="2318385"/>
              <a:ext cx="12687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→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810000" y="2228850"/>
              <a:ext cx="1295400" cy="342900"/>
            </a:xfrm>
            <a:prstGeom prst="roundRect">
              <a:avLst>
                <a:gd name="adj" fmla="val 16667"/>
              </a:avLst>
            </a:prstGeom>
            <a:solidFill>
              <a:srgbClr val="FFEEEE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137660" y="2334578"/>
              <a:ext cx="64008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D44545"/>
                  </a:solidFill>
                  <a:latin typeface="Arial"/>
                  <a:ea typeface="Microsoft YaHei"/>
                  <a:cs typeface="Arial"/>
                </a:rPr>
                <a:t>沟通需求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156013" y="2689860"/>
              <a:ext cx="12687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↓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2667000" y="2933700"/>
              <a:ext cx="1104900" cy="342900"/>
            </a:xfrm>
            <a:prstGeom prst="roundRect">
              <a:avLst>
                <a:gd name="adj" fmla="val 16667"/>
              </a:avLst>
            </a:prstGeom>
            <a:solidFill>
              <a:srgbClr val="FFEEEE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2976086" y="3039428"/>
              <a:ext cx="48672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D44545"/>
                  </a:solidFill>
                  <a:latin typeface="Arial"/>
                  <a:ea typeface="Microsoft YaHei"/>
                  <a:cs typeface="Arial"/>
                </a:rPr>
                <a:t>出初稿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156013" y="3299460"/>
              <a:ext cx="12687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↓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2343150" y="3543300"/>
              <a:ext cx="1752600" cy="342900"/>
            </a:xfrm>
            <a:prstGeom prst="roundRect">
              <a:avLst>
                <a:gd name="adj" fmla="val 16667"/>
              </a:avLst>
            </a:prstGeom>
            <a:solidFill>
              <a:srgbClr val="FFEEEE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2669381" y="3649028"/>
              <a:ext cx="110013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D44545"/>
                  </a:solidFill>
                  <a:latin typeface="Arial"/>
                  <a:ea typeface="Microsoft YaHei"/>
                  <a:cs typeface="Arial"/>
                </a:rPr>
                <a:t>🔄 反复修改 N 轮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156013" y="3909060"/>
              <a:ext cx="12687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↓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2552700" y="4152900"/>
              <a:ext cx="1333500" cy="342900"/>
            </a:xfrm>
            <a:prstGeom prst="roundRect">
              <a:avLst>
                <a:gd name="adj" fmla="val 16667"/>
              </a:avLst>
            </a:prstGeom>
            <a:solidFill>
              <a:srgbClr val="EEEEEE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2746058" y="4258628"/>
              <a:ext cx="94678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找开发写代码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156013" y="4518660"/>
              <a:ext cx="12687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↓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2552700" y="4762500"/>
              <a:ext cx="1333500" cy="342900"/>
            </a:xfrm>
            <a:prstGeom prst="roundRect">
              <a:avLst>
                <a:gd name="adj" fmla="val 16667"/>
              </a:avLst>
            </a:prstGeom>
            <a:solidFill>
              <a:srgbClr val="EEEEEE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2834235" y="4868228"/>
              <a:ext cx="77043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🌎 终于上线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762000" y="5486400"/>
              <a:ext cx="4914900" cy="533400"/>
            </a:xfrm>
            <a:prstGeom prst="roundRect">
              <a:avLst>
                <a:gd name="adj" fmla="val 14286"/>
              </a:avLst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1643062" y="5582602"/>
              <a:ext cx="33337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耗时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487242" y="5759768"/>
              <a:ext cx="64501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D44545"/>
                  </a:solidFill>
                  <a:latin typeface="Arial"/>
                  <a:ea typeface="Microsoft YaHei"/>
                  <a:cs typeface="Arial"/>
                </a:rPr>
                <a:t>4~8 周</a:t>
              </a:r>
            </a:p>
          </p:txBody>
        </p:sp>
        <p:sp>
          <p:nvSpPr>
            <p:cNvPr id="36" name="Line 36"/>
            <p:cNvSpPr/>
            <p:nvPr/>
          </p:nvSpPr>
          <p:spPr>
            <a:xfrm>
              <a:off x="3219450" y="5562600"/>
              <a:ext cx="9525" cy="381000"/>
            </a:xfrm>
            <a:custGeom>
              <a:avLst/>
              <a:gdLst/>
              <a:ahLst/>
              <a:cxnLst/>
              <a:rect l="l" t="t" r="r" b="b"/>
              <a:pathLst>
                <a:path w="9525" h="381000">
                  <a:moveTo>
                    <a:pt x="0" y="0"/>
                  </a:moveTo>
                  <a:lnTo>
                    <a:pt x="0" y="381000"/>
                  </a:lnTo>
                </a:path>
              </a:pathLst>
            </a:custGeom>
            <a:noFill/>
            <a:ln w="9525">
              <a:solidFill>
                <a:srgbClr val="E0D8D0"/>
              </a:solidFill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462462" y="5582602"/>
              <a:ext cx="33337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成本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296291" y="5759768"/>
              <a:ext cx="66571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D44545"/>
                  </a:solidFill>
                  <a:latin typeface="Arial"/>
                  <a:ea typeface="Microsoft YaHei"/>
                  <a:cs typeface="Arial"/>
                </a:rPr>
                <a:t>$1500+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5810250" y="3524250"/>
            <a:ext cx="571500" cy="571500"/>
            <a:chOff x="5810250" y="3524250"/>
            <a:chExt cx="571500" cy="571500"/>
          </a:xfrm>
        </p:grpSpPr>
        <p:sp>
          <p:nvSpPr>
            <p:cNvPr id="40" name="Ellipse 40"/>
            <p:cNvSpPr/>
            <p:nvPr/>
          </p:nvSpPr>
          <p:spPr>
            <a:xfrm>
              <a:off x="5810250" y="3524250"/>
              <a:ext cx="571500" cy="571500"/>
            </a:xfrm>
            <a:prstGeom prst="ellipse">
              <a:avLst/>
            </a:prstGeom>
            <a:solidFill>
              <a:srgbClr val="C96133">
                <a:alpha val="10000"/>
              </a:srgbClr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013692" y="3609975"/>
              <a:ext cx="164616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≫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5895749" y="3892391"/>
              <a:ext cx="400502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AI 加速</a:t>
              </a:r>
            </a:p>
          </p:txBody>
        </p:sp>
      </p:grpSp>
      <p:grpSp>
        <p:nvGrpSpPr>
          <p:cNvPr id="72" name="Group 72"/>
          <p:cNvGrpSpPr/>
          <p:nvPr/>
        </p:nvGrpSpPr>
        <p:grpSpPr>
          <a:xfrm>
            <a:off x="6324600" y="1371600"/>
            <a:ext cx="5295900" cy="4838700"/>
            <a:chOff x="6324600" y="1371600"/>
            <a:chExt cx="5295900" cy="4838700"/>
          </a:xfrm>
        </p:grpSpPr>
        <p:sp>
          <p:nvSpPr>
            <p:cNvPr id="44" name="Rectangle 44"/>
            <p:cNvSpPr/>
            <p:nvPr/>
          </p:nvSpPr>
          <p:spPr>
            <a:xfrm>
              <a:off x="6324600" y="1371600"/>
              <a:ext cx="5295900" cy="4838700"/>
            </a:xfrm>
            <a:prstGeom prst="roundRect">
              <a:avLst>
                <a:gd name="adj" fmla="val 3937"/>
              </a:avLst>
            </a:prstGeom>
            <a:solidFill>
              <a:srgbClr val="F0EDE8"/>
            </a:solidFill>
            <a:ln>
              <a:noFill/>
            </a:ln>
          </p:spPr>
        </p:sp>
        <p:sp>
          <p:nvSpPr>
            <p:cNvPr id="45" name="Freeform 45"/>
            <p:cNvSpPr/>
            <p:nvPr/>
          </p:nvSpPr>
          <p:spPr>
            <a:xfrm>
              <a:off x="7381875" y="1371600"/>
              <a:ext cx="3181350" cy="533400"/>
            </a:xfrm>
            <a:custGeom>
              <a:avLst/>
              <a:gdLst/>
              <a:ahLst/>
              <a:cxnLst/>
              <a:rect l="l" t="t" r="r" b="b"/>
              <a:pathLst>
                <a:path w="3181350" h="533400">
                  <a:moveTo>
                    <a:pt x="228600" y="0"/>
                  </a:moveTo>
                  <a:lnTo>
                    <a:pt x="2952750" y="0"/>
                  </a:lnTo>
                  <a:cubicBezTo>
                    <a:pt x="3079002" y="0"/>
                    <a:pt x="3181350" y="102348"/>
                    <a:pt x="3181350" y="228600"/>
                  </a:cubicBezTo>
                  <a:lnTo>
                    <a:pt x="3181350" y="533400"/>
                  </a:lnTo>
                  <a:lnTo>
                    <a:pt x="0" y="533400"/>
                  </a:ln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8391439" y="1470660"/>
              <a:ext cx="116222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AI 驱动工作流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307181" y="1684020"/>
              <a:ext cx="133073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FFFFFF">
                      <a:alphaMod val="80000"/>
                    </a:srgbClr>
                  </a:solidFill>
                  <a:latin typeface="Arial"/>
                  <a:ea typeface="Microsoft YaHei"/>
                  <a:cs typeface="Arial"/>
                </a:rPr>
                <a:t>AI-DRIVEN WORKFLOW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6515100" y="2057400"/>
              <a:ext cx="4914900" cy="3810000"/>
            </a:xfrm>
            <a:prstGeom prst="roundRect">
              <a:avLst>
                <a:gd name="adj" fmla="val 300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6705600" y="2305050"/>
              <a:ext cx="1143000" cy="381000"/>
            </a:xfrm>
            <a:prstGeom prst="roundRect">
              <a:avLst>
                <a:gd name="adj" fmla="val 20000"/>
              </a:avLst>
            </a:prstGeom>
            <a:solidFill>
              <a:srgbClr val="F0EDE8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946523" y="2421731"/>
              <a:ext cx="66115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💡 有想法</a:t>
              </a:r>
            </a:p>
          </p:txBody>
        </p:sp>
        <p:sp>
          <p:nvSpPr>
            <p:cNvPr id="51" name="Line 51"/>
            <p:cNvSpPr/>
            <p:nvPr/>
          </p:nvSpPr>
          <p:spPr>
            <a:xfrm>
              <a:off x="7277100" y="2686050"/>
              <a:ext cx="9525" cy="285750"/>
            </a:xfrm>
            <a:custGeom>
              <a:avLst/>
              <a:gdLst/>
              <a:ahLst/>
              <a:cxnLst/>
              <a:rect l="l" t="t" r="r" b="b"/>
              <a:pathLst>
                <a:path w="9525" h="285750">
                  <a:moveTo>
                    <a:pt x="0" y="0"/>
                  </a:moveTo>
                  <a:lnTo>
                    <a:pt x="0" y="285750"/>
                  </a:lnTo>
                </a:path>
              </a:pathLst>
            </a:custGeom>
            <a:noFill/>
            <a:ln w="19050">
              <a:solidFill>
                <a:srgbClr val="C96133"/>
              </a:solidFill>
              <a:custDash>
                <a:ds d="150000" sp="150000"/>
              </a:custDash>
            </a:ln>
          </p:spPr>
        </p:sp>
        <p:sp>
          <p:nvSpPr>
            <p:cNvPr id="52" name="Polygon 52"/>
            <p:cNvSpPr/>
            <p:nvPr/>
          </p:nvSpPr>
          <p:spPr>
            <a:xfrm>
              <a:off x="7219950" y="2933700"/>
              <a:ext cx="114300" cy="95250"/>
            </a:xfrm>
            <a:custGeom>
              <a:avLst/>
              <a:gdLst/>
              <a:ahLst/>
              <a:cxnLst/>
              <a:rect l="l" t="t" r="r" b="b"/>
              <a:pathLst>
                <a:path w="114300" h="95250">
                  <a:moveTo>
                    <a:pt x="57150" y="95250"/>
                  </a:moveTo>
                  <a:lnTo>
                    <a:pt x="0" y="0"/>
                  </a:lnTo>
                  <a:lnTo>
                    <a:pt x="114300" y="0"/>
                  </a:lnTo>
                  <a:close/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6515100" y="3086100"/>
              <a:ext cx="4914900" cy="495300"/>
            </a:xfrm>
            <a:prstGeom prst="roundRect">
              <a:avLst>
                <a:gd name="adj" fmla="val 19231"/>
              </a:avLst>
            </a:prstGeom>
            <a:solidFill>
              <a:srgbClr val="F0EDE8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8176260" y="3204210"/>
              <a:ext cx="172349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Claude Design brief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8179118" y="3399949"/>
              <a:ext cx="216074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5 分钟描述需求 → 立即生成视觉稿</a:t>
              </a:r>
            </a:p>
          </p:txBody>
        </p:sp>
        <p:sp>
          <p:nvSpPr>
            <p:cNvPr id="56" name="Line 56"/>
            <p:cNvSpPr/>
            <p:nvPr/>
          </p:nvSpPr>
          <p:spPr>
            <a:xfrm>
              <a:off x="8972550" y="3581400"/>
              <a:ext cx="9525" cy="285750"/>
            </a:xfrm>
            <a:custGeom>
              <a:avLst/>
              <a:gdLst/>
              <a:ahLst/>
              <a:cxnLst/>
              <a:rect l="l" t="t" r="r" b="b"/>
              <a:pathLst>
                <a:path w="9525" h="285750">
                  <a:moveTo>
                    <a:pt x="0" y="0"/>
                  </a:moveTo>
                  <a:lnTo>
                    <a:pt x="0" y="285750"/>
                  </a:lnTo>
                </a:path>
              </a:pathLst>
            </a:custGeom>
            <a:noFill/>
            <a:ln w="19050">
              <a:solidFill>
                <a:srgbClr val="C96133"/>
              </a:solidFill>
              <a:custDash>
                <a:ds d="150000" sp="150000"/>
              </a:custDash>
            </a:ln>
          </p:spPr>
        </p:sp>
        <p:sp>
          <p:nvSpPr>
            <p:cNvPr id="57" name="Polygon 57"/>
            <p:cNvSpPr/>
            <p:nvPr/>
          </p:nvSpPr>
          <p:spPr>
            <a:xfrm>
              <a:off x="8915400" y="3829050"/>
              <a:ext cx="114300" cy="95250"/>
            </a:xfrm>
            <a:custGeom>
              <a:avLst/>
              <a:gdLst/>
              <a:ahLst/>
              <a:cxnLst/>
              <a:rect l="l" t="t" r="r" b="b"/>
              <a:pathLst>
                <a:path w="114300" h="95250">
                  <a:moveTo>
                    <a:pt x="57150" y="95250"/>
                  </a:moveTo>
                  <a:lnTo>
                    <a:pt x="0" y="0"/>
                  </a:lnTo>
                  <a:lnTo>
                    <a:pt x="114300" y="0"/>
                  </a:lnTo>
                  <a:close/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  <p:sp>
          <p:nvSpPr>
            <p:cNvPr id="58" name="Rectangle 58"/>
            <p:cNvSpPr/>
            <p:nvPr/>
          </p:nvSpPr>
          <p:spPr>
            <a:xfrm>
              <a:off x="6515100" y="3981450"/>
              <a:ext cx="4914900" cy="495300"/>
            </a:xfrm>
            <a:prstGeom prst="roundRect">
              <a:avLst>
                <a:gd name="adj" fmla="val 19231"/>
              </a:avLst>
            </a:prstGeom>
            <a:solidFill>
              <a:srgbClr val="EBF0FA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8176260" y="4099560"/>
              <a:ext cx="147506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3D7DE4"/>
                  </a:solidFill>
                  <a:latin typeface="Arial"/>
                  <a:ea typeface="Microsoft YaHei"/>
                  <a:cs typeface="Arial"/>
                </a:rPr>
                <a:t>Claude Code 实现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179118" y="4295299"/>
              <a:ext cx="189018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brief 直通代码 → 调试 → 完成</a:t>
              </a:r>
            </a:p>
          </p:txBody>
        </p:sp>
        <p:sp>
          <p:nvSpPr>
            <p:cNvPr id="61" name="Line 61"/>
            <p:cNvSpPr/>
            <p:nvPr/>
          </p:nvSpPr>
          <p:spPr>
            <a:xfrm>
              <a:off x="8972550" y="4476750"/>
              <a:ext cx="9525" cy="285750"/>
            </a:xfrm>
            <a:custGeom>
              <a:avLst/>
              <a:gdLst/>
              <a:ahLst/>
              <a:cxnLst/>
              <a:rect l="l" t="t" r="r" b="b"/>
              <a:pathLst>
                <a:path w="9525" h="285750">
                  <a:moveTo>
                    <a:pt x="0" y="0"/>
                  </a:moveTo>
                  <a:lnTo>
                    <a:pt x="0" y="285750"/>
                  </a:lnTo>
                </a:path>
              </a:pathLst>
            </a:custGeom>
            <a:noFill/>
            <a:ln w="19050">
              <a:solidFill>
                <a:srgbClr val="3A9E6A"/>
              </a:solidFill>
              <a:custDash>
                <a:ds d="150000" sp="150000"/>
              </a:custDash>
            </a:ln>
          </p:spPr>
        </p:sp>
        <p:sp>
          <p:nvSpPr>
            <p:cNvPr id="62" name="Polygon 62"/>
            <p:cNvSpPr/>
            <p:nvPr/>
          </p:nvSpPr>
          <p:spPr>
            <a:xfrm>
              <a:off x="8915400" y="4724400"/>
              <a:ext cx="114300" cy="95250"/>
            </a:xfrm>
            <a:custGeom>
              <a:avLst/>
              <a:gdLst/>
              <a:ahLst/>
              <a:cxnLst/>
              <a:rect l="l" t="t" r="r" b="b"/>
              <a:pathLst>
                <a:path w="114300" h="95250">
                  <a:moveTo>
                    <a:pt x="57150" y="95250"/>
                  </a:moveTo>
                  <a:lnTo>
                    <a:pt x="0" y="0"/>
                  </a:lnTo>
                  <a:lnTo>
                    <a:pt x="114300" y="0"/>
                  </a:lnTo>
                  <a:close/>
                </a:path>
              </a:pathLst>
            </a:custGeom>
            <a:solidFill>
              <a:srgbClr val="3A9E6A"/>
            </a:solidFill>
            <a:ln>
              <a:noFill/>
            </a:ln>
          </p:spPr>
        </p:sp>
        <p:sp>
          <p:nvSpPr>
            <p:cNvPr id="63" name="Rectangle 63"/>
            <p:cNvSpPr/>
            <p:nvPr/>
          </p:nvSpPr>
          <p:spPr>
            <a:xfrm>
              <a:off x="6515100" y="4876800"/>
              <a:ext cx="4914900" cy="495300"/>
            </a:xfrm>
            <a:prstGeom prst="roundRect">
              <a:avLst>
                <a:gd name="adj" fmla="val 19231"/>
              </a:avLst>
            </a:prstGeom>
            <a:solidFill>
              <a:srgbClr val="E8F5EE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8603066" y="4994910"/>
              <a:ext cx="738969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3A9E6A"/>
                  </a:solidFill>
                  <a:latin typeface="Arial"/>
                  <a:ea typeface="Microsoft YaHei"/>
                  <a:cs typeface="Arial"/>
                </a:rPr>
                <a:t>🌎 上线！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8194774" y="5190649"/>
              <a:ext cx="155555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Git → Vercel → 对外开放</a:t>
              </a:r>
            </a:p>
          </p:txBody>
        </p:sp>
        <p:sp>
          <p:nvSpPr>
            <p:cNvPr id="66" name="Rectangle 66"/>
            <p:cNvSpPr/>
            <p:nvPr/>
          </p:nvSpPr>
          <p:spPr>
            <a:xfrm>
              <a:off x="6515100" y="5486400"/>
              <a:ext cx="4914900" cy="533400"/>
            </a:xfrm>
            <a:prstGeom prst="roundRect">
              <a:avLst>
                <a:gd name="adj" fmla="val 14286"/>
              </a:avLst>
            </a:prstGeom>
            <a:solidFill>
              <a:srgbClr val="F0EDE8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7396162" y="5582602"/>
              <a:ext cx="33337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耗时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7266220" y="5759768"/>
              <a:ext cx="5932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3A9E6A"/>
                  </a:solidFill>
                  <a:latin typeface="Arial"/>
                  <a:ea typeface="Microsoft YaHei"/>
                  <a:cs typeface="Arial"/>
                </a:rPr>
                <a:t>1~2 天</a:t>
              </a:r>
            </a:p>
          </p:txBody>
        </p:sp>
        <p:sp>
          <p:nvSpPr>
            <p:cNvPr id="69" name="Line 69"/>
            <p:cNvSpPr/>
            <p:nvPr/>
          </p:nvSpPr>
          <p:spPr>
            <a:xfrm>
              <a:off x="8972550" y="5562600"/>
              <a:ext cx="9525" cy="381000"/>
            </a:xfrm>
            <a:custGeom>
              <a:avLst/>
              <a:gdLst/>
              <a:ahLst/>
              <a:cxnLst/>
              <a:rect l="l" t="t" r="r" b="b"/>
              <a:pathLst>
                <a:path w="9525" h="381000">
                  <a:moveTo>
                    <a:pt x="0" y="0"/>
                  </a:moveTo>
                  <a:lnTo>
                    <a:pt x="0" y="381000"/>
                  </a:lnTo>
                </a:path>
              </a:pathLst>
            </a:custGeom>
            <a:noFill/>
            <a:ln w="9525">
              <a:solidFill>
                <a:srgbClr val="E0D8D0"/>
              </a:solidFill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10215562" y="5582602"/>
              <a:ext cx="33337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成本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10251241" y="5759768"/>
              <a:ext cx="2620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3A9E6A"/>
                  </a:solidFill>
                  <a:latin typeface="Arial"/>
                  <a:ea typeface="Microsoft YaHei"/>
                  <a:cs typeface="Arial"/>
                </a:rPr>
                <a:t>$0</a:t>
              </a:r>
            </a:p>
          </p:txBody>
        </p:sp>
      </p:grpSp>
      <p:sp>
        <p:nvSpPr>
          <p:cNvPr id="73" name="TextBox 73"/>
          <p:cNvSpPr txBox="1"/>
          <p:nvPr/>
        </p:nvSpPr>
        <p:spPr>
          <a:xfrm>
            <a:off x="11093434" y="6554152"/>
            <a:ext cx="54040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09 / 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3" grpId="0"/>
      <p:bldP spid="7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762000" y="280035"/>
            <a:ext cx="10668000" cy="777240"/>
            <a:chOff x="762000" y="280035"/>
            <a:chExt cx="10668000" cy="777240"/>
          </a:xfrm>
        </p:grpSpPr>
        <p:sp>
          <p:nvSpPr>
            <p:cNvPr id="4" name="TextBox 4"/>
            <p:cNvSpPr txBox="1"/>
            <p:nvPr/>
          </p:nvSpPr>
          <p:spPr>
            <a:xfrm>
              <a:off x="3722318" y="280035"/>
              <a:ext cx="4747365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7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CLAUDE.md — 项目的大脑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3135868" y="714375"/>
              <a:ext cx="5920264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告诉 Claude Code：这个项目是什么、怎么做、保持什么风格</a:t>
              </a:r>
            </a:p>
          </p:txBody>
        </p:sp>
        <p:sp>
          <p:nvSpPr>
            <p:cNvPr id="6" name="Line 6"/>
            <p:cNvSpPr/>
            <p:nvPr/>
          </p:nvSpPr>
          <p:spPr>
            <a:xfrm>
              <a:off x="762000" y="10477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4288">
              <a:solidFill>
                <a:srgbClr val="E0D8D0"/>
              </a:solidFill>
            </a:ln>
          </p:spPr>
        </p:sp>
      </p:grpSp>
      <p:sp>
        <p:nvSpPr>
          <p:cNvPr id="8" name="Ellipse 8"/>
          <p:cNvSpPr/>
          <p:nvPr/>
        </p:nvSpPr>
        <p:spPr>
          <a:xfrm>
            <a:off x="4191000" y="2000250"/>
            <a:ext cx="3810000" cy="3810000"/>
          </a:xfrm>
          <a:prstGeom prst="ellipse">
            <a:avLst/>
          </a:prstGeom>
          <a:noFill/>
          <a:ln w="9525">
            <a:solidFill>
              <a:srgbClr val="E0D8D0">
                <a:alpha val="60000"/>
              </a:srgbClr>
            </a:solidFill>
            <a:custDash>
              <a:ds d="600000" sp="600000"/>
            </a:custDash>
          </a:ln>
        </p:spPr>
      </p:sp>
      <p:sp>
        <p:nvSpPr>
          <p:cNvPr id="9" name="Ellipse 9"/>
          <p:cNvSpPr/>
          <p:nvPr/>
        </p:nvSpPr>
        <p:spPr>
          <a:xfrm>
            <a:off x="4857750" y="2667000"/>
            <a:ext cx="2476500" cy="2476500"/>
          </a:xfrm>
          <a:prstGeom prst="ellipse">
            <a:avLst/>
          </a:prstGeom>
          <a:noFill/>
          <a:ln w="9525">
            <a:solidFill>
              <a:srgbClr val="E0D8D0">
                <a:alpha val="40000"/>
              </a:srgbClr>
            </a:solidFill>
          </a:ln>
        </p:spPr>
      </p:sp>
      <p:sp>
        <p:nvSpPr>
          <p:cNvPr id="10" name="Line 10"/>
          <p:cNvSpPr/>
          <p:nvPr/>
        </p:nvSpPr>
        <p:spPr>
          <a:xfrm>
            <a:off x="2952750" y="3905250"/>
            <a:ext cx="1885950" cy="9525"/>
          </a:xfrm>
          <a:custGeom>
            <a:avLst/>
            <a:gdLst/>
            <a:ahLst/>
            <a:cxnLst/>
            <a:rect l="l" t="t" r="r" b="b"/>
            <a:pathLst>
              <a:path w="1885950" h="9525">
                <a:moveTo>
                  <a:pt x="1885950" y="0"/>
                </a:moveTo>
                <a:lnTo>
                  <a:pt x="0" y="0"/>
                </a:lnTo>
              </a:path>
            </a:pathLst>
          </a:custGeom>
          <a:noFill/>
          <a:ln w="23812">
            <a:solidFill>
              <a:srgbClr val="C96133">
                <a:alpha val="70000"/>
              </a:srgbClr>
            </a:solidFill>
            <a:custDash>
              <a:ds d="240000" sp="200000"/>
            </a:custDash>
          </a:ln>
        </p:spPr>
      </p:sp>
      <p:sp>
        <p:nvSpPr>
          <p:cNvPr id="11" name="Line 11"/>
          <p:cNvSpPr/>
          <p:nvPr/>
        </p:nvSpPr>
        <p:spPr>
          <a:xfrm>
            <a:off x="5619750" y="2419350"/>
            <a:ext cx="2381250" cy="295275"/>
          </a:xfrm>
          <a:custGeom>
            <a:avLst/>
            <a:gdLst/>
            <a:ahLst/>
            <a:cxnLst/>
            <a:rect l="l" t="t" r="r" b="b"/>
            <a:pathLst>
              <a:path w="2381250" h="295275">
                <a:moveTo>
                  <a:pt x="0" y="295275"/>
                </a:moveTo>
                <a:lnTo>
                  <a:pt x="2381250" y="0"/>
                </a:lnTo>
              </a:path>
            </a:pathLst>
          </a:custGeom>
          <a:noFill/>
          <a:ln w="23812">
            <a:solidFill>
              <a:srgbClr val="3D7DE4">
                <a:alpha val="70000"/>
              </a:srgbClr>
            </a:solidFill>
            <a:custDash>
              <a:ds d="240000" sp="200000"/>
            </a:custDash>
          </a:ln>
        </p:spPr>
      </p:sp>
      <p:sp>
        <p:nvSpPr>
          <p:cNvPr id="12" name="Line 12"/>
          <p:cNvSpPr/>
          <p:nvPr/>
        </p:nvSpPr>
        <p:spPr>
          <a:xfrm>
            <a:off x="5619750" y="5095875"/>
            <a:ext cx="2381250" cy="295275"/>
          </a:xfrm>
          <a:custGeom>
            <a:avLst/>
            <a:gdLst/>
            <a:ahLst/>
            <a:cxnLst/>
            <a:rect l="l" t="t" r="r" b="b"/>
            <a:pathLst>
              <a:path w="2381250" h="295275">
                <a:moveTo>
                  <a:pt x="0" y="0"/>
                </a:moveTo>
                <a:lnTo>
                  <a:pt x="2381250" y="295275"/>
                </a:lnTo>
              </a:path>
            </a:pathLst>
          </a:custGeom>
          <a:noFill/>
          <a:ln w="23812">
            <a:solidFill>
              <a:srgbClr val="3A9E6A">
                <a:alpha val="70000"/>
              </a:srgbClr>
            </a:solidFill>
            <a:custDash>
              <a:ds d="240000" sp="200000"/>
            </a:custDash>
          </a:ln>
        </p:spPr>
      </p:sp>
      <p:grpSp>
        <p:nvGrpSpPr>
          <p:cNvPr id="23" name="Group 23"/>
          <p:cNvGrpSpPr/>
          <p:nvPr/>
        </p:nvGrpSpPr>
        <p:grpSpPr>
          <a:xfrm>
            <a:off x="5181600" y="2990850"/>
            <a:ext cx="1828800" cy="1828800"/>
            <a:chOff x="5181600" y="2990850"/>
            <a:chExt cx="1828800" cy="1828800"/>
          </a:xfrm>
        </p:grpSpPr>
        <p:sp>
          <p:nvSpPr>
            <p:cNvPr id="13" name="Ellipse 13"/>
            <p:cNvSpPr/>
            <p:nvPr/>
          </p:nvSpPr>
          <p:spPr>
            <a:xfrm>
              <a:off x="5181600" y="2990850"/>
              <a:ext cx="1828800" cy="1828800"/>
            </a:xfrm>
            <a:prstGeom prst="ellipse">
              <a:avLst/>
            </a:prstGeom>
            <a:solidFill>
              <a:srgbClr val="C96133">
                <a:alpha val="8000"/>
              </a:srgbClr>
            </a:solidFill>
            <a:ln>
              <a:noFill/>
            </a:ln>
          </p:spPr>
        </p:sp>
        <p:sp>
          <p:nvSpPr>
            <p:cNvPr id="14" name="Ellipse 14"/>
            <p:cNvSpPr/>
            <p:nvPr/>
          </p:nvSpPr>
          <p:spPr>
            <a:xfrm>
              <a:off x="5314950" y="3124200"/>
              <a:ext cx="1562100" cy="1562100"/>
            </a:xfrm>
            <a:prstGeom prst="ellipse">
              <a:avLst/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15" name="Ellipse 15"/>
            <p:cNvSpPr/>
            <p:nvPr/>
          </p:nvSpPr>
          <p:spPr>
            <a:xfrm>
              <a:off x="5429250" y="3238500"/>
              <a:ext cx="1333500" cy="1333500"/>
            </a:xfrm>
            <a:prstGeom prst="ellipse">
              <a:avLst/>
            </a:prstGeom>
            <a:noFill/>
            <a:ln w="14288">
              <a:solidFill>
                <a:srgbClr val="FFFFFF">
                  <a:alpha val="35000"/>
                </a:srgbClr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5505450" y="3314700"/>
              <a:ext cx="1181100" cy="1181100"/>
            </a:xfrm>
            <a:prstGeom prst="ellipse">
              <a:avLst/>
            </a:prstGeom>
            <a:noFill/>
            <a:ln w="9525">
              <a:solidFill>
                <a:srgbClr val="FFFFFF">
                  <a:alpha val="25000"/>
                </a:srgbClr>
              </a:solidFill>
              <a:custDash>
                <a:ds d="300000" sp="500000"/>
              </a:custDash>
            </a:ln>
          </p:spPr>
        </p:sp>
        <p:sp>
          <p:nvSpPr>
            <p:cNvPr id="17" name="Freeform 17"/>
            <p:cNvSpPr/>
            <p:nvPr/>
          </p:nvSpPr>
          <p:spPr>
            <a:xfrm>
              <a:off x="5858326" y="3438976"/>
              <a:ext cx="475348" cy="475348"/>
            </a:xfrm>
            <a:custGeom>
              <a:avLst/>
              <a:gdLst/>
              <a:ahLst/>
              <a:cxnLst/>
              <a:rect l="l" t="t" r="r" b="b"/>
              <a:pathLst>
                <a:path w="475348" h="475348">
                  <a:moveTo>
                    <a:pt x="296504" y="61674"/>
                  </a:moveTo>
                  <a:cubicBezTo>
                    <a:pt x="297713" y="66666"/>
                    <a:pt x="301233" y="70780"/>
                    <a:pt x="305977" y="72748"/>
                  </a:cubicBezTo>
                  <a:cubicBezTo>
                    <a:pt x="310721" y="74716"/>
                    <a:pt x="316119" y="74301"/>
                    <a:pt x="320507" y="71631"/>
                  </a:cubicBezTo>
                  <a:cubicBezTo>
                    <a:pt x="374714" y="38627"/>
                    <a:pt x="436743" y="100635"/>
                    <a:pt x="403739" y="154842"/>
                  </a:cubicBezTo>
                  <a:cubicBezTo>
                    <a:pt x="401069" y="159226"/>
                    <a:pt x="400651" y="164621"/>
                    <a:pt x="402615" y="169364"/>
                  </a:cubicBezTo>
                  <a:cubicBezTo>
                    <a:pt x="404578" y="174108"/>
                    <a:pt x="408686" y="177630"/>
                    <a:pt x="413674" y="178845"/>
                  </a:cubicBezTo>
                  <a:cubicBezTo>
                    <a:pt x="475348" y="193802"/>
                    <a:pt x="475348" y="281524"/>
                    <a:pt x="413674" y="296504"/>
                  </a:cubicBezTo>
                  <a:cubicBezTo>
                    <a:pt x="408682" y="297713"/>
                    <a:pt x="404568" y="301233"/>
                    <a:pt x="402600" y="305977"/>
                  </a:cubicBezTo>
                  <a:cubicBezTo>
                    <a:pt x="400632" y="310721"/>
                    <a:pt x="401047" y="316119"/>
                    <a:pt x="403717" y="320507"/>
                  </a:cubicBezTo>
                  <a:cubicBezTo>
                    <a:pt x="436721" y="374714"/>
                    <a:pt x="374714" y="436743"/>
                    <a:pt x="320507" y="403739"/>
                  </a:cubicBezTo>
                  <a:cubicBezTo>
                    <a:pt x="316122" y="401069"/>
                    <a:pt x="310727" y="400651"/>
                    <a:pt x="305984" y="402615"/>
                  </a:cubicBezTo>
                  <a:cubicBezTo>
                    <a:pt x="301241" y="404578"/>
                    <a:pt x="297719" y="408686"/>
                    <a:pt x="296504" y="413674"/>
                  </a:cubicBezTo>
                  <a:cubicBezTo>
                    <a:pt x="281546" y="475348"/>
                    <a:pt x="193824" y="475348"/>
                    <a:pt x="178845" y="413674"/>
                  </a:cubicBezTo>
                  <a:cubicBezTo>
                    <a:pt x="177635" y="408682"/>
                    <a:pt x="174116" y="404568"/>
                    <a:pt x="169372" y="402600"/>
                  </a:cubicBezTo>
                  <a:cubicBezTo>
                    <a:pt x="164628" y="400632"/>
                    <a:pt x="159229" y="401047"/>
                    <a:pt x="154842" y="403717"/>
                  </a:cubicBezTo>
                  <a:cubicBezTo>
                    <a:pt x="100635" y="436721"/>
                    <a:pt x="38605" y="374714"/>
                    <a:pt x="71609" y="320507"/>
                  </a:cubicBezTo>
                  <a:cubicBezTo>
                    <a:pt x="74279" y="316122"/>
                    <a:pt x="74697" y="310727"/>
                    <a:pt x="72734" y="305984"/>
                  </a:cubicBezTo>
                  <a:cubicBezTo>
                    <a:pt x="70770" y="301241"/>
                    <a:pt x="66662" y="297719"/>
                    <a:pt x="61674" y="296504"/>
                  </a:cubicBezTo>
                  <a:cubicBezTo>
                    <a:pt x="0" y="281546"/>
                    <a:pt x="0" y="193824"/>
                    <a:pt x="61674" y="178845"/>
                  </a:cubicBezTo>
                  <a:cubicBezTo>
                    <a:pt x="66666" y="177635"/>
                    <a:pt x="70780" y="174116"/>
                    <a:pt x="72748" y="169372"/>
                  </a:cubicBezTo>
                  <a:cubicBezTo>
                    <a:pt x="74716" y="164628"/>
                    <a:pt x="74301" y="159229"/>
                    <a:pt x="71631" y="154842"/>
                  </a:cubicBezTo>
                  <a:cubicBezTo>
                    <a:pt x="38627" y="100635"/>
                    <a:pt x="100635" y="38605"/>
                    <a:pt x="154842" y="71609"/>
                  </a:cubicBezTo>
                  <a:cubicBezTo>
                    <a:pt x="159222" y="74299"/>
                    <a:pt x="164626" y="74728"/>
                    <a:pt x="169376" y="72762"/>
                  </a:cubicBezTo>
                  <a:cubicBezTo>
                    <a:pt x="174126" y="70796"/>
                    <a:pt x="177647" y="66674"/>
                    <a:pt x="178845" y="61674"/>
                  </a:cubicBezTo>
                  <a:cubicBezTo>
                    <a:pt x="193802" y="0"/>
                    <a:pt x="281524" y="0"/>
                    <a:pt x="296504" y="61674"/>
                  </a:cubicBezTo>
                  <a:close/>
                  <a:moveTo>
                    <a:pt x="237674" y="170999"/>
                  </a:moveTo>
                  <a:cubicBezTo>
                    <a:pt x="200851" y="170999"/>
                    <a:pt x="170999" y="200851"/>
                    <a:pt x="170999" y="237674"/>
                  </a:cubicBezTo>
                  <a:cubicBezTo>
                    <a:pt x="170999" y="274498"/>
                    <a:pt x="200851" y="304349"/>
                    <a:pt x="237674" y="304349"/>
                  </a:cubicBezTo>
                  <a:cubicBezTo>
                    <a:pt x="274498" y="304349"/>
                    <a:pt x="304349" y="274498"/>
                    <a:pt x="304349" y="237674"/>
                  </a:cubicBezTo>
                  <a:cubicBezTo>
                    <a:pt x="304349" y="200851"/>
                    <a:pt x="274498" y="170999"/>
                    <a:pt x="237674" y="170999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5606901" y="4042410"/>
              <a:ext cx="97819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CLAUDE.md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690235" y="4265295"/>
              <a:ext cx="81153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项目配置文件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5843588" y="4529138"/>
              <a:ext cx="47625" cy="47625"/>
            </a:xfrm>
            <a:prstGeom prst="ellipse">
              <a:avLst/>
            </a:prstGeom>
            <a:solidFill>
              <a:srgbClr val="FFFFFF">
                <a:alpha val="70000"/>
              </a:srgbClr>
            </a:solidFill>
            <a:ln>
              <a:noFill/>
            </a:ln>
          </p:spPr>
        </p:sp>
        <p:sp>
          <p:nvSpPr>
            <p:cNvPr id="21" name="Ellipse 21"/>
            <p:cNvSpPr/>
            <p:nvPr/>
          </p:nvSpPr>
          <p:spPr>
            <a:xfrm>
              <a:off x="6067425" y="4524375"/>
              <a:ext cx="57150" cy="57150"/>
            </a:xfrm>
            <a:prstGeom prst="ellipse">
              <a:avLst/>
            </a:prstGeom>
            <a:solidFill>
              <a:srgbClr val="FFFFFF">
                <a:alpha val="80000"/>
              </a:srgbClr>
            </a:solidFill>
            <a:ln>
              <a:noFill/>
            </a:ln>
          </p:spPr>
        </p:sp>
        <p:sp>
          <p:nvSpPr>
            <p:cNvPr id="22" name="Ellipse 22"/>
            <p:cNvSpPr/>
            <p:nvPr/>
          </p:nvSpPr>
          <p:spPr>
            <a:xfrm>
              <a:off x="6300788" y="4529138"/>
              <a:ext cx="47625" cy="47625"/>
            </a:xfrm>
            <a:prstGeom prst="ellipse">
              <a:avLst/>
            </a:prstGeom>
            <a:solidFill>
              <a:srgbClr val="FFFFFF">
                <a:alpha val="70000"/>
              </a:srgbClr>
            </a:solidFill>
            <a:ln>
              <a:noFill/>
            </a:ln>
          </p:spPr>
        </p:sp>
      </p:grpSp>
      <p:grpSp>
        <p:nvGrpSpPr>
          <p:cNvPr id="33" name="Group 33"/>
          <p:cNvGrpSpPr/>
          <p:nvPr/>
        </p:nvGrpSpPr>
        <p:grpSpPr>
          <a:xfrm>
            <a:off x="571500" y="3371850"/>
            <a:ext cx="2381250" cy="1083469"/>
            <a:chOff x="571500" y="3371850"/>
            <a:chExt cx="2381250" cy="1083469"/>
          </a:xfrm>
        </p:grpSpPr>
        <p:sp>
          <p:nvSpPr>
            <p:cNvPr id="24" name="Rectangle 24"/>
            <p:cNvSpPr/>
            <p:nvPr/>
          </p:nvSpPr>
          <p:spPr>
            <a:xfrm>
              <a:off x="571500" y="3371850"/>
              <a:ext cx="2381250" cy="1066800"/>
            </a:xfrm>
            <a:prstGeom prst="roundRect">
              <a:avLst>
                <a:gd name="adj" fmla="val 10714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571500" y="3371850"/>
              <a:ext cx="47625" cy="1066800"/>
            </a:xfrm>
            <a:prstGeom prst="roundRect">
              <a:avLst>
                <a:gd name="adj" fmla="val 40000"/>
              </a:avLst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742950" y="3524250"/>
              <a:ext cx="381000" cy="381000"/>
            </a:xfrm>
            <a:prstGeom prst="roundRect">
              <a:avLst>
                <a:gd name="adj" fmla="val 20000"/>
              </a:avLst>
            </a:prstGeom>
            <a:solidFill>
              <a:srgbClr val="C96133">
                <a:alpha val="10000"/>
              </a:srgbClr>
            </a:solidFill>
            <a:ln>
              <a:noFill/>
            </a:ln>
          </p:spPr>
        </p:sp>
        <p:sp>
          <p:nvSpPr>
            <p:cNvPr id="27" name="Freeform 27"/>
            <p:cNvSpPr/>
            <p:nvPr/>
          </p:nvSpPr>
          <p:spPr>
            <a:xfrm>
              <a:off x="822325" y="3603625"/>
              <a:ext cx="222250" cy="222477"/>
            </a:xfrm>
            <a:custGeom>
              <a:avLst/>
              <a:gdLst/>
              <a:ahLst/>
              <a:cxnLst/>
              <a:rect l="l" t="t" r="r" b="b"/>
              <a:pathLst>
                <a:path w="222250" h="222477">
                  <a:moveTo>
                    <a:pt x="111125" y="0"/>
                  </a:moveTo>
                  <a:cubicBezTo>
                    <a:pt x="172222" y="0"/>
                    <a:pt x="222250" y="44472"/>
                    <a:pt x="222250" y="100012"/>
                  </a:cubicBezTo>
                  <a:cubicBezTo>
                    <a:pt x="222250" y="115025"/>
                    <a:pt x="215583" y="129350"/>
                    <a:pt x="203870" y="139751"/>
                  </a:cubicBezTo>
                  <a:cubicBezTo>
                    <a:pt x="192424" y="149908"/>
                    <a:pt x="177067" y="155575"/>
                    <a:pt x="161131" y="155575"/>
                  </a:cubicBezTo>
                  <a:lnTo>
                    <a:pt x="133172" y="155575"/>
                  </a:lnTo>
                  <a:cubicBezTo>
                    <a:pt x="128072" y="155493"/>
                    <a:pt x="123570" y="158894"/>
                    <a:pt x="122256" y="163823"/>
                  </a:cubicBezTo>
                  <a:cubicBezTo>
                    <a:pt x="120941" y="168752"/>
                    <a:pt x="123152" y="173943"/>
                    <a:pt x="127616" y="176411"/>
                  </a:cubicBezTo>
                  <a:cubicBezTo>
                    <a:pt x="128394" y="176841"/>
                    <a:pt x="129118" y="177364"/>
                    <a:pt x="129772" y="177967"/>
                  </a:cubicBezTo>
                  <a:cubicBezTo>
                    <a:pt x="137562" y="185155"/>
                    <a:pt x="140106" y="196406"/>
                    <a:pt x="136167" y="206248"/>
                  </a:cubicBezTo>
                  <a:cubicBezTo>
                    <a:pt x="132229" y="216089"/>
                    <a:pt x="122624" y="222477"/>
                    <a:pt x="112025" y="222306"/>
                  </a:cubicBezTo>
                  <a:lnTo>
                    <a:pt x="110292" y="222206"/>
                  </a:lnTo>
                  <a:lnTo>
                    <a:pt x="111047" y="222250"/>
                  </a:lnTo>
                  <a:lnTo>
                    <a:pt x="108014" y="222206"/>
                  </a:lnTo>
                  <a:cubicBezTo>
                    <a:pt x="49117" y="220583"/>
                    <a:pt x="1667" y="173133"/>
                    <a:pt x="44" y="114237"/>
                  </a:cubicBezTo>
                  <a:lnTo>
                    <a:pt x="0" y="111125"/>
                  </a:lnTo>
                  <a:cubicBezTo>
                    <a:pt x="0" y="49751"/>
                    <a:pt x="49751" y="0"/>
                    <a:pt x="111125" y="0"/>
                  </a:cubicBezTo>
                  <a:moveTo>
                    <a:pt x="72231" y="72231"/>
                  </a:moveTo>
                  <a:cubicBezTo>
                    <a:pt x="60601" y="72228"/>
                    <a:pt x="50934" y="81192"/>
                    <a:pt x="50062" y="92789"/>
                  </a:cubicBezTo>
                  <a:lnTo>
                    <a:pt x="50006" y="94456"/>
                  </a:lnTo>
                  <a:cubicBezTo>
                    <a:pt x="50006" y="106731"/>
                    <a:pt x="59957" y="116681"/>
                    <a:pt x="72231" y="116681"/>
                  </a:cubicBezTo>
                  <a:cubicBezTo>
                    <a:pt x="84506" y="116681"/>
                    <a:pt x="94456" y="106731"/>
                    <a:pt x="94456" y="94456"/>
                  </a:cubicBezTo>
                  <a:cubicBezTo>
                    <a:pt x="94456" y="82182"/>
                    <a:pt x="84506" y="72231"/>
                    <a:pt x="72231" y="72231"/>
                  </a:cubicBezTo>
                  <a:moveTo>
                    <a:pt x="161131" y="72231"/>
                  </a:moveTo>
                  <a:cubicBezTo>
                    <a:pt x="149501" y="72228"/>
                    <a:pt x="139834" y="81192"/>
                    <a:pt x="138962" y="92789"/>
                  </a:cubicBezTo>
                  <a:lnTo>
                    <a:pt x="138906" y="94456"/>
                  </a:lnTo>
                  <a:cubicBezTo>
                    <a:pt x="138906" y="106731"/>
                    <a:pt x="148857" y="116681"/>
                    <a:pt x="161131" y="116681"/>
                  </a:cubicBezTo>
                  <a:cubicBezTo>
                    <a:pt x="173406" y="116681"/>
                    <a:pt x="183356" y="106731"/>
                    <a:pt x="183356" y="94456"/>
                  </a:cubicBezTo>
                  <a:cubicBezTo>
                    <a:pt x="183356" y="82182"/>
                    <a:pt x="173406" y="72231"/>
                    <a:pt x="161131" y="72231"/>
                  </a:cubicBezTo>
                  <a:moveTo>
                    <a:pt x="116681" y="38894"/>
                  </a:moveTo>
                  <a:cubicBezTo>
                    <a:pt x="105051" y="38890"/>
                    <a:pt x="95384" y="47854"/>
                    <a:pt x="94512" y="59452"/>
                  </a:cubicBezTo>
                  <a:lnTo>
                    <a:pt x="94456" y="61119"/>
                  </a:lnTo>
                  <a:cubicBezTo>
                    <a:pt x="94456" y="73393"/>
                    <a:pt x="104407" y="83344"/>
                    <a:pt x="116681" y="83344"/>
                  </a:cubicBezTo>
                  <a:cubicBezTo>
                    <a:pt x="128956" y="83344"/>
                    <a:pt x="138906" y="73393"/>
                    <a:pt x="138906" y="61119"/>
                  </a:cubicBezTo>
                  <a:cubicBezTo>
                    <a:pt x="138906" y="48844"/>
                    <a:pt x="128956" y="38894"/>
                    <a:pt x="116681" y="38894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1203008" y="3577114"/>
              <a:ext cx="814483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设计规范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207770" y="3789045"/>
              <a:ext cx="75238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STYLE GUIDE</a:t>
              </a:r>
            </a:p>
          </p:txBody>
        </p:sp>
        <p:sp>
          <p:nvSpPr>
            <p:cNvPr id="30" name="Line 30"/>
            <p:cNvSpPr/>
            <p:nvPr/>
          </p:nvSpPr>
          <p:spPr>
            <a:xfrm>
              <a:off x="742950" y="4019550"/>
              <a:ext cx="2019300" cy="9525"/>
            </a:xfrm>
            <a:custGeom>
              <a:avLst/>
              <a:gdLst/>
              <a:ahLst/>
              <a:cxnLst/>
              <a:rect l="l" t="t" r="r" b="b"/>
              <a:pathLst>
                <a:path w="2019300" h="9525">
                  <a:moveTo>
                    <a:pt x="0" y="0"/>
                  </a:moveTo>
                  <a:lnTo>
                    <a:pt x="2019300" y="0"/>
                  </a:lnTo>
                </a:path>
              </a:pathLst>
            </a:custGeom>
            <a:noFill/>
            <a:ln w="9525">
              <a:solidFill>
                <a:srgbClr val="F0EDE8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0568" y="4085749"/>
              <a:ext cx="165523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主色 · 字体 · 圆角 · 间距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30568" y="4257199"/>
              <a:ext cx="164099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Claude 每次写代码都遵守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8001000" y="1790700"/>
            <a:ext cx="3429000" cy="1257300"/>
            <a:chOff x="8001000" y="1790700"/>
            <a:chExt cx="3429000" cy="1257300"/>
          </a:xfrm>
        </p:grpSpPr>
        <p:sp>
          <p:nvSpPr>
            <p:cNvPr id="34" name="Rectangle 34"/>
            <p:cNvSpPr/>
            <p:nvPr/>
          </p:nvSpPr>
          <p:spPr>
            <a:xfrm>
              <a:off x="8001000" y="1790700"/>
              <a:ext cx="3429000" cy="1257300"/>
            </a:xfrm>
            <a:prstGeom prst="roundRect">
              <a:avLst>
                <a:gd name="adj" fmla="val 9091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8001000" y="1790700"/>
              <a:ext cx="47625" cy="1257300"/>
            </a:xfrm>
            <a:prstGeom prst="roundRect">
              <a:avLst>
                <a:gd name="adj" fmla="val 40000"/>
              </a:avLst>
            </a:prstGeom>
            <a:solidFill>
              <a:srgbClr val="3D7DE4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8191500" y="1943100"/>
              <a:ext cx="381000" cy="381000"/>
            </a:xfrm>
            <a:prstGeom prst="roundRect">
              <a:avLst>
                <a:gd name="adj" fmla="val 20000"/>
              </a:avLst>
            </a:prstGeom>
            <a:solidFill>
              <a:srgbClr val="3D7DE4">
                <a:alpha val="10000"/>
              </a:srgbClr>
            </a:solidFill>
            <a:ln>
              <a:noFill/>
            </a:ln>
          </p:spPr>
        </p:sp>
        <p:grpSp>
          <p:nvGrpSpPr>
            <p:cNvPr id="39" name="Group 39"/>
            <p:cNvGrpSpPr/>
            <p:nvPr/>
          </p:nvGrpSpPr>
          <p:grpSpPr>
            <a:xfrm>
              <a:off x="8281988" y="2033588"/>
              <a:ext cx="200024" cy="200025"/>
              <a:chOff x="8281988" y="2033588"/>
              <a:chExt cx="200024" cy="200025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8281988" y="2033588"/>
                <a:ext cx="88900" cy="200025"/>
              </a:xfrm>
              <a:custGeom>
                <a:avLst/>
                <a:gdLst/>
                <a:ahLst/>
                <a:cxnLst/>
                <a:rect l="l" t="t" r="r" b="b"/>
                <a:pathLst>
                  <a:path w="88900" h="200025">
                    <a:moveTo>
                      <a:pt x="55563" y="0"/>
                    </a:moveTo>
                    <a:cubicBezTo>
                      <a:pt x="73974" y="0"/>
                      <a:pt x="88900" y="14926"/>
                      <a:pt x="88900" y="33338"/>
                    </a:cubicBezTo>
                    <a:lnTo>
                      <a:pt x="88900" y="166688"/>
                    </a:lnTo>
                    <a:cubicBezTo>
                      <a:pt x="88900" y="185099"/>
                      <a:pt x="73974" y="200025"/>
                      <a:pt x="55563" y="200025"/>
                    </a:cubicBezTo>
                    <a:lnTo>
                      <a:pt x="33338" y="200025"/>
                    </a:lnTo>
                    <a:cubicBezTo>
                      <a:pt x="14926" y="200025"/>
                      <a:pt x="0" y="185099"/>
                      <a:pt x="0" y="166688"/>
                    </a:cubicBezTo>
                    <a:lnTo>
                      <a:pt x="0" y="33338"/>
                    </a:lnTo>
                    <a:cubicBezTo>
                      <a:pt x="0" y="14926"/>
                      <a:pt x="14926" y="0"/>
                      <a:pt x="33338" y="0"/>
                    </a:cubicBezTo>
                    <a:close/>
                  </a:path>
                </a:pathLst>
              </a:custGeom>
              <a:solidFill>
                <a:srgbClr val="3D7DE4"/>
              </a:solidFill>
              <a:ln>
                <a:noFill/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8393112" y="2033588"/>
                <a:ext cx="88900" cy="133350"/>
              </a:xfrm>
              <a:custGeom>
                <a:avLst/>
                <a:gdLst/>
                <a:ahLst/>
                <a:cxnLst/>
                <a:rect l="l" t="t" r="r" b="b"/>
                <a:pathLst>
                  <a:path w="88900" h="133350">
                    <a:moveTo>
                      <a:pt x="55563" y="0"/>
                    </a:moveTo>
                    <a:cubicBezTo>
                      <a:pt x="73974" y="0"/>
                      <a:pt x="88900" y="14926"/>
                      <a:pt x="88900" y="33338"/>
                    </a:cubicBezTo>
                    <a:lnTo>
                      <a:pt x="88900" y="100012"/>
                    </a:lnTo>
                    <a:cubicBezTo>
                      <a:pt x="88900" y="118424"/>
                      <a:pt x="73974" y="133350"/>
                      <a:pt x="55563" y="133350"/>
                    </a:cubicBezTo>
                    <a:lnTo>
                      <a:pt x="33338" y="133350"/>
                    </a:lnTo>
                    <a:cubicBezTo>
                      <a:pt x="14926" y="133350"/>
                      <a:pt x="0" y="118424"/>
                      <a:pt x="0" y="100012"/>
                    </a:cubicBezTo>
                    <a:lnTo>
                      <a:pt x="0" y="33338"/>
                    </a:lnTo>
                    <a:cubicBezTo>
                      <a:pt x="0" y="14926"/>
                      <a:pt x="14926" y="0"/>
                      <a:pt x="33338" y="0"/>
                    </a:cubicBezTo>
                    <a:close/>
                  </a:path>
                </a:pathLst>
              </a:custGeom>
              <a:solidFill>
                <a:srgbClr val="3D7DE4"/>
              </a:solidFill>
              <a:ln>
                <a:noFill/>
              </a:ln>
            </p:spPr>
          </p:sp>
        </p:grpSp>
        <p:sp>
          <p:nvSpPr>
            <p:cNvPr id="40" name="TextBox 40"/>
            <p:cNvSpPr txBox="1"/>
            <p:nvPr/>
          </p:nvSpPr>
          <p:spPr>
            <a:xfrm>
              <a:off x="8651558" y="1995964"/>
              <a:ext cx="1205532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页面结构约定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656320" y="2207895"/>
              <a:ext cx="100212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3D7DE4"/>
                  </a:solidFill>
                  <a:latin typeface="Arial"/>
                  <a:ea typeface="Microsoft YaHei"/>
                  <a:cs typeface="Arial"/>
                </a:rPr>
                <a:t>PAGE STRUCTURE</a:t>
              </a:r>
            </a:p>
          </p:txBody>
        </p:sp>
        <p:sp>
          <p:nvSpPr>
            <p:cNvPr id="42" name="Line 42"/>
            <p:cNvSpPr/>
            <p:nvPr/>
          </p:nvSpPr>
          <p:spPr>
            <a:xfrm>
              <a:off x="8191500" y="2438400"/>
              <a:ext cx="3048000" cy="9525"/>
            </a:xfrm>
            <a:custGeom>
              <a:avLst/>
              <a:gdLst/>
              <a:ahLst/>
              <a:cxnLst/>
              <a:rect l="l" t="t" r="r" b="b"/>
              <a:pathLst>
                <a:path w="3048000" h="9525">
                  <a:moveTo>
                    <a:pt x="0" y="0"/>
                  </a:moveTo>
                  <a:lnTo>
                    <a:pt x="3048000" y="0"/>
                  </a:lnTo>
                </a:path>
              </a:pathLst>
            </a:custGeom>
            <a:noFill/>
            <a:ln w="9525">
              <a:solidFill>
                <a:srgbClr val="EBF0FA"/>
              </a:solidFill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179118" y="2523649"/>
              <a:ext cx="2288905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Nav / Hero / 内容区 / Footer 模板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179118" y="2714149"/>
              <a:ext cx="173355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每个新页面都按此骨架生成</a:t>
              </a: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8001000" y="4762500"/>
            <a:ext cx="3429000" cy="1257300"/>
            <a:chOff x="8001000" y="4762500"/>
            <a:chExt cx="3429000" cy="1257300"/>
          </a:xfrm>
        </p:grpSpPr>
        <p:sp>
          <p:nvSpPr>
            <p:cNvPr id="46" name="Rectangle 46"/>
            <p:cNvSpPr/>
            <p:nvPr/>
          </p:nvSpPr>
          <p:spPr>
            <a:xfrm>
              <a:off x="8001000" y="4762500"/>
              <a:ext cx="3429000" cy="1257300"/>
            </a:xfrm>
            <a:prstGeom prst="roundRect">
              <a:avLst>
                <a:gd name="adj" fmla="val 9091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8001000" y="4762500"/>
              <a:ext cx="47625" cy="1257300"/>
            </a:xfrm>
            <a:prstGeom prst="roundRect">
              <a:avLst>
                <a:gd name="adj" fmla="val 40000"/>
              </a:avLst>
            </a:prstGeom>
            <a:solidFill>
              <a:srgbClr val="3A9E6A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8191500" y="4914900"/>
              <a:ext cx="381000" cy="381000"/>
            </a:xfrm>
            <a:prstGeom prst="roundRect">
              <a:avLst>
                <a:gd name="adj" fmla="val 20000"/>
              </a:avLst>
            </a:prstGeom>
            <a:solidFill>
              <a:srgbClr val="3A9E6A">
                <a:alpha val="10000"/>
              </a:srgbClr>
            </a:solidFill>
            <a:ln>
              <a:noFill/>
            </a:ln>
          </p:spPr>
        </p:sp>
        <p:grpSp>
          <p:nvGrpSpPr>
            <p:cNvPr id="55" name="Group 55"/>
            <p:cNvGrpSpPr/>
            <p:nvPr/>
          </p:nvGrpSpPr>
          <p:grpSpPr>
            <a:xfrm>
              <a:off x="8275476" y="5009862"/>
              <a:ext cx="206537" cy="185521"/>
              <a:chOff x="8275476" y="5009862"/>
              <a:chExt cx="206537" cy="185521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8275476" y="5009862"/>
                <a:ext cx="68713" cy="52171"/>
              </a:xfrm>
              <a:custGeom>
                <a:avLst/>
                <a:gdLst/>
                <a:ahLst/>
                <a:cxnLst/>
                <a:rect l="l" t="t" r="r" b="b"/>
                <a:pathLst>
                  <a:path w="68713" h="52171">
                    <a:moveTo>
                      <a:pt x="64374" y="4338"/>
                    </a:moveTo>
                    <a:cubicBezTo>
                      <a:pt x="68713" y="8678"/>
                      <a:pt x="68713" y="15712"/>
                      <a:pt x="64374" y="20051"/>
                    </a:cubicBezTo>
                    <a:lnTo>
                      <a:pt x="36593" y="47832"/>
                    </a:lnTo>
                    <a:cubicBezTo>
                      <a:pt x="32254" y="52171"/>
                      <a:pt x="25220" y="52171"/>
                      <a:pt x="20880" y="47832"/>
                    </a:cubicBezTo>
                    <a:lnTo>
                      <a:pt x="4211" y="31164"/>
                    </a:lnTo>
                    <a:cubicBezTo>
                      <a:pt x="0" y="26803"/>
                      <a:pt x="60" y="19872"/>
                      <a:pt x="4347" y="15586"/>
                    </a:cubicBezTo>
                    <a:cubicBezTo>
                      <a:pt x="8633" y="11300"/>
                      <a:pt x="15564" y="11239"/>
                      <a:pt x="19924" y="15451"/>
                    </a:cubicBezTo>
                    <a:lnTo>
                      <a:pt x="28737" y="24263"/>
                    </a:lnTo>
                    <a:lnTo>
                      <a:pt x="48661" y="4338"/>
                    </a:lnTo>
                    <a:cubicBezTo>
                      <a:pt x="53001" y="0"/>
                      <a:pt x="60035" y="0"/>
                      <a:pt x="64374" y="4338"/>
                    </a:cubicBezTo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8275476" y="5076537"/>
                <a:ext cx="68713" cy="52171"/>
              </a:xfrm>
              <a:custGeom>
                <a:avLst/>
                <a:gdLst/>
                <a:ahLst/>
                <a:cxnLst/>
                <a:rect l="l" t="t" r="r" b="b"/>
                <a:pathLst>
                  <a:path w="68713" h="52171">
                    <a:moveTo>
                      <a:pt x="64374" y="4338"/>
                    </a:moveTo>
                    <a:cubicBezTo>
                      <a:pt x="68713" y="8678"/>
                      <a:pt x="68713" y="15712"/>
                      <a:pt x="64374" y="20051"/>
                    </a:cubicBezTo>
                    <a:lnTo>
                      <a:pt x="36593" y="47832"/>
                    </a:lnTo>
                    <a:cubicBezTo>
                      <a:pt x="32254" y="52171"/>
                      <a:pt x="25220" y="52171"/>
                      <a:pt x="20880" y="47832"/>
                    </a:cubicBezTo>
                    <a:lnTo>
                      <a:pt x="4211" y="31164"/>
                    </a:lnTo>
                    <a:cubicBezTo>
                      <a:pt x="0" y="26803"/>
                      <a:pt x="60" y="19872"/>
                      <a:pt x="4347" y="15586"/>
                    </a:cubicBezTo>
                    <a:cubicBezTo>
                      <a:pt x="8633" y="11300"/>
                      <a:pt x="15564" y="11239"/>
                      <a:pt x="19924" y="15451"/>
                    </a:cubicBezTo>
                    <a:lnTo>
                      <a:pt x="28737" y="24263"/>
                    </a:lnTo>
                    <a:lnTo>
                      <a:pt x="48661" y="4338"/>
                    </a:lnTo>
                    <a:cubicBezTo>
                      <a:pt x="53001" y="0"/>
                      <a:pt x="60035" y="0"/>
                      <a:pt x="64374" y="4338"/>
                    </a:cubicBezTo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8275476" y="5143212"/>
                <a:ext cx="68713" cy="52171"/>
              </a:xfrm>
              <a:custGeom>
                <a:avLst/>
                <a:gdLst/>
                <a:ahLst/>
                <a:cxnLst/>
                <a:rect l="l" t="t" r="r" b="b"/>
                <a:pathLst>
                  <a:path w="68713" h="52171">
                    <a:moveTo>
                      <a:pt x="64374" y="4338"/>
                    </a:moveTo>
                    <a:cubicBezTo>
                      <a:pt x="68713" y="8678"/>
                      <a:pt x="68713" y="15712"/>
                      <a:pt x="64374" y="20051"/>
                    </a:cubicBezTo>
                    <a:lnTo>
                      <a:pt x="36593" y="47832"/>
                    </a:lnTo>
                    <a:cubicBezTo>
                      <a:pt x="32254" y="52171"/>
                      <a:pt x="25220" y="52171"/>
                      <a:pt x="20880" y="47832"/>
                    </a:cubicBezTo>
                    <a:lnTo>
                      <a:pt x="4211" y="31164"/>
                    </a:lnTo>
                    <a:cubicBezTo>
                      <a:pt x="0" y="26803"/>
                      <a:pt x="60" y="19872"/>
                      <a:pt x="4347" y="15586"/>
                    </a:cubicBezTo>
                    <a:cubicBezTo>
                      <a:pt x="8633" y="11300"/>
                      <a:pt x="15564" y="11239"/>
                      <a:pt x="19924" y="15451"/>
                    </a:cubicBezTo>
                    <a:lnTo>
                      <a:pt x="28737" y="24263"/>
                    </a:lnTo>
                    <a:lnTo>
                      <a:pt x="48661" y="4338"/>
                    </a:lnTo>
                    <a:cubicBezTo>
                      <a:pt x="53001" y="0"/>
                      <a:pt x="60035" y="0"/>
                      <a:pt x="64374" y="4338"/>
                    </a:cubicBezTo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8359775" y="5027612"/>
                <a:ext cx="122238" cy="22225"/>
              </a:xfrm>
              <a:custGeom>
                <a:avLst/>
                <a:gdLst/>
                <a:ahLst/>
                <a:cxnLst/>
                <a:rect l="l" t="t" r="r" b="b"/>
                <a:pathLst>
                  <a:path w="122238" h="22225">
                    <a:moveTo>
                      <a:pt x="122238" y="11112"/>
                    </a:moveTo>
                    <a:cubicBezTo>
                      <a:pt x="122238" y="17250"/>
                      <a:pt x="117262" y="22225"/>
                      <a:pt x="111125" y="22225"/>
                    </a:cubicBezTo>
                    <a:lnTo>
                      <a:pt x="11113" y="22225"/>
                    </a:lnTo>
                    <a:cubicBezTo>
                      <a:pt x="4975" y="22225"/>
                      <a:pt x="0" y="17250"/>
                      <a:pt x="0" y="11112"/>
                    </a:cubicBezTo>
                    <a:cubicBezTo>
                      <a:pt x="0" y="4975"/>
                      <a:pt x="4975" y="0"/>
                      <a:pt x="11113" y="0"/>
                    </a:cubicBezTo>
                    <a:lnTo>
                      <a:pt x="111125" y="0"/>
                    </a:lnTo>
                    <a:cubicBezTo>
                      <a:pt x="117262" y="0"/>
                      <a:pt x="122238" y="4975"/>
                      <a:pt x="122238" y="11112"/>
                    </a:cubicBezTo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8359775" y="5094288"/>
                <a:ext cx="122238" cy="22225"/>
              </a:xfrm>
              <a:custGeom>
                <a:avLst/>
                <a:gdLst/>
                <a:ahLst/>
                <a:cxnLst/>
                <a:rect l="l" t="t" r="r" b="b"/>
                <a:pathLst>
                  <a:path w="122238" h="22225">
                    <a:moveTo>
                      <a:pt x="122238" y="11112"/>
                    </a:moveTo>
                    <a:cubicBezTo>
                      <a:pt x="122238" y="17250"/>
                      <a:pt x="117262" y="22225"/>
                      <a:pt x="111125" y="22225"/>
                    </a:cubicBezTo>
                    <a:lnTo>
                      <a:pt x="11113" y="22225"/>
                    </a:lnTo>
                    <a:cubicBezTo>
                      <a:pt x="4975" y="22225"/>
                      <a:pt x="0" y="17250"/>
                      <a:pt x="0" y="11112"/>
                    </a:cubicBezTo>
                    <a:cubicBezTo>
                      <a:pt x="0" y="4975"/>
                      <a:pt x="4975" y="0"/>
                      <a:pt x="11113" y="0"/>
                    </a:cubicBezTo>
                    <a:lnTo>
                      <a:pt x="111125" y="0"/>
                    </a:lnTo>
                    <a:cubicBezTo>
                      <a:pt x="117262" y="0"/>
                      <a:pt x="122238" y="4975"/>
                      <a:pt x="122238" y="11112"/>
                    </a:cubicBezTo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</p:sp>
          <p:sp>
            <p:nvSpPr>
              <p:cNvPr id="54" name="Freeform 54"/>
              <p:cNvSpPr/>
              <p:nvPr/>
            </p:nvSpPr>
            <p:spPr>
              <a:xfrm>
                <a:off x="8359775" y="5160962"/>
                <a:ext cx="122238" cy="22225"/>
              </a:xfrm>
              <a:custGeom>
                <a:avLst/>
                <a:gdLst/>
                <a:ahLst/>
                <a:cxnLst/>
                <a:rect l="l" t="t" r="r" b="b"/>
                <a:pathLst>
                  <a:path w="122238" h="22225">
                    <a:moveTo>
                      <a:pt x="122238" y="11112"/>
                    </a:moveTo>
                    <a:cubicBezTo>
                      <a:pt x="122238" y="17250"/>
                      <a:pt x="117262" y="22225"/>
                      <a:pt x="111125" y="22225"/>
                    </a:cubicBezTo>
                    <a:lnTo>
                      <a:pt x="11113" y="22225"/>
                    </a:lnTo>
                    <a:cubicBezTo>
                      <a:pt x="4975" y="22225"/>
                      <a:pt x="0" y="17250"/>
                      <a:pt x="0" y="11112"/>
                    </a:cubicBezTo>
                    <a:cubicBezTo>
                      <a:pt x="0" y="4975"/>
                      <a:pt x="4975" y="0"/>
                      <a:pt x="11113" y="0"/>
                    </a:cubicBezTo>
                    <a:lnTo>
                      <a:pt x="111125" y="0"/>
                    </a:lnTo>
                    <a:cubicBezTo>
                      <a:pt x="117262" y="0"/>
                      <a:pt x="122238" y="4975"/>
                      <a:pt x="122238" y="11112"/>
                    </a:cubicBezTo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</p:sp>
        </p:grpSp>
        <p:sp>
          <p:nvSpPr>
            <p:cNvPr id="56" name="TextBox 56"/>
            <p:cNvSpPr txBox="1"/>
            <p:nvPr/>
          </p:nvSpPr>
          <p:spPr>
            <a:xfrm>
              <a:off x="8651558" y="4967764"/>
              <a:ext cx="1010007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一致性规则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8656320" y="5179695"/>
              <a:ext cx="121243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3A9E6A"/>
                  </a:solidFill>
                  <a:latin typeface="Arial"/>
                  <a:ea typeface="Microsoft YaHei"/>
                  <a:cs typeface="Arial"/>
                </a:rPr>
                <a:t>CONSISTENCY RULES</a:t>
              </a:r>
            </a:p>
          </p:txBody>
        </p:sp>
        <p:sp>
          <p:nvSpPr>
            <p:cNvPr id="58" name="Line 58"/>
            <p:cNvSpPr/>
            <p:nvPr/>
          </p:nvSpPr>
          <p:spPr>
            <a:xfrm>
              <a:off x="8191500" y="5410200"/>
              <a:ext cx="3048000" cy="9525"/>
            </a:xfrm>
            <a:custGeom>
              <a:avLst/>
              <a:gdLst/>
              <a:ahLst/>
              <a:cxnLst/>
              <a:rect l="l" t="t" r="r" b="b"/>
              <a:pathLst>
                <a:path w="3048000" h="9525">
                  <a:moveTo>
                    <a:pt x="0" y="0"/>
                  </a:moveTo>
                  <a:lnTo>
                    <a:pt x="3048000" y="0"/>
                  </a:lnTo>
                </a:path>
              </a:pathLst>
            </a:custGeom>
            <a:noFill/>
            <a:ln w="9525">
              <a:solidFill>
                <a:srgbClr val="E8F5EE"/>
              </a:solidFill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8179118" y="5495449"/>
              <a:ext cx="217498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按钮命名 · class 约定 · 禁止事项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179118" y="5685949"/>
              <a:ext cx="173355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多页面新增时不会风格漂移</a:t>
              </a:r>
            </a:p>
          </p:txBody>
        </p:sp>
      </p:grpSp>
      <p:grpSp>
        <p:nvGrpSpPr>
          <p:cNvPr id="72" name="Group 72"/>
          <p:cNvGrpSpPr/>
          <p:nvPr/>
        </p:nvGrpSpPr>
        <p:grpSpPr>
          <a:xfrm>
            <a:off x="571500" y="4724400"/>
            <a:ext cx="4095750" cy="1866900"/>
            <a:chOff x="571500" y="4724400"/>
            <a:chExt cx="4095750" cy="1866900"/>
          </a:xfrm>
        </p:grpSpPr>
        <p:sp>
          <p:nvSpPr>
            <p:cNvPr id="62" name="Rectangle 62"/>
            <p:cNvSpPr/>
            <p:nvPr/>
          </p:nvSpPr>
          <p:spPr>
            <a:xfrm>
              <a:off x="571500" y="4724400"/>
              <a:ext cx="4095750" cy="1866900"/>
            </a:xfrm>
            <a:prstGeom prst="roundRect">
              <a:avLst>
                <a:gd name="adj" fmla="val 5102"/>
              </a:avLst>
            </a:prstGeom>
            <a:solidFill>
              <a:srgbClr val="1A1A1A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788670" y="4874895"/>
              <a:ext cx="81153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E9E9E"/>
                  </a:solidFill>
                  <a:latin typeface="Consolas"/>
                  <a:ea typeface="Microsoft YaHei"/>
                  <a:cs typeface="Consolas"/>
                </a:rPr>
                <a:t># CLAUDE.md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788670" y="5084445"/>
              <a:ext cx="732663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C96133"/>
                  </a:solidFill>
                  <a:latin typeface="Consolas"/>
                  <a:ea typeface="Microsoft YaHei"/>
                  <a:cs typeface="Consolas"/>
                </a:rPr>
                <a:t>## 设计规范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788670" y="5255895"/>
              <a:ext cx="142932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- 主色: #C96133 (暖棕)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788670" y="5427345"/>
              <a:ext cx="1521333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- 字体: Microsoft YaHei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788670" y="5598795"/>
              <a:ext cx="732663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3D7DE4"/>
                  </a:solidFill>
                  <a:latin typeface="Consolas"/>
                  <a:ea typeface="Microsoft YaHei"/>
                  <a:cs typeface="Consolas"/>
                </a:rPr>
                <a:t>## 页面结构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788670" y="5770245"/>
              <a:ext cx="131102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- Nav 固定顶部，白底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788670" y="5941695"/>
              <a:ext cx="138331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- Hero 全屏，主色背景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788670" y="6113145"/>
              <a:ext cx="469773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3A9E6A"/>
                  </a:solidFill>
                  <a:latin typeface="Consolas"/>
                  <a:ea typeface="Microsoft YaHei"/>
                  <a:cs typeface="Consolas"/>
                </a:rPr>
                <a:t>## 禁止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788670" y="6284595"/>
              <a:ext cx="127158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FFFFFF"/>
                  </a:solidFill>
                  <a:latin typeface="Consolas"/>
                  <a:ea typeface="Microsoft YaHei"/>
                  <a:cs typeface="Consolas"/>
                </a:rPr>
                <a:t>- 不使用 inline style</a:t>
              </a:r>
            </a:p>
          </p:txBody>
        </p:sp>
      </p:grpSp>
      <p:sp>
        <p:nvSpPr>
          <p:cNvPr id="73" name="TextBox 73"/>
          <p:cNvSpPr txBox="1"/>
          <p:nvPr/>
        </p:nvSpPr>
        <p:spPr>
          <a:xfrm>
            <a:off x="11131772" y="6554152"/>
            <a:ext cx="50206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10 / 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4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11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4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5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4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9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16" presetClass="entr" presetSubtype="2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3" dur="4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33" grpId="0"/>
      <p:bldP spid="45" grpId="0"/>
      <p:bldP spid="61" grpId="0"/>
      <p:bldP spid="7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762000" y="356235"/>
            <a:ext cx="10668000" cy="796290"/>
            <a:chOff x="762000" y="356235"/>
            <a:chExt cx="10668000" cy="796290"/>
          </a:xfrm>
        </p:grpSpPr>
        <p:sp>
          <p:nvSpPr>
            <p:cNvPr id="4" name="TextBox 4"/>
            <p:cNvSpPr txBox="1"/>
            <p:nvPr/>
          </p:nvSpPr>
          <p:spPr>
            <a:xfrm>
              <a:off x="4032856" y="356235"/>
              <a:ext cx="4126287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7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如何写一个好的 Brief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4008620" y="774382"/>
              <a:ext cx="417476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给 Claude Design 的四要素 — 缺一不可</a:t>
              </a:r>
            </a:p>
          </p:txBody>
        </p:sp>
        <p:sp>
          <p:nvSpPr>
            <p:cNvPr id="6" name="Line 6"/>
            <p:cNvSpPr/>
            <p:nvPr/>
          </p:nvSpPr>
          <p:spPr>
            <a:xfrm>
              <a:off x="762000" y="1143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4288">
              <a:solidFill>
                <a:srgbClr val="E0D8D0"/>
              </a:solidFill>
            </a:ln>
          </p:spPr>
        </p:sp>
      </p:grpSp>
      <p:grpSp>
        <p:nvGrpSpPr>
          <p:cNvPr id="21" name="Group 21"/>
          <p:cNvGrpSpPr/>
          <p:nvPr/>
        </p:nvGrpSpPr>
        <p:grpSpPr>
          <a:xfrm>
            <a:off x="571500" y="1352550"/>
            <a:ext cx="5295900" cy="2400300"/>
            <a:chOff x="571500" y="1352550"/>
            <a:chExt cx="5295900" cy="2400300"/>
          </a:xfrm>
        </p:grpSpPr>
        <p:sp>
          <p:nvSpPr>
            <p:cNvPr id="8" name="Rectangle 8"/>
            <p:cNvSpPr/>
            <p:nvPr/>
          </p:nvSpPr>
          <p:spPr>
            <a:xfrm>
              <a:off x="571500" y="1352550"/>
              <a:ext cx="5295900" cy="2400300"/>
            </a:xfrm>
            <a:prstGeom prst="roundRect">
              <a:avLst>
                <a:gd name="adj" fmla="val 7937"/>
              </a:avLst>
            </a:prstGeom>
            <a:solidFill>
              <a:srgbClr val="F0EDE8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1724025" y="1352550"/>
              <a:ext cx="2609850" cy="514350"/>
            </a:xfrm>
            <a:custGeom>
              <a:avLst/>
              <a:gdLst/>
              <a:ahLst/>
              <a:cxnLst/>
              <a:rect l="l" t="t" r="r" b="b"/>
              <a:pathLst>
                <a:path w="2609850" h="514350">
                  <a:moveTo>
                    <a:pt x="228600" y="0"/>
                  </a:moveTo>
                  <a:lnTo>
                    <a:pt x="2381250" y="0"/>
                  </a:lnTo>
                  <a:cubicBezTo>
                    <a:pt x="2507502" y="0"/>
                    <a:pt x="2609850" y="102348"/>
                    <a:pt x="2609850" y="228600"/>
                  </a:cubicBezTo>
                  <a:lnTo>
                    <a:pt x="2609850" y="514350"/>
                  </a:lnTo>
                  <a:lnTo>
                    <a:pt x="0" y="514350"/>
                  </a:ln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2367509" y="1448752"/>
              <a:ext cx="132288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① 受众描述 — WHO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000250"/>
              <a:ext cx="4914900" cy="1562100"/>
            </a:xfrm>
            <a:prstGeom prst="roundRect">
              <a:avLst>
                <a:gd name="adj" fmla="val 7317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952500" y="2171700"/>
              <a:ext cx="419100" cy="419100"/>
            </a:xfrm>
            <a:prstGeom prst="roundRect">
              <a:avLst>
                <a:gd name="adj" fmla="val 20455"/>
              </a:avLst>
            </a:prstGeom>
            <a:solidFill>
              <a:srgbClr val="C96133">
                <a:alpha val="10000"/>
              </a:srgbClr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1021797" y="2279650"/>
              <a:ext cx="279941" cy="203200"/>
            </a:xfrm>
            <a:custGeom>
              <a:avLst/>
              <a:gdLst/>
              <a:ahLst/>
              <a:cxnLst/>
              <a:rect l="l" t="t" r="r" b="b"/>
              <a:pathLst>
                <a:path w="279941" h="203200">
                  <a:moveTo>
                    <a:pt x="140253" y="0"/>
                  </a:moveTo>
                  <a:cubicBezTo>
                    <a:pt x="194736" y="0"/>
                    <a:pt x="240113" y="30848"/>
                    <a:pt x="275699" y="90856"/>
                  </a:cubicBezTo>
                  <a:lnTo>
                    <a:pt x="278493" y="95669"/>
                  </a:lnTo>
                  <a:lnTo>
                    <a:pt x="279064" y="96939"/>
                  </a:lnTo>
                  <a:lnTo>
                    <a:pt x="279445" y="97993"/>
                  </a:lnTo>
                  <a:lnTo>
                    <a:pt x="279623" y="98692"/>
                  </a:lnTo>
                  <a:lnTo>
                    <a:pt x="279801" y="99733"/>
                  </a:lnTo>
                  <a:lnTo>
                    <a:pt x="279941" y="101003"/>
                  </a:lnTo>
                  <a:lnTo>
                    <a:pt x="279941" y="102400"/>
                  </a:lnTo>
                  <a:lnTo>
                    <a:pt x="279763" y="103810"/>
                  </a:lnTo>
                  <a:cubicBezTo>
                    <a:pt x="279679" y="104281"/>
                    <a:pt x="279569" y="104748"/>
                    <a:pt x="279433" y="105207"/>
                  </a:cubicBezTo>
                  <a:lnTo>
                    <a:pt x="278937" y="106578"/>
                  </a:lnTo>
                  <a:lnTo>
                    <a:pt x="278480" y="107531"/>
                  </a:lnTo>
                  <a:lnTo>
                    <a:pt x="278277" y="107912"/>
                  </a:lnTo>
                  <a:cubicBezTo>
                    <a:pt x="243174" y="169329"/>
                    <a:pt x="198267" y="201638"/>
                    <a:pt x="144228" y="203149"/>
                  </a:cubicBezTo>
                  <a:lnTo>
                    <a:pt x="140253" y="203200"/>
                  </a:lnTo>
                  <a:cubicBezTo>
                    <a:pt x="84424" y="203200"/>
                    <a:pt x="38183" y="170828"/>
                    <a:pt x="2230" y="107899"/>
                  </a:cubicBezTo>
                  <a:cubicBezTo>
                    <a:pt x="0" y="103996"/>
                    <a:pt x="0" y="99204"/>
                    <a:pt x="2230" y="95301"/>
                  </a:cubicBezTo>
                  <a:cubicBezTo>
                    <a:pt x="38183" y="32372"/>
                    <a:pt x="84424" y="0"/>
                    <a:pt x="140253" y="0"/>
                  </a:cubicBezTo>
                  <a:close/>
                  <a:moveTo>
                    <a:pt x="140253" y="63500"/>
                  </a:moveTo>
                  <a:cubicBezTo>
                    <a:pt x="119211" y="63500"/>
                    <a:pt x="102153" y="80558"/>
                    <a:pt x="102153" y="101600"/>
                  </a:cubicBezTo>
                  <a:cubicBezTo>
                    <a:pt x="102153" y="122642"/>
                    <a:pt x="119211" y="139700"/>
                    <a:pt x="140253" y="139700"/>
                  </a:cubicBezTo>
                  <a:cubicBezTo>
                    <a:pt x="161295" y="139700"/>
                    <a:pt x="178353" y="122642"/>
                    <a:pt x="178353" y="101600"/>
                  </a:cubicBezTo>
                  <a:cubicBezTo>
                    <a:pt x="178353" y="80558"/>
                    <a:pt x="161295" y="63500"/>
                    <a:pt x="140253" y="63500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487805" y="2235518"/>
              <a:ext cx="148347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目标访客是谁？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491615" y="2477452"/>
              <a:ext cx="186690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越具体越好，越模糊越通用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952500" y="2762250"/>
              <a:ext cx="4533900" cy="9525"/>
            </a:xfrm>
            <a:custGeom>
              <a:avLst/>
              <a:gdLst/>
              <a:ahLst/>
              <a:cxnLst/>
              <a:rect l="l" t="t" r="r" b="b"/>
              <a:pathLst>
                <a:path w="4533900" h="9525">
                  <a:moveTo>
                    <a:pt x="0" y="0"/>
                  </a:moveTo>
                  <a:lnTo>
                    <a:pt x="4533900" y="0"/>
                  </a:lnTo>
                </a:path>
              </a:pathLst>
            </a:custGeom>
            <a:noFill/>
            <a:ln w="9525">
              <a:solidFill>
                <a:srgbClr val="F0EDE8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952500" y="2876550"/>
              <a:ext cx="4533900" cy="514350"/>
            </a:xfrm>
            <a:prstGeom prst="roundRect">
              <a:avLst>
                <a:gd name="adj" fmla="val 11111"/>
              </a:avLst>
            </a:prstGeom>
            <a:solidFill>
              <a:srgbClr val="FFF8F5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092518" y="2942749"/>
              <a:ext cx="32380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例：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397318" y="2942749"/>
              <a:ext cx="329993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"在美国工作的华人工程师，想用 AI 提升工作效率，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92518" y="3133249"/>
              <a:ext cx="238858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25-40 岁，有技术背景，重视实用性"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6324600" y="1352550"/>
            <a:ext cx="5295900" cy="2400300"/>
            <a:chOff x="6324600" y="1352550"/>
            <a:chExt cx="5295900" cy="2400300"/>
          </a:xfrm>
        </p:grpSpPr>
        <p:sp>
          <p:nvSpPr>
            <p:cNvPr id="22" name="Rectangle 22"/>
            <p:cNvSpPr/>
            <p:nvPr/>
          </p:nvSpPr>
          <p:spPr>
            <a:xfrm>
              <a:off x="6324600" y="1352550"/>
              <a:ext cx="5295900" cy="2400300"/>
            </a:xfrm>
            <a:prstGeom prst="roundRect">
              <a:avLst>
                <a:gd name="adj" fmla="val 7937"/>
              </a:avLst>
            </a:prstGeom>
            <a:solidFill>
              <a:srgbClr val="EBF0FA"/>
            </a:solidFill>
            <a:ln>
              <a:noFill/>
            </a:ln>
          </p:spPr>
        </p:sp>
        <p:sp>
          <p:nvSpPr>
            <p:cNvPr id="23" name="Freeform 23"/>
            <p:cNvSpPr/>
            <p:nvPr/>
          </p:nvSpPr>
          <p:spPr>
            <a:xfrm>
              <a:off x="7477125" y="1352550"/>
              <a:ext cx="2609850" cy="514350"/>
            </a:xfrm>
            <a:custGeom>
              <a:avLst/>
              <a:gdLst/>
              <a:ahLst/>
              <a:cxnLst/>
              <a:rect l="l" t="t" r="r" b="b"/>
              <a:pathLst>
                <a:path w="2609850" h="514350">
                  <a:moveTo>
                    <a:pt x="228600" y="0"/>
                  </a:moveTo>
                  <a:lnTo>
                    <a:pt x="2381250" y="0"/>
                  </a:lnTo>
                  <a:cubicBezTo>
                    <a:pt x="2507502" y="0"/>
                    <a:pt x="2609850" y="102348"/>
                    <a:pt x="2609850" y="228600"/>
                  </a:cubicBezTo>
                  <a:lnTo>
                    <a:pt x="2609850" y="514350"/>
                  </a:lnTo>
                  <a:lnTo>
                    <a:pt x="0" y="514350"/>
                  </a:ln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3D7DE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136711" y="1448752"/>
              <a:ext cx="129067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② 核心目标 — WHY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515100" y="2000250"/>
              <a:ext cx="4914900" cy="1562100"/>
            </a:xfrm>
            <a:prstGeom prst="roundRect">
              <a:avLst>
                <a:gd name="adj" fmla="val 7317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705600" y="2171700"/>
              <a:ext cx="419100" cy="419100"/>
            </a:xfrm>
            <a:prstGeom prst="roundRect">
              <a:avLst>
                <a:gd name="adj" fmla="val 20455"/>
              </a:avLst>
            </a:prstGeom>
            <a:solidFill>
              <a:srgbClr val="3D7DE4">
                <a:alpha val="10000"/>
              </a:srgbClr>
            </a:solidFill>
            <a:ln>
              <a:noFill/>
            </a:ln>
          </p:spPr>
        </p:sp>
        <p:grpSp>
          <p:nvGrpSpPr>
            <p:cNvPr id="34" name="Group 34"/>
            <p:cNvGrpSpPr/>
            <p:nvPr/>
          </p:nvGrpSpPr>
          <p:grpSpPr>
            <a:xfrm>
              <a:off x="6787792" y="2254250"/>
              <a:ext cx="254716" cy="254000"/>
              <a:chOff x="6787792" y="2254250"/>
              <a:chExt cx="254716" cy="254000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6787792" y="2368550"/>
                <a:ext cx="38816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38816" h="25400">
                    <a:moveTo>
                      <a:pt x="25758" y="0"/>
                    </a:moveTo>
                    <a:cubicBezTo>
                      <a:pt x="32477" y="7"/>
                      <a:pt x="38028" y="5248"/>
                      <a:pt x="38422" y="11956"/>
                    </a:cubicBezTo>
                    <a:cubicBezTo>
                      <a:pt x="38816" y="18664"/>
                      <a:pt x="33916" y="24517"/>
                      <a:pt x="27244" y="25311"/>
                    </a:cubicBezTo>
                    <a:lnTo>
                      <a:pt x="25758" y="25400"/>
                    </a:lnTo>
                    <a:lnTo>
                      <a:pt x="13058" y="25400"/>
                    </a:lnTo>
                    <a:cubicBezTo>
                      <a:pt x="6338" y="25393"/>
                      <a:pt x="788" y="20152"/>
                      <a:pt x="394" y="13444"/>
                    </a:cubicBezTo>
                    <a:cubicBezTo>
                      <a:pt x="0" y="6736"/>
                      <a:pt x="4900" y="883"/>
                      <a:pt x="11572" y="89"/>
                    </a:cubicBezTo>
                    <a:lnTo>
                      <a:pt x="13058" y="0"/>
                    </a:lnTo>
                    <a:lnTo>
                      <a:pt x="25758" y="0"/>
                    </a:lnTo>
                    <a:close/>
                  </a:path>
                </a:pathLst>
              </a:custGeom>
              <a:solidFill>
                <a:srgbClr val="3D7DE4"/>
              </a:solidFill>
              <a:ln>
                <a:noFill/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6902450" y="2254250"/>
                <a:ext cx="25400" cy="38458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38458">
                    <a:moveTo>
                      <a:pt x="12700" y="0"/>
                    </a:moveTo>
                    <a:cubicBezTo>
                      <a:pt x="19139" y="1"/>
                      <a:pt x="24558" y="4820"/>
                      <a:pt x="25311" y="11214"/>
                    </a:cubicBezTo>
                    <a:lnTo>
                      <a:pt x="25400" y="12700"/>
                    </a:lnTo>
                    <a:lnTo>
                      <a:pt x="25400" y="25400"/>
                    </a:lnTo>
                    <a:cubicBezTo>
                      <a:pt x="25393" y="32119"/>
                      <a:pt x="20152" y="37670"/>
                      <a:pt x="13444" y="38064"/>
                    </a:cubicBezTo>
                    <a:cubicBezTo>
                      <a:pt x="6736" y="38458"/>
                      <a:pt x="883" y="33558"/>
                      <a:pt x="89" y="26886"/>
                    </a:cubicBezTo>
                    <a:lnTo>
                      <a:pt x="0" y="25400"/>
                    </a:lnTo>
                    <a:lnTo>
                      <a:pt x="0" y="12700"/>
                    </a:lnTo>
                    <a:cubicBezTo>
                      <a:pt x="0" y="5686"/>
                      <a:pt x="5686" y="0"/>
                      <a:pt x="12700" y="0"/>
                    </a:cubicBezTo>
                    <a:close/>
                  </a:path>
                </a:pathLst>
              </a:custGeom>
              <a:solidFill>
                <a:srgbClr val="3D7DE4"/>
              </a:solidFill>
              <a:ln>
                <a:noFill/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7003692" y="2368550"/>
                <a:ext cx="38816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38816" h="25400">
                    <a:moveTo>
                      <a:pt x="25758" y="0"/>
                    </a:moveTo>
                    <a:cubicBezTo>
                      <a:pt x="32477" y="7"/>
                      <a:pt x="38028" y="5248"/>
                      <a:pt x="38422" y="11956"/>
                    </a:cubicBezTo>
                    <a:cubicBezTo>
                      <a:pt x="38816" y="18664"/>
                      <a:pt x="33916" y="24517"/>
                      <a:pt x="27244" y="25311"/>
                    </a:cubicBezTo>
                    <a:lnTo>
                      <a:pt x="25758" y="25400"/>
                    </a:lnTo>
                    <a:lnTo>
                      <a:pt x="13058" y="25400"/>
                    </a:lnTo>
                    <a:cubicBezTo>
                      <a:pt x="6338" y="25393"/>
                      <a:pt x="788" y="20152"/>
                      <a:pt x="394" y="13444"/>
                    </a:cubicBezTo>
                    <a:cubicBezTo>
                      <a:pt x="0" y="6736"/>
                      <a:pt x="4900" y="883"/>
                      <a:pt x="11572" y="89"/>
                    </a:cubicBezTo>
                    <a:lnTo>
                      <a:pt x="13058" y="0"/>
                    </a:lnTo>
                    <a:lnTo>
                      <a:pt x="25758" y="0"/>
                    </a:lnTo>
                    <a:close/>
                  </a:path>
                </a:pathLst>
              </a:custGeom>
              <a:solidFill>
                <a:srgbClr val="3D7DE4"/>
              </a:solidFill>
              <a:ln>
                <a:noFill/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6819933" y="2286015"/>
                <a:ext cx="36765" cy="36974"/>
              </a:xfrm>
              <a:custGeom>
                <a:avLst/>
                <a:gdLst/>
                <a:ahLst/>
                <a:cxnLst/>
                <a:rect l="l" t="t" r="r" b="b"/>
                <a:pathLst>
                  <a:path w="36765" h="36974">
                    <a:moveTo>
                      <a:pt x="4958" y="4976"/>
                    </a:moveTo>
                    <a:cubicBezTo>
                      <a:pt x="9482" y="452"/>
                      <a:pt x="16666" y="0"/>
                      <a:pt x="21722" y="3922"/>
                    </a:cubicBezTo>
                    <a:lnTo>
                      <a:pt x="22916" y="4976"/>
                    </a:lnTo>
                    <a:lnTo>
                      <a:pt x="31806" y="13866"/>
                    </a:lnTo>
                    <a:cubicBezTo>
                      <a:pt x="36533" y="18609"/>
                      <a:pt x="36765" y="26208"/>
                      <a:pt x="32336" y="31230"/>
                    </a:cubicBezTo>
                    <a:cubicBezTo>
                      <a:pt x="27907" y="36253"/>
                      <a:pt x="20339" y="36974"/>
                      <a:pt x="15042" y="32878"/>
                    </a:cubicBezTo>
                    <a:lnTo>
                      <a:pt x="13848" y="31824"/>
                    </a:lnTo>
                    <a:lnTo>
                      <a:pt x="4958" y="22934"/>
                    </a:lnTo>
                    <a:cubicBezTo>
                      <a:pt x="0" y="17974"/>
                      <a:pt x="0" y="9935"/>
                      <a:pt x="4958" y="4976"/>
                    </a:cubicBezTo>
                    <a:close/>
                  </a:path>
                </a:pathLst>
              </a:custGeom>
              <a:solidFill>
                <a:srgbClr val="3D7DE4"/>
              </a:solidFill>
              <a:ln>
                <a:noFill/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6973411" y="2286032"/>
                <a:ext cx="37148" cy="36766"/>
              </a:xfrm>
              <a:custGeom>
                <a:avLst/>
                <a:gdLst/>
                <a:ahLst/>
                <a:cxnLst/>
                <a:rect l="l" t="t" r="r" b="b"/>
                <a:pathLst>
                  <a:path w="37148" h="36766">
                    <a:moveTo>
                      <a:pt x="14040" y="4959"/>
                    </a:moveTo>
                    <a:cubicBezTo>
                      <a:pt x="18783" y="232"/>
                      <a:pt x="26382" y="0"/>
                      <a:pt x="31405" y="4429"/>
                    </a:cubicBezTo>
                    <a:cubicBezTo>
                      <a:pt x="36427" y="8858"/>
                      <a:pt x="37148" y="16426"/>
                      <a:pt x="33052" y="21723"/>
                    </a:cubicBezTo>
                    <a:lnTo>
                      <a:pt x="31998" y="22917"/>
                    </a:lnTo>
                    <a:lnTo>
                      <a:pt x="23108" y="31807"/>
                    </a:lnTo>
                    <a:cubicBezTo>
                      <a:pt x="18365" y="36534"/>
                      <a:pt x="10766" y="36766"/>
                      <a:pt x="5744" y="32337"/>
                    </a:cubicBezTo>
                    <a:cubicBezTo>
                      <a:pt x="721" y="27908"/>
                      <a:pt x="0" y="20340"/>
                      <a:pt x="4096" y="15043"/>
                    </a:cubicBezTo>
                    <a:lnTo>
                      <a:pt x="5150" y="13849"/>
                    </a:lnTo>
                    <a:lnTo>
                      <a:pt x="14040" y="4959"/>
                    </a:lnTo>
                    <a:close/>
                  </a:path>
                </a:pathLst>
              </a:custGeom>
              <a:solidFill>
                <a:srgbClr val="3D7DE4"/>
              </a:solidFill>
              <a:ln>
                <a:noFill/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6877050" y="2457450"/>
                <a:ext cx="76200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50800">
                    <a:moveTo>
                      <a:pt x="63500" y="0"/>
                    </a:moveTo>
                    <a:cubicBezTo>
                      <a:pt x="70514" y="0"/>
                      <a:pt x="76200" y="5686"/>
                      <a:pt x="76200" y="12700"/>
                    </a:cubicBezTo>
                    <a:cubicBezTo>
                      <a:pt x="76200" y="33742"/>
                      <a:pt x="59142" y="50800"/>
                      <a:pt x="38100" y="50800"/>
                    </a:cubicBezTo>
                    <a:cubicBezTo>
                      <a:pt x="17058" y="50800"/>
                      <a:pt x="0" y="33742"/>
                      <a:pt x="0" y="12700"/>
                    </a:cubicBezTo>
                    <a:cubicBezTo>
                      <a:pt x="1" y="6261"/>
                      <a:pt x="4820" y="842"/>
                      <a:pt x="11214" y="89"/>
                    </a:cubicBezTo>
                    <a:lnTo>
                      <a:pt x="12700" y="0"/>
                    </a:lnTo>
                    <a:lnTo>
                      <a:pt x="63500" y="0"/>
                    </a:lnTo>
                    <a:close/>
                  </a:path>
                </a:pathLst>
              </a:custGeom>
              <a:solidFill>
                <a:srgbClr val="3D7DE4"/>
              </a:solidFill>
              <a:ln>
                <a:noFill/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6832488" y="2305050"/>
                <a:ext cx="165323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65323" h="139700">
                    <a:moveTo>
                      <a:pt x="82662" y="0"/>
                    </a:moveTo>
                    <a:cubicBezTo>
                      <a:pt x="115460" y="0"/>
                      <a:pt x="144579" y="20988"/>
                      <a:pt x="154951" y="52103"/>
                    </a:cubicBezTo>
                    <a:cubicBezTo>
                      <a:pt x="165323" y="83219"/>
                      <a:pt x="154621" y="117481"/>
                      <a:pt x="128382" y="137160"/>
                    </a:cubicBezTo>
                    <a:cubicBezTo>
                      <a:pt x="126631" y="138475"/>
                      <a:pt x="124571" y="139315"/>
                      <a:pt x="122400" y="139598"/>
                    </a:cubicBezTo>
                    <a:lnTo>
                      <a:pt x="120762" y="139700"/>
                    </a:lnTo>
                    <a:lnTo>
                      <a:pt x="44562" y="139700"/>
                    </a:lnTo>
                    <a:cubicBezTo>
                      <a:pt x="41814" y="139700"/>
                      <a:pt x="39140" y="138809"/>
                      <a:pt x="36942" y="137160"/>
                    </a:cubicBezTo>
                    <a:cubicBezTo>
                      <a:pt x="10703" y="117481"/>
                      <a:pt x="0" y="83219"/>
                      <a:pt x="10372" y="52103"/>
                    </a:cubicBezTo>
                    <a:cubicBezTo>
                      <a:pt x="20744" y="20988"/>
                      <a:pt x="49863" y="0"/>
                      <a:pt x="82662" y="0"/>
                    </a:cubicBezTo>
                    <a:close/>
                  </a:path>
                </a:pathLst>
              </a:custGeom>
              <a:solidFill>
                <a:srgbClr val="3D7DE4"/>
              </a:solidFill>
              <a:ln>
                <a:noFill/>
              </a:ln>
            </p:spPr>
          </p:sp>
        </p:grpSp>
        <p:sp>
          <p:nvSpPr>
            <p:cNvPr id="35" name="TextBox 35"/>
            <p:cNvSpPr txBox="1"/>
            <p:nvPr/>
          </p:nvSpPr>
          <p:spPr>
            <a:xfrm>
              <a:off x="7240905" y="2235518"/>
              <a:ext cx="210454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网站要实现什么目标？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244715" y="2477452"/>
              <a:ext cx="271800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转化、品牌、展示、销售…选一个主目标</a:t>
              </a:r>
            </a:p>
          </p:txBody>
        </p:sp>
        <p:sp>
          <p:nvSpPr>
            <p:cNvPr id="37" name="Line 37"/>
            <p:cNvSpPr/>
            <p:nvPr/>
          </p:nvSpPr>
          <p:spPr>
            <a:xfrm>
              <a:off x="6705600" y="2762250"/>
              <a:ext cx="4533900" cy="9525"/>
            </a:xfrm>
            <a:custGeom>
              <a:avLst/>
              <a:gdLst/>
              <a:ahLst/>
              <a:cxnLst/>
              <a:rect l="l" t="t" r="r" b="b"/>
              <a:pathLst>
                <a:path w="4533900" h="9525">
                  <a:moveTo>
                    <a:pt x="0" y="0"/>
                  </a:moveTo>
                  <a:lnTo>
                    <a:pt x="4533900" y="0"/>
                  </a:lnTo>
                </a:path>
              </a:pathLst>
            </a:custGeom>
            <a:noFill/>
            <a:ln w="9525">
              <a:solidFill>
                <a:srgbClr val="EBF0FA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6705600" y="2876550"/>
              <a:ext cx="4533900" cy="514350"/>
            </a:xfrm>
            <a:prstGeom prst="roundRect">
              <a:avLst>
                <a:gd name="adj" fmla="val 11111"/>
              </a:avLst>
            </a:prstGeom>
            <a:solidFill>
              <a:srgbClr val="F0F4FF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845618" y="2942749"/>
              <a:ext cx="32380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3D7DE4"/>
                  </a:solidFill>
                  <a:latin typeface="Arial"/>
                  <a:ea typeface="Microsoft YaHei"/>
                  <a:cs typeface="Arial"/>
                </a:rPr>
                <a:t>例：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150418" y="2942749"/>
              <a:ext cx="280866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"让访客了解课程并点击报名按钮，主目标是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845618" y="3133249"/>
              <a:ext cx="223906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转化，次目标是建立讲师个人品牌"</a:t>
              </a:r>
            </a:p>
          </p:txBody>
        </p:sp>
      </p:grpSp>
      <p:grpSp>
        <p:nvGrpSpPr>
          <p:cNvPr id="65" name="Group 65"/>
          <p:cNvGrpSpPr/>
          <p:nvPr/>
        </p:nvGrpSpPr>
        <p:grpSpPr>
          <a:xfrm>
            <a:off x="571500" y="3962400"/>
            <a:ext cx="5295900" cy="2400300"/>
            <a:chOff x="571500" y="3962400"/>
            <a:chExt cx="5295900" cy="2400300"/>
          </a:xfrm>
        </p:grpSpPr>
        <p:sp>
          <p:nvSpPr>
            <p:cNvPr id="43" name="Rectangle 43"/>
            <p:cNvSpPr/>
            <p:nvPr/>
          </p:nvSpPr>
          <p:spPr>
            <a:xfrm>
              <a:off x="571500" y="3962400"/>
              <a:ext cx="5295900" cy="2400300"/>
            </a:xfrm>
            <a:prstGeom prst="roundRect">
              <a:avLst>
                <a:gd name="adj" fmla="val 7937"/>
              </a:avLst>
            </a:prstGeom>
            <a:solidFill>
              <a:srgbClr val="F0EDE8"/>
            </a:solidFill>
            <a:ln>
              <a:noFill/>
            </a:ln>
          </p:spPr>
        </p:sp>
        <p:sp>
          <p:nvSpPr>
            <p:cNvPr id="44" name="Freeform 44"/>
            <p:cNvSpPr/>
            <p:nvPr/>
          </p:nvSpPr>
          <p:spPr>
            <a:xfrm>
              <a:off x="1724025" y="3962400"/>
              <a:ext cx="2609850" cy="514350"/>
            </a:xfrm>
            <a:custGeom>
              <a:avLst/>
              <a:gdLst/>
              <a:ahLst/>
              <a:cxnLst/>
              <a:rect l="l" t="t" r="r" b="b"/>
              <a:pathLst>
                <a:path w="2609850" h="514350">
                  <a:moveTo>
                    <a:pt x="228600" y="0"/>
                  </a:moveTo>
                  <a:lnTo>
                    <a:pt x="2381250" y="0"/>
                  </a:lnTo>
                  <a:cubicBezTo>
                    <a:pt x="2507502" y="0"/>
                    <a:pt x="2609850" y="102348"/>
                    <a:pt x="2609850" y="228600"/>
                  </a:cubicBezTo>
                  <a:lnTo>
                    <a:pt x="2609850" y="514350"/>
                  </a:lnTo>
                  <a:lnTo>
                    <a:pt x="0" y="514350"/>
                  </a:ln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2311152" y="4058602"/>
              <a:ext cx="143559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③ 风格偏好 — STYLE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762000" y="4610100"/>
              <a:ext cx="4914900" cy="1562100"/>
            </a:xfrm>
            <a:prstGeom prst="roundRect">
              <a:avLst>
                <a:gd name="adj" fmla="val 7317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952500" y="4781550"/>
              <a:ext cx="419100" cy="419100"/>
            </a:xfrm>
            <a:prstGeom prst="roundRect">
              <a:avLst>
                <a:gd name="adj" fmla="val 20455"/>
              </a:avLst>
            </a:prstGeom>
            <a:solidFill>
              <a:srgbClr val="C96133">
                <a:alpha val="10000"/>
              </a:srgbClr>
            </a:solidFill>
            <a:ln>
              <a:noFill/>
            </a:ln>
          </p:spPr>
        </p:sp>
        <p:grpSp>
          <p:nvGrpSpPr>
            <p:cNvPr id="57" name="Group 57"/>
            <p:cNvGrpSpPr/>
            <p:nvPr/>
          </p:nvGrpSpPr>
          <p:grpSpPr>
            <a:xfrm>
              <a:off x="1034692" y="4864100"/>
              <a:ext cx="254716" cy="254358"/>
              <a:chOff x="1034692" y="4864100"/>
              <a:chExt cx="254716" cy="254358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1098550" y="4927600"/>
                <a:ext cx="127000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127000">
                    <a:moveTo>
                      <a:pt x="101600" y="0"/>
                    </a:moveTo>
                    <a:lnTo>
                      <a:pt x="25400" y="0"/>
                    </a:lnTo>
                    <a:cubicBezTo>
                      <a:pt x="11372" y="0"/>
                      <a:pt x="0" y="11372"/>
                      <a:pt x="0" y="25400"/>
                    </a:cubicBezTo>
                    <a:lnTo>
                      <a:pt x="0" y="101600"/>
                    </a:lnTo>
                    <a:cubicBezTo>
                      <a:pt x="0" y="115628"/>
                      <a:pt x="11372" y="127000"/>
                      <a:pt x="25400" y="127000"/>
                    </a:cubicBezTo>
                    <a:lnTo>
                      <a:pt x="101600" y="127000"/>
                    </a:lnTo>
                    <a:cubicBezTo>
                      <a:pt x="115628" y="127000"/>
                      <a:pt x="127000" y="115628"/>
                      <a:pt x="127000" y="101600"/>
                    </a:cubicBezTo>
                    <a:lnTo>
                      <a:pt x="127000" y="25400"/>
                    </a:lnTo>
                    <a:cubicBezTo>
                      <a:pt x="127000" y="11372"/>
                      <a:pt x="115628" y="0"/>
                      <a:pt x="101600" y="0"/>
                    </a:cubicBez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1034692" y="4927600"/>
                <a:ext cx="38816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38816" h="25400">
                    <a:moveTo>
                      <a:pt x="25758" y="0"/>
                    </a:moveTo>
                    <a:cubicBezTo>
                      <a:pt x="32477" y="7"/>
                      <a:pt x="38028" y="5248"/>
                      <a:pt x="38422" y="11956"/>
                    </a:cubicBezTo>
                    <a:cubicBezTo>
                      <a:pt x="38816" y="18664"/>
                      <a:pt x="33916" y="24517"/>
                      <a:pt x="27244" y="25311"/>
                    </a:cubicBezTo>
                    <a:lnTo>
                      <a:pt x="25758" y="25400"/>
                    </a:lnTo>
                    <a:lnTo>
                      <a:pt x="13058" y="25400"/>
                    </a:lnTo>
                    <a:cubicBezTo>
                      <a:pt x="6338" y="25393"/>
                      <a:pt x="788" y="20152"/>
                      <a:pt x="394" y="13444"/>
                    </a:cubicBezTo>
                    <a:cubicBezTo>
                      <a:pt x="0" y="6736"/>
                      <a:pt x="4900" y="883"/>
                      <a:pt x="11572" y="89"/>
                    </a:cubicBezTo>
                    <a:lnTo>
                      <a:pt x="13058" y="0"/>
                    </a:lnTo>
                    <a:lnTo>
                      <a:pt x="25758" y="0"/>
                    </a:ln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1034692" y="5029200"/>
                <a:ext cx="38816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38816" h="25400">
                    <a:moveTo>
                      <a:pt x="25758" y="0"/>
                    </a:moveTo>
                    <a:cubicBezTo>
                      <a:pt x="32477" y="7"/>
                      <a:pt x="38028" y="5248"/>
                      <a:pt x="38422" y="11956"/>
                    </a:cubicBezTo>
                    <a:cubicBezTo>
                      <a:pt x="38816" y="18664"/>
                      <a:pt x="33916" y="24517"/>
                      <a:pt x="27244" y="25311"/>
                    </a:cubicBezTo>
                    <a:lnTo>
                      <a:pt x="25758" y="25400"/>
                    </a:lnTo>
                    <a:lnTo>
                      <a:pt x="13058" y="25400"/>
                    </a:lnTo>
                    <a:cubicBezTo>
                      <a:pt x="6338" y="25393"/>
                      <a:pt x="788" y="20152"/>
                      <a:pt x="394" y="13444"/>
                    </a:cubicBezTo>
                    <a:cubicBezTo>
                      <a:pt x="0" y="6736"/>
                      <a:pt x="4900" y="883"/>
                      <a:pt x="11572" y="89"/>
                    </a:cubicBezTo>
                    <a:lnTo>
                      <a:pt x="13058" y="0"/>
                    </a:lnTo>
                    <a:lnTo>
                      <a:pt x="25758" y="0"/>
                    </a:ln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1098550" y="4864100"/>
                <a:ext cx="25400" cy="38458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38458">
                    <a:moveTo>
                      <a:pt x="12700" y="0"/>
                    </a:moveTo>
                    <a:cubicBezTo>
                      <a:pt x="19139" y="1"/>
                      <a:pt x="24558" y="4820"/>
                      <a:pt x="25311" y="11214"/>
                    </a:cubicBezTo>
                    <a:lnTo>
                      <a:pt x="25400" y="12700"/>
                    </a:lnTo>
                    <a:lnTo>
                      <a:pt x="25400" y="25400"/>
                    </a:lnTo>
                    <a:cubicBezTo>
                      <a:pt x="25393" y="32119"/>
                      <a:pt x="20152" y="37670"/>
                      <a:pt x="13444" y="38064"/>
                    </a:cubicBezTo>
                    <a:cubicBezTo>
                      <a:pt x="6736" y="38458"/>
                      <a:pt x="883" y="33558"/>
                      <a:pt x="89" y="26886"/>
                    </a:cubicBezTo>
                    <a:lnTo>
                      <a:pt x="0" y="25400"/>
                    </a:lnTo>
                    <a:lnTo>
                      <a:pt x="0" y="12700"/>
                    </a:lnTo>
                    <a:cubicBezTo>
                      <a:pt x="0" y="5686"/>
                      <a:pt x="5686" y="0"/>
                      <a:pt x="12700" y="0"/>
                    </a:cubicBez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1200150" y="4864100"/>
                <a:ext cx="25400" cy="38458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38458">
                    <a:moveTo>
                      <a:pt x="12700" y="0"/>
                    </a:moveTo>
                    <a:cubicBezTo>
                      <a:pt x="19139" y="1"/>
                      <a:pt x="24558" y="4820"/>
                      <a:pt x="25311" y="11214"/>
                    </a:cubicBezTo>
                    <a:lnTo>
                      <a:pt x="25400" y="12700"/>
                    </a:lnTo>
                    <a:lnTo>
                      <a:pt x="25400" y="25400"/>
                    </a:lnTo>
                    <a:cubicBezTo>
                      <a:pt x="25393" y="32119"/>
                      <a:pt x="20152" y="37670"/>
                      <a:pt x="13444" y="38064"/>
                    </a:cubicBezTo>
                    <a:cubicBezTo>
                      <a:pt x="6736" y="38458"/>
                      <a:pt x="883" y="33558"/>
                      <a:pt x="89" y="26886"/>
                    </a:cubicBezTo>
                    <a:lnTo>
                      <a:pt x="0" y="25400"/>
                    </a:lnTo>
                    <a:lnTo>
                      <a:pt x="0" y="12700"/>
                    </a:lnTo>
                    <a:cubicBezTo>
                      <a:pt x="0" y="5686"/>
                      <a:pt x="5686" y="0"/>
                      <a:pt x="12700" y="0"/>
                    </a:cubicBez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1250592" y="4927600"/>
                <a:ext cx="38816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38816" h="25400">
                    <a:moveTo>
                      <a:pt x="25758" y="0"/>
                    </a:moveTo>
                    <a:cubicBezTo>
                      <a:pt x="32477" y="7"/>
                      <a:pt x="38028" y="5248"/>
                      <a:pt x="38422" y="11956"/>
                    </a:cubicBezTo>
                    <a:cubicBezTo>
                      <a:pt x="38816" y="18664"/>
                      <a:pt x="33916" y="24517"/>
                      <a:pt x="27244" y="25311"/>
                    </a:cubicBezTo>
                    <a:lnTo>
                      <a:pt x="25758" y="25400"/>
                    </a:lnTo>
                    <a:lnTo>
                      <a:pt x="13058" y="25400"/>
                    </a:lnTo>
                    <a:cubicBezTo>
                      <a:pt x="6338" y="25393"/>
                      <a:pt x="788" y="20152"/>
                      <a:pt x="394" y="13444"/>
                    </a:cubicBezTo>
                    <a:cubicBezTo>
                      <a:pt x="0" y="6736"/>
                      <a:pt x="4900" y="883"/>
                      <a:pt x="11572" y="89"/>
                    </a:cubicBezTo>
                    <a:lnTo>
                      <a:pt x="13058" y="0"/>
                    </a:lnTo>
                    <a:lnTo>
                      <a:pt x="25758" y="0"/>
                    </a:ln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54" name="Freeform 54"/>
              <p:cNvSpPr/>
              <p:nvPr/>
            </p:nvSpPr>
            <p:spPr>
              <a:xfrm>
                <a:off x="1250592" y="5029200"/>
                <a:ext cx="38816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38816" h="25400">
                    <a:moveTo>
                      <a:pt x="25758" y="0"/>
                    </a:moveTo>
                    <a:cubicBezTo>
                      <a:pt x="32477" y="7"/>
                      <a:pt x="38028" y="5248"/>
                      <a:pt x="38422" y="11956"/>
                    </a:cubicBezTo>
                    <a:cubicBezTo>
                      <a:pt x="38816" y="18664"/>
                      <a:pt x="33916" y="24517"/>
                      <a:pt x="27244" y="25311"/>
                    </a:cubicBezTo>
                    <a:lnTo>
                      <a:pt x="25758" y="25400"/>
                    </a:lnTo>
                    <a:lnTo>
                      <a:pt x="13058" y="25400"/>
                    </a:lnTo>
                    <a:cubicBezTo>
                      <a:pt x="6338" y="25393"/>
                      <a:pt x="788" y="20152"/>
                      <a:pt x="394" y="13444"/>
                    </a:cubicBezTo>
                    <a:cubicBezTo>
                      <a:pt x="0" y="6736"/>
                      <a:pt x="4900" y="883"/>
                      <a:pt x="11572" y="89"/>
                    </a:cubicBezTo>
                    <a:lnTo>
                      <a:pt x="13058" y="0"/>
                    </a:lnTo>
                    <a:lnTo>
                      <a:pt x="25758" y="0"/>
                    </a:ln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1098550" y="5080000"/>
                <a:ext cx="25400" cy="38458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38458">
                    <a:moveTo>
                      <a:pt x="12700" y="0"/>
                    </a:moveTo>
                    <a:cubicBezTo>
                      <a:pt x="19139" y="1"/>
                      <a:pt x="24558" y="4820"/>
                      <a:pt x="25311" y="11214"/>
                    </a:cubicBezTo>
                    <a:lnTo>
                      <a:pt x="25400" y="12700"/>
                    </a:lnTo>
                    <a:lnTo>
                      <a:pt x="25400" y="25400"/>
                    </a:lnTo>
                    <a:cubicBezTo>
                      <a:pt x="25393" y="32119"/>
                      <a:pt x="20152" y="37670"/>
                      <a:pt x="13444" y="38064"/>
                    </a:cubicBezTo>
                    <a:cubicBezTo>
                      <a:pt x="6736" y="38458"/>
                      <a:pt x="883" y="33558"/>
                      <a:pt x="89" y="26886"/>
                    </a:cubicBezTo>
                    <a:lnTo>
                      <a:pt x="0" y="25400"/>
                    </a:lnTo>
                    <a:lnTo>
                      <a:pt x="0" y="12700"/>
                    </a:lnTo>
                    <a:cubicBezTo>
                      <a:pt x="0" y="5686"/>
                      <a:pt x="5686" y="0"/>
                      <a:pt x="12700" y="0"/>
                    </a:cubicBez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1200150" y="5080000"/>
                <a:ext cx="25400" cy="38458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38458">
                    <a:moveTo>
                      <a:pt x="12700" y="0"/>
                    </a:moveTo>
                    <a:cubicBezTo>
                      <a:pt x="19139" y="1"/>
                      <a:pt x="24558" y="4820"/>
                      <a:pt x="25311" y="11214"/>
                    </a:cubicBezTo>
                    <a:lnTo>
                      <a:pt x="25400" y="12700"/>
                    </a:lnTo>
                    <a:lnTo>
                      <a:pt x="25400" y="25400"/>
                    </a:lnTo>
                    <a:cubicBezTo>
                      <a:pt x="25393" y="32119"/>
                      <a:pt x="20152" y="37670"/>
                      <a:pt x="13444" y="38064"/>
                    </a:cubicBezTo>
                    <a:cubicBezTo>
                      <a:pt x="6736" y="38458"/>
                      <a:pt x="883" y="33558"/>
                      <a:pt x="89" y="26886"/>
                    </a:cubicBezTo>
                    <a:lnTo>
                      <a:pt x="0" y="25400"/>
                    </a:lnTo>
                    <a:lnTo>
                      <a:pt x="0" y="12700"/>
                    </a:lnTo>
                    <a:cubicBezTo>
                      <a:pt x="0" y="5686"/>
                      <a:pt x="5686" y="0"/>
                      <a:pt x="12700" y="0"/>
                    </a:cubicBez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</p:grpSp>
        <p:sp>
          <p:nvSpPr>
            <p:cNvPr id="58" name="TextBox 58"/>
            <p:cNvSpPr txBox="1"/>
            <p:nvPr/>
          </p:nvSpPr>
          <p:spPr>
            <a:xfrm>
              <a:off x="1487805" y="4845368"/>
              <a:ext cx="210454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视觉风格是什么感觉？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491615" y="5087302"/>
              <a:ext cx="175955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色调 · 风格词 · 参考网站</a:t>
              </a:r>
            </a:p>
          </p:txBody>
        </p:sp>
        <p:sp>
          <p:nvSpPr>
            <p:cNvPr id="60" name="Line 60"/>
            <p:cNvSpPr/>
            <p:nvPr/>
          </p:nvSpPr>
          <p:spPr>
            <a:xfrm>
              <a:off x="952500" y="5372100"/>
              <a:ext cx="4533900" cy="9525"/>
            </a:xfrm>
            <a:custGeom>
              <a:avLst/>
              <a:gdLst/>
              <a:ahLst/>
              <a:cxnLst/>
              <a:rect l="l" t="t" r="r" b="b"/>
              <a:pathLst>
                <a:path w="4533900" h="9525">
                  <a:moveTo>
                    <a:pt x="0" y="0"/>
                  </a:moveTo>
                  <a:lnTo>
                    <a:pt x="4533900" y="0"/>
                  </a:lnTo>
                </a:path>
              </a:pathLst>
            </a:custGeom>
            <a:noFill/>
            <a:ln w="9525">
              <a:solidFill>
                <a:srgbClr val="F0EDE8"/>
              </a:solidFill>
            </a:ln>
          </p:spPr>
        </p:sp>
        <p:sp>
          <p:nvSpPr>
            <p:cNvPr id="61" name="Rectangle 61"/>
            <p:cNvSpPr/>
            <p:nvPr/>
          </p:nvSpPr>
          <p:spPr>
            <a:xfrm>
              <a:off x="952500" y="5486400"/>
              <a:ext cx="4533900" cy="514350"/>
            </a:xfrm>
            <a:prstGeom prst="roundRect">
              <a:avLst>
                <a:gd name="adj" fmla="val 11111"/>
              </a:avLst>
            </a:prstGeom>
            <a:solidFill>
              <a:srgbClr val="FFF8F5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1092518" y="5552599"/>
              <a:ext cx="32380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例：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397318" y="5552599"/>
              <a:ext cx="266626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"专业但不失温度，暖棕色系，大量留白，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092518" y="5743099"/>
              <a:ext cx="181898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参考 stripe.com 的简洁感"</a:t>
              </a:r>
            </a:p>
          </p:txBody>
        </p:sp>
      </p:grpSp>
      <p:grpSp>
        <p:nvGrpSpPr>
          <p:cNvPr id="85" name="Group 85"/>
          <p:cNvGrpSpPr/>
          <p:nvPr/>
        </p:nvGrpSpPr>
        <p:grpSpPr>
          <a:xfrm>
            <a:off x="6324600" y="3962400"/>
            <a:ext cx="5295900" cy="2400300"/>
            <a:chOff x="6324600" y="3962400"/>
            <a:chExt cx="5295900" cy="2400300"/>
          </a:xfrm>
        </p:grpSpPr>
        <p:sp>
          <p:nvSpPr>
            <p:cNvPr id="66" name="Rectangle 66"/>
            <p:cNvSpPr/>
            <p:nvPr/>
          </p:nvSpPr>
          <p:spPr>
            <a:xfrm>
              <a:off x="6324600" y="3962400"/>
              <a:ext cx="5295900" cy="2400300"/>
            </a:xfrm>
            <a:prstGeom prst="roundRect">
              <a:avLst>
                <a:gd name="adj" fmla="val 7937"/>
              </a:avLst>
            </a:prstGeom>
            <a:solidFill>
              <a:srgbClr val="EDF6F1"/>
            </a:solidFill>
            <a:ln>
              <a:noFill/>
            </a:ln>
          </p:spPr>
        </p:sp>
        <p:sp>
          <p:nvSpPr>
            <p:cNvPr id="67" name="Freeform 67"/>
            <p:cNvSpPr/>
            <p:nvPr/>
          </p:nvSpPr>
          <p:spPr>
            <a:xfrm>
              <a:off x="7477125" y="3962400"/>
              <a:ext cx="2609850" cy="514350"/>
            </a:xfrm>
            <a:custGeom>
              <a:avLst/>
              <a:gdLst/>
              <a:ahLst/>
              <a:cxnLst/>
              <a:rect l="l" t="t" r="r" b="b"/>
              <a:pathLst>
                <a:path w="2609850" h="514350">
                  <a:moveTo>
                    <a:pt x="228600" y="0"/>
                  </a:moveTo>
                  <a:lnTo>
                    <a:pt x="2381250" y="0"/>
                  </a:lnTo>
                  <a:cubicBezTo>
                    <a:pt x="2507502" y="0"/>
                    <a:pt x="2609850" y="102348"/>
                    <a:pt x="2609850" y="228600"/>
                  </a:cubicBezTo>
                  <a:lnTo>
                    <a:pt x="2609850" y="514350"/>
                  </a:lnTo>
                  <a:lnTo>
                    <a:pt x="0" y="514350"/>
                  </a:ln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3A9E6A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8092430" y="4058602"/>
              <a:ext cx="1379239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④ 功能需求 — WHAT</a:t>
              </a:r>
            </a:p>
          </p:txBody>
        </p:sp>
        <p:sp>
          <p:nvSpPr>
            <p:cNvPr id="69" name="Rectangle 69"/>
            <p:cNvSpPr/>
            <p:nvPr/>
          </p:nvSpPr>
          <p:spPr>
            <a:xfrm>
              <a:off x="6515100" y="4610100"/>
              <a:ext cx="4914900" cy="1562100"/>
            </a:xfrm>
            <a:prstGeom prst="roundRect">
              <a:avLst>
                <a:gd name="adj" fmla="val 7317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0" name="Rectangle 70"/>
            <p:cNvSpPr/>
            <p:nvPr/>
          </p:nvSpPr>
          <p:spPr>
            <a:xfrm>
              <a:off x="6705600" y="4781550"/>
              <a:ext cx="419100" cy="419100"/>
            </a:xfrm>
            <a:prstGeom prst="roundRect">
              <a:avLst>
                <a:gd name="adj" fmla="val 20455"/>
              </a:avLst>
            </a:prstGeom>
            <a:solidFill>
              <a:srgbClr val="3A9E6A">
                <a:alpha val="10000"/>
              </a:srgbClr>
            </a:solidFill>
            <a:ln>
              <a:noFill/>
            </a:ln>
          </p:spPr>
        </p:sp>
        <p:grpSp>
          <p:nvGrpSpPr>
            <p:cNvPr id="77" name="Group 77"/>
            <p:cNvGrpSpPr/>
            <p:nvPr/>
          </p:nvGrpSpPr>
          <p:grpSpPr>
            <a:xfrm>
              <a:off x="6793408" y="4881913"/>
              <a:ext cx="236042" cy="212024"/>
              <a:chOff x="6793408" y="4881913"/>
              <a:chExt cx="236042" cy="212024"/>
            </a:xfrm>
          </p:grpSpPr>
          <p:sp>
            <p:nvSpPr>
              <p:cNvPr id="71" name="Freeform 71"/>
              <p:cNvSpPr/>
              <p:nvPr/>
            </p:nvSpPr>
            <p:spPr>
              <a:xfrm>
                <a:off x="6793408" y="4881913"/>
                <a:ext cx="78529" cy="59624"/>
              </a:xfrm>
              <a:custGeom>
                <a:avLst/>
                <a:gdLst/>
                <a:ahLst/>
                <a:cxnLst/>
                <a:rect l="l" t="t" r="r" b="b"/>
                <a:pathLst>
                  <a:path w="78529" h="59624">
                    <a:moveTo>
                      <a:pt x="73571" y="4958"/>
                    </a:moveTo>
                    <a:cubicBezTo>
                      <a:pt x="78529" y="9917"/>
                      <a:pt x="78529" y="17956"/>
                      <a:pt x="73571" y="22916"/>
                    </a:cubicBezTo>
                    <a:lnTo>
                      <a:pt x="41821" y="54666"/>
                    </a:lnTo>
                    <a:cubicBezTo>
                      <a:pt x="36861" y="59624"/>
                      <a:pt x="28822" y="59624"/>
                      <a:pt x="23863" y="54666"/>
                    </a:cubicBezTo>
                    <a:lnTo>
                      <a:pt x="4813" y="35616"/>
                    </a:lnTo>
                    <a:cubicBezTo>
                      <a:pt x="0" y="30632"/>
                      <a:pt x="69" y="22711"/>
                      <a:pt x="4968" y="17813"/>
                    </a:cubicBezTo>
                    <a:cubicBezTo>
                      <a:pt x="9866" y="12914"/>
                      <a:pt x="17788" y="12845"/>
                      <a:pt x="22771" y="17658"/>
                    </a:cubicBezTo>
                    <a:lnTo>
                      <a:pt x="32842" y="27729"/>
                    </a:lnTo>
                    <a:lnTo>
                      <a:pt x="55613" y="4958"/>
                    </a:lnTo>
                    <a:cubicBezTo>
                      <a:pt x="60572" y="0"/>
                      <a:pt x="68611" y="0"/>
                      <a:pt x="73571" y="4958"/>
                    </a:cubicBezTo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</p:sp>
          <p:sp>
            <p:nvSpPr>
              <p:cNvPr id="72" name="Freeform 72"/>
              <p:cNvSpPr/>
              <p:nvPr/>
            </p:nvSpPr>
            <p:spPr>
              <a:xfrm>
                <a:off x="6793408" y="4958113"/>
                <a:ext cx="78529" cy="59624"/>
              </a:xfrm>
              <a:custGeom>
                <a:avLst/>
                <a:gdLst/>
                <a:ahLst/>
                <a:cxnLst/>
                <a:rect l="l" t="t" r="r" b="b"/>
                <a:pathLst>
                  <a:path w="78529" h="59624">
                    <a:moveTo>
                      <a:pt x="73571" y="4958"/>
                    </a:moveTo>
                    <a:cubicBezTo>
                      <a:pt x="78529" y="9917"/>
                      <a:pt x="78529" y="17956"/>
                      <a:pt x="73571" y="22916"/>
                    </a:cubicBezTo>
                    <a:lnTo>
                      <a:pt x="41821" y="54666"/>
                    </a:lnTo>
                    <a:cubicBezTo>
                      <a:pt x="36861" y="59624"/>
                      <a:pt x="28822" y="59624"/>
                      <a:pt x="23863" y="54666"/>
                    </a:cubicBezTo>
                    <a:lnTo>
                      <a:pt x="4813" y="35616"/>
                    </a:lnTo>
                    <a:cubicBezTo>
                      <a:pt x="0" y="30632"/>
                      <a:pt x="69" y="22711"/>
                      <a:pt x="4968" y="17813"/>
                    </a:cubicBezTo>
                    <a:cubicBezTo>
                      <a:pt x="9866" y="12914"/>
                      <a:pt x="17788" y="12845"/>
                      <a:pt x="22771" y="17658"/>
                    </a:cubicBezTo>
                    <a:lnTo>
                      <a:pt x="32842" y="27729"/>
                    </a:lnTo>
                    <a:lnTo>
                      <a:pt x="55613" y="4958"/>
                    </a:lnTo>
                    <a:cubicBezTo>
                      <a:pt x="60572" y="0"/>
                      <a:pt x="68611" y="0"/>
                      <a:pt x="73571" y="4958"/>
                    </a:cubicBezTo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</p:sp>
          <p:sp>
            <p:nvSpPr>
              <p:cNvPr id="73" name="Freeform 73"/>
              <p:cNvSpPr/>
              <p:nvPr/>
            </p:nvSpPr>
            <p:spPr>
              <a:xfrm>
                <a:off x="6793408" y="5034313"/>
                <a:ext cx="78529" cy="59624"/>
              </a:xfrm>
              <a:custGeom>
                <a:avLst/>
                <a:gdLst/>
                <a:ahLst/>
                <a:cxnLst/>
                <a:rect l="l" t="t" r="r" b="b"/>
                <a:pathLst>
                  <a:path w="78529" h="59624">
                    <a:moveTo>
                      <a:pt x="73571" y="4958"/>
                    </a:moveTo>
                    <a:cubicBezTo>
                      <a:pt x="78529" y="9917"/>
                      <a:pt x="78529" y="17956"/>
                      <a:pt x="73571" y="22916"/>
                    </a:cubicBezTo>
                    <a:lnTo>
                      <a:pt x="41821" y="54666"/>
                    </a:lnTo>
                    <a:cubicBezTo>
                      <a:pt x="36861" y="59624"/>
                      <a:pt x="28822" y="59624"/>
                      <a:pt x="23863" y="54666"/>
                    </a:cubicBezTo>
                    <a:lnTo>
                      <a:pt x="4813" y="35616"/>
                    </a:lnTo>
                    <a:cubicBezTo>
                      <a:pt x="0" y="30632"/>
                      <a:pt x="69" y="22711"/>
                      <a:pt x="4968" y="17813"/>
                    </a:cubicBezTo>
                    <a:cubicBezTo>
                      <a:pt x="9866" y="12914"/>
                      <a:pt x="17788" y="12845"/>
                      <a:pt x="22771" y="17658"/>
                    </a:cubicBezTo>
                    <a:lnTo>
                      <a:pt x="32842" y="27729"/>
                    </a:lnTo>
                    <a:lnTo>
                      <a:pt x="55613" y="4958"/>
                    </a:lnTo>
                    <a:cubicBezTo>
                      <a:pt x="60572" y="0"/>
                      <a:pt x="68611" y="0"/>
                      <a:pt x="73571" y="4958"/>
                    </a:cubicBezTo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</p:sp>
          <p:sp>
            <p:nvSpPr>
              <p:cNvPr id="74" name="Freeform 74"/>
              <p:cNvSpPr/>
              <p:nvPr/>
            </p:nvSpPr>
            <p:spPr>
              <a:xfrm>
                <a:off x="6889750" y="4902200"/>
                <a:ext cx="13970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139700" h="25400">
                    <a:moveTo>
                      <a:pt x="139700" y="12700"/>
                    </a:moveTo>
                    <a:cubicBezTo>
                      <a:pt x="139700" y="19714"/>
                      <a:pt x="134014" y="25400"/>
                      <a:pt x="127000" y="25400"/>
                    </a:cubicBezTo>
                    <a:lnTo>
                      <a:pt x="12700" y="25400"/>
                    </a:lnTo>
                    <a:cubicBezTo>
                      <a:pt x="5686" y="25400"/>
                      <a:pt x="0" y="19714"/>
                      <a:pt x="0" y="12700"/>
                    </a:cubicBezTo>
                    <a:cubicBezTo>
                      <a:pt x="0" y="5686"/>
                      <a:pt x="5686" y="0"/>
                      <a:pt x="12700" y="0"/>
                    </a:cubicBezTo>
                    <a:lnTo>
                      <a:pt x="127000" y="0"/>
                    </a:lnTo>
                    <a:cubicBezTo>
                      <a:pt x="134014" y="0"/>
                      <a:pt x="139700" y="5686"/>
                      <a:pt x="139700" y="12700"/>
                    </a:cubicBezTo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</p:sp>
          <p:sp>
            <p:nvSpPr>
              <p:cNvPr id="75" name="Freeform 75"/>
              <p:cNvSpPr/>
              <p:nvPr/>
            </p:nvSpPr>
            <p:spPr>
              <a:xfrm>
                <a:off x="6889750" y="4978400"/>
                <a:ext cx="13970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139700" h="25400">
                    <a:moveTo>
                      <a:pt x="139700" y="12700"/>
                    </a:moveTo>
                    <a:cubicBezTo>
                      <a:pt x="139700" y="19714"/>
                      <a:pt x="134014" y="25400"/>
                      <a:pt x="127000" y="25400"/>
                    </a:cubicBezTo>
                    <a:lnTo>
                      <a:pt x="12700" y="25400"/>
                    </a:lnTo>
                    <a:cubicBezTo>
                      <a:pt x="5686" y="25400"/>
                      <a:pt x="0" y="19714"/>
                      <a:pt x="0" y="12700"/>
                    </a:cubicBezTo>
                    <a:cubicBezTo>
                      <a:pt x="0" y="5686"/>
                      <a:pt x="5686" y="0"/>
                      <a:pt x="12700" y="0"/>
                    </a:cubicBezTo>
                    <a:lnTo>
                      <a:pt x="127000" y="0"/>
                    </a:lnTo>
                    <a:cubicBezTo>
                      <a:pt x="134014" y="0"/>
                      <a:pt x="139700" y="5686"/>
                      <a:pt x="139700" y="12700"/>
                    </a:cubicBezTo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</p:sp>
          <p:sp>
            <p:nvSpPr>
              <p:cNvPr id="76" name="Freeform 76"/>
              <p:cNvSpPr/>
              <p:nvPr/>
            </p:nvSpPr>
            <p:spPr>
              <a:xfrm>
                <a:off x="6889750" y="5054600"/>
                <a:ext cx="13970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139700" h="25400">
                    <a:moveTo>
                      <a:pt x="139700" y="12700"/>
                    </a:moveTo>
                    <a:cubicBezTo>
                      <a:pt x="139700" y="19714"/>
                      <a:pt x="134014" y="25400"/>
                      <a:pt x="127000" y="25400"/>
                    </a:cubicBezTo>
                    <a:lnTo>
                      <a:pt x="12700" y="25400"/>
                    </a:lnTo>
                    <a:cubicBezTo>
                      <a:pt x="5686" y="25400"/>
                      <a:pt x="0" y="19714"/>
                      <a:pt x="0" y="12700"/>
                    </a:cubicBezTo>
                    <a:cubicBezTo>
                      <a:pt x="0" y="5686"/>
                      <a:pt x="5686" y="0"/>
                      <a:pt x="12700" y="0"/>
                    </a:cubicBezTo>
                    <a:lnTo>
                      <a:pt x="127000" y="0"/>
                    </a:lnTo>
                    <a:cubicBezTo>
                      <a:pt x="134014" y="0"/>
                      <a:pt x="139700" y="5686"/>
                      <a:pt x="139700" y="12700"/>
                    </a:cubicBezTo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</p:sp>
        </p:grpSp>
        <p:sp>
          <p:nvSpPr>
            <p:cNvPr id="78" name="TextBox 78"/>
            <p:cNvSpPr txBox="1"/>
            <p:nvPr/>
          </p:nvSpPr>
          <p:spPr>
            <a:xfrm>
              <a:off x="7240905" y="4845368"/>
              <a:ext cx="210454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需要哪些页面和功能？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7244715" y="5087302"/>
              <a:ext cx="252631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页面数量 · 必须有的模块 · 特殊交互</a:t>
              </a:r>
            </a:p>
          </p:txBody>
        </p:sp>
        <p:sp>
          <p:nvSpPr>
            <p:cNvPr id="80" name="Line 80"/>
            <p:cNvSpPr/>
            <p:nvPr/>
          </p:nvSpPr>
          <p:spPr>
            <a:xfrm>
              <a:off x="6705600" y="5372100"/>
              <a:ext cx="4533900" cy="9525"/>
            </a:xfrm>
            <a:custGeom>
              <a:avLst/>
              <a:gdLst/>
              <a:ahLst/>
              <a:cxnLst/>
              <a:rect l="l" t="t" r="r" b="b"/>
              <a:pathLst>
                <a:path w="4533900" h="9525">
                  <a:moveTo>
                    <a:pt x="0" y="0"/>
                  </a:moveTo>
                  <a:lnTo>
                    <a:pt x="4533900" y="0"/>
                  </a:lnTo>
                </a:path>
              </a:pathLst>
            </a:custGeom>
            <a:noFill/>
            <a:ln w="9525">
              <a:solidFill>
                <a:srgbClr val="E8F5EE"/>
              </a:solidFill>
            </a:ln>
          </p:spPr>
        </p:sp>
        <p:sp>
          <p:nvSpPr>
            <p:cNvPr id="81" name="Rectangle 81"/>
            <p:cNvSpPr/>
            <p:nvPr/>
          </p:nvSpPr>
          <p:spPr>
            <a:xfrm>
              <a:off x="6705600" y="5486400"/>
              <a:ext cx="4533900" cy="514350"/>
            </a:xfrm>
            <a:prstGeom prst="roundRect">
              <a:avLst>
                <a:gd name="adj" fmla="val 11111"/>
              </a:avLst>
            </a:prstGeom>
            <a:solidFill>
              <a:srgbClr val="F0FAF4"/>
            </a:solidFill>
            <a:ln>
              <a:noFill/>
            </a:ln>
          </p:spPr>
        </p:sp>
        <p:sp>
          <p:nvSpPr>
            <p:cNvPr id="82" name="TextBox 82"/>
            <p:cNvSpPr txBox="1"/>
            <p:nvPr/>
          </p:nvSpPr>
          <p:spPr>
            <a:xfrm>
              <a:off x="6845618" y="5552599"/>
              <a:ext cx="32380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3A9E6A"/>
                  </a:solidFill>
                  <a:latin typeface="Arial"/>
                  <a:ea typeface="Microsoft YaHei"/>
                  <a:cs typeface="Arial"/>
                </a:rPr>
                <a:t>例：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7150418" y="5552599"/>
              <a:ext cx="2559463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"首页+关于+课程介绍共 3 页，首页需要</a:t>
              </a:r>
            </a:p>
          </p:txBody>
        </p:sp>
        <p:sp>
          <p:nvSpPr>
            <p:cNvPr id="84" name="TextBox 84"/>
            <p:cNvSpPr txBox="1"/>
            <p:nvPr/>
          </p:nvSpPr>
          <p:spPr>
            <a:xfrm>
              <a:off x="6845618" y="5743099"/>
              <a:ext cx="2324505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FAQ 区块，访客问题 chatbot 功能"</a:t>
              </a:r>
            </a:p>
          </p:txBody>
        </p:sp>
      </p:grpSp>
      <p:sp>
        <p:nvSpPr>
          <p:cNvPr id="86" name="TextBox 86"/>
          <p:cNvSpPr txBox="1"/>
          <p:nvPr/>
        </p:nvSpPr>
        <p:spPr>
          <a:xfrm>
            <a:off x="11170110" y="6554152"/>
            <a:ext cx="46372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11 / 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8" presetClass="entr" presetSubtype="1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11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5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4)">
                                      <p:cBhvr>
                                        <p:cTn id="19" dur="4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42" grpId="0"/>
      <p:bldP spid="65" grpId="0"/>
      <p:bldP spid="8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727710" y="356235"/>
            <a:ext cx="10702290" cy="777240"/>
            <a:chOff x="727710" y="356235"/>
            <a:chExt cx="10702290" cy="777240"/>
          </a:xfrm>
        </p:grpSpPr>
        <p:sp>
          <p:nvSpPr>
            <p:cNvPr id="4" name="TextBox 4"/>
            <p:cNvSpPr txBox="1"/>
            <p:nvPr/>
          </p:nvSpPr>
          <p:spPr>
            <a:xfrm>
              <a:off x="727710" y="356235"/>
              <a:ext cx="4623149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多页面一致性：三个关键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741045" y="774382"/>
              <a:ext cx="4379595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加第二个页面时，怎么保证风格不漂移？</a:t>
              </a:r>
            </a:p>
          </p:txBody>
        </p:sp>
        <p:sp>
          <p:nvSpPr>
            <p:cNvPr id="6" name="Line 6"/>
            <p:cNvSpPr/>
            <p:nvPr/>
          </p:nvSpPr>
          <p:spPr>
            <a:xfrm>
              <a:off x="762000" y="11239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4288">
              <a:solidFill>
                <a:srgbClr val="E0D8D0"/>
              </a:solidFill>
            </a:ln>
          </p:spPr>
        </p:sp>
      </p:grpSp>
      <p:sp>
        <p:nvSpPr>
          <p:cNvPr id="8" name="Line 8"/>
          <p:cNvSpPr/>
          <p:nvPr/>
        </p:nvSpPr>
        <p:spPr>
          <a:xfrm>
            <a:off x="1676400" y="1352550"/>
            <a:ext cx="9525" cy="4514850"/>
          </a:xfrm>
          <a:custGeom>
            <a:avLst/>
            <a:gdLst/>
            <a:ahLst/>
            <a:cxnLst/>
            <a:rect l="l" t="t" r="r" b="b"/>
            <a:pathLst>
              <a:path w="9525" h="4514850">
                <a:moveTo>
                  <a:pt x="0" y="0"/>
                </a:moveTo>
                <a:lnTo>
                  <a:pt x="0" y="4514850"/>
                </a:lnTo>
              </a:path>
            </a:pathLst>
          </a:custGeom>
          <a:noFill/>
          <a:ln w="28575" cap="rnd">
            <a:solidFill>
              <a:srgbClr val="E0D8D0"/>
            </a:solidFill>
          </a:ln>
        </p:spPr>
      </p:sp>
      <p:sp>
        <p:nvSpPr>
          <p:cNvPr id="9" name="Polygon 9"/>
          <p:cNvSpPr/>
          <p:nvPr/>
        </p:nvSpPr>
        <p:spPr>
          <a:xfrm>
            <a:off x="1600200" y="5810250"/>
            <a:ext cx="152400" cy="133350"/>
          </a:xfrm>
          <a:custGeom>
            <a:avLst/>
            <a:gdLst/>
            <a:ahLst/>
            <a:cxnLst/>
            <a:rect l="l" t="t" r="r" b="b"/>
            <a:pathLst>
              <a:path w="152400" h="133350">
                <a:moveTo>
                  <a:pt x="76200" y="133350"/>
                </a:moveTo>
                <a:lnTo>
                  <a:pt x="152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C96133">
              <a:alpha val="50000"/>
            </a:srgbClr>
          </a:solidFill>
          <a:ln>
            <a:noFill/>
          </a:ln>
        </p:spPr>
      </p:sp>
      <p:grpSp>
        <p:nvGrpSpPr>
          <p:cNvPr id="23" name="Group 23"/>
          <p:cNvGrpSpPr/>
          <p:nvPr/>
        </p:nvGrpSpPr>
        <p:grpSpPr>
          <a:xfrm>
            <a:off x="1409700" y="1409700"/>
            <a:ext cx="10210800" cy="914400"/>
            <a:chOff x="1409700" y="1409700"/>
            <a:chExt cx="10210800" cy="914400"/>
          </a:xfrm>
        </p:grpSpPr>
        <p:sp>
          <p:nvSpPr>
            <p:cNvPr id="10" name="Ellipse 10"/>
            <p:cNvSpPr/>
            <p:nvPr/>
          </p:nvSpPr>
          <p:spPr>
            <a:xfrm>
              <a:off x="1409700" y="1600200"/>
              <a:ext cx="533400" cy="533400"/>
            </a:xfrm>
            <a:prstGeom prst="ellipse">
              <a:avLst/>
            </a:prstGeom>
            <a:solidFill>
              <a:srgbClr val="C96133">
                <a:alpha val="12000"/>
              </a:srgbClr>
            </a:solidFill>
            <a:ln>
              <a:noFill/>
            </a:ln>
          </p:spPr>
        </p:sp>
        <p:sp>
          <p:nvSpPr>
            <p:cNvPr id="11" name="Ellipse 11"/>
            <p:cNvSpPr/>
            <p:nvPr/>
          </p:nvSpPr>
          <p:spPr>
            <a:xfrm>
              <a:off x="1485900" y="1676400"/>
              <a:ext cx="381000" cy="381000"/>
            </a:xfrm>
            <a:prstGeom prst="ellipse">
              <a:avLst/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600472" y="1828324"/>
              <a:ext cx="15185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3" name="Line 13"/>
            <p:cNvSpPr/>
            <p:nvPr/>
          </p:nvSpPr>
          <p:spPr>
            <a:xfrm>
              <a:off x="1943100" y="1866900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9050">
              <a:solidFill>
                <a:srgbClr val="C96133">
                  <a:alpha val="60000"/>
                </a:srgbClr>
              </a:solidFill>
              <a:custDash>
                <a:ds d="200000" sp="150000"/>
              </a:custDash>
            </a:ln>
          </p:spPr>
        </p:sp>
        <p:sp>
          <p:nvSpPr>
            <p:cNvPr id="14" name="Rectangle 14"/>
            <p:cNvSpPr/>
            <p:nvPr/>
          </p:nvSpPr>
          <p:spPr>
            <a:xfrm>
              <a:off x="2286000" y="1409700"/>
              <a:ext cx="9334500" cy="914400"/>
            </a:xfrm>
            <a:prstGeom prst="roundRect">
              <a:avLst>
                <a:gd name="adj" fmla="val 10417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2286000" y="1409700"/>
              <a:ext cx="47625" cy="914400"/>
            </a:xfrm>
            <a:prstGeom prst="roundRect">
              <a:avLst>
                <a:gd name="adj" fmla="val 40000"/>
              </a:avLst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2495550" y="1562100"/>
              <a:ext cx="381000" cy="381000"/>
            </a:xfrm>
            <a:prstGeom prst="roundRect">
              <a:avLst>
                <a:gd name="adj" fmla="val 20000"/>
              </a:avLst>
            </a:prstGeom>
            <a:solidFill>
              <a:srgbClr val="C96133">
                <a:alpha val="10000"/>
              </a:srgbClr>
            </a:solidFill>
            <a:ln>
              <a:noFill/>
            </a:ln>
          </p:spPr>
        </p:sp>
        <p:sp>
          <p:nvSpPr>
            <p:cNvPr id="17" name="Freeform 17"/>
            <p:cNvSpPr/>
            <p:nvPr/>
          </p:nvSpPr>
          <p:spPr>
            <a:xfrm>
              <a:off x="2567213" y="1633763"/>
              <a:ext cx="237674" cy="237674"/>
            </a:xfrm>
            <a:custGeom>
              <a:avLst/>
              <a:gdLst/>
              <a:ahLst/>
              <a:cxnLst/>
              <a:rect l="l" t="t" r="r" b="b"/>
              <a:pathLst>
                <a:path w="237674" h="237674">
                  <a:moveTo>
                    <a:pt x="148252" y="30837"/>
                  </a:moveTo>
                  <a:cubicBezTo>
                    <a:pt x="148857" y="33333"/>
                    <a:pt x="150616" y="35390"/>
                    <a:pt x="152988" y="36374"/>
                  </a:cubicBezTo>
                  <a:cubicBezTo>
                    <a:pt x="155360" y="37358"/>
                    <a:pt x="158060" y="37151"/>
                    <a:pt x="160253" y="35816"/>
                  </a:cubicBezTo>
                  <a:cubicBezTo>
                    <a:pt x="187357" y="19314"/>
                    <a:pt x="218372" y="50317"/>
                    <a:pt x="201870" y="77421"/>
                  </a:cubicBezTo>
                  <a:cubicBezTo>
                    <a:pt x="200535" y="79613"/>
                    <a:pt x="200326" y="82311"/>
                    <a:pt x="201307" y="84682"/>
                  </a:cubicBezTo>
                  <a:cubicBezTo>
                    <a:pt x="202289" y="87054"/>
                    <a:pt x="204343" y="88815"/>
                    <a:pt x="206837" y="89422"/>
                  </a:cubicBezTo>
                  <a:cubicBezTo>
                    <a:pt x="237674" y="96901"/>
                    <a:pt x="237674" y="140762"/>
                    <a:pt x="206837" y="148252"/>
                  </a:cubicBezTo>
                  <a:cubicBezTo>
                    <a:pt x="204341" y="148857"/>
                    <a:pt x="202284" y="150616"/>
                    <a:pt x="201300" y="152988"/>
                  </a:cubicBezTo>
                  <a:cubicBezTo>
                    <a:pt x="200316" y="155360"/>
                    <a:pt x="200524" y="158060"/>
                    <a:pt x="201859" y="160253"/>
                  </a:cubicBezTo>
                  <a:cubicBezTo>
                    <a:pt x="218361" y="187357"/>
                    <a:pt x="187357" y="218372"/>
                    <a:pt x="160253" y="201870"/>
                  </a:cubicBezTo>
                  <a:cubicBezTo>
                    <a:pt x="158061" y="200535"/>
                    <a:pt x="155364" y="200326"/>
                    <a:pt x="152992" y="201307"/>
                  </a:cubicBezTo>
                  <a:cubicBezTo>
                    <a:pt x="150620" y="202289"/>
                    <a:pt x="148859" y="204343"/>
                    <a:pt x="148252" y="206837"/>
                  </a:cubicBezTo>
                  <a:cubicBezTo>
                    <a:pt x="140773" y="237674"/>
                    <a:pt x="96912" y="237674"/>
                    <a:pt x="89422" y="206837"/>
                  </a:cubicBezTo>
                  <a:cubicBezTo>
                    <a:pt x="88818" y="204341"/>
                    <a:pt x="87058" y="202284"/>
                    <a:pt x="84686" y="201300"/>
                  </a:cubicBezTo>
                  <a:cubicBezTo>
                    <a:pt x="82314" y="200316"/>
                    <a:pt x="79615" y="200524"/>
                    <a:pt x="77421" y="201859"/>
                  </a:cubicBezTo>
                  <a:cubicBezTo>
                    <a:pt x="50317" y="218361"/>
                    <a:pt x="19302" y="187357"/>
                    <a:pt x="35804" y="160253"/>
                  </a:cubicBezTo>
                  <a:cubicBezTo>
                    <a:pt x="37139" y="158061"/>
                    <a:pt x="37348" y="155364"/>
                    <a:pt x="36367" y="152992"/>
                  </a:cubicBezTo>
                  <a:cubicBezTo>
                    <a:pt x="35385" y="150620"/>
                    <a:pt x="33331" y="148859"/>
                    <a:pt x="30837" y="148252"/>
                  </a:cubicBezTo>
                  <a:cubicBezTo>
                    <a:pt x="0" y="140773"/>
                    <a:pt x="0" y="96912"/>
                    <a:pt x="30837" y="89422"/>
                  </a:cubicBezTo>
                  <a:cubicBezTo>
                    <a:pt x="33333" y="88818"/>
                    <a:pt x="35390" y="87058"/>
                    <a:pt x="36374" y="84686"/>
                  </a:cubicBezTo>
                  <a:cubicBezTo>
                    <a:pt x="37358" y="82314"/>
                    <a:pt x="37151" y="79615"/>
                    <a:pt x="35816" y="77421"/>
                  </a:cubicBezTo>
                  <a:cubicBezTo>
                    <a:pt x="19314" y="50317"/>
                    <a:pt x="50317" y="19302"/>
                    <a:pt x="77421" y="35804"/>
                  </a:cubicBezTo>
                  <a:cubicBezTo>
                    <a:pt x="79611" y="37150"/>
                    <a:pt x="82313" y="37364"/>
                    <a:pt x="84688" y="36381"/>
                  </a:cubicBezTo>
                  <a:cubicBezTo>
                    <a:pt x="87063" y="35398"/>
                    <a:pt x="88823" y="33337"/>
                    <a:pt x="89422" y="30837"/>
                  </a:cubicBezTo>
                  <a:cubicBezTo>
                    <a:pt x="96901" y="0"/>
                    <a:pt x="140762" y="0"/>
                    <a:pt x="148252" y="30837"/>
                  </a:cubicBezTo>
                  <a:close/>
                  <a:moveTo>
                    <a:pt x="118837" y="85500"/>
                  </a:moveTo>
                  <a:cubicBezTo>
                    <a:pt x="100425" y="85500"/>
                    <a:pt x="85500" y="100425"/>
                    <a:pt x="85500" y="118837"/>
                  </a:cubicBezTo>
                  <a:cubicBezTo>
                    <a:pt x="85500" y="137249"/>
                    <a:pt x="100425" y="152175"/>
                    <a:pt x="118837" y="152175"/>
                  </a:cubicBezTo>
                  <a:cubicBezTo>
                    <a:pt x="137249" y="152175"/>
                    <a:pt x="152175" y="137249"/>
                    <a:pt x="152175" y="118837"/>
                  </a:cubicBezTo>
                  <a:cubicBezTo>
                    <a:pt x="152175" y="100425"/>
                    <a:pt x="137249" y="85500"/>
                    <a:pt x="118837" y="85500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2990850" y="1600200"/>
              <a:ext cx="2671929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CLAUDE.md 写死设计规范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994660" y="1870710"/>
              <a:ext cx="6672834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主色 / 字体 / 圆角 / 按钮样式写入 CLAUDE.md，每次新页面自动遵守，不用重复说。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994660" y="2080260"/>
              <a:ext cx="283464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这是最省力、最稳定的一致性保障。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10344150" y="1543050"/>
              <a:ext cx="1028700" cy="247650"/>
            </a:xfrm>
            <a:prstGeom prst="roundRect">
              <a:avLst>
                <a:gd name="adj" fmla="val 50000"/>
              </a:avLst>
            </a:prstGeom>
            <a:solidFill>
              <a:srgbClr val="F0EDE8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0621839" y="1599724"/>
              <a:ext cx="47332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最高效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1409700" y="2971800"/>
            <a:ext cx="10210800" cy="914400"/>
            <a:chOff x="1409700" y="2971800"/>
            <a:chExt cx="10210800" cy="914400"/>
          </a:xfrm>
        </p:grpSpPr>
        <p:sp>
          <p:nvSpPr>
            <p:cNvPr id="24" name="Ellipse 24"/>
            <p:cNvSpPr/>
            <p:nvPr/>
          </p:nvSpPr>
          <p:spPr>
            <a:xfrm>
              <a:off x="1409700" y="3162300"/>
              <a:ext cx="533400" cy="533400"/>
            </a:xfrm>
            <a:prstGeom prst="ellipse">
              <a:avLst/>
            </a:prstGeom>
            <a:solidFill>
              <a:srgbClr val="3D7DE4">
                <a:alpha val="12000"/>
              </a:srgbClr>
            </a:solidFill>
            <a:ln>
              <a:noFill/>
            </a:ln>
          </p:spPr>
        </p:sp>
        <p:sp>
          <p:nvSpPr>
            <p:cNvPr id="25" name="Ellipse 25"/>
            <p:cNvSpPr/>
            <p:nvPr/>
          </p:nvSpPr>
          <p:spPr>
            <a:xfrm>
              <a:off x="1485900" y="3238500"/>
              <a:ext cx="381000" cy="381000"/>
            </a:xfrm>
            <a:prstGeom prst="ellipse">
              <a:avLst/>
            </a:prstGeom>
            <a:solidFill>
              <a:srgbClr val="3D7DE4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1581782" y="3390424"/>
              <a:ext cx="18923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1943100" y="3429000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9050">
              <a:solidFill>
                <a:srgbClr val="3D7DE4">
                  <a:alpha val="60000"/>
                </a:srgbClr>
              </a:solidFill>
              <a:custDash>
                <a:ds d="200000" sp="150000"/>
              </a:custDash>
            </a:ln>
          </p:spPr>
        </p:sp>
        <p:sp>
          <p:nvSpPr>
            <p:cNvPr id="28" name="Rectangle 28"/>
            <p:cNvSpPr/>
            <p:nvPr/>
          </p:nvSpPr>
          <p:spPr>
            <a:xfrm>
              <a:off x="2286000" y="2971800"/>
              <a:ext cx="9334500" cy="914400"/>
            </a:xfrm>
            <a:prstGeom prst="roundRect">
              <a:avLst>
                <a:gd name="adj" fmla="val 10417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2286000" y="2971800"/>
              <a:ext cx="47625" cy="914400"/>
            </a:xfrm>
            <a:prstGeom prst="roundRect">
              <a:avLst>
                <a:gd name="adj" fmla="val 40000"/>
              </a:avLst>
            </a:prstGeom>
            <a:solidFill>
              <a:srgbClr val="3D7DE4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2495550" y="3124200"/>
              <a:ext cx="381000" cy="381000"/>
            </a:xfrm>
            <a:prstGeom prst="roundRect">
              <a:avLst>
                <a:gd name="adj" fmla="val 20000"/>
              </a:avLst>
            </a:prstGeom>
            <a:solidFill>
              <a:srgbClr val="3D7DE4">
                <a:alpha val="10000"/>
              </a:srgbClr>
            </a:solidFill>
            <a:ln>
              <a:noFill/>
            </a:ln>
          </p:spPr>
        </p:sp>
        <p:sp>
          <p:nvSpPr>
            <p:cNvPr id="31" name="Freeform 31"/>
            <p:cNvSpPr/>
            <p:nvPr/>
          </p:nvSpPr>
          <p:spPr>
            <a:xfrm>
              <a:off x="2563328" y="3225800"/>
              <a:ext cx="244948" cy="177800"/>
            </a:xfrm>
            <a:custGeom>
              <a:avLst/>
              <a:gdLst/>
              <a:ahLst/>
              <a:cxnLst/>
              <a:rect l="l" t="t" r="r" b="b"/>
              <a:pathLst>
                <a:path w="244948" h="177800">
                  <a:moveTo>
                    <a:pt x="122722" y="0"/>
                  </a:moveTo>
                  <a:cubicBezTo>
                    <a:pt x="170394" y="0"/>
                    <a:pt x="210099" y="26992"/>
                    <a:pt x="241236" y="79499"/>
                  </a:cubicBezTo>
                  <a:lnTo>
                    <a:pt x="243681" y="83710"/>
                  </a:lnTo>
                  <a:lnTo>
                    <a:pt x="244181" y="84822"/>
                  </a:lnTo>
                  <a:lnTo>
                    <a:pt x="244515" y="85744"/>
                  </a:lnTo>
                  <a:lnTo>
                    <a:pt x="244670" y="86355"/>
                  </a:lnTo>
                  <a:lnTo>
                    <a:pt x="244826" y="87266"/>
                  </a:lnTo>
                  <a:lnTo>
                    <a:pt x="244948" y="88378"/>
                  </a:lnTo>
                  <a:lnTo>
                    <a:pt x="244948" y="89600"/>
                  </a:lnTo>
                  <a:lnTo>
                    <a:pt x="244792" y="90834"/>
                  </a:lnTo>
                  <a:cubicBezTo>
                    <a:pt x="244719" y="91246"/>
                    <a:pt x="244623" y="91654"/>
                    <a:pt x="244504" y="92056"/>
                  </a:cubicBezTo>
                  <a:lnTo>
                    <a:pt x="244070" y="93256"/>
                  </a:lnTo>
                  <a:lnTo>
                    <a:pt x="243670" y="94090"/>
                  </a:lnTo>
                  <a:lnTo>
                    <a:pt x="243492" y="94423"/>
                  </a:lnTo>
                  <a:cubicBezTo>
                    <a:pt x="212777" y="148163"/>
                    <a:pt x="173484" y="176433"/>
                    <a:pt x="126200" y="177756"/>
                  </a:cubicBezTo>
                  <a:lnTo>
                    <a:pt x="122722" y="177800"/>
                  </a:lnTo>
                  <a:cubicBezTo>
                    <a:pt x="73871" y="177800"/>
                    <a:pt x="33411" y="149474"/>
                    <a:pt x="1951" y="94412"/>
                  </a:cubicBezTo>
                  <a:cubicBezTo>
                    <a:pt x="0" y="90996"/>
                    <a:pt x="0" y="86804"/>
                    <a:pt x="1951" y="83388"/>
                  </a:cubicBezTo>
                  <a:cubicBezTo>
                    <a:pt x="33411" y="28326"/>
                    <a:pt x="73871" y="0"/>
                    <a:pt x="122722" y="0"/>
                  </a:cubicBezTo>
                  <a:close/>
                  <a:moveTo>
                    <a:pt x="122722" y="55562"/>
                  </a:moveTo>
                  <a:cubicBezTo>
                    <a:pt x="104310" y="55562"/>
                    <a:pt x="89384" y="70488"/>
                    <a:pt x="89384" y="88900"/>
                  </a:cubicBezTo>
                  <a:cubicBezTo>
                    <a:pt x="89384" y="107312"/>
                    <a:pt x="104310" y="122237"/>
                    <a:pt x="122722" y="122237"/>
                  </a:cubicBezTo>
                  <a:cubicBezTo>
                    <a:pt x="141133" y="122237"/>
                    <a:pt x="156059" y="107312"/>
                    <a:pt x="156059" y="88900"/>
                  </a:cubicBezTo>
                  <a:cubicBezTo>
                    <a:pt x="156059" y="70488"/>
                    <a:pt x="141133" y="55562"/>
                    <a:pt x="122722" y="55562"/>
                  </a:cubicBezTo>
                </a:path>
              </a:pathLst>
            </a:custGeom>
            <a:solidFill>
              <a:srgbClr val="3D7DE4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2990850" y="3162300"/>
              <a:ext cx="328150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新页面 prompt 中引用已有页面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2994660" y="3432810"/>
              <a:ext cx="486765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写 prompt 时说："参照 index.html 的 Nav 和 Footer 样式，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2994660" y="3642360"/>
              <a:ext cx="42367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保持 class 命名一致"。Claude 会直接复用已有组件。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10344150" y="3105150"/>
              <a:ext cx="1028700" cy="247650"/>
            </a:xfrm>
            <a:prstGeom prst="roundRect">
              <a:avLst>
                <a:gd name="adj" fmla="val 50000"/>
              </a:avLst>
            </a:prstGeom>
            <a:solidFill>
              <a:srgbClr val="EBF0F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10547080" y="3161824"/>
              <a:ext cx="62284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3D7DE4"/>
                  </a:solidFill>
                  <a:latin typeface="Arial"/>
                  <a:ea typeface="Microsoft YaHei"/>
                  <a:cs typeface="Arial"/>
                </a:rPr>
                <a:t>实测有效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1409700" y="4533900"/>
            <a:ext cx="10210800" cy="914400"/>
            <a:chOff x="1409700" y="4533900"/>
            <a:chExt cx="10210800" cy="914400"/>
          </a:xfrm>
        </p:grpSpPr>
        <p:sp>
          <p:nvSpPr>
            <p:cNvPr id="38" name="Ellipse 38"/>
            <p:cNvSpPr/>
            <p:nvPr/>
          </p:nvSpPr>
          <p:spPr>
            <a:xfrm>
              <a:off x="1409700" y="4724400"/>
              <a:ext cx="533400" cy="533400"/>
            </a:xfrm>
            <a:prstGeom prst="ellipse">
              <a:avLst/>
            </a:prstGeom>
            <a:solidFill>
              <a:srgbClr val="3A9E6A">
                <a:alpha val="12000"/>
              </a:srgbClr>
            </a:solidFill>
            <a:ln>
              <a:noFill/>
            </a:ln>
          </p:spPr>
        </p:sp>
        <p:sp>
          <p:nvSpPr>
            <p:cNvPr id="39" name="Ellipse 39"/>
            <p:cNvSpPr/>
            <p:nvPr/>
          </p:nvSpPr>
          <p:spPr>
            <a:xfrm>
              <a:off x="1485900" y="4800600"/>
              <a:ext cx="381000" cy="381000"/>
            </a:xfrm>
            <a:prstGeom prst="ellipse">
              <a:avLst/>
            </a:prstGeom>
            <a:solidFill>
              <a:srgbClr val="3A9E6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1581782" y="4952524"/>
              <a:ext cx="18923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41" name="Line 41"/>
            <p:cNvSpPr/>
            <p:nvPr/>
          </p:nvSpPr>
          <p:spPr>
            <a:xfrm>
              <a:off x="1943100" y="4991100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9050">
              <a:solidFill>
                <a:srgbClr val="3A9E6A">
                  <a:alpha val="60000"/>
                </a:srgbClr>
              </a:solidFill>
              <a:custDash>
                <a:ds d="200000" sp="150000"/>
              </a:custDash>
            </a:ln>
          </p:spPr>
        </p:sp>
        <p:sp>
          <p:nvSpPr>
            <p:cNvPr id="42" name="Rectangle 42"/>
            <p:cNvSpPr/>
            <p:nvPr/>
          </p:nvSpPr>
          <p:spPr>
            <a:xfrm>
              <a:off x="2286000" y="4533900"/>
              <a:ext cx="9334500" cy="914400"/>
            </a:xfrm>
            <a:prstGeom prst="roundRect">
              <a:avLst>
                <a:gd name="adj" fmla="val 10417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2286000" y="4533900"/>
              <a:ext cx="47625" cy="914400"/>
            </a:xfrm>
            <a:prstGeom prst="roundRect">
              <a:avLst>
                <a:gd name="adj" fmla="val 40000"/>
              </a:avLst>
            </a:prstGeom>
            <a:solidFill>
              <a:srgbClr val="3A9E6A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2495550" y="4686300"/>
              <a:ext cx="381000" cy="381000"/>
            </a:xfrm>
            <a:prstGeom prst="roundRect">
              <a:avLst>
                <a:gd name="adj" fmla="val 20000"/>
              </a:avLst>
            </a:prstGeom>
            <a:solidFill>
              <a:srgbClr val="3A9E6A">
                <a:alpha val="10000"/>
              </a:srgbClr>
            </a:solidFill>
            <a:ln>
              <a:noFill/>
            </a:ln>
          </p:spPr>
        </p:sp>
        <p:sp>
          <p:nvSpPr>
            <p:cNvPr id="45" name="Freeform 45"/>
            <p:cNvSpPr/>
            <p:nvPr/>
          </p:nvSpPr>
          <p:spPr>
            <a:xfrm>
              <a:off x="2574924" y="4760697"/>
              <a:ext cx="233994" cy="234907"/>
            </a:xfrm>
            <a:custGeom>
              <a:avLst/>
              <a:gdLst/>
              <a:ahLst/>
              <a:cxnLst/>
              <a:rect l="l" t="t" r="r" b="b"/>
              <a:pathLst>
                <a:path w="233994" h="234907">
                  <a:moveTo>
                    <a:pt x="166689" y="19868"/>
                  </a:moveTo>
                  <a:cubicBezTo>
                    <a:pt x="213392" y="46833"/>
                    <a:pt x="233994" y="103437"/>
                    <a:pt x="215549" y="154113"/>
                  </a:cubicBezTo>
                  <a:cubicBezTo>
                    <a:pt x="197104" y="204790"/>
                    <a:pt x="144937" y="234907"/>
                    <a:pt x="91828" y="225542"/>
                  </a:cubicBezTo>
                  <a:cubicBezTo>
                    <a:pt x="38719" y="216176"/>
                    <a:pt x="0" y="170031"/>
                    <a:pt x="1" y="116103"/>
                  </a:cubicBezTo>
                  <a:lnTo>
                    <a:pt x="57" y="112502"/>
                  </a:lnTo>
                  <a:cubicBezTo>
                    <a:pt x="1323" y="73464"/>
                    <a:pt x="22991" y="37956"/>
                    <a:pt x="57130" y="18978"/>
                  </a:cubicBezTo>
                  <a:cubicBezTo>
                    <a:pt x="91268" y="0"/>
                    <a:pt x="132863" y="338"/>
                    <a:pt x="166689" y="19868"/>
                  </a:cubicBezTo>
                  <a:moveTo>
                    <a:pt x="96758" y="86021"/>
                  </a:moveTo>
                  <a:cubicBezTo>
                    <a:pt x="92418" y="81683"/>
                    <a:pt x="85384" y="81683"/>
                    <a:pt x="81045" y="86021"/>
                  </a:cubicBezTo>
                  <a:lnTo>
                    <a:pt x="58820" y="108246"/>
                  </a:lnTo>
                  <a:cubicBezTo>
                    <a:pt x="54482" y="112586"/>
                    <a:pt x="54482" y="119620"/>
                    <a:pt x="58820" y="123959"/>
                  </a:cubicBezTo>
                  <a:lnTo>
                    <a:pt x="81045" y="146184"/>
                  </a:lnTo>
                  <a:cubicBezTo>
                    <a:pt x="85384" y="150522"/>
                    <a:pt x="92418" y="150522"/>
                    <a:pt x="96758" y="146184"/>
                  </a:cubicBezTo>
                  <a:lnTo>
                    <a:pt x="97680" y="145140"/>
                  </a:lnTo>
                  <a:cubicBezTo>
                    <a:pt x="101112" y="140716"/>
                    <a:pt x="100717" y="134430"/>
                    <a:pt x="96758" y="130471"/>
                  </a:cubicBezTo>
                  <a:lnTo>
                    <a:pt x="82401" y="116103"/>
                  </a:lnTo>
                  <a:lnTo>
                    <a:pt x="96758" y="101734"/>
                  </a:lnTo>
                  <a:cubicBezTo>
                    <a:pt x="101096" y="97395"/>
                    <a:pt x="101096" y="90361"/>
                    <a:pt x="96758" y="86021"/>
                  </a:cubicBezTo>
                  <a:moveTo>
                    <a:pt x="141208" y="86021"/>
                  </a:moveTo>
                  <a:cubicBezTo>
                    <a:pt x="136868" y="81683"/>
                    <a:pt x="129834" y="81683"/>
                    <a:pt x="125495" y="86021"/>
                  </a:cubicBezTo>
                  <a:lnTo>
                    <a:pt x="124572" y="87066"/>
                  </a:lnTo>
                  <a:cubicBezTo>
                    <a:pt x="121141" y="91489"/>
                    <a:pt x="121536" y="97775"/>
                    <a:pt x="125495" y="101734"/>
                  </a:cubicBezTo>
                  <a:lnTo>
                    <a:pt x="139852" y="116103"/>
                  </a:lnTo>
                  <a:lnTo>
                    <a:pt x="125495" y="130471"/>
                  </a:lnTo>
                  <a:cubicBezTo>
                    <a:pt x="121284" y="134831"/>
                    <a:pt x="121344" y="141762"/>
                    <a:pt x="125630" y="146049"/>
                  </a:cubicBezTo>
                  <a:cubicBezTo>
                    <a:pt x="129917" y="150335"/>
                    <a:pt x="136848" y="150396"/>
                    <a:pt x="141208" y="146184"/>
                  </a:cubicBezTo>
                  <a:lnTo>
                    <a:pt x="163433" y="123959"/>
                  </a:lnTo>
                  <a:cubicBezTo>
                    <a:pt x="167771" y="119620"/>
                    <a:pt x="167771" y="112586"/>
                    <a:pt x="163433" y="108246"/>
                  </a:cubicBezTo>
                  <a:close/>
                </a:path>
              </a:pathLst>
            </a:custGeom>
            <a:solidFill>
              <a:srgbClr val="3A9E6A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2990850" y="4724400"/>
              <a:ext cx="2625923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用 CSS 变量统一所有样式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2994660" y="4994910"/>
              <a:ext cx="458724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在 style.css 中定义 --primary / --font-base 等变量，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2994660" y="5204460"/>
              <a:ext cx="463105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改一处全站同步。比 hardcode 颜色省 90% 的修改工作量。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10344150" y="4667250"/>
              <a:ext cx="1028700" cy="247650"/>
            </a:xfrm>
            <a:prstGeom prst="roundRect">
              <a:avLst>
                <a:gd name="adj" fmla="val 50000"/>
              </a:avLst>
            </a:prstGeom>
            <a:solidFill>
              <a:srgbClr val="E8F5EE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10547080" y="4723924"/>
              <a:ext cx="62284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3A9E6A"/>
                  </a:solidFill>
                  <a:latin typeface="Arial"/>
                  <a:ea typeface="Microsoft YaHei"/>
                  <a:cs typeface="Arial"/>
                </a:rPr>
                <a:t>工程最优</a:t>
              </a:r>
            </a:p>
          </p:txBody>
        </p:sp>
      </p:grpSp>
      <p:sp>
        <p:nvSpPr>
          <p:cNvPr id="52" name="Rectangle 52"/>
          <p:cNvSpPr/>
          <p:nvPr/>
        </p:nvSpPr>
        <p:spPr>
          <a:xfrm>
            <a:off x="2286000" y="5676900"/>
            <a:ext cx="9334500" cy="571500"/>
          </a:xfrm>
          <a:prstGeom prst="roundRect">
            <a:avLst>
              <a:gd name="adj" fmla="val 16667"/>
            </a:avLst>
          </a:prstGeom>
          <a:solidFill>
            <a:srgbClr val="F0EDE8"/>
          </a:solidFill>
          <a:ln>
            <a:noFill/>
          </a:ln>
        </p:spPr>
      </p:sp>
      <p:grpSp>
        <p:nvGrpSpPr>
          <p:cNvPr id="60" name="Group 60"/>
          <p:cNvGrpSpPr/>
          <p:nvPr/>
        </p:nvGrpSpPr>
        <p:grpSpPr>
          <a:xfrm>
            <a:off x="2533382" y="5867400"/>
            <a:ext cx="191037" cy="190500"/>
            <a:chOff x="2533382" y="5867400"/>
            <a:chExt cx="191037" cy="190500"/>
          </a:xfrm>
        </p:grpSpPr>
        <p:sp>
          <p:nvSpPr>
            <p:cNvPr id="53" name="Freeform 53"/>
            <p:cNvSpPr/>
            <p:nvPr/>
          </p:nvSpPr>
          <p:spPr>
            <a:xfrm>
              <a:off x="2533382" y="5953125"/>
              <a:ext cx="29112" cy="19050"/>
            </a:xfrm>
            <a:custGeom>
              <a:avLst/>
              <a:gdLst/>
              <a:ahLst/>
              <a:cxnLst/>
              <a:rect l="l" t="t" r="r" b="b"/>
              <a:pathLst>
                <a:path w="29112" h="19050">
                  <a:moveTo>
                    <a:pt x="19318" y="0"/>
                  </a:moveTo>
                  <a:cubicBezTo>
                    <a:pt x="24358" y="6"/>
                    <a:pt x="28521" y="3936"/>
                    <a:pt x="28816" y="8967"/>
                  </a:cubicBezTo>
                  <a:cubicBezTo>
                    <a:pt x="29112" y="13998"/>
                    <a:pt x="25437" y="18388"/>
                    <a:pt x="20433" y="18983"/>
                  </a:cubicBezTo>
                  <a:lnTo>
                    <a:pt x="19318" y="19050"/>
                  </a:lnTo>
                  <a:lnTo>
                    <a:pt x="9793" y="19050"/>
                  </a:lnTo>
                  <a:cubicBezTo>
                    <a:pt x="4754" y="19044"/>
                    <a:pt x="591" y="15114"/>
                    <a:pt x="295" y="10083"/>
                  </a:cubicBezTo>
                  <a:cubicBezTo>
                    <a:pt x="0" y="5052"/>
                    <a:pt x="3675" y="662"/>
                    <a:pt x="8679" y="67"/>
                  </a:cubicBezTo>
                  <a:lnTo>
                    <a:pt x="9793" y="0"/>
                  </a:lnTo>
                  <a:lnTo>
                    <a:pt x="19318" y="0"/>
                  </a:lnTo>
                  <a:close/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  <p:sp>
          <p:nvSpPr>
            <p:cNvPr id="54" name="Freeform 54"/>
            <p:cNvSpPr/>
            <p:nvPr/>
          </p:nvSpPr>
          <p:spPr>
            <a:xfrm>
              <a:off x="2619375" y="5867400"/>
              <a:ext cx="19050" cy="28843"/>
            </a:xfrm>
            <a:custGeom>
              <a:avLst/>
              <a:gdLst/>
              <a:ahLst/>
              <a:cxnLst/>
              <a:rect l="l" t="t" r="r" b="b"/>
              <a:pathLst>
                <a:path w="19050" h="28843">
                  <a:moveTo>
                    <a:pt x="9525" y="0"/>
                  </a:moveTo>
                  <a:cubicBezTo>
                    <a:pt x="14354" y="1"/>
                    <a:pt x="18418" y="3615"/>
                    <a:pt x="18983" y="8411"/>
                  </a:cubicBezTo>
                  <a:lnTo>
                    <a:pt x="19050" y="9525"/>
                  </a:lnTo>
                  <a:lnTo>
                    <a:pt x="19050" y="19050"/>
                  </a:lnTo>
                  <a:cubicBezTo>
                    <a:pt x="19044" y="24090"/>
                    <a:pt x="15114" y="28253"/>
                    <a:pt x="10083" y="28548"/>
                  </a:cubicBezTo>
                  <a:cubicBezTo>
                    <a:pt x="5052" y="28843"/>
                    <a:pt x="662" y="25169"/>
                    <a:pt x="67" y="20164"/>
                  </a:cubicBezTo>
                  <a:lnTo>
                    <a:pt x="0" y="19050"/>
                  </a:lnTo>
                  <a:lnTo>
                    <a:pt x="0" y="9525"/>
                  </a:lnTo>
                  <a:cubicBezTo>
                    <a:pt x="0" y="4264"/>
                    <a:pt x="4264" y="0"/>
                    <a:pt x="9525" y="0"/>
                  </a:cubicBezTo>
                  <a:close/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  <p:sp>
          <p:nvSpPr>
            <p:cNvPr id="55" name="Freeform 55"/>
            <p:cNvSpPr/>
            <p:nvPr/>
          </p:nvSpPr>
          <p:spPr>
            <a:xfrm>
              <a:off x="2695307" y="5953125"/>
              <a:ext cx="29112" cy="19050"/>
            </a:xfrm>
            <a:custGeom>
              <a:avLst/>
              <a:gdLst/>
              <a:ahLst/>
              <a:cxnLst/>
              <a:rect l="l" t="t" r="r" b="b"/>
              <a:pathLst>
                <a:path w="29112" h="19050">
                  <a:moveTo>
                    <a:pt x="19318" y="0"/>
                  </a:moveTo>
                  <a:cubicBezTo>
                    <a:pt x="24358" y="6"/>
                    <a:pt x="28521" y="3936"/>
                    <a:pt x="28816" y="8967"/>
                  </a:cubicBezTo>
                  <a:cubicBezTo>
                    <a:pt x="29112" y="13998"/>
                    <a:pt x="25437" y="18388"/>
                    <a:pt x="20433" y="18983"/>
                  </a:cubicBezTo>
                  <a:lnTo>
                    <a:pt x="19318" y="19050"/>
                  </a:lnTo>
                  <a:lnTo>
                    <a:pt x="9793" y="19050"/>
                  </a:lnTo>
                  <a:cubicBezTo>
                    <a:pt x="4754" y="19044"/>
                    <a:pt x="591" y="15114"/>
                    <a:pt x="295" y="10083"/>
                  </a:cubicBezTo>
                  <a:cubicBezTo>
                    <a:pt x="0" y="5052"/>
                    <a:pt x="3675" y="662"/>
                    <a:pt x="8679" y="67"/>
                  </a:cubicBezTo>
                  <a:lnTo>
                    <a:pt x="9793" y="0"/>
                  </a:lnTo>
                  <a:lnTo>
                    <a:pt x="19318" y="0"/>
                  </a:lnTo>
                  <a:close/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  <p:sp>
          <p:nvSpPr>
            <p:cNvPr id="56" name="Freeform 56"/>
            <p:cNvSpPr/>
            <p:nvPr/>
          </p:nvSpPr>
          <p:spPr>
            <a:xfrm>
              <a:off x="2557487" y="5891224"/>
              <a:ext cx="27574" cy="27730"/>
            </a:xfrm>
            <a:custGeom>
              <a:avLst/>
              <a:gdLst/>
              <a:ahLst/>
              <a:cxnLst/>
              <a:rect l="l" t="t" r="r" b="b"/>
              <a:pathLst>
                <a:path w="27574" h="27730">
                  <a:moveTo>
                    <a:pt x="3718" y="3732"/>
                  </a:moveTo>
                  <a:cubicBezTo>
                    <a:pt x="7112" y="339"/>
                    <a:pt x="12500" y="0"/>
                    <a:pt x="16291" y="2941"/>
                  </a:cubicBezTo>
                  <a:lnTo>
                    <a:pt x="17187" y="3732"/>
                  </a:lnTo>
                  <a:lnTo>
                    <a:pt x="23854" y="10399"/>
                  </a:lnTo>
                  <a:cubicBezTo>
                    <a:pt x="27400" y="13957"/>
                    <a:pt x="27574" y="19656"/>
                    <a:pt x="24252" y="23423"/>
                  </a:cubicBezTo>
                  <a:cubicBezTo>
                    <a:pt x="20930" y="27190"/>
                    <a:pt x="15254" y="27730"/>
                    <a:pt x="11281" y="24658"/>
                  </a:cubicBezTo>
                  <a:lnTo>
                    <a:pt x="10386" y="23868"/>
                  </a:lnTo>
                  <a:lnTo>
                    <a:pt x="3718" y="17200"/>
                  </a:lnTo>
                  <a:cubicBezTo>
                    <a:pt x="0" y="13481"/>
                    <a:pt x="0" y="7451"/>
                    <a:pt x="3718" y="3732"/>
                  </a:cubicBezTo>
                  <a:close/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  <p:sp>
          <p:nvSpPr>
            <p:cNvPr id="57" name="Freeform 57"/>
            <p:cNvSpPr/>
            <p:nvPr/>
          </p:nvSpPr>
          <p:spPr>
            <a:xfrm>
              <a:off x="2672596" y="5891236"/>
              <a:ext cx="27861" cy="27575"/>
            </a:xfrm>
            <a:custGeom>
              <a:avLst/>
              <a:gdLst/>
              <a:ahLst/>
              <a:cxnLst/>
              <a:rect l="l" t="t" r="r" b="b"/>
              <a:pathLst>
                <a:path w="27861" h="27575">
                  <a:moveTo>
                    <a:pt x="10530" y="3719"/>
                  </a:moveTo>
                  <a:cubicBezTo>
                    <a:pt x="14088" y="174"/>
                    <a:pt x="19786" y="0"/>
                    <a:pt x="23554" y="3322"/>
                  </a:cubicBezTo>
                  <a:cubicBezTo>
                    <a:pt x="27321" y="6643"/>
                    <a:pt x="27861" y="12319"/>
                    <a:pt x="24789" y="16292"/>
                  </a:cubicBezTo>
                  <a:lnTo>
                    <a:pt x="23999" y="17188"/>
                  </a:lnTo>
                  <a:lnTo>
                    <a:pt x="17331" y="23855"/>
                  </a:lnTo>
                  <a:cubicBezTo>
                    <a:pt x="13774" y="27400"/>
                    <a:pt x="8075" y="27575"/>
                    <a:pt x="4308" y="24253"/>
                  </a:cubicBezTo>
                  <a:cubicBezTo>
                    <a:pt x="541" y="20931"/>
                    <a:pt x="0" y="15255"/>
                    <a:pt x="3072" y="11282"/>
                  </a:cubicBezTo>
                  <a:lnTo>
                    <a:pt x="3863" y="10387"/>
                  </a:lnTo>
                  <a:lnTo>
                    <a:pt x="10530" y="3719"/>
                  </a:lnTo>
                  <a:close/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  <p:sp>
          <p:nvSpPr>
            <p:cNvPr id="58" name="Freeform 58"/>
            <p:cNvSpPr/>
            <p:nvPr/>
          </p:nvSpPr>
          <p:spPr>
            <a:xfrm>
              <a:off x="2600325" y="6019800"/>
              <a:ext cx="57150" cy="38100"/>
            </a:xfrm>
            <a:custGeom>
              <a:avLst/>
              <a:gdLst/>
              <a:ahLst/>
              <a:cxnLst/>
              <a:rect l="l" t="t" r="r" b="b"/>
              <a:pathLst>
                <a:path w="57150" h="38100">
                  <a:moveTo>
                    <a:pt x="47625" y="0"/>
                  </a:moveTo>
                  <a:cubicBezTo>
                    <a:pt x="52886" y="0"/>
                    <a:pt x="57150" y="4264"/>
                    <a:pt x="57150" y="9525"/>
                  </a:cubicBezTo>
                  <a:cubicBezTo>
                    <a:pt x="57150" y="25307"/>
                    <a:pt x="44357" y="38100"/>
                    <a:pt x="28575" y="38100"/>
                  </a:cubicBezTo>
                  <a:cubicBezTo>
                    <a:pt x="12793" y="38100"/>
                    <a:pt x="0" y="25307"/>
                    <a:pt x="0" y="9525"/>
                  </a:cubicBezTo>
                  <a:cubicBezTo>
                    <a:pt x="1" y="4696"/>
                    <a:pt x="3615" y="632"/>
                    <a:pt x="8411" y="67"/>
                  </a:cubicBezTo>
                  <a:lnTo>
                    <a:pt x="9525" y="0"/>
                  </a:lnTo>
                  <a:lnTo>
                    <a:pt x="47625" y="0"/>
                  </a:lnTo>
                  <a:close/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  <p:sp>
          <p:nvSpPr>
            <p:cNvPr id="59" name="Freeform 59"/>
            <p:cNvSpPr/>
            <p:nvPr/>
          </p:nvSpPr>
          <p:spPr>
            <a:xfrm>
              <a:off x="2566904" y="5905500"/>
              <a:ext cx="123992" cy="104775"/>
            </a:xfrm>
            <a:custGeom>
              <a:avLst/>
              <a:gdLst/>
              <a:ahLst/>
              <a:cxnLst/>
              <a:rect l="l" t="t" r="r" b="b"/>
              <a:pathLst>
                <a:path w="123992" h="104775">
                  <a:moveTo>
                    <a:pt x="61996" y="0"/>
                  </a:moveTo>
                  <a:cubicBezTo>
                    <a:pt x="86595" y="0"/>
                    <a:pt x="108435" y="15741"/>
                    <a:pt x="116213" y="39078"/>
                  </a:cubicBezTo>
                  <a:cubicBezTo>
                    <a:pt x="123992" y="62414"/>
                    <a:pt x="115965" y="88111"/>
                    <a:pt x="96286" y="102870"/>
                  </a:cubicBezTo>
                  <a:cubicBezTo>
                    <a:pt x="94973" y="103856"/>
                    <a:pt x="93428" y="104486"/>
                    <a:pt x="91800" y="104699"/>
                  </a:cubicBezTo>
                  <a:lnTo>
                    <a:pt x="90571" y="104775"/>
                  </a:lnTo>
                  <a:lnTo>
                    <a:pt x="33421" y="104775"/>
                  </a:lnTo>
                  <a:cubicBezTo>
                    <a:pt x="31360" y="104775"/>
                    <a:pt x="29355" y="104107"/>
                    <a:pt x="27706" y="102870"/>
                  </a:cubicBezTo>
                  <a:cubicBezTo>
                    <a:pt x="8027" y="88111"/>
                    <a:pt x="0" y="62414"/>
                    <a:pt x="7779" y="39078"/>
                  </a:cubicBezTo>
                  <a:cubicBezTo>
                    <a:pt x="15558" y="15741"/>
                    <a:pt x="37397" y="0"/>
                    <a:pt x="61996" y="0"/>
                  </a:cubicBezTo>
                  <a:close/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</p:grpSp>
      <p:sp>
        <p:nvSpPr>
          <p:cNvPr id="61" name="TextBox 61"/>
          <p:cNvSpPr txBox="1"/>
          <p:nvPr/>
        </p:nvSpPr>
        <p:spPr>
          <a:xfrm>
            <a:off x="2862262" y="5803106"/>
            <a:ext cx="106370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三招组合用：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3986212" y="5803106"/>
            <a:ext cx="555748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CLAUDE.md 定规范 + prompt 引用已有页面 + CSS 变量 = 零漂移多页面网站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2863215" y="6030278"/>
            <a:ext cx="2257949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Demo A 会现场演示这三招的配合</a:t>
            </a:r>
          </a:p>
        </p:txBody>
      </p:sp>
      <p:sp>
        <p:nvSpPr>
          <p:cNvPr id="64" name="TextBox 64"/>
          <p:cNvSpPr txBox="1"/>
          <p:nvPr/>
        </p:nvSpPr>
        <p:spPr>
          <a:xfrm>
            <a:off x="11131772" y="6554152"/>
            <a:ext cx="50206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12 / 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5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etch(across)">
                                      <p:cBhvr>
                                        <p:cTn id="15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37" grpId="0"/>
      <p:bldP spid="5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762000" y="337185"/>
            <a:ext cx="10668000" cy="777240"/>
            <a:chOff x="762000" y="337185"/>
            <a:chExt cx="10668000" cy="777240"/>
          </a:xfrm>
        </p:grpSpPr>
        <p:sp>
          <p:nvSpPr>
            <p:cNvPr id="4" name="TextBox 4"/>
            <p:cNvSpPr txBox="1"/>
            <p:nvPr/>
          </p:nvSpPr>
          <p:spPr>
            <a:xfrm>
              <a:off x="4115667" y="337185"/>
              <a:ext cx="3960666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7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Demo A — 全流程演示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4433888" y="771525"/>
              <a:ext cx="332422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从想法到上线，六个步骤现场演示</a:t>
              </a:r>
            </a:p>
          </p:txBody>
        </p:sp>
        <p:sp>
          <p:nvSpPr>
            <p:cNvPr id="6" name="Line 6"/>
            <p:cNvSpPr/>
            <p:nvPr/>
          </p:nvSpPr>
          <p:spPr>
            <a:xfrm>
              <a:off x="762000" y="11049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4288">
              <a:solidFill>
                <a:srgbClr val="E0D8D0"/>
              </a:solidFill>
            </a:ln>
          </p:spPr>
        </p:sp>
      </p:grpSp>
      <p:sp>
        <p:nvSpPr>
          <p:cNvPr id="8" name="Line 8"/>
          <p:cNvSpPr/>
          <p:nvPr/>
        </p:nvSpPr>
        <p:spPr>
          <a:xfrm>
            <a:off x="3524250" y="2476500"/>
            <a:ext cx="571500" cy="9525"/>
          </a:xfrm>
          <a:custGeom>
            <a:avLst/>
            <a:gdLst/>
            <a:ahLst/>
            <a:cxnLst/>
            <a:rect l="l" t="t" r="r" b="b"/>
            <a:pathLst>
              <a:path w="571500" h="9525">
                <a:moveTo>
                  <a:pt x="0" y="0"/>
                </a:moveTo>
                <a:lnTo>
                  <a:pt x="571500" y="0"/>
                </a:lnTo>
              </a:path>
            </a:pathLst>
          </a:custGeom>
          <a:noFill/>
          <a:ln w="23812">
            <a:solidFill>
              <a:srgbClr val="E0D8D0"/>
            </a:solidFill>
          </a:ln>
        </p:spPr>
      </p:sp>
      <p:sp>
        <p:nvSpPr>
          <p:cNvPr id="9" name="Polygon 9"/>
          <p:cNvSpPr/>
          <p:nvPr/>
        </p:nvSpPr>
        <p:spPr>
          <a:xfrm>
            <a:off x="4114800" y="2419350"/>
            <a:ext cx="133350" cy="114300"/>
          </a:xfrm>
          <a:custGeom>
            <a:avLst/>
            <a:gdLst/>
            <a:ahLst/>
            <a:cxnLst/>
            <a:rect l="l" t="t" r="r" b="b"/>
            <a:pathLst>
              <a:path w="133350" h="114300">
                <a:moveTo>
                  <a:pt x="0" y="0"/>
                </a:moveTo>
                <a:lnTo>
                  <a:pt x="133350" y="57150"/>
                </a:lnTo>
                <a:lnTo>
                  <a:pt x="0" y="114300"/>
                </a:lnTo>
                <a:close/>
              </a:path>
            </a:pathLst>
          </a:custGeom>
          <a:solidFill>
            <a:srgbClr val="C96133">
              <a:alpha val="50000"/>
            </a:srgbClr>
          </a:solidFill>
          <a:ln>
            <a:noFill/>
          </a:ln>
        </p:spPr>
      </p:sp>
      <p:sp>
        <p:nvSpPr>
          <p:cNvPr id="10" name="Line 10"/>
          <p:cNvSpPr/>
          <p:nvPr/>
        </p:nvSpPr>
        <p:spPr>
          <a:xfrm>
            <a:off x="7143750" y="2476500"/>
            <a:ext cx="571500" cy="9525"/>
          </a:xfrm>
          <a:custGeom>
            <a:avLst/>
            <a:gdLst/>
            <a:ahLst/>
            <a:cxnLst/>
            <a:rect l="l" t="t" r="r" b="b"/>
            <a:pathLst>
              <a:path w="571500" h="9525">
                <a:moveTo>
                  <a:pt x="0" y="0"/>
                </a:moveTo>
                <a:lnTo>
                  <a:pt x="571500" y="0"/>
                </a:lnTo>
              </a:path>
            </a:pathLst>
          </a:custGeom>
          <a:noFill/>
          <a:ln w="23812">
            <a:solidFill>
              <a:srgbClr val="E0D8D0"/>
            </a:solidFill>
          </a:ln>
        </p:spPr>
      </p:sp>
      <p:sp>
        <p:nvSpPr>
          <p:cNvPr id="11" name="Polygon 11"/>
          <p:cNvSpPr/>
          <p:nvPr/>
        </p:nvSpPr>
        <p:spPr>
          <a:xfrm>
            <a:off x="7734300" y="2419350"/>
            <a:ext cx="133350" cy="114300"/>
          </a:xfrm>
          <a:custGeom>
            <a:avLst/>
            <a:gdLst/>
            <a:ahLst/>
            <a:cxnLst/>
            <a:rect l="l" t="t" r="r" b="b"/>
            <a:pathLst>
              <a:path w="133350" h="114300">
                <a:moveTo>
                  <a:pt x="0" y="0"/>
                </a:moveTo>
                <a:lnTo>
                  <a:pt x="133350" y="57150"/>
                </a:lnTo>
                <a:lnTo>
                  <a:pt x="0" y="114300"/>
                </a:lnTo>
                <a:close/>
              </a:path>
            </a:pathLst>
          </a:custGeom>
          <a:solidFill>
            <a:srgbClr val="C96133">
              <a:alpha val="50000"/>
            </a:srgbClr>
          </a:solidFill>
          <a:ln>
            <a:noFill/>
          </a:ln>
        </p:spPr>
      </p:sp>
      <p:sp>
        <p:nvSpPr>
          <p:cNvPr id="12" name="Freeform 12"/>
          <p:cNvSpPr/>
          <p:nvPr/>
        </p:nvSpPr>
        <p:spPr>
          <a:xfrm>
            <a:off x="1809750" y="2857500"/>
            <a:ext cx="8572500" cy="533400"/>
          </a:xfrm>
          <a:custGeom>
            <a:avLst/>
            <a:gdLst/>
            <a:ahLst/>
            <a:cxnLst/>
            <a:rect l="l" t="t" r="r" b="b"/>
            <a:pathLst>
              <a:path w="8572500" h="533400">
                <a:moveTo>
                  <a:pt x="8572500" y="0"/>
                </a:moveTo>
                <a:lnTo>
                  <a:pt x="8572500" y="533400"/>
                </a:lnTo>
                <a:lnTo>
                  <a:pt x="0" y="533400"/>
                </a:lnTo>
                <a:lnTo>
                  <a:pt x="0" y="19050"/>
                </a:lnTo>
              </a:path>
            </a:pathLst>
          </a:custGeom>
          <a:noFill/>
          <a:ln w="23812">
            <a:solidFill>
              <a:srgbClr val="E0D8D0"/>
            </a:solidFill>
            <a:custDash>
              <a:ds d="240000" sp="160000"/>
            </a:custDash>
          </a:ln>
        </p:spPr>
      </p:sp>
      <p:sp>
        <p:nvSpPr>
          <p:cNvPr id="13" name="Polygon 13"/>
          <p:cNvSpPr/>
          <p:nvPr/>
        </p:nvSpPr>
        <p:spPr>
          <a:xfrm>
            <a:off x="1752600" y="2743200"/>
            <a:ext cx="114300" cy="133350"/>
          </a:xfrm>
          <a:custGeom>
            <a:avLst/>
            <a:gdLst/>
            <a:ahLst/>
            <a:cxnLst/>
            <a:rect l="l" t="t" r="r" b="b"/>
            <a:pathLst>
              <a:path w="114300" h="133350">
                <a:moveTo>
                  <a:pt x="0" y="133350"/>
                </a:moveTo>
                <a:lnTo>
                  <a:pt x="57150" y="0"/>
                </a:lnTo>
                <a:lnTo>
                  <a:pt x="114300" y="133350"/>
                </a:lnTo>
                <a:close/>
              </a:path>
            </a:pathLst>
          </a:custGeom>
          <a:solidFill>
            <a:srgbClr val="3D7DE4">
              <a:alpha val="50000"/>
            </a:srgbClr>
          </a:solidFill>
          <a:ln>
            <a:noFill/>
          </a:ln>
        </p:spPr>
      </p:sp>
      <p:sp>
        <p:nvSpPr>
          <p:cNvPr id="14" name="Line 14"/>
          <p:cNvSpPr/>
          <p:nvPr/>
        </p:nvSpPr>
        <p:spPr>
          <a:xfrm>
            <a:off x="3524250" y="4476750"/>
            <a:ext cx="571500" cy="9525"/>
          </a:xfrm>
          <a:custGeom>
            <a:avLst/>
            <a:gdLst/>
            <a:ahLst/>
            <a:cxnLst/>
            <a:rect l="l" t="t" r="r" b="b"/>
            <a:pathLst>
              <a:path w="571500" h="9525">
                <a:moveTo>
                  <a:pt x="0" y="0"/>
                </a:moveTo>
                <a:lnTo>
                  <a:pt x="571500" y="0"/>
                </a:lnTo>
              </a:path>
            </a:pathLst>
          </a:custGeom>
          <a:noFill/>
          <a:ln w="23812">
            <a:solidFill>
              <a:srgbClr val="E0D8D0"/>
            </a:solidFill>
          </a:ln>
        </p:spPr>
      </p:sp>
      <p:sp>
        <p:nvSpPr>
          <p:cNvPr id="15" name="Polygon 15"/>
          <p:cNvSpPr/>
          <p:nvPr/>
        </p:nvSpPr>
        <p:spPr>
          <a:xfrm>
            <a:off x="4114800" y="4419600"/>
            <a:ext cx="133350" cy="114300"/>
          </a:xfrm>
          <a:custGeom>
            <a:avLst/>
            <a:gdLst/>
            <a:ahLst/>
            <a:cxnLst/>
            <a:rect l="l" t="t" r="r" b="b"/>
            <a:pathLst>
              <a:path w="133350" h="114300">
                <a:moveTo>
                  <a:pt x="0" y="0"/>
                </a:moveTo>
                <a:lnTo>
                  <a:pt x="133350" y="57150"/>
                </a:lnTo>
                <a:lnTo>
                  <a:pt x="0" y="114300"/>
                </a:lnTo>
                <a:close/>
              </a:path>
            </a:pathLst>
          </a:custGeom>
          <a:solidFill>
            <a:srgbClr val="3D7DE4">
              <a:alpha val="50000"/>
            </a:srgbClr>
          </a:solidFill>
          <a:ln>
            <a:noFill/>
          </a:ln>
        </p:spPr>
      </p:sp>
      <p:sp>
        <p:nvSpPr>
          <p:cNvPr id="16" name="Line 16"/>
          <p:cNvSpPr/>
          <p:nvPr/>
        </p:nvSpPr>
        <p:spPr>
          <a:xfrm>
            <a:off x="7143750" y="4476750"/>
            <a:ext cx="571500" cy="9525"/>
          </a:xfrm>
          <a:custGeom>
            <a:avLst/>
            <a:gdLst/>
            <a:ahLst/>
            <a:cxnLst/>
            <a:rect l="l" t="t" r="r" b="b"/>
            <a:pathLst>
              <a:path w="571500" h="9525">
                <a:moveTo>
                  <a:pt x="0" y="0"/>
                </a:moveTo>
                <a:lnTo>
                  <a:pt x="571500" y="0"/>
                </a:lnTo>
              </a:path>
            </a:pathLst>
          </a:custGeom>
          <a:noFill/>
          <a:ln w="23812">
            <a:solidFill>
              <a:srgbClr val="E0D8D0"/>
            </a:solidFill>
          </a:ln>
        </p:spPr>
      </p:sp>
      <p:sp>
        <p:nvSpPr>
          <p:cNvPr id="17" name="Polygon 17"/>
          <p:cNvSpPr/>
          <p:nvPr/>
        </p:nvSpPr>
        <p:spPr>
          <a:xfrm>
            <a:off x="7734300" y="4419600"/>
            <a:ext cx="133350" cy="114300"/>
          </a:xfrm>
          <a:custGeom>
            <a:avLst/>
            <a:gdLst/>
            <a:ahLst/>
            <a:cxnLst/>
            <a:rect l="l" t="t" r="r" b="b"/>
            <a:pathLst>
              <a:path w="133350" h="114300">
                <a:moveTo>
                  <a:pt x="0" y="0"/>
                </a:moveTo>
                <a:lnTo>
                  <a:pt x="133350" y="57150"/>
                </a:lnTo>
                <a:lnTo>
                  <a:pt x="0" y="114300"/>
                </a:lnTo>
                <a:close/>
              </a:path>
            </a:pathLst>
          </a:custGeom>
          <a:solidFill>
            <a:srgbClr val="3A9E6A">
              <a:alpha val="50000"/>
            </a:srgbClr>
          </a:solidFill>
          <a:ln>
            <a:noFill/>
          </a:ln>
        </p:spPr>
      </p:sp>
      <p:grpSp>
        <p:nvGrpSpPr>
          <p:cNvPr id="36" name="Group 36"/>
          <p:cNvGrpSpPr/>
          <p:nvPr/>
        </p:nvGrpSpPr>
        <p:grpSpPr>
          <a:xfrm>
            <a:off x="762000" y="1943100"/>
            <a:ext cx="2762250" cy="1066800"/>
            <a:chOff x="762000" y="1943100"/>
            <a:chExt cx="2762250" cy="1066800"/>
          </a:xfrm>
        </p:grpSpPr>
        <p:sp>
          <p:nvSpPr>
            <p:cNvPr id="18" name="Rectangle 18"/>
            <p:cNvSpPr/>
            <p:nvPr/>
          </p:nvSpPr>
          <p:spPr>
            <a:xfrm>
              <a:off x="762000" y="1943100"/>
              <a:ext cx="2762250" cy="1066800"/>
            </a:xfrm>
            <a:prstGeom prst="roundRect">
              <a:avLst>
                <a:gd name="adj" fmla="val 10714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62000" y="1943100"/>
              <a:ext cx="47625" cy="1066800"/>
            </a:xfrm>
            <a:prstGeom prst="roundRect">
              <a:avLst>
                <a:gd name="adj" fmla="val 40000"/>
              </a:avLst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20" name="Ellipse 20"/>
            <p:cNvSpPr/>
            <p:nvPr/>
          </p:nvSpPr>
          <p:spPr>
            <a:xfrm>
              <a:off x="876300" y="2000250"/>
              <a:ext cx="304800" cy="304800"/>
            </a:xfrm>
            <a:prstGeom prst="ellipse">
              <a:avLst/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52772" y="2104549"/>
              <a:ext cx="15185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grpSp>
          <p:nvGrpSpPr>
            <p:cNvPr id="29" name="Group 29"/>
            <p:cNvGrpSpPr/>
            <p:nvPr/>
          </p:nvGrpSpPr>
          <p:grpSpPr>
            <a:xfrm>
              <a:off x="2539642" y="2025650"/>
              <a:ext cx="254716" cy="254000"/>
              <a:chOff x="2539642" y="2025650"/>
              <a:chExt cx="254716" cy="254000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2539642" y="2139950"/>
                <a:ext cx="38816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38816" h="25400">
                    <a:moveTo>
                      <a:pt x="25758" y="0"/>
                    </a:moveTo>
                    <a:cubicBezTo>
                      <a:pt x="32477" y="7"/>
                      <a:pt x="38028" y="5248"/>
                      <a:pt x="38422" y="11956"/>
                    </a:cubicBezTo>
                    <a:cubicBezTo>
                      <a:pt x="38816" y="18664"/>
                      <a:pt x="33916" y="24517"/>
                      <a:pt x="27244" y="25311"/>
                    </a:cubicBezTo>
                    <a:lnTo>
                      <a:pt x="25758" y="25400"/>
                    </a:lnTo>
                    <a:lnTo>
                      <a:pt x="13058" y="25400"/>
                    </a:lnTo>
                    <a:cubicBezTo>
                      <a:pt x="6338" y="25393"/>
                      <a:pt x="788" y="20152"/>
                      <a:pt x="394" y="13444"/>
                    </a:cubicBezTo>
                    <a:cubicBezTo>
                      <a:pt x="0" y="6736"/>
                      <a:pt x="4900" y="883"/>
                      <a:pt x="11572" y="89"/>
                    </a:cubicBezTo>
                    <a:lnTo>
                      <a:pt x="13058" y="0"/>
                    </a:lnTo>
                    <a:lnTo>
                      <a:pt x="25758" y="0"/>
                    </a:ln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2654300" y="2025650"/>
                <a:ext cx="25400" cy="38458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38458">
                    <a:moveTo>
                      <a:pt x="12700" y="0"/>
                    </a:moveTo>
                    <a:cubicBezTo>
                      <a:pt x="19139" y="1"/>
                      <a:pt x="24558" y="4820"/>
                      <a:pt x="25311" y="11214"/>
                    </a:cubicBezTo>
                    <a:lnTo>
                      <a:pt x="25400" y="12700"/>
                    </a:lnTo>
                    <a:lnTo>
                      <a:pt x="25400" y="25400"/>
                    </a:lnTo>
                    <a:cubicBezTo>
                      <a:pt x="25393" y="32119"/>
                      <a:pt x="20152" y="37670"/>
                      <a:pt x="13444" y="38064"/>
                    </a:cubicBezTo>
                    <a:cubicBezTo>
                      <a:pt x="6736" y="38458"/>
                      <a:pt x="883" y="33558"/>
                      <a:pt x="89" y="26886"/>
                    </a:cubicBezTo>
                    <a:lnTo>
                      <a:pt x="0" y="25400"/>
                    </a:lnTo>
                    <a:lnTo>
                      <a:pt x="0" y="12700"/>
                    </a:lnTo>
                    <a:cubicBezTo>
                      <a:pt x="0" y="5686"/>
                      <a:pt x="5686" y="0"/>
                      <a:pt x="12700" y="0"/>
                    </a:cubicBez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2755542" y="2139950"/>
                <a:ext cx="38816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38816" h="25400">
                    <a:moveTo>
                      <a:pt x="25758" y="0"/>
                    </a:moveTo>
                    <a:cubicBezTo>
                      <a:pt x="32477" y="7"/>
                      <a:pt x="38028" y="5248"/>
                      <a:pt x="38422" y="11956"/>
                    </a:cubicBezTo>
                    <a:cubicBezTo>
                      <a:pt x="38816" y="18664"/>
                      <a:pt x="33916" y="24517"/>
                      <a:pt x="27244" y="25311"/>
                    </a:cubicBezTo>
                    <a:lnTo>
                      <a:pt x="25758" y="25400"/>
                    </a:lnTo>
                    <a:lnTo>
                      <a:pt x="13058" y="25400"/>
                    </a:lnTo>
                    <a:cubicBezTo>
                      <a:pt x="6338" y="25393"/>
                      <a:pt x="788" y="20152"/>
                      <a:pt x="394" y="13444"/>
                    </a:cubicBezTo>
                    <a:cubicBezTo>
                      <a:pt x="0" y="6736"/>
                      <a:pt x="4900" y="883"/>
                      <a:pt x="11572" y="89"/>
                    </a:cubicBezTo>
                    <a:lnTo>
                      <a:pt x="13058" y="0"/>
                    </a:lnTo>
                    <a:lnTo>
                      <a:pt x="25758" y="0"/>
                    </a:ln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2571783" y="2057415"/>
                <a:ext cx="36765" cy="36974"/>
              </a:xfrm>
              <a:custGeom>
                <a:avLst/>
                <a:gdLst/>
                <a:ahLst/>
                <a:cxnLst/>
                <a:rect l="l" t="t" r="r" b="b"/>
                <a:pathLst>
                  <a:path w="36765" h="36974">
                    <a:moveTo>
                      <a:pt x="4958" y="4976"/>
                    </a:moveTo>
                    <a:cubicBezTo>
                      <a:pt x="9482" y="452"/>
                      <a:pt x="16666" y="0"/>
                      <a:pt x="21722" y="3922"/>
                    </a:cubicBezTo>
                    <a:lnTo>
                      <a:pt x="22916" y="4976"/>
                    </a:lnTo>
                    <a:lnTo>
                      <a:pt x="31806" y="13866"/>
                    </a:lnTo>
                    <a:cubicBezTo>
                      <a:pt x="36533" y="18609"/>
                      <a:pt x="36765" y="26208"/>
                      <a:pt x="32336" y="31230"/>
                    </a:cubicBezTo>
                    <a:cubicBezTo>
                      <a:pt x="27907" y="36253"/>
                      <a:pt x="20339" y="36974"/>
                      <a:pt x="15042" y="32878"/>
                    </a:cubicBezTo>
                    <a:lnTo>
                      <a:pt x="13848" y="31824"/>
                    </a:lnTo>
                    <a:lnTo>
                      <a:pt x="4958" y="22934"/>
                    </a:lnTo>
                    <a:cubicBezTo>
                      <a:pt x="0" y="17974"/>
                      <a:pt x="0" y="9935"/>
                      <a:pt x="4958" y="4976"/>
                    </a:cubicBez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2725261" y="2057432"/>
                <a:ext cx="37148" cy="36766"/>
              </a:xfrm>
              <a:custGeom>
                <a:avLst/>
                <a:gdLst/>
                <a:ahLst/>
                <a:cxnLst/>
                <a:rect l="l" t="t" r="r" b="b"/>
                <a:pathLst>
                  <a:path w="37148" h="36766">
                    <a:moveTo>
                      <a:pt x="14040" y="4959"/>
                    </a:moveTo>
                    <a:cubicBezTo>
                      <a:pt x="18783" y="232"/>
                      <a:pt x="26382" y="0"/>
                      <a:pt x="31405" y="4429"/>
                    </a:cubicBezTo>
                    <a:cubicBezTo>
                      <a:pt x="36427" y="8858"/>
                      <a:pt x="37148" y="16426"/>
                      <a:pt x="33052" y="21723"/>
                    </a:cubicBezTo>
                    <a:lnTo>
                      <a:pt x="31998" y="22917"/>
                    </a:lnTo>
                    <a:lnTo>
                      <a:pt x="23108" y="31807"/>
                    </a:lnTo>
                    <a:cubicBezTo>
                      <a:pt x="18365" y="36534"/>
                      <a:pt x="10766" y="36766"/>
                      <a:pt x="5744" y="32337"/>
                    </a:cubicBezTo>
                    <a:cubicBezTo>
                      <a:pt x="721" y="27908"/>
                      <a:pt x="0" y="20340"/>
                      <a:pt x="4096" y="15043"/>
                    </a:cubicBezTo>
                    <a:lnTo>
                      <a:pt x="5150" y="13849"/>
                    </a:lnTo>
                    <a:lnTo>
                      <a:pt x="14040" y="4959"/>
                    </a:ln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2628900" y="2228850"/>
                <a:ext cx="76200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50800">
                    <a:moveTo>
                      <a:pt x="63500" y="0"/>
                    </a:moveTo>
                    <a:cubicBezTo>
                      <a:pt x="70514" y="0"/>
                      <a:pt x="76200" y="5686"/>
                      <a:pt x="76200" y="12700"/>
                    </a:cubicBezTo>
                    <a:cubicBezTo>
                      <a:pt x="76200" y="33742"/>
                      <a:pt x="59142" y="50800"/>
                      <a:pt x="38100" y="50800"/>
                    </a:cubicBezTo>
                    <a:cubicBezTo>
                      <a:pt x="17058" y="50800"/>
                      <a:pt x="0" y="33742"/>
                      <a:pt x="0" y="12700"/>
                    </a:cubicBezTo>
                    <a:cubicBezTo>
                      <a:pt x="1" y="6261"/>
                      <a:pt x="4820" y="842"/>
                      <a:pt x="11214" y="89"/>
                    </a:cubicBezTo>
                    <a:lnTo>
                      <a:pt x="12700" y="0"/>
                    </a:lnTo>
                    <a:lnTo>
                      <a:pt x="63500" y="0"/>
                    </a:ln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2584338" y="2076450"/>
                <a:ext cx="165323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65323" h="139700">
                    <a:moveTo>
                      <a:pt x="82662" y="0"/>
                    </a:moveTo>
                    <a:cubicBezTo>
                      <a:pt x="115460" y="0"/>
                      <a:pt x="144579" y="20988"/>
                      <a:pt x="154951" y="52103"/>
                    </a:cubicBezTo>
                    <a:cubicBezTo>
                      <a:pt x="165323" y="83219"/>
                      <a:pt x="154621" y="117481"/>
                      <a:pt x="128382" y="137160"/>
                    </a:cubicBezTo>
                    <a:cubicBezTo>
                      <a:pt x="126631" y="138475"/>
                      <a:pt x="124571" y="139315"/>
                      <a:pt x="122400" y="139598"/>
                    </a:cubicBezTo>
                    <a:lnTo>
                      <a:pt x="120762" y="139700"/>
                    </a:lnTo>
                    <a:lnTo>
                      <a:pt x="44562" y="139700"/>
                    </a:lnTo>
                    <a:cubicBezTo>
                      <a:pt x="41814" y="139700"/>
                      <a:pt x="39140" y="138809"/>
                      <a:pt x="36942" y="137160"/>
                    </a:cubicBezTo>
                    <a:cubicBezTo>
                      <a:pt x="10703" y="117481"/>
                      <a:pt x="0" y="83219"/>
                      <a:pt x="10372" y="52103"/>
                    </a:cubicBezTo>
                    <a:cubicBezTo>
                      <a:pt x="20744" y="20988"/>
                      <a:pt x="49863" y="0"/>
                      <a:pt x="82662" y="0"/>
                    </a:cubicBez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</p:grpSp>
        <p:sp>
          <p:nvSpPr>
            <p:cNvPr id="30" name="TextBox 30"/>
            <p:cNvSpPr txBox="1"/>
            <p:nvPr/>
          </p:nvSpPr>
          <p:spPr>
            <a:xfrm>
              <a:off x="1259205" y="2083118"/>
              <a:ext cx="86239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需求分析</a:t>
              </a:r>
            </a:p>
          </p:txBody>
        </p:sp>
        <p:sp>
          <p:nvSpPr>
            <p:cNvPr id="31" name="Line 31"/>
            <p:cNvSpPr/>
            <p:nvPr/>
          </p:nvSpPr>
          <p:spPr>
            <a:xfrm>
              <a:off x="952500" y="2381250"/>
              <a:ext cx="2476500" cy="9525"/>
            </a:xfrm>
            <a:custGeom>
              <a:avLst/>
              <a:gdLst/>
              <a:ahLst/>
              <a:cxnLst/>
              <a:rect l="l" t="t" r="r" b="b"/>
              <a:pathLst>
                <a:path w="2476500" h="9525">
                  <a:moveTo>
                    <a:pt x="0" y="0"/>
                  </a:moveTo>
                  <a:lnTo>
                    <a:pt x="2476500" y="0"/>
                  </a:lnTo>
                </a:path>
              </a:pathLst>
            </a:custGeom>
            <a:noFill/>
            <a:ln w="9525">
              <a:solidFill>
                <a:srgbClr val="F0EDE8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38212" y="2469356"/>
              <a:ext cx="1531977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目标受众 &amp; 网站目的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38212" y="2678906"/>
              <a:ext cx="13676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确定 5 层信息结构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2362200" y="2724150"/>
              <a:ext cx="914400" cy="209550"/>
            </a:xfrm>
            <a:prstGeom prst="roundRect">
              <a:avLst>
                <a:gd name="adj" fmla="val 50000"/>
              </a:avLst>
            </a:prstGeom>
            <a:solidFill>
              <a:srgbClr val="F0EDE8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2611295" y="2769870"/>
              <a:ext cx="41620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5 分钟</a:t>
              </a: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4381500" y="1943100"/>
            <a:ext cx="2762250" cy="1066800"/>
            <a:chOff x="4381500" y="1943100"/>
            <a:chExt cx="2762250" cy="1066800"/>
          </a:xfrm>
        </p:grpSpPr>
        <p:sp>
          <p:nvSpPr>
            <p:cNvPr id="37" name="Rectangle 37"/>
            <p:cNvSpPr/>
            <p:nvPr/>
          </p:nvSpPr>
          <p:spPr>
            <a:xfrm>
              <a:off x="4381500" y="1943100"/>
              <a:ext cx="2762250" cy="1066800"/>
            </a:xfrm>
            <a:prstGeom prst="roundRect">
              <a:avLst>
                <a:gd name="adj" fmla="val 10714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4381500" y="1943100"/>
              <a:ext cx="47625" cy="1066800"/>
            </a:xfrm>
            <a:prstGeom prst="roundRect">
              <a:avLst>
                <a:gd name="adj" fmla="val 40000"/>
              </a:avLst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39" name="Ellipse 39"/>
            <p:cNvSpPr/>
            <p:nvPr/>
          </p:nvSpPr>
          <p:spPr>
            <a:xfrm>
              <a:off x="4495800" y="2000250"/>
              <a:ext cx="304800" cy="304800"/>
            </a:xfrm>
            <a:prstGeom prst="ellipse">
              <a:avLst/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4553582" y="2104549"/>
              <a:ext cx="18923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41" name="Freeform 41"/>
            <p:cNvSpPr/>
            <p:nvPr/>
          </p:nvSpPr>
          <p:spPr>
            <a:xfrm>
              <a:off x="6159500" y="2025650"/>
              <a:ext cx="254000" cy="254260"/>
            </a:xfrm>
            <a:custGeom>
              <a:avLst/>
              <a:gdLst/>
              <a:ahLst/>
              <a:cxnLst/>
              <a:rect l="l" t="t" r="r" b="b"/>
              <a:pathLst>
                <a:path w="254000" h="254260">
                  <a:moveTo>
                    <a:pt x="127000" y="0"/>
                  </a:moveTo>
                  <a:cubicBezTo>
                    <a:pt x="196825" y="0"/>
                    <a:pt x="254000" y="50825"/>
                    <a:pt x="254000" y="114300"/>
                  </a:cubicBezTo>
                  <a:cubicBezTo>
                    <a:pt x="254000" y="131458"/>
                    <a:pt x="246380" y="147828"/>
                    <a:pt x="232994" y="159715"/>
                  </a:cubicBezTo>
                  <a:cubicBezTo>
                    <a:pt x="219913" y="171323"/>
                    <a:pt x="202362" y="177800"/>
                    <a:pt x="184150" y="177800"/>
                  </a:cubicBezTo>
                  <a:lnTo>
                    <a:pt x="152197" y="177800"/>
                  </a:lnTo>
                  <a:cubicBezTo>
                    <a:pt x="146368" y="177706"/>
                    <a:pt x="141223" y="181593"/>
                    <a:pt x="139721" y="187226"/>
                  </a:cubicBezTo>
                  <a:cubicBezTo>
                    <a:pt x="138219" y="192859"/>
                    <a:pt x="140745" y="198791"/>
                    <a:pt x="145847" y="201613"/>
                  </a:cubicBezTo>
                  <a:cubicBezTo>
                    <a:pt x="146736" y="202104"/>
                    <a:pt x="147563" y="202701"/>
                    <a:pt x="148311" y="203391"/>
                  </a:cubicBezTo>
                  <a:cubicBezTo>
                    <a:pt x="157214" y="211606"/>
                    <a:pt x="160122" y="224464"/>
                    <a:pt x="155620" y="235712"/>
                  </a:cubicBezTo>
                  <a:cubicBezTo>
                    <a:pt x="151118" y="246959"/>
                    <a:pt x="140142" y="254260"/>
                    <a:pt x="128029" y="254064"/>
                  </a:cubicBezTo>
                  <a:lnTo>
                    <a:pt x="126048" y="253949"/>
                  </a:lnTo>
                  <a:lnTo>
                    <a:pt x="126911" y="254000"/>
                  </a:lnTo>
                  <a:lnTo>
                    <a:pt x="123444" y="253949"/>
                  </a:lnTo>
                  <a:cubicBezTo>
                    <a:pt x="56134" y="252095"/>
                    <a:pt x="1905" y="197866"/>
                    <a:pt x="51" y="130556"/>
                  </a:cubicBezTo>
                  <a:lnTo>
                    <a:pt x="0" y="127000"/>
                  </a:lnTo>
                  <a:cubicBezTo>
                    <a:pt x="0" y="56858"/>
                    <a:pt x="56858" y="0"/>
                    <a:pt x="127000" y="0"/>
                  </a:cubicBezTo>
                  <a:moveTo>
                    <a:pt x="82550" y="82550"/>
                  </a:moveTo>
                  <a:cubicBezTo>
                    <a:pt x="69258" y="82546"/>
                    <a:pt x="58210" y="92790"/>
                    <a:pt x="57213" y="106045"/>
                  </a:cubicBezTo>
                  <a:lnTo>
                    <a:pt x="57150" y="107950"/>
                  </a:lnTo>
                  <a:cubicBezTo>
                    <a:pt x="57150" y="121978"/>
                    <a:pt x="68522" y="133350"/>
                    <a:pt x="82550" y="133350"/>
                  </a:cubicBezTo>
                  <a:cubicBezTo>
                    <a:pt x="96578" y="133350"/>
                    <a:pt x="107950" y="121978"/>
                    <a:pt x="107950" y="107950"/>
                  </a:cubicBezTo>
                  <a:cubicBezTo>
                    <a:pt x="107950" y="93922"/>
                    <a:pt x="96578" y="82550"/>
                    <a:pt x="82550" y="82550"/>
                  </a:cubicBezTo>
                  <a:moveTo>
                    <a:pt x="184150" y="82550"/>
                  </a:moveTo>
                  <a:cubicBezTo>
                    <a:pt x="170858" y="82546"/>
                    <a:pt x="159810" y="92790"/>
                    <a:pt x="158814" y="106045"/>
                  </a:cubicBezTo>
                  <a:lnTo>
                    <a:pt x="158750" y="107950"/>
                  </a:lnTo>
                  <a:cubicBezTo>
                    <a:pt x="158750" y="121978"/>
                    <a:pt x="170122" y="133350"/>
                    <a:pt x="184150" y="133350"/>
                  </a:cubicBezTo>
                  <a:cubicBezTo>
                    <a:pt x="198178" y="133350"/>
                    <a:pt x="209550" y="121978"/>
                    <a:pt x="209550" y="107950"/>
                  </a:cubicBezTo>
                  <a:cubicBezTo>
                    <a:pt x="209550" y="93922"/>
                    <a:pt x="198178" y="82550"/>
                    <a:pt x="184150" y="82550"/>
                  </a:cubicBezTo>
                  <a:moveTo>
                    <a:pt x="133350" y="44450"/>
                  </a:moveTo>
                  <a:cubicBezTo>
                    <a:pt x="120058" y="44446"/>
                    <a:pt x="109010" y="54690"/>
                    <a:pt x="108014" y="67945"/>
                  </a:cubicBezTo>
                  <a:lnTo>
                    <a:pt x="107950" y="69850"/>
                  </a:lnTo>
                  <a:cubicBezTo>
                    <a:pt x="107950" y="83878"/>
                    <a:pt x="119322" y="95250"/>
                    <a:pt x="133350" y="95250"/>
                  </a:cubicBezTo>
                  <a:cubicBezTo>
                    <a:pt x="147378" y="95250"/>
                    <a:pt x="158750" y="83878"/>
                    <a:pt x="158750" y="69850"/>
                  </a:cubicBezTo>
                  <a:cubicBezTo>
                    <a:pt x="158750" y="55822"/>
                    <a:pt x="147378" y="44450"/>
                    <a:pt x="133350" y="44450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4878705" y="2083118"/>
              <a:ext cx="124539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Design Brief</a:t>
              </a:r>
            </a:p>
          </p:txBody>
        </p:sp>
        <p:sp>
          <p:nvSpPr>
            <p:cNvPr id="43" name="Line 43"/>
            <p:cNvSpPr/>
            <p:nvPr/>
          </p:nvSpPr>
          <p:spPr>
            <a:xfrm>
              <a:off x="4572000" y="2381250"/>
              <a:ext cx="2476500" cy="9525"/>
            </a:xfrm>
            <a:custGeom>
              <a:avLst/>
              <a:gdLst/>
              <a:ahLst/>
              <a:cxnLst/>
              <a:rect l="l" t="t" r="r" b="b"/>
              <a:pathLst>
                <a:path w="2476500" h="9525">
                  <a:moveTo>
                    <a:pt x="0" y="0"/>
                  </a:moveTo>
                  <a:lnTo>
                    <a:pt x="2476500" y="0"/>
                  </a:lnTo>
                </a:path>
              </a:pathLst>
            </a:custGeom>
            <a:noFill/>
            <a:ln w="9525">
              <a:solidFill>
                <a:srgbClr val="F0EDE8"/>
              </a:solidFill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4557712" y="2469356"/>
              <a:ext cx="133481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4 要素写 Brief 给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4557712" y="2678906"/>
              <a:ext cx="108013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Claude Design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5981700" y="2724150"/>
              <a:ext cx="914400" cy="209550"/>
            </a:xfrm>
            <a:prstGeom prst="roundRect">
              <a:avLst>
                <a:gd name="adj" fmla="val 50000"/>
              </a:avLst>
            </a:prstGeom>
            <a:solidFill>
              <a:srgbClr val="F0EDE8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230795" y="2769870"/>
              <a:ext cx="41620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5 分钟</a:t>
              </a:r>
            </a:p>
          </p:txBody>
        </p:sp>
      </p:grpSp>
      <p:grpSp>
        <p:nvGrpSpPr>
          <p:cNvPr id="69" name="Group 69"/>
          <p:cNvGrpSpPr/>
          <p:nvPr/>
        </p:nvGrpSpPr>
        <p:grpSpPr>
          <a:xfrm>
            <a:off x="8001000" y="1943100"/>
            <a:ext cx="2762250" cy="1066800"/>
            <a:chOff x="8001000" y="1943100"/>
            <a:chExt cx="2762250" cy="1066800"/>
          </a:xfrm>
        </p:grpSpPr>
        <p:sp>
          <p:nvSpPr>
            <p:cNvPr id="49" name="Rectangle 49"/>
            <p:cNvSpPr/>
            <p:nvPr/>
          </p:nvSpPr>
          <p:spPr>
            <a:xfrm>
              <a:off x="8001000" y="1943100"/>
              <a:ext cx="2762250" cy="1066800"/>
            </a:xfrm>
            <a:prstGeom prst="roundRect">
              <a:avLst>
                <a:gd name="adj" fmla="val 10714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8001000" y="1943100"/>
              <a:ext cx="47625" cy="1066800"/>
            </a:xfrm>
            <a:prstGeom prst="roundRect">
              <a:avLst>
                <a:gd name="adj" fmla="val 40000"/>
              </a:avLst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51" name="Ellipse 51"/>
            <p:cNvSpPr/>
            <p:nvPr/>
          </p:nvSpPr>
          <p:spPr>
            <a:xfrm>
              <a:off x="8115300" y="2000250"/>
              <a:ext cx="304800" cy="304800"/>
            </a:xfrm>
            <a:prstGeom prst="ellipse">
              <a:avLst/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8173082" y="2104549"/>
              <a:ext cx="18923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grpSp>
          <p:nvGrpSpPr>
            <p:cNvPr id="62" name="Group 62"/>
            <p:cNvGrpSpPr/>
            <p:nvPr/>
          </p:nvGrpSpPr>
          <p:grpSpPr>
            <a:xfrm>
              <a:off x="9778642" y="2025650"/>
              <a:ext cx="254716" cy="254358"/>
              <a:chOff x="9778642" y="2025650"/>
              <a:chExt cx="254716" cy="254358"/>
            </a:xfrm>
          </p:grpSpPr>
          <p:sp>
            <p:nvSpPr>
              <p:cNvPr id="53" name="Freeform 53"/>
              <p:cNvSpPr/>
              <p:nvPr/>
            </p:nvSpPr>
            <p:spPr>
              <a:xfrm>
                <a:off x="9842500" y="2089150"/>
                <a:ext cx="127000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127000">
                    <a:moveTo>
                      <a:pt x="101600" y="0"/>
                    </a:moveTo>
                    <a:lnTo>
                      <a:pt x="25400" y="0"/>
                    </a:lnTo>
                    <a:cubicBezTo>
                      <a:pt x="11372" y="0"/>
                      <a:pt x="0" y="11372"/>
                      <a:pt x="0" y="25400"/>
                    </a:cubicBezTo>
                    <a:lnTo>
                      <a:pt x="0" y="101600"/>
                    </a:lnTo>
                    <a:cubicBezTo>
                      <a:pt x="0" y="115628"/>
                      <a:pt x="11372" y="127000"/>
                      <a:pt x="25400" y="127000"/>
                    </a:cubicBezTo>
                    <a:lnTo>
                      <a:pt x="101600" y="127000"/>
                    </a:lnTo>
                    <a:cubicBezTo>
                      <a:pt x="115628" y="127000"/>
                      <a:pt x="127000" y="115628"/>
                      <a:pt x="127000" y="101600"/>
                    </a:cubicBezTo>
                    <a:lnTo>
                      <a:pt x="127000" y="25400"/>
                    </a:lnTo>
                    <a:cubicBezTo>
                      <a:pt x="127000" y="11372"/>
                      <a:pt x="115628" y="0"/>
                      <a:pt x="101600" y="0"/>
                    </a:cubicBez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54" name="Freeform 54"/>
              <p:cNvSpPr/>
              <p:nvPr/>
            </p:nvSpPr>
            <p:spPr>
              <a:xfrm>
                <a:off x="9778642" y="2089150"/>
                <a:ext cx="38816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38816" h="25400">
                    <a:moveTo>
                      <a:pt x="25758" y="0"/>
                    </a:moveTo>
                    <a:cubicBezTo>
                      <a:pt x="32477" y="7"/>
                      <a:pt x="38028" y="5248"/>
                      <a:pt x="38422" y="11956"/>
                    </a:cubicBezTo>
                    <a:cubicBezTo>
                      <a:pt x="38816" y="18664"/>
                      <a:pt x="33916" y="24517"/>
                      <a:pt x="27244" y="25311"/>
                    </a:cubicBezTo>
                    <a:lnTo>
                      <a:pt x="25758" y="25400"/>
                    </a:lnTo>
                    <a:lnTo>
                      <a:pt x="13058" y="25400"/>
                    </a:lnTo>
                    <a:cubicBezTo>
                      <a:pt x="6338" y="25393"/>
                      <a:pt x="788" y="20152"/>
                      <a:pt x="394" y="13444"/>
                    </a:cubicBezTo>
                    <a:cubicBezTo>
                      <a:pt x="0" y="6736"/>
                      <a:pt x="4900" y="883"/>
                      <a:pt x="11572" y="89"/>
                    </a:cubicBezTo>
                    <a:lnTo>
                      <a:pt x="13058" y="0"/>
                    </a:lnTo>
                    <a:lnTo>
                      <a:pt x="25758" y="0"/>
                    </a:ln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9778642" y="2190750"/>
                <a:ext cx="38816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38816" h="25400">
                    <a:moveTo>
                      <a:pt x="25758" y="0"/>
                    </a:moveTo>
                    <a:cubicBezTo>
                      <a:pt x="32477" y="7"/>
                      <a:pt x="38028" y="5248"/>
                      <a:pt x="38422" y="11956"/>
                    </a:cubicBezTo>
                    <a:cubicBezTo>
                      <a:pt x="38816" y="18664"/>
                      <a:pt x="33916" y="24517"/>
                      <a:pt x="27244" y="25311"/>
                    </a:cubicBezTo>
                    <a:lnTo>
                      <a:pt x="25758" y="25400"/>
                    </a:lnTo>
                    <a:lnTo>
                      <a:pt x="13058" y="25400"/>
                    </a:lnTo>
                    <a:cubicBezTo>
                      <a:pt x="6338" y="25393"/>
                      <a:pt x="788" y="20152"/>
                      <a:pt x="394" y="13444"/>
                    </a:cubicBezTo>
                    <a:cubicBezTo>
                      <a:pt x="0" y="6736"/>
                      <a:pt x="4900" y="883"/>
                      <a:pt x="11572" y="89"/>
                    </a:cubicBezTo>
                    <a:lnTo>
                      <a:pt x="13058" y="0"/>
                    </a:lnTo>
                    <a:lnTo>
                      <a:pt x="25758" y="0"/>
                    </a:ln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9842500" y="2025650"/>
                <a:ext cx="25400" cy="38458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38458">
                    <a:moveTo>
                      <a:pt x="12700" y="0"/>
                    </a:moveTo>
                    <a:cubicBezTo>
                      <a:pt x="19139" y="1"/>
                      <a:pt x="24558" y="4820"/>
                      <a:pt x="25311" y="11214"/>
                    </a:cubicBezTo>
                    <a:lnTo>
                      <a:pt x="25400" y="12700"/>
                    </a:lnTo>
                    <a:lnTo>
                      <a:pt x="25400" y="25400"/>
                    </a:lnTo>
                    <a:cubicBezTo>
                      <a:pt x="25393" y="32119"/>
                      <a:pt x="20152" y="37670"/>
                      <a:pt x="13444" y="38064"/>
                    </a:cubicBezTo>
                    <a:cubicBezTo>
                      <a:pt x="6736" y="38458"/>
                      <a:pt x="883" y="33558"/>
                      <a:pt x="89" y="26886"/>
                    </a:cubicBezTo>
                    <a:lnTo>
                      <a:pt x="0" y="25400"/>
                    </a:lnTo>
                    <a:lnTo>
                      <a:pt x="0" y="12700"/>
                    </a:lnTo>
                    <a:cubicBezTo>
                      <a:pt x="0" y="5686"/>
                      <a:pt x="5686" y="0"/>
                      <a:pt x="12700" y="0"/>
                    </a:cubicBez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9944100" y="2025650"/>
                <a:ext cx="25400" cy="38458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38458">
                    <a:moveTo>
                      <a:pt x="12700" y="0"/>
                    </a:moveTo>
                    <a:cubicBezTo>
                      <a:pt x="19139" y="1"/>
                      <a:pt x="24558" y="4820"/>
                      <a:pt x="25311" y="11214"/>
                    </a:cubicBezTo>
                    <a:lnTo>
                      <a:pt x="25400" y="12700"/>
                    </a:lnTo>
                    <a:lnTo>
                      <a:pt x="25400" y="25400"/>
                    </a:lnTo>
                    <a:cubicBezTo>
                      <a:pt x="25393" y="32119"/>
                      <a:pt x="20152" y="37670"/>
                      <a:pt x="13444" y="38064"/>
                    </a:cubicBezTo>
                    <a:cubicBezTo>
                      <a:pt x="6736" y="38458"/>
                      <a:pt x="883" y="33558"/>
                      <a:pt x="89" y="26886"/>
                    </a:cubicBezTo>
                    <a:lnTo>
                      <a:pt x="0" y="25400"/>
                    </a:lnTo>
                    <a:lnTo>
                      <a:pt x="0" y="12700"/>
                    </a:lnTo>
                    <a:cubicBezTo>
                      <a:pt x="0" y="5686"/>
                      <a:pt x="5686" y="0"/>
                      <a:pt x="12700" y="0"/>
                    </a:cubicBez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58" name="Freeform 58"/>
              <p:cNvSpPr/>
              <p:nvPr/>
            </p:nvSpPr>
            <p:spPr>
              <a:xfrm>
                <a:off x="9994542" y="2089150"/>
                <a:ext cx="38816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38816" h="25400">
                    <a:moveTo>
                      <a:pt x="25758" y="0"/>
                    </a:moveTo>
                    <a:cubicBezTo>
                      <a:pt x="32477" y="7"/>
                      <a:pt x="38028" y="5248"/>
                      <a:pt x="38422" y="11956"/>
                    </a:cubicBezTo>
                    <a:cubicBezTo>
                      <a:pt x="38816" y="18664"/>
                      <a:pt x="33916" y="24517"/>
                      <a:pt x="27244" y="25311"/>
                    </a:cubicBezTo>
                    <a:lnTo>
                      <a:pt x="25758" y="25400"/>
                    </a:lnTo>
                    <a:lnTo>
                      <a:pt x="13058" y="25400"/>
                    </a:lnTo>
                    <a:cubicBezTo>
                      <a:pt x="6338" y="25393"/>
                      <a:pt x="788" y="20152"/>
                      <a:pt x="394" y="13444"/>
                    </a:cubicBezTo>
                    <a:cubicBezTo>
                      <a:pt x="0" y="6736"/>
                      <a:pt x="4900" y="883"/>
                      <a:pt x="11572" y="89"/>
                    </a:cubicBezTo>
                    <a:lnTo>
                      <a:pt x="13058" y="0"/>
                    </a:lnTo>
                    <a:lnTo>
                      <a:pt x="25758" y="0"/>
                    </a:ln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59" name="Freeform 59"/>
              <p:cNvSpPr/>
              <p:nvPr/>
            </p:nvSpPr>
            <p:spPr>
              <a:xfrm>
                <a:off x="9994542" y="2190750"/>
                <a:ext cx="38816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38816" h="25400">
                    <a:moveTo>
                      <a:pt x="25758" y="0"/>
                    </a:moveTo>
                    <a:cubicBezTo>
                      <a:pt x="32477" y="7"/>
                      <a:pt x="38028" y="5248"/>
                      <a:pt x="38422" y="11956"/>
                    </a:cubicBezTo>
                    <a:cubicBezTo>
                      <a:pt x="38816" y="18664"/>
                      <a:pt x="33916" y="24517"/>
                      <a:pt x="27244" y="25311"/>
                    </a:cubicBezTo>
                    <a:lnTo>
                      <a:pt x="25758" y="25400"/>
                    </a:lnTo>
                    <a:lnTo>
                      <a:pt x="13058" y="25400"/>
                    </a:lnTo>
                    <a:cubicBezTo>
                      <a:pt x="6338" y="25393"/>
                      <a:pt x="788" y="20152"/>
                      <a:pt x="394" y="13444"/>
                    </a:cubicBezTo>
                    <a:cubicBezTo>
                      <a:pt x="0" y="6736"/>
                      <a:pt x="4900" y="883"/>
                      <a:pt x="11572" y="89"/>
                    </a:cubicBezTo>
                    <a:lnTo>
                      <a:pt x="13058" y="0"/>
                    </a:lnTo>
                    <a:lnTo>
                      <a:pt x="25758" y="0"/>
                    </a:ln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60" name="Freeform 60"/>
              <p:cNvSpPr/>
              <p:nvPr/>
            </p:nvSpPr>
            <p:spPr>
              <a:xfrm>
                <a:off x="9842500" y="2241550"/>
                <a:ext cx="25400" cy="38458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38458">
                    <a:moveTo>
                      <a:pt x="12700" y="0"/>
                    </a:moveTo>
                    <a:cubicBezTo>
                      <a:pt x="19139" y="1"/>
                      <a:pt x="24558" y="4820"/>
                      <a:pt x="25311" y="11214"/>
                    </a:cubicBezTo>
                    <a:lnTo>
                      <a:pt x="25400" y="12700"/>
                    </a:lnTo>
                    <a:lnTo>
                      <a:pt x="25400" y="25400"/>
                    </a:lnTo>
                    <a:cubicBezTo>
                      <a:pt x="25393" y="32119"/>
                      <a:pt x="20152" y="37670"/>
                      <a:pt x="13444" y="38064"/>
                    </a:cubicBezTo>
                    <a:cubicBezTo>
                      <a:pt x="6736" y="38458"/>
                      <a:pt x="883" y="33558"/>
                      <a:pt x="89" y="26886"/>
                    </a:cubicBezTo>
                    <a:lnTo>
                      <a:pt x="0" y="25400"/>
                    </a:lnTo>
                    <a:lnTo>
                      <a:pt x="0" y="12700"/>
                    </a:lnTo>
                    <a:cubicBezTo>
                      <a:pt x="0" y="5686"/>
                      <a:pt x="5686" y="0"/>
                      <a:pt x="12700" y="0"/>
                    </a:cubicBez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9944100" y="2241550"/>
                <a:ext cx="25400" cy="38458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38458">
                    <a:moveTo>
                      <a:pt x="12700" y="0"/>
                    </a:moveTo>
                    <a:cubicBezTo>
                      <a:pt x="19139" y="1"/>
                      <a:pt x="24558" y="4820"/>
                      <a:pt x="25311" y="11214"/>
                    </a:cubicBezTo>
                    <a:lnTo>
                      <a:pt x="25400" y="12700"/>
                    </a:lnTo>
                    <a:lnTo>
                      <a:pt x="25400" y="25400"/>
                    </a:lnTo>
                    <a:cubicBezTo>
                      <a:pt x="25393" y="32119"/>
                      <a:pt x="20152" y="37670"/>
                      <a:pt x="13444" y="38064"/>
                    </a:cubicBezTo>
                    <a:cubicBezTo>
                      <a:pt x="6736" y="38458"/>
                      <a:pt x="883" y="33558"/>
                      <a:pt x="89" y="26886"/>
                    </a:cubicBezTo>
                    <a:lnTo>
                      <a:pt x="0" y="25400"/>
                    </a:lnTo>
                    <a:lnTo>
                      <a:pt x="0" y="12700"/>
                    </a:lnTo>
                    <a:cubicBezTo>
                      <a:pt x="0" y="5686"/>
                      <a:pt x="5686" y="0"/>
                      <a:pt x="12700" y="0"/>
                    </a:cubicBez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</p:grpSp>
        <p:sp>
          <p:nvSpPr>
            <p:cNvPr id="63" name="TextBox 63"/>
            <p:cNvSpPr txBox="1"/>
            <p:nvPr/>
          </p:nvSpPr>
          <p:spPr>
            <a:xfrm>
              <a:off x="8498205" y="2083118"/>
              <a:ext cx="106941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视觉稿生成</a:t>
              </a:r>
            </a:p>
          </p:txBody>
        </p:sp>
        <p:sp>
          <p:nvSpPr>
            <p:cNvPr id="64" name="Line 64"/>
            <p:cNvSpPr/>
            <p:nvPr/>
          </p:nvSpPr>
          <p:spPr>
            <a:xfrm>
              <a:off x="8191500" y="2381250"/>
              <a:ext cx="2476500" cy="9525"/>
            </a:xfrm>
            <a:custGeom>
              <a:avLst/>
              <a:gdLst/>
              <a:ahLst/>
              <a:cxnLst/>
              <a:rect l="l" t="t" r="r" b="b"/>
              <a:pathLst>
                <a:path w="2476500" h="9525">
                  <a:moveTo>
                    <a:pt x="0" y="0"/>
                  </a:moveTo>
                  <a:lnTo>
                    <a:pt x="2476500" y="0"/>
                  </a:lnTo>
                </a:path>
              </a:pathLst>
            </a:custGeom>
            <a:noFill/>
            <a:ln w="9525">
              <a:solidFill>
                <a:srgbClr val="F0EDE8"/>
              </a:solidFill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8177212" y="2469356"/>
              <a:ext cx="145803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Claude Design 输出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8177212" y="2678906"/>
              <a:ext cx="120336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配色 + 布局方案</a:t>
              </a:r>
            </a:p>
          </p:txBody>
        </p:sp>
        <p:sp>
          <p:nvSpPr>
            <p:cNvPr id="67" name="Rectangle 67"/>
            <p:cNvSpPr/>
            <p:nvPr/>
          </p:nvSpPr>
          <p:spPr>
            <a:xfrm>
              <a:off x="9601200" y="2724150"/>
              <a:ext cx="914400" cy="209550"/>
            </a:xfrm>
            <a:prstGeom prst="roundRect">
              <a:avLst>
                <a:gd name="adj" fmla="val 50000"/>
              </a:avLst>
            </a:prstGeom>
            <a:solidFill>
              <a:srgbClr val="F0EDE8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9908953" y="2769870"/>
              <a:ext cx="298894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即时</a:t>
              </a:r>
            </a:p>
          </p:txBody>
        </p:sp>
      </p:grpSp>
      <p:grpSp>
        <p:nvGrpSpPr>
          <p:cNvPr id="81" name="Group 81"/>
          <p:cNvGrpSpPr/>
          <p:nvPr/>
        </p:nvGrpSpPr>
        <p:grpSpPr>
          <a:xfrm>
            <a:off x="762000" y="3943350"/>
            <a:ext cx="2762250" cy="1066800"/>
            <a:chOff x="762000" y="3943350"/>
            <a:chExt cx="2762250" cy="1066800"/>
          </a:xfrm>
        </p:grpSpPr>
        <p:sp>
          <p:nvSpPr>
            <p:cNvPr id="70" name="Rectangle 70"/>
            <p:cNvSpPr/>
            <p:nvPr/>
          </p:nvSpPr>
          <p:spPr>
            <a:xfrm>
              <a:off x="762000" y="3943350"/>
              <a:ext cx="2762250" cy="1066800"/>
            </a:xfrm>
            <a:prstGeom prst="roundRect">
              <a:avLst>
                <a:gd name="adj" fmla="val 10714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71" name="Rectangle 71"/>
            <p:cNvSpPr/>
            <p:nvPr/>
          </p:nvSpPr>
          <p:spPr>
            <a:xfrm>
              <a:off x="762000" y="3943350"/>
              <a:ext cx="47625" cy="1066800"/>
            </a:xfrm>
            <a:prstGeom prst="roundRect">
              <a:avLst>
                <a:gd name="adj" fmla="val 40000"/>
              </a:avLst>
            </a:prstGeom>
            <a:solidFill>
              <a:srgbClr val="3D7DE4"/>
            </a:solidFill>
            <a:ln>
              <a:noFill/>
            </a:ln>
          </p:spPr>
        </p:sp>
        <p:sp>
          <p:nvSpPr>
            <p:cNvPr id="72" name="Ellipse 72"/>
            <p:cNvSpPr/>
            <p:nvPr/>
          </p:nvSpPr>
          <p:spPr>
            <a:xfrm>
              <a:off x="876300" y="4000500"/>
              <a:ext cx="304800" cy="304800"/>
            </a:xfrm>
            <a:prstGeom prst="ellipse">
              <a:avLst/>
            </a:prstGeom>
            <a:solidFill>
              <a:srgbClr val="3D7DE4"/>
            </a:solidFill>
            <a:ln>
              <a:noFill/>
            </a:ln>
          </p:spPr>
        </p:sp>
        <p:sp>
          <p:nvSpPr>
            <p:cNvPr id="73" name="TextBox 73"/>
            <p:cNvSpPr txBox="1"/>
            <p:nvPr/>
          </p:nvSpPr>
          <p:spPr>
            <a:xfrm>
              <a:off x="934082" y="4104799"/>
              <a:ext cx="18923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04</a:t>
              </a:r>
            </a:p>
          </p:txBody>
        </p:sp>
        <p:sp>
          <p:nvSpPr>
            <p:cNvPr id="74" name="Freeform 74"/>
            <p:cNvSpPr/>
            <p:nvPr/>
          </p:nvSpPr>
          <p:spPr>
            <a:xfrm>
              <a:off x="2531186" y="4017086"/>
              <a:ext cx="271628" cy="271628"/>
            </a:xfrm>
            <a:custGeom>
              <a:avLst/>
              <a:gdLst/>
              <a:ahLst/>
              <a:cxnLst/>
              <a:rect l="l" t="t" r="r" b="b"/>
              <a:pathLst>
                <a:path w="271628" h="271628">
                  <a:moveTo>
                    <a:pt x="169431" y="35242"/>
                  </a:moveTo>
                  <a:cubicBezTo>
                    <a:pt x="170122" y="38095"/>
                    <a:pt x="172133" y="40446"/>
                    <a:pt x="174844" y="41570"/>
                  </a:cubicBezTo>
                  <a:cubicBezTo>
                    <a:pt x="177555" y="42695"/>
                    <a:pt x="180640" y="42458"/>
                    <a:pt x="183147" y="40932"/>
                  </a:cubicBezTo>
                  <a:cubicBezTo>
                    <a:pt x="214122" y="22073"/>
                    <a:pt x="249568" y="57506"/>
                    <a:pt x="230708" y="88481"/>
                  </a:cubicBezTo>
                  <a:cubicBezTo>
                    <a:pt x="229182" y="90986"/>
                    <a:pt x="228944" y="94069"/>
                    <a:pt x="230066" y="96780"/>
                  </a:cubicBezTo>
                  <a:cubicBezTo>
                    <a:pt x="231187" y="99490"/>
                    <a:pt x="233535" y="101503"/>
                    <a:pt x="236385" y="102197"/>
                  </a:cubicBezTo>
                  <a:cubicBezTo>
                    <a:pt x="271628" y="110744"/>
                    <a:pt x="271628" y="160871"/>
                    <a:pt x="236385" y="169431"/>
                  </a:cubicBezTo>
                  <a:cubicBezTo>
                    <a:pt x="233533" y="170122"/>
                    <a:pt x="231182" y="172133"/>
                    <a:pt x="230057" y="174844"/>
                  </a:cubicBezTo>
                  <a:cubicBezTo>
                    <a:pt x="228933" y="177555"/>
                    <a:pt x="229170" y="180640"/>
                    <a:pt x="230696" y="183147"/>
                  </a:cubicBezTo>
                  <a:cubicBezTo>
                    <a:pt x="249555" y="214122"/>
                    <a:pt x="214122" y="249568"/>
                    <a:pt x="183147" y="230708"/>
                  </a:cubicBezTo>
                  <a:cubicBezTo>
                    <a:pt x="180641" y="229182"/>
                    <a:pt x="177558" y="228944"/>
                    <a:pt x="174848" y="230066"/>
                  </a:cubicBezTo>
                  <a:cubicBezTo>
                    <a:pt x="172137" y="231187"/>
                    <a:pt x="170125" y="233535"/>
                    <a:pt x="169431" y="236385"/>
                  </a:cubicBezTo>
                  <a:cubicBezTo>
                    <a:pt x="160884" y="271628"/>
                    <a:pt x="110757" y="271628"/>
                    <a:pt x="102197" y="236385"/>
                  </a:cubicBezTo>
                  <a:cubicBezTo>
                    <a:pt x="101506" y="233533"/>
                    <a:pt x="99495" y="231182"/>
                    <a:pt x="96784" y="230057"/>
                  </a:cubicBezTo>
                  <a:cubicBezTo>
                    <a:pt x="94073" y="228933"/>
                    <a:pt x="90988" y="229170"/>
                    <a:pt x="88481" y="230696"/>
                  </a:cubicBezTo>
                  <a:cubicBezTo>
                    <a:pt x="57506" y="249555"/>
                    <a:pt x="22060" y="214122"/>
                    <a:pt x="40919" y="183147"/>
                  </a:cubicBezTo>
                  <a:cubicBezTo>
                    <a:pt x="42445" y="180641"/>
                    <a:pt x="42684" y="177558"/>
                    <a:pt x="41562" y="174848"/>
                  </a:cubicBezTo>
                  <a:cubicBezTo>
                    <a:pt x="40440" y="172137"/>
                    <a:pt x="38093" y="170125"/>
                    <a:pt x="35242" y="169431"/>
                  </a:cubicBezTo>
                  <a:cubicBezTo>
                    <a:pt x="0" y="160884"/>
                    <a:pt x="0" y="110757"/>
                    <a:pt x="35242" y="102197"/>
                  </a:cubicBezTo>
                  <a:cubicBezTo>
                    <a:pt x="38095" y="101506"/>
                    <a:pt x="40446" y="99495"/>
                    <a:pt x="41570" y="96784"/>
                  </a:cubicBezTo>
                  <a:cubicBezTo>
                    <a:pt x="42695" y="94073"/>
                    <a:pt x="42458" y="90988"/>
                    <a:pt x="40932" y="88481"/>
                  </a:cubicBezTo>
                  <a:cubicBezTo>
                    <a:pt x="22073" y="57506"/>
                    <a:pt x="57506" y="22060"/>
                    <a:pt x="88481" y="40919"/>
                  </a:cubicBezTo>
                  <a:cubicBezTo>
                    <a:pt x="90984" y="42457"/>
                    <a:pt x="94072" y="42702"/>
                    <a:pt x="96786" y="41578"/>
                  </a:cubicBezTo>
                  <a:cubicBezTo>
                    <a:pt x="99501" y="40455"/>
                    <a:pt x="101512" y="38099"/>
                    <a:pt x="102197" y="35242"/>
                  </a:cubicBezTo>
                  <a:cubicBezTo>
                    <a:pt x="110744" y="0"/>
                    <a:pt x="160871" y="0"/>
                    <a:pt x="169431" y="35242"/>
                  </a:cubicBezTo>
                  <a:close/>
                  <a:moveTo>
                    <a:pt x="135814" y="97714"/>
                  </a:moveTo>
                  <a:cubicBezTo>
                    <a:pt x="114772" y="97714"/>
                    <a:pt x="97714" y="114772"/>
                    <a:pt x="97714" y="135814"/>
                  </a:cubicBezTo>
                  <a:cubicBezTo>
                    <a:pt x="97714" y="156856"/>
                    <a:pt x="114772" y="173914"/>
                    <a:pt x="135814" y="173914"/>
                  </a:cubicBezTo>
                  <a:cubicBezTo>
                    <a:pt x="156856" y="173914"/>
                    <a:pt x="173914" y="156856"/>
                    <a:pt x="173914" y="135814"/>
                  </a:cubicBezTo>
                  <a:cubicBezTo>
                    <a:pt x="173914" y="114772"/>
                    <a:pt x="156856" y="97714"/>
                    <a:pt x="135814" y="97714"/>
                  </a:cubicBezTo>
                </a:path>
              </a:pathLst>
            </a:custGeom>
            <a:solidFill>
              <a:srgbClr val="3D7DE4"/>
            </a:solidFill>
            <a:ln>
              <a:noFill/>
            </a:ln>
          </p:spPr>
        </p:sp>
        <p:sp>
          <p:nvSpPr>
            <p:cNvPr id="75" name="TextBox 75"/>
            <p:cNvSpPr txBox="1"/>
            <p:nvPr/>
          </p:nvSpPr>
          <p:spPr>
            <a:xfrm>
              <a:off x="1259205" y="4083368"/>
              <a:ext cx="157663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CLAUDE.md 配置</a:t>
              </a:r>
            </a:p>
          </p:txBody>
        </p:sp>
        <p:sp>
          <p:nvSpPr>
            <p:cNvPr id="76" name="Line 76"/>
            <p:cNvSpPr/>
            <p:nvPr/>
          </p:nvSpPr>
          <p:spPr>
            <a:xfrm>
              <a:off x="952500" y="4381500"/>
              <a:ext cx="2476500" cy="9525"/>
            </a:xfrm>
            <a:custGeom>
              <a:avLst/>
              <a:gdLst/>
              <a:ahLst/>
              <a:cxnLst/>
              <a:rect l="l" t="t" r="r" b="b"/>
              <a:pathLst>
                <a:path w="2476500" h="9525">
                  <a:moveTo>
                    <a:pt x="0" y="0"/>
                  </a:moveTo>
                  <a:lnTo>
                    <a:pt x="2476500" y="0"/>
                  </a:lnTo>
                </a:path>
              </a:pathLst>
            </a:custGeom>
            <a:noFill/>
            <a:ln w="9525">
              <a:solidFill>
                <a:srgbClr val="EBF0FA"/>
              </a:solidFill>
            </a:ln>
          </p:spPr>
        </p:sp>
        <p:sp>
          <p:nvSpPr>
            <p:cNvPr id="77" name="TextBox 77"/>
            <p:cNvSpPr txBox="1"/>
            <p:nvPr/>
          </p:nvSpPr>
          <p:spPr>
            <a:xfrm>
              <a:off x="938212" y="4469606"/>
              <a:ext cx="117871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把设计规范写入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938212" y="4679156"/>
              <a:ext cx="87475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CLAUDE.md</a:t>
              </a:r>
            </a:p>
          </p:txBody>
        </p:sp>
        <p:sp>
          <p:nvSpPr>
            <p:cNvPr id="79" name="Rectangle 79"/>
            <p:cNvSpPr/>
            <p:nvPr/>
          </p:nvSpPr>
          <p:spPr>
            <a:xfrm>
              <a:off x="2362200" y="4724400"/>
              <a:ext cx="914400" cy="209550"/>
            </a:xfrm>
            <a:prstGeom prst="roundRect">
              <a:avLst>
                <a:gd name="adj" fmla="val 50000"/>
              </a:avLst>
            </a:prstGeom>
            <a:solidFill>
              <a:srgbClr val="EBF0FA"/>
            </a:solidFill>
            <a:ln>
              <a:noFill/>
            </a:ln>
          </p:spPr>
        </p:sp>
        <p:sp>
          <p:nvSpPr>
            <p:cNvPr id="80" name="TextBox 80"/>
            <p:cNvSpPr txBox="1"/>
            <p:nvPr/>
          </p:nvSpPr>
          <p:spPr>
            <a:xfrm>
              <a:off x="2611295" y="4770120"/>
              <a:ext cx="41620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3D7DE4"/>
                  </a:solidFill>
                  <a:latin typeface="Arial"/>
                  <a:ea typeface="Microsoft YaHei"/>
                  <a:cs typeface="Arial"/>
                </a:rPr>
                <a:t>5 分钟</a:t>
              </a:r>
            </a:p>
          </p:txBody>
        </p:sp>
      </p:grpSp>
      <p:grpSp>
        <p:nvGrpSpPr>
          <p:cNvPr id="93" name="Group 93"/>
          <p:cNvGrpSpPr/>
          <p:nvPr/>
        </p:nvGrpSpPr>
        <p:grpSpPr>
          <a:xfrm>
            <a:off x="4381500" y="3943350"/>
            <a:ext cx="2762250" cy="1066800"/>
            <a:chOff x="4381500" y="3943350"/>
            <a:chExt cx="2762250" cy="1066800"/>
          </a:xfrm>
        </p:grpSpPr>
        <p:sp>
          <p:nvSpPr>
            <p:cNvPr id="82" name="Rectangle 82"/>
            <p:cNvSpPr/>
            <p:nvPr/>
          </p:nvSpPr>
          <p:spPr>
            <a:xfrm>
              <a:off x="4381500" y="3943350"/>
              <a:ext cx="2762250" cy="1066800"/>
            </a:xfrm>
            <a:prstGeom prst="roundRect">
              <a:avLst>
                <a:gd name="adj" fmla="val 10714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83" name="Rectangle 83"/>
            <p:cNvSpPr/>
            <p:nvPr/>
          </p:nvSpPr>
          <p:spPr>
            <a:xfrm>
              <a:off x="4381500" y="3943350"/>
              <a:ext cx="47625" cy="1066800"/>
            </a:xfrm>
            <a:prstGeom prst="roundRect">
              <a:avLst>
                <a:gd name="adj" fmla="val 40000"/>
              </a:avLst>
            </a:prstGeom>
            <a:solidFill>
              <a:srgbClr val="3D7DE4"/>
            </a:solidFill>
            <a:ln>
              <a:noFill/>
            </a:ln>
          </p:spPr>
        </p:sp>
        <p:sp>
          <p:nvSpPr>
            <p:cNvPr id="84" name="Ellipse 84"/>
            <p:cNvSpPr/>
            <p:nvPr/>
          </p:nvSpPr>
          <p:spPr>
            <a:xfrm>
              <a:off x="4495800" y="4000500"/>
              <a:ext cx="304800" cy="304800"/>
            </a:xfrm>
            <a:prstGeom prst="ellipse">
              <a:avLst/>
            </a:prstGeom>
            <a:solidFill>
              <a:srgbClr val="3D7DE4"/>
            </a:solidFill>
            <a:ln>
              <a:noFill/>
            </a:ln>
          </p:spPr>
        </p:sp>
        <p:sp>
          <p:nvSpPr>
            <p:cNvPr id="85" name="TextBox 85"/>
            <p:cNvSpPr txBox="1"/>
            <p:nvPr/>
          </p:nvSpPr>
          <p:spPr>
            <a:xfrm>
              <a:off x="4553582" y="4104799"/>
              <a:ext cx="18923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05</a:t>
              </a:r>
            </a:p>
          </p:txBody>
        </p:sp>
        <p:sp>
          <p:nvSpPr>
            <p:cNvPr id="86" name="Freeform 86"/>
            <p:cNvSpPr/>
            <p:nvPr/>
          </p:nvSpPr>
          <p:spPr>
            <a:xfrm>
              <a:off x="6159498" y="4020211"/>
              <a:ext cx="267422" cy="268466"/>
            </a:xfrm>
            <a:custGeom>
              <a:avLst/>
              <a:gdLst/>
              <a:ahLst/>
              <a:cxnLst/>
              <a:rect l="l" t="t" r="r" b="b"/>
              <a:pathLst>
                <a:path w="267422" h="268466">
                  <a:moveTo>
                    <a:pt x="190502" y="22707"/>
                  </a:moveTo>
                  <a:cubicBezTo>
                    <a:pt x="243877" y="53523"/>
                    <a:pt x="267422" y="118214"/>
                    <a:pt x="246342" y="176130"/>
                  </a:cubicBezTo>
                  <a:cubicBezTo>
                    <a:pt x="225262" y="234045"/>
                    <a:pt x="165642" y="268466"/>
                    <a:pt x="104946" y="257762"/>
                  </a:cubicBezTo>
                  <a:cubicBezTo>
                    <a:pt x="44250" y="247059"/>
                    <a:pt x="0" y="194322"/>
                    <a:pt x="2" y="132689"/>
                  </a:cubicBezTo>
                  <a:lnTo>
                    <a:pt x="65" y="128574"/>
                  </a:lnTo>
                  <a:cubicBezTo>
                    <a:pt x="1512" y="83959"/>
                    <a:pt x="26276" y="43379"/>
                    <a:pt x="65291" y="21689"/>
                  </a:cubicBezTo>
                  <a:cubicBezTo>
                    <a:pt x="104306" y="0"/>
                    <a:pt x="151844" y="386"/>
                    <a:pt x="190502" y="22707"/>
                  </a:cubicBezTo>
                  <a:moveTo>
                    <a:pt x="110580" y="98310"/>
                  </a:moveTo>
                  <a:cubicBezTo>
                    <a:pt x="105621" y="93352"/>
                    <a:pt x="97582" y="93352"/>
                    <a:pt x="92623" y="98310"/>
                  </a:cubicBezTo>
                  <a:lnTo>
                    <a:pt x="67223" y="123710"/>
                  </a:lnTo>
                  <a:cubicBezTo>
                    <a:pt x="62265" y="128669"/>
                    <a:pt x="62265" y="136708"/>
                    <a:pt x="67223" y="141668"/>
                  </a:cubicBezTo>
                  <a:lnTo>
                    <a:pt x="92623" y="167068"/>
                  </a:lnTo>
                  <a:cubicBezTo>
                    <a:pt x="97582" y="172026"/>
                    <a:pt x="105621" y="172026"/>
                    <a:pt x="110580" y="167068"/>
                  </a:cubicBezTo>
                  <a:lnTo>
                    <a:pt x="111635" y="165874"/>
                  </a:lnTo>
                  <a:cubicBezTo>
                    <a:pt x="115556" y="160818"/>
                    <a:pt x="115105" y="153635"/>
                    <a:pt x="110580" y="149110"/>
                  </a:cubicBezTo>
                  <a:lnTo>
                    <a:pt x="94172" y="132689"/>
                  </a:lnTo>
                  <a:lnTo>
                    <a:pt x="110580" y="116268"/>
                  </a:lnTo>
                  <a:cubicBezTo>
                    <a:pt x="115538" y="111308"/>
                    <a:pt x="115538" y="103269"/>
                    <a:pt x="110580" y="98310"/>
                  </a:cubicBezTo>
                  <a:moveTo>
                    <a:pt x="161380" y="98310"/>
                  </a:moveTo>
                  <a:cubicBezTo>
                    <a:pt x="156421" y="93352"/>
                    <a:pt x="148382" y="93352"/>
                    <a:pt x="143423" y="98310"/>
                  </a:cubicBezTo>
                  <a:lnTo>
                    <a:pt x="142369" y="99504"/>
                  </a:lnTo>
                  <a:cubicBezTo>
                    <a:pt x="138447" y="104559"/>
                    <a:pt x="138898" y="111743"/>
                    <a:pt x="143423" y="116268"/>
                  </a:cubicBezTo>
                  <a:lnTo>
                    <a:pt x="159831" y="132689"/>
                  </a:lnTo>
                  <a:lnTo>
                    <a:pt x="143423" y="149110"/>
                  </a:lnTo>
                  <a:cubicBezTo>
                    <a:pt x="138610" y="154093"/>
                    <a:pt x="138679" y="162014"/>
                    <a:pt x="143577" y="166913"/>
                  </a:cubicBezTo>
                  <a:cubicBezTo>
                    <a:pt x="148476" y="171812"/>
                    <a:pt x="156397" y="171881"/>
                    <a:pt x="161380" y="167068"/>
                  </a:cubicBezTo>
                  <a:lnTo>
                    <a:pt x="186780" y="141668"/>
                  </a:lnTo>
                  <a:cubicBezTo>
                    <a:pt x="191738" y="136708"/>
                    <a:pt x="191738" y="128669"/>
                    <a:pt x="186780" y="123710"/>
                  </a:cubicBezTo>
                  <a:close/>
                </a:path>
              </a:pathLst>
            </a:custGeom>
            <a:solidFill>
              <a:srgbClr val="3D7DE4"/>
            </a:solidFill>
            <a:ln>
              <a:noFill/>
            </a:ln>
          </p:spPr>
        </p:sp>
        <p:sp>
          <p:nvSpPr>
            <p:cNvPr id="87" name="TextBox 87"/>
            <p:cNvSpPr txBox="1"/>
            <p:nvPr/>
          </p:nvSpPr>
          <p:spPr>
            <a:xfrm>
              <a:off x="4878705" y="4083368"/>
              <a:ext cx="165944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Claude Code 开发</a:t>
              </a:r>
            </a:p>
          </p:txBody>
        </p:sp>
        <p:sp>
          <p:nvSpPr>
            <p:cNvPr id="88" name="Line 88"/>
            <p:cNvSpPr/>
            <p:nvPr/>
          </p:nvSpPr>
          <p:spPr>
            <a:xfrm>
              <a:off x="4572000" y="4381500"/>
              <a:ext cx="2476500" cy="9525"/>
            </a:xfrm>
            <a:custGeom>
              <a:avLst/>
              <a:gdLst/>
              <a:ahLst/>
              <a:cxnLst/>
              <a:rect l="l" t="t" r="r" b="b"/>
              <a:pathLst>
                <a:path w="2476500" h="9525">
                  <a:moveTo>
                    <a:pt x="0" y="0"/>
                  </a:moveTo>
                  <a:lnTo>
                    <a:pt x="2476500" y="0"/>
                  </a:lnTo>
                </a:path>
              </a:pathLst>
            </a:custGeom>
            <a:noFill/>
            <a:ln w="9525">
              <a:solidFill>
                <a:srgbClr val="EBF0FA"/>
              </a:solidFill>
            </a:ln>
          </p:spPr>
        </p:sp>
        <p:sp>
          <p:nvSpPr>
            <p:cNvPr id="89" name="TextBox 89"/>
            <p:cNvSpPr txBox="1"/>
            <p:nvPr/>
          </p:nvSpPr>
          <p:spPr>
            <a:xfrm>
              <a:off x="4557712" y="4469606"/>
              <a:ext cx="143339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生成 HTML/CSS/JS</a:t>
              </a:r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4557712" y="4679156"/>
              <a:ext cx="101441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多页面一致性</a:t>
              </a:r>
            </a:p>
          </p:txBody>
        </p:sp>
        <p:sp>
          <p:nvSpPr>
            <p:cNvPr id="91" name="Rectangle 91"/>
            <p:cNvSpPr/>
            <p:nvPr/>
          </p:nvSpPr>
          <p:spPr>
            <a:xfrm>
              <a:off x="5981700" y="4724400"/>
              <a:ext cx="914400" cy="209550"/>
            </a:xfrm>
            <a:prstGeom prst="roundRect">
              <a:avLst>
                <a:gd name="adj" fmla="val 50000"/>
              </a:avLst>
            </a:prstGeom>
            <a:solidFill>
              <a:srgbClr val="EBF0FA"/>
            </a:solidFill>
            <a:ln>
              <a:noFill/>
            </a:ln>
          </p:spPr>
        </p:sp>
        <p:sp>
          <p:nvSpPr>
            <p:cNvPr id="92" name="TextBox 92"/>
            <p:cNvSpPr txBox="1"/>
            <p:nvPr/>
          </p:nvSpPr>
          <p:spPr>
            <a:xfrm>
              <a:off x="6192841" y="4770120"/>
              <a:ext cx="49211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3D7DE4"/>
                  </a:solidFill>
                  <a:latin typeface="Arial"/>
                  <a:ea typeface="Microsoft YaHei"/>
                  <a:cs typeface="Arial"/>
                </a:rPr>
                <a:t>20 分钟</a:t>
              </a:r>
            </a:p>
          </p:txBody>
        </p:sp>
      </p:grpSp>
      <p:grpSp>
        <p:nvGrpSpPr>
          <p:cNvPr id="109" name="Group 109"/>
          <p:cNvGrpSpPr/>
          <p:nvPr/>
        </p:nvGrpSpPr>
        <p:grpSpPr>
          <a:xfrm>
            <a:off x="8001000" y="3943350"/>
            <a:ext cx="2762250" cy="1066800"/>
            <a:chOff x="8001000" y="3943350"/>
            <a:chExt cx="2762250" cy="1066800"/>
          </a:xfrm>
        </p:grpSpPr>
        <p:sp>
          <p:nvSpPr>
            <p:cNvPr id="94" name="Rectangle 94"/>
            <p:cNvSpPr/>
            <p:nvPr/>
          </p:nvSpPr>
          <p:spPr>
            <a:xfrm>
              <a:off x="8001000" y="3943350"/>
              <a:ext cx="2762250" cy="1066800"/>
            </a:xfrm>
            <a:prstGeom prst="roundRect">
              <a:avLst>
                <a:gd name="adj" fmla="val 10714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95" name="Rectangle 95"/>
            <p:cNvSpPr/>
            <p:nvPr/>
          </p:nvSpPr>
          <p:spPr>
            <a:xfrm>
              <a:off x="8001000" y="3943350"/>
              <a:ext cx="47625" cy="1066800"/>
            </a:xfrm>
            <a:prstGeom prst="roundRect">
              <a:avLst>
                <a:gd name="adj" fmla="val 40000"/>
              </a:avLst>
            </a:prstGeom>
            <a:solidFill>
              <a:srgbClr val="3A9E6A"/>
            </a:solidFill>
            <a:ln>
              <a:noFill/>
            </a:ln>
          </p:spPr>
        </p:sp>
        <p:sp>
          <p:nvSpPr>
            <p:cNvPr id="96" name="Ellipse 96"/>
            <p:cNvSpPr/>
            <p:nvPr/>
          </p:nvSpPr>
          <p:spPr>
            <a:xfrm>
              <a:off x="8115300" y="4000500"/>
              <a:ext cx="304800" cy="304800"/>
            </a:xfrm>
            <a:prstGeom prst="ellipse">
              <a:avLst/>
            </a:prstGeom>
            <a:solidFill>
              <a:srgbClr val="3A9E6A"/>
            </a:solidFill>
            <a:ln>
              <a:noFill/>
            </a:ln>
          </p:spPr>
        </p:sp>
        <p:sp>
          <p:nvSpPr>
            <p:cNvPr id="97" name="TextBox 97"/>
            <p:cNvSpPr txBox="1"/>
            <p:nvPr/>
          </p:nvSpPr>
          <p:spPr>
            <a:xfrm>
              <a:off x="8173082" y="4104799"/>
              <a:ext cx="18923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06</a:t>
              </a:r>
            </a:p>
          </p:txBody>
        </p:sp>
        <p:grpSp>
          <p:nvGrpSpPr>
            <p:cNvPr id="102" name="Group 102"/>
            <p:cNvGrpSpPr/>
            <p:nvPr/>
          </p:nvGrpSpPr>
          <p:grpSpPr>
            <a:xfrm>
              <a:off x="9812435" y="4011397"/>
              <a:ext cx="197927" cy="268861"/>
              <a:chOff x="9812435" y="4011397"/>
              <a:chExt cx="197927" cy="268861"/>
            </a:xfrm>
          </p:grpSpPr>
          <p:sp>
            <p:nvSpPr>
              <p:cNvPr id="98" name="Freeform 98"/>
              <p:cNvSpPr/>
              <p:nvPr/>
            </p:nvSpPr>
            <p:spPr>
              <a:xfrm>
                <a:off x="9829800" y="4051298"/>
                <a:ext cx="127501" cy="127981"/>
              </a:xfrm>
              <a:custGeom>
                <a:avLst/>
                <a:gdLst/>
                <a:ahLst/>
                <a:cxnLst/>
                <a:rect l="l" t="t" r="r" b="b"/>
                <a:pathLst>
                  <a:path w="127501" h="127981">
                    <a:moveTo>
                      <a:pt x="63500" y="2"/>
                    </a:moveTo>
                    <a:cubicBezTo>
                      <a:pt x="98212" y="0"/>
                      <a:pt x="126493" y="27872"/>
                      <a:pt x="126997" y="62581"/>
                    </a:cubicBezTo>
                    <a:cubicBezTo>
                      <a:pt x="127501" y="97289"/>
                      <a:pt x="100040" y="125970"/>
                      <a:pt x="65342" y="126975"/>
                    </a:cubicBezTo>
                    <a:cubicBezTo>
                      <a:pt x="30645" y="127981"/>
                      <a:pt x="1570" y="100937"/>
                      <a:pt x="63" y="66258"/>
                    </a:cubicBezTo>
                    <a:lnTo>
                      <a:pt x="0" y="63502"/>
                    </a:lnTo>
                    <a:lnTo>
                      <a:pt x="63" y="60746"/>
                    </a:lnTo>
                    <a:cubicBezTo>
                      <a:pt x="1539" y="26781"/>
                      <a:pt x="29503" y="4"/>
                      <a:pt x="63500" y="2"/>
                    </a:cubicBezTo>
                    <a:close/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</p:sp>
          <p:sp>
            <p:nvSpPr>
              <p:cNvPr id="99" name="Freeform 99"/>
              <p:cNvSpPr/>
              <p:nvPr/>
            </p:nvSpPr>
            <p:spPr>
              <a:xfrm>
                <a:off x="9812435" y="4011397"/>
                <a:ext cx="197927" cy="225183"/>
              </a:xfrm>
              <a:custGeom>
                <a:avLst/>
                <a:gdLst/>
                <a:ahLst/>
                <a:cxnLst/>
                <a:rect l="l" t="t" r="r" b="b"/>
                <a:pathLst>
                  <a:path w="197927" h="225183">
                    <a:moveTo>
                      <a:pt x="120654" y="8178"/>
                    </a:moveTo>
                    <a:cubicBezTo>
                      <a:pt x="124147" y="2098"/>
                      <a:pt x="131908" y="0"/>
                      <a:pt x="137989" y="3492"/>
                    </a:cubicBezTo>
                    <a:cubicBezTo>
                      <a:pt x="175751" y="25195"/>
                      <a:pt x="197927" y="66445"/>
                      <a:pt x="195204" y="109913"/>
                    </a:cubicBezTo>
                    <a:cubicBezTo>
                      <a:pt x="192480" y="153382"/>
                      <a:pt x="165329" y="191541"/>
                      <a:pt x="125154" y="208362"/>
                    </a:cubicBezTo>
                    <a:cubicBezTo>
                      <a:pt x="84980" y="225183"/>
                      <a:pt x="38740" y="217752"/>
                      <a:pt x="5858" y="189191"/>
                    </a:cubicBezTo>
                    <a:cubicBezTo>
                      <a:pt x="563" y="184590"/>
                      <a:pt x="0" y="176567"/>
                      <a:pt x="4601" y="171272"/>
                    </a:cubicBezTo>
                    <a:cubicBezTo>
                      <a:pt x="9202" y="165976"/>
                      <a:pt x="17225" y="165413"/>
                      <a:pt x="22521" y="170014"/>
                    </a:cubicBezTo>
                    <a:cubicBezTo>
                      <a:pt x="48108" y="192238"/>
                      <a:pt x="84088" y="198021"/>
                      <a:pt x="115350" y="184932"/>
                    </a:cubicBezTo>
                    <a:cubicBezTo>
                      <a:pt x="146611" y="171843"/>
                      <a:pt x="167739" y="142150"/>
                      <a:pt x="169859" y="108326"/>
                    </a:cubicBezTo>
                    <a:cubicBezTo>
                      <a:pt x="171978" y="74501"/>
                      <a:pt x="154723" y="42403"/>
                      <a:pt x="125340" y="25514"/>
                    </a:cubicBezTo>
                    <a:cubicBezTo>
                      <a:pt x="119260" y="22020"/>
                      <a:pt x="117162" y="14259"/>
                      <a:pt x="120654" y="8178"/>
                    </a:cubicBezTo>
                    <a:close/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</p:sp>
          <p:sp>
            <p:nvSpPr>
              <p:cNvPr id="100" name="Freeform 100"/>
              <p:cNvSpPr/>
              <p:nvPr/>
            </p:nvSpPr>
            <p:spPr>
              <a:xfrm>
                <a:off x="9880600" y="4203700"/>
                <a:ext cx="25400" cy="76558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76558">
                    <a:moveTo>
                      <a:pt x="12700" y="0"/>
                    </a:moveTo>
                    <a:cubicBezTo>
                      <a:pt x="19139" y="1"/>
                      <a:pt x="24558" y="4820"/>
                      <a:pt x="25311" y="11214"/>
                    </a:cubicBezTo>
                    <a:lnTo>
                      <a:pt x="25400" y="12700"/>
                    </a:lnTo>
                    <a:lnTo>
                      <a:pt x="25400" y="63500"/>
                    </a:lnTo>
                    <a:cubicBezTo>
                      <a:pt x="25393" y="70219"/>
                      <a:pt x="20152" y="75770"/>
                      <a:pt x="13444" y="76164"/>
                    </a:cubicBezTo>
                    <a:cubicBezTo>
                      <a:pt x="6736" y="76558"/>
                      <a:pt x="883" y="71658"/>
                      <a:pt x="89" y="64986"/>
                    </a:cubicBezTo>
                    <a:lnTo>
                      <a:pt x="0" y="63500"/>
                    </a:lnTo>
                    <a:lnTo>
                      <a:pt x="0" y="12700"/>
                    </a:lnTo>
                    <a:cubicBezTo>
                      <a:pt x="0" y="5686"/>
                      <a:pt x="5686" y="0"/>
                      <a:pt x="12700" y="0"/>
                    </a:cubicBezTo>
                    <a:close/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</p:sp>
          <p:sp>
            <p:nvSpPr>
              <p:cNvPr id="101" name="Freeform 101"/>
              <p:cNvSpPr/>
              <p:nvPr/>
            </p:nvSpPr>
            <p:spPr>
              <a:xfrm>
                <a:off x="9829442" y="4254500"/>
                <a:ext cx="127716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127716" h="25400">
                    <a:moveTo>
                      <a:pt x="114658" y="0"/>
                    </a:moveTo>
                    <a:cubicBezTo>
                      <a:pt x="121377" y="7"/>
                      <a:pt x="126928" y="5248"/>
                      <a:pt x="127322" y="11956"/>
                    </a:cubicBezTo>
                    <a:cubicBezTo>
                      <a:pt x="127716" y="18664"/>
                      <a:pt x="122816" y="24517"/>
                      <a:pt x="116144" y="25311"/>
                    </a:cubicBezTo>
                    <a:lnTo>
                      <a:pt x="114658" y="25400"/>
                    </a:lnTo>
                    <a:lnTo>
                      <a:pt x="13058" y="25400"/>
                    </a:lnTo>
                    <a:cubicBezTo>
                      <a:pt x="6338" y="25393"/>
                      <a:pt x="788" y="20152"/>
                      <a:pt x="394" y="13444"/>
                    </a:cubicBezTo>
                    <a:cubicBezTo>
                      <a:pt x="0" y="6736"/>
                      <a:pt x="4900" y="883"/>
                      <a:pt x="11572" y="89"/>
                    </a:cubicBezTo>
                    <a:lnTo>
                      <a:pt x="13058" y="0"/>
                    </a:lnTo>
                    <a:lnTo>
                      <a:pt x="114658" y="0"/>
                    </a:lnTo>
                    <a:close/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</p:sp>
        </p:grpSp>
        <p:sp>
          <p:nvSpPr>
            <p:cNvPr id="103" name="TextBox 103"/>
            <p:cNvSpPr txBox="1"/>
            <p:nvPr/>
          </p:nvSpPr>
          <p:spPr>
            <a:xfrm>
              <a:off x="8498205" y="4083368"/>
              <a:ext cx="86239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上线部署</a:t>
              </a:r>
            </a:p>
          </p:txBody>
        </p:sp>
        <p:sp>
          <p:nvSpPr>
            <p:cNvPr id="104" name="Line 104"/>
            <p:cNvSpPr/>
            <p:nvPr/>
          </p:nvSpPr>
          <p:spPr>
            <a:xfrm>
              <a:off x="8191500" y="4381500"/>
              <a:ext cx="2476500" cy="9525"/>
            </a:xfrm>
            <a:custGeom>
              <a:avLst/>
              <a:gdLst/>
              <a:ahLst/>
              <a:cxnLst/>
              <a:rect l="l" t="t" r="r" b="b"/>
              <a:pathLst>
                <a:path w="2476500" h="9525">
                  <a:moveTo>
                    <a:pt x="0" y="0"/>
                  </a:moveTo>
                  <a:lnTo>
                    <a:pt x="2476500" y="0"/>
                  </a:lnTo>
                </a:path>
              </a:pathLst>
            </a:custGeom>
            <a:noFill/>
            <a:ln w="9525">
              <a:solidFill>
                <a:srgbClr val="E8F5EE"/>
              </a:solidFill>
            </a:ln>
          </p:spPr>
        </p:sp>
        <p:sp>
          <p:nvSpPr>
            <p:cNvPr id="105" name="TextBox 105"/>
            <p:cNvSpPr txBox="1"/>
            <p:nvPr/>
          </p:nvSpPr>
          <p:spPr>
            <a:xfrm>
              <a:off x="8177212" y="4469606"/>
              <a:ext cx="90761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Vercel 部署</a:t>
              </a:r>
            </a:p>
          </p:txBody>
        </p:sp>
        <p:sp>
          <p:nvSpPr>
            <p:cNvPr id="106" name="TextBox 106"/>
            <p:cNvSpPr txBox="1"/>
            <p:nvPr/>
          </p:nvSpPr>
          <p:spPr>
            <a:xfrm>
              <a:off x="8177212" y="4679156"/>
              <a:ext cx="101441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对外开放访问</a:t>
              </a:r>
            </a:p>
          </p:txBody>
        </p:sp>
        <p:sp>
          <p:nvSpPr>
            <p:cNvPr id="107" name="Rectangle 107"/>
            <p:cNvSpPr/>
            <p:nvPr/>
          </p:nvSpPr>
          <p:spPr>
            <a:xfrm>
              <a:off x="9601200" y="4724400"/>
              <a:ext cx="914400" cy="209550"/>
            </a:xfrm>
            <a:prstGeom prst="roundRect">
              <a:avLst>
                <a:gd name="adj" fmla="val 50000"/>
              </a:avLst>
            </a:prstGeom>
            <a:solidFill>
              <a:srgbClr val="E8F5EE"/>
            </a:solidFill>
            <a:ln>
              <a:noFill/>
            </a:ln>
          </p:spPr>
        </p:sp>
        <p:sp>
          <p:nvSpPr>
            <p:cNvPr id="108" name="TextBox 108"/>
            <p:cNvSpPr txBox="1"/>
            <p:nvPr/>
          </p:nvSpPr>
          <p:spPr>
            <a:xfrm>
              <a:off x="9850295" y="4770120"/>
              <a:ext cx="41620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3A9E6A"/>
                  </a:solidFill>
                  <a:latin typeface="Arial"/>
                  <a:ea typeface="Microsoft YaHei"/>
                  <a:cs typeface="Arial"/>
                </a:rPr>
                <a:t>5 分钟</a:t>
              </a:r>
            </a:p>
          </p:txBody>
        </p:sp>
      </p:grpSp>
      <p:sp>
        <p:nvSpPr>
          <p:cNvPr id="110" name="Rectangle 110"/>
          <p:cNvSpPr/>
          <p:nvPr/>
        </p:nvSpPr>
        <p:spPr>
          <a:xfrm>
            <a:off x="762000" y="5334000"/>
            <a:ext cx="10668000" cy="495300"/>
          </a:xfrm>
          <a:prstGeom prst="roundRect">
            <a:avLst>
              <a:gd name="adj" fmla="val 19231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111" name="TextBox 111"/>
          <p:cNvSpPr txBox="1"/>
          <p:nvPr/>
        </p:nvSpPr>
        <p:spPr>
          <a:xfrm>
            <a:off x="3413760" y="5414010"/>
            <a:ext cx="1999526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全程演示时长约 60 分钟</a:t>
            </a:r>
          </a:p>
        </p:txBody>
      </p:sp>
      <p:sp>
        <p:nvSpPr>
          <p:cNvPr id="112" name="TextBox 112"/>
          <p:cNvSpPr txBox="1"/>
          <p:nvPr/>
        </p:nvSpPr>
        <p:spPr>
          <a:xfrm>
            <a:off x="6054471" y="5414010"/>
            <a:ext cx="83058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E0D8D0"/>
                </a:solidFill>
                <a:latin typeface="Arial"/>
                <a:ea typeface="Microsoft YaHei"/>
                <a:cs typeface="Arial"/>
              </a:rPr>
              <a:t>|</a:t>
            </a:r>
          </a:p>
        </p:txBody>
      </p:sp>
      <p:sp>
        <p:nvSpPr>
          <p:cNvPr id="113" name="TextBox 113"/>
          <p:cNvSpPr txBox="1"/>
          <p:nvPr/>
        </p:nvSpPr>
        <p:spPr>
          <a:xfrm>
            <a:off x="6652260" y="5414010"/>
            <a:ext cx="1984629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含讲解 + 现场操作 + Q&amp;A</a:t>
            </a:r>
          </a:p>
        </p:txBody>
      </p:sp>
      <p:sp>
        <p:nvSpPr>
          <p:cNvPr id="114" name="TextBox 114"/>
          <p:cNvSpPr txBox="1"/>
          <p:nvPr/>
        </p:nvSpPr>
        <p:spPr>
          <a:xfrm>
            <a:off x="4633484" y="5639752"/>
            <a:ext cx="292503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全程 Live Coding · 无预录 · 随时可以提问</a:t>
            </a:r>
          </a:p>
        </p:txBody>
      </p:sp>
      <p:sp>
        <p:nvSpPr>
          <p:cNvPr id="115" name="TextBox 115"/>
          <p:cNvSpPr txBox="1"/>
          <p:nvPr/>
        </p:nvSpPr>
        <p:spPr>
          <a:xfrm>
            <a:off x="11131772" y="6554152"/>
            <a:ext cx="50206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13 / 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5" dur="4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9" dur="4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3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3" dur="4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5" presetClass="entr" presetSubtype="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7" dur="4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/>
      <p:bldP spid="48" grpId="0"/>
      <p:bldP spid="69" grpId="0"/>
      <p:bldP spid="81" grpId="0"/>
      <p:bldP spid="93" grpId="0"/>
      <p:bldP spid="109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727710" y="356235"/>
            <a:ext cx="10702290" cy="777240"/>
            <a:chOff x="727710" y="356235"/>
            <a:chExt cx="10702290" cy="777240"/>
          </a:xfrm>
        </p:grpSpPr>
        <p:sp>
          <p:nvSpPr>
            <p:cNvPr id="4" name="TextBox 4"/>
            <p:cNvSpPr txBox="1"/>
            <p:nvPr/>
          </p:nvSpPr>
          <p:spPr>
            <a:xfrm>
              <a:off x="727710" y="356235"/>
              <a:ext cx="3960666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Demo A — 五步走清单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742950" y="790575"/>
              <a:ext cx="376237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每一步做什么、用什么工具、产出什么</a:t>
              </a:r>
            </a:p>
          </p:txBody>
        </p:sp>
        <p:sp>
          <p:nvSpPr>
            <p:cNvPr id="6" name="Line 6"/>
            <p:cNvSpPr/>
            <p:nvPr/>
          </p:nvSpPr>
          <p:spPr>
            <a:xfrm>
              <a:off x="762000" y="11239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4288">
              <a:solidFill>
                <a:srgbClr val="E0D8D0"/>
              </a:solidFill>
            </a:ln>
          </p:spPr>
        </p:sp>
      </p:grpSp>
      <p:sp>
        <p:nvSpPr>
          <p:cNvPr id="8" name="Rectangle 8"/>
          <p:cNvSpPr/>
          <p:nvPr/>
        </p:nvSpPr>
        <p:spPr>
          <a:xfrm>
            <a:off x="762000" y="1295400"/>
            <a:ext cx="10668000" cy="4629150"/>
          </a:xfrm>
          <a:prstGeom prst="roundRect">
            <a:avLst>
              <a:gd name="adj" fmla="val 823"/>
            </a:avLst>
          </a:prstGeom>
          <a:noFill/>
          <a:ln w="19050">
            <a:solidFill>
              <a:srgbClr val="C8C0B8"/>
            </a:solidFill>
          </a:ln>
        </p:spPr>
      </p:sp>
      <p:grpSp>
        <p:nvGrpSpPr>
          <p:cNvPr id="68" name="Group 68"/>
          <p:cNvGrpSpPr/>
          <p:nvPr/>
        </p:nvGrpSpPr>
        <p:grpSpPr>
          <a:xfrm>
            <a:off x="762000" y="1295400"/>
            <a:ext cx="10668000" cy="4629150"/>
            <a:chOff x="762000" y="1295400"/>
            <a:chExt cx="10668000" cy="4629150"/>
          </a:xfrm>
        </p:grpSpPr>
        <p:sp>
          <p:nvSpPr>
            <p:cNvPr id="9" name="Rectangle 9"/>
            <p:cNvSpPr/>
            <p:nvPr/>
          </p:nvSpPr>
          <p:spPr>
            <a:xfrm>
              <a:off x="762000" y="1295400"/>
              <a:ext cx="10668000" cy="476250"/>
            </a:xfrm>
            <a:prstGeom prst="roundRect">
              <a:avLst>
                <a:gd name="adj" fmla="val 8000"/>
              </a:avLst>
            </a:prstGeom>
            <a:solidFill>
              <a:srgbClr val="1E1E1E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130618" y="1475899"/>
              <a:ext cx="32380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步骤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273618" y="1475899"/>
              <a:ext cx="62284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操作内容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457849" y="1475899"/>
              <a:ext cx="32380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工具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975330" y="1475899"/>
              <a:ext cx="62284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预期产出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547080" y="1475899"/>
              <a:ext cx="32380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75" b="1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耗时</a:t>
              </a:r>
            </a:p>
          </p:txBody>
        </p:sp>
        <p:sp>
          <p:nvSpPr>
            <p:cNvPr id="15" name="Line 15"/>
            <p:cNvSpPr/>
            <p:nvPr/>
          </p:nvSpPr>
          <p:spPr>
            <a:xfrm>
              <a:off x="1905000" y="1295400"/>
              <a:ext cx="9525" cy="4629150"/>
            </a:xfrm>
            <a:custGeom>
              <a:avLst/>
              <a:gdLst/>
              <a:ahLst/>
              <a:cxnLst/>
              <a:rect l="l" t="t" r="r" b="b"/>
              <a:pathLst>
                <a:path w="9525" h="4629150">
                  <a:moveTo>
                    <a:pt x="0" y="0"/>
                  </a:moveTo>
                  <a:lnTo>
                    <a:pt x="0" y="4629150"/>
                  </a:lnTo>
                </a:path>
              </a:pathLst>
            </a:custGeom>
            <a:noFill/>
            <a:ln w="14288">
              <a:solidFill>
                <a:srgbClr val="E0D8D0"/>
              </a:solidFill>
            </a:ln>
          </p:spPr>
        </p:sp>
        <p:sp>
          <p:nvSpPr>
            <p:cNvPr id="16" name="Line 16"/>
            <p:cNvSpPr/>
            <p:nvPr/>
          </p:nvSpPr>
          <p:spPr>
            <a:xfrm>
              <a:off x="5048250" y="1295400"/>
              <a:ext cx="9525" cy="4629150"/>
            </a:xfrm>
            <a:custGeom>
              <a:avLst/>
              <a:gdLst/>
              <a:ahLst/>
              <a:cxnLst/>
              <a:rect l="l" t="t" r="r" b="b"/>
              <a:pathLst>
                <a:path w="9525" h="4629150">
                  <a:moveTo>
                    <a:pt x="0" y="0"/>
                  </a:moveTo>
                  <a:lnTo>
                    <a:pt x="0" y="4629150"/>
                  </a:lnTo>
                </a:path>
              </a:pathLst>
            </a:custGeom>
            <a:noFill/>
            <a:ln w="14288">
              <a:solidFill>
                <a:srgbClr val="E0D8D0"/>
              </a:solidFill>
            </a:ln>
          </p:spPr>
        </p:sp>
        <p:sp>
          <p:nvSpPr>
            <p:cNvPr id="17" name="Line 17"/>
            <p:cNvSpPr/>
            <p:nvPr/>
          </p:nvSpPr>
          <p:spPr>
            <a:xfrm>
              <a:off x="6858000" y="1295400"/>
              <a:ext cx="9525" cy="4629150"/>
            </a:xfrm>
            <a:custGeom>
              <a:avLst/>
              <a:gdLst/>
              <a:ahLst/>
              <a:cxnLst/>
              <a:rect l="l" t="t" r="r" b="b"/>
              <a:pathLst>
                <a:path w="9525" h="4629150">
                  <a:moveTo>
                    <a:pt x="0" y="0"/>
                  </a:moveTo>
                  <a:lnTo>
                    <a:pt x="0" y="4629150"/>
                  </a:lnTo>
                </a:path>
              </a:pathLst>
            </a:custGeom>
            <a:noFill/>
            <a:ln w="14288">
              <a:solidFill>
                <a:srgbClr val="E0D8D0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10096500" y="1295400"/>
              <a:ext cx="9525" cy="4629150"/>
            </a:xfrm>
            <a:custGeom>
              <a:avLst/>
              <a:gdLst/>
              <a:ahLst/>
              <a:cxnLst/>
              <a:rect l="l" t="t" r="r" b="b"/>
              <a:pathLst>
                <a:path w="9525" h="4629150">
                  <a:moveTo>
                    <a:pt x="0" y="0"/>
                  </a:moveTo>
                  <a:lnTo>
                    <a:pt x="0" y="4629150"/>
                  </a:lnTo>
                </a:path>
              </a:pathLst>
            </a:custGeom>
            <a:noFill/>
            <a:ln w="14288">
              <a:solidFill>
                <a:srgbClr val="E0D8D0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762000" y="22288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rgbClr val="E0D8D0"/>
              </a:solidFill>
            </a:ln>
          </p:spPr>
        </p:sp>
        <p:sp>
          <p:nvSpPr>
            <p:cNvPr id="20" name="Ellipse 20"/>
            <p:cNvSpPr/>
            <p:nvPr/>
          </p:nvSpPr>
          <p:spPr>
            <a:xfrm>
              <a:off x="1143000" y="1676400"/>
              <a:ext cx="381000" cy="381000"/>
            </a:xfrm>
            <a:prstGeom prst="ellipse">
              <a:avLst/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257572" y="1828324"/>
              <a:ext cx="15185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041208" y="1672114"/>
              <a:ext cx="1166427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写设计 Brief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044065" y="1925002"/>
              <a:ext cx="278701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描述目标受众、风格偏好、页面功能需求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219700" y="1676400"/>
              <a:ext cx="1409700" cy="285750"/>
            </a:xfrm>
            <a:prstGeom prst="roundRect">
              <a:avLst>
                <a:gd name="adj" fmla="val 26667"/>
              </a:avLst>
            </a:prstGeom>
            <a:solidFill>
              <a:srgbClr val="F0EDE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5395951" y="1753552"/>
              <a:ext cx="1057199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Claude Design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996112" y="1745456"/>
              <a:ext cx="202489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设计方向 + 风格关键词确认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0337197" y="1737360"/>
              <a:ext cx="53654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10 min</a:t>
              </a:r>
            </a:p>
          </p:txBody>
        </p:sp>
        <p:sp>
          <p:nvSpPr>
            <p:cNvPr id="28" name="Line 28"/>
            <p:cNvSpPr/>
            <p:nvPr/>
          </p:nvSpPr>
          <p:spPr>
            <a:xfrm>
              <a:off x="762000" y="31432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rgbClr val="E0D8D0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762000" y="2228850"/>
              <a:ext cx="10668000" cy="914400"/>
            </a:xfrm>
            <a:prstGeom prst="rect">
              <a:avLst/>
            </a:prstGeom>
            <a:solidFill>
              <a:srgbClr val="FAFAF8"/>
            </a:solidFill>
            <a:ln>
              <a:noFill/>
            </a:ln>
          </p:spPr>
        </p:sp>
        <p:sp>
          <p:nvSpPr>
            <p:cNvPr id="30" name="Ellipse 30"/>
            <p:cNvSpPr/>
            <p:nvPr/>
          </p:nvSpPr>
          <p:spPr>
            <a:xfrm>
              <a:off x="1143000" y="2590800"/>
              <a:ext cx="381000" cy="381000"/>
            </a:xfrm>
            <a:prstGeom prst="ellipse">
              <a:avLst/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1238882" y="2742724"/>
              <a:ext cx="18923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2041208" y="2586514"/>
              <a:ext cx="1010007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生成视觉稿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2044065" y="2839402"/>
              <a:ext cx="289436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Claude Design 生成配色、排版、页面布局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219700" y="2590800"/>
              <a:ext cx="1409700" cy="285750"/>
            </a:xfrm>
            <a:prstGeom prst="roundRect">
              <a:avLst>
                <a:gd name="adj" fmla="val 26667"/>
              </a:avLst>
            </a:prstGeom>
            <a:solidFill>
              <a:srgbClr val="F0EDE8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5395951" y="2667952"/>
              <a:ext cx="1057199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Claude Design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996112" y="2659856"/>
              <a:ext cx="169628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配色方案 + 信息结构图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0337197" y="2651760"/>
              <a:ext cx="53654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10 min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762000" y="40576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rgbClr val="E0D8D0"/>
              </a:solidFill>
            </a:ln>
          </p:spPr>
        </p:sp>
        <p:sp>
          <p:nvSpPr>
            <p:cNvPr id="39" name="Ellipse 39"/>
            <p:cNvSpPr/>
            <p:nvPr/>
          </p:nvSpPr>
          <p:spPr>
            <a:xfrm>
              <a:off x="1143000" y="3505200"/>
              <a:ext cx="381000" cy="381000"/>
            </a:xfrm>
            <a:prstGeom prst="ellipse">
              <a:avLst/>
            </a:prstGeom>
            <a:solidFill>
              <a:srgbClr val="3D7DE4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1238882" y="3657124"/>
              <a:ext cx="18923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2041208" y="3500914"/>
              <a:ext cx="1489042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配置 CLAUDE.md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2044065" y="3753802"/>
              <a:ext cx="2595324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将设计规范写入 CLAUDE.md 项目文件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5219700" y="3505200"/>
              <a:ext cx="1409700" cy="285750"/>
            </a:xfrm>
            <a:prstGeom prst="roundRect">
              <a:avLst>
                <a:gd name="adj" fmla="val 26667"/>
              </a:avLst>
            </a:prstGeom>
            <a:solidFill>
              <a:srgbClr val="EBF0FA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5527157" y="3590449"/>
              <a:ext cx="79478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3D7DE4"/>
                  </a:solidFill>
                  <a:latin typeface="Consolas"/>
                  <a:ea typeface="Microsoft YaHei"/>
                  <a:cs typeface="Consolas"/>
                </a:rPr>
                <a:t>CLAUDE.md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996112" y="3574256"/>
              <a:ext cx="218920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项目规范文件 · 约束后续生成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0337197" y="3566160"/>
              <a:ext cx="53654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b="1" dirty="0">
                  <a:solidFill>
                    <a:srgbClr val="3D7DE4"/>
                  </a:solidFill>
                  <a:latin typeface="Arial"/>
                  <a:ea typeface="Microsoft YaHei"/>
                  <a:cs typeface="Arial"/>
                </a:rPr>
                <a:t>10 min</a:t>
              </a:r>
            </a:p>
          </p:txBody>
        </p:sp>
        <p:sp>
          <p:nvSpPr>
            <p:cNvPr id="47" name="Line 47"/>
            <p:cNvSpPr/>
            <p:nvPr/>
          </p:nvSpPr>
          <p:spPr>
            <a:xfrm>
              <a:off x="762000" y="49720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rgbClr val="E0D8D0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762000" y="4057650"/>
              <a:ext cx="10668000" cy="914400"/>
            </a:xfrm>
            <a:prstGeom prst="rect">
              <a:avLst/>
            </a:prstGeom>
            <a:solidFill>
              <a:srgbClr val="FAFAF8"/>
            </a:solidFill>
            <a:ln>
              <a:noFill/>
            </a:ln>
          </p:spPr>
        </p:sp>
        <p:sp>
          <p:nvSpPr>
            <p:cNvPr id="49" name="Ellipse 49"/>
            <p:cNvSpPr/>
            <p:nvPr/>
          </p:nvSpPr>
          <p:spPr>
            <a:xfrm>
              <a:off x="1143000" y="4419600"/>
              <a:ext cx="381000" cy="381000"/>
            </a:xfrm>
            <a:prstGeom prst="ellipse">
              <a:avLst/>
            </a:prstGeom>
            <a:solidFill>
              <a:srgbClr val="3D7DE4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1238882" y="4571524"/>
              <a:ext cx="18923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04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2041208" y="4415314"/>
              <a:ext cx="1567252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Claude Code 开发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2044065" y="4668202"/>
              <a:ext cx="324707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生成 HTML/CSS/JS，多页面，加 chatbot 彩蛋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5219700" y="4419600"/>
              <a:ext cx="1409700" cy="285750"/>
            </a:xfrm>
            <a:prstGeom prst="roundRect">
              <a:avLst>
                <a:gd name="adj" fmla="val 26667"/>
              </a:avLst>
            </a:prstGeom>
            <a:solidFill>
              <a:srgbClr val="EBF0FA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5464384" y="4496752"/>
              <a:ext cx="92033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3D7DE4"/>
                  </a:solidFill>
                  <a:latin typeface="Arial"/>
                  <a:ea typeface="Microsoft YaHei"/>
                  <a:cs typeface="Arial"/>
                </a:rPr>
                <a:t>Claude Code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6996112" y="4431506"/>
              <a:ext cx="101441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完整网站代码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6997065" y="4649152"/>
              <a:ext cx="177488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index / about / chatbot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0291191" y="4480560"/>
              <a:ext cx="582549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b="1" dirty="0">
                  <a:solidFill>
                    <a:srgbClr val="3D7DE4"/>
                  </a:solidFill>
                  <a:latin typeface="Arial"/>
                  <a:ea typeface="Microsoft YaHei"/>
                  <a:cs typeface="Arial"/>
                </a:rPr>
                <a:t>20 min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762000" y="4972050"/>
              <a:ext cx="10668000" cy="952500"/>
            </a:xfrm>
            <a:prstGeom prst="rect">
              <a:avLst/>
            </a:prstGeom>
            <a:solidFill>
              <a:srgbClr val="F0EDE8"/>
            </a:solidFill>
            <a:ln>
              <a:noFill/>
            </a:ln>
          </p:spPr>
        </p:sp>
        <p:sp>
          <p:nvSpPr>
            <p:cNvPr id="59" name="Ellipse 59"/>
            <p:cNvSpPr/>
            <p:nvPr/>
          </p:nvSpPr>
          <p:spPr>
            <a:xfrm>
              <a:off x="1143000" y="5353050"/>
              <a:ext cx="381000" cy="381000"/>
            </a:xfrm>
            <a:prstGeom prst="ellipse">
              <a:avLst/>
            </a:prstGeom>
            <a:solidFill>
              <a:srgbClr val="3A9E6A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1238882" y="5504974"/>
              <a:ext cx="18923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05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2041208" y="5348764"/>
              <a:ext cx="814483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部署上线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2044065" y="5601652"/>
              <a:ext cx="253398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推送到 Vercel，配置域名，对外开放</a:t>
              </a:r>
            </a:p>
          </p:txBody>
        </p:sp>
        <p:sp>
          <p:nvSpPr>
            <p:cNvPr id="63" name="Rectangle 63"/>
            <p:cNvSpPr/>
            <p:nvPr/>
          </p:nvSpPr>
          <p:spPr>
            <a:xfrm>
              <a:off x="5219700" y="5353050"/>
              <a:ext cx="1409700" cy="285750"/>
            </a:xfrm>
            <a:prstGeom prst="roundRect">
              <a:avLst>
                <a:gd name="adj" fmla="val 26667"/>
              </a:avLst>
            </a:prstGeom>
            <a:solidFill>
              <a:srgbClr val="E8F5EE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5684152" y="5438299"/>
              <a:ext cx="48079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3A9E6A"/>
                  </a:solidFill>
                  <a:latin typeface="Arial"/>
                  <a:ea typeface="Microsoft YaHei"/>
                  <a:cs typeface="Arial"/>
                </a:rPr>
                <a:t>Vercel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6996112" y="5364956"/>
              <a:ext cx="189180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3A9E6A"/>
                  </a:solidFill>
                  <a:latin typeface="Arial"/>
                  <a:ea typeface="Microsoft YaHei"/>
                  <a:cs typeface="Arial"/>
                </a:rPr>
                <a:t>🌎 可访问的在线网站 URL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6997065" y="5582602"/>
              <a:ext cx="156019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真实用户可以打开访问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10392404" y="5414010"/>
              <a:ext cx="48133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b="1" dirty="0">
                  <a:solidFill>
                    <a:srgbClr val="3A9E6A"/>
                  </a:solidFill>
                  <a:latin typeface="Arial"/>
                  <a:ea typeface="Microsoft YaHei"/>
                  <a:cs typeface="Arial"/>
                </a:rPr>
                <a:t>5 min</a:t>
              </a:r>
            </a:p>
          </p:txBody>
        </p:sp>
      </p:grpSp>
      <p:sp>
        <p:nvSpPr>
          <p:cNvPr id="69" name="TextBox 69"/>
          <p:cNvSpPr txBox="1"/>
          <p:nvPr/>
        </p:nvSpPr>
        <p:spPr>
          <a:xfrm>
            <a:off x="747712" y="6069806"/>
            <a:ext cx="35718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合计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10044305" y="6045518"/>
            <a:ext cx="831340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35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≈ 60 min</a:t>
            </a:r>
          </a:p>
        </p:txBody>
      </p:sp>
      <p:sp>
        <p:nvSpPr>
          <p:cNvPr id="71" name="Line 71"/>
          <p:cNvSpPr/>
          <p:nvPr/>
        </p:nvSpPr>
        <p:spPr>
          <a:xfrm>
            <a:off x="762000" y="60579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72" name="TextBox 72"/>
          <p:cNvSpPr txBox="1"/>
          <p:nvPr/>
        </p:nvSpPr>
        <p:spPr>
          <a:xfrm>
            <a:off x="11131772" y="6554152"/>
            <a:ext cx="50206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14 / 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4" name="Ellipse 4"/>
          <p:cNvSpPr/>
          <p:nvPr/>
        </p:nvSpPr>
        <p:spPr>
          <a:xfrm>
            <a:off x="9144000" y="-952500"/>
            <a:ext cx="3810000" cy="3810000"/>
          </a:xfrm>
          <a:prstGeom prst="ellipse">
            <a:avLst/>
          </a:prstGeom>
          <a:solidFill>
            <a:srgbClr val="F0EDE8">
              <a:alpha val="50000"/>
            </a:srgbClr>
          </a:solidFill>
          <a:ln>
            <a:noFill/>
          </a:ln>
        </p:spPr>
      </p:sp>
      <p:sp>
        <p:nvSpPr>
          <p:cNvPr id="5" name="Ellipse 5"/>
          <p:cNvSpPr/>
          <p:nvPr/>
        </p:nvSpPr>
        <p:spPr>
          <a:xfrm>
            <a:off x="9906000" y="-190500"/>
            <a:ext cx="2286000" cy="2286000"/>
          </a:xfrm>
          <a:prstGeom prst="ellipse">
            <a:avLst/>
          </a:prstGeom>
          <a:solidFill>
            <a:srgbClr val="E8DDD5">
              <a:alpha val="40000"/>
            </a:srgbClr>
          </a:solidFill>
          <a:ln>
            <a:noFill/>
          </a:ln>
        </p:spPr>
      </p:sp>
      <p:sp>
        <p:nvSpPr>
          <p:cNvPr id="6" name="Ellipse 6"/>
          <p:cNvSpPr/>
          <p:nvPr/>
        </p:nvSpPr>
        <p:spPr>
          <a:xfrm>
            <a:off x="-762000" y="4572000"/>
            <a:ext cx="3429000" cy="3429000"/>
          </a:xfrm>
          <a:prstGeom prst="ellipse">
            <a:avLst/>
          </a:prstGeom>
          <a:solidFill>
            <a:srgbClr val="F0EDE8">
              <a:alpha val="40000"/>
            </a:srgbClr>
          </a:solidFill>
          <a:ln>
            <a:noFill/>
          </a:ln>
        </p:spPr>
      </p:sp>
      <p:grpSp>
        <p:nvGrpSpPr>
          <p:cNvPr id="10" name="Group 10"/>
          <p:cNvGrpSpPr/>
          <p:nvPr/>
        </p:nvGrpSpPr>
        <p:grpSpPr>
          <a:xfrm>
            <a:off x="5410200" y="1409700"/>
            <a:ext cx="1371600" cy="1371600"/>
            <a:chOff x="5410200" y="1409700"/>
            <a:chExt cx="1371600" cy="1371600"/>
          </a:xfrm>
        </p:grpSpPr>
        <p:sp>
          <p:nvSpPr>
            <p:cNvPr id="7" name="Ellipse 7"/>
            <p:cNvSpPr/>
            <p:nvPr/>
          </p:nvSpPr>
          <p:spPr>
            <a:xfrm>
              <a:off x="5410200" y="1409700"/>
              <a:ext cx="1371600" cy="1371600"/>
            </a:xfrm>
            <a:prstGeom prst="ellipse">
              <a:avLst/>
            </a:prstGeom>
            <a:solidFill>
              <a:srgbClr val="C96133">
                <a:alpha val="10000"/>
              </a:srgbClr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5543550" y="1543050"/>
              <a:ext cx="1104900" cy="1104900"/>
            </a:xfrm>
            <a:prstGeom prst="ellipse">
              <a:avLst/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5972173" y="1908732"/>
              <a:ext cx="309574" cy="373536"/>
            </a:xfrm>
            <a:custGeom>
              <a:avLst/>
              <a:gdLst/>
              <a:ahLst/>
              <a:cxnLst/>
              <a:rect l="l" t="t" r="r" b="b"/>
              <a:pathLst>
                <a:path w="309574" h="373536">
                  <a:moveTo>
                    <a:pt x="2" y="21668"/>
                  </a:moveTo>
                  <a:lnTo>
                    <a:pt x="2" y="351868"/>
                  </a:lnTo>
                  <a:cubicBezTo>
                    <a:pt x="0" y="359345"/>
                    <a:pt x="4042" y="366239"/>
                    <a:pt x="10569" y="369888"/>
                  </a:cubicBezTo>
                  <a:cubicBezTo>
                    <a:pt x="17096" y="373536"/>
                    <a:pt x="25085" y="373369"/>
                    <a:pt x="31454" y="369451"/>
                  </a:cubicBezTo>
                  <a:lnTo>
                    <a:pt x="299741" y="204351"/>
                  </a:lnTo>
                  <a:cubicBezTo>
                    <a:pt x="305851" y="200597"/>
                    <a:pt x="309574" y="193939"/>
                    <a:pt x="309574" y="186768"/>
                  </a:cubicBezTo>
                  <a:cubicBezTo>
                    <a:pt x="309574" y="179597"/>
                    <a:pt x="305851" y="172939"/>
                    <a:pt x="299741" y="169185"/>
                  </a:cubicBezTo>
                  <a:lnTo>
                    <a:pt x="31454" y="4085"/>
                  </a:lnTo>
                  <a:cubicBezTo>
                    <a:pt x="25085" y="167"/>
                    <a:pt x="17096" y="0"/>
                    <a:pt x="10569" y="3649"/>
                  </a:cubicBezTo>
                  <a:cubicBezTo>
                    <a:pt x="4042" y="7297"/>
                    <a:pt x="0" y="14191"/>
                    <a:pt x="2" y="21668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</p:sp>
      </p:grpSp>
      <p:grpSp>
        <p:nvGrpSpPr>
          <p:cNvPr id="13" name="Group 13"/>
          <p:cNvGrpSpPr/>
          <p:nvPr/>
        </p:nvGrpSpPr>
        <p:grpSpPr>
          <a:xfrm>
            <a:off x="4554950" y="2811780"/>
            <a:ext cx="3082100" cy="1055370"/>
            <a:chOff x="4554950" y="2811780"/>
            <a:chExt cx="3082100" cy="1055370"/>
          </a:xfrm>
        </p:grpSpPr>
        <p:sp>
          <p:nvSpPr>
            <p:cNvPr id="11" name="TextBox 11"/>
            <p:cNvSpPr txBox="1"/>
            <p:nvPr/>
          </p:nvSpPr>
          <p:spPr>
            <a:xfrm>
              <a:off x="4670108" y="2811780"/>
              <a:ext cx="2851785" cy="7315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36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跟我做时间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554950" y="3501390"/>
              <a:ext cx="308210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打开你的电脑，一起动手</a:t>
              </a:r>
            </a:p>
          </p:txBody>
        </p:sp>
      </p:grpSp>
      <p:sp>
        <p:nvSpPr>
          <p:cNvPr id="14" name="Line 14"/>
          <p:cNvSpPr/>
          <p:nvPr/>
        </p:nvSpPr>
        <p:spPr>
          <a:xfrm>
            <a:off x="4191000" y="3943350"/>
            <a:ext cx="3810000" cy="9525"/>
          </a:xfrm>
          <a:custGeom>
            <a:avLst/>
            <a:gdLst/>
            <a:ahLst/>
            <a:cxnLst/>
            <a:rect l="l" t="t" r="r" b="b"/>
            <a:pathLst>
              <a:path w="3810000" h="9525">
                <a:moveTo>
                  <a:pt x="0" y="0"/>
                </a:moveTo>
                <a:lnTo>
                  <a:pt x="3810000" y="0"/>
                </a:lnTo>
              </a:path>
            </a:pathLst>
          </a:custGeom>
          <a:noFill/>
          <a:ln w="14288">
            <a:solidFill>
              <a:srgbClr val="E0D8D0"/>
            </a:solidFill>
          </a:ln>
        </p:spPr>
      </p:sp>
      <p:grpSp>
        <p:nvGrpSpPr>
          <p:cNvPr id="30" name="Group 30"/>
          <p:cNvGrpSpPr/>
          <p:nvPr/>
        </p:nvGrpSpPr>
        <p:grpSpPr>
          <a:xfrm>
            <a:off x="4248150" y="4229100"/>
            <a:ext cx="3962400" cy="1438275"/>
            <a:chOff x="4248150" y="4229100"/>
            <a:chExt cx="3962400" cy="1438275"/>
          </a:xfrm>
        </p:grpSpPr>
        <p:grpSp>
          <p:nvGrpSpPr>
            <p:cNvPr id="19" name="Group 19"/>
            <p:cNvGrpSpPr/>
            <p:nvPr/>
          </p:nvGrpSpPr>
          <p:grpSpPr>
            <a:xfrm>
              <a:off x="4248150" y="4229100"/>
              <a:ext cx="3250406" cy="371475"/>
              <a:chOff x="4248150" y="4229100"/>
              <a:chExt cx="3250406" cy="371475"/>
            </a:xfrm>
          </p:grpSpPr>
          <p:sp>
            <p:nvSpPr>
              <p:cNvPr id="15" name="Ellipse 15"/>
              <p:cNvSpPr/>
              <p:nvPr/>
            </p:nvSpPr>
            <p:spPr>
              <a:xfrm>
                <a:off x="4248150" y="4229100"/>
                <a:ext cx="342900" cy="342900"/>
              </a:xfrm>
              <a:prstGeom prst="ellipse">
                <a:avLst/>
              </a:prstGeom>
              <a:solidFill>
                <a:srgbClr val="3A9E6A">
                  <a:alpha val="15000"/>
                </a:srgbClr>
              </a:solidFill>
              <a:ln>
                <a:noFill/>
              </a:ln>
            </p:spPr>
          </p:sp>
          <p:sp>
            <p:nvSpPr>
              <p:cNvPr id="16" name="Ellipse 16"/>
              <p:cNvSpPr/>
              <p:nvPr/>
            </p:nvSpPr>
            <p:spPr>
              <a:xfrm>
                <a:off x="4305300" y="4286250"/>
                <a:ext cx="228600" cy="228600"/>
              </a:xfrm>
              <a:prstGeom prst="ellipse">
                <a:avLst/>
              </a:prstGeom>
              <a:solidFill>
                <a:srgbClr val="3A9E6A"/>
              </a:solidFill>
              <a:ln>
                <a:noFill/>
              </a:ln>
            </p:spPr>
          </p:sp>
          <p:sp>
            <p:nvSpPr>
              <p:cNvPr id="17" name="TextBox 17"/>
              <p:cNvSpPr txBox="1"/>
              <p:nvPr/>
            </p:nvSpPr>
            <p:spPr>
              <a:xfrm>
                <a:off x="4384790" y="4352449"/>
                <a:ext cx="69621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1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4667250" y="4295775"/>
                <a:ext cx="2831306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dirty="0">
                    <a:solidFill>
                      <a:srgbClr val="1E1E1E"/>
                    </a:solidFill>
                    <a:latin typeface="Arial"/>
                    <a:ea typeface="Microsoft YaHei"/>
                    <a:cs typeface="Arial"/>
                  </a:rPr>
                  <a:t xml:space="preserve">打开浏览器，进入 </a:t>
                </a:r>
                <a:r>
                  <a:rPr lang="zh-CN" sz="1500" b="1" dirty="0">
                    <a:solidFill>
                      <a:srgbClr val="C96133"/>
                    </a:solidFill>
                    <a:latin typeface="Consolas"/>
                    <a:ea typeface="Microsoft YaHei"/>
                    <a:cs typeface="Consolas"/>
                  </a:rPr>
                  <a:t>claude.ai</a:t>
                </a:r>
              </a:p>
            </p:txBody>
          </p:sp>
        </p:grpSp>
        <p:grpSp>
          <p:nvGrpSpPr>
            <p:cNvPr id="24" name="Group 24"/>
            <p:cNvGrpSpPr/>
            <p:nvPr/>
          </p:nvGrpSpPr>
          <p:grpSpPr>
            <a:xfrm>
              <a:off x="4248150" y="4762500"/>
              <a:ext cx="3962400" cy="371475"/>
              <a:chOff x="4248150" y="4762500"/>
              <a:chExt cx="3962400" cy="371475"/>
            </a:xfrm>
          </p:grpSpPr>
          <p:sp>
            <p:nvSpPr>
              <p:cNvPr id="20" name="Ellipse 20"/>
              <p:cNvSpPr/>
              <p:nvPr/>
            </p:nvSpPr>
            <p:spPr>
              <a:xfrm>
                <a:off x="4248150" y="4762500"/>
                <a:ext cx="342900" cy="342900"/>
              </a:xfrm>
              <a:prstGeom prst="ellipse">
                <a:avLst/>
              </a:prstGeom>
              <a:solidFill>
                <a:srgbClr val="3A9E6A">
                  <a:alpha val="15000"/>
                </a:srgbClr>
              </a:solidFill>
              <a:ln>
                <a:noFill/>
              </a:ln>
            </p:spPr>
          </p:sp>
          <p:sp>
            <p:nvSpPr>
              <p:cNvPr id="21" name="Ellipse 21"/>
              <p:cNvSpPr/>
              <p:nvPr/>
            </p:nvSpPr>
            <p:spPr>
              <a:xfrm>
                <a:off x="4305300" y="4819650"/>
                <a:ext cx="228600" cy="228600"/>
              </a:xfrm>
              <a:prstGeom prst="ellipse">
                <a:avLst/>
              </a:prstGeom>
              <a:solidFill>
                <a:srgbClr val="3A9E6A"/>
              </a:solidFill>
              <a:ln>
                <a:noFill/>
              </a:ln>
            </p:spPr>
          </p:sp>
          <p:sp>
            <p:nvSpPr>
              <p:cNvPr id="22" name="TextBox 22"/>
              <p:cNvSpPr txBox="1"/>
              <p:nvPr/>
            </p:nvSpPr>
            <p:spPr>
              <a:xfrm>
                <a:off x="4366100" y="4885849"/>
                <a:ext cx="107000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2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4667250" y="4829175"/>
                <a:ext cx="35433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dirty="0">
                    <a:solidFill>
                      <a:srgbClr val="1E1E1E"/>
                    </a:solidFill>
                    <a:latin typeface="Arial"/>
                    <a:ea typeface="Microsoft YaHei"/>
                    <a:cs typeface="Arial"/>
                  </a:rPr>
                  <a:t>跟着我的操作，同步在自己电脑上做</a:t>
                </a:r>
              </a:p>
            </p:txBody>
          </p:sp>
        </p:grpSp>
        <p:grpSp>
          <p:nvGrpSpPr>
            <p:cNvPr id="29" name="Group 29"/>
            <p:cNvGrpSpPr/>
            <p:nvPr/>
          </p:nvGrpSpPr>
          <p:grpSpPr>
            <a:xfrm>
              <a:off x="4248150" y="5295900"/>
              <a:ext cx="3524250" cy="371475"/>
              <a:chOff x="4248150" y="5295900"/>
              <a:chExt cx="3524250" cy="371475"/>
            </a:xfrm>
          </p:grpSpPr>
          <p:sp>
            <p:nvSpPr>
              <p:cNvPr id="25" name="Ellipse 25"/>
              <p:cNvSpPr/>
              <p:nvPr/>
            </p:nvSpPr>
            <p:spPr>
              <a:xfrm>
                <a:off x="4248150" y="5295900"/>
                <a:ext cx="342900" cy="342900"/>
              </a:xfrm>
              <a:prstGeom prst="ellipse">
                <a:avLst/>
              </a:prstGeom>
              <a:solidFill>
                <a:srgbClr val="3A9E6A">
                  <a:alpha val="15000"/>
                </a:srgbClr>
              </a:solidFill>
              <a:ln>
                <a:noFill/>
              </a:ln>
            </p:spPr>
          </p:sp>
          <p:sp>
            <p:nvSpPr>
              <p:cNvPr id="26" name="Ellipse 26"/>
              <p:cNvSpPr/>
              <p:nvPr/>
            </p:nvSpPr>
            <p:spPr>
              <a:xfrm>
                <a:off x="4305300" y="5353050"/>
                <a:ext cx="228600" cy="228600"/>
              </a:xfrm>
              <a:prstGeom prst="ellipse">
                <a:avLst/>
              </a:prstGeom>
              <a:solidFill>
                <a:srgbClr val="3A9E6A"/>
              </a:solidFill>
              <a:ln>
                <a:noFill/>
              </a:ln>
            </p:spPr>
          </p:sp>
          <p:sp>
            <p:nvSpPr>
              <p:cNvPr id="27" name="TextBox 27"/>
              <p:cNvSpPr txBox="1"/>
              <p:nvPr/>
            </p:nvSpPr>
            <p:spPr>
              <a:xfrm>
                <a:off x="4366100" y="5419249"/>
                <a:ext cx="107000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3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667250" y="5362575"/>
                <a:ext cx="310515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dirty="0">
                    <a:solidFill>
                      <a:srgbClr val="1E1E1E"/>
                    </a:solidFill>
                    <a:latin typeface="Arial"/>
                    <a:ea typeface="Microsoft YaHei"/>
                    <a:cs typeface="Arial"/>
                  </a:rPr>
                  <a:t>有问题随时举手提问，不要憋着</a:t>
                </a:r>
              </a:p>
            </p:txBody>
          </p:sp>
        </p:grpSp>
      </p:grpSp>
      <p:sp>
        <p:nvSpPr>
          <p:cNvPr id="31" name="Rectangle 31"/>
          <p:cNvSpPr/>
          <p:nvPr/>
        </p:nvSpPr>
        <p:spPr>
          <a:xfrm>
            <a:off x="3619500" y="5924550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32" name="TextBox 32"/>
          <p:cNvSpPr txBox="1"/>
          <p:nvPr/>
        </p:nvSpPr>
        <p:spPr>
          <a:xfrm>
            <a:off x="4268133" y="6052185"/>
            <a:ext cx="3655733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⏰ 大约 25 分钟 · 做完你就有一个自己的网站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131772" y="6554152"/>
            <a:ext cx="50206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15 / 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30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4" name="Ellipse 4"/>
          <p:cNvSpPr/>
          <p:nvPr/>
        </p:nvSpPr>
        <p:spPr>
          <a:xfrm>
            <a:off x="-381000" y="-571500"/>
            <a:ext cx="4572000" cy="4572000"/>
          </a:xfrm>
          <a:prstGeom prst="ellipse">
            <a:avLst/>
          </a:prstGeom>
          <a:solidFill>
            <a:srgbClr val="F0EDE8">
              <a:alpha val="35000"/>
            </a:srgbClr>
          </a:solidFill>
          <a:ln>
            <a:noFill/>
          </a:ln>
        </p:spPr>
      </p:sp>
      <p:sp>
        <p:nvSpPr>
          <p:cNvPr id="5" name="Ellipse 5"/>
          <p:cNvSpPr/>
          <p:nvPr/>
        </p:nvSpPr>
        <p:spPr>
          <a:xfrm>
            <a:off x="8572500" y="3429000"/>
            <a:ext cx="3810000" cy="3810000"/>
          </a:xfrm>
          <a:prstGeom prst="ellipse">
            <a:avLst/>
          </a:prstGeom>
          <a:solidFill>
            <a:srgbClr val="EBF0FA">
              <a:alpha val="30000"/>
            </a:srgbClr>
          </a:solidFill>
          <a:ln>
            <a:noFill/>
          </a:ln>
        </p:spPr>
      </p:sp>
      <p:grpSp>
        <p:nvGrpSpPr>
          <p:cNvPr id="28" name="Group 28"/>
          <p:cNvGrpSpPr/>
          <p:nvPr/>
        </p:nvGrpSpPr>
        <p:grpSpPr>
          <a:xfrm>
            <a:off x="747712" y="1600200"/>
            <a:ext cx="3443288" cy="3955256"/>
            <a:chOff x="747712" y="1600200"/>
            <a:chExt cx="3443288" cy="3955256"/>
          </a:xfrm>
        </p:grpSpPr>
        <p:sp>
          <p:nvSpPr>
            <p:cNvPr id="6" name="Rectangle 6"/>
            <p:cNvSpPr/>
            <p:nvPr/>
          </p:nvSpPr>
          <p:spPr>
            <a:xfrm>
              <a:off x="762000" y="1600200"/>
              <a:ext cx="3429000" cy="3619500"/>
            </a:xfrm>
            <a:prstGeom prst="roundRect">
              <a:avLst>
                <a:gd name="adj" fmla="val 3333"/>
              </a:avLst>
            </a:prstGeom>
            <a:solidFill>
              <a:srgbClr val="FFFFFF"/>
            </a:solidFill>
            <a:ln w="19050">
              <a:solidFill>
                <a:srgbClr val="E0D8D0"/>
              </a:solidFill>
            </a:ln>
          </p:spPr>
        </p:sp>
        <p:sp>
          <p:nvSpPr>
            <p:cNvPr id="7" name="Rectangle 7"/>
            <p:cNvSpPr/>
            <p:nvPr/>
          </p:nvSpPr>
          <p:spPr>
            <a:xfrm>
              <a:off x="762000" y="1600200"/>
              <a:ext cx="3429000" cy="342900"/>
            </a:xfrm>
            <a:prstGeom prst="roundRect">
              <a:avLst>
                <a:gd name="adj" fmla="val 33333"/>
              </a:avLst>
            </a:prstGeom>
            <a:solidFill>
              <a:srgbClr val="F0EDE8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1809750"/>
              <a:ext cx="3429000" cy="133350"/>
            </a:xfrm>
            <a:prstGeom prst="rect">
              <a:avLst/>
            </a:prstGeom>
            <a:solidFill>
              <a:srgbClr val="F0EDE8"/>
            </a:solidFill>
            <a:ln>
              <a:noFill/>
            </a:ln>
          </p:spPr>
        </p:sp>
        <p:sp>
          <p:nvSpPr>
            <p:cNvPr id="9" name="Ellipse 9"/>
            <p:cNvSpPr/>
            <p:nvPr/>
          </p:nvSpPr>
          <p:spPr>
            <a:xfrm>
              <a:off x="971550" y="1714500"/>
              <a:ext cx="114300" cy="114300"/>
            </a:xfrm>
            <a:prstGeom prst="ellipse">
              <a:avLst/>
            </a:prstGeom>
            <a:solidFill>
              <a:srgbClr val="D44545">
                <a:alpha val="50000"/>
              </a:srgbClr>
            </a:solidFill>
            <a:ln>
              <a:noFill/>
            </a:ln>
          </p:spPr>
        </p:sp>
        <p:sp>
          <p:nvSpPr>
            <p:cNvPr id="10" name="Ellipse 10"/>
            <p:cNvSpPr/>
            <p:nvPr/>
          </p:nvSpPr>
          <p:spPr>
            <a:xfrm>
              <a:off x="1162050" y="1714500"/>
              <a:ext cx="114300" cy="114300"/>
            </a:xfrm>
            <a:prstGeom prst="ellipse">
              <a:avLst/>
            </a:prstGeom>
            <a:solidFill>
              <a:srgbClr val="F59E0B">
                <a:alpha val="50000"/>
              </a:srgbClr>
            </a:solidFill>
            <a:ln>
              <a:noFill/>
            </a:ln>
          </p:spPr>
        </p:sp>
        <p:sp>
          <p:nvSpPr>
            <p:cNvPr id="11" name="Ellipse 11"/>
            <p:cNvSpPr/>
            <p:nvPr/>
          </p:nvSpPr>
          <p:spPr>
            <a:xfrm>
              <a:off x="1352550" y="1714500"/>
              <a:ext cx="114300" cy="114300"/>
            </a:xfrm>
            <a:prstGeom prst="ellipse">
              <a:avLst/>
            </a:prstGeom>
            <a:solidFill>
              <a:srgbClr val="3A9E6A">
                <a:alpha val="50000"/>
              </a:srgbClr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1581150" y="1695450"/>
              <a:ext cx="2095500" cy="1524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2205740" y="1720691"/>
              <a:ext cx="846320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dirty="0">
                  <a:solidFill>
                    <a:srgbClr val="9E9E9E"/>
                  </a:solidFill>
                  <a:latin typeface="Consolas"/>
                  <a:ea typeface="Microsoft YaHei"/>
                  <a:cs typeface="Consolas"/>
                </a:rPr>
                <a:t>austin-ai.com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90600" y="2133600"/>
              <a:ext cx="2971800" cy="381000"/>
            </a:xfrm>
            <a:prstGeom prst="roundRect">
              <a:avLst>
                <a:gd name="adj" fmla="val 10000"/>
              </a:avLst>
            </a:prstGeom>
            <a:solidFill>
              <a:srgbClr val="C96133">
                <a:alpha val="15000"/>
              </a:srgbClr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863365" y="2258378"/>
              <a:ext cx="122627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北美华人 AI 课程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990600" y="2628900"/>
              <a:ext cx="2095500" cy="95250"/>
            </a:xfrm>
            <a:prstGeom prst="roundRect">
              <a:avLst>
                <a:gd name="adj" fmla="val 40000"/>
              </a:avLst>
            </a:prstGeom>
            <a:solidFill>
              <a:srgbClr val="E0D8D0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990600" y="2819400"/>
              <a:ext cx="1714500" cy="95250"/>
            </a:xfrm>
            <a:prstGeom prst="roundRect">
              <a:avLst>
                <a:gd name="adj" fmla="val 40000"/>
              </a:avLst>
            </a:prstGeom>
            <a:solidFill>
              <a:srgbClr val="E0D8D0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990600" y="3009900"/>
              <a:ext cx="1905000" cy="95250"/>
            </a:xfrm>
            <a:prstGeom prst="roundRect">
              <a:avLst>
                <a:gd name="adj" fmla="val 40000"/>
              </a:avLst>
            </a:prstGeom>
            <a:solidFill>
              <a:srgbClr val="E0D8D0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990600" y="3314700"/>
              <a:ext cx="1143000" cy="304800"/>
            </a:xfrm>
            <a:prstGeom prst="roundRect">
              <a:avLst>
                <a:gd name="adj" fmla="val 50000"/>
              </a:avLst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250680" y="3409474"/>
              <a:ext cx="62284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立即报名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2247900" y="4152900"/>
              <a:ext cx="457200" cy="457200"/>
            </a:xfrm>
            <a:prstGeom prst="ellipse">
              <a:avLst/>
            </a:prstGeom>
            <a:solidFill>
              <a:srgbClr val="F0EDE8"/>
            </a:solidFill>
            <a:ln w="19050">
              <a:solidFill>
                <a:srgbClr val="C96133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2397204" y="4286250"/>
              <a:ext cx="158591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000000"/>
                  </a:solidFill>
                  <a:latin typeface="Arial"/>
                  <a:ea typeface="Microsoft YaHei"/>
                  <a:cs typeface="Arial"/>
                </a:rPr>
                <a:t>👀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2819400" y="4095750"/>
              <a:ext cx="1238250" cy="533400"/>
            </a:xfrm>
            <a:prstGeom prst="roundRect">
              <a:avLst>
                <a:gd name="adj" fmla="val 17857"/>
              </a:avLst>
            </a:prstGeom>
            <a:solidFill>
              <a:srgbClr val="1E1E1E"/>
            </a:solidFill>
            <a:ln>
              <a:noFill/>
            </a:ln>
          </p:spPr>
        </p:sp>
        <p:sp>
          <p:nvSpPr>
            <p:cNvPr id="24" name="Polygon 24"/>
            <p:cNvSpPr/>
            <p:nvPr/>
          </p:nvSpPr>
          <p:spPr>
            <a:xfrm>
              <a:off x="2667000" y="4381500"/>
              <a:ext cx="152400" cy="114300"/>
            </a:xfrm>
            <a:custGeom>
              <a:avLst/>
              <a:gdLst/>
              <a:ahLst/>
              <a:cxnLst/>
              <a:rect l="l" t="t" r="r" b="b"/>
              <a:pathLst>
                <a:path w="152400" h="114300">
                  <a:moveTo>
                    <a:pt x="152400" y="0"/>
                  </a:moveTo>
                  <a:lnTo>
                    <a:pt x="0" y="76200"/>
                  </a:lnTo>
                  <a:lnTo>
                    <a:pt x="152400" y="114300"/>
                  </a:lnTo>
                  <a:close/>
                </a:path>
              </a:pathLst>
            </a:custGeom>
            <a:solidFill>
              <a:srgbClr val="1E1E1E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3098482" y="4236720"/>
              <a:ext cx="68008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这课程适合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229928" y="4408170"/>
              <a:ext cx="41719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我吗？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47712" y="5326856"/>
              <a:ext cx="94047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访客有疑问…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4381500" y="3209449"/>
            <a:ext cx="914400" cy="276701"/>
            <a:chOff x="4381500" y="3209449"/>
            <a:chExt cx="914400" cy="276701"/>
          </a:xfrm>
        </p:grpSpPr>
        <p:sp>
          <p:nvSpPr>
            <p:cNvPr id="29" name="Line 29"/>
            <p:cNvSpPr/>
            <p:nvPr/>
          </p:nvSpPr>
          <p:spPr>
            <a:xfrm>
              <a:off x="4381500" y="3429000"/>
              <a:ext cx="762000" cy="9525"/>
            </a:xfrm>
            <a:custGeom>
              <a:avLst/>
              <a:gdLst/>
              <a:ahLst/>
              <a:cxnLst/>
              <a:rect l="l" t="t" r="r" b="b"/>
              <a:pathLst>
                <a:path w="762000" h="9525">
                  <a:moveTo>
                    <a:pt x="0" y="0"/>
                  </a:moveTo>
                  <a:lnTo>
                    <a:pt x="762000" y="0"/>
                  </a:lnTo>
                </a:path>
              </a:pathLst>
            </a:custGeom>
            <a:noFill/>
            <a:ln w="19050">
              <a:solidFill>
                <a:srgbClr val="E0D8D0"/>
              </a:solidFill>
              <a:custDash>
                <a:ds d="250000" sp="200000"/>
              </a:custDash>
            </a:ln>
          </p:spPr>
        </p:sp>
        <p:sp>
          <p:nvSpPr>
            <p:cNvPr id="30" name="Polygon 30"/>
            <p:cNvSpPr/>
            <p:nvPr/>
          </p:nvSpPr>
          <p:spPr>
            <a:xfrm>
              <a:off x="5162550" y="3371850"/>
              <a:ext cx="133350" cy="114300"/>
            </a:xfrm>
            <a:custGeom>
              <a:avLst/>
              <a:gdLst/>
              <a:ahLst/>
              <a:cxnLst/>
              <a:rect l="l" t="t" r="r" b="b"/>
              <a:pathLst>
                <a:path w="133350" h="114300">
                  <a:moveTo>
                    <a:pt x="0" y="0"/>
                  </a:moveTo>
                  <a:lnTo>
                    <a:pt x="1333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D44545">
                <a:alpha val="60000"/>
              </a:srgbClr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4683919" y="3209449"/>
              <a:ext cx="30956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但是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5295900" y="1828800"/>
            <a:ext cx="6134100" cy="3390900"/>
            <a:chOff x="5295900" y="1828800"/>
            <a:chExt cx="6134100" cy="3390900"/>
          </a:xfrm>
        </p:grpSpPr>
        <p:sp>
          <p:nvSpPr>
            <p:cNvPr id="33" name="Rectangle 33"/>
            <p:cNvSpPr/>
            <p:nvPr/>
          </p:nvSpPr>
          <p:spPr>
            <a:xfrm>
              <a:off x="5295900" y="1828800"/>
              <a:ext cx="6134100" cy="3390900"/>
            </a:xfrm>
            <a:prstGeom prst="roundRect">
              <a:avLst>
                <a:gd name="adj" fmla="val 4494"/>
              </a:avLst>
            </a:prstGeom>
            <a:solidFill>
              <a:srgbClr val="FFF8F5"/>
            </a:solidFill>
            <a:ln w="19050">
              <a:solidFill>
                <a:srgbClr val="FFCCB0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5676900" y="2190750"/>
              <a:ext cx="609600" cy="609600"/>
            </a:xfrm>
            <a:prstGeom prst="roundRect">
              <a:avLst>
                <a:gd name="adj" fmla="val 21875"/>
              </a:avLst>
            </a:prstGeom>
            <a:solidFill>
              <a:srgbClr val="C96133">
                <a:alpha val="10000"/>
              </a:srgbClr>
            </a:solidFill>
            <a:ln>
              <a:noFill/>
            </a:ln>
          </p:spPr>
        </p:sp>
        <p:sp>
          <p:nvSpPr>
            <p:cNvPr id="35" name="Freeform 35"/>
            <p:cNvSpPr/>
            <p:nvPr/>
          </p:nvSpPr>
          <p:spPr>
            <a:xfrm>
              <a:off x="5791200" y="2324100"/>
              <a:ext cx="381000" cy="362841"/>
            </a:xfrm>
            <a:custGeom>
              <a:avLst/>
              <a:gdLst/>
              <a:ahLst/>
              <a:cxnLst/>
              <a:rect l="l" t="t" r="r" b="b"/>
              <a:pathLst>
                <a:path w="381000" h="362841">
                  <a:moveTo>
                    <a:pt x="304800" y="0"/>
                  </a:moveTo>
                  <a:cubicBezTo>
                    <a:pt x="346884" y="0"/>
                    <a:pt x="381000" y="34116"/>
                    <a:pt x="381000" y="76200"/>
                  </a:cubicBezTo>
                  <a:lnTo>
                    <a:pt x="381000" y="228600"/>
                  </a:lnTo>
                  <a:cubicBezTo>
                    <a:pt x="381000" y="270684"/>
                    <a:pt x="346884" y="304800"/>
                    <a:pt x="304800" y="304800"/>
                  </a:cubicBezTo>
                  <a:lnTo>
                    <a:pt x="214808" y="304800"/>
                  </a:lnTo>
                  <a:lnTo>
                    <a:pt x="124092" y="359226"/>
                  </a:lnTo>
                  <a:cubicBezTo>
                    <a:pt x="118540" y="362557"/>
                    <a:pt x="111677" y="362841"/>
                    <a:pt x="105870" y="359980"/>
                  </a:cubicBezTo>
                  <a:cubicBezTo>
                    <a:pt x="100062" y="357118"/>
                    <a:pt x="96105" y="351503"/>
                    <a:pt x="95364" y="345072"/>
                  </a:cubicBezTo>
                  <a:lnTo>
                    <a:pt x="95250" y="342900"/>
                  </a:lnTo>
                  <a:lnTo>
                    <a:pt x="95250" y="304800"/>
                  </a:lnTo>
                  <a:lnTo>
                    <a:pt x="76200" y="304800"/>
                  </a:lnTo>
                  <a:cubicBezTo>
                    <a:pt x="35597" y="304800"/>
                    <a:pt x="2125" y="272962"/>
                    <a:pt x="95" y="232410"/>
                  </a:cubicBezTo>
                  <a:lnTo>
                    <a:pt x="0" y="228600"/>
                  </a:lnTo>
                  <a:lnTo>
                    <a:pt x="0" y="76200"/>
                  </a:lnTo>
                  <a:cubicBezTo>
                    <a:pt x="0" y="34116"/>
                    <a:pt x="34116" y="0"/>
                    <a:pt x="76200" y="0"/>
                  </a:cubicBezTo>
                  <a:close/>
                  <a:moveTo>
                    <a:pt x="251460" y="176898"/>
                  </a:moveTo>
                  <a:cubicBezTo>
                    <a:pt x="243948" y="169535"/>
                    <a:pt x="231888" y="169654"/>
                    <a:pt x="224523" y="177165"/>
                  </a:cubicBezTo>
                  <a:cubicBezTo>
                    <a:pt x="215565" y="186311"/>
                    <a:pt x="203302" y="191465"/>
                    <a:pt x="190500" y="191465"/>
                  </a:cubicBezTo>
                  <a:cubicBezTo>
                    <a:pt x="177698" y="191465"/>
                    <a:pt x="165435" y="186311"/>
                    <a:pt x="156477" y="177165"/>
                  </a:cubicBezTo>
                  <a:cubicBezTo>
                    <a:pt x="149080" y="169833"/>
                    <a:pt x="137166" y="169800"/>
                    <a:pt x="129729" y="177091"/>
                  </a:cubicBezTo>
                  <a:cubicBezTo>
                    <a:pt x="122292" y="184382"/>
                    <a:pt x="122089" y="196295"/>
                    <a:pt x="129273" y="203835"/>
                  </a:cubicBezTo>
                  <a:cubicBezTo>
                    <a:pt x="145397" y="220288"/>
                    <a:pt x="167464" y="229559"/>
                    <a:pt x="190500" y="229559"/>
                  </a:cubicBezTo>
                  <a:cubicBezTo>
                    <a:pt x="213536" y="229559"/>
                    <a:pt x="235603" y="220288"/>
                    <a:pt x="251727" y="203835"/>
                  </a:cubicBezTo>
                  <a:cubicBezTo>
                    <a:pt x="259090" y="196323"/>
                    <a:pt x="258971" y="184263"/>
                    <a:pt x="251460" y="176898"/>
                  </a:cubicBezTo>
                  <a:moveTo>
                    <a:pt x="143065" y="95250"/>
                  </a:moveTo>
                  <a:lnTo>
                    <a:pt x="142875" y="95250"/>
                  </a:lnTo>
                  <a:cubicBezTo>
                    <a:pt x="132354" y="95250"/>
                    <a:pt x="123825" y="103779"/>
                    <a:pt x="123825" y="114300"/>
                  </a:cubicBezTo>
                  <a:cubicBezTo>
                    <a:pt x="123825" y="124821"/>
                    <a:pt x="132354" y="133350"/>
                    <a:pt x="142875" y="133350"/>
                  </a:cubicBezTo>
                  <a:lnTo>
                    <a:pt x="143065" y="133350"/>
                  </a:lnTo>
                  <a:cubicBezTo>
                    <a:pt x="153587" y="133350"/>
                    <a:pt x="162115" y="124821"/>
                    <a:pt x="162115" y="114300"/>
                  </a:cubicBezTo>
                  <a:cubicBezTo>
                    <a:pt x="162115" y="103779"/>
                    <a:pt x="153587" y="95250"/>
                    <a:pt x="143065" y="95250"/>
                  </a:cubicBezTo>
                  <a:moveTo>
                    <a:pt x="238315" y="95250"/>
                  </a:moveTo>
                  <a:lnTo>
                    <a:pt x="238125" y="95250"/>
                  </a:lnTo>
                  <a:cubicBezTo>
                    <a:pt x="227604" y="95250"/>
                    <a:pt x="219075" y="103779"/>
                    <a:pt x="219075" y="114300"/>
                  </a:cubicBezTo>
                  <a:cubicBezTo>
                    <a:pt x="219075" y="124821"/>
                    <a:pt x="227604" y="133350"/>
                    <a:pt x="238125" y="133350"/>
                  </a:cubicBezTo>
                  <a:lnTo>
                    <a:pt x="238315" y="133350"/>
                  </a:lnTo>
                  <a:cubicBezTo>
                    <a:pt x="248837" y="133350"/>
                    <a:pt x="257365" y="124821"/>
                    <a:pt x="257365" y="114300"/>
                  </a:cubicBezTo>
                  <a:cubicBezTo>
                    <a:pt x="257365" y="103779"/>
                    <a:pt x="248837" y="95250"/>
                    <a:pt x="238315" y="95250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452235" y="2246948"/>
              <a:ext cx="1544717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讲师不在线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461760" y="2594610"/>
              <a:ext cx="16078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访客的问题没人回答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5676900" y="2933700"/>
              <a:ext cx="5486400" cy="9525"/>
            </a:xfrm>
            <a:custGeom>
              <a:avLst/>
              <a:gdLst/>
              <a:ahLst/>
              <a:cxnLst/>
              <a:rect l="l" t="t" r="r" b="b"/>
              <a:pathLst>
                <a:path w="5486400" h="9525">
                  <a:moveTo>
                    <a:pt x="0" y="0"/>
                  </a:moveTo>
                  <a:lnTo>
                    <a:pt x="5486400" y="0"/>
                  </a:lnTo>
                </a:path>
              </a:pathLst>
            </a:custGeom>
            <a:noFill/>
            <a:ln w="14288">
              <a:solidFill>
                <a:srgbClr val="FFE0CC"/>
              </a:solidFill>
            </a:ln>
          </p:spPr>
        </p:sp>
        <p:grpSp>
          <p:nvGrpSpPr>
            <p:cNvPr id="49" name="Group 49"/>
            <p:cNvGrpSpPr/>
            <p:nvPr/>
          </p:nvGrpSpPr>
          <p:grpSpPr>
            <a:xfrm>
              <a:off x="5676900" y="3124200"/>
              <a:ext cx="5524500" cy="1955006"/>
              <a:chOff x="5676900" y="3124200"/>
              <a:chExt cx="5524500" cy="1955006"/>
            </a:xfrm>
          </p:grpSpPr>
          <p:sp>
            <p:nvSpPr>
              <p:cNvPr id="39" name="Rectangle 39"/>
              <p:cNvSpPr/>
              <p:nvPr/>
            </p:nvSpPr>
            <p:spPr>
              <a:xfrm>
                <a:off x="5676900" y="3124200"/>
                <a:ext cx="5524500" cy="495300"/>
              </a:xfrm>
              <a:prstGeom prst="roundRect">
                <a:avLst>
                  <a:gd name="adj" fmla="val 15385"/>
                </a:avLst>
              </a:pr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40" name="TextBox 40"/>
              <p:cNvSpPr txBox="1"/>
              <p:nvPr/>
            </p:nvSpPr>
            <p:spPr>
              <a:xfrm>
                <a:off x="6042660" y="3204210"/>
                <a:ext cx="3009900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5A5A5A"/>
                    </a:solidFill>
                    <a:latin typeface="Arial"/>
                    <a:ea typeface="Microsoft YaHei"/>
                    <a:cs typeface="Arial"/>
                  </a:rPr>
                  <a:t>😤 访客等不到回复 → 直接关掉网页走人</a:t>
                </a: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6044565" y="3410902"/>
                <a:ext cx="217360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E9E9E"/>
                    </a:solidFill>
                    <a:latin typeface="Arial"/>
                    <a:ea typeface="Microsoft YaHei"/>
                    <a:cs typeface="Arial"/>
                  </a:rPr>
                  <a:t>你的第一印象机会就这样错过了</a:t>
                </a:r>
              </a:p>
            </p:txBody>
          </p:sp>
          <p:sp>
            <p:nvSpPr>
              <p:cNvPr id="42" name="Rectangle 42"/>
              <p:cNvSpPr/>
              <p:nvPr/>
            </p:nvSpPr>
            <p:spPr>
              <a:xfrm>
                <a:off x="5676900" y="3733800"/>
                <a:ext cx="5524500" cy="495300"/>
              </a:xfrm>
              <a:prstGeom prst="roundRect">
                <a:avLst>
                  <a:gd name="adj" fmla="val 15385"/>
                </a:avLst>
              </a:pr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43" name="TextBox 43"/>
              <p:cNvSpPr txBox="1"/>
              <p:nvPr/>
            </p:nvSpPr>
            <p:spPr>
              <a:xfrm>
                <a:off x="6042660" y="3813810"/>
                <a:ext cx="3009900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5A5A5A"/>
                    </a:solidFill>
                    <a:latin typeface="Arial"/>
                    <a:ea typeface="Microsoft YaHei"/>
                    <a:cs typeface="Arial"/>
                  </a:rPr>
                  <a:t>📩 留邮件 / 微信联系？太慢，访客不等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6044565" y="4020502"/>
                <a:ext cx="182089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E9E9E"/>
                    </a:solidFill>
                    <a:latin typeface="Arial"/>
                    <a:ea typeface="Microsoft YaHei"/>
                    <a:cs typeface="Arial"/>
                  </a:rPr>
                  <a:t>现代访客的耐心只有 30 秒</a:t>
                </a:r>
              </a:p>
            </p:txBody>
          </p:sp>
          <p:sp>
            <p:nvSpPr>
              <p:cNvPr id="45" name="Rectangle 45"/>
              <p:cNvSpPr/>
              <p:nvPr/>
            </p:nvSpPr>
            <p:spPr>
              <a:xfrm>
                <a:off x="5676900" y="4343400"/>
                <a:ext cx="5524500" cy="685800"/>
              </a:xfrm>
              <a:prstGeom prst="roundRect">
                <a:avLst>
                  <a:gd name="adj" fmla="val 11111"/>
                </a:avLst>
              </a:prstGeom>
              <a:solidFill>
                <a:srgbClr val="F0EDE8"/>
              </a:solidFill>
              <a:ln>
                <a:noFill/>
              </a:ln>
            </p:spPr>
          </p:sp>
          <p:sp>
            <p:nvSpPr>
              <p:cNvPr id="46" name="TextBox 46"/>
              <p:cNvSpPr txBox="1"/>
              <p:nvPr/>
            </p:nvSpPr>
            <p:spPr>
              <a:xfrm>
                <a:off x="6041708" y="4434364"/>
                <a:ext cx="1762776" cy="259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75" b="1" dirty="0">
                    <a:solidFill>
                      <a:srgbClr val="C96133"/>
                    </a:solidFill>
                    <a:latin typeface="Arial"/>
                    <a:ea typeface="Microsoft YaHei"/>
                    <a:cs typeface="Arial"/>
                  </a:rPr>
                  <a:t>🤔 理想方案是什么？</a:t>
                </a:r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6043612" y="4679156"/>
                <a:ext cx="2246709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A5A5A"/>
                    </a:solidFill>
                    <a:latin typeface="Arial"/>
                    <a:ea typeface="Microsoft YaHei"/>
                    <a:cs typeface="Arial"/>
                  </a:rPr>
                  <a:t>7x24 小时自动回答访客问题，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6043612" y="4850606"/>
                <a:ext cx="1507331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A5A5A"/>
                    </a:solidFill>
                    <a:latin typeface="Arial"/>
                    <a:ea typeface="Microsoft YaHei"/>
                    <a:cs typeface="Arial"/>
                  </a:rPr>
                  <a:t>像讲师本人在线一样</a:t>
                </a:r>
              </a:p>
            </p:txBody>
          </p:sp>
        </p:grpSp>
      </p:grpSp>
      <p:sp>
        <p:nvSpPr>
          <p:cNvPr id="51" name="TextBox 51"/>
          <p:cNvSpPr txBox="1"/>
          <p:nvPr/>
        </p:nvSpPr>
        <p:spPr>
          <a:xfrm>
            <a:off x="4510634" y="5855018"/>
            <a:ext cx="3170732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下一个彩蛋 → 我们来解决这个问题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11131772" y="6554152"/>
            <a:ext cx="50206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16 / 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4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11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4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5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32" grpId="0"/>
      <p:bldP spid="50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4" name="Ellipse 4"/>
          <p:cNvSpPr/>
          <p:nvPr/>
        </p:nvSpPr>
        <p:spPr>
          <a:xfrm>
            <a:off x="3048000" y="190500"/>
            <a:ext cx="6096000" cy="6096000"/>
          </a:xfrm>
          <a:prstGeom prst="ellipse">
            <a:avLst/>
          </a:prstGeom>
          <a:solidFill>
            <a:srgbClr val="F0EDE8">
              <a:alpha val="25000"/>
            </a:srgbClr>
          </a:solidFill>
          <a:ln>
            <a:noFill/>
          </a:ln>
        </p:spPr>
      </p:sp>
      <p:sp>
        <p:nvSpPr>
          <p:cNvPr id="5" name="Ellipse 5"/>
          <p:cNvSpPr/>
          <p:nvPr/>
        </p:nvSpPr>
        <p:spPr>
          <a:xfrm>
            <a:off x="3810000" y="952500"/>
            <a:ext cx="4572000" cy="4572000"/>
          </a:xfrm>
          <a:prstGeom prst="ellipse">
            <a:avLst/>
          </a:prstGeom>
          <a:solidFill>
            <a:srgbClr val="F0EDE8">
              <a:alpha val="30000"/>
            </a:srgbClr>
          </a:solidFill>
          <a:ln>
            <a:noFill/>
          </a:ln>
        </p:spPr>
      </p:sp>
      <p:sp>
        <p:nvSpPr>
          <p:cNvPr id="6" name="Ellipse 6"/>
          <p:cNvSpPr/>
          <p:nvPr/>
        </p:nvSpPr>
        <p:spPr>
          <a:xfrm>
            <a:off x="4572000" y="1714500"/>
            <a:ext cx="3048000" cy="3048000"/>
          </a:xfrm>
          <a:prstGeom prst="ellipse">
            <a:avLst/>
          </a:prstGeom>
          <a:solidFill>
            <a:srgbClr val="F0EDE8">
              <a:alpha val="35000"/>
            </a:srgbClr>
          </a:solidFill>
          <a:ln>
            <a:noFill/>
          </a:ln>
        </p:spPr>
      </p:sp>
      <p:sp>
        <p:nvSpPr>
          <p:cNvPr id="7" name="Ellipse 7"/>
          <p:cNvSpPr/>
          <p:nvPr/>
        </p:nvSpPr>
        <p:spPr>
          <a:xfrm>
            <a:off x="1666875" y="1285875"/>
            <a:ext cx="95250" cy="95250"/>
          </a:xfrm>
          <a:prstGeom prst="ellipse">
            <a:avLst/>
          </a:prstGeom>
          <a:solidFill>
            <a:srgbClr val="C96133">
              <a:alpha val="30000"/>
            </a:srgbClr>
          </a:solidFill>
          <a:ln>
            <a:noFill/>
          </a:ln>
        </p:spPr>
      </p:sp>
      <p:sp>
        <p:nvSpPr>
          <p:cNvPr id="8" name="Ellipse 8"/>
          <p:cNvSpPr/>
          <p:nvPr/>
        </p:nvSpPr>
        <p:spPr>
          <a:xfrm>
            <a:off x="2447925" y="2066925"/>
            <a:ext cx="57150" cy="57150"/>
          </a:xfrm>
          <a:prstGeom prst="ellipse">
            <a:avLst/>
          </a:prstGeom>
          <a:solidFill>
            <a:srgbClr val="C96133">
              <a:alpha val="20000"/>
            </a:srgbClr>
          </a:solidFill>
          <a:ln>
            <a:noFill/>
          </a:ln>
        </p:spPr>
      </p:sp>
      <p:sp>
        <p:nvSpPr>
          <p:cNvPr id="9" name="Ellipse 9"/>
          <p:cNvSpPr/>
          <p:nvPr/>
        </p:nvSpPr>
        <p:spPr>
          <a:xfrm>
            <a:off x="1295400" y="3581400"/>
            <a:ext cx="76200" cy="76200"/>
          </a:xfrm>
          <a:prstGeom prst="ellipse">
            <a:avLst/>
          </a:prstGeom>
          <a:solidFill>
            <a:srgbClr val="C96133">
              <a:alpha val="25000"/>
            </a:srgbClr>
          </a:solidFill>
          <a:ln>
            <a:noFill/>
          </a:ln>
        </p:spPr>
      </p:sp>
      <p:sp>
        <p:nvSpPr>
          <p:cNvPr id="10" name="Ellipse 10"/>
          <p:cNvSpPr/>
          <p:nvPr/>
        </p:nvSpPr>
        <p:spPr>
          <a:xfrm>
            <a:off x="10429875" y="1476375"/>
            <a:ext cx="95250" cy="95250"/>
          </a:xfrm>
          <a:prstGeom prst="ellipse">
            <a:avLst/>
          </a:prstGeom>
          <a:solidFill>
            <a:srgbClr val="3D7DE4">
              <a:alpha val="30000"/>
            </a:srgbClr>
          </a:solidFill>
          <a:ln>
            <a:noFill/>
          </a:ln>
        </p:spPr>
      </p:sp>
      <p:sp>
        <p:nvSpPr>
          <p:cNvPr id="11" name="Ellipse 11"/>
          <p:cNvSpPr/>
          <p:nvPr/>
        </p:nvSpPr>
        <p:spPr>
          <a:xfrm>
            <a:off x="9877425" y="2638425"/>
            <a:ext cx="57150" cy="57150"/>
          </a:xfrm>
          <a:prstGeom prst="ellipse">
            <a:avLst/>
          </a:prstGeom>
          <a:solidFill>
            <a:srgbClr val="3D7DE4">
              <a:alpha val="20000"/>
            </a:srgbClr>
          </a:solidFill>
          <a:ln>
            <a:noFill/>
          </a:ln>
        </p:spPr>
      </p:sp>
      <p:sp>
        <p:nvSpPr>
          <p:cNvPr id="12" name="Ellipse 12"/>
          <p:cNvSpPr/>
          <p:nvPr/>
        </p:nvSpPr>
        <p:spPr>
          <a:xfrm>
            <a:off x="10820400" y="4152900"/>
            <a:ext cx="76200" cy="76200"/>
          </a:xfrm>
          <a:prstGeom prst="ellipse">
            <a:avLst/>
          </a:prstGeom>
          <a:solidFill>
            <a:srgbClr val="C96133">
              <a:alpha val="25000"/>
            </a:srgbClr>
          </a:solidFill>
          <a:ln>
            <a:noFill/>
          </a:ln>
        </p:spPr>
      </p:sp>
      <p:sp>
        <p:nvSpPr>
          <p:cNvPr id="13" name="Ellipse 13"/>
          <p:cNvSpPr/>
          <p:nvPr/>
        </p:nvSpPr>
        <p:spPr>
          <a:xfrm>
            <a:off x="2819400" y="5486400"/>
            <a:ext cx="76200" cy="76200"/>
          </a:xfrm>
          <a:prstGeom prst="ellipse">
            <a:avLst/>
          </a:prstGeom>
          <a:solidFill>
            <a:srgbClr val="3A9E6A">
              <a:alpha val="25000"/>
            </a:srgbClr>
          </a:solidFill>
          <a:ln>
            <a:noFill/>
          </a:ln>
        </p:spPr>
      </p:sp>
      <p:sp>
        <p:nvSpPr>
          <p:cNvPr id="14" name="Ellipse 14"/>
          <p:cNvSpPr/>
          <p:nvPr/>
        </p:nvSpPr>
        <p:spPr>
          <a:xfrm>
            <a:off x="9286875" y="5286375"/>
            <a:ext cx="95250" cy="95250"/>
          </a:xfrm>
          <a:prstGeom prst="ellipse">
            <a:avLst/>
          </a:prstGeom>
          <a:solidFill>
            <a:srgbClr val="3A9E6A">
              <a:alpha val="20000"/>
            </a:srgbClr>
          </a:solidFill>
          <a:ln>
            <a:noFill/>
          </a:ln>
        </p:spPr>
      </p:sp>
      <p:grpSp>
        <p:nvGrpSpPr>
          <p:cNvPr id="17" name="Group 17"/>
          <p:cNvGrpSpPr/>
          <p:nvPr/>
        </p:nvGrpSpPr>
        <p:grpSpPr>
          <a:xfrm>
            <a:off x="5257800" y="838200"/>
            <a:ext cx="1676400" cy="342900"/>
            <a:chOff x="5257800" y="838200"/>
            <a:chExt cx="1676400" cy="342900"/>
          </a:xfrm>
        </p:grpSpPr>
        <p:sp>
          <p:nvSpPr>
            <p:cNvPr id="15" name="Rectangle 15"/>
            <p:cNvSpPr/>
            <p:nvPr/>
          </p:nvSpPr>
          <p:spPr>
            <a:xfrm>
              <a:off x="5257800" y="838200"/>
              <a:ext cx="1676400" cy="342900"/>
            </a:xfrm>
            <a:prstGeom prst="roundRect">
              <a:avLst>
                <a:gd name="adj" fmla="val 50000"/>
              </a:avLst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5441280" y="927735"/>
              <a:ext cx="130944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☆ 彩蛋 BONUS ☆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5638800" y="1352550"/>
            <a:ext cx="914400" cy="914400"/>
            <a:chOff x="5638800" y="1352550"/>
            <a:chExt cx="914400" cy="914400"/>
          </a:xfrm>
        </p:grpSpPr>
        <p:sp>
          <p:nvSpPr>
            <p:cNvPr id="18" name="Rectangle 18"/>
            <p:cNvSpPr/>
            <p:nvPr/>
          </p:nvSpPr>
          <p:spPr>
            <a:xfrm>
              <a:off x="5638800" y="1352550"/>
              <a:ext cx="914400" cy="914400"/>
            </a:xfrm>
            <a:prstGeom prst="roundRect">
              <a:avLst>
                <a:gd name="adj" fmla="val 25000"/>
              </a:avLst>
            </a:prstGeom>
            <a:solidFill>
              <a:srgbClr val="C96133">
                <a:alpha val="12000"/>
              </a:srgbClr>
            </a:solidFill>
            <a:ln>
              <a:noFill/>
            </a:ln>
          </p:spPr>
        </p:sp>
        <p:grpSp>
          <p:nvGrpSpPr>
            <p:cNvPr id="22" name="Group 22"/>
            <p:cNvGrpSpPr/>
            <p:nvPr/>
          </p:nvGrpSpPr>
          <p:grpSpPr>
            <a:xfrm>
              <a:off x="5800735" y="1543060"/>
              <a:ext cx="561955" cy="533381"/>
              <a:chOff x="5800735" y="1543060"/>
              <a:chExt cx="561955" cy="533381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6181725" y="1885960"/>
                <a:ext cx="180965" cy="190481"/>
              </a:xfrm>
              <a:custGeom>
                <a:avLst/>
                <a:gdLst/>
                <a:ahLst/>
                <a:cxnLst/>
                <a:rect l="l" t="t" r="r" b="b"/>
                <a:pathLst>
                  <a:path w="180965" h="190481">
                    <a:moveTo>
                      <a:pt x="28575" y="123815"/>
                    </a:moveTo>
                    <a:cubicBezTo>
                      <a:pt x="12793" y="123815"/>
                      <a:pt x="0" y="111022"/>
                      <a:pt x="0" y="95240"/>
                    </a:cubicBezTo>
                    <a:cubicBezTo>
                      <a:pt x="0" y="79459"/>
                      <a:pt x="12793" y="66665"/>
                      <a:pt x="28575" y="66665"/>
                    </a:cubicBezTo>
                    <a:cubicBezTo>
                      <a:pt x="44357" y="66665"/>
                      <a:pt x="57150" y="53872"/>
                      <a:pt x="57150" y="38090"/>
                    </a:cubicBezTo>
                    <a:cubicBezTo>
                      <a:pt x="57150" y="0"/>
                      <a:pt x="114300" y="0"/>
                      <a:pt x="114300" y="38090"/>
                    </a:cubicBezTo>
                    <a:cubicBezTo>
                      <a:pt x="114300" y="53872"/>
                      <a:pt x="127093" y="66665"/>
                      <a:pt x="142875" y="66665"/>
                    </a:cubicBezTo>
                    <a:cubicBezTo>
                      <a:pt x="180965" y="66665"/>
                      <a:pt x="180965" y="123815"/>
                      <a:pt x="142875" y="123815"/>
                    </a:cubicBezTo>
                    <a:cubicBezTo>
                      <a:pt x="127093" y="123815"/>
                      <a:pt x="114300" y="136609"/>
                      <a:pt x="114300" y="152390"/>
                    </a:cubicBezTo>
                    <a:cubicBezTo>
                      <a:pt x="114300" y="190481"/>
                      <a:pt x="57150" y="190481"/>
                      <a:pt x="57150" y="152390"/>
                    </a:cubicBezTo>
                    <a:cubicBezTo>
                      <a:pt x="57150" y="136609"/>
                      <a:pt x="44357" y="123815"/>
                      <a:pt x="28575" y="123815"/>
                    </a:cubicBezTo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5800735" y="1600210"/>
                <a:ext cx="419081" cy="409565"/>
              </a:xfrm>
              <a:custGeom>
                <a:avLst/>
                <a:gdLst/>
                <a:ahLst/>
                <a:cxnLst/>
                <a:rect l="l" t="t" r="r" b="b"/>
                <a:pathLst>
                  <a:path w="419081" h="409565">
                    <a:moveTo>
                      <a:pt x="38090" y="180965"/>
                    </a:moveTo>
                    <a:cubicBezTo>
                      <a:pt x="116998" y="180965"/>
                      <a:pt x="180965" y="116998"/>
                      <a:pt x="180965" y="38090"/>
                    </a:cubicBezTo>
                    <a:cubicBezTo>
                      <a:pt x="180965" y="0"/>
                      <a:pt x="238115" y="0"/>
                      <a:pt x="238115" y="38090"/>
                    </a:cubicBezTo>
                    <a:cubicBezTo>
                      <a:pt x="238115" y="116998"/>
                      <a:pt x="302083" y="180965"/>
                      <a:pt x="380990" y="180965"/>
                    </a:cubicBezTo>
                    <a:cubicBezTo>
                      <a:pt x="419081" y="180965"/>
                      <a:pt x="419081" y="238115"/>
                      <a:pt x="380990" y="238115"/>
                    </a:cubicBezTo>
                    <a:cubicBezTo>
                      <a:pt x="302083" y="238115"/>
                      <a:pt x="238115" y="302083"/>
                      <a:pt x="238115" y="380990"/>
                    </a:cubicBezTo>
                    <a:cubicBezTo>
                      <a:pt x="238115" y="396772"/>
                      <a:pt x="225322" y="409565"/>
                      <a:pt x="209540" y="409565"/>
                    </a:cubicBezTo>
                    <a:cubicBezTo>
                      <a:pt x="193759" y="409565"/>
                      <a:pt x="180965" y="396772"/>
                      <a:pt x="180965" y="380990"/>
                    </a:cubicBezTo>
                    <a:cubicBezTo>
                      <a:pt x="180965" y="302083"/>
                      <a:pt x="116998" y="238115"/>
                      <a:pt x="38090" y="238115"/>
                    </a:cubicBezTo>
                    <a:cubicBezTo>
                      <a:pt x="0" y="238115"/>
                      <a:pt x="0" y="180965"/>
                      <a:pt x="38090" y="180965"/>
                    </a:cubicBezTo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6181725" y="1543060"/>
                <a:ext cx="180965" cy="190481"/>
              </a:xfrm>
              <a:custGeom>
                <a:avLst/>
                <a:gdLst/>
                <a:ahLst/>
                <a:cxnLst/>
                <a:rect l="l" t="t" r="r" b="b"/>
                <a:pathLst>
                  <a:path w="180965" h="190481">
                    <a:moveTo>
                      <a:pt x="28575" y="123815"/>
                    </a:moveTo>
                    <a:cubicBezTo>
                      <a:pt x="12793" y="123815"/>
                      <a:pt x="0" y="111022"/>
                      <a:pt x="0" y="95240"/>
                    </a:cubicBezTo>
                    <a:cubicBezTo>
                      <a:pt x="0" y="79459"/>
                      <a:pt x="12793" y="66665"/>
                      <a:pt x="28575" y="66665"/>
                    </a:cubicBezTo>
                    <a:cubicBezTo>
                      <a:pt x="44357" y="66665"/>
                      <a:pt x="57150" y="53872"/>
                      <a:pt x="57150" y="38090"/>
                    </a:cubicBezTo>
                    <a:cubicBezTo>
                      <a:pt x="57150" y="0"/>
                      <a:pt x="114300" y="0"/>
                      <a:pt x="114300" y="38090"/>
                    </a:cubicBezTo>
                    <a:cubicBezTo>
                      <a:pt x="114300" y="53872"/>
                      <a:pt x="127093" y="66665"/>
                      <a:pt x="142875" y="66665"/>
                    </a:cubicBezTo>
                    <a:cubicBezTo>
                      <a:pt x="180965" y="66665"/>
                      <a:pt x="180965" y="123815"/>
                      <a:pt x="142875" y="123815"/>
                    </a:cubicBezTo>
                    <a:cubicBezTo>
                      <a:pt x="127093" y="123815"/>
                      <a:pt x="114300" y="136609"/>
                      <a:pt x="114300" y="152390"/>
                    </a:cubicBezTo>
                    <a:cubicBezTo>
                      <a:pt x="114300" y="190481"/>
                      <a:pt x="57150" y="190481"/>
                      <a:pt x="57150" y="152390"/>
                    </a:cubicBezTo>
                    <a:cubicBezTo>
                      <a:pt x="57150" y="136609"/>
                      <a:pt x="44357" y="123815"/>
                      <a:pt x="28575" y="123815"/>
                    </a:cubicBezTo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</p:grpSp>
      </p:grpSp>
      <p:grpSp>
        <p:nvGrpSpPr>
          <p:cNvPr id="26" name="Group 26"/>
          <p:cNvGrpSpPr/>
          <p:nvPr/>
        </p:nvGrpSpPr>
        <p:grpSpPr>
          <a:xfrm>
            <a:off x="3800599" y="2316480"/>
            <a:ext cx="4590802" cy="1022032"/>
            <a:chOff x="3800599" y="2316480"/>
            <a:chExt cx="4590802" cy="1022032"/>
          </a:xfrm>
        </p:grpSpPr>
        <p:sp>
          <p:nvSpPr>
            <p:cNvPr id="24" name="TextBox 24"/>
            <p:cNvSpPr txBox="1"/>
            <p:nvPr/>
          </p:nvSpPr>
          <p:spPr>
            <a:xfrm>
              <a:off x="3800599" y="2316480"/>
              <a:ext cx="4590802" cy="7315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36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访客问题 Chatbot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842041" y="3003232"/>
              <a:ext cx="4507918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嵌入网站 · 7x24 小时自动回答访客问题</a:t>
              </a:r>
            </a:p>
          </p:txBody>
        </p:sp>
      </p:grpSp>
      <p:sp>
        <p:nvSpPr>
          <p:cNvPr id="27" name="Line 27"/>
          <p:cNvSpPr/>
          <p:nvPr/>
        </p:nvSpPr>
        <p:spPr>
          <a:xfrm>
            <a:off x="3048000" y="3429000"/>
            <a:ext cx="6096000" cy="9525"/>
          </a:xfrm>
          <a:custGeom>
            <a:avLst/>
            <a:gdLst/>
            <a:ahLst/>
            <a:cxnLst/>
            <a:rect l="l" t="t" r="r" b="b"/>
            <a:pathLst>
              <a:path w="6096000" h="9525">
                <a:moveTo>
                  <a:pt x="0" y="0"/>
                </a:moveTo>
                <a:lnTo>
                  <a:pt x="6096000" y="0"/>
                </a:lnTo>
              </a:path>
            </a:pathLst>
          </a:custGeom>
          <a:noFill/>
          <a:ln w="14288">
            <a:solidFill>
              <a:srgbClr val="E0D8D0"/>
            </a:solidFill>
          </a:ln>
        </p:spPr>
      </p:sp>
      <p:grpSp>
        <p:nvGrpSpPr>
          <p:cNvPr id="48" name="Group 48"/>
          <p:cNvGrpSpPr/>
          <p:nvPr/>
        </p:nvGrpSpPr>
        <p:grpSpPr>
          <a:xfrm>
            <a:off x="1447800" y="3676650"/>
            <a:ext cx="9296400" cy="919162"/>
            <a:chOff x="1447800" y="3676650"/>
            <a:chExt cx="9296400" cy="919162"/>
          </a:xfrm>
        </p:grpSpPr>
        <p:sp>
          <p:nvSpPr>
            <p:cNvPr id="28" name="Rectangle 28"/>
            <p:cNvSpPr/>
            <p:nvPr/>
          </p:nvSpPr>
          <p:spPr>
            <a:xfrm>
              <a:off x="1447800" y="3676650"/>
              <a:ext cx="2667000" cy="9144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29" name="Freeform 29"/>
            <p:cNvSpPr/>
            <p:nvPr/>
          </p:nvSpPr>
          <p:spPr>
            <a:xfrm>
              <a:off x="1781175" y="3890962"/>
              <a:ext cx="285750" cy="272131"/>
            </a:xfrm>
            <a:custGeom>
              <a:avLst/>
              <a:gdLst/>
              <a:ahLst/>
              <a:cxnLst/>
              <a:rect l="l" t="t" r="r" b="b"/>
              <a:pathLst>
                <a:path w="285750" h="272131">
                  <a:moveTo>
                    <a:pt x="228600" y="0"/>
                  </a:moveTo>
                  <a:cubicBezTo>
                    <a:pt x="260163" y="0"/>
                    <a:pt x="285750" y="25587"/>
                    <a:pt x="285750" y="57150"/>
                  </a:cubicBezTo>
                  <a:lnTo>
                    <a:pt x="285750" y="171450"/>
                  </a:lnTo>
                  <a:cubicBezTo>
                    <a:pt x="285750" y="203013"/>
                    <a:pt x="260163" y="228600"/>
                    <a:pt x="228600" y="228600"/>
                  </a:cubicBezTo>
                  <a:lnTo>
                    <a:pt x="161106" y="228600"/>
                  </a:lnTo>
                  <a:lnTo>
                    <a:pt x="93069" y="269419"/>
                  </a:lnTo>
                  <a:cubicBezTo>
                    <a:pt x="88905" y="271918"/>
                    <a:pt x="83758" y="272131"/>
                    <a:pt x="79402" y="269985"/>
                  </a:cubicBezTo>
                  <a:cubicBezTo>
                    <a:pt x="75047" y="267839"/>
                    <a:pt x="72079" y="263628"/>
                    <a:pt x="71523" y="258804"/>
                  </a:cubicBezTo>
                  <a:lnTo>
                    <a:pt x="71438" y="257175"/>
                  </a:lnTo>
                  <a:lnTo>
                    <a:pt x="71438" y="228600"/>
                  </a:lnTo>
                  <a:lnTo>
                    <a:pt x="57150" y="228600"/>
                  </a:lnTo>
                  <a:cubicBezTo>
                    <a:pt x="26698" y="228600"/>
                    <a:pt x="1594" y="204722"/>
                    <a:pt x="71" y="174308"/>
                  </a:cubicBezTo>
                  <a:lnTo>
                    <a:pt x="0" y="171450"/>
                  </a:lnTo>
                  <a:lnTo>
                    <a:pt x="0" y="57150"/>
                  </a:lnTo>
                  <a:cubicBezTo>
                    <a:pt x="0" y="25587"/>
                    <a:pt x="25587" y="0"/>
                    <a:pt x="57150" y="0"/>
                  </a:cubicBezTo>
                  <a:close/>
                  <a:moveTo>
                    <a:pt x="188595" y="132674"/>
                  </a:moveTo>
                  <a:cubicBezTo>
                    <a:pt x="182961" y="127151"/>
                    <a:pt x="173916" y="127241"/>
                    <a:pt x="168392" y="132874"/>
                  </a:cubicBezTo>
                  <a:cubicBezTo>
                    <a:pt x="161674" y="139733"/>
                    <a:pt x="152477" y="143599"/>
                    <a:pt x="142875" y="143599"/>
                  </a:cubicBezTo>
                  <a:cubicBezTo>
                    <a:pt x="133273" y="143599"/>
                    <a:pt x="124076" y="139733"/>
                    <a:pt x="117358" y="132874"/>
                  </a:cubicBezTo>
                  <a:cubicBezTo>
                    <a:pt x="111810" y="127375"/>
                    <a:pt x="102875" y="127350"/>
                    <a:pt x="97297" y="132818"/>
                  </a:cubicBezTo>
                  <a:cubicBezTo>
                    <a:pt x="91719" y="138287"/>
                    <a:pt x="91567" y="147221"/>
                    <a:pt x="96955" y="152876"/>
                  </a:cubicBezTo>
                  <a:cubicBezTo>
                    <a:pt x="109048" y="165216"/>
                    <a:pt x="125598" y="172170"/>
                    <a:pt x="142875" y="172170"/>
                  </a:cubicBezTo>
                  <a:cubicBezTo>
                    <a:pt x="160152" y="172170"/>
                    <a:pt x="176702" y="165216"/>
                    <a:pt x="188795" y="152876"/>
                  </a:cubicBezTo>
                  <a:cubicBezTo>
                    <a:pt x="194318" y="147242"/>
                    <a:pt x="194228" y="138198"/>
                    <a:pt x="188595" y="132674"/>
                  </a:cubicBezTo>
                  <a:moveTo>
                    <a:pt x="107299" y="71438"/>
                  </a:moveTo>
                  <a:lnTo>
                    <a:pt x="107156" y="71438"/>
                  </a:lnTo>
                  <a:cubicBezTo>
                    <a:pt x="99265" y="71438"/>
                    <a:pt x="92869" y="77834"/>
                    <a:pt x="92869" y="85725"/>
                  </a:cubicBezTo>
                  <a:cubicBezTo>
                    <a:pt x="92869" y="93616"/>
                    <a:pt x="99265" y="100012"/>
                    <a:pt x="107156" y="100012"/>
                  </a:cubicBezTo>
                  <a:lnTo>
                    <a:pt x="107299" y="100012"/>
                  </a:lnTo>
                  <a:cubicBezTo>
                    <a:pt x="115190" y="100012"/>
                    <a:pt x="121587" y="93616"/>
                    <a:pt x="121587" y="85725"/>
                  </a:cubicBezTo>
                  <a:cubicBezTo>
                    <a:pt x="121587" y="77834"/>
                    <a:pt x="115190" y="71438"/>
                    <a:pt x="107299" y="71438"/>
                  </a:cubicBezTo>
                  <a:moveTo>
                    <a:pt x="178737" y="71438"/>
                  </a:moveTo>
                  <a:lnTo>
                    <a:pt x="178594" y="71438"/>
                  </a:lnTo>
                  <a:cubicBezTo>
                    <a:pt x="170703" y="71438"/>
                    <a:pt x="164306" y="77834"/>
                    <a:pt x="164306" y="85725"/>
                  </a:cubicBezTo>
                  <a:cubicBezTo>
                    <a:pt x="164306" y="93616"/>
                    <a:pt x="170703" y="100012"/>
                    <a:pt x="178594" y="100012"/>
                  </a:cubicBezTo>
                  <a:lnTo>
                    <a:pt x="178737" y="100012"/>
                  </a:lnTo>
                  <a:cubicBezTo>
                    <a:pt x="186627" y="100012"/>
                    <a:pt x="193024" y="93616"/>
                    <a:pt x="193024" y="85725"/>
                  </a:cubicBezTo>
                  <a:cubicBezTo>
                    <a:pt x="193024" y="77834"/>
                    <a:pt x="186627" y="71438"/>
                    <a:pt x="178737" y="71438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2194560" y="3851910"/>
              <a:ext cx="113461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回答课程问题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739265" y="4172902"/>
              <a:ext cx="160620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价格 / 内容 / 适合人群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739265" y="4382452"/>
              <a:ext cx="125349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全自动，无需人工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4762500" y="3676650"/>
              <a:ext cx="2667000" cy="9144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grpSp>
          <p:nvGrpSpPr>
            <p:cNvPr id="37" name="Group 37"/>
            <p:cNvGrpSpPr/>
            <p:nvPr/>
          </p:nvGrpSpPr>
          <p:grpSpPr>
            <a:xfrm>
              <a:off x="5110158" y="3890942"/>
              <a:ext cx="265537" cy="265504"/>
              <a:chOff x="5110158" y="3890942"/>
              <a:chExt cx="265537" cy="265504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5180583" y="3961009"/>
                <a:ext cx="116709" cy="116709"/>
              </a:xfrm>
              <a:custGeom>
                <a:avLst/>
                <a:gdLst/>
                <a:ahLst/>
                <a:cxnLst/>
                <a:rect l="l" t="t" r="r" b="b"/>
                <a:pathLst>
                  <a:path w="116709" h="116709">
                    <a:moveTo>
                      <a:pt x="111131" y="5578"/>
                    </a:moveTo>
                    <a:cubicBezTo>
                      <a:pt x="116709" y="11157"/>
                      <a:pt x="116709" y="20201"/>
                      <a:pt x="111131" y="25780"/>
                    </a:cubicBezTo>
                    <a:lnTo>
                      <a:pt x="25406" y="111505"/>
                    </a:lnTo>
                    <a:cubicBezTo>
                      <a:pt x="21819" y="115219"/>
                      <a:pt x="16507" y="116709"/>
                      <a:pt x="11512" y="115401"/>
                    </a:cubicBezTo>
                    <a:cubicBezTo>
                      <a:pt x="6516" y="114094"/>
                      <a:pt x="2615" y="110193"/>
                      <a:pt x="1308" y="105197"/>
                    </a:cubicBezTo>
                    <a:cubicBezTo>
                      <a:pt x="0" y="100202"/>
                      <a:pt x="1490" y="94890"/>
                      <a:pt x="5204" y="91303"/>
                    </a:cubicBezTo>
                    <a:lnTo>
                      <a:pt x="90929" y="5578"/>
                    </a:lnTo>
                    <a:cubicBezTo>
                      <a:pt x="96508" y="0"/>
                      <a:pt x="105552" y="0"/>
                      <a:pt x="111131" y="5578"/>
                    </a:cubicBezTo>
                  </a:path>
                </a:pathLst>
              </a:custGeom>
              <a:solidFill>
                <a:srgbClr val="3D7DE4"/>
              </a:solidFill>
              <a:ln>
                <a:noFill/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5209285" y="3890942"/>
                <a:ext cx="166410" cy="158858"/>
              </a:xfrm>
              <a:custGeom>
                <a:avLst/>
                <a:gdLst/>
                <a:ahLst/>
                <a:cxnLst/>
                <a:rect l="l" t="t" r="r" b="b"/>
                <a:pathLst>
                  <a:path w="166410" h="158858">
                    <a:moveTo>
                      <a:pt x="132935" y="25123"/>
                    </a:moveTo>
                    <a:cubicBezTo>
                      <a:pt x="166410" y="58613"/>
                      <a:pt x="166396" y="112891"/>
                      <a:pt x="132192" y="147053"/>
                    </a:cubicBezTo>
                    <a:lnTo>
                      <a:pt x="124562" y="153682"/>
                    </a:lnTo>
                    <a:cubicBezTo>
                      <a:pt x="118605" y="158858"/>
                      <a:pt x="109579" y="158225"/>
                      <a:pt x="104403" y="152268"/>
                    </a:cubicBezTo>
                    <a:cubicBezTo>
                      <a:pt x="99226" y="146310"/>
                      <a:pt x="99860" y="137284"/>
                      <a:pt x="105817" y="132108"/>
                    </a:cubicBezTo>
                    <a:lnTo>
                      <a:pt x="112718" y="126164"/>
                    </a:lnTo>
                    <a:cubicBezTo>
                      <a:pt x="123436" y="115447"/>
                      <a:pt x="129458" y="100910"/>
                      <a:pt x="129458" y="85752"/>
                    </a:cubicBezTo>
                    <a:cubicBezTo>
                      <a:pt x="129458" y="70595"/>
                      <a:pt x="123436" y="56058"/>
                      <a:pt x="112718" y="45340"/>
                    </a:cubicBezTo>
                    <a:cubicBezTo>
                      <a:pt x="90401" y="23009"/>
                      <a:pt x="54211" y="23009"/>
                      <a:pt x="32608" y="44569"/>
                    </a:cubicBezTo>
                    <a:lnTo>
                      <a:pt x="25993" y="52227"/>
                    </a:lnTo>
                    <a:cubicBezTo>
                      <a:pt x="22655" y="56091"/>
                      <a:pt x="17508" y="57880"/>
                      <a:pt x="12493" y="56921"/>
                    </a:cubicBezTo>
                    <a:cubicBezTo>
                      <a:pt x="7477" y="55962"/>
                      <a:pt x="3354" y="52400"/>
                      <a:pt x="1677" y="47577"/>
                    </a:cubicBezTo>
                    <a:cubicBezTo>
                      <a:pt x="0" y="42754"/>
                      <a:pt x="1023" y="37403"/>
                      <a:pt x="4362" y="33539"/>
                    </a:cubicBezTo>
                    <a:lnTo>
                      <a:pt x="11691" y="25109"/>
                    </a:lnTo>
                    <a:cubicBezTo>
                      <a:pt x="27770" y="9031"/>
                      <a:pt x="49578" y="0"/>
                      <a:pt x="72316" y="3"/>
                    </a:cubicBezTo>
                    <a:cubicBezTo>
                      <a:pt x="95054" y="5"/>
                      <a:pt x="116860" y="9042"/>
                      <a:pt x="132935" y="25123"/>
                    </a:cubicBezTo>
                  </a:path>
                </a:pathLst>
              </a:custGeom>
              <a:solidFill>
                <a:srgbClr val="3D7DE4"/>
              </a:solidFill>
              <a:ln>
                <a:noFill/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5110158" y="3989341"/>
                <a:ext cx="158029" cy="167105"/>
              </a:xfrm>
              <a:custGeom>
                <a:avLst/>
                <a:gdLst/>
                <a:ahLst/>
                <a:cxnLst/>
                <a:rect l="l" t="t" r="r" b="b"/>
                <a:pathLst>
                  <a:path w="158029" h="167105">
                    <a:moveTo>
                      <a:pt x="53583" y="6464"/>
                    </a:moveTo>
                    <a:cubicBezTo>
                      <a:pt x="58800" y="12379"/>
                      <a:pt x="58237" y="21402"/>
                      <a:pt x="52326" y="26623"/>
                    </a:cubicBezTo>
                    <a:lnTo>
                      <a:pt x="45425" y="32696"/>
                    </a:lnTo>
                    <a:cubicBezTo>
                      <a:pt x="34636" y="43352"/>
                      <a:pt x="28563" y="57886"/>
                      <a:pt x="28563" y="73051"/>
                    </a:cubicBezTo>
                    <a:cubicBezTo>
                      <a:pt x="28563" y="88215"/>
                      <a:pt x="34636" y="102749"/>
                      <a:pt x="45425" y="113406"/>
                    </a:cubicBezTo>
                    <a:cubicBezTo>
                      <a:pt x="67835" y="135580"/>
                      <a:pt x="103845" y="135821"/>
                      <a:pt x="126549" y="113949"/>
                    </a:cubicBezTo>
                    <a:lnTo>
                      <a:pt x="131407" y="107405"/>
                    </a:lnTo>
                    <a:cubicBezTo>
                      <a:pt x="134454" y="103306"/>
                      <a:pt x="139457" y="101144"/>
                      <a:pt x="144530" y="101734"/>
                    </a:cubicBezTo>
                    <a:cubicBezTo>
                      <a:pt x="149604" y="102324"/>
                      <a:pt x="153977" y="105575"/>
                      <a:pt x="156003" y="110264"/>
                    </a:cubicBezTo>
                    <a:cubicBezTo>
                      <a:pt x="158029" y="114952"/>
                      <a:pt x="157400" y="120365"/>
                      <a:pt x="154353" y="124464"/>
                    </a:cubicBezTo>
                    <a:lnTo>
                      <a:pt x="148681" y="132094"/>
                    </a:lnTo>
                    <a:lnTo>
                      <a:pt x="147252" y="133722"/>
                    </a:lnTo>
                    <a:cubicBezTo>
                      <a:pt x="113469" y="167105"/>
                      <a:pt x="59119" y="167105"/>
                      <a:pt x="25337" y="133722"/>
                    </a:cubicBezTo>
                    <a:cubicBezTo>
                      <a:pt x="9123" y="117694"/>
                      <a:pt x="0" y="95842"/>
                      <a:pt x="5" y="73043"/>
                    </a:cubicBezTo>
                    <a:cubicBezTo>
                      <a:pt x="5" y="50255"/>
                      <a:pt x="9120" y="28409"/>
                      <a:pt x="25922" y="11836"/>
                    </a:cubicBezTo>
                    <a:lnTo>
                      <a:pt x="33409" y="5221"/>
                    </a:lnTo>
                    <a:cubicBezTo>
                      <a:pt x="39320" y="0"/>
                      <a:pt x="48344" y="556"/>
                      <a:pt x="53569" y="6464"/>
                    </a:cubicBezTo>
                  </a:path>
                </a:pathLst>
              </a:custGeom>
              <a:solidFill>
                <a:srgbClr val="3D7DE4"/>
              </a:solidFill>
              <a:ln>
                <a:noFill/>
              </a:ln>
            </p:spPr>
          </p:sp>
        </p:grpSp>
        <p:sp>
          <p:nvSpPr>
            <p:cNvPr id="38" name="TextBox 38"/>
            <p:cNvSpPr txBox="1"/>
            <p:nvPr/>
          </p:nvSpPr>
          <p:spPr>
            <a:xfrm>
              <a:off x="5509260" y="3851910"/>
              <a:ext cx="113461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引导访客报名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5053965" y="4172902"/>
              <a:ext cx="110013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了解需求后推荐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5053965" y="4382452"/>
              <a:ext cx="94678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最适合的课程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8077200" y="3676650"/>
              <a:ext cx="2667000" cy="9144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8423171" y="3889238"/>
              <a:ext cx="260259" cy="244612"/>
              <a:chOff x="8423171" y="3889238"/>
              <a:chExt cx="260259" cy="244612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8424862" y="3974909"/>
                <a:ext cx="257175" cy="158941"/>
              </a:xfrm>
              <a:custGeom>
                <a:avLst/>
                <a:gdLst/>
                <a:ahLst/>
                <a:cxnLst/>
                <a:rect l="l" t="t" r="r" b="b"/>
                <a:pathLst>
                  <a:path w="257175" h="158941">
                    <a:moveTo>
                      <a:pt x="174593" y="7137"/>
                    </a:moveTo>
                    <a:cubicBezTo>
                      <a:pt x="179471" y="1049"/>
                      <a:pt x="188330" y="0"/>
                      <a:pt x="194496" y="4779"/>
                    </a:cubicBezTo>
                    <a:lnTo>
                      <a:pt x="195839" y="5965"/>
                    </a:lnTo>
                    <a:lnTo>
                      <a:pt x="252989" y="63115"/>
                    </a:lnTo>
                    <a:cubicBezTo>
                      <a:pt x="255209" y="65337"/>
                      <a:pt x="256635" y="68230"/>
                      <a:pt x="257046" y="71345"/>
                    </a:cubicBezTo>
                    <a:lnTo>
                      <a:pt x="257175" y="73216"/>
                    </a:lnTo>
                    <a:lnTo>
                      <a:pt x="257175" y="144654"/>
                    </a:lnTo>
                    <a:cubicBezTo>
                      <a:pt x="257174" y="151897"/>
                      <a:pt x="251753" y="157994"/>
                      <a:pt x="244559" y="158841"/>
                    </a:cubicBezTo>
                    <a:lnTo>
                      <a:pt x="242888" y="158941"/>
                    </a:lnTo>
                    <a:lnTo>
                      <a:pt x="13973" y="158941"/>
                    </a:lnTo>
                    <a:lnTo>
                      <a:pt x="12402" y="158813"/>
                    </a:lnTo>
                    <a:lnTo>
                      <a:pt x="10830" y="158527"/>
                    </a:lnTo>
                    <a:lnTo>
                      <a:pt x="9301" y="158041"/>
                    </a:lnTo>
                    <a:lnTo>
                      <a:pt x="7801" y="157384"/>
                    </a:lnTo>
                    <a:lnTo>
                      <a:pt x="6372" y="156541"/>
                    </a:lnTo>
                    <a:lnTo>
                      <a:pt x="5029" y="155541"/>
                    </a:lnTo>
                    <a:lnTo>
                      <a:pt x="4172" y="154755"/>
                    </a:lnTo>
                    <a:lnTo>
                      <a:pt x="3143" y="153583"/>
                    </a:lnTo>
                    <a:lnTo>
                      <a:pt x="2229" y="152312"/>
                    </a:lnTo>
                    <a:lnTo>
                      <a:pt x="1457" y="150940"/>
                    </a:lnTo>
                    <a:lnTo>
                      <a:pt x="1229" y="150440"/>
                    </a:lnTo>
                    <a:lnTo>
                      <a:pt x="657" y="148969"/>
                    </a:lnTo>
                    <a:lnTo>
                      <a:pt x="271" y="147454"/>
                    </a:lnTo>
                    <a:lnTo>
                      <a:pt x="57" y="145911"/>
                    </a:lnTo>
                    <a:lnTo>
                      <a:pt x="0" y="144339"/>
                    </a:lnTo>
                    <a:lnTo>
                      <a:pt x="129" y="142768"/>
                    </a:lnTo>
                    <a:lnTo>
                      <a:pt x="400" y="141268"/>
                    </a:lnTo>
                    <a:cubicBezTo>
                      <a:pt x="543" y="140696"/>
                      <a:pt x="714" y="140168"/>
                      <a:pt x="900" y="139667"/>
                    </a:cubicBezTo>
                    <a:lnTo>
                      <a:pt x="1557" y="138167"/>
                    </a:lnTo>
                    <a:lnTo>
                      <a:pt x="2400" y="136739"/>
                    </a:lnTo>
                    <a:lnTo>
                      <a:pt x="59550" y="51014"/>
                    </a:lnTo>
                    <a:cubicBezTo>
                      <a:pt x="63169" y="45565"/>
                      <a:pt x="70026" y="43270"/>
                      <a:pt x="76195" y="45441"/>
                    </a:cubicBezTo>
                    <a:lnTo>
                      <a:pt x="77824" y="46156"/>
                    </a:lnTo>
                    <a:lnTo>
                      <a:pt x="124644" y="69559"/>
                    </a:lnTo>
                    <a:lnTo>
                      <a:pt x="174579" y="7137"/>
                    </a:lnTo>
                    <a:close/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8423171" y="3889238"/>
                <a:ext cx="260259" cy="146291"/>
              </a:xfrm>
              <a:custGeom>
                <a:avLst/>
                <a:gdLst/>
                <a:ahLst/>
                <a:cxnLst/>
                <a:rect l="l" t="t" r="r" b="b"/>
                <a:pathLst>
                  <a:path w="260259" h="146291">
                    <a:moveTo>
                      <a:pt x="176456" y="6868"/>
                    </a:moveTo>
                    <a:cubicBezTo>
                      <a:pt x="181384" y="948"/>
                      <a:pt x="190118" y="0"/>
                      <a:pt x="196201" y="4725"/>
                    </a:cubicBezTo>
                    <a:lnTo>
                      <a:pt x="197530" y="5911"/>
                    </a:lnTo>
                    <a:lnTo>
                      <a:pt x="254680" y="63061"/>
                    </a:lnTo>
                    <a:cubicBezTo>
                      <a:pt x="259998" y="68397"/>
                      <a:pt x="260259" y="76945"/>
                      <a:pt x="255276" y="82596"/>
                    </a:cubicBezTo>
                    <a:cubicBezTo>
                      <a:pt x="250294" y="88247"/>
                      <a:pt x="241780" y="89058"/>
                      <a:pt x="235820" y="84449"/>
                    </a:cubicBezTo>
                    <a:lnTo>
                      <a:pt x="234477" y="83263"/>
                    </a:lnTo>
                    <a:lnTo>
                      <a:pt x="188386" y="37186"/>
                    </a:lnTo>
                    <a:lnTo>
                      <a:pt x="126964" y="110881"/>
                    </a:lnTo>
                    <a:cubicBezTo>
                      <a:pt x="123143" y="115465"/>
                      <a:pt x="116877" y="117191"/>
                      <a:pt x="111248" y="115210"/>
                    </a:cubicBezTo>
                    <a:lnTo>
                      <a:pt x="109605" y="114510"/>
                    </a:lnTo>
                    <a:lnTo>
                      <a:pt x="63113" y="91279"/>
                    </a:lnTo>
                    <a:lnTo>
                      <a:pt x="27409" y="138885"/>
                    </a:lnTo>
                    <a:cubicBezTo>
                      <a:pt x="23090" y="144644"/>
                      <a:pt x="15161" y="146291"/>
                      <a:pt x="8906" y="142728"/>
                    </a:cubicBezTo>
                    <a:lnTo>
                      <a:pt x="7406" y="141742"/>
                    </a:lnTo>
                    <a:cubicBezTo>
                      <a:pt x="1647" y="137424"/>
                      <a:pt x="0" y="129495"/>
                      <a:pt x="3563" y="123240"/>
                    </a:cubicBezTo>
                    <a:lnTo>
                      <a:pt x="4549" y="121740"/>
                    </a:lnTo>
                    <a:lnTo>
                      <a:pt x="47411" y="64590"/>
                    </a:lnTo>
                    <a:cubicBezTo>
                      <a:pt x="51172" y="59580"/>
                      <a:pt x="57759" y="57605"/>
                      <a:pt x="63656" y="59718"/>
                    </a:cubicBezTo>
                    <a:lnTo>
                      <a:pt x="65228" y="60389"/>
                    </a:lnTo>
                    <a:lnTo>
                      <a:pt x="112248" y="83892"/>
                    </a:lnTo>
                    <a:lnTo>
                      <a:pt x="176456" y="6868"/>
                    </a:lnTo>
                    <a:close/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</p:sp>
        </p:grpSp>
        <p:sp>
          <p:nvSpPr>
            <p:cNvPr id="45" name="TextBox 45"/>
            <p:cNvSpPr txBox="1"/>
            <p:nvPr/>
          </p:nvSpPr>
          <p:spPr>
            <a:xfrm>
              <a:off x="8823960" y="3851910"/>
              <a:ext cx="113461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收集访客洞察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8368665" y="4172902"/>
              <a:ext cx="94678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记录常见问题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368665" y="4382452"/>
              <a:ext cx="94678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帮你改进课程</a:t>
              </a:r>
            </a:p>
          </p:txBody>
        </p:sp>
      </p:grpSp>
      <p:sp>
        <p:nvSpPr>
          <p:cNvPr id="49" name="Rectangle 49"/>
          <p:cNvSpPr/>
          <p:nvPr/>
        </p:nvSpPr>
        <p:spPr>
          <a:xfrm>
            <a:off x="3429000" y="4857750"/>
            <a:ext cx="5334000" cy="495300"/>
          </a:xfrm>
          <a:prstGeom prst="roundRect">
            <a:avLst>
              <a:gd name="adj" fmla="val 19231"/>
            </a:avLst>
          </a:prstGeom>
          <a:solidFill>
            <a:srgbClr val="1A1A1A"/>
          </a:solidFill>
          <a:ln>
            <a:noFill/>
          </a:ln>
        </p:spPr>
      </p:sp>
      <p:sp>
        <p:nvSpPr>
          <p:cNvPr id="50" name="TextBox 50"/>
          <p:cNvSpPr txBox="1"/>
          <p:nvPr/>
        </p:nvSpPr>
        <p:spPr>
          <a:xfrm>
            <a:off x="4563511" y="4952524"/>
            <a:ext cx="306497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9E9E9E"/>
                </a:solidFill>
                <a:latin typeface="Consolas"/>
                <a:ea typeface="Microsoft YaHei"/>
                <a:cs typeface="Consolas"/>
              </a:rPr>
              <a:t>// 技术实现：Claude API + 嵌入式 chat widget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4794909" y="5162074"/>
            <a:ext cx="260218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C96133"/>
                </a:solidFill>
                <a:latin typeface="Consolas"/>
                <a:ea typeface="Microsoft YaHei"/>
                <a:cs typeface="Consolas"/>
              </a:rPr>
              <a:t>// Demo 代码已就绪，现场展示运行效果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3598509" y="5825014"/>
            <a:ext cx="4994981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不需要额外服务器，不需要 DevOps，Claude Code 一步到位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11131772" y="6554152"/>
            <a:ext cx="50206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17 / 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4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6" presetClass="entr" presetSubtype="2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5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18" presetClass="entr" presetSubtype="1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19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23" grpId="0"/>
      <p:bldP spid="26" grpId="0"/>
      <p:bldP spid="4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727710" y="299085"/>
            <a:ext cx="10702290" cy="777240"/>
            <a:chOff x="727710" y="299085"/>
            <a:chExt cx="10702290" cy="777240"/>
          </a:xfrm>
        </p:grpSpPr>
        <p:sp>
          <p:nvSpPr>
            <p:cNvPr id="4" name="TextBox 4"/>
            <p:cNvSpPr txBox="1"/>
            <p:nvPr/>
          </p:nvSpPr>
          <p:spPr>
            <a:xfrm>
              <a:off x="727710" y="299085"/>
              <a:ext cx="1724787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课后作业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743902" y="741521"/>
              <a:ext cx="4406741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用今天学到的技能，做出你自己的知识服务网站</a:t>
              </a:r>
            </a:p>
          </p:txBody>
        </p:sp>
        <p:sp>
          <p:nvSpPr>
            <p:cNvPr id="6" name="Line 6"/>
            <p:cNvSpPr/>
            <p:nvPr/>
          </p:nvSpPr>
          <p:spPr>
            <a:xfrm>
              <a:off x="762000" y="10668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4288">
              <a:solidFill>
                <a:srgbClr val="E0D8D0"/>
              </a:solidFill>
            </a:ln>
          </p:spPr>
        </p:sp>
      </p:grpSp>
      <p:grpSp>
        <p:nvGrpSpPr>
          <p:cNvPr id="19" name="Group 19"/>
          <p:cNvGrpSpPr/>
          <p:nvPr/>
        </p:nvGrpSpPr>
        <p:grpSpPr>
          <a:xfrm>
            <a:off x="762000" y="1238250"/>
            <a:ext cx="3390900" cy="1600200"/>
            <a:chOff x="762000" y="1238250"/>
            <a:chExt cx="3390900" cy="1600200"/>
          </a:xfrm>
        </p:grpSpPr>
        <p:sp>
          <p:nvSpPr>
            <p:cNvPr id="8" name="Rectangle 8"/>
            <p:cNvSpPr/>
            <p:nvPr/>
          </p:nvSpPr>
          <p:spPr>
            <a:xfrm>
              <a:off x="762000" y="1238250"/>
              <a:ext cx="3390900" cy="1600200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1238250"/>
              <a:ext cx="47625" cy="1600200"/>
            </a:xfrm>
            <a:prstGeom prst="roundRect">
              <a:avLst>
                <a:gd name="adj" fmla="val 40000"/>
              </a:avLst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10" name="Ellipse 10"/>
            <p:cNvSpPr/>
            <p:nvPr/>
          </p:nvSpPr>
          <p:spPr>
            <a:xfrm>
              <a:off x="933450" y="1352550"/>
              <a:ext cx="419100" cy="419100"/>
            </a:xfrm>
            <a:prstGeom prst="ellipse">
              <a:avLst/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55391" y="1507331"/>
              <a:ext cx="17521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2" name="Freeform 12"/>
            <p:cNvSpPr/>
            <p:nvPr/>
          </p:nvSpPr>
          <p:spPr>
            <a:xfrm>
              <a:off x="3693319" y="1355507"/>
              <a:ext cx="208982" cy="208974"/>
            </a:xfrm>
            <a:custGeom>
              <a:avLst/>
              <a:gdLst/>
              <a:ahLst/>
              <a:cxnLst/>
              <a:rect l="l" t="t" r="r" b="b"/>
              <a:pathLst>
                <a:path w="208982" h="208974">
                  <a:moveTo>
                    <a:pt x="108168" y="36334"/>
                  </a:moveTo>
                  <a:lnTo>
                    <a:pt x="172641" y="100806"/>
                  </a:lnTo>
                  <a:lnTo>
                    <a:pt x="67949" y="205486"/>
                  </a:lnTo>
                  <a:cubicBezTo>
                    <a:pt x="65717" y="207719"/>
                    <a:pt x="62689" y="208974"/>
                    <a:pt x="59531" y="208974"/>
                  </a:cubicBezTo>
                  <a:lnTo>
                    <a:pt x="11906" y="208974"/>
                  </a:lnTo>
                  <a:cubicBezTo>
                    <a:pt x="5331" y="208974"/>
                    <a:pt x="0" y="203644"/>
                    <a:pt x="0" y="197068"/>
                  </a:cubicBezTo>
                  <a:lnTo>
                    <a:pt x="0" y="149443"/>
                  </a:lnTo>
                  <a:cubicBezTo>
                    <a:pt x="1" y="146286"/>
                    <a:pt x="1256" y="143258"/>
                    <a:pt x="3489" y="141025"/>
                  </a:cubicBezTo>
                  <a:close/>
                  <a:moveTo>
                    <a:pt x="172533" y="4211"/>
                  </a:moveTo>
                  <a:cubicBezTo>
                    <a:pt x="188265" y="8424"/>
                    <a:pt x="200553" y="20710"/>
                    <a:pt x="204767" y="36441"/>
                  </a:cubicBezTo>
                  <a:cubicBezTo>
                    <a:pt x="208982" y="52172"/>
                    <a:pt x="204482" y="68957"/>
                    <a:pt x="192965" y="80470"/>
                  </a:cubicBezTo>
                  <a:lnTo>
                    <a:pt x="189488" y="83959"/>
                  </a:lnTo>
                  <a:lnTo>
                    <a:pt x="125016" y="19486"/>
                  </a:lnTo>
                  <a:lnTo>
                    <a:pt x="128504" y="16010"/>
                  </a:lnTo>
                  <a:cubicBezTo>
                    <a:pt x="140021" y="4497"/>
                    <a:pt x="156803" y="0"/>
                    <a:pt x="172533" y="4211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449705" y="1387792"/>
              <a:ext cx="151452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写 Design Brief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952500" y="1685925"/>
              <a:ext cx="3086100" cy="9525"/>
            </a:xfrm>
            <a:custGeom>
              <a:avLst/>
              <a:gdLst/>
              <a:ahLst/>
              <a:cxnLst/>
              <a:rect l="l" t="t" r="r" b="b"/>
              <a:pathLst>
                <a:path w="3086100" h="9525">
                  <a:moveTo>
                    <a:pt x="0" y="0"/>
                  </a:moveTo>
                  <a:lnTo>
                    <a:pt x="3086100" y="0"/>
                  </a:lnTo>
                </a:path>
              </a:pathLst>
            </a:custGeom>
            <a:noFill/>
            <a:ln w="9525">
              <a:solidFill>
                <a:srgbClr val="F0EDE8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38212" y="1802606"/>
              <a:ext cx="167163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描述你的目标受众是谁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38212" y="2012156"/>
              <a:ext cx="183594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你的网站要达成什么目的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952500" y="2381250"/>
              <a:ext cx="3048000" cy="266700"/>
            </a:xfrm>
            <a:prstGeom prst="roundRect">
              <a:avLst>
                <a:gd name="adj" fmla="val 21429"/>
              </a:avLst>
            </a:prstGeom>
            <a:solidFill>
              <a:srgbClr val="F0EDE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054418" y="2447449"/>
              <a:ext cx="184746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✍ 用今天讲的 4 要素写 Brief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4400550" y="1238250"/>
            <a:ext cx="3390900" cy="1600200"/>
            <a:chOff x="4400550" y="1238250"/>
            <a:chExt cx="3390900" cy="1600200"/>
          </a:xfrm>
        </p:grpSpPr>
        <p:sp>
          <p:nvSpPr>
            <p:cNvPr id="20" name="Rectangle 20"/>
            <p:cNvSpPr/>
            <p:nvPr/>
          </p:nvSpPr>
          <p:spPr>
            <a:xfrm>
              <a:off x="4400550" y="1238250"/>
              <a:ext cx="3390900" cy="1600200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4400550" y="1238250"/>
              <a:ext cx="47625" cy="1600200"/>
            </a:xfrm>
            <a:prstGeom prst="roundRect">
              <a:avLst>
                <a:gd name="adj" fmla="val 40000"/>
              </a:avLst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22" name="Ellipse 22"/>
            <p:cNvSpPr/>
            <p:nvPr/>
          </p:nvSpPr>
          <p:spPr>
            <a:xfrm>
              <a:off x="4572000" y="1352550"/>
              <a:ext cx="419100" cy="419100"/>
            </a:xfrm>
            <a:prstGeom prst="ellipse">
              <a:avLst/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4672376" y="1507331"/>
              <a:ext cx="21834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4" name="Freeform 24"/>
            <p:cNvSpPr/>
            <p:nvPr/>
          </p:nvSpPr>
          <p:spPr>
            <a:xfrm>
              <a:off x="7319962" y="1338262"/>
              <a:ext cx="238125" cy="238368"/>
            </a:xfrm>
            <a:custGeom>
              <a:avLst/>
              <a:gdLst/>
              <a:ahLst/>
              <a:cxnLst/>
              <a:rect l="l" t="t" r="r" b="b"/>
              <a:pathLst>
                <a:path w="238125" h="238368">
                  <a:moveTo>
                    <a:pt x="119062" y="0"/>
                  </a:moveTo>
                  <a:cubicBezTo>
                    <a:pt x="184523" y="0"/>
                    <a:pt x="238125" y="47649"/>
                    <a:pt x="238125" y="107156"/>
                  </a:cubicBezTo>
                  <a:cubicBezTo>
                    <a:pt x="238125" y="123242"/>
                    <a:pt x="230981" y="138589"/>
                    <a:pt x="218432" y="149733"/>
                  </a:cubicBezTo>
                  <a:cubicBezTo>
                    <a:pt x="206169" y="160615"/>
                    <a:pt x="189714" y="166688"/>
                    <a:pt x="172641" y="166688"/>
                  </a:cubicBezTo>
                  <a:lnTo>
                    <a:pt x="142685" y="166688"/>
                  </a:lnTo>
                  <a:cubicBezTo>
                    <a:pt x="137220" y="166599"/>
                    <a:pt x="132397" y="170243"/>
                    <a:pt x="130988" y="175524"/>
                  </a:cubicBezTo>
                  <a:cubicBezTo>
                    <a:pt x="129580" y="180805"/>
                    <a:pt x="131948" y="186367"/>
                    <a:pt x="136731" y="189012"/>
                  </a:cubicBezTo>
                  <a:cubicBezTo>
                    <a:pt x="137565" y="189473"/>
                    <a:pt x="138341" y="190033"/>
                    <a:pt x="139041" y="190679"/>
                  </a:cubicBezTo>
                  <a:cubicBezTo>
                    <a:pt x="147388" y="198381"/>
                    <a:pt x="150114" y="210435"/>
                    <a:pt x="145894" y="220980"/>
                  </a:cubicBezTo>
                  <a:cubicBezTo>
                    <a:pt x="141673" y="231524"/>
                    <a:pt x="131383" y="238368"/>
                    <a:pt x="120027" y="238185"/>
                  </a:cubicBezTo>
                  <a:lnTo>
                    <a:pt x="118170" y="238077"/>
                  </a:lnTo>
                  <a:lnTo>
                    <a:pt x="118979" y="238125"/>
                  </a:lnTo>
                  <a:lnTo>
                    <a:pt x="115729" y="238077"/>
                  </a:lnTo>
                  <a:cubicBezTo>
                    <a:pt x="52626" y="236339"/>
                    <a:pt x="1786" y="185499"/>
                    <a:pt x="48" y="122396"/>
                  </a:cubicBezTo>
                  <a:lnTo>
                    <a:pt x="0" y="119062"/>
                  </a:lnTo>
                  <a:cubicBezTo>
                    <a:pt x="0" y="53304"/>
                    <a:pt x="53304" y="0"/>
                    <a:pt x="119062" y="0"/>
                  </a:cubicBezTo>
                  <a:moveTo>
                    <a:pt x="77391" y="77391"/>
                  </a:moveTo>
                  <a:cubicBezTo>
                    <a:pt x="64929" y="77387"/>
                    <a:pt x="54572" y="86991"/>
                    <a:pt x="53638" y="99417"/>
                  </a:cubicBezTo>
                  <a:lnTo>
                    <a:pt x="53578" y="101203"/>
                  </a:lnTo>
                  <a:cubicBezTo>
                    <a:pt x="53578" y="114354"/>
                    <a:pt x="64239" y="125016"/>
                    <a:pt x="77391" y="125016"/>
                  </a:cubicBezTo>
                  <a:cubicBezTo>
                    <a:pt x="90542" y="125016"/>
                    <a:pt x="101203" y="114354"/>
                    <a:pt x="101203" y="101203"/>
                  </a:cubicBezTo>
                  <a:cubicBezTo>
                    <a:pt x="101203" y="88052"/>
                    <a:pt x="90542" y="77391"/>
                    <a:pt x="77391" y="77391"/>
                  </a:cubicBezTo>
                  <a:moveTo>
                    <a:pt x="172641" y="77391"/>
                  </a:moveTo>
                  <a:cubicBezTo>
                    <a:pt x="160179" y="77387"/>
                    <a:pt x="149822" y="86991"/>
                    <a:pt x="148888" y="99417"/>
                  </a:cubicBezTo>
                  <a:lnTo>
                    <a:pt x="148828" y="101203"/>
                  </a:lnTo>
                  <a:cubicBezTo>
                    <a:pt x="148828" y="114354"/>
                    <a:pt x="159489" y="125016"/>
                    <a:pt x="172641" y="125016"/>
                  </a:cubicBezTo>
                  <a:cubicBezTo>
                    <a:pt x="185792" y="125016"/>
                    <a:pt x="196453" y="114354"/>
                    <a:pt x="196453" y="101203"/>
                  </a:cubicBezTo>
                  <a:cubicBezTo>
                    <a:pt x="196453" y="88052"/>
                    <a:pt x="185792" y="77391"/>
                    <a:pt x="172641" y="77391"/>
                  </a:cubicBezTo>
                  <a:moveTo>
                    <a:pt x="125016" y="41672"/>
                  </a:moveTo>
                  <a:cubicBezTo>
                    <a:pt x="112554" y="41668"/>
                    <a:pt x="102197" y="51272"/>
                    <a:pt x="101263" y="63698"/>
                  </a:cubicBezTo>
                  <a:lnTo>
                    <a:pt x="101203" y="65484"/>
                  </a:lnTo>
                  <a:cubicBezTo>
                    <a:pt x="101203" y="78636"/>
                    <a:pt x="111864" y="89297"/>
                    <a:pt x="125016" y="89297"/>
                  </a:cubicBezTo>
                  <a:cubicBezTo>
                    <a:pt x="138167" y="89297"/>
                    <a:pt x="148828" y="78636"/>
                    <a:pt x="148828" y="65484"/>
                  </a:cubicBezTo>
                  <a:cubicBezTo>
                    <a:pt x="148828" y="52333"/>
                    <a:pt x="138167" y="41672"/>
                    <a:pt x="125016" y="41672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5088255" y="1387792"/>
              <a:ext cx="106941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生成视觉稿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591050" y="1685925"/>
              <a:ext cx="3086100" cy="9525"/>
            </a:xfrm>
            <a:custGeom>
              <a:avLst/>
              <a:gdLst/>
              <a:ahLst/>
              <a:cxnLst/>
              <a:rect l="l" t="t" r="r" b="b"/>
              <a:pathLst>
                <a:path w="3086100" h="9525">
                  <a:moveTo>
                    <a:pt x="0" y="0"/>
                  </a:moveTo>
                  <a:lnTo>
                    <a:pt x="3086100" y="0"/>
                  </a:lnTo>
                </a:path>
              </a:pathLst>
            </a:custGeom>
            <a:noFill/>
            <a:ln w="9525">
              <a:solidFill>
                <a:srgbClr val="F0EDE8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576762" y="1802606"/>
              <a:ext cx="200025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用 Claude Design 生成配色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576762" y="2012156"/>
              <a:ext cx="183594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确认信息结构和风格方向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591050" y="2381250"/>
              <a:ext cx="3048000" cy="266700"/>
            </a:xfrm>
            <a:prstGeom prst="roundRect">
              <a:avLst>
                <a:gd name="adj" fmla="val 21429"/>
              </a:avLst>
            </a:prstGeom>
            <a:solidFill>
              <a:srgbClr val="F0EDE8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4692968" y="2447449"/>
              <a:ext cx="203258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🌞 迭代 2-3 轮找到你喜欢的风格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8039100" y="1238250"/>
            <a:ext cx="3390900" cy="1600200"/>
            <a:chOff x="8039100" y="1238250"/>
            <a:chExt cx="3390900" cy="1600200"/>
          </a:xfrm>
        </p:grpSpPr>
        <p:sp>
          <p:nvSpPr>
            <p:cNvPr id="32" name="Rectangle 32"/>
            <p:cNvSpPr/>
            <p:nvPr/>
          </p:nvSpPr>
          <p:spPr>
            <a:xfrm>
              <a:off x="8039100" y="1238250"/>
              <a:ext cx="3390900" cy="1600200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8039100" y="1238250"/>
              <a:ext cx="47625" cy="1600200"/>
            </a:xfrm>
            <a:prstGeom prst="roundRect">
              <a:avLst>
                <a:gd name="adj" fmla="val 40000"/>
              </a:avLst>
            </a:prstGeom>
            <a:solidFill>
              <a:srgbClr val="3D7DE4"/>
            </a:solidFill>
            <a:ln>
              <a:noFill/>
            </a:ln>
          </p:spPr>
        </p:sp>
        <p:sp>
          <p:nvSpPr>
            <p:cNvPr id="34" name="Ellipse 34"/>
            <p:cNvSpPr/>
            <p:nvPr/>
          </p:nvSpPr>
          <p:spPr>
            <a:xfrm>
              <a:off x="8210550" y="1352550"/>
              <a:ext cx="419100" cy="419100"/>
            </a:xfrm>
            <a:prstGeom prst="ellipse">
              <a:avLst/>
            </a:prstGeom>
            <a:solidFill>
              <a:srgbClr val="3D7DE4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8310926" y="1507331"/>
              <a:ext cx="21834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6" name="Freeform 36"/>
            <p:cNvSpPr/>
            <p:nvPr/>
          </p:nvSpPr>
          <p:spPr>
            <a:xfrm>
              <a:off x="10950250" y="1330000"/>
              <a:ext cx="254651" cy="254651"/>
            </a:xfrm>
            <a:custGeom>
              <a:avLst/>
              <a:gdLst/>
              <a:ahLst/>
              <a:cxnLst/>
              <a:rect l="l" t="t" r="r" b="b"/>
              <a:pathLst>
                <a:path w="254651" h="254651">
                  <a:moveTo>
                    <a:pt x="158841" y="33040"/>
                  </a:moveTo>
                  <a:cubicBezTo>
                    <a:pt x="159489" y="35714"/>
                    <a:pt x="161375" y="37918"/>
                    <a:pt x="163916" y="38972"/>
                  </a:cubicBezTo>
                  <a:cubicBezTo>
                    <a:pt x="166458" y="40026"/>
                    <a:pt x="169350" y="39804"/>
                    <a:pt x="171700" y="38374"/>
                  </a:cubicBezTo>
                  <a:cubicBezTo>
                    <a:pt x="200739" y="20693"/>
                    <a:pt x="233970" y="53911"/>
                    <a:pt x="216289" y="82951"/>
                  </a:cubicBezTo>
                  <a:cubicBezTo>
                    <a:pt x="214859" y="85300"/>
                    <a:pt x="214635" y="88190"/>
                    <a:pt x="215686" y="90731"/>
                  </a:cubicBezTo>
                  <a:cubicBezTo>
                    <a:pt x="216738" y="93272"/>
                    <a:pt x="218939" y="95159"/>
                    <a:pt x="221611" y="95810"/>
                  </a:cubicBezTo>
                  <a:cubicBezTo>
                    <a:pt x="254651" y="103823"/>
                    <a:pt x="254651" y="150816"/>
                    <a:pt x="221611" y="158841"/>
                  </a:cubicBezTo>
                  <a:cubicBezTo>
                    <a:pt x="218937" y="159489"/>
                    <a:pt x="216733" y="161375"/>
                    <a:pt x="215679" y="163916"/>
                  </a:cubicBezTo>
                  <a:cubicBezTo>
                    <a:pt x="214624" y="166458"/>
                    <a:pt x="214847" y="169350"/>
                    <a:pt x="216277" y="171700"/>
                  </a:cubicBezTo>
                  <a:cubicBezTo>
                    <a:pt x="233958" y="200739"/>
                    <a:pt x="200739" y="233970"/>
                    <a:pt x="171700" y="216289"/>
                  </a:cubicBezTo>
                  <a:cubicBezTo>
                    <a:pt x="169351" y="214859"/>
                    <a:pt x="166461" y="214635"/>
                    <a:pt x="163920" y="215686"/>
                  </a:cubicBezTo>
                  <a:cubicBezTo>
                    <a:pt x="161379" y="216738"/>
                    <a:pt x="159492" y="218939"/>
                    <a:pt x="158841" y="221611"/>
                  </a:cubicBezTo>
                  <a:cubicBezTo>
                    <a:pt x="150828" y="254651"/>
                    <a:pt x="103834" y="254651"/>
                    <a:pt x="95810" y="221611"/>
                  </a:cubicBezTo>
                  <a:cubicBezTo>
                    <a:pt x="95162" y="218937"/>
                    <a:pt x="93276" y="216733"/>
                    <a:pt x="90735" y="215679"/>
                  </a:cubicBezTo>
                  <a:cubicBezTo>
                    <a:pt x="88193" y="214624"/>
                    <a:pt x="85301" y="214847"/>
                    <a:pt x="82951" y="216277"/>
                  </a:cubicBezTo>
                  <a:cubicBezTo>
                    <a:pt x="53912" y="233958"/>
                    <a:pt x="20681" y="200739"/>
                    <a:pt x="38362" y="171700"/>
                  </a:cubicBezTo>
                  <a:cubicBezTo>
                    <a:pt x="39792" y="169351"/>
                    <a:pt x="40016" y="166461"/>
                    <a:pt x="38964" y="163920"/>
                  </a:cubicBezTo>
                  <a:cubicBezTo>
                    <a:pt x="37913" y="161379"/>
                    <a:pt x="35712" y="159492"/>
                    <a:pt x="33040" y="158841"/>
                  </a:cubicBezTo>
                  <a:cubicBezTo>
                    <a:pt x="0" y="150828"/>
                    <a:pt x="0" y="103834"/>
                    <a:pt x="33040" y="95810"/>
                  </a:cubicBezTo>
                  <a:cubicBezTo>
                    <a:pt x="35714" y="95162"/>
                    <a:pt x="37918" y="93276"/>
                    <a:pt x="38972" y="90735"/>
                  </a:cubicBezTo>
                  <a:cubicBezTo>
                    <a:pt x="40026" y="88193"/>
                    <a:pt x="39804" y="85301"/>
                    <a:pt x="38374" y="82951"/>
                  </a:cubicBezTo>
                  <a:cubicBezTo>
                    <a:pt x="20693" y="53911"/>
                    <a:pt x="53912" y="20681"/>
                    <a:pt x="82951" y="38362"/>
                  </a:cubicBezTo>
                  <a:cubicBezTo>
                    <a:pt x="85298" y="39803"/>
                    <a:pt x="88193" y="40033"/>
                    <a:pt x="90737" y="38980"/>
                  </a:cubicBezTo>
                  <a:cubicBezTo>
                    <a:pt x="93282" y="37927"/>
                    <a:pt x="95168" y="35718"/>
                    <a:pt x="95810" y="33040"/>
                  </a:cubicBezTo>
                  <a:cubicBezTo>
                    <a:pt x="103823" y="0"/>
                    <a:pt x="150816" y="0"/>
                    <a:pt x="158841" y="33040"/>
                  </a:cubicBezTo>
                  <a:close/>
                  <a:moveTo>
                    <a:pt x="127325" y="91607"/>
                  </a:moveTo>
                  <a:cubicBezTo>
                    <a:pt x="107599" y="91607"/>
                    <a:pt x="91607" y="107599"/>
                    <a:pt x="91607" y="127325"/>
                  </a:cubicBezTo>
                  <a:cubicBezTo>
                    <a:pt x="91607" y="147052"/>
                    <a:pt x="107599" y="163044"/>
                    <a:pt x="127325" y="163044"/>
                  </a:cubicBezTo>
                  <a:cubicBezTo>
                    <a:pt x="147052" y="163044"/>
                    <a:pt x="163044" y="147052"/>
                    <a:pt x="163044" y="127325"/>
                  </a:cubicBezTo>
                  <a:cubicBezTo>
                    <a:pt x="163044" y="107599"/>
                    <a:pt x="147052" y="91607"/>
                    <a:pt x="127325" y="91607"/>
                  </a:cubicBezTo>
                </a:path>
              </a:pathLst>
            </a:custGeom>
            <a:solidFill>
              <a:srgbClr val="3D7DE4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8726805" y="1387792"/>
              <a:ext cx="157663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配置 CLAUDE.md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8229600" y="1685925"/>
              <a:ext cx="3086100" cy="9525"/>
            </a:xfrm>
            <a:custGeom>
              <a:avLst/>
              <a:gdLst/>
              <a:ahLst/>
              <a:cxnLst/>
              <a:rect l="l" t="t" r="r" b="b"/>
              <a:pathLst>
                <a:path w="3086100" h="9525">
                  <a:moveTo>
                    <a:pt x="0" y="0"/>
                  </a:moveTo>
                  <a:lnTo>
                    <a:pt x="3086100" y="0"/>
                  </a:lnTo>
                </a:path>
              </a:pathLst>
            </a:custGeom>
            <a:noFill/>
            <a:ln w="9525">
              <a:solidFill>
                <a:srgbClr val="EBF0FA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8215312" y="1802606"/>
              <a:ext cx="207418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把设计规范写入 CLAUDE.md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215312" y="2012156"/>
              <a:ext cx="218920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约束 Claude Code 的生成行为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8229600" y="2381250"/>
              <a:ext cx="3048000" cy="266700"/>
            </a:xfrm>
            <a:prstGeom prst="roundRect">
              <a:avLst>
                <a:gd name="adj" fmla="val 21429"/>
              </a:avLst>
            </a:prstGeom>
            <a:solidFill>
              <a:srgbClr val="EBF0F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8331518" y="2447449"/>
              <a:ext cx="210378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3D7DE4"/>
                  </a:solidFill>
                  <a:latin typeface="Arial"/>
                  <a:ea typeface="Microsoft YaHei"/>
                  <a:cs typeface="Arial"/>
                </a:rPr>
                <a:t>📄 参考今天讲的 CLAUDE.md 模板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762000" y="3048000"/>
            <a:ext cx="3390900" cy="1600200"/>
            <a:chOff x="762000" y="3048000"/>
            <a:chExt cx="3390900" cy="1600200"/>
          </a:xfrm>
        </p:grpSpPr>
        <p:sp>
          <p:nvSpPr>
            <p:cNvPr id="44" name="Rectangle 44"/>
            <p:cNvSpPr/>
            <p:nvPr/>
          </p:nvSpPr>
          <p:spPr>
            <a:xfrm>
              <a:off x="762000" y="3048000"/>
              <a:ext cx="3390900" cy="1600200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762000" y="3048000"/>
              <a:ext cx="47625" cy="1600200"/>
            </a:xfrm>
            <a:prstGeom prst="roundRect">
              <a:avLst>
                <a:gd name="adj" fmla="val 40000"/>
              </a:avLst>
            </a:prstGeom>
            <a:solidFill>
              <a:srgbClr val="3D7DE4"/>
            </a:solidFill>
            <a:ln>
              <a:noFill/>
            </a:ln>
          </p:spPr>
        </p:sp>
        <p:sp>
          <p:nvSpPr>
            <p:cNvPr id="46" name="Ellipse 46"/>
            <p:cNvSpPr/>
            <p:nvPr/>
          </p:nvSpPr>
          <p:spPr>
            <a:xfrm>
              <a:off x="933450" y="3162300"/>
              <a:ext cx="419100" cy="419100"/>
            </a:xfrm>
            <a:prstGeom prst="ellipse">
              <a:avLst/>
            </a:prstGeom>
            <a:solidFill>
              <a:srgbClr val="3D7DE4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1033826" y="3317081"/>
              <a:ext cx="21834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04</a:t>
              </a:r>
            </a:p>
          </p:txBody>
        </p:sp>
        <p:sp>
          <p:nvSpPr>
            <p:cNvPr id="48" name="Freeform 48"/>
            <p:cNvSpPr/>
            <p:nvPr/>
          </p:nvSpPr>
          <p:spPr>
            <a:xfrm>
              <a:off x="3681411" y="3142679"/>
              <a:ext cx="250708" cy="251687"/>
            </a:xfrm>
            <a:custGeom>
              <a:avLst/>
              <a:gdLst/>
              <a:ahLst/>
              <a:cxnLst/>
              <a:rect l="l" t="t" r="r" b="b"/>
              <a:pathLst>
                <a:path w="250708" h="251687">
                  <a:moveTo>
                    <a:pt x="178595" y="21288"/>
                  </a:moveTo>
                  <a:cubicBezTo>
                    <a:pt x="228635" y="50178"/>
                    <a:pt x="250708" y="110826"/>
                    <a:pt x="230946" y="165122"/>
                  </a:cubicBezTo>
                  <a:cubicBezTo>
                    <a:pt x="211183" y="219417"/>
                    <a:pt x="155290" y="251687"/>
                    <a:pt x="98387" y="241652"/>
                  </a:cubicBezTo>
                  <a:cubicBezTo>
                    <a:pt x="41484" y="231618"/>
                    <a:pt x="0" y="182176"/>
                    <a:pt x="1" y="124396"/>
                  </a:cubicBezTo>
                  <a:lnTo>
                    <a:pt x="61" y="120538"/>
                  </a:lnTo>
                  <a:cubicBezTo>
                    <a:pt x="1417" y="78711"/>
                    <a:pt x="24633" y="40667"/>
                    <a:pt x="61210" y="20334"/>
                  </a:cubicBezTo>
                  <a:cubicBezTo>
                    <a:pt x="97787" y="0"/>
                    <a:pt x="142354" y="362"/>
                    <a:pt x="178595" y="21288"/>
                  </a:cubicBezTo>
                  <a:moveTo>
                    <a:pt x="103669" y="92166"/>
                  </a:moveTo>
                  <a:cubicBezTo>
                    <a:pt x="99020" y="87518"/>
                    <a:pt x="91483" y="87518"/>
                    <a:pt x="86834" y="92166"/>
                  </a:cubicBezTo>
                  <a:lnTo>
                    <a:pt x="63021" y="115978"/>
                  </a:lnTo>
                  <a:cubicBezTo>
                    <a:pt x="58373" y="120627"/>
                    <a:pt x="58373" y="128164"/>
                    <a:pt x="63021" y="132813"/>
                  </a:cubicBezTo>
                  <a:lnTo>
                    <a:pt x="86834" y="156626"/>
                  </a:lnTo>
                  <a:cubicBezTo>
                    <a:pt x="91483" y="161274"/>
                    <a:pt x="99020" y="161274"/>
                    <a:pt x="103669" y="156626"/>
                  </a:cubicBezTo>
                  <a:lnTo>
                    <a:pt x="104657" y="155507"/>
                  </a:lnTo>
                  <a:cubicBezTo>
                    <a:pt x="108334" y="150767"/>
                    <a:pt x="107911" y="144032"/>
                    <a:pt x="103669" y="139791"/>
                  </a:cubicBezTo>
                  <a:lnTo>
                    <a:pt x="88286" y="124396"/>
                  </a:lnTo>
                  <a:lnTo>
                    <a:pt x="103669" y="109001"/>
                  </a:lnTo>
                  <a:cubicBezTo>
                    <a:pt x="108317" y="104352"/>
                    <a:pt x="108317" y="96815"/>
                    <a:pt x="103669" y="92166"/>
                  </a:cubicBezTo>
                  <a:moveTo>
                    <a:pt x="151294" y="92166"/>
                  </a:moveTo>
                  <a:cubicBezTo>
                    <a:pt x="146645" y="87518"/>
                    <a:pt x="139108" y="87518"/>
                    <a:pt x="134459" y="92166"/>
                  </a:cubicBezTo>
                  <a:lnTo>
                    <a:pt x="133471" y="93285"/>
                  </a:lnTo>
                  <a:cubicBezTo>
                    <a:pt x="129794" y="98024"/>
                    <a:pt x="130217" y="104759"/>
                    <a:pt x="134459" y="109001"/>
                  </a:cubicBezTo>
                  <a:lnTo>
                    <a:pt x="149842" y="124396"/>
                  </a:lnTo>
                  <a:lnTo>
                    <a:pt x="134459" y="139791"/>
                  </a:lnTo>
                  <a:cubicBezTo>
                    <a:pt x="129947" y="144462"/>
                    <a:pt x="130011" y="151888"/>
                    <a:pt x="134604" y="156481"/>
                  </a:cubicBezTo>
                  <a:cubicBezTo>
                    <a:pt x="139196" y="161074"/>
                    <a:pt x="146622" y="161138"/>
                    <a:pt x="151294" y="156626"/>
                  </a:cubicBezTo>
                  <a:lnTo>
                    <a:pt x="175107" y="132813"/>
                  </a:lnTo>
                  <a:cubicBezTo>
                    <a:pt x="179755" y="128164"/>
                    <a:pt x="179755" y="120627"/>
                    <a:pt x="175107" y="115978"/>
                  </a:cubicBezTo>
                  <a:close/>
                </a:path>
              </a:pathLst>
            </a:custGeom>
            <a:solidFill>
              <a:srgbClr val="3D7DE4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1449705" y="3197542"/>
              <a:ext cx="165944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Claude Code 开发</a:t>
              </a:r>
            </a:p>
          </p:txBody>
        </p:sp>
        <p:sp>
          <p:nvSpPr>
            <p:cNvPr id="50" name="Line 50"/>
            <p:cNvSpPr/>
            <p:nvPr/>
          </p:nvSpPr>
          <p:spPr>
            <a:xfrm>
              <a:off x="952500" y="3495675"/>
              <a:ext cx="3086100" cy="9525"/>
            </a:xfrm>
            <a:custGeom>
              <a:avLst/>
              <a:gdLst/>
              <a:ahLst/>
              <a:cxnLst/>
              <a:rect l="l" t="t" r="r" b="b"/>
              <a:pathLst>
                <a:path w="3086100" h="9525">
                  <a:moveTo>
                    <a:pt x="0" y="0"/>
                  </a:moveTo>
                  <a:lnTo>
                    <a:pt x="3086100" y="0"/>
                  </a:lnTo>
                </a:path>
              </a:pathLst>
            </a:custGeom>
            <a:noFill/>
            <a:ln w="9525">
              <a:solidFill>
                <a:srgbClr val="EBF0FA"/>
              </a:solidFill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938212" y="3612356"/>
              <a:ext cx="183594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生成主页和至少一个内页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938212" y="3821906"/>
              <a:ext cx="167163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保持多页面视觉一致性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952500" y="4191000"/>
              <a:ext cx="3048000" cy="266700"/>
            </a:xfrm>
            <a:prstGeom prst="roundRect">
              <a:avLst>
                <a:gd name="adj" fmla="val 21429"/>
              </a:avLst>
            </a:prstGeom>
            <a:solidFill>
              <a:srgbClr val="EBF0FA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1054418" y="4257199"/>
              <a:ext cx="1961388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3D7DE4"/>
                  </a:solidFill>
                  <a:latin typeface="Arial"/>
                  <a:ea typeface="Microsoft YaHei"/>
                  <a:cs typeface="Arial"/>
                </a:rPr>
                <a:t>💻 让 CLAUDE.md 帮你保持一致</a:t>
              </a:r>
            </a:p>
          </p:txBody>
        </p:sp>
      </p:grpSp>
      <p:grpSp>
        <p:nvGrpSpPr>
          <p:cNvPr id="70" name="Group 70"/>
          <p:cNvGrpSpPr/>
          <p:nvPr/>
        </p:nvGrpSpPr>
        <p:grpSpPr>
          <a:xfrm>
            <a:off x="4400550" y="3048000"/>
            <a:ext cx="3390900" cy="1600200"/>
            <a:chOff x="4400550" y="3048000"/>
            <a:chExt cx="3390900" cy="1600200"/>
          </a:xfrm>
        </p:grpSpPr>
        <p:sp>
          <p:nvSpPr>
            <p:cNvPr id="56" name="Rectangle 56"/>
            <p:cNvSpPr/>
            <p:nvPr/>
          </p:nvSpPr>
          <p:spPr>
            <a:xfrm>
              <a:off x="4400550" y="3048000"/>
              <a:ext cx="3390900" cy="1600200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57" name="Rectangle 57"/>
            <p:cNvSpPr/>
            <p:nvPr/>
          </p:nvSpPr>
          <p:spPr>
            <a:xfrm>
              <a:off x="4400550" y="3048000"/>
              <a:ext cx="47625" cy="1600200"/>
            </a:xfrm>
            <a:prstGeom prst="roundRect">
              <a:avLst>
                <a:gd name="adj" fmla="val 40000"/>
              </a:avLst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58" name="Ellipse 58"/>
            <p:cNvSpPr/>
            <p:nvPr/>
          </p:nvSpPr>
          <p:spPr>
            <a:xfrm>
              <a:off x="4572000" y="3162300"/>
              <a:ext cx="419100" cy="419100"/>
            </a:xfrm>
            <a:prstGeom prst="ellipse">
              <a:avLst/>
            </a:prstGeom>
            <a:solidFill>
              <a:srgbClr val="C96133">
                <a:alpha val="70000"/>
              </a:srgbClr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4672376" y="3317081"/>
              <a:ext cx="21834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05</a:t>
              </a:r>
            </a:p>
          </p:txBody>
        </p:sp>
        <p:grpSp>
          <p:nvGrpSpPr>
            <p:cNvPr id="63" name="Group 63"/>
            <p:cNvGrpSpPr/>
            <p:nvPr/>
          </p:nvGrpSpPr>
          <p:grpSpPr>
            <a:xfrm>
              <a:off x="7315998" y="3155954"/>
              <a:ext cx="234148" cy="222242"/>
              <a:chOff x="7315998" y="3155954"/>
              <a:chExt cx="234148" cy="222242"/>
            </a:xfrm>
          </p:grpSpPr>
          <p:sp>
            <p:nvSpPr>
              <p:cNvPr id="60" name="Freeform 60"/>
              <p:cNvSpPr/>
              <p:nvPr/>
            </p:nvSpPr>
            <p:spPr>
              <a:xfrm>
                <a:off x="7474744" y="3298829"/>
                <a:ext cx="75402" cy="79367"/>
              </a:xfrm>
              <a:custGeom>
                <a:avLst/>
                <a:gdLst/>
                <a:ahLst/>
                <a:cxnLst/>
                <a:rect l="l" t="t" r="r" b="b"/>
                <a:pathLst>
                  <a:path w="75402" h="79367">
                    <a:moveTo>
                      <a:pt x="11906" y="51590"/>
                    </a:moveTo>
                    <a:cubicBezTo>
                      <a:pt x="5331" y="51590"/>
                      <a:pt x="0" y="46259"/>
                      <a:pt x="0" y="39684"/>
                    </a:cubicBezTo>
                    <a:cubicBezTo>
                      <a:pt x="0" y="33108"/>
                      <a:pt x="5331" y="27777"/>
                      <a:pt x="11906" y="27777"/>
                    </a:cubicBezTo>
                    <a:cubicBezTo>
                      <a:pt x="18482" y="27777"/>
                      <a:pt x="23812" y="22447"/>
                      <a:pt x="23812" y="15871"/>
                    </a:cubicBezTo>
                    <a:cubicBezTo>
                      <a:pt x="23812" y="0"/>
                      <a:pt x="47625" y="0"/>
                      <a:pt x="47625" y="15871"/>
                    </a:cubicBezTo>
                    <a:cubicBezTo>
                      <a:pt x="47625" y="22447"/>
                      <a:pt x="52956" y="27777"/>
                      <a:pt x="59531" y="27777"/>
                    </a:cubicBezTo>
                    <a:cubicBezTo>
                      <a:pt x="75402" y="27777"/>
                      <a:pt x="75402" y="51590"/>
                      <a:pt x="59531" y="51590"/>
                    </a:cubicBezTo>
                    <a:cubicBezTo>
                      <a:pt x="52956" y="51590"/>
                      <a:pt x="47625" y="56920"/>
                      <a:pt x="47625" y="63496"/>
                    </a:cubicBezTo>
                    <a:cubicBezTo>
                      <a:pt x="47625" y="79367"/>
                      <a:pt x="23812" y="79367"/>
                      <a:pt x="23812" y="63496"/>
                    </a:cubicBezTo>
                    <a:cubicBezTo>
                      <a:pt x="23812" y="56920"/>
                      <a:pt x="18482" y="51590"/>
                      <a:pt x="11906" y="51590"/>
                    </a:cubicBezTo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7315998" y="3179766"/>
                <a:ext cx="174617" cy="170652"/>
              </a:xfrm>
              <a:custGeom>
                <a:avLst/>
                <a:gdLst/>
                <a:ahLst/>
                <a:cxnLst/>
                <a:rect l="l" t="t" r="r" b="b"/>
                <a:pathLst>
                  <a:path w="174617" h="170652">
                    <a:moveTo>
                      <a:pt x="15871" y="75402"/>
                    </a:moveTo>
                    <a:cubicBezTo>
                      <a:pt x="48749" y="75402"/>
                      <a:pt x="75402" y="48749"/>
                      <a:pt x="75402" y="15871"/>
                    </a:cubicBezTo>
                    <a:cubicBezTo>
                      <a:pt x="75402" y="0"/>
                      <a:pt x="99215" y="0"/>
                      <a:pt x="99215" y="15871"/>
                    </a:cubicBezTo>
                    <a:cubicBezTo>
                      <a:pt x="99215" y="48749"/>
                      <a:pt x="125868" y="75402"/>
                      <a:pt x="158746" y="75402"/>
                    </a:cubicBezTo>
                    <a:cubicBezTo>
                      <a:pt x="174617" y="75402"/>
                      <a:pt x="174617" y="99215"/>
                      <a:pt x="158746" y="99215"/>
                    </a:cubicBezTo>
                    <a:cubicBezTo>
                      <a:pt x="125868" y="99215"/>
                      <a:pt x="99215" y="125868"/>
                      <a:pt x="99215" y="158746"/>
                    </a:cubicBezTo>
                    <a:cubicBezTo>
                      <a:pt x="99215" y="165322"/>
                      <a:pt x="93884" y="170652"/>
                      <a:pt x="87309" y="170652"/>
                    </a:cubicBezTo>
                    <a:cubicBezTo>
                      <a:pt x="80733" y="170652"/>
                      <a:pt x="75402" y="165322"/>
                      <a:pt x="75402" y="158746"/>
                    </a:cubicBezTo>
                    <a:cubicBezTo>
                      <a:pt x="75402" y="125868"/>
                      <a:pt x="48749" y="99215"/>
                      <a:pt x="15871" y="99215"/>
                    </a:cubicBezTo>
                    <a:cubicBezTo>
                      <a:pt x="0" y="99215"/>
                      <a:pt x="0" y="75402"/>
                      <a:pt x="15871" y="75402"/>
                    </a:cubicBezTo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7474744" y="3155954"/>
                <a:ext cx="75402" cy="79367"/>
              </a:xfrm>
              <a:custGeom>
                <a:avLst/>
                <a:gdLst/>
                <a:ahLst/>
                <a:cxnLst/>
                <a:rect l="l" t="t" r="r" b="b"/>
                <a:pathLst>
                  <a:path w="75402" h="79367">
                    <a:moveTo>
                      <a:pt x="11906" y="51590"/>
                    </a:moveTo>
                    <a:cubicBezTo>
                      <a:pt x="5331" y="51590"/>
                      <a:pt x="0" y="46259"/>
                      <a:pt x="0" y="39684"/>
                    </a:cubicBezTo>
                    <a:cubicBezTo>
                      <a:pt x="0" y="33108"/>
                      <a:pt x="5331" y="27777"/>
                      <a:pt x="11906" y="27777"/>
                    </a:cubicBezTo>
                    <a:cubicBezTo>
                      <a:pt x="18482" y="27777"/>
                      <a:pt x="23812" y="22447"/>
                      <a:pt x="23812" y="15871"/>
                    </a:cubicBezTo>
                    <a:cubicBezTo>
                      <a:pt x="23812" y="0"/>
                      <a:pt x="47625" y="0"/>
                      <a:pt x="47625" y="15871"/>
                    </a:cubicBezTo>
                    <a:cubicBezTo>
                      <a:pt x="47625" y="22447"/>
                      <a:pt x="52956" y="27777"/>
                      <a:pt x="59531" y="27777"/>
                    </a:cubicBezTo>
                    <a:cubicBezTo>
                      <a:pt x="75402" y="27777"/>
                      <a:pt x="75402" y="51590"/>
                      <a:pt x="59531" y="51590"/>
                    </a:cubicBezTo>
                    <a:cubicBezTo>
                      <a:pt x="52956" y="51590"/>
                      <a:pt x="47625" y="56920"/>
                      <a:pt x="47625" y="63496"/>
                    </a:cubicBezTo>
                    <a:cubicBezTo>
                      <a:pt x="47625" y="79367"/>
                      <a:pt x="23812" y="79367"/>
                      <a:pt x="23812" y="63496"/>
                    </a:cubicBezTo>
                    <a:cubicBezTo>
                      <a:pt x="23812" y="56920"/>
                      <a:pt x="18482" y="51590"/>
                      <a:pt x="11906" y="51590"/>
                    </a:cubicBezTo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</p:grpSp>
        <p:sp>
          <p:nvSpPr>
            <p:cNvPr id="64" name="TextBox 64"/>
            <p:cNvSpPr txBox="1"/>
            <p:nvPr/>
          </p:nvSpPr>
          <p:spPr>
            <a:xfrm>
              <a:off x="5088255" y="3197542"/>
              <a:ext cx="157663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加 Chatbot 彩蛋</a:t>
              </a:r>
            </a:p>
          </p:txBody>
        </p:sp>
        <p:sp>
          <p:nvSpPr>
            <p:cNvPr id="65" name="Line 65"/>
            <p:cNvSpPr/>
            <p:nvPr/>
          </p:nvSpPr>
          <p:spPr>
            <a:xfrm>
              <a:off x="4591050" y="3495675"/>
              <a:ext cx="3086100" cy="9525"/>
            </a:xfrm>
            <a:custGeom>
              <a:avLst/>
              <a:gdLst/>
              <a:ahLst/>
              <a:cxnLst/>
              <a:rect l="l" t="t" r="r" b="b"/>
              <a:pathLst>
                <a:path w="3086100" h="9525">
                  <a:moveTo>
                    <a:pt x="0" y="0"/>
                  </a:moveTo>
                  <a:lnTo>
                    <a:pt x="3086100" y="0"/>
                  </a:lnTo>
                </a:path>
              </a:pathLst>
            </a:custGeom>
            <a:noFill/>
            <a:ln w="9525">
              <a:solidFill>
                <a:srgbClr val="F0EDE8"/>
              </a:solidFill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4576762" y="3612356"/>
              <a:ext cx="214812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嵌入 Claude API 问答 widget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4576762" y="3821906"/>
              <a:ext cx="196738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让访客 7x24 小时得到解答</a:t>
              </a:r>
            </a:p>
          </p:txBody>
        </p:sp>
        <p:sp>
          <p:nvSpPr>
            <p:cNvPr id="68" name="Rectangle 68"/>
            <p:cNvSpPr/>
            <p:nvPr/>
          </p:nvSpPr>
          <p:spPr>
            <a:xfrm>
              <a:off x="4591050" y="4191000"/>
              <a:ext cx="3048000" cy="266700"/>
            </a:xfrm>
            <a:prstGeom prst="roundRect">
              <a:avLst>
                <a:gd name="adj" fmla="val 21429"/>
              </a:avLst>
            </a:prstGeom>
            <a:solidFill>
              <a:srgbClr val="F0EDE8"/>
            </a:solidFill>
            <a:ln>
              <a:noFill/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4692968" y="4257199"/>
              <a:ext cx="171219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☆ 可选进阶：完成后加分项</a:t>
              </a:r>
            </a:p>
          </p:txBody>
        </p:sp>
      </p:grpSp>
      <p:grpSp>
        <p:nvGrpSpPr>
          <p:cNvPr id="86" name="Group 86"/>
          <p:cNvGrpSpPr/>
          <p:nvPr/>
        </p:nvGrpSpPr>
        <p:grpSpPr>
          <a:xfrm>
            <a:off x="8039100" y="3048000"/>
            <a:ext cx="3390900" cy="1600200"/>
            <a:chOff x="8039100" y="3048000"/>
            <a:chExt cx="3390900" cy="1600200"/>
          </a:xfrm>
        </p:grpSpPr>
        <p:sp>
          <p:nvSpPr>
            <p:cNvPr id="71" name="Rectangle 71"/>
            <p:cNvSpPr/>
            <p:nvPr/>
          </p:nvSpPr>
          <p:spPr>
            <a:xfrm>
              <a:off x="8039100" y="3048000"/>
              <a:ext cx="3390900" cy="1600200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72" name="Rectangle 72"/>
            <p:cNvSpPr/>
            <p:nvPr/>
          </p:nvSpPr>
          <p:spPr>
            <a:xfrm>
              <a:off x="8039100" y="3048000"/>
              <a:ext cx="47625" cy="1600200"/>
            </a:xfrm>
            <a:prstGeom prst="roundRect">
              <a:avLst>
                <a:gd name="adj" fmla="val 40000"/>
              </a:avLst>
            </a:prstGeom>
            <a:solidFill>
              <a:srgbClr val="3A9E6A"/>
            </a:solidFill>
            <a:ln>
              <a:noFill/>
            </a:ln>
          </p:spPr>
        </p:sp>
        <p:sp>
          <p:nvSpPr>
            <p:cNvPr id="73" name="Ellipse 73"/>
            <p:cNvSpPr/>
            <p:nvPr/>
          </p:nvSpPr>
          <p:spPr>
            <a:xfrm>
              <a:off x="8210550" y="3162300"/>
              <a:ext cx="419100" cy="419100"/>
            </a:xfrm>
            <a:prstGeom prst="ellipse">
              <a:avLst/>
            </a:prstGeom>
            <a:solidFill>
              <a:srgbClr val="3A9E6A"/>
            </a:solidFill>
            <a:ln>
              <a:noFill/>
            </a:ln>
          </p:spPr>
        </p:sp>
        <p:sp>
          <p:nvSpPr>
            <p:cNvPr id="74" name="TextBox 74"/>
            <p:cNvSpPr txBox="1"/>
            <p:nvPr/>
          </p:nvSpPr>
          <p:spPr>
            <a:xfrm>
              <a:off x="8310926" y="3317081"/>
              <a:ext cx="21834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06</a:t>
              </a:r>
            </a:p>
          </p:txBody>
        </p:sp>
        <p:grpSp>
          <p:nvGrpSpPr>
            <p:cNvPr id="79" name="Group 79"/>
            <p:cNvGrpSpPr/>
            <p:nvPr/>
          </p:nvGrpSpPr>
          <p:grpSpPr>
            <a:xfrm>
              <a:off x="10989858" y="3134416"/>
              <a:ext cx="185557" cy="252057"/>
              <a:chOff x="10989858" y="3134416"/>
              <a:chExt cx="185557" cy="252057"/>
            </a:xfrm>
          </p:grpSpPr>
          <p:sp>
            <p:nvSpPr>
              <p:cNvPr id="75" name="Freeform 75"/>
              <p:cNvSpPr/>
              <p:nvPr/>
            </p:nvSpPr>
            <p:spPr>
              <a:xfrm>
                <a:off x="11006138" y="3171823"/>
                <a:ext cx="119532" cy="119982"/>
              </a:xfrm>
              <a:custGeom>
                <a:avLst/>
                <a:gdLst/>
                <a:ahLst/>
                <a:cxnLst/>
                <a:rect l="l" t="t" r="r" b="b"/>
                <a:pathLst>
                  <a:path w="119532" h="119982">
                    <a:moveTo>
                      <a:pt x="59531" y="2"/>
                    </a:moveTo>
                    <a:cubicBezTo>
                      <a:pt x="92074" y="0"/>
                      <a:pt x="118588" y="26130"/>
                      <a:pt x="119060" y="58669"/>
                    </a:cubicBezTo>
                    <a:cubicBezTo>
                      <a:pt x="119532" y="91209"/>
                      <a:pt x="93788" y="118097"/>
                      <a:pt x="61259" y="119039"/>
                    </a:cubicBezTo>
                    <a:cubicBezTo>
                      <a:pt x="28730" y="119982"/>
                      <a:pt x="1472" y="94629"/>
                      <a:pt x="60" y="62117"/>
                    </a:cubicBezTo>
                    <a:lnTo>
                      <a:pt x="0" y="59533"/>
                    </a:lnTo>
                    <a:lnTo>
                      <a:pt x="60" y="56949"/>
                    </a:lnTo>
                    <a:cubicBezTo>
                      <a:pt x="1443" y="25107"/>
                      <a:pt x="27659" y="4"/>
                      <a:pt x="59531" y="2"/>
                    </a:cubicBezTo>
                    <a:close/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</p:sp>
          <p:sp>
            <p:nvSpPr>
              <p:cNvPr id="76" name="Freeform 76"/>
              <p:cNvSpPr/>
              <p:nvPr/>
            </p:nvSpPr>
            <p:spPr>
              <a:xfrm>
                <a:off x="10989858" y="3134416"/>
                <a:ext cx="185557" cy="211109"/>
              </a:xfrm>
              <a:custGeom>
                <a:avLst/>
                <a:gdLst/>
                <a:ahLst/>
                <a:cxnLst/>
                <a:rect l="l" t="t" r="r" b="b"/>
                <a:pathLst>
                  <a:path w="185557" h="211109">
                    <a:moveTo>
                      <a:pt x="113113" y="7667"/>
                    </a:moveTo>
                    <a:cubicBezTo>
                      <a:pt x="116388" y="1967"/>
                      <a:pt x="123664" y="0"/>
                      <a:pt x="129365" y="3274"/>
                    </a:cubicBezTo>
                    <a:cubicBezTo>
                      <a:pt x="164766" y="23621"/>
                      <a:pt x="185557" y="62292"/>
                      <a:pt x="183003" y="103044"/>
                    </a:cubicBezTo>
                    <a:cubicBezTo>
                      <a:pt x="180450" y="143796"/>
                      <a:pt x="154996" y="179570"/>
                      <a:pt x="117332" y="195340"/>
                    </a:cubicBezTo>
                    <a:cubicBezTo>
                      <a:pt x="79668" y="211109"/>
                      <a:pt x="36319" y="204143"/>
                      <a:pt x="5492" y="177367"/>
                    </a:cubicBezTo>
                    <a:cubicBezTo>
                      <a:pt x="528" y="173053"/>
                      <a:pt x="0" y="165532"/>
                      <a:pt x="4314" y="160567"/>
                    </a:cubicBezTo>
                    <a:cubicBezTo>
                      <a:pt x="8627" y="155602"/>
                      <a:pt x="16149" y="155075"/>
                      <a:pt x="21113" y="159388"/>
                    </a:cubicBezTo>
                    <a:cubicBezTo>
                      <a:pt x="45101" y="180224"/>
                      <a:pt x="78833" y="185644"/>
                      <a:pt x="108140" y="173373"/>
                    </a:cubicBezTo>
                    <a:cubicBezTo>
                      <a:pt x="137448" y="161103"/>
                      <a:pt x="157255" y="133266"/>
                      <a:pt x="159243" y="101555"/>
                    </a:cubicBezTo>
                    <a:cubicBezTo>
                      <a:pt x="161230" y="69845"/>
                      <a:pt x="145053" y="39753"/>
                      <a:pt x="117506" y="23919"/>
                    </a:cubicBezTo>
                    <a:cubicBezTo>
                      <a:pt x="111806" y="20644"/>
                      <a:pt x="109839" y="13368"/>
                      <a:pt x="113113" y="7667"/>
                    </a:cubicBezTo>
                    <a:close/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</p:sp>
          <p:sp>
            <p:nvSpPr>
              <p:cNvPr id="77" name="Freeform 77"/>
              <p:cNvSpPr/>
              <p:nvPr/>
            </p:nvSpPr>
            <p:spPr>
              <a:xfrm>
                <a:off x="11053762" y="3314700"/>
                <a:ext cx="23812" cy="71773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71773">
                    <a:moveTo>
                      <a:pt x="11906" y="0"/>
                    </a:moveTo>
                    <a:cubicBezTo>
                      <a:pt x="17942" y="1"/>
                      <a:pt x="23023" y="4519"/>
                      <a:pt x="23729" y="10513"/>
                    </a:cubicBezTo>
                    <a:lnTo>
                      <a:pt x="23812" y="11906"/>
                    </a:lnTo>
                    <a:lnTo>
                      <a:pt x="23812" y="59531"/>
                    </a:lnTo>
                    <a:cubicBezTo>
                      <a:pt x="23806" y="65831"/>
                      <a:pt x="18893" y="71035"/>
                      <a:pt x="12604" y="71404"/>
                    </a:cubicBezTo>
                    <a:cubicBezTo>
                      <a:pt x="6315" y="71773"/>
                      <a:pt x="827" y="67180"/>
                      <a:pt x="83" y="60924"/>
                    </a:cubicBezTo>
                    <a:lnTo>
                      <a:pt x="0" y="59531"/>
                    </a:lnTo>
                    <a:lnTo>
                      <a:pt x="0" y="11906"/>
                    </a:lnTo>
                    <a:cubicBezTo>
                      <a:pt x="0" y="5331"/>
                      <a:pt x="5331" y="0"/>
                      <a:pt x="11906" y="0"/>
                    </a:cubicBezTo>
                    <a:close/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</p:sp>
          <p:sp>
            <p:nvSpPr>
              <p:cNvPr id="78" name="Freeform 78"/>
              <p:cNvSpPr/>
              <p:nvPr/>
            </p:nvSpPr>
            <p:spPr>
              <a:xfrm>
                <a:off x="11005802" y="3362325"/>
                <a:ext cx="119734" cy="23812"/>
              </a:xfrm>
              <a:custGeom>
                <a:avLst/>
                <a:gdLst/>
                <a:ahLst/>
                <a:cxnLst/>
                <a:rect l="l" t="t" r="r" b="b"/>
                <a:pathLst>
                  <a:path w="119734" h="23812">
                    <a:moveTo>
                      <a:pt x="107492" y="0"/>
                    </a:moveTo>
                    <a:cubicBezTo>
                      <a:pt x="113791" y="7"/>
                      <a:pt x="118995" y="4920"/>
                      <a:pt x="119364" y="11208"/>
                    </a:cubicBezTo>
                    <a:cubicBezTo>
                      <a:pt x="119734" y="17497"/>
                      <a:pt x="115140" y="22985"/>
                      <a:pt x="108885" y="23729"/>
                    </a:cubicBezTo>
                    <a:lnTo>
                      <a:pt x="107492" y="23812"/>
                    </a:lnTo>
                    <a:lnTo>
                      <a:pt x="12242" y="23812"/>
                    </a:lnTo>
                    <a:cubicBezTo>
                      <a:pt x="5942" y="23806"/>
                      <a:pt x="738" y="18893"/>
                      <a:pt x="369" y="12604"/>
                    </a:cubicBezTo>
                    <a:cubicBezTo>
                      <a:pt x="0" y="6315"/>
                      <a:pt x="4593" y="827"/>
                      <a:pt x="10849" y="83"/>
                    </a:cubicBezTo>
                    <a:lnTo>
                      <a:pt x="12242" y="0"/>
                    </a:lnTo>
                    <a:lnTo>
                      <a:pt x="107492" y="0"/>
                    </a:lnTo>
                    <a:close/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</p:sp>
        </p:grpSp>
        <p:sp>
          <p:nvSpPr>
            <p:cNvPr id="80" name="TextBox 80"/>
            <p:cNvSpPr txBox="1"/>
            <p:nvPr/>
          </p:nvSpPr>
          <p:spPr>
            <a:xfrm>
              <a:off x="8726805" y="3197542"/>
              <a:ext cx="151452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部署 + 分享链接</a:t>
              </a:r>
            </a:p>
          </p:txBody>
        </p:sp>
        <p:sp>
          <p:nvSpPr>
            <p:cNvPr id="81" name="Line 81"/>
            <p:cNvSpPr/>
            <p:nvPr/>
          </p:nvSpPr>
          <p:spPr>
            <a:xfrm>
              <a:off x="8229600" y="3495675"/>
              <a:ext cx="3086100" cy="9525"/>
            </a:xfrm>
            <a:custGeom>
              <a:avLst/>
              <a:gdLst/>
              <a:ahLst/>
              <a:cxnLst/>
              <a:rect l="l" t="t" r="r" b="b"/>
              <a:pathLst>
                <a:path w="3086100" h="9525">
                  <a:moveTo>
                    <a:pt x="0" y="0"/>
                  </a:moveTo>
                  <a:lnTo>
                    <a:pt x="3086100" y="0"/>
                  </a:lnTo>
                </a:path>
              </a:pathLst>
            </a:custGeom>
            <a:noFill/>
            <a:ln w="9525">
              <a:solidFill>
                <a:srgbClr val="E8F5EE"/>
              </a:solidFill>
            </a:ln>
          </p:spPr>
        </p:sp>
        <p:sp>
          <p:nvSpPr>
            <p:cNvPr id="82" name="TextBox 82"/>
            <p:cNvSpPr txBox="1"/>
            <p:nvPr/>
          </p:nvSpPr>
          <p:spPr>
            <a:xfrm>
              <a:off x="8215312" y="3612356"/>
              <a:ext cx="128551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推到 Vercel 上线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8215312" y="3821906"/>
              <a:ext cx="154840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把 URL 分享到微信群</a:t>
              </a:r>
            </a:p>
          </p:txBody>
        </p:sp>
        <p:sp>
          <p:nvSpPr>
            <p:cNvPr id="84" name="Rectangle 84"/>
            <p:cNvSpPr/>
            <p:nvPr/>
          </p:nvSpPr>
          <p:spPr>
            <a:xfrm>
              <a:off x="8229600" y="4191000"/>
              <a:ext cx="3048000" cy="266700"/>
            </a:xfrm>
            <a:prstGeom prst="roundRect">
              <a:avLst>
                <a:gd name="adj" fmla="val 21429"/>
              </a:avLst>
            </a:prstGeom>
            <a:solidFill>
              <a:srgbClr val="E8F5EE"/>
            </a:solidFill>
            <a:ln>
              <a:noFill/>
            </a:ln>
          </p:spPr>
        </p:sp>
        <p:sp>
          <p:nvSpPr>
            <p:cNvPr id="85" name="TextBox 85"/>
            <p:cNvSpPr txBox="1"/>
            <p:nvPr/>
          </p:nvSpPr>
          <p:spPr>
            <a:xfrm>
              <a:off x="8331518" y="4257199"/>
              <a:ext cx="2281785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3A9E6A"/>
                  </a:solidFill>
                  <a:latin typeface="Arial"/>
                  <a:ea typeface="Microsoft YaHei"/>
                  <a:cs typeface="Arial"/>
                </a:rPr>
                <a:t>🎄 这一步完成你就有自己的网站了！</a:t>
              </a:r>
            </a:p>
          </p:txBody>
        </p:sp>
      </p:grpSp>
      <p:sp>
        <p:nvSpPr>
          <p:cNvPr id="87" name="Rectangle 87"/>
          <p:cNvSpPr/>
          <p:nvPr/>
        </p:nvSpPr>
        <p:spPr>
          <a:xfrm>
            <a:off x="762000" y="4876800"/>
            <a:ext cx="10668000" cy="609600"/>
          </a:xfrm>
          <a:prstGeom prst="roundRect">
            <a:avLst>
              <a:gd name="adj" fmla="val 18750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88" name="Freeform 88"/>
          <p:cNvSpPr/>
          <p:nvPr/>
        </p:nvSpPr>
        <p:spPr>
          <a:xfrm>
            <a:off x="974725" y="5046447"/>
            <a:ext cx="233696" cy="234079"/>
          </a:xfrm>
          <a:custGeom>
            <a:avLst/>
            <a:gdLst/>
            <a:ahLst/>
            <a:cxnLst/>
            <a:rect l="l" t="t" r="r" b="b"/>
            <a:pathLst>
              <a:path w="233696" h="234079">
                <a:moveTo>
                  <a:pt x="166688" y="19868"/>
                </a:moveTo>
                <a:cubicBezTo>
                  <a:pt x="212998" y="46607"/>
                  <a:pt x="233696" y="102539"/>
                  <a:pt x="215949" y="152983"/>
                </a:cubicBezTo>
                <a:cubicBezTo>
                  <a:pt x="198202" y="203428"/>
                  <a:pt x="147043" y="234079"/>
                  <a:pt x="94192" y="225932"/>
                </a:cubicBezTo>
                <a:cubicBezTo>
                  <a:pt x="41341" y="217785"/>
                  <a:pt x="1788" y="173150"/>
                  <a:pt x="56" y="119703"/>
                </a:cubicBezTo>
                <a:lnTo>
                  <a:pt x="0" y="116103"/>
                </a:lnTo>
                <a:lnTo>
                  <a:pt x="56" y="112502"/>
                </a:lnTo>
                <a:cubicBezTo>
                  <a:pt x="1321" y="73464"/>
                  <a:pt x="22990" y="37956"/>
                  <a:pt x="57128" y="18978"/>
                </a:cubicBezTo>
                <a:cubicBezTo>
                  <a:pt x="91267" y="0"/>
                  <a:pt x="132862" y="338"/>
                  <a:pt x="166687" y="19868"/>
                </a:cubicBezTo>
                <a:close/>
                <a:moveTo>
                  <a:pt x="111125" y="49428"/>
                </a:moveTo>
                <a:cubicBezTo>
                  <a:pt x="105491" y="49428"/>
                  <a:pt x="100749" y="53645"/>
                  <a:pt x="100090" y="59240"/>
                </a:cubicBezTo>
                <a:lnTo>
                  <a:pt x="100012" y="60540"/>
                </a:lnTo>
                <a:lnTo>
                  <a:pt x="100012" y="116103"/>
                </a:lnTo>
                <a:lnTo>
                  <a:pt x="100113" y="117558"/>
                </a:lnTo>
                <a:cubicBezTo>
                  <a:pt x="100366" y="119486"/>
                  <a:pt x="101121" y="121314"/>
                  <a:pt x="102302" y="122859"/>
                </a:cubicBezTo>
                <a:lnTo>
                  <a:pt x="103268" y="123970"/>
                </a:lnTo>
                <a:lnTo>
                  <a:pt x="136606" y="157308"/>
                </a:lnTo>
                <a:lnTo>
                  <a:pt x="137651" y="158219"/>
                </a:lnTo>
                <a:cubicBezTo>
                  <a:pt x="141659" y="161329"/>
                  <a:pt x="147266" y="161329"/>
                  <a:pt x="151274" y="158219"/>
                </a:cubicBezTo>
                <a:lnTo>
                  <a:pt x="152319" y="157297"/>
                </a:lnTo>
                <a:lnTo>
                  <a:pt x="153241" y="156252"/>
                </a:lnTo>
                <a:cubicBezTo>
                  <a:pt x="156352" y="152243"/>
                  <a:pt x="156352" y="146637"/>
                  <a:pt x="153241" y="142628"/>
                </a:cubicBezTo>
                <a:lnTo>
                  <a:pt x="152319" y="141584"/>
                </a:lnTo>
                <a:lnTo>
                  <a:pt x="122238" y="111491"/>
                </a:lnTo>
                <a:lnTo>
                  <a:pt x="122238" y="60540"/>
                </a:lnTo>
                <a:lnTo>
                  <a:pt x="122160" y="59240"/>
                </a:lnTo>
                <a:cubicBezTo>
                  <a:pt x="121501" y="53645"/>
                  <a:pt x="116759" y="49428"/>
                  <a:pt x="111125" y="49428"/>
                </a:cubicBezTo>
                <a:close/>
              </a:path>
            </a:pathLst>
          </a:custGeom>
          <a:solidFill>
            <a:srgbClr val="C96133"/>
          </a:solidFill>
          <a:ln>
            <a:noFill/>
          </a:ln>
        </p:spPr>
      </p:sp>
      <p:sp>
        <p:nvSpPr>
          <p:cNvPr id="89" name="TextBox 89"/>
          <p:cNvSpPr txBox="1"/>
          <p:nvPr/>
        </p:nvSpPr>
        <p:spPr>
          <a:xfrm>
            <a:off x="1336358" y="5005864"/>
            <a:ext cx="1958301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建议完成时间：7 天内</a:t>
            </a:r>
          </a:p>
        </p:txBody>
      </p:sp>
      <p:sp>
        <p:nvSpPr>
          <p:cNvPr id="90" name="TextBox 90"/>
          <p:cNvSpPr txBox="1"/>
          <p:nvPr/>
        </p:nvSpPr>
        <p:spPr>
          <a:xfrm>
            <a:off x="1338262" y="5231606"/>
            <a:ext cx="296144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趁记忆还新鲜，今晚就开始步骤 01 和 02</a:t>
            </a:r>
          </a:p>
        </p:txBody>
      </p:sp>
      <p:sp>
        <p:nvSpPr>
          <p:cNvPr id="91" name="Line 91"/>
          <p:cNvSpPr/>
          <p:nvPr/>
        </p:nvSpPr>
        <p:spPr>
          <a:xfrm>
            <a:off x="7048500" y="4972050"/>
            <a:ext cx="9525" cy="419100"/>
          </a:xfrm>
          <a:custGeom>
            <a:avLst/>
            <a:gdLst/>
            <a:ahLst/>
            <a:cxnLst/>
            <a:rect l="l" t="t" r="r" b="b"/>
            <a:pathLst>
              <a:path w="9525" h="419100">
                <a:moveTo>
                  <a:pt x="0" y="0"/>
                </a:moveTo>
                <a:lnTo>
                  <a:pt x="0" y="419100"/>
                </a:lnTo>
              </a:path>
            </a:pathLst>
          </a:custGeom>
          <a:noFill/>
          <a:ln w="14288">
            <a:solidFill>
              <a:srgbClr val="E0D8D0"/>
            </a:solidFill>
          </a:ln>
        </p:spPr>
      </p:sp>
      <p:sp>
        <p:nvSpPr>
          <p:cNvPr id="92" name="Freeform 92"/>
          <p:cNvSpPr/>
          <p:nvPr/>
        </p:nvSpPr>
        <p:spPr>
          <a:xfrm>
            <a:off x="7356475" y="5062538"/>
            <a:ext cx="222250" cy="211657"/>
          </a:xfrm>
          <a:custGeom>
            <a:avLst/>
            <a:gdLst/>
            <a:ahLst/>
            <a:cxnLst/>
            <a:rect l="l" t="t" r="r" b="b"/>
            <a:pathLst>
              <a:path w="222250" h="211657">
                <a:moveTo>
                  <a:pt x="177800" y="0"/>
                </a:moveTo>
                <a:cubicBezTo>
                  <a:pt x="202349" y="0"/>
                  <a:pt x="222250" y="19901"/>
                  <a:pt x="222250" y="44450"/>
                </a:cubicBezTo>
                <a:lnTo>
                  <a:pt x="222250" y="133350"/>
                </a:lnTo>
                <a:cubicBezTo>
                  <a:pt x="222250" y="157899"/>
                  <a:pt x="202349" y="177800"/>
                  <a:pt x="177800" y="177800"/>
                </a:cubicBezTo>
                <a:lnTo>
                  <a:pt x="125305" y="177800"/>
                </a:lnTo>
                <a:lnTo>
                  <a:pt x="72387" y="209548"/>
                </a:lnTo>
                <a:cubicBezTo>
                  <a:pt x="69149" y="211492"/>
                  <a:pt x="65145" y="211657"/>
                  <a:pt x="61757" y="209988"/>
                </a:cubicBezTo>
                <a:cubicBezTo>
                  <a:pt x="58370" y="208319"/>
                  <a:pt x="56061" y="205044"/>
                  <a:pt x="55629" y="201292"/>
                </a:cubicBezTo>
                <a:lnTo>
                  <a:pt x="55562" y="200025"/>
                </a:lnTo>
                <a:lnTo>
                  <a:pt x="55562" y="177800"/>
                </a:lnTo>
                <a:lnTo>
                  <a:pt x="44450" y="177800"/>
                </a:lnTo>
                <a:cubicBezTo>
                  <a:pt x="20765" y="177800"/>
                  <a:pt x="1240" y="159228"/>
                  <a:pt x="56" y="135573"/>
                </a:cubicBezTo>
                <a:lnTo>
                  <a:pt x="0" y="133350"/>
                </a:lnTo>
                <a:lnTo>
                  <a:pt x="0" y="44450"/>
                </a:lnTo>
                <a:cubicBezTo>
                  <a:pt x="0" y="19901"/>
                  <a:pt x="19901" y="0"/>
                  <a:pt x="44450" y="0"/>
                </a:cubicBezTo>
                <a:close/>
                <a:moveTo>
                  <a:pt x="146685" y="103191"/>
                </a:moveTo>
                <a:cubicBezTo>
                  <a:pt x="142303" y="98895"/>
                  <a:pt x="135268" y="98965"/>
                  <a:pt x="130972" y="103346"/>
                </a:cubicBezTo>
                <a:cubicBezTo>
                  <a:pt x="125746" y="108681"/>
                  <a:pt x="118593" y="111688"/>
                  <a:pt x="111125" y="111688"/>
                </a:cubicBezTo>
                <a:cubicBezTo>
                  <a:pt x="103657" y="111688"/>
                  <a:pt x="96504" y="108681"/>
                  <a:pt x="91278" y="103346"/>
                </a:cubicBezTo>
                <a:cubicBezTo>
                  <a:pt x="86963" y="99069"/>
                  <a:pt x="80014" y="99050"/>
                  <a:pt x="75675" y="103303"/>
                </a:cubicBezTo>
                <a:cubicBezTo>
                  <a:pt x="71337" y="107556"/>
                  <a:pt x="71219" y="114505"/>
                  <a:pt x="75409" y="118904"/>
                </a:cubicBezTo>
                <a:cubicBezTo>
                  <a:pt x="84815" y="128501"/>
                  <a:pt x="97687" y="133910"/>
                  <a:pt x="111125" y="133910"/>
                </a:cubicBezTo>
                <a:cubicBezTo>
                  <a:pt x="124563" y="133910"/>
                  <a:pt x="137435" y="128501"/>
                  <a:pt x="146841" y="118904"/>
                </a:cubicBezTo>
                <a:cubicBezTo>
                  <a:pt x="151136" y="114521"/>
                  <a:pt x="151066" y="107487"/>
                  <a:pt x="146685" y="103191"/>
                </a:cubicBezTo>
                <a:moveTo>
                  <a:pt x="83455" y="55563"/>
                </a:moveTo>
                <a:lnTo>
                  <a:pt x="83344" y="55563"/>
                </a:lnTo>
                <a:cubicBezTo>
                  <a:pt x="77206" y="55563"/>
                  <a:pt x="72231" y="60538"/>
                  <a:pt x="72231" y="66675"/>
                </a:cubicBezTo>
                <a:cubicBezTo>
                  <a:pt x="72231" y="72812"/>
                  <a:pt x="77206" y="77787"/>
                  <a:pt x="83344" y="77787"/>
                </a:cubicBezTo>
                <a:lnTo>
                  <a:pt x="83455" y="77787"/>
                </a:lnTo>
                <a:cubicBezTo>
                  <a:pt x="89592" y="77787"/>
                  <a:pt x="94567" y="72812"/>
                  <a:pt x="94567" y="66675"/>
                </a:cubicBezTo>
                <a:cubicBezTo>
                  <a:pt x="94567" y="60538"/>
                  <a:pt x="89592" y="55563"/>
                  <a:pt x="83455" y="55563"/>
                </a:cubicBezTo>
                <a:moveTo>
                  <a:pt x="139017" y="55563"/>
                </a:moveTo>
                <a:lnTo>
                  <a:pt x="138906" y="55563"/>
                </a:lnTo>
                <a:cubicBezTo>
                  <a:pt x="132769" y="55563"/>
                  <a:pt x="127794" y="60538"/>
                  <a:pt x="127794" y="66675"/>
                </a:cubicBezTo>
                <a:cubicBezTo>
                  <a:pt x="127794" y="72812"/>
                  <a:pt x="132769" y="77787"/>
                  <a:pt x="138906" y="77787"/>
                </a:cubicBezTo>
                <a:lnTo>
                  <a:pt x="139017" y="77787"/>
                </a:lnTo>
                <a:cubicBezTo>
                  <a:pt x="145155" y="77787"/>
                  <a:pt x="150130" y="72812"/>
                  <a:pt x="150130" y="66675"/>
                </a:cubicBezTo>
                <a:cubicBezTo>
                  <a:pt x="150130" y="60538"/>
                  <a:pt x="145155" y="55563"/>
                  <a:pt x="139017" y="55563"/>
                </a:cubicBezTo>
              </a:path>
            </a:pathLst>
          </a:custGeom>
          <a:solidFill>
            <a:srgbClr val="C96133"/>
          </a:solidFill>
          <a:ln>
            <a:noFill/>
          </a:ln>
        </p:spPr>
      </p:sp>
      <p:sp>
        <p:nvSpPr>
          <p:cNvPr id="93" name="TextBox 93"/>
          <p:cNvSpPr txBox="1"/>
          <p:nvPr/>
        </p:nvSpPr>
        <p:spPr>
          <a:xfrm>
            <a:off x="7718108" y="5005864"/>
            <a:ext cx="1010007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遇到问题？</a:t>
            </a:r>
          </a:p>
        </p:txBody>
      </p:sp>
      <p:sp>
        <p:nvSpPr>
          <p:cNvPr id="94" name="TextBox 94"/>
          <p:cNvSpPr txBox="1"/>
          <p:nvPr/>
        </p:nvSpPr>
        <p:spPr>
          <a:xfrm>
            <a:off x="7720012" y="5231606"/>
            <a:ext cx="150733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发到群里，我帮你看</a:t>
            </a:r>
          </a:p>
        </p:txBody>
      </p:sp>
      <p:sp>
        <p:nvSpPr>
          <p:cNvPr id="95" name="TextBox 95"/>
          <p:cNvSpPr txBox="1"/>
          <p:nvPr/>
        </p:nvSpPr>
        <p:spPr>
          <a:xfrm>
            <a:off x="3950694" y="5775960"/>
            <a:ext cx="429061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📎 提交要求：设计方案 · 实际的网站截图 · 心得体会</a:t>
            </a:r>
          </a:p>
        </p:txBody>
      </p:sp>
      <p:sp>
        <p:nvSpPr>
          <p:cNvPr id="96" name="TextBox 96"/>
          <p:cNvSpPr txBox="1"/>
          <p:nvPr/>
        </p:nvSpPr>
        <p:spPr>
          <a:xfrm>
            <a:off x="11131772" y="6554152"/>
            <a:ext cx="50206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18 / 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1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4)">
                                      <p:cBhvr>
                                        <p:cTn id="15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5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etch(across)">
                                      <p:cBhvr>
                                        <p:cTn id="23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31" grpId="0"/>
      <p:bldP spid="43" grpId="0"/>
      <p:bldP spid="55" grpId="0"/>
      <p:bldP spid="70" grpId="0"/>
      <p:bldP spid="86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727710" y="299085"/>
            <a:ext cx="10702290" cy="777240"/>
            <a:chOff x="727710" y="299085"/>
            <a:chExt cx="10702290" cy="777240"/>
          </a:xfrm>
        </p:grpSpPr>
        <p:sp>
          <p:nvSpPr>
            <p:cNvPr id="4" name="TextBox 4"/>
            <p:cNvSpPr txBox="1"/>
            <p:nvPr/>
          </p:nvSpPr>
          <p:spPr>
            <a:xfrm>
              <a:off x="727710" y="299085"/>
              <a:ext cx="2780619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做完作业之后…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743902" y="741521"/>
              <a:ext cx="2533650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你有四条进阶路线可以选择</a:t>
              </a:r>
            </a:p>
          </p:txBody>
        </p:sp>
        <p:sp>
          <p:nvSpPr>
            <p:cNvPr id="6" name="Line 6"/>
            <p:cNvSpPr/>
            <p:nvPr/>
          </p:nvSpPr>
          <p:spPr>
            <a:xfrm>
              <a:off x="762000" y="10668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4288">
              <a:solidFill>
                <a:srgbClr val="E0D8D0"/>
              </a:solidFill>
            </a:ln>
          </p:spPr>
        </p:sp>
      </p:grpSp>
      <p:grpSp>
        <p:nvGrpSpPr>
          <p:cNvPr id="27" name="Group 27"/>
          <p:cNvGrpSpPr/>
          <p:nvPr/>
        </p:nvGrpSpPr>
        <p:grpSpPr>
          <a:xfrm>
            <a:off x="762000" y="1238250"/>
            <a:ext cx="5143500" cy="2324100"/>
            <a:chOff x="762000" y="1238250"/>
            <a:chExt cx="5143500" cy="2324100"/>
          </a:xfrm>
        </p:grpSpPr>
        <p:sp>
          <p:nvSpPr>
            <p:cNvPr id="8" name="Rectangle 8"/>
            <p:cNvSpPr/>
            <p:nvPr/>
          </p:nvSpPr>
          <p:spPr>
            <a:xfrm>
              <a:off x="762000" y="1238250"/>
              <a:ext cx="5143500" cy="2324100"/>
            </a:xfrm>
            <a:prstGeom prst="roundRect">
              <a:avLst>
                <a:gd name="adj" fmla="val 5738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1238250"/>
              <a:ext cx="5143500" cy="47625"/>
            </a:xfrm>
            <a:prstGeom prst="roundRect">
              <a:avLst>
                <a:gd name="adj" fmla="val 40000"/>
              </a:avLst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1066800" y="1543050"/>
              <a:ext cx="609600" cy="609600"/>
            </a:xfrm>
            <a:prstGeom prst="roundRect">
              <a:avLst>
                <a:gd name="adj" fmla="val 21875"/>
              </a:avLst>
            </a:prstGeom>
            <a:solidFill>
              <a:srgbClr val="C96133">
                <a:alpha val="10000"/>
              </a:srgbClr>
            </a:solidFill>
            <a:ln>
              <a:noFill/>
            </a:ln>
          </p:spPr>
        </p:sp>
        <p:grpSp>
          <p:nvGrpSpPr>
            <p:cNvPr id="13" name="Group 13"/>
            <p:cNvGrpSpPr/>
            <p:nvPr/>
          </p:nvGrpSpPr>
          <p:grpSpPr>
            <a:xfrm>
              <a:off x="1228725" y="1704975"/>
              <a:ext cx="285750" cy="285750"/>
              <a:chOff x="1228725" y="1704975"/>
              <a:chExt cx="285750" cy="28575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1228725" y="1704975"/>
                <a:ext cx="127000" cy="285750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285750">
                    <a:moveTo>
                      <a:pt x="79375" y="0"/>
                    </a:moveTo>
                    <a:cubicBezTo>
                      <a:pt x="105678" y="0"/>
                      <a:pt x="127000" y="21322"/>
                      <a:pt x="127000" y="47625"/>
                    </a:cubicBezTo>
                    <a:lnTo>
                      <a:pt x="127000" y="238125"/>
                    </a:lnTo>
                    <a:cubicBezTo>
                      <a:pt x="127000" y="264428"/>
                      <a:pt x="105678" y="285750"/>
                      <a:pt x="79375" y="285750"/>
                    </a:cubicBezTo>
                    <a:lnTo>
                      <a:pt x="47625" y="285750"/>
                    </a:lnTo>
                    <a:cubicBezTo>
                      <a:pt x="21322" y="285750"/>
                      <a:pt x="0" y="264428"/>
                      <a:pt x="0" y="238125"/>
                    </a:cubicBezTo>
                    <a:lnTo>
                      <a:pt x="0" y="47625"/>
                    </a:lnTo>
                    <a:cubicBezTo>
                      <a:pt x="0" y="21322"/>
                      <a:pt x="21322" y="0"/>
                      <a:pt x="47625" y="0"/>
                    </a:cubicBez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1387475" y="1704975"/>
                <a:ext cx="127000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190500">
                    <a:moveTo>
                      <a:pt x="79375" y="0"/>
                    </a:moveTo>
                    <a:cubicBezTo>
                      <a:pt x="105678" y="0"/>
                      <a:pt x="127000" y="21322"/>
                      <a:pt x="127000" y="47625"/>
                    </a:cubicBezTo>
                    <a:lnTo>
                      <a:pt x="127000" y="142875"/>
                    </a:lnTo>
                    <a:cubicBezTo>
                      <a:pt x="127000" y="169178"/>
                      <a:pt x="105678" y="190500"/>
                      <a:pt x="79375" y="190500"/>
                    </a:cubicBezTo>
                    <a:lnTo>
                      <a:pt x="47625" y="190500"/>
                    </a:lnTo>
                    <a:cubicBezTo>
                      <a:pt x="21322" y="190500"/>
                      <a:pt x="0" y="169178"/>
                      <a:pt x="0" y="142875"/>
                    </a:cubicBezTo>
                    <a:lnTo>
                      <a:pt x="0" y="47625"/>
                    </a:lnTo>
                    <a:cubicBezTo>
                      <a:pt x="0" y="21322"/>
                      <a:pt x="21322" y="0"/>
                      <a:pt x="47625" y="0"/>
                    </a:cubicBez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</p:grpSp>
        <p:sp>
          <p:nvSpPr>
            <p:cNvPr id="14" name="Rectangle 14"/>
            <p:cNvSpPr/>
            <p:nvPr/>
          </p:nvSpPr>
          <p:spPr>
            <a:xfrm>
              <a:off x="5067300" y="1409700"/>
              <a:ext cx="685800" cy="228600"/>
            </a:xfrm>
            <a:prstGeom prst="roundRect">
              <a:avLst>
                <a:gd name="adj" fmla="val 50000"/>
              </a:avLst>
            </a:prstGeom>
            <a:solidFill>
              <a:srgbClr val="F0EDE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122735" y="1464945"/>
              <a:ext cx="57492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设计进阶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826895" y="1593532"/>
              <a:ext cx="156010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深化设计系统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834515" y="1886902"/>
              <a:ext cx="156019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在现有网站上继续迭代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952500" y="2171700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F0EDE8"/>
              </a:solidFill>
            </a:ln>
          </p:spPr>
        </p:sp>
        <p:sp>
          <p:nvSpPr>
            <p:cNvPr id="19" name="Ellipse 19"/>
            <p:cNvSpPr/>
            <p:nvPr/>
          </p:nvSpPr>
          <p:spPr>
            <a:xfrm>
              <a:off x="1028700" y="2381250"/>
              <a:ext cx="76200" cy="76200"/>
            </a:xfrm>
            <a:prstGeom prst="ellipse">
              <a:avLst/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185862" y="2336006"/>
              <a:ext cx="281356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给每个页面做不同风格变体，A/B 对比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1028700" y="2667000"/>
              <a:ext cx="76200" cy="76200"/>
            </a:xfrm>
            <a:prstGeom prst="ellipse">
              <a:avLst/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185862" y="2621756"/>
              <a:ext cx="187702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建立可复用的 CSS 组件库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28700" y="2952750"/>
              <a:ext cx="76200" cy="76200"/>
            </a:xfrm>
            <a:prstGeom prst="ellipse">
              <a:avLst/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1185862" y="2907506"/>
              <a:ext cx="278070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多品牌网站：用同一 CLAUDE.md 框架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952500" y="3238500"/>
              <a:ext cx="1238250" cy="209550"/>
            </a:xfrm>
            <a:prstGeom prst="roundRect">
              <a:avLst>
                <a:gd name="adj" fmla="val 50000"/>
              </a:avLst>
            </a:prstGeom>
            <a:solidFill>
              <a:srgbClr val="F0EDE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1270359" y="3284220"/>
              <a:ext cx="60253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难度★★☆☆</a:t>
              </a: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6286500" y="1238250"/>
            <a:ext cx="5143500" cy="2324100"/>
            <a:chOff x="6286500" y="1238250"/>
            <a:chExt cx="5143500" cy="2324100"/>
          </a:xfrm>
        </p:grpSpPr>
        <p:sp>
          <p:nvSpPr>
            <p:cNvPr id="28" name="Rectangle 28"/>
            <p:cNvSpPr/>
            <p:nvPr/>
          </p:nvSpPr>
          <p:spPr>
            <a:xfrm>
              <a:off x="6286500" y="1238250"/>
              <a:ext cx="5143500" cy="2324100"/>
            </a:xfrm>
            <a:prstGeom prst="roundRect">
              <a:avLst>
                <a:gd name="adj" fmla="val 5738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6286500" y="1238250"/>
              <a:ext cx="5143500" cy="47625"/>
            </a:xfrm>
            <a:prstGeom prst="roundRect">
              <a:avLst>
                <a:gd name="adj" fmla="val 40000"/>
              </a:avLst>
            </a:prstGeom>
            <a:solidFill>
              <a:srgbClr val="3D7DE4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6591300" y="1543050"/>
              <a:ext cx="609600" cy="609600"/>
            </a:xfrm>
            <a:prstGeom prst="roundRect">
              <a:avLst>
                <a:gd name="adj" fmla="val 21875"/>
              </a:avLst>
            </a:prstGeom>
            <a:solidFill>
              <a:srgbClr val="3D7DE4">
                <a:alpha val="10000"/>
              </a:srgbClr>
            </a:solidFill>
            <a:ln>
              <a:noFill/>
            </a:ln>
          </p:spPr>
        </p:sp>
        <p:grpSp>
          <p:nvGrpSpPr>
            <p:cNvPr id="34" name="Group 34"/>
            <p:cNvGrpSpPr/>
            <p:nvPr/>
          </p:nvGrpSpPr>
          <p:grpSpPr>
            <a:xfrm>
              <a:off x="6753224" y="1689100"/>
              <a:ext cx="285751" cy="317500"/>
              <a:chOff x="6753224" y="1689100"/>
              <a:chExt cx="285751" cy="317500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6753225" y="1907080"/>
                <a:ext cx="285750" cy="99520"/>
              </a:xfrm>
              <a:custGeom>
                <a:avLst/>
                <a:gdLst/>
                <a:ahLst/>
                <a:cxnLst/>
                <a:rect l="l" t="t" r="r" b="b"/>
                <a:pathLst>
                  <a:path w="285750" h="99520">
                    <a:moveTo>
                      <a:pt x="0" y="0"/>
                    </a:moveTo>
                    <a:cubicBezTo>
                      <a:pt x="31242" y="23924"/>
                      <a:pt x="83090" y="36020"/>
                      <a:pt x="142875" y="36020"/>
                    </a:cubicBezTo>
                    <a:cubicBezTo>
                      <a:pt x="202565" y="36020"/>
                      <a:pt x="254397" y="23955"/>
                      <a:pt x="285750" y="270"/>
                    </a:cubicBezTo>
                    <a:lnTo>
                      <a:pt x="285750" y="36020"/>
                    </a:lnTo>
                    <a:cubicBezTo>
                      <a:pt x="285750" y="74517"/>
                      <a:pt x="223917" y="98504"/>
                      <a:pt x="147749" y="99489"/>
                    </a:cubicBezTo>
                    <a:lnTo>
                      <a:pt x="142875" y="99520"/>
                    </a:lnTo>
                    <a:cubicBezTo>
                      <a:pt x="64484" y="99520"/>
                      <a:pt x="0" y="75343"/>
                      <a:pt x="0" y="36020"/>
                    </a:cubicBezTo>
                    <a:close/>
                  </a:path>
                </a:pathLst>
              </a:custGeom>
              <a:solidFill>
                <a:srgbClr val="3D7DE4"/>
              </a:solidFill>
              <a:ln>
                <a:noFill/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6753225" y="1811830"/>
                <a:ext cx="285750" cy="99520"/>
              </a:xfrm>
              <a:custGeom>
                <a:avLst/>
                <a:gdLst/>
                <a:ahLst/>
                <a:cxnLst/>
                <a:rect l="l" t="t" r="r" b="b"/>
                <a:pathLst>
                  <a:path w="285750" h="99520">
                    <a:moveTo>
                      <a:pt x="0" y="0"/>
                    </a:moveTo>
                    <a:cubicBezTo>
                      <a:pt x="31242" y="23924"/>
                      <a:pt x="83090" y="36020"/>
                      <a:pt x="142875" y="36020"/>
                    </a:cubicBezTo>
                    <a:cubicBezTo>
                      <a:pt x="202565" y="36020"/>
                      <a:pt x="254397" y="23955"/>
                      <a:pt x="285750" y="270"/>
                    </a:cubicBezTo>
                    <a:lnTo>
                      <a:pt x="285750" y="36020"/>
                    </a:lnTo>
                    <a:cubicBezTo>
                      <a:pt x="285750" y="75343"/>
                      <a:pt x="221266" y="99520"/>
                      <a:pt x="142875" y="99520"/>
                    </a:cubicBezTo>
                    <a:cubicBezTo>
                      <a:pt x="66707" y="99520"/>
                      <a:pt x="3651" y="76692"/>
                      <a:pt x="333" y="39275"/>
                    </a:cubicBezTo>
                    <a:lnTo>
                      <a:pt x="79" y="37671"/>
                    </a:lnTo>
                    <a:lnTo>
                      <a:pt x="0" y="36020"/>
                    </a:lnTo>
                    <a:close/>
                  </a:path>
                </a:pathLst>
              </a:custGeom>
              <a:solidFill>
                <a:srgbClr val="3D7DE4"/>
              </a:solidFill>
              <a:ln>
                <a:noFill/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6753224" y="1689100"/>
                <a:ext cx="285751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127000">
                    <a:moveTo>
                      <a:pt x="142876" y="0"/>
                    </a:moveTo>
                    <a:cubicBezTo>
                      <a:pt x="159402" y="0"/>
                      <a:pt x="175325" y="1079"/>
                      <a:pt x="190136" y="3143"/>
                    </a:cubicBezTo>
                    <a:lnTo>
                      <a:pt x="197581" y="4270"/>
                    </a:lnTo>
                    <a:cubicBezTo>
                      <a:pt x="206471" y="5752"/>
                      <a:pt x="214864" y="7594"/>
                      <a:pt x="222759" y="9795"/>
                    </a:cubicBezTo>
                    <a:lnTo>
                      <a:pt x="229744" y="11875"/>
                    </a:lnTo>
                    <a:lnTo>
                      <a:pt x="230935" y="12255"/>
                    </a:lnTo>
                    <a:cubicBezTo>
                      <a:pt x="235255" y="13676"/>
                      <a:pt x="239518" y="15265"/>
                      <a:pt x="243714" y="17018"/>
                    </a:cubicBezTo>
                    <a:lnTo>
                      <a:pt x="246873" y="18383"/>
                    </a:lnTo>
                    <a:cubicBezTo>
                      <a:pt x="252535" y="20944"/>
                      <a:pt x="257652" y="23749"/>
                      <a:pt x="262224" y="26797"/>
                    </a:cubicBezTo>
                    <a:cubicBezTo>
                      <a:pt x="263971" y="27961"/>
                      <a:pt x="265627" y="29152"/>
                      <a:pt x="267193" y="30369"/>
                    </a:cubicBezTo>
                    <a:cubicBezTo>
                      <a:pt x="271161" y="33448"/>
                      <a:pt x="274729" y="37010"/>
                      <a:pt x="277814" y="40973"/>
                    </a:cubicBezTo>
                    <a:lnTo>
                      <a:pt x="279258" y="43005"/>
                    </a:lnTo>
                    <a:cubicBezTo>
                      <a:pt x="279999" y="44117"/>
                      <a:pt x="280682" y="45233"/>
                      <a:pt x="281306" y="46355"/>
                    </a:cubicBezTo>
                    <a:lnTo>
                      <a:pt x="282417" y="48562"/>
                    </a:lnTo>
                    <a:cubicBezTo>
                      <a:pt x="284143" y="52266"/>
                      <a:pt x="285201" y="56129"/>
                      <a:pt x="285592" y="60150"/>
                    </a:cubicBezTo>
                    <a:lnTo>
                      <a:pt x="285751" y="63500"/>
                    </a:lnTo>
                    <a:cubicBezTo>
                      <a:pt x="285751" y="102822"/>
                      <a:pt x="221267" y="127000"/>
                      <a:pt x="142876" y="127000"/>
                    </a:cubicBezTo>
                    <a:cubicBezTo>
                      <a:pt x="66708" y="127000"/>
                      <a:pt x="3652" y="104172"/>
                      <a:pt x="335" y="66754"/>
                    </a:cubicBezTo>
                    <a:cubicBezTo>
                      <a:pt x="112" y="65684"/>
                      <a:pt x="0" y="64593"/>
                      <a:pt x="1" y="63500"/>
                    </a:cubicBezTo>
                    <a:lnTo>
                      <a:pt x="81" y="61849"/>
                    </a:lnTo>
                    <a:lnTo>
                      <a:pt x="335" y="60261"/>
                    </a:lnTo>
                    <a:cubicBezTo>
                      <a:pt x="3589" y="23654"/>
                      <a:pt x="63993" y="1000"/>
                      <a:pt x="137923" y="32"/>
                    </a:cubicBezTo>
                    <a:close/>
                  </a:path>
                </a:pathLst>
              </a:custGeom>
              <a:solidFill>
                <a:srgbClr val="3D7DE4"/>
              </a:solidFill>
              <a:ln>
                <a:noFill/>
              </a:ln>
            </p:spPr>
          </p:sp>
        </p:grpSp>
        <p:sp>
          <p:nvSpPr>
            <p:cNvPr id="35" name="Rectangle 35"/>
            <p:cNvSpPr/>
            <p:nvPr/>
          </p:nvSpPr>
          <p:spPr>
            <a:xfrm>
              <a:off x="10591800" y="1409700"/>
              <a:ext cx="685800" cy="228600"/>
            </a:xfrm>
            <a:prstGeom prst="roundRect">
              <a:avLst>
                <a:gd name="adj" fmla="val 50000"/>
              </a:avLst>
            </a:prstGeom>
            <a:solidFill>
              <a:srgbClr val="EBF0F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10688641" y="1464945"/>
              <a:ext cx="49211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3D7DE4"/>
                  </a:solidFill>
                  <a:latin typeface="Arial"/>
                  <a:ea typeface="Microsoft YaHei"/>
                  <a:cs typeface="Arial"/>
                </a:rPr>
                <a:t>S2 衔接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351395" y="1593532"/>
              <a:ext cx="1813131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加入知识库能力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359015" y="1886902"/>
              <a:ext cx="185923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S2 技能 + S4 技能的组合拳</a:t>
              </a:r>
            </a:p>
          </p:txBody>
        </p:sp>
        <p:sp>
          <p:nvSpPr>
            <p:cNvPr id="39" name="Line 39"/>
            <p:cNvSpPr/>
            <p:nvPr/>
          </p:nvSpPr>
          <p:spPr>
            <a:xfrm>
              <a:off x="6477000" y="2171700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EBF0FA"/>
              </a:solidFill>
            </a:ln>
          </p:spPr>
        </p:sp>
        <p:sp>
          <p:nvSpPr>
            <p:cNvPr id="40" name="Ellipse 40"/>
            <p:cNvSpPr/>
            <p:nvPr/>
          </p:nvSpPr>
          <p:spPr>
            <a:xfrm>
              <a:off x="6553200" y="2381250"/>
              <a:ext cx="76200" cy="76200"/>
            </a:xfrm>
            <a:prstGeom prst="ellipse">
              <a:avLst/>
            </a:prstGeom>
            <a:solidFill>
              <a:srgbClr val="3D7DE4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710362" y="2336006"/>
              <a:ext cx="294501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网站 + 知识库 = 真正的 AI 知识服务平台</a:t>
              </a:r>
            </a:p>
          </p:txBody>
        </p:sp>
        <p:sp>
          <p:nvSpPr>
            <p:cNvPr id="42" name="Ellipse 42"/>
            <p:cNvSpPr/>
            <p:nvPr/>
          </p:nvSpPr>
          <p:spPr>
            <a:xfrm>
              <a:off x="6553200" y="2667000"/>
              <a:ext cx="76200" cy="76200"/>
            </a:xfrm>
            <a:prstGeom prst="ellipse">
              <a:avLst/>
            </a:prstGeom>
            <a:solidFill>
              <a:srgbClr val="3D7DE4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710362" y="2621756"/>
              <a:ext cx="235350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Chatbot 接入你自己的笔记内容</a:t>
              </a:r>
            </a:p>
          </p:txBody>
        </p:sp>
        <p:sp>
          <p:nvSpPr>
            <p:cNvPr id="44" name="Ellipse 44"/>
            <p:cNvSpPr/>
            <p:nvPr/>
          </p:nvSpPr>
          <p:spPr>
            <a:xfrm>
              <a:off x="6553200" y="2952750"/>
              <a:ext cx="76200" cy="76200"/>
            </a:xfrm>
            <a:prstGeom prst="ellipse">
              <a:avLst/>
            </a:prstGeom>
            <a:solidFill>
              <a:srgbClr val="3D7DE4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710362" y="2907506"/>
              <a:ext cx="150733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学员问答完全自动化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6477000" y="3238500"/>
              <a:ext cx="1238250" cy="209550"/>
            </a:xfrm>
            <a:prstGeom prst="roundRect">
              <a:avLst>
                <a:gd name="adj" fmla="val 50000"/>
              </a:avLst>
            </a:prstGeom>
            <a:solidFill>
              <a:srgbClr val="EBF0FA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794859" y="3284220"/>
              <a:ext cx="60253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3D7DE4"/>
                  </a:solidFill>
                  <a:latin typeface="Arial"/>
                  <a:ea typeface="Microsoft YaHei"/>
                  <a:cs typeface="Arial"/>
                </a:rPr>
                <a:t>难度★★★☆</a:t>
              </a: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762000" y="3771900"/>
            <a:ext cx="5143500" cy="2095500"/>
            <a:chOff x="762000" y="3771900"/>
            <a:chExt cx="5143500" cy="2095500"/>
          </a:xfrm>
        </p:grpSpPr>
        <p:sp>
          <p:nvSpPr>
            <p:cNvPr id="49" name="Rectangle 49"/>
            <p:cNvSpPr/>
            <p:nvPr/>
          </p:nvSpPr>
          <p:spPr>
            <a:xfrm>
              <a:off x="762000" y="3771900"/>
              <a:ext cx="5143500" cy="2095500"/>
            </a:xfrm>
            <a:prstGeom prst="roundRect">
              <a:avLst>
                <a:gd name="adj" fmla="val 6364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762000" y="3771900"/>
              <a:ext cx="5143500" cy="47625"/>
            </a:xfrm>
            <a:prstGeom prst="roundRect">
              <a:avLst>
                <a:gd name="adj" fmla="val 40000"/>
              </a:avLst>
            </a:prstGeom>
            <a:solidFill>
              <a:srgbClr val="3A9E6A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1066800" y="4076700"/>
              <a:ext cx="609600" cy="609600"/>
            </a:xfrm>
            <a:prstGeom prst="roundRect">
              <a:avLst>
                <a:gd name="adj" fmla="val 21875"/>
              </a:avLst>
            </a:prstGeom>
            <a:solidFill>
              <a:srgbClr val="3A9E6A">
                <a:alpha val="10000"/>
              </a:srgbClr>
            </a:solidFill>
            <a:ln>
              <a:noFill/>
            </a:ln>
          </p:spPr>
        </p:sp>
        <p:sp>
          <p:nvSpPr>
            <p:cNvPr id="52" name="Freeform 52"/>
            <p:cNvSpPr/>
            <p:nvPr/>
          </p:nvSpPr>
          <p:spPr>
            <a:xfrm>
              <a:off x="1212866" y="4238625"/>
              <a:ext cx="320545" cy="301625"/>
            </a:xfrm>
            <a:custGeom>
              <a:avLst/>
              <a:gdLst/>
              <a:ahLst/>
              <a:cxnLst/>
              <a:rect l="l" t="t" r="r" b="b"/>
              <a:pathLst>
                <a:path w="320545" h="301625">
                  <a:moveTo>
                    <a:pt x="238109" y="0"/>
                  </a:moveTo>
                  <a:cubicBezTo>
                    <a:pt x="246157" y="1"/>
                    <a:pt x="252931" y="6025"/>
                    <a:pt x="253873" y="14018"/>
                  </a:cubicBezTo>
                  <a:lnTo>
                    <a:pt x="253984" y="15875"/>
                  </a:lnTo>
                  <a:lnTo>
                    <a:pt x="253984" y="50324"/>
                  </a:lnTo>
                  <a:cubicBezTo>
                    <a:pt x="273716" y="43371"/>
                    <a:pt x="295674" y="50110"/>
                    <a:pt x="308109" y="66934"/>
                  </a:cubicBezTo>
                  <a:cubicBezTo>
                    <a:pt x="320545" y="83758"/>
                    <a:pt x="320545" y="106727"/>
                    <a:pt x="308109" y="123550"/>
                  </a:cubicBezTo>
                  <a:cubicBezTo>
                    <a:pt x="295674" y="140374"/>
                    <a:pt x="273716" y="147113"/>
                    <a:pt x="253984" y="140160"/>
                  </a:cubicBezTo>
                  <a:lnTo>
                    <a:pt x="253984" y="142875"/>
                  </a:lnTo>
                  <a:cubicBezTo>
                    <a:pt x="253978" y="189355"/>
                    <a:pt x="220437" y="229048"/>
                    <a:pt x="174609" y="236807"/>
                  </a:cubicBezTo>
                  <a:lnTo>
                    <a:pt x="174609" y="269875"/>
                  </a:lnTo>
                  <a:lnTo>
                    <a:pt x="222234" y="269875"/>
                  </a:lnTo>
                  <a:cubicBezTo>
                    <a:pt x="230633" y="269884"/>
                    <a:pt x="237572" y="276435"/>
                    <a:pt x="238064" y="284820"/>
                  </a:cubicBezTo>
                  <a:cubicBezTo>
                    <a:pt x="238556" y="293205"/>
                    <a:pt x="232432" y="300522"/>
                    <a:pt x="224092" y="301514"/>
                  </a:cubicBezTo>
                  <a:lnTo>
                    <a:pt x="222234" y="301625"/>
                  </a:lnTo>
                  <a:lnTo>
                    <a:pt x="95234" y="301625"/>
                  </a:lnTo>
                  <a:cubicBezTo>
                    <a:pt x="86835" y="301616"/>
                    <a:pt x="79896" y="295065"/>
                    <a:pt x="79404" y="286680"/>
                  </a:cubicBezTo>
                  <a:cubicBezTo>
                    <a:pt x="78912" y="278295"/>
                    <a:pt x="85036" y="270978"/>
                    <a:pt x="93377" y="269986"/>
                  </a:cubicBezTo>
                  <a:lnTo>
                    <a:pt x="95234" y="269875"/>
                  </a:lnTo>
                  <a:lnTo>
                    <a:pt x="142859" y="269875"/>
                  </a:lnTo>
                  <a:lnTo>
                    <a:pt x="142859" y="236807"/>
                  </a:lnTo>
                  <a:cubicBezTo>
                    <a:pt x="98357" y="229274"/>
                    <a:pt x="65246" y="191550"/>
                    <a:pt x="63548" y="146447"/>
                  </a:cubicBezTo>
                  <a:lnTo>
                    <a:pt x="63484" y="142875"/>
                  </a:lnTo>
                  <a:lnTo>
                    <a:pt x="63484" y="140160"/>
                  </a:lnTo>
                  <a:cubicBezTo>
                    <a:pt x="49368" y="145157"/>
                    <a:pt x="33725" y="143224"/>
                    <a:pt x="21250" y="134942"/>
                  </a:cubicBezTo>
                  <a:cubicBezTo>
                    <a:pt x="8775" y="126660"/>
                    <a:pt x="921" y="112993"/>
                    <a:pt x="48" y="98044"/>
                  </a:cubicBezTo>
                  <a:lnTo>
                    <a:pt x="0" y="95250"/>
                  </a:lnTo>
                  <a:lnTo>
                    <a:pt x="79" y="92456"/>
                  </a:lnTo>
                  <a:cubicBezTo>
                    <a:pt x="950" y="77509"/>
                    <a:pt x="8799" y="63841"/>
                    <a:pt x="21270" y="55556"/>
                  </a:cubicBezTo>
                  <a:cubicBezTo>
                    <a:pt x="33742" y="47270"/>
                    <a:pt x="49384" y="45332"/>
                    <a:pt x="63500" y="50324"/>
                  </a:cubicBezTo>
                  <a:lnTo>
                    <a:pt x="63484" y="15875"/>
                  </a:lnTo>
                  <a:cubicBezTo>
                    <a:pt x="63484" y="7107"/>
                    <a:pt x="70592" y="0"/>
                    <a:pt x="79359" y="0"/>
                  </a:cubicBezTo>
                  <a:lnTo>
                    <a:pt x="238109" y="0"/>
                  </a:lnTo>
                  <a:close/>
                  <a:moveTo>
                    <a:pt x="47609" y="79375"/>
                  </a:moveTo>
                  <a:cubicBezTo>
                    <a:pt x="38842" y="79375"/>
                    <a:pt x="31734" y="86482"/>
                    <a:pt x="31734" y="95250"/>
                  </a:cubicBezTo>
                  <a:cubicBezTo>
                    <a:pt x="31734" y="104018"/>
                    <a:pt x="38842" y="111125"/>
                    <a:pt x="47609" y="111125"/>
                  </a:cubicBezTo>
                  <a:cubicBezTo>
                    <a:pt x="56377" y="111125"/>
                    <a:pt x="63484" y="104018"/>
                    <a:pt x="63484" y="95250"/>
                  </a:cubicBezTo>
                  <a:cubicBezTo>
                    <a:pt x="63484" y="86482"/>
                    <a:pt x="56377" y="79375"/>
                    <a:pt x="47609" y="79375"/>
                  </a:cubicBezTo>
                  <a:moveTo>
                    <a:pt x="269859" y="79375"/>
                  </a:moveTo>
                  <a:cubicBezTo>
                    <a:pt x="261092" y="79375"/>
                    <a:pt x="253984" y="86482"/>
                    <a:pt x="253984" y="95250"/>
                  </a:cubicBezTo>
                  <a:cubicBezTo>
                    <a:pt x="253984" y="104018"/>
                    <a:pt x="261092" y="111125"/>
                    <a:pt x="269859" y="111125"/>
                  </a:cubicBezTo>
                  <a:cubicBezTo>
                    <a:pt x="278627" y="111125"/>
                    <a:pt x="285734" y="104018"/>
                    <a:pt x="285734" y="95250"/>
                  </a:cubicBezTo>
                  <a:cubicBezTo>
                    <a:pt x="285734" y="86482"/>
                    <a:pt x="278627" y="79375"/>
                    <a:pt x="269859" y="79375"/>
                  </a:cubicBezTo>
                </a:path>
              </a:pathLst>
            </a:custGeom>
            <a:solidFill>
              <a:srgbClr val="3A9E6A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5067300" y="3943350"/>
              <a:ext cx="685800" cy="228600"/>
            </a:xfrm>
            <a:prstGeom prst="roundRect">
              <a:avLst>
                <a:gd name="adj" fmla="val 50000"/>
              </a:avLst>
            </a:prstGeom>
            <a:solidFill>
              <a:srgbClr val="E8F5EE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5122735" y="3998595"/>
              <a:ext cx="57492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3A9E6A"/>
                  </a:solidFill>
                  <a:latin typeface="Arial"/>
                  <a:ea typeface="Microsoft YaHei"/>
                  <a:cs typeface="Arial"/>
                </a:rPr>
                <a:t>社群活动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826895" y="4127182"/>
              <a:ext cx="172457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Demo Day 展示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834515" y="4420552"/>
              <a:ext cx="156019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把作品展示给其他同学</a:t>
              </a:r>
            </a:p>
          </p:txBody>
        </p:sp>
        <p:sp>
          <p:nvSpPr>
            <p:cNvPr id="57" name="Line 57"/>
            <p:cNvSpPr/>
            <p:nvPr/>
          </p:nvSpPr>
          <p:spPr>
            <a:xfrm>
              <a:off x="952500" y="4705350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E8F5EE"/>
              </a:solidFill>
            </a:ln>
          </p:spPr>
        </p:sp>
        <p:sp>
          <p:nvSpPr>
            <p:cNvPr id="58" name="Ellipse 58"/>
            <p:cNvSpPr/>
            <p:nvPr/>
          </p:nvSpPr>
          <p:spPr>
            <a:xfrm>
              <a:off x="1028700" y="4914900"/>
              <a:ext cx="76200" cy="76200"/>
            </a:xfrm>
            <a:prstGeom prst="ellipse">
              <a:avLst/>
            </a:prstGeom>
            <a:solidFill>
              <a:srgbClr val="3A9E6A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1185862" y="4869656"/>
              <a:ext cx="316682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7月底或8月初某个时间（待定，群里通知）</a:t>
              </a:r>
            </a:p>
          </p:txBody>
        </p:sp>
        <p:sp>
          <p:nvSpPr>
            <p:cNvPr id="60" name="Ellipse 60"/>
            <p:cNvSpPr/>
            <p:nvPr/>
          </p:nvSpPr>
          <p:spPr>
            <a:xfrm>
              <a:off x="1028700" y="5200650"/>
              <a:ext cx="76200" cy="76200"/>
            </a:xfrm>
            <a:prstGeom prst="ellipse">
              <a:avLst/>
            </a:prstGeom>
            <a:solidFill>
              <a:srgbClr val="3A9E6A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1185862" y="5155406"/>
              <a:ext cx="232886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8 分钟展示作品 + 获得同行反馈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952500" y="5505450"/>
              <a:ext cx="1524000" cy="228600"/>
            </a:xfrm>
            <a:prstGeom prst="roundRect">
              <a:avLst>
                <a:gd name="adj" fmla="val 50000"/>
              </a:avLst>
            </a:prstGeom>
            <a:solidFill>
              <a:srgbClr val="E8F5EE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1190016" y="5552599"/>
              <a:ext cx="1048968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3A9E6A"/>
                  </a:solidFill>
                  <a:latin typeface="Arial"/>
                  <a:ea typeface="Microsoft YaHei"/>
                  <a:cs typeface="Arial"/>
                </a:rPr>
                <a:t>🌍 群里报名参加</a:t>
              </a:r>
            </a:p>
          </p:txBody>
        </p:sp>
      </p:grpSp>
      <p:grpSp>
        <p:nvGrpSpPr>
          <p:cNvPr id="80" name="Group 80"/>
          <p:cNvGrpSpPr/>
          <p:nvPr/>
        </p:nvGrpSpPr>
        <p:grpSpPr>
          <a:xfrm>
            <a:off x="6286500" y="3771900"/>
            <a:ext cx="5143500" cy="2095500"/>
            <a:chOff x="6286500" y="3771900"/>
            <a:chExt cx="5143500" cy="2095500"/>
          </a:xfrm>
        </p:grpSpPr>
        <p:sp>
          <p:nvSpPr>
            <p:cNvPr id="65" name="Rectangle 65"/>
            <p:cNvSpPr/>
            <p:nvPr/>
          </p:nvSpPr>
          <p:spPr>
            <a:xfrm>
              <a:off x="6286500" y="3771900"/>
              <a:ext cx="5143500" cy="2095500"/>
            </a:xfrm>
            <a:prstGeom prst="roundRect">
              <a:avLst>
                <a:gd name="adj" fmla="val 6364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66" name="Rectangle 66"/>
            <p:cNvSpPr/>
            <p:nvPr/>
          </p:nvSpPr>
          <p:spPr>
            <a:xfrm>
              <a:off x="6286500" y="3771900"/>
              <a:ext cx="5143500" cy="47625"/>
            </a:xfrm>
            <a:prstGeom prst="roundRect">
              <a:avLst>
                <a:gd name="adj" fmla="val 40000"/>
              </a:avLst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67" name="Rectangle 67"/>
            <p:cNvSpPr/>
            <p:nvPr/>
          </p:nvSpPr>
          <p:spPr>
            <a:xfrm>
              <a:off x="6591300" y="4076700"/>
              <a:ext cx="609600" cy="609600"/>
            </a:xfrm>
            <a:prstGeom prst="roundRect">
              <a:avLst>
                <a:gd name="adj" fmla="val 21875"/>
              </a:avLst>
            </a:prstGeom>
            <a:solidFill>
              <a:srgbClr val="C96133">
                <a:alpha val="10000"/>
              </a:srgbClr>
            </a:solidFill>
            <a:ln>
              <a:noFill/>
            </a:ln>
          </p:spPr>
        </p:sp>
        <p:sp>
          <p:nvSpPr>
            <p:cNvPr id="68" name="Freeform 68"/>
            <p:cNvSpPr/>
            <p:nvPr/>
          </p:nvSpPr>
          <p:spPr>
            <a:xfrm>
              <a:off x="6737348" y="4215639"/>
              <a:ext cx="334278" cy="335582"/>
            </a:xfrm>
            <a:custGeom>
              <a:avLst/>
              <a:gdLst/>
              <a:ahLst/>
              <a:cxnLst/>
              <a:rect l="l" t="t" r="r" b="b"/>
              <a:pathLst>
                <a:path w="334278" h="335582">
                  <a:moveTo>
                    <a:pt x="238127" y="28384"/>
                  </a:moveTo>
                  <a:cubicBezTo>
                    <a:pt x="304846" y="66904"/>
                    <a:pt x="334278" y="147768"/>
                    <a:pt x="307928" y="220162"/>
                  </a:cubicBezTo>
                  <a:cubicBezTo>
                    <a:pt x="281578" y="292557"/>
                    <a:pt x="207053" y="335582"/>
                    <a:pt x="131183" y="322203"/>
                  </a:cubicBezTo>
                  <a:cubicBezTo>
                    <a:pt x="55312" y="308824"/>
                    <a:pt x="0" y="242902"/>
                    <a:pt x="2" y="165861"/>
                  </a:cubicBezTo>
                  <a:lnTo>
                    <a:pt x="81" y="160718"/>
                  </a:lnTo>
                  <a:cubicBezTo>
                    <a:pt x="1890" y="104948"/>
                    <a:pt x="32845" y="54223"/>
                    <a:pt x="81614" y="27112"/>
                  </a:cubicBezTo>
                  <a:cubicBezTo>
                    <a:pt x="130383" y="0"/>
                    <a:pt x="189805" y="483"/>
                    <a:pt x="238127" y="28384"/>
                  </a:cubicBezTo>
                  <a:close/>
                  <a:moveTo>
                    <a:pt x="158752" y="70611"/>
                  </a:moveTo>
                  <a:cubicBezTo>
                    <a:pt x="149984" y="70611"/>
                    <a:pt x="142877" y="77719"/>
                    <a:pt x="142877" y="86486"/>
                  </a:cubicBezTo>
                  <a:cubicBezTo>
                    <a:pt x="116574" y="86486"/>
                    <a:pt x="95252" y="107808"/>
                    <a:pt x="95252" y="134111"/>
                  </a:cubicBezTo>
                  <a:cubicBezTo>
                    <a:pt x="95252" y="160414"/>
                    <a:pt x="116574" y="181736"/>
                    <a:pt x="142877" y="181736"/>
                  </a:cubicBezTo>
                  <a:lnTo>
                    <a:pt x="142877" y="213486"/>
                  </a:lnTo>
                  <a:cubicBezTo>
                    <a:pt x="137534" y="213771"/>
                    <a:pt x="132393" y="211408"/>
                    <a:pt x="129129" y="207168"/>
                  </a:cubicBezTo>
                  <a:lnTo>
                    <a:pt x="128050" y="205564"/>
                  </a:lnTo>
                  <a:cubicBezTo>
                    <a:pt x="123535" y="198283"/>
                    <a:pt x="114056" y="195898"/>
                    <a:pt x="106632" y="200175"/>
                  </a:cubicBezTo>
                  <a:cubicBezTo>
                    <a:pt x="99208" y="204453"/>
                    <a:pt x="96519" y="213850"/>
                    <a:pt x="100554" y="221408"/>
                  </a:cubicBezTo>
                  <a:cubicBezTo>
                    <a:pt x="108792" y="235695"/>
                    <a:pt x="123836" y="244704"/>
                    <a:pt x="140321" y="245220"/>
                  </a:cubicBezTo>
                  <a:lnTo>
                    <a:pt x="142877" y="245220"/>
                  </a:lnTo>
                  <a:cubicBezTo>
                    <a:pt x="142870" y="253274"/>
                    <a:pt x="148896" y="260058"/>
                    <a:pt x="156895" y="261000"/>
                  </a:cubicBezTo>
                  <a:lnTo>
                    <a:pt x="158752" y="261111"/>
                  </a:lnTo>
                  <a:cubicBezTo>
                    <a:pt x="167519" y="261111"/>
                    <a:pt x="174627" y="254004"/>
                    <a:pt x="174627" y="245236"/>
                  </a:cubicBezTo>
                  <a:lnTo>
                    <a:pt x="177421" y="245157"/>
                  </a:lnTo>
                  <a:cubicBezTo>
                    <a:pt x="203154" y="243669"/>
                    <a:pt x="223034" y="221979"/>
                    <a:pt x="222277" y="196213"/>
                  </a:cubicBezTo>
                  <a:cubicBezTo>
                    <a:pt x="221521" y="170448"/>
                    <a:pt x="200403" y="149961"/>
                    <a:pt x="174627" y="149986"/>
                  </a:cubicBezTo>
                  <a:lnTo>
                    <a:pt x="174627" y="118236"/>
                  </a:lnTo>
                  <a:cubicBezTo>
                    <a:pt x="180310" y="118046"/>
                    <a:pt x="185279" y="120459"/>
                    <a:pt x="188375" y="124554"/>
                  </a:cubicBezTo>
                  <a:lnTo>
                    <a:pt x="189454" y="126158"/>
                  </a:lnTo>
                  <a:cubicBezTo>
                    <a:pt x="193969" y="133439"/>
                    <a:pt x="203448" y="135824"/>
                    <a:pt x="210872" y="131547"/>
                  </a:cubicBezTo>
                  <a:cubicBezTo>
                    <a:pt x="218295" y="127269"/>
                    <a:pt x="220985" y="117872"/>
                    <a:pt x="216950" y="110314"/>
                  </a:cubicBezTo>
                  <a:cubicBezTo>
                    <a:pt x="208715" y="96021"/>
                    <a:pt x="193671" y="87006"/>
                    <a:pt x="177183" y="86486"/>
                  </a:cubicBezTo>
                  <a:lnTo>
                    <a:pt x="174627" y="86486"/>
                  </a:lnTo>
                  <a:cubicBezTo>
                    <a:pt x="174627" y="77719"/>
                    <a:pt x="167519" y="70611"/>
                    <a:pt x="158752" y="70611"/>
                  </a:cubicBezTo>
                  <a:close/>
                  <a:moveTo>
                    <a:pt x="174627" y="181736"/>
                  </a:moveTo>
                  <a:cubicBezTo>
                    <a:pt x="183394" y="181736"/>
                    <a:pt x="190502" y="188844"/>
                    <a:pt x="190502" y="197611"/>
                  </a:cubicBezTo>
                  <a:cubicBezTo>
                    <a:pt x="190502" y="206379"/>
                    <a:pt x="183394" y="213486"/>
                    <a:pt x="174627" y="213486"/>
                  </a:cubicBezTo>
                  <a:lnTo>
                    <a:pt x="174627" y="181736"/>
                  </a:lnTo>
                  <a:close/>
                  <a:moveTo>
                    <a:pt x="142877" y="118236"/>
                  </a:moveTo>
                  <a:lnTo>
                    <a:pt x="142877" y="149986"/>
                  </a:lnTo>
                  <a:cubicBezTo>
                    <a:pt x="134109" y="149986"/>
                    <a:pt x="127002" y="142879"/>
                    <a:pt x="127002" y="134111"/>
                  </a:cubicBezTo>
                  <a:cubicBezTo>
                    <a:pt x="127002" y="125344"/>
                    <a:pt x="134109" y="118236"/>
                    <a:pt x="142877" y="118236"/>
                  </a:cubicBezTo>
                  <a:close/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  <p:sp>
          <p:nvSpPr>
            <p:cNvPr id="69" name="Rectangle 69"/>
            <p:cNvSpPr/>
            <p:nvPr/>
          </p:nvSpPr>
          <p:spPr>
            <a:xfrm>
              <a:off x="10591800" y="3943350"/>
              <a:ext cx="685800" cy="228600"/>
            </a:xfrm>
            <a:prstGeom prst="roundRect">
              <a:avLst>
                <a:gd name="adj" fmla="val 50000"/>
              </a:avLst>
            </a:prstGeom>
            <a:solidFill>
              <a:srgbClr val="F0EDE8"/>
            </a:solidFill>
            <a:ln>
              <a:noFill/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10647236" y="3998595"/>
              <a:ext cx="57492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变现应用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7351395" y="4127182"/>
              <a:ext cx="156010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开始商业变现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7359015" y="4420552"/>
              <a:ext cx="110013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让网站帮你赚钱</a:t>
              </a:r>
            </a:p>
          </p:txBody>
        </p:sp>
        <p:sp>
          <p:nvSpPr>
            <p:cNvPr id="73" name="Line 73"/>
            <p:cNvSpPr/>
            <p:nvPr/>
          </p:nvSpPr>
          <p:spPr>
            <a:xfrm>
              <a:off x="6477000" y="4705350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F0EDE8"/>
              </a:solidFill>
            </a:ln>
          </p:spPr>
        </p:sp>
        <p:sp>
          <p:nvSpPr>
            <p:cNvPr id="74" name="Ellipse 74"/>
            <p:cNvSpPr/>
            <p:nvPr/>
          </p:nvSpPr>
          <p:spPr>
            <a:xfrm>
              <a:off x="6553200" y="4914900"/>
              <a:ext cx="76200" cy="76200"/>
            </a:xfrm>
            <a:prstGeom prst="ellipse">
              <a:avLst/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75" name="TextBox 75"/>
            <p:cNvSpPr txBox="1"/>
            <p:nvPr/>
          </p:nvSpPr>
          <p:spPr>
            <a:xfrm>
              <a:off x="6710362" y="4869656"/>
              <a:ext cx="257532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接入 Stripe / 微信支付，收课程费</a:t>
              </a:r>
            </a:p>
          </p:txBody>
        </p:sp>
        <p:sp>
          <p:nvSpPr>
            <p:cNvPr id="76" name="Ellipse 76"/>
            <p:cNvSpPr/>
            <p:nvPr/>
          </p:nvSpPr>
          <p:spPr>
            <a:xfrm>
              <a:off x="6553200" y="5200650"/>
              <a:ext cx="76200" cy="76200"/>
            </a:xfrm>
            <a:prstGeom prst="ellipse">
              <a:avLst/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77" name="TextBox 77"/>
            <p:cNvSpPr txBox="1"/>
            <p:nvPr/>
          </p:nvSpPr>
          <p:spPr>
            <a:xfrm>
              <a:off x="6710362" y="5155406"/>
              <a:ext cx="221384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SEO 优化 + 邮件列表自动获客</a:t>
              </a:r>
            </a:p>
          </p:txBody>
        </p:sp>
        <p:sp>
          <p:nvSpPr>
            <p:cNvPr id="78" name="Rectangle 78"/>
            <p:cNvSpPr/>
            <p:nvPr/>
          </p:nvSpPr>
          <p:spPr>
            <a:xfrm>
              <a:off x="6477000" y="5505450"/>
              <a:ext cx="1238250" cy="228600"/>
            </a:xfrm>
            <a:prstGeom prst="roundRect">
              <a:avLst>
                <a:gd name="adj" fmla="val 50000"/>
              </a:avLst>
            </a:prstGeom>
            <a:solidFill>
              <a:srgbClr val="F0EDE8"/>
            </a:solidFill>
            <a:ln>
              <a:noFill/>
            </a:ln>
          </p:spPr>
        </p:sp>
        <p:sp>
          <p:nvSpPr>
            <p:cNvPr id="79" name="TextBox 79"/>
            <p:cNvSpPr txBox="1"/>
            <p:nvPr/>
          </p:nvSpPr>
          <p:spPr>
            <a:xfrm>
              <a:off x="6794859" y="5560695"/>
              <a:ext cx="60253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难度★★★★</a:t>
              </a:r>
            </a:p>
          </p:txBody>
        </p:sp>
      </p:grpSp>
      <p:sp>
        <p:nvSpPr>
          <p:cNvPr id="81" name="TextBox 81"/>
          <p:cNvSpPr txBox="1"/>
          <p:nvPr/>
        </p:nvSpPr>
        <p:spPr>
          <a:xfrm>
            <a:off x="11131772" y="6554152"/>
            <a:ext cx="50206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19 / 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1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5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3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9" dur="4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48" grpId="0"/>
      <p:bldP spid="64" grpId="0"/>
      <p:bldP spid="80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727710" y="299085"/>
            <a:ext cx="10702290" cy="777240"/>
            <a:chOff x="727710" y="299085"/>
            <a:chExt cx="10702290" cy="777240"/>
          </a:xfrm>
        </p:grpSpPr>
        <p:sp>
          <p:nvSpPr>
            <p:cNvPr id="4" name="TextBox 4"/>
            <p:cNvSpPr txBox="1"/>
            <p:nvPr/>
          </p:nvSpPr>
          <p:spPr>
            <a:xfrm>
              <a:off x="727710" y="299085"/>
              <a:ext cx="2138839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你现在有的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743902" y="741521"/>
              <a:ext cx="3917656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三节课学下来，你的 Claude 技能栈长这样</a:t>
              </a:r>
            </a:p>
          </p:txBody>
        </p:sp>
        <p:sp>
          <p:nvSpPr>
            <p:cNvPr id="6" name="Line 6"/>
            <p:cNvSpPr/>
            <p:nvPr/>
          </p:nvSpPr>
          <p:spPr>
            <a:xfrm>
              <a:off x="762000" y="10668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4288">
              <a:solidFill>
                <a:srgbClr val="E0D8D0"/>
              </a:solidFill>
            </a:ln>
          </p:spPr>
        </p:sp>
      </p:grpSp>
      <p:sp>
        <p:nvSpPr>
          <p:cNvPr id="8" name="Rectangle 8"/>
          <p:cNvSpPr/>
          <p:nvPr/>
        </p:nvSpPr>
        <p:spPr>
          <a:xfrm>
            <a:off x="762000" y="1238250"/>
            <a:ext cx="10668000" cy="4648200"/>
          </a:xfrm>
          <a:prstGeom prst="roundRect">
            <a:avLst>
              <a:gd name="adj" fmla="val 820"/>
            </a:avLst>
          </a:prstGeom>
          <a:noFill/>
          <a:ln w="19050">
            <a:solidFill>
              <a:srgbClr val="C8C0B8"/>
            </a:solidFill>
          </a:ln>
        </p:spPr>
      </p:sp>
      <p:grpSp>
        <p:nvGrpSpPr>
          <p:cNvPr id="75" name="Group 75"/>
          <p:cNvGrpSpPr/>
          <p:nvPr/>
        </p:nvGrpSpPr>
        <p:grpSpPr>
          <a:xfrm>
            <a:off x="762000" y="1238250"/>
            <a:ext cx="10668000" cy="4648200"/>
            <a:chOff x="762000" y="1238250"/>
            <a:chExt cx="10668000" cy="4648200"/>
          </a:xfrm>
        </p:grpSpPr>
        <p:sp>
          <p:nvSpPr>
            <p:cNvPr id="9" name="Rectangle 9"/>
            <p:cNvSpPr/>
            <p:nvPr/>
          </p:nvSpPr>
          <p:spPr>
            <a:xfrm>
              <a:off x="762000" y="1238250"/>
              <a:ext cx="10668000" cy="495300"/>
            </a:xfrm>
            <a:prstGeom prst="roundRect">
              <a:avLst>
                <a:gd name="adj" fmla="val 7692"/>
              </a:avLst>
            </a:prstGeom>
            <a:solidFill>
              <a:srgbClr val="1E1E1E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762000" y="1504950"/>
              <a:ext cx="10668000" cy="228600"/>
            </a:xfrm>
            <a:prstGeom prst="rect">
              <a:avLst/>
            </a:prstGeom>
            <a:solidFill>
              <a:srgbClr val="1E1E1E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704999" y="1437799"/>
              <a:ext cx="32380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维度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3009900" y="1333500"/>
              <a:ext cx="2190750" cy="304800"/>
            </a:xfrm>
            <a:prstGeom prst="roundRect">
              <a:avLst>
                <a:gd name="adj" fmla="val 12500"/>
              </a:avLst>
            </a:prstGeom>
            <a:solidFill>
              <a:srgbClr val="C96133">
                <a:alpha val="25000"/>
              </a:srgbClr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3753798" y="1429702"/>
              <a:ext cx="70295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Session 1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466195" y="1579245"/>
              <a:ext cx="127816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Cowork Agent工作流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505450" y="1333500"/>
              <a:ext cx="2190750" cy="304800"/>
            </a:xfrm>
            <a:prstGeom prst="roundRect">
              <a:avLst>
                <a:gd name="adj" fmla="val 12500"/>
              </a:avLst>
            </a:prstGeom>
            <a:solidFill>
              <a:srgbClr val="3D7DE4">
                <a:alpha val="25000"/>
              </a:srgbClr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229220" y="1429702"/>
              <a:ext cx="74321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Session 2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007751" y="1579245"/>
              <a:ext cx="11861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3D7DE4"/>
                  </a:solidFill>
                  <a:latin typeface="Arial"/>
                  <a:ea typeface="Microsoft YaHei"/>
                  <a:cs typeface="Arial"/>
                </a:rPr>
                <a:t>Claude Code 知识库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8001000" y="1295400"/>
              <a:ext cx="3257550" cy="381000"/>
            </a:xfrm>
            <a:prstGeom prst="roundRect">
              <a:avLst>
                <a:gd name="adj" fmla="val 10000"/>
              </a:avLst>
            </a:prstGeom>
            <a:solidFill>
              <a:srgbClr val="C96133">
                <a:alpha val="45000"/>
              </a:srgbClr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004564" y="1410652"/>
              <a:ext cx="125042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Session 4 ★ 今天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197721" y="1579245"/>
              <a:ext cx="86410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FFD0B8"/>
                  </a:solidFill>
                  <a:latin typeface="Arial"/>
                  <a:ea typeface="Microsoft YaHei"/>
                  <a:cs typeface="Arial"/>
                </a:rPr>
                <a:t>Design + Code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2971800" y="1238250"/>
              <a:ext cx="9525" cy="4648200"/>
            </a:xfrm>
            <a:custGeom>
              <a:avLst/>
              <a:gdLst/>
              <a:ahLst/>
              <a:cxnLst/>
              <a:rect l="l" t="t" r="r" b="b"/>
              <a:pathLst>
                <a:path w="9525" h="4648200">
                  <a:moveTo>
                    <a:pt x="0" y="0"/>
                  </a:moveTo>
                  <a:lnTo>
                    <a:pt x="0" y="4648200"/>
                  </a:lnTo>
                </a:path>
              </a:pathLst>
            </a:custGeom>
            <a:noFill/>
            <a:ln w="14288">
              <a:solidFill>
                <a:srgbClr val="E0D8D0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5467350" y="1238250"/>
              <a:ext cx="9525" cy="4648200"/>
            </a:xfrm>
            <a:custGeom>
              <a:avLst/>
              <a:gdLst/>
              <a:ahLst/>
              <a:cxnLst/>
              <a:rect l="l" t="t" r="r" b="b"/>
              <a:pathLst>
                <a:path w="9525" h="4648200">
                  <a:moveTo>
                    <a:pt x="0" y="0"/>
                  </a:moveTo>
                  <a:lnTo>
                    <a:pt x="0" y="4648200"/>
                  </a:lnTo>
                </a:path>
              </a:pathLst>
            </a:custGeom>
            <a:noFill/>
            <a:ln w="14288">
              <a:solidFill>
                <a:srgbClr val="E0D8D0"/>
              </a:solidFill>
            </a:ln>
          </p:spPr>
        </p:sp>
        <p:sp>
          <p:nvSpPr>
            <p:cNvPr id="23" name="Line 23"/>
            <p:cNvSpPr/>
            <p:nvPr/>
          </p:nvSpPr>
          <p:spPr>
            <a:xfrm>
              <a:off x="7962900" y="1238250"/>
              <a:ext cx="9525" cy="4648200"/>
            </a:xfrm>
            <a:custGeom>
              <a:avLst/>
              <a:gdLst/>
              <a:ahLst/>
              <a:cxnLst/>
              <a:rect l="l" t="t" r="r" b="b"/>
              <a:pathLst>
                <a:path w="9525" h="4648200">
                  <a:moveTo>
                    <a:pt x="0" y="0"/>
                  </a:moveTo>
                  <a:lnTo>
                    <a:pt x="0" y="4648200"/>
                  </a:lnTo>
                </a:path>
              </a:pathLst>
            </a:custGeom>
            <a:noFill/>
            <a:ln w="14288">
              <a:solidFill>
                <a:srgbClr val="E0D8D0"/>
              </a:solidFill>
            </a:ln>
          </p:spPr>
        </p:sp>
        <p:sp>
          <p:nvSpPr>
            <p:cNvPr id="24" name="Line 24"/>
            <p:cNvSpPr/>
            <p:nvPr/>
          </p:nvSpPr>
          <p:spPr>
            <a:xfrm>
              <a:off x="762000" y="22669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rgbClr val="E0D8D0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857250" y="1828800"/>
              <a:ext cx="2019300" cy="342900"/>
            </a:xfrm>
            <a:prstGeom prst="roundRect">
              <a:avLst>
                <a:gd name="adj" fmla="val 16667"/>
              </a:avLst>
            </a:prstGeom>
            <a:solidFill>
              <a:srgbClr val="F0EDE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1531525" y="1934528"/>
              <a:ext cx="67075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核心技能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167062" y="1859756"/>
              <a:ext cx="98155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Prompt 工程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167062" y="2050256"/>
              <a:ext cx="135124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Agent 流水线搭建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643562" y="1859756"/>
              <a:ext cx="131837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Claude Code 操作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5643562" y="2050256"/>
              <a:ext cx="1531977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文件系统 + 代码生成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962900" y="1771650"/>
              <a:ext cx="3276600" cy="438150"/>
            </a:xfrm>
            <a:prstGeom prst="rect">
              <a:avLst/>
            </a:prstGeom>
            <a:solidFill>
              <a:srgbClr val="FFF8F5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8139112" y="1859756"/>
              <a:ext cx="1805547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AI 设计 + 全栈网站开发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139112" y="2050256"/>
              <a:ext cx="167163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一人完成从设计到上线</a:t>
              </a:r>
            </a:p>
          </p:txBody>
        </p:sp>
        <p:sp>
          <p:nvSpPr>
            <p:cNvPr id="34" name="Line 34"/>
            <p:cNvSpPr/>
            <p:nvPr/>
          </p:nvSpPr>
          <p:spPr>
            <a:xfrm>
              <a:off x="762000" y="31813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rgbClr val="E0D8D0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762000" y="2266950"/>
              <a:ext cx="10668000" cy="914400"/>
            </a:xfrm>
            <a:prstGeom prst="rect">
              <a:avLst/>
            </a:prstGeom>
            <a:solidFill>
              <a:srgbClr val="FAFAF8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857250" y="2495550"/>
              <a:ext cx="2019300" cy="342900"/>
            </a:xfrm>
            <a:prstGeom prst="roundRect">
              <a:avLst>
                <a:gd name="adj" fmla="val 16667"/>
              </a:avLst>
            </a:prstGeom>
            <a:solidFill>
              <a:srgbClr val="F0EDE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1531525" y="2601278"/>
              <a:ext cx="67075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核心产出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3167062" y="2526506"/>
              <a:ext cx="135124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求职自动化 Agent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3167062" y="2736056"/>
              <a:ext cx="208240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个性化简历 / Cover Letter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5643562" y="2526506"/>
              <a:ext cx="117871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个人知识库系统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5643562" y="2736056"/>
              <a:ext cx="1531977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可检索的笔记 + 文档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7962900" y="2305050"/>
              <a:ext cx="3276600" cy="857250"/>
            </a:xfrm>
            <a:prstGeom prst="rect">
              <a:avLst/>
            </a:prstGeom>
            <a:solidFill>
              <a:srgbClr val="FFF8F5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139112" y="2526506"/>
              <a:ext cx="155539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🌎 真实可访问的网站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762000" y="40957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rgbClr val="E0D8D0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857250" y="3352800"/>
              <a:ext cx="2019300" cy="342900"/>
            </a:xfrm>
            <a:prstGeom prst="roundRect">
              <a:avLst>
                <a:gd name="adj" fmla="val 16667"/>
              </a:avLst>
            </a:prstGeom>
            <a:solidFill>
              <a:srgbClr val="F0EDE8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1531525" y="3458528"/>
              <a:ext cx="67075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主要工具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3167062" y="3402806"/>
              <a:ext cx="152376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claude.ai + Cowork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3167062" y="3631406"/>
              <a:ext cx="114585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prompt 模板库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5643562" y="3402806"/>
              <a:ext cx="121979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Claude Code CLI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5643562" y="3631406"/>
              <a:ext cx="101441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本地文件系统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7962900" y="3219450"/>
              <a:ext cx="3276600" cy="857250"/>
            </a:xfrm>
            <a:prstGeom prst="rect">
              <a:avLst/>
            </a:prstGeom>
            <a:solidFill>
              <a:srgbClr val="FFF8F5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8139112" y="3402806"/>
              <a:ext cx="2288607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Claude Design + Claude Code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8139112" y="3631406"/>
              <a:ext cx="156483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CLAUDE.md + Vercel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762000" y="4095750"/>
              <a:ext cx="10668000" cy="952500"/>
            </a:xfrm>
            <a:prstGeom prst="rect">
              <a:avLst/>
            </a:prstGeom>
            <a:solidFill>
              <a:srgbClr val="F0EDE8">
                <a:alpha val="50000"/>
              </a:srgbClr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762000" y="4095750"/>
              <a:ext cx="10668000" cy="952500"/>
            </a:xfrm>
            <a:prstGeom prst="rect">
              <a:avLst/>
            </a:prstGeom>
            <a:noFill/>
            <a:ln w="9525">
              <a:solidFill>
                <a:srgbClr val="E0D8D0"/>
              </a:solidFill>
            </a:ln>
          </p:spPr>
        </p:sp>
        <p:sp>
          <p:nvSpPr>
            <p:cNvPr id="56" name="Rectangle 56"/>
            <p:cNvSpPr/>
            <p:nvPr/>
          </p:nvSpPr>
          <p:spPr>
            <a:xfrm>
              <a:off x="857250" y="4286250"/>
              <a:ext cx="2019300" cy="342900"/>
            </a:xfrm>
            <a:prstGeom prst="roundRect">
              <a:avLst>
                <a:gd name="adj" fmla="val 16667"/>
              </a:avLst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1438938" y="4391978"/>
              <a:ext cx="855924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变现 / 价值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3167062" y="4307681"/>
              <a:ext cx="117871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找到更好的工作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3167062" y="4536281"/>
              <a:ext cx="133481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节省求职时间 80%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5643562" y="4307681"/>
              <a:ext cx="134302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知识管理效率翻倍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5643562" y="4536281"/>
              <a:ext cx="120336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AI 辅助代码能力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7962900" y="4095750"/>
              <a:ext cx="3276600" cy="952500"/>
            </a:xfrm>
            <a:prstGeom prst="rect">
              <a:avLst/>
            </a:prstGeom>
            <a:solidFill>
              <a:srgbClr val="F0EDE8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8139112" y="4307681"/>
              <a:ext cx="1805547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课程 / 服务 / 咨询变现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8139112" y="4536281"/>
              <a:ext cx="178665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0 成本建站，0 代码背景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762000" y="5048250"/>
              <a:ext cx="10668000" cy="838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6" name="Rectangle 66"/>
            <p:cNvSpPr/>
            <p:nvPr/>
          </p:nvSpPr>
          <p:spPr>
            <a:xfrm>
              <a:off x="857250" y="5219700"/>
              <a:ext cx="2019300" cy="342900"/>
            </a:xfrm>
            <a:prstGeom prst="roundRect">
              <a:avLst>
                <a:gd name="adj" fmla="val 16667"/>
              </a:avLst>
            </a:prstGeom>
            <a:solidFill>
              <a:srgbClr val="F0EDE8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1531525" y="5325428"/>
              <a:ext cx="67075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面试价值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3167062" y="5222081"/>
              <a:ext cx="120336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AI 工具熟练使用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3167062" y="5431631"/>
              <a:ext cx="101441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提效真实案例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5643562" y="5222081"/>
              <a:ext cx="164699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Claude Code 实战经验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5643562" y="5431631"/>
              <a:ext cx="141696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项目管理 AI 工作流</a:t>
              </a:r>
            </a:p>
          </p:txBody>
        </p:sp>
        <p:sp>
          <p:nvSpPr>
            <p:cNvPr id="72" name="Rectangle 72"/>
            <p:cNvSpPr/>
            <p:nvPr/>
          </p:nvSpPr>
          <p:spPr>
            <a:xfrm>
              <a:off x="7962900" y="5086350"/>
              <a:ext cx="3276600" cy="762000"/>
            </a:xfrm>
            <a:prstGeom prst="rect">
              <a:avLst/>
            </a:prstGeom>
            <a:solidFill>
              <a:srgbClr val="FFF8F5"/>
            </a:solidFill>
            <a:ln>
              <a:noFill/>
            </a:ln>
          </p:spPr>
        </p:sp>
        <p:sp>
          <p:nvSpPr>
            <p:cNvPr id="73" name="TextBox 73"/>
            <p:cNvSpPr txBox="1"/>
            <p:nvPr/>
          </p:nvSpPr>
          <p:spPr>
            <a:xfrm>
              <a:off x="8139112" y="5222081"/>
              <a:ext cx="158126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可 Demo 的完整项目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8139112" y="5431631"/>
              <a:ext cx="183594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从设计到上线全链路经验</a:t>
              </a:r>
            </a:p>
          </p:txBody>
        </p:sp>
      </p:grpSp>
      <p:sp>
        <p:nvSpPr>
          <p:cNvPr id="76" name="TextBox 76"/>
          <p:cNvSpPr txBox="1"/>
          <p:nvPr/>
        </p:nvSpPr>
        <p:spPr>
          <a:xfrm>
            <a:off x="2978643" y="6007418"/>
            <a:ext cx="6234715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S1 + S2 + S4 = 求职 ✕ 知识管理 ✕ 作品展示 —— 完整的 AI 超能力组合</a:t>
            </a:r>
          </a:p>
        </p:txBody>
      </p:sp>
      <p:sp>
        <p:nvSpPr>
          <p:cNvPr id="77" name="TextBox 77"/>
          <p:cNvSpPr txBox="1"/>
          <p:nvPr/>
        </p:nvSpPr>
        <p:spPr>
          <a:xfrm>
            <a:off x="11093434" y="6554152"/>
            <a:ext cx="54040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20 / 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4953000" cy="6858000"/>
          </a:xfrm>
          <a:prstGeom prst="rect">
            <a:avLst/>
          </a:prstGeom>
          <a:solidFill>
            <a:srgbClr val="F0EDE8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47625" cy="6858000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5" name="Rectangle 5"/>
          <p:cNvSpPr/>
          <p:nvPr/>
        </p:nvSpPr>
        <p:spPr>
          <a:xfrm>
            <a:off x="4953000" y="0"/>
            <a:ext cx="7239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6" name="Rectangle 6"/>
          <p:cNvSpPr/>
          <p:nvPr/>
        </p:nvSpPr>
        <p:spPr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7" name="Ellipse 7"/>
          <p:cNvSpPr/>
          <p:nvPr/>
        </p:nvSpPr>
        <p:spPr>
          <a:xfrm>
            <a:off x="-1333500" y="4572000"/>
            <a:ext cx="3810000" cy="3810000"/>
          </a:xfrm>
          <a:prstGeom prst="ellipse">
            <a:avLst/>
          </a:prstGeom>
          <a:solidFill>
            <a:srgbClr val="E8DDD5">
              <a:alpha val="40000"/>
            </a:srgbClr>
          </a:solidFill>
          <a:ln>
            <a:noFill/>
          </a:ln>
        </p:spPr>
      </p:sp>
      <p:sp>
        <p:nvSpPr>
          <p:cNvPr id="8" name="Ellipse 8"/>
          <p:cNvSpPr/>
          <p:nvPr/>
        </p:nvSpPr>
        <p:spPr>
          <a:xfrm>
            <a:off x="3048000" y="-762000"/>
            <a:ext cx="3048000" cy="3048000"/>
          </a:xfrm>
          <a:prstGeom prst="ellipse">
            <a:avLst/>
          </a:prstGeom>
          <a:solidFill>
            <a:srgbClr val="E8DDD5">
              <a:alpha val="30000"/>
            </a:srgbClr>
          </a:solidFill>
          <a:ln>
            <a:noFill/>
          </a:ln>
        </p:spPr>
      </p:sp>
      <p:grpSp>
        <p:nvGrpSpPr>
          <p:cNvPr id="20" name="Group 20"/>
          <p:cNvGrpSpPr/>
          <p:nvPr/>
        </p:nvGrpSpPr>
        <p:grpSpPr>
          <a:xfrm>
            <a:off x="344900" y="1143000"/>
            <a:ext cx="4036600" cy="3943350"/>
            <a:chOff x="344900" y="1143000"/>
            <a:chExt cx="4036600" cy="3943350"/>
          </a:xfrm>
        </p:grpSpPr>
        <p:grpSp>
          <p:nvGrpSpPr>
            <p:cNvPr id="12" name="Group 12"/>
            <p:cNvGrpSpPr/>
            <p:nvPr/>
          </p:nvGrpSpPr>
          <p:grpSpPr>
            <a:xfrm>
              <a:off x="1257300" y="1143000"/>
              <a:ext cx="1295400" cy="1295400"/>
              <a:chOff x="1257300" y="1143000"/>
              <a:chExt cx="1295400" cy="1295400"/>
            </a:xfrm>
          </p:grpSpPr>
          <p:sp>
            <p:nvSpPr>
              <p:cNvPr id="9" name="Ellipse 9"/>
              <p:cNvSpPr/>
              <p:nvPr/>
            </p:nvSpPr>
            <p:spPr>
              <a:xfrm>
                <a:off x="1257300" y="1143000"/>
                <a:ext cx="1295400" cy="1295400"/>
              </a:xfrm>
              <a:prstGeom prst="ellipse">
                <a:avLst/>
              </a:prstGeom>
              <a:solidFill>
                <a:srgbClr val="C96133">
                  <a:alpha val="10000"/>
                </a:srgbClr>
              </a:solidFill>
              <a:ln>
                <a:noFill/>
              </a:ln>
            </p:spPr>
          </p:sp>
          <p:sp>
            <p:nvSpPr>
              <p:cNvPr id="10" name="Ellipse 10"/>
              <p:cNvSpPr/>
              <p:nvPr/>
            </p:nvSpPr>
            <p:spPr>
              <a:xfrm>
                <a:off x="1390650" y="1276350"/>
                <a:ext cx="1028700" cy="1028700"/>
              </a:xfrm>
              <a:prstGeom prst="ellipse">
                <a:avLst/>
              </a:pr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11" name="Freeform 11"/>
              <p:cNvSpPr/>
              <p:nvPr/>
            </p:nvSpPr>
            <p:spPr>
              <a:xfrm>
                <a:off x="1635125" y="1508736"/>
                <a:ext cx="567548" cy="568477"/>
              </a:xfrm>
              <a:custGeom>
                <a:avLst/>
                <a:gdLst/>
                <a:ahLst/>
                <a:cxnLst/>
                <a:rect l="l" t="t" r="r" b="b"/>
                <a:pathLst>
                  <a:path w="567548" h="568477">
                    <a:moveTo>
                      <a:pt x="404813" y="48252"/>
                    </a:moveTo>
                    <a:cubicBezTo>
                      <a:pt x="517280" y="113190"/>
                      <a:pt x="567548" y="249022"/>
                      <a:pt x="524448" y="371531"/>
                    </a:cubicBezTo>
                    <a:cubicBezTo>
                      <a:pt x="481348" y="494039"/>
                      <a:pt x="357105" y="568477"/>
                      <a:pt x="228753" y="548691"/>
                    </a:cubicBezTo>
                    <a:cubicBezTo>
                      <a:pt x="100400" y="528906"/>
                      <a:pt x="4341" y="420508"/>
                      <a:pt x="135" y="290708"/>
                    </a:cubicBezTo>
                    <a:lnTo>
                      <a:pt x="0" y="281964"/>
                    </a:lnTo>
                    <a:lnTo>
                      <a:pt x="135" y="273220"/>
                    </a:lnTo>
                    <a:cubicBezTo>
                      <a:pt x="3209" y="178412"/>
                      <a:pt x="55832" y="92180"/>
                      <a:pt x="138740" y="46090"/>
                    </a:cubicBezTo>
                    <a:cubicBezTo>
                      <a:pt x="221647" y="0"/>
                      <a:pt x="322665" y="821"/>
                      <a:pt x="404812" y="48252"/>
                    </a:cubicBezTo>
                    <a:close/>
                    <a:moveTo>
                      <a:pt x="369918" y="208909"/>
                    </a:moveTo>
                    <a:cubicBezTo>
                      <a:pt x="360303" y="199295"/>
                      <a:pt x="345037" y="198335"/>
                      <a:pt x="334294" y="206669"/>
                    </a:cubicBezTo>
                    <a:lnTo>
                      <a:pt x="331757" y="208909"/>
                    </a:lnTo>
                    <a:lnTo>
                      <a:pt x="242888" y="297751"/>
                    </a:lnTo>
                    <a:lnTo>
                      <a:pt x="207993" y="262884"/>
                    </a:lnTo>
                    <a:lnTo>
                      <a:pt x="205456" y="260644"/>
                    </a:lnTo>
                    <a:cubicBezTo>
                      <a:pt x="194712" y="252316"/>
                      <a:pt x="179451" y="253279"/>
                      <a:pt x="169839" y="262891"/>
                    </a:cubicBezTo>
                    <a:cubicBezTo>
                      <a:pt x="160227" y="272503"/>
                      <a:pt x="159265" y="287763"/>
                      <a:pt x="167592" y="298507"/>
                    </a:cubicBezTo>
                    <a:lnTo>
                      <a:pt x="169832" y="301044"/>
                    </a:lnTo>
                    <a:lnTo>
                      <a:pt x="223807" y="355019"/>
                    </a:lnTo>
                    <a:lnTo>
                      <a:pt x="226344" y="357259"/>
                    </a:lnTo>
                    <a:cubicBezTo>
                      <a:pt x="236080" y="364812"/>
                      <a:pt x="249695" y="364812"/>
                      <a:pt x="259431" y="357259"/>
                    </a:cubicBezTo>
                    <a:lnTo>
                      <a:pt x="261968" y="355019"/>
                    </a:lnTo>
                    <a:lnTo>
                      <a:pt x="369918" y="247069"/>
                    </a:lnTo>
                    <a:lnTo>
                      <a:pt x="372158" y="244532"/>
                    </a:lnTo>
                    <a:cubicBezTo>
                      <a:pt x="380491" y="233789"/>
                      <a:pt x="379532" y="218523"/>
                      <a:pt x="369918" y="208909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</p:grpSp>
        <p:sp>
          <p:nvSpPr>
            <p:cNvPr id="13" name="TextBox 13"/>
            <p:cNvSpPr txBox="1"/>
            <p:nvPr/>
          </p:nvSpPr>
          <p:spPr>
            <a:xfrm>
              <a:off x="850963" y="2539365"/>
              <a:ext cx="2108073" cy="670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33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你的网站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44900" y="3015615"/>
              <a:ext cx="3120200" cy="670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3300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已经在路上了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42236" y="3694271"/>
              <a:ext cx="2325529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从今天开始，你不再需要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158478" y="3941921"/>
              <a:ext cx="1493044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工程师或设计师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571500" y="4381500"/>
              <a:ext cx="3810000" cy="9525"/>
            </a:xfrm>
            <a:custGeom>
              <a:avLst/>
              <a:gdLst/>
              <a:ahLst/>
              <a:cxnLst/>
              <a:rect l="l" t="t" r="r" b="b"/>
              <a:pathLst>
                <a:path w="3810000" h="9525">
                  <a:moveTo>
                    <a:pt x="0" y="0"/>
                  </a:moveTo>
                  <a:lnTo>
                    <a:pt x="3810000" y="0"/>
                  </a:lnTo>
                </a:path>
              </a:pathLst>
            </a:custGeom>
            <a:noFill/>
            <a:ln w="14288">
              <a:solidFill>
                <a:srgbClr val="C96133">
                  <a:alpha val="30000"/>
                </a:srgbClr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544639" y="4613910"/>
              <a:ext cx="272072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Session 4 · Claude Design + Code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3356" y="4842510"/>
              <a:ext cx="192328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北美华人 Claude AI 课程</a:t>
              </a:r>
            </a:p>
          </p:txBody>
        </p:sp>
      </p:grpSp>
      <p:sp>
        <p:nvSpPr>
          <p:cNvPr id="21" name="Line 21"/>
          <p:cNvSpPr/>
          <p:nvPr/>
        </p:nvSpPr>
        <p:spPr>
          <a:xfrm>
            <a:off x="4953000" y="571500"/>
            <a:ext cx="9525" cy="5715000"/>
          </a:xfrm>
          <a:custGeom>
            <a:avLst/>
            <a:gdLst/>
            <a:ahLst/>
            <a:cxnLst/>
            <a:rect l="l" t="t" r="r" b="b"/>
            <a:pathLst>
              <a:path w="9525" h="5715000">
                <a:moveTo>
                  <a:pt x="0" y="0"/>
                </a:moveTo>
                <a:lnTo>
                  <a:pt x="0" y="5715000"/>
                </a:lnTo>
              </a:path>
            </a:pathLst>
          </a:custGeom>
          <a:noFill/>
          <a:ln w="14288">
            <a:solidFill>
              <a:srgbClr val="E0D8D0"/>
            </a:solidFill>
          </a:ln>
        </p:spPr>
      </p:sp>
      <p:grpSp>
        <p:nvGrpSpPr>
          <p:cNvPr id="59" name="Group 59"/>
          <p:cNvGrpSpPr/>
          <p:nvPr/>
        </p:nvGrpSpPr>
        <p:grpSpPr>
          <a:xfrm>
            <a:off x="5688330" y="724852"/>
            <a:ext cx="5741670" cy="5066348"/>
            <a:chOff x="5688330" y="724852"/>
            <a:chExt cx="5741670" cy="5066348"/>
          </a:xfrm>
        </p:grpSpPr>
        <p:grpSp>
          <p:nvGrpSpPr>
            <p:cNvPr id="25" name="Group 25"/>
            <p:cNvGrpSpPr/>
            <p:nvPr/>
          </p:nvGrpSpPr>
          <p:grpSpPr>
            <a:xfrm>
              <a:off x="5688330" y="724852"/>
              <a:ext cx="1663065" cy="780098"/>
              <a:chOff x="5688330" y="724852"/>
              <a:chExt cx="1663065" cy="780098"/>
            </a:xfrm>
          </p:grpSpPr>
          <p:sp>
            <p:nvSpPr>
              <p:cNvPr id="22" name="TextBox 22"/>
              <p:cNvSpPr txBox="1"/>
              <p:nvPr/>
            </p:nvSpPr>
            <p:spPr>
              <a:xfrm>
                <a:off x="5701665" y="724852"/>
                <a:ext cx="33337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E9E9E"/>
                    </a:solidFill>
                    <a:latin typeface="Arial"/>
                    <a:ea typeface="Microsoft YaHei"/>
                    <a:cs typeface="Arial"/>
                  </a:rPr>
                  <a:t>讲师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5688330" y="897255"/>
                <a:ext cx="1486419" cy="4267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2100" b="1" dirty="0">
                    <a:solidFill>
                      <a:srgbClr val="1E1E1E"/>
                    </a:solidFill>
                    <a:latin typeface="Arial"/>
                    <a:ea typeface="Microsoft YaHei"/>
                    <a:cs typeface="Arial"/>
                  </a:rPr>
                  <a:t>Austin Xu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5699760" y="1261110"/>
                <a:ext cx="1651635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5A5A5A"/>
                    </a:solidFill>
                    <a:latin typeface="Arial"/>
                    <a:ea typeface="Microsoft YaHei"/>
                    <a:cs typeface="Arial"/>
                  </a:rPr>
                  <a:t>硅谷 500 强工程经理</a:t>
                </a:r>
              </a:p>
            </p:txBody>
          </p:sp>
        </p:grpSp>
        <p:grpSp>
          <p:nvGrpSpPr>
            <p:cNvPr id="45" name="Group 45"/>
            <p:cNvGrpSpPr/>
            <p:nvPr/>
          </p:nvGrpSpPr>
          <p:grpSpPr>
            <a:xfrm>
              <a:off x="5715000" y="1600200"/>
              <a:ext cx="5715000" cy="1821656"/>
              <a:chOff x="5715000" y="1600200"/>
              <a:chExt cx="5715000" cy="1821656"/>
            </a:xfrm>
          </p:grpSpPr>
          <p:sp>
            <p:nvSpPr>
              <p:cNvPr id="26" name="Line 26"/>
              <p:cNvSpPr/>
              <p:nvPr/>
            </p:nvSpPr>
            <p:spPr>
              <a:xfrm>
                <a:off x="5715000" y="1600200"/>
                <a:ext cx="57150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715000" h="9525">
                    <a:moveTo>
                      <a:pt x="0" y="0"/>
                    </a:moveTo>
                    <a:lnTo>
                      <a:pt x="5715000" y="0"/>
                    </a:lnTo>
                  </a:path>
                </a:pathLst>
              </a:custGeom>
              <a:noFill/>
              <a:ln w="9525">
                <a:solidFill>
                  <a:srgbClr val="E0D8D0"/>
                </a:solidFill>
              </a:ln>
            </p:spPr>
          </p:sp>
          <p:sp>
            <p:nvSpPr>
              <p:cNvPr id="27" name="Rectangle 27"/>
              <p:cNvSpPr/>
              <p:nvPr/>
            </p:nvSpPr>
            <p:spPr>
              <a:xfrm>
                <a:off x="5715000" y="1771650"/>
                <a:ext cx="419100" cy="419100"/>
              </a:xfrm>
              <a:prstGeom prst="roundRect">
                <a:avLst>
                  <a:gd name="adj" fmla="val 22727"/>
                </a:avLst>
              </a:prstGeom>
              <a:solidFill>
                <a:srgbClr val="F0EDE8"/>
              </a:solidFill>
              <a:ln>
                <a:noFill/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5829300" y="1895475"/>
                <a:ext cx="190500" cy="181421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181421">
                    <a:moveTo>
                      <a:pt x="152400" y="0"/>
                    </a:moveTo>
                    <a:cubicBezTo>
                      <a:pt x="173442" y="0"/>
                      <a:pt x="190500" y="17058"/>
                      <a:pt x="190500" y="38100"/>
                    </a:cubicBezTo>
                    <a:lnTo>
                      <a:pt x="190500" y="114300"/>
                    </a:lnTo>
                    <a:cubicBezTo>
                      <a:pt x="190500" y="135342"/>
                      <a:pt x="173442" y="152400"/>
                      <a:pt x="152400" y="152400"/>
                    </a:cubicBezTo>
                    <a:lnTo>
                      <a:pt x="107404" y="152400"/>
                    </a:lnTo>
                    <a:lnTo>
                      <a:pt x="62046" y="179613"/>
                    </a:lnTo>
                    <a:cubicBezTo>
                      <a:pt x="59270" y="181279"/>
                      <a:pt x="55839" y="181421"/>
                      <a:pt x="52935" y="179990"/>
                    </a:cubicBezTo>
                    <a:cubicBezTo>
                      <a:pt x="50031" y="178559"/>
                      <a:pt x="48053" y="175752"/>
                      <a:pt x="47682" y="172536"/>
                    </a:cubicBezTo>
                    <a:lnTo>
                      <a:pt x="47625" y="171450"/>
                    </a:lnTo>
                    <a:lnTo>
                      <a:pt x="47625" y="152400"/>
                    </a:lnTo>
                    <a:lnTo>
                      <a:pt x="38100" y="152400"/>
                    </a:lnTo>
                    <a:cubicBezTo>
                      <a:pt x="17798" y="152400"/>
                      <a:pt x="1063" y="136481"/>
                      <a:pt x="48" y="116205"/>
                    </a:cubicBezTo>
                    <a:lnTo>
                      <a:pt x="0" y="114300"/>
                    </a:lnTo>
                    <a:lnTo>
                      <a:pt x="0" y="38100"/>
                    </a:lnTo>
                    <a:cubicBezTo>
                      <a:pt x="0" y="17058"/>
                      <a:pt x="17058" y="0"/>
                      <a:pt x="38100" y="0"/>
                    </a:cubicBezTo>
                    <a:close/>
                    <a:moveTo>
                      <a:pt x="125730" y="88449"/>
                    </a:moveTo>
                    <a:cubicBezTo>
                      <a:pt x="121974" y="84767"/>
                      <a:pt x="115944" y="84827"/>
                      <a:pt x="112262" y="88583"/>
                    </a:cubicBezTo>
                    <a:cubicBezTo>
                      <a:pt x="107783" y="93155"/>
                      <a:pt x="101651" y="95732"/>
                      <a:pt x="95250" y="95732"/>
                    </a:cubicBezTo>
                    <a:cubicBezTo>
                      <a:pt x="88849" y="95732"/>
                      <a:pt x="82717" y="93155"/>
                      <a:pt x="78238" y="88583"/>
                    </a:cubicBezTo>
                    <a:cubicBezTo>
                      <a:pt x="74540" y="84916"/>
                      <a:pt x="68583" y="84900"/>
                      <a:pt x="64865" y="88546"/>
                    </a:cubicBezTo>
                    <a:cubicBezTo>
                      <a:pt x="61146" y="92191"/>
                      <a:pt x="61045" y="98147"/>
                      <a:pt x="64637" y="101917"/>
                    </a:cubicBezTo>
                    <a:cubicBezTo>
                      <a:pt x="72698" y="110144"/>
                      <a:pt x="83732" y="114780"/>
                      <a:pt x="95250" y="114780"/>
                    </a:cubicBezTo>
                    <a:cubicBezTo>
                      <a:pt x="106768" y="114780"/>
                      <a:pt x="117802" y="110144"/>
                      <a:pt x="125863" y="101917"/>
                    </a:cubicBezTo>
                    <a:cubicBezTo>
                      <a:pt x="129545" y="98161"/>
                      <a:pt x="129485" y="92132"/>
                      <a:pt x="125730" y="88449"/>
                    </a:cubicBezTo>
                    <a:moveTo>
                      <a:pt x="71533" y="47625"/>
                    </a:moveTo>
                    <a:lnTo>
                      <a:pt x="71438" y="47625"/>
                    </a:lnTo>
                    <a:cubicBezTo>
                      <a:pt x="66177" y="47625"/>
                      <a:pt x="61912" y="51889"/>
                      <a:pt x="61912" y="57150"/>
                    </a:cubicBezTo>
                    <a:cubicBezTo>
                      <a:pt x="61912" y="62411"/>
                      <a:pt x="66177" y="66675"/>
                      <a:pt x="71438" y="66675"/>
                    </a:cubicBezTo>
                    <a:lnTo>
                      <a:pt x="71533" y="66675"/>
                    </a:lnTo>
                    <a:cubicBezTo>
                      <a:pt x="76793" y="66675"/>
                      <a:pt x="81058" y="62411"/>
                      <a:pt x="81058" y="57150"/>
                    </a:cubicBezTo>
                    <a:cubicBezTo>
                      <a:pt x="81058" y="51889"/>
                      <a:pt x="76793" y="47625"/>
                      <a:pt x="71533" y="47625"/>
                    </a:cubicBezTo>
                    <a:moveTo>
                      <a:pt x="119158" y="47625"/>
                    </a:moveTo>
                    <a:lnTo>
                      <a:pt x="119062" y="47625"/>
                    </a:lnTo>
                    <a:cubicBezTo>
                      <a:pt x="113802" y="47625"/>
                      <a:pt x="109538" y="51889"/>
                      <a:pt x="109538" y="57150"/>
                    </a:cubicBezTo>
                    <a:cubicBezTo>
                      <a:pt x="109538" y="62411"/>
                      <a:pt x="113802" y="66675"/>
                      <a:pt x="119062" y="66675"/>
                    </a:cubicBezTo>
                    <a:lnTo>
                      <a:pt x="119158" y="66675"/>
                    </a:lnTo>
                    <a:cubicBezTo>
                      <a:pt x="124418" y="66675"/>
                      <a:pt x="128683" y="62411"/>
                      <a:pt x="128683" y="57150"/>
                    </a:cubicBezTo>
                    <a:cubicBezTo>
                      <a:pt x="128683" y="51889"/>
                      <a:pt x="124418" y="47625"/>
                      <a:pt x="119158" y="47625"/>
                    </a:cubicBezTo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29" name="TextBox 29"/>
              <p:cNvSpPr txBox="1"/>
              <p:nvPr/>
            </p:nvSpPr>
            <p:spPr>
              <a:xfrm>
                <a:off x="6235065" y="1829752"/>
                <a:ext cx="33337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E9E9E"/>
                    </a:solidFill>
                    <a:latin typeface="Arial"/>
                    <a:ea typeface="Microsoft YaHei"/>
                    <a:cs typeface="Arial"/>
                  </a:rPr>
                  <a:t>微信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6233160" y="2004060"/>
                <a:ext cx="996601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1E1E1E"/>
                    </a:solidFill>
                    <a:latin typeface="Consolas"/>
                    <a:ea typeface="Microsoft YaHei"/>
                    <a:cs typeface="Consolas"/>
                  </a:rPr>
                  <a:t>austin_xyz</a:t>
                </a:r>
              </a:p>
            </p:txBody>
          </p:sp>
          <p:sp>
            <p:nvSpPr>
              <p:cNvPr id="31" name="Rectangle 31"/>
              <p:cNvSpPr/>
              <p:nvPr/>
            </p:nvSpPr>
            <p:spPr>
              <a:xfrm>
                <a:off x="5715000" y="2362200"/>
                <a:ext cx="419100" cy="419100"/>
              </a:xfrm>
              <a:prstGeom prst="roundRect">
                <a:avLst>
                  <a:gd name="adj" fmla="val 22727"/>
                </a:avLst>
              </a:prstGeom>
              <a:solidFill>
                <a:srgbClr val="F0EDE8"/>
              </a:solidFill>
              <a:ln>
                <a:noFill/>
              </a:ln>
            </p:spPr>
          </p:sp>
          <p:grpSp>
            <p:nvGrpSpPr>
              <p:cNvPr id="34" name="Group 34"/>
              <p:cNvGrpSpPr/>
              <p:nvPr/>
            </p:nvGrpSpPr>
            <p:grpSpPr>
              <a:xfrm>
                <a:off x="5829300" y="2495550"/>
                <a:ext cx="190501" cy="152401"/>
                <a:chOff x="5829300" y="2495550"/>
                <a:chExt cx="190501" cy="152401"/>
              </a:xfrm>
            </p:grpSpPr>
            <p:sp>
              <p:nvSpPr>
                <p:cNvPr id="32" name="Freeform 32"/>
                <p:cNvSpPr/>
                <p:nvPr/>
              </p:nvSpPr>
              <p:spPr>
                <a:xfrm>
                  <a:off x="5829300" y="2529221"/>
                  <a:ext cx="190501" cy="11873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501" h="118730">
                      <a:moveTo>
                        <a:pt x="190500" y="0"/>
                      </a:moveTo>
                      <a:lnTo>
                        <a:pt x="190500" y="90154"/>
                      </a:lnTo>
                      <a:cubicBezTo>
                        <a:pt x="190501" y="105285"/>
                        <a:pt x="178706" y="117794"/>
                        <a:pt x="163601" y="118682"/>
                      </a:cubicBezTo>
                      <a:lnTo>
                        <a:pt x="161925" y="118729"/>
                      </a:lnTo>
                      <a:lnTo>
                        <a:pt x="28575" y="118729"/>
                      </a:lnTo>
                      <a:cubicBezTo>
                        <a:pt x="13444" y="118730"/>
                        <a:pt x="935" y="106935"/>
                        <a:pt x="48" y="91831"/>
                      </a:cubicBezTo>
                      <a:lnTo>
                        <a:pt x="0" y="90154"/>
                      </a:lnTo>
                      <a:lnTo>
                        <a:pt x="0" y="0"/>
                      </a:lnTo>
                      <a:lnTo>
                        <a:pt x="89964" y="59979"/>
                      </a:lnTo>
                      <a:lnTo>
                        <a:pt x="91069" y="60608"/>
                      </a:lnTo>
                      <a:cubicBezTo>
                        <a:pt x="93707" y="61897"/>
                        <a:pt x="96793" y="61897"/>
                        <a:pt x="99431" y="60608"/>
                      </a:cubicBezTo>
                      <a:lnTo>
                        <a:pt x="100536" y="59979"/>
                      </a:lnTo>
                      <a:lnTo>
                        <a:pt x="190500" y="0"/>
                      </a:lnTo>
                      <a:close/>
                    </a:path>
                  </a:pathLst>
                </a:custGeom>
                <a:solidFill>
                  <a:srgbClr val="C96133"/>
                </a:solidFill>
                <a:ln>
                  <a:noFill/>
                </a:ln>
              </p:spPr>
            </p:sp>
            <p:sp>
              <p:nvSpPr>
                <p:cNvPr id="33" name="Freeform 33"/>
                <p:cNvSpPr/>
                <p:nvPr/>
              </p:nvSpPr>
              <p:spPr>
                <a:xfrm>
                  <a:off x="5833539" y="2495550"/>
                  <a:ext cx="182023" cy="7426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2023" h="74266">
                      <a:moveTo>
                        <a:pt x="157686" y="0"/>
                      </a:moveTo>
                      <a:cubicBezTo>
                        <a:pt x="167973" y="0"/>
                        <a:pt x="176994" y="5429"/>
                        <a:pt x="182023" y="13592"/>
                      </a:cubicBezTo>
                      <a:lnTo>
                        <a:pt x="91011" y="74266"/>
                      </a:lnTo>
                      <a:lnTo>
                        <a:pt x="0" y="13592"/>
                      </a:lnTo>
                      <a:cubicBezTo>
                        <a:pt x="4846" y="5722"/>
                        <a:pt x="13200" y="682"/>
                        <a:pt x="22422" y="67"/>
                      </a:cubicBezTo>
                      <a:lnTo>
                        <a:pt x="24336" y="0"/>
                      </a:lnTo>
                      <a:lnTo>
                        <a:pt x="157686" y="0"/>
                      </a:lnTo>
                      <a:close/>
                    </a:path>
                  </a:pathLst>
                </a:custGeom>
                <a:solidFill>
                  <a:srgbClr val="C96133"/>
                </a:solidFill>
                <a:ln>
                  <a:noFill/>
                </a:ln>
              </p:spPr>
            </p:sp>
          </p:grpSp>
          <p:sp>
            <p:nvSpPr>
              <p:cNvPr id="35" name="TextBox 35"/>
              <p:cNvSpPr txBox="1"/>
              <p:nvPr/>
            </p:nvSpPr>
            <p:spPr>
              <a:xfrm>
                <a:off x="6235065" y="2420302"/>
                <a:ext cx="33337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E9E9E"/>
                    </a:solidFill>
                    <a:latin typeface="Arial"/>
                    <a:ea typeface="Microsoft YaHei"/>
                    <a:cs typeface="Arial"/>
                  </a:rPr>
                  <a:t>邮件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6234112" y="2602706"/>
                <a:ext cx="229723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1E1E1E"/>
                    </a:solidFill>
                    <a:latin typeface="Consolas"/>
                    <a:ea typeface="Microsoft YaHei"/>
                    <a:cs typeface="Consolas"/>
                  </a:rPr>
                  <a:t>austin.aicourse@gmail.com</a:t>
                </a:r>
              </a:p>
            </p:txBody>
          </p:sp>
          <p:sp>
            <p:nvSpPr>
              <p:cNvPr id="37" name="Rectangle 37"/>
              <p:cNvSpPr/>
              <p:nvPr/>
            </p:nvSpPr>
            <p:spPr>
              <a:xfrm>
                <a:off x="5715000" y="2952750"/>
                <a:ext cx="419100" cy="419100"/>
              </a:xfrm>
              <a:prstGeom prst="roundRect">
                <a:avLst>
                  <a:gd name="adj" fmla="val 22727"/>
                </a:avLst>
              </a:prstGeom>
              <a:solidFill>
                <a:srgbClr val="F0EDE8"/>
              </a:solidFill>
              <a:ln>
                <a:noFill/>
              </a:ln>
            </p:spPr>
          </p:sp>
          <p:grpSp>
            <p:nvGrpSpPr>
              <p:cNvPr id="42" name="Group 42"/>
              <p:cNvGrpSpPr/>
              <p:nvPr/>
            </p:nvGrpSpPr>
            <p:grpSpPr>
              <a:xfrm>
                <a:off x="5854376" y="3056173"/>
                <a:ext cx="148445" cy="201645"/>
                <a:chOff x="5854376" y="3056173"/>
                <a:chExt cx="148445" cy="201645"/>
              </a:xfrm>
            </p:grpSpPr>
            <p:sp>
              <p:nvSpPr>
                <p:cNvPr id="38" name="Freeform 38"/>
                <p:cNvSpPr/>
                <p:nvPr/>
              </p:nvSpPr>
              <p:spPr>
                <a:xfrm>
                  <a:off x="5867400" y="3086098"/>
                  <a:ext cx="95625" cy="9598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625" h="95985">
                      <a:moveTo>
                        <a:pt x="47625" y="2"/>
                      </a:moveTo>
                      <a:cubicBezTo>
                        <a:pt x="73659" y="0"/>
                        <a:pt x="94870" y="20904"/>
                        <a:pt x="95248" y="46936"/>
                      </a:cubicBezTo>
                      <a:cubicBezTo>
                        <a:pt x="95625" y="72967"/>
                        <a:pt x="75030" y="94478"/>
                        <a:pt x="49007" y="95232"/>
                      </a:cubicBezTo>
                      <a:cubicBezTo>
                        <a:pt x="22984" y="95985"/>
                        <a:pt x="1178" y="75703"/>
                        <a:pt x="48" y="49693"/>
                      </a:cubicBezTo>
                      <a:lnTo>
                        <a:pt x="0" y="47627"/>
                      </a:lnTo>
                      <a:lnTo>
                        <a:pt x="48" y="45560"/>
                      </a:lnTo>
                      <a:cubicBezTo>
                        <a:pt x="1154" y="20086"/>
                        <a:pt x="22127" y="3"/>
                        <a:pt x="47625" y="2"/>
                      </a:cubicBezTo>
                      <a:close/>
                    </a:path>
                  </a:pathLst>
                </a:custGeom>
                <a:solidFill>
                  <a:srgbClr val="C96133"/>
                </a:solidFill>
                <a:ln>
                  <a:noFill/>
                </a:ln>
              </p:spPr>
            </p:sp>
            <p:sp>
              <p:nvSpPr>
                <p:cNvPr id="39" name="Freeform 39"/>
                <p:cNvSpPr/>
                <p:nvPr/>
              </p:nvSpPr>
              <p:spPr>
                <a:xfrm>
                  <a:off x="5854376" y="3056173"/>
                  <a:ext cx="148445" cy="16888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8445" h="168887">
                      <a:moveTo>
                        <a:pt x="90490" y="6134"/>
                      </a:moveTo>
                      <a:cubicBezTo>
                        <a:pt x="93111" y="1573"/>
                        <a:pt x="98931" y="0"/>
                        <a:pt x="103492" y="2619"/>
                      </a:cubicBezTo>
                      <a:cubicBezTo>
                        <a:pt x="131813" y="18897"/>
                        <a:pt x="148445" y="49833"/>
                        <a:pt x="146403" y="82435"/>
                      </a:cubicBezTo>
                      <a:cubicBezTo>
                        <a:pt x="144360" y="115037"/>
                        <a:pt x="123997" y="143656"/>
                        <a:pt x="93866" y="156272"/>
                      </a:cubicBezTo>
                      <a:cubicBezTo>
                        <a:pt x="63735" y="168887"/>
                        <a:pt x="29055" y="163314"/>
                        <a:pt x="4394" y="141893"/>
                      </a:cubicBezTo>
                      <a:cubicBezTo>
                        <a:pt x="422" y="138443"/>
                        <a:pt x="0" y="132425"/>
                        <a:pt x="3451" y="128454"/>
                      </a:cubicBezTo>
                      <a:cubicBezTo>
                        <a:pt x="6902" y="124482"/>
                        <a:pt x="12919" y="124060"/>
                        <a:pt x="16891" y="127511"/>
                      </a:cubicBezTo>
                      <a:cubicBezTo>
                        <a:pt x="36081" y="144179"/>
                        <a:pt x="63066" y="148515"/>
                        <a:pt x="86512" y="138699"/>
                      </a:cubicBezTo>
                      <a:cubicBezTo>
                        <a:pt x="109958" y="128882"/>
                        <a:pt x="125804" y="106613"/>
                        <a:pt x="127394" y="81244"/>
                      </a:cubicBezTo>
                      <a:cubicBezTo>
                        <a:pt x="128984" y="55876"/>
                        <a:pt x="116042" y="31802"/>
                        <a:pt x="94005" y="19135"/>
                      </a:cubicBezTo>
                      <a:cubicBezTo>
                        <a:pt x="89445" y="16515"/>
                        <a:pt x="87871" y="10695"/>
                        <a:pt x="90490" y="6134"/>
                      </a:cubicBezTo>
                      <a:close/>
                    </a:path>
                  </a:pathLst>
                </a:custGeom>
                <a:solidFill>
                  <a:srgbClr val="C96133"/>
                </a:solidFill>
                <a:ln>
                  <a:noFill/>
                </a:ln>
              </p:spPr>
            </p:sp>
            <p:sp>
              <p:nvSpPr>
                <p:cNvPr id="40" name="Freeform 40"/>
                <p:cNvSpPr/>
                <p:nvPr/>
              </p:nvSpPr>
              <p:spPr>
                <a:xfrm>
                  <a:off x="5905500" y="3200400"/>
                  <a:ext cx="19050" cy="574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50" h="57418">
                      <a:moveTo>
                        <a:pt x="9525" y="0"/>
                      </a:moveTo>
                      <a:cubicBezTo>
                        <a:pt x="14354" y="1"/>
                        <a:pt x="18418" y="3615"/>
                        <a:pt x="18983" y="8411"/>
                      </a:cubicBezTo>
                      <a:lnTo>
                        <a:pt x="19050" y="9525"/>
                      </a:lnTo>
                      <a:lnTo>
                        <a:pt x="19050" y="47625"/>
                      </a:lnTo>
                      <a:cubicBezTo>
                        <a:pt x="19044" y="52665"/>
                        <a:pt x="15114" y="56828"/>
                        <a:pt x="10083" y="57123"/>
                      </a:cubicBezTo>
                      <a:cubicBezTo>
                        <a:pt x="5052" y="57418"/>
                        <a:pt x="662" y="53744"/>
                        <a:pt x="67" y="48739"/>
                      </a:cubicBezTo>
                      <a:lnTo>
                        <a:pt x="0" y="47625"/>
                      </a:lnTo>
                      <a:lnTo>
                        <a:pt x="0" y="9525"/>
                      </a:lnTo>
                      <a:cubicBezTo>
                        <a:pt x="0" y="4264"/>
                        <a:pt x="4264" y="0"/>
                        <a:pt x="9525" y="0"/>
                      </a:cubicBezTo>
                      <a:close/>
                    </a:path>
                  </a:pathLst>
                </a:custGeom>
                <a:solidFill>
                  <a:srgbClr val="C96133"/>
                </a:solidFill>
                <a:ln>
                  <a:noFill/>
                </a:ln>
              </p:spPr>
            </p:sp>
            <p:sp>
              <p:nvSpPr>
                <p:cNvPr id="41" name="Freeform 41"/>
                <p:cNvSpPr/>
                <p:nvPr/>
              </p:nvSpPr>
              <p:spPr>
                <a:xfrm>
                  <a:off x="5867132" y="3238500"/>
                  <a:ext cx="95787" cy="19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787" h="19050">
                      <a:moveTo>
                        <a:pt x="85993" y="0"/>
                      </a:moveTo>
                      <a:cubicBezTo>
                        <a:pt x="91033" y="6"/>
                        <a:pt x="95196" y="3936"/>
                        <a:pt x="95491" y="8967"/>
                      </a:cubicBezTo>
                      <a:cubicBezTo>
                        <a:pt x="95787" y="13998"/>
                        <a:pt x="92112" y="18388"/>
                        <a:pt x="87108" y="18983"/>
                      </a:cubicBezTo>
                      <a:lnTo>
                        <a:pt x="85993" y="19050"/>
                      </a:lnTo>
                      <a:lnTo>
                        <a:pt x="9793" y="19050"/>
                      </a:lnTo>
                      <a:cubicBezTo>
                        <a:pt x="4754" y="19044"/>
                        <a:pt x="591" y="15114"/>
                        <a:pt x="295" y="10083"/>
                      </a:cubicBezTo>
                      <a:cubicBezTo>
                        <a:pt x="0" y="5052"/>
                        <a:pt x="3675" y="662"/>
                        <a:pt x="8679" y="67"/>
                      </a:cubicBezTo>
                      <a:lnTo>
                        <a:pt x="9793" y="0"/>
                      </a:lnTo>
                      <a:lnTo>
                        <a:pt x="85993" y="0"/>
                      </a:lnTo>
                      <a:close/>
                    </a:path>
                  </a:pathLst>
                </a:custGeom>
                <a:solidFill>
                  <a:srgbClr val="C96133"/>
                </a:solidFill>
                <a:ln>
                  <a:noFill/>
                </a:ln>
              </p:spPr>
            </p:sp>
          </p:grpSp>
          <p:sp>
            <p:nvSpPr>
              <p:cNvPr id="43" name="TextBox 43"/>
              <p:cNvSpPr txBox="1"/>
              <p:nvPr/>
            </p:nvSpPr>
            <p:spPr>
              <a:xfrm>
                <a:off x="6235065" y="3010852"/>
                <a:ext cx="48672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E9E9E"/>
                    </a:solidFill>
                    <a:latin typeface="Arial"/>
                    <a:ea typeface="Microsoft YaHei"/>
                    <a:cs typeface="Arial"/>
                  </a:rPr>
                  <a:t>讲武堂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6234112" y="3193256"/>
                <a:ext cx="150363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1E1E1E"/>
                    </a:solidFill>
                    <a:latin typeface="Consolas"/>
                    <a:ea typeface="Microsoft YaHei"/>
                    <a:cs typeface="Consolas"/>
                  </a:rPr>
                  <a:t>elitecoach101.com</a:t>
                </a:r>
              </a:p>
            </p:txBody>
          </p:sp>
        </p:grpSp>
        <p:sp>
          <p:nvSpPr>
            <p:cNvPr id="46" name="Rectangle 46"/>
            <p:cNvSpPr/>
            <p:nvPr/>
          </p:nvSpPr>
          <p:spPr>
            <a:xfrm>
              <a:off x="5715000" y="3600450"/>
              <a:ext cx="5715000" cy="838200"/>
            </a:xfrm>
            <a:prstGeom prst="roundRect">
              <a:avLst>
                <a:gd name="adj" fmla="val 13636"/>
              </a:avLst>
            </a:prstGeom>
            <a:solidFill>
              <a:srgbClr val="1E1E1E"/>
            </a:solidFill>
            <a:ln>
              <a:noFill/>
            </a:ln>
          </p:spPr>
        </p:sp>
        <p:sp>
          <p:nvSpPr>
            <p:cNvPr id="47" name="Freeform 47"/>
            <p:cNvSpPr/>
            <p:nvPr/>
          </p:nvSpPr>
          <p:spPr>
            <a:xfrm>
              <a:off x="5994416" y="3857625"/>
              <a:ext cx="320545" cy="301625"/>
            </a:xfrm>
            <a:custGeom>
              <a:avLst/>
              <a:gdLst/>
              <a:ahLst/>
              <a:cxnLst/>
              <a:rect l="l" t="t" r="r" b="b"/>
              <a:pathLst>
                <a:path w="320545" h="301625">
                  <a:moveTo>
                    <a:pt x="238109" y="0"/>
                  </a:moveTo>
                  <a:cubicBezTo>
                    <a:pt x="246157" y="1"/>
                    <a:pt x="252931" y="6025"/>
                    <a:pt x="253873" y="14018"/>
                  </a:cubicBezTo>
                  <a:lnTo>
                    <a:pt x="253984" y="15875"/>
                  </a:lnTo>
                  <a:lnTo>
                    <a:pt x="253984" y="50324"/>
                  </a:lnTo>
                  <a:cubicBezTo>
                    <a:pt x="273716" y="43371"/>
                    <a:pt x="295674" y="50110"/>
                    <a:pt x="308109" y="66934"/>
                  </a:cubicBezTo>
                  <a:cubicBezTo>
                    <a:pt x="320545" y="83758"/>
                    <a:pt x="320545" y="106727"/>
                    <a:pt x="308109" y="123550"/>
                  </a:cubicBezTo>
                  <a:cubicBezTo>
                    <a:pt x="295674" y="140374"/>
                    <a:pt x="273716" y="147113"/>
                    <a:pt x="253984" y="140160"/>
                  </a:cubicBezTo>
                  <a:lnTo>
                    <a:pt x="253984" y="142875"/>
                  </a:lnTo>
                  <a:cubicBezTo>
                    <a:pt x="253978" y="189355"/>
                    <a:pt x="220437" y="229048"/>
                    <a:pt x="174609" y="236807"/>
                  </a:cubicBezTo>
                  <a:lnTo>
                    <a:pt x="174609" y="269875"/>
                  </a:lnTo>
                  <a:lnTo>
                    <a:pt x="222234" y="269875"/>
                  </a:lnTo>
                  <a:cubicBezTo>
                    <a:pt x="230633" y="269884"/>
                    <a:pt x="237572" y="276435"/>
                    <a:pt x="238064" y="284820"/>
                  </a:cubicBezTo>
                  <a:cubicBezTo>
                    <a:pt x="238556" y="293205"/>
                    <a:pt x="232432" y="300522"/>
                    <a:pt x="224091" y="301514"/>
                  </a:cubicBezTo>
                  <a:lnTo>
                    <a:pt x="222234" y="301625"/>
                  </a:lnTo>
                  <a:lnTo>
                    <a:pt x="95234" y="301625"/>
                  </a:lnTo>
                  <a:cubicBezTo>
                    <a:pt x="86835" y="301616"/>
                    <a:pt x="79896" y="295065"/>
                    <a:pt x="79404" y="286680"/>
                  </a:cubicBezTo>
                  <a:cubicBezTo>
                    <a:pt x="78912" y="278295"/>
                    <a:pt x="85036" y="270978"/>
                    <a:pt x="93377" y="269986"/>
                  </a:cubicBezTo>
                  <a:lnTo>
                    <a:pt x="95234" y="269875"/>
                  </a:lnTo>
                  <a:lnTo>
                    <a:pt x="142859" y="269875"/>
                  </a:lnTo>
                  <a:lnTo>
                    <a:pt x="142859" y="236807"/>
                  </a:lnTo>
                  <a:cubicBezTo>
                    <a:pt x="98357" y="229274"/>
                    <a:pt x="65246" y="191550"/>
                    <a:pt x="63548" y="146447"/>
                  </a:cubicBezTo>
                  <a:lnTo>
                    <a:pt x="63484" y="142875"/>
                  </a:lnTo>
                  <a:lnTo>
                    <a:pt x="63484" y="140160"/>
                  </a:lnTo>
                  <a:cubicBezTo>
                    <a:pt x="49368" y="145157"/>
                    <a:pt x="33725" y="143224"/>
                    <a:pt x="21250" y="134942"/>
                  </a:cubicBezTo>
                  <a:cubicBezTo>
                    <a:pt x="8775" y="126660"/>
                    <a:pt x="921" y="112993"/>
                    <a:pt x="48" y="98044"/>
                  </a:cubicBezTo>
                  <a:lnTo>
                    <a:pt x="0" y="95250"/>
                  </a:lnTo>
                  <a:lnTo>
                    <a:pt x="79" y="92456"/>
                  </a:lnTo>
                  <a:cubicBezTo>
                    <a:pt x="950" y="77509"/>
                    <a:pt x="8799" y="63841"/>
                    <a:pt x="21270" y="55556"/>
                  </a:cubicBezTo>
                  <a:cubicBezTo>
                    <a:pt x="33742" y="47270"/>
                    <a:pt x="49384" y="45332"/>
                    <a:pt x="63500" y="50324"/>
                  </a:cubicBezTo>
                  <a:lnTo>
                    <a:pt x="63484" y="15875"/>
                  </a:lnTo>
                  <a:cubicBezTo>
                    <a:pt x="63484" y="7107"/>
                    <a:pt x="70592" y="0"/>
                    <a:pt x="79359" y="0"/>
                  </a:cubicBezTo>
                  <a:lnTo>
                    <a:pt x="238109" y="0"/>
                  </a:lnTo>
                  <a:close/>
                  <a:moveTo>
                    <a:pt x="47609" y="79375"/>
                  </a:moveTo>
                  <a:cubicBezTo>
                    <a:pt x="38842" y="79375"/>
                    <a:pt x="31734" y="86482"/>
                    <a:pt x="31734" y="95250"/>
                  </a:cubicBezTo>
                  <a:cubicBezTo>
                    <a:pt x="31734" y="104018"/>
                    <a:pt x="38842" y="111125"/>
                    <a:pt x="47609" y="111125"/>
                  </a:cubicBezTo>
                  <a:cubicBezTo>
                    <a:pt x="56377" y="111125"/>
                    <a:pt x="63484" y="104018"/>
                    <a:pt x="63484" y="95250"/>
                  </a:cubicBezTo>
                  <a:cubicBezTo>
                    <a:pt x="63484" y="86482"/>
                    <a:pt x="56377" y="79375"/>
                    <a:pt x="47609" y="79375"/>
                  </a:cubicBezTo>
                  <a:moveTo>
                    <a:pt x="269859" y="79375"/>
                  </a:moveTo>
                  <a:cubicBezTo>
                    <a:pt x="261092" y="79375"/>
                    <a:pt x="253984" y="86482"/>
                    <a:pt x="253984" y="95250"/>
                  </a:cubicBezTo>
                  <a:cubicBezTo>
                    <a:pt x="253984" y="104018"/>
                    <a:pt x="261092" y="111125"/>
                    <a:pt x="269859" y="111125"/>
                  </a:cubicBezTo>
                  <a:cubicBezTo>
                    <a:pt x="278627" y="111125"/>
                    <a:pt x="285734" y="104018"/>
                    <a:pt x="285734" y="95250"/>
                  </a:cubicBezTo>
                  <a:cubicBezTo>
                    <a:pt x="285734" y="86482"/>
                    <a:pt x="278627" y="79375"/>
                    <a:pt x="269859" y="79375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485572" y="3739991"/>
              <a:ext cx="382429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5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下一站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475095" y="3879532"/>
              <a:ext cx="1142598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Demo Day</a:t>
              </a:r>
            </a:p>
          </p:txBody>
        </p:sp>
        <p:grpSp>
          <p:nvGrpSpPr>
            <p:cNvPr id="58" name="Group 58"/>
            <p:cNvGrpSpPr/>
            <p:nvPr/>
          </p:nvGrpSpPr>
          <p:grpSpPr>
            <a:xfrm>
              <a:off x="5701665" y="4610100"/>
              <a:ext cx="5728335" cy="1181100"/>
              <a:chOff x="5701665" y="4610100"/>
              <a:chExt cx="5728335" cy="1181100"/>
            </a:xfrm>
          </p:grpSpPr>
          <p:sp>
            <p:nvSpPr>
              <p:cNvPr id="50" name="Line 50"/>
              <p:cNvSpPr/>
              <p:nvPr/>
            </p:nvSpPr>
            <p:spPr>
              <a:xfrm>
                <a:off x="5715000" y="4610100"/>
                <a:ext cx="57150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715000" h="9525">
                    <a:moveTo>
                      <a:pt x="0" y="0"/>
                    </a:moveTo>
                    <a:lnTo>
                      <a:pt x="5715000" y="0"/>
                    </a:lnTo>
                  </a:path>
                </a:pathLst>
              </a:custGeom>
              <a:noFill/>
              <a:ln w="9525">
                <a:solidFill>
                  <a:srgbClr val="E0D8D0"/>
                </a:solidFill>
              </a:ln>
            </p:spPr>
          </p:sp>
          <p:sp>
            <p:nvSpPr>
              <p:cNvPr id="51" name="TextBox 51"/>
              <p:cNvSpPr txBox="1"/>
              <p:nvPr/>
            </p:nvSpPr>
            <p:spPr>
              <a:xfrm>
                <a:off x="5701665" y="4725352"/>
                <a:ext cx="79343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E9E9E"/>
                    </a:solidFill>
                    <a:latin typeface="Arial"/>
                    <a:ea typeface="Microsoft YaHei"/>
                    <a:cs typeface="Arial"/>
                  </a:rPr>
                  <a:t>现在可以做</a:t>
                </a:r>
              </a:p>
            </p:txBody>
          </p:sp>
          <p:sp>
            <p:nvSpPr>
              <p:cNvPr id="52" name="Rectangle 52"/>
              <p:cNvSpPr/>
              <p:nvPr/>
            </p:nvSpPr>
            <p:spPr>
              <a:xfrm>
                <a:off x="5715000" y="4953000"/>
                <a:ext cx="114300" cy="114300"/>
              </a:xfrm>
              <a:prstGeom prst="roundRect">
                <a:avLst>
                  <a:gd name="adj" fmla="val 25000"/>
                </a:avLst>
              </a:prstGeom>
              <a:solidFill>
                <a:srgbClr val="C96133"/>
              </a:solidFill>
              <a:ln>
                <a:noFill/>
              </a:ln>
            </p:spPr>
          </p:sp>
          <p:sp>
            <p:nvSpPr>
              <p:cNvPr id="53" name="TextBox 53"/>
              <p:cNvSpPr txBox="1"/>
              <p:nvPr/>
            </p:nvSpPr>
            <p:spPr>
              <a:xfrm>
                <a:off x="5909310" y="4937760"/>
                <a:ext cx="2335149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1E1E1E"/>
                    </a:solidFill>
                    <a:latin typeface="Arial"/>
                    <a:ea typeface="Microsoft YaHei"/>
                    <a:cs typeface="Arial"/>
                  </a:rPr>
                  <a:t>完成 6 步作业，做出你的网站</a:t>
                </a:r>
              </a:p>
            </p:txBody>
          </p:sp>
          <p:sp>
            <p:nvSpPr>
              <p:cNvPr id="54" name="Rectangle 54"/>
              <p:cNvSpPr/>
              <p:nvPr/>
            </p:nvSpPr>
            <p:spPr>
              <a:xfrm>
                <a:off x="5715000" y="5257800"/>
                <a:ext cx="114300" cy="114300"/>
              </a:xfrm>
              <a:prstGeom prst="roundRect">
                <a:avLst>
                  <a:gd name="adj" fmla="val 25000"/>
                </a:avLst>
              </a:prstGeom>
              <a:solidFill>
                <a:srgbClr val="3D7DE4"/>
              </a:solidFill>
              <a:ln>
                <a:noFill/>
              </a:ln>
            </p:spPr>
          </p:sp>
          <p:sp>
            <p:nvSpPr>
              <p:cNvPr id="55" name="TextBox 55"/>
              <p:cNvSpPr txBox="1"/>
              <p:nvPr/>
            </p:nvSpPr>
            <p:spPr>
              <a:xfrm>
                <a:off x="5909310" y="5242560"/>
                <a:ext cx="1783080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1E1E1E"/>
                    </a:solidFill>
                    <a:latin typeface="Arial"/>
                    <a:ea typeface="Microsoft YaHei"/>
                    <a:cs typeface="Arial"/>
                  </a:rPr>
                  <a:t>把链接发到微信群分享</a:t>
                </a:r>
              </a:p>
            </p:txBody>
          </p:sp>
          <p:sp>
            <p:nvSpPr>
              <p:cNvPr id="56" name="Rectangle 56"/>
              <p:cNvSpPr/>
              <p:nvPr/>
            </p:nvSpPr>
            <p:spPr>
              <a:xfrm>
                <a:off x="5715000" y="5562600"/>
                <a:ext cx="114300" cy="114300"/>
              </a:xfrm>
              <a:prstGeom prst="roundRect">
                <a:avLst>
                  <a:gd name="adj" fmla="val 25000"/>
                </a:avLst>
              </a:prstGeom>
              <a:solidFill>
                <a:srgbClr val="3A9E6A"/>
              </a:solidFill>
              <a:ln>
                <a:noFill/>
              </a:ln>
            </p:spPr>
          </p:sp>
          <p:sp>
            <p:nvSpPr>
              <p:cNvPr id="57" name="TextBox 57"/>
              <p:cNvSpPr txBox="1"/>
              <p:nvPr/>
            </p:nvSpPr>
            <p:spPr>
              <a:xfrm>
                <a:off x="5909310" y="5547360"/>
                <a:ext cx="2072259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1E1E1E"/>
                    </a:solidFill>
                    <a:latin typeface="Arial"/>
                    <a:ea typeface="Microsoft YaHei"/>
                    <a:cs typeface="Arial"/>
                  </a:rPr>
                  <a:t>报名 Demo Day，展示作品</a:t>
                </a:r>
              </a:p>
            </p:txBody>
          </p:sp>
        </p:grpSp>
      </p:grpSp>
      <p:sp>
        <p:nvSpPr>
          <p:cNvPr id="60" name="TextBox 60"/>
          <p:cNvSpPr txBox="1"/>
          <p:nvPr/>
        </p:nvSpPr>
        <p:spPr>
          <a:xfrm>
            <a:off x="11131772" y="6554152"/>
            <a:ext cx="50206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21 / 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5" presetClass="entr" presetSubtype="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1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59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762000" y="280035"/>
            <a:ext cx="10668000" cy="796290"/>
            <a:chOff x="762000" y="280035"/>
            <a:chExt cx="10668000" cy="796290"/>
          </a:xfrm>
        </p:grpSpPr>
        <p:sp>
          <p:nvSpPr>
            <p:cNvPr id="4" name="TextBox 4"/>
            <p:cNvSpPr txBox="1"/>
            <p:nvPr/>
          </p:nvSpPr>
          <p:spPr>
            <a:xfrm>
              <a:off x="5233606" y="280035"/>
              <a:ext cx="1724787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7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参考资料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4762500" y="714375"/>
              <a:ext cx="26670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今天课程涉及的工具与链接</a:t>
              </a:r>
            </a:p>
          </p:txBody>
        </p:sp>
        <p:sp>
          <p:nvSpPr>
            <p:cNvPr id="6" name="Line 6"/>
            <p:cNvSpPr/>
            <p:nvPr/>
          </p:nvSpPr>
          <p:spPr>
            <a:xfrm>
              <a:off x="762000" y="10668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4288">
              <a:solidFill>
                <a:srgbClr val="E0D8D0"/>
              </a:solidFill>
            </a:ln>
          </p:spPr>
        </p:sp>
      </p:grpSp>
      <p:grpSp>
        <p:nvGrpSpPr>
          <p:cNvPr id="25" name="Group 25"/>
          <p:cNvGrpSpPr/>
          <p:nvPr/>
        </p:nvGrpSpPr>
        <p:grpSpPr>
          <a:xfrm>
            <a:off x="762000" y="1219200"/>
            <a:ext cx="3429000" cy="2476500"/>
            <a:chOff x="762000" y="1219200"/>
            <a:chExt cx="3429000" cy="2476500"/>
          </a:xfrm>
        </p:grpSpPr>
        <p:sp>
          <p:nvSpPr>
            <p:cNvPr id="8" name="Rectangle 8"/>
            <p:cNvSpPr/>
            <p:nvPr/>
          </p:nvSpPr>
          <p:spPr>
            <a:xfrm>
              <a:off x="762000" y="1219200"/>
              <a:ext cx="3429000" cy="2476500"/>
            </a:xfrm>
            <a:prstGeom prst="roundRect">
              <a:avLst>
                <a:gd name="adj" fmla="val 5385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1219200"/>
              <a:ext cx="3429000" cy="47625"/>
            </a:xfrm>
            <a:prstGeom prst="roundRect">
              <a:avLst>
                <a:gd name="adj" fmla="val 40000"/>
              </a:avLst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3048000" y="1371600"/>
              <a:ext cx="990600" cy="228600"/>
            </a:xfrm>
            <a:prstGeom prst="roundRect">
              <a:avLst>
                <a:gd name="adj" fmla="val 50000"/>
              </a:avLst>
            </a:prstGeom>
            <a:solidFill>
              <a:srgbClr val="F0EDE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3117818" y="1426845"/>
              <a:ext cx="850964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今日核心工具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1028700" y="1466850"/>
              <a:ext cx="495300" cy="495300"/>
            </a:xfrm>
            <a:prstGeom prst="roundRect">
              <a:avLst>
                <a:gd name="adj" fmla="val 23077"/>
              </a:avLst>
            </a:prstGeom>
            <a:solidFill>
              <a:srgbClr val="C96133">
                <a:alpha val="10000"/>
              </a:srgbClr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1149350" y="1587500"/>
              <a:ext cx="254000" cy="254260"/>
            </a:xfrm>
            <a:custGeom>
              <a:avLst/>
              <a:gdLst/>
              <a:ahLst/>
              <a:cxnLst/>
              <a:rect l="l" t="t" r="r" b="b"/>
              <a:pathLst>
                <a:path w="254000" h="254260">
                  <a:moveTo>
                    <a:pt x="127000" y="0"/>
                  </a:moveTo>
                  <a:cubicBezTo>
                    <a:pt x="196825" y="0"/>
                    <a:pt x="254000" y="50825"/>
                    <a:pt x="254000" y="114300"/>
                  </a:cubicBezTo>
                  <a:cubicBezTo>
                    <a:pt x="254000" y="131458"/>
                    <a:pt x="246380" y="147828"/>
                    <a:pt x="232994" y="159715"/>
                  </a:cubicBezTo>
                  <a:cubicBezTo>
                    <a:pt x="219913" y="171323"/>
                    <a:pt x="202362" y="177800"/>
                    <a:pt x="184150" y="177800"/>
                  </a:cubicBezTo>
                  <a:lnTo>
                    <a:pt x="152197" y="177800"/>
                  </a:lnTo>
                  <a:cubicBezTo>
                    <a:pt x="146368" y="177706"/>
                    <a:pt x="141223" y="181593"/>
                    <a:pt x="139721" y="187226"/>
                  </a:cubicBezTo>
                  <a:cubicBezTo>
                    <a:pt x="138219" y="192859"/>
                    <a:pt x="140745" y="198791"/>
                    <a:pt x="145847" y="201613"/>
                  </a:cubicBezTo>
                  <a:cubicBezTo>
                    <a:pt x="146736" y="202104"/>
                    <a:pt x="147563" y="202701"/>
                    <a:pt x="148311" y="203391"/>
                  </a:cubicBezTo>
                  <a:cubicBezTo>
                    <a:pt x="157214" y="211606"/>
                    <a:pt x="160122" y="224464"/>
                    <a:pt x="155620" y="235712"/>
                  </a:cubicBezTo>
                  <a:cubicBezTo>
                    <a:pt x="151118" y="246959"/>
                    <a:pt x="140142" y="254260"/>
                    <a:pt x="128029" y="254064"/>
                  </a:cubicBezTo>
                  <a:lnTo>
                    <a:pt x="126048" y="253949"/>
                  </a:lnTo>
                  <a:lnTo>
                    <a:pt x="126911" y="254000"/>
                  </a:lnTo>
                  <a:lnTo>
                    <a:pt x="123444" y="253949"/>
                  </a:lnTo>
                  <a:cubicBezTo>
                    <a:pt x="56134" y="252095"/>
                    <a:pt x="1905" y="197866"/>
                    <a:pt x="51" y="130556"/>
                  </a:cubicBezTo>
                  <a:lnTo>
                    <a:pt x="0" y="127000"/>
                  </a:lnTo>
                  <a:cubicBezTo>
                    <a:pt x="0" y="56858"/>
                    <a:pt x="56858" y="0"/>
                    <a:pt x="127000" y="0"/>
                  </a:cubicBezTo>
                  <a:moveTo>
                    <a:pt x="82550" y="82550"/>
                  </a:moveTo>
                  <a:cubicBezTo>
                    <a:pt x="69258" y="82546"/>
                    <a:pt x="58210" y="92790"/>
                    <a:pt x="57213" y="106045"/>
                  </a:cubicBezTo>
                  <a:lnTo>
                    <a:pt x="57150" y="107950"/>
                  </a:lnTo>
                  <a:cubicBezTo>
                    <a:pt x="57150" y="121978"/>
                    <a:pt x="68522" y="133350"/>
                    <a:pt x="82550" y="133350"/>
                  </a:cubicBezTo>
                  <a:cubicBezTo>
                    <a:pt x="96578" y="133350"/>
                    <a:pt x="107950" y="121978"/>
                    <a:pt x="107950" y="107950"/>
                  </a:cubicBezTo>
                  <a:cubicBezTo>
                    <a:pt x="107950" y="93922"/>
                    <a:pt x="96578" y="82550"/>
                    <a:pt x="82550" y="82550"/>
                  </a:cubicBezTo>
                  <a:moveTo>
                    <a:pt x="184150" y="82550"/>
                  </a:moveTo>
                  <a:cubicBezTo>
                    <a:pt x="170858" y="82546"/>
                    <a:pt x="159810" y="92790"/>
                    <a:pt x="158814" y="106045"/>
                  </a:cubicBezTo>
                  <a:lnTo>
                    <a:pt x="158750" y="107950"/>
                  </a:lnTo>
                  <a:cubicBezTo>
                    <a:pt x="158750" y="121978"/>
                    <a:pt x="170122" y="133350"/>
                    <a:pt x="184150" y="133350"/>
                  </a:cubicBezTo>
                  <a:cubicBezTo>
                    <a:pt x="198178" y="133350"/>
                    <a:pt x="209550" y="121978"/>
                    <a:pt x="209550" y="107950"/>
                  </a:cubicBezTo>
                  <a:cubicBezTo>
                    <a:pt x="209550" y="93922"/>
                    <a:pt x="198178" y="82550"/>
                    <a:pt x="184150" y="82550"/>
                  </a:cubicBezTo>
                  <a:moveTo>
                    <a:pt x="133350" y="44450"/>
                  </a:moveTo>
                  <a:cubicBezTo>
                    <a:pt x="120058" y="44446"/>
                    <a:pt x="109010" y="54690"/>
                    <a:pt x="108013" y="67945"/>
                  </a:cubicBezTo>
                  <a:lnTo>
                    <a:pt x="107950" y="69850"/>
                  </a:lnTo>
                  <a:cubicBezTo>
                    <a:pt x="107950" y="83878"/>
                    <a:pt x="119322" y="95250"/>
                    <a:pt x="133350" y="95250"/>
                  </a:cubicBezTo>
                  <a:cubicBezTo>
                    <a:pt x="147378" y="95250"/>
                    <a:pt x="158750" y="83878"/>
                    <a:pt x="158750" y="69850"/>
                  </a:cubicBezTo>
                  <a:cubicBezTo>
                    <a:pt x="158750" y="55822"/>
                    <a:pt x="147378" y="44450"/>
                    <a:pt x="133350" y="44450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638300" y="1504950"/>
              <a:ext cx="1510284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Claude Design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644968" y="1771174"/>
              <a:ext cx="104291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AI 视觉设计工具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952500" y="2114550"/>
              <a:ext cx="3086100" cy="9525"/>
            </a:xfrm>
            <a:custGeom>
              <a:avLst/>
              <a:gdLst/>
              <a:ahLst/>
              <a:cxnLst/>
              <a:rect l="l" t="t" r="r" b="b"/>
              <a:pathLst>
                <a:path w="3086100" h="9525">
                  <a:moveTo>
                    <a:pt x="0" y="0"/>
                  </a:moveTo>
                  <a:lnTo>
                    <a:pt x="3086100" y="0"/>
                  </a:lnTo>
                </a:path>
              </a:pathLst>
            </a:custGeom>
            <a:noFill/>
            <a:ln w="9525">
              <a:solidFill>
                <a:srgbClr val="F0EDE8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952500" y="2228850"/>
              <a:ext cx="3048000" cy="304800"/>
            </a:xfrm>
            <a:prstGeom prst="roundRect">
              <a:avLst>
                <a:gd name="adj" fmla="val 25000"/>
              </a:avLst>
            </a:prstGeom>
            <a:solidFill>
              <a:srgbClr val="F0EDE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2078352" y="2307431"/>
              <a:ext cx="79629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C96133"/>
                  </a:solidFill>
                  <a:latin typeface="Consolas"/>
                  <a:ea typeface="Microsoft YaHei"/>
                  <a:cs typeface="Consolas"/>
                </a:rPr>
                <a:t>claude.ai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1019175" y="2714625"/>
              <a:ext cx="57150" cy="57150"/>
            </a:xfrm>
            <a:prstGeom prst="ellipse">
              <a:avLst/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148715" y="2667952"/>
              <a:ext cx="173655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生成配色方案 · 页面布局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1019175" y="2981325"/>
              <a:ext cx="57150" cy="57150"/>
            </a:xfrm>
            <a:prstGeom prst="ellipse">
              <a:avLst/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148715" y="2934652"/>
              <a:ext cx="199725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输出设计规范给 Claude Code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19175" y="3248025"/>
              <a:ext cx="57150" cy="57150"/>
            </a:xfrm>
            <a:prstGeom prst="ellipse">
              <a:avLst/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1148715" y="3201352"/>
              <a:ext cx="206625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免费 · 无需安装 · 浏览器直用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4381500" y="1219200"/>
            <a:ext cx="3429000" cy="2476500"/>
            <a:chOff x="4381500" y="1219200"/>
            <a:chExt cx="3429000" cy="2476500"/>
          </a:xfrm>
        </p:grpSpPr>
        <p:sp>
          <p:nvSpPr>
            <p:cNvPr id="26" name="Rectangle 26"/>
            <p:cNvSpPr/>
            <p:nvPr/>
          </p:nvSpPr>
          <p:spPr>
            <a:xfrm>
              <a:off x="4381500" y="1219200"/>
              <a:ext cx="3429000" cy="2476500"/>
            </a:xfrm>
            <a:prstGeom prst="roundRect">
              <a:avLst>
                <a:gd name="adj" fmla="val 5385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4381500" y="1219200"/>
              <a:ext cx="3429000" cy="47625"/>
            </a:xfrm>
            <a:prstGeom prst="roundRect">
              <a:avLst>
                <a:gd name="adj" fmla="val 40000"/>
              </a:avLst>
            </a:prstGeom>
            <a:solidFill>
              <a:srgbClr val="3D7DE4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6667500" y="1371600"/>
              <a:ext cx="990600" cy="228600"/>
            </a:xfrm>
            <a:prstGeom prst="roundRect">
              <a:avLst>
                <a:gd name="adj" fmla="val 50000"/>
              </a:avLst>
            </a:prstGeom>
            <a:solidFill>
              <a:srgbClr val="EBF0F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737318" y="1426845"/>
              <a:ext cx="850964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3D7DE4"/>
                  </a:solidFill>
                  <a:latin typeface="Arial"/>
                  <a:ea typeface="Microsoft YaHei"/>
                  <a:cs typeface="Arial"/>
                </a:rPr>
                <a:t>今日核心工具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4648200" y="1466850"/>
              <a:ext cx="495300" cy="495300"/>
            </a:xfrm>
            <a:prstGeom prst="roundRect">
              <a:avLst>
                <a:gd name="adj" fmla="val 23077"/>
              </a:avLst>
            </a:prstGeom>
            <a:solidFill>
              <a:srgbClr val="3D7DE4">
                <a:alpha val="10000"/>
              </a:srgbClr>
            </a:solidFill>
            <a:ln>
              <a:noFill/>
            </a:ln>
          </p:spPr>
        </p:sp>
        <p:sp>
          <p:nvSpPr>
            <p:cNvPr id="31" name="Freeform 31"/>
            <p:cNvSpPr/>
            <p:nvPr/>
          </p:nvSpPr>
          <p:spPr>
            <a:xfrm>
              <a:off x="4768848" y="1581811"/>
              <a:ext cx="267422" cy="268466"/>
            </a:xfrm>
            <a:custGeom>
              <a:avLst/>
              <a:gdLst/>
              <a:ahLst/>
              <a:cxnLst/>
              <a:rect l="l" t="t" r="r" b="b"/>
              <a:pathLst>
                <a:path w="267422" h="268466">
                  <a:moveTo>
                    <a:pt x="190502" y="22707"/>
                  </a:moveTo>
                  <a:cubicBezTo>
                    <a:pt x="243877" y="53523"/>
                    <a:pt x="267422" y="118214"/>
                    <a:pt x="246342" y="176130"/>
                  </a:cubicBezTo>
                  <a:cubicBezTo>
                    <a:pt x="225262" y="234045"/>
                    <a:pt x="165642" y="268466"/>
                    <a:pt x="104946" y="257762"/>
                  </a:cubicBezTo>
                  <a:cubicBezTo>
                    <a:pt x="44250" y="247059"/>
                    <a:pt x="0" y="194322"/>
                    <a:pt x="2" y="132689"/>
                  </a:cubicBezTo>
                  <a:lnTo>
                    <a:pt x="65" y="128574"/>
                  </a:lnTo>
                  <a:cubicBezTo>
                    <a:pt x="1512" y="83959"/>
                    <a:pt x="26276" y="43379"/>
                    <a:pt x="65291" y="21689"/>
                  </a:cubicBezTo>
                  <a:cubicBezTo>
                    <a:pt x="104306" y="0"/>
                    <a:pt x="151844" y="386"/>
                    <a:pt x="190502" y="22707"/>
                  </a:cubicBezTo>
                  <a:moveTo>
                    <a:pt x="110580" y="98310"/>
                  </a:moveTo>
                  <a:cubicBezTo>
                    <a:pt x="105621" y="93352"/>
                    <a:pt x="97582" y="93352"/>
                    <a:pt x="92623" y="98310"/>
                  </a:cubicBezTo>
                  <a:lnTo>
                    <a:pt x="67223" y="123710"/>
                  </a:lnTo>
                  <a:cubicBezTo>
                    <a:pt x="62265" y="128669"/>
                    <a:pt x="62265" y="136708"/>
                    <a:pt x="67223" y="141668"/>
                  </a:cubicBezTo>
                  <a:lnTo>
                    <a:pt x="92623" y="167068"/>
                  </a:lnTo>
                  <a:cubicBezTo>
                    <a:pt x="97582" y="172026"/>
                    <a:pt x="105621" y="172026"/>
                    <a:pt x="110580" y="167068"/>
                  </a:cubicBezTo>
                  <a:lnTo>
                    <a:pt x="111635" y="165874"/>
                  </a:lnTo>
                  <a:cubicBezTo>
                    <a:pt x="115556" y="160818"/>
                    <a:pt x="115105" y="153635"/>
                    <a:pt x="110580" y="149110"/>
                  </a:cubicBezTo>
                  <a:lnTo>
                    <a:pt x="94172" y="132689"/>
                  </a:lnTo>
                  <a:lnTo>
                    <a:pt x="110580" y="116268"/>
                  </a:lnTo>
                  <a:cubicBezTo>
                    <a:pt x="115538" y="111308"/>
                    <a:pt x="115538" y="103269"/>
                    <a:pt x="110580" y="98310"/>
                  </a:cubicBezTo>
                  <a:moveTo>
                    <a:pt x="161380" y="98310"/>
                  </a:moveTo>
                  <a:cubicBezTo>
                    <a:pt x="156421" y="93352"/>
                    <a:pt x="148382" y="93352"/>
                    <a:pt x="143423" y="98310"/>
                  </a:cubicBezTo>
                  <a:lnTo>
                    <a:pt x="142369" y="99504"/>
                  </a:lnTo>
                  <a:cubicBezTo>
                    <a:pt x="138447" y="104559"/>
                    <a:pt x="138898" y="111743"/>
                    <a:pt x="143423" y="116268"/>
                  </a:cubicBezTo>
                  <a:lnTo>
                    <a:pt x="159831" y="132689"/>
                  </a:lnTo>
                  <a:lnTo>
                    <a:pt x="143423" y="149110"/>
                  </a:lnTo>
                  <a:cubicBezTo>
                    <a:pt x="138610" y="154093"/>
                    <a:pt x="138679" y="162014"/>
                    <a:pt x="143577" y="166913"/>
                  </a:cubicBezTo>
                  <a:cubicBezTo>
                    <a:pt x="148476" y="171812"/>
                    <a:pt x="156397" y="171881"/>
                    <a:pt x="161380" y="167068"/>
                  </a:cubicBezTo>
                  <a:lnTo>
                    <a:pt x="186780" y="141668"/>
                  </a:lnTo>
                  <a:cubicBezTo>
                    <a:pt x="191738" y="136708"/>
                    <a:pt x="191738" y="128669"/>
                    <a:pt x="186780" y="123710"/>
                  </a:cubicBezTo>
                  <a:close/>
                </a:path>
              </a:pathLst>
            </a:custGeom>
            <a:solidFill>
              <a:srgbClr val="3D7DE4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5257800" y="1504950"/>
              <a:ext cx="1314760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Claude Code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5264468" y="1771174"/>
              <a:ext cx="1121235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CLI 全栈开发工具</a:t>
              </a:r>
            </a:p>
          </p:txBody>
        </p:sp>
        <p:sp>
          <p:nvSpPr>
            <p:cNvPr id="34" name="Line 34"/>
            <p:cNvSpPr/>
            <p:nvPr/>
          </p:nvSpPr>
          <p:spPr>
            <a:xfrm>
              <a:off x="4572000" y="2114550"/>
              <a:ext cx="3086100" cy="9525"/>
            </a:xfrm>
            <a:custGeom>
              <a:avLst/>
              <a:gdLst/>
              <a:ahLst/>
              <a:cxnLst/>
              <a:rect l="l" t="t" r="r" b="b"/>
              <a:pathLst>
                <a:path w="3086100" h="9525">
                  <a:moveTo>
                    <a:pt x="0" y="0"/>
                  </a:moveTo>
                  <a:lnTo>
                    <a:pt x="3086100" y="0"/>
                  </a:lnTo>
                </a:path>
              </a:pathLst>
            </a:custGeom>
            <a:noFill/>
            <a:ln w="9525">
              <a:solidFill>
                <a:srgbClr val="EBF0FA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4572000" y="2228850"/>
              <a:ext cx="3048000" cy="304800"/>
            </a:xfrm>
            <a:prstGeom prst="roundRect">
              <a:avLst>
                <a:gd name="adj" fmla="val 25000"/>
              </a:avLst>
            </a:prstGeom>
            <a:solidFill>
              <a:srgbClr val="EBF0F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5329896" y="2315528"/>
              <a:ext cx="153220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3D7DE4"/>
                  </a:solidFill>
                  <a:latin typeface="Consolas"/>
                  <a:ea typeface="Microsoft YaHei"/>
                  <a:cs typeface="Consolas"/>
                </a:rPr>
                <a:t>claude.ai/download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4638675" y="2714625"/>
              <a:ext cx="57150" cy="57150"/>
            </a:xfrm>
            <a:prstGeom prst="ellipse">
              <a:avLst/>
            </a:prstGeom>
            <a:solidFill>
              <a:srgbClr val="3D7DE4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4768215" y="2667952"/>
              <a:ext cx="173655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终端运行 · 读写本地文件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4638675" y="2981325"/>
              <a:ext cx="57150" cy="57150"/>
            </a:xfrm>
            <a:prstGeom prst="ellipse">
              <a:avLst/>
            </a:prstGeom>
            <a:solidFill>
              <a:srgbClr val="3D7DE4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4768215" y="2934652"/>
              <a:ext cx="178255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CLAUDE.md 约束生成行为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4638675" y="3248025"/>
              <a:ext cx="57150" cy="57150"/>
            </a:xfrm>
            <a:prstGeom prst="ellipse">
              <a:avLst/>
            </a:prstGeom>
            <a:solidFill>
              <a:srgbClr val="3D7DE4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4768215" y="3201352"/>
              <a:ext cx="265666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npm i -g @anthropic-ai/claude-code</a:t>
              </a:r>
            </a:p>
          </p:txBody>
        </p:sp>
      </p:grpSp>
      <p:grpSp>
        <p:nvGrpSpPr>
          <p:cNvPr id="70" name="Group 70"/>
          <p:cNvGrpSpPr/>
          <p:nvPr/>
        </p:nvGrpSpPr>
        <p:grpSpPr>
          <a:xfrm>
            <a:off x="8001000" y="1219200"/>
            <a:ext cx="3429000" cy="2476500"/>
            <a:chOff x="8001000" y="1219200"/>
            <a:chExt cx="3429000" cy="2476500"/>
          </a:xfrm>
        </p:grpSpPr>
        <p:sp>
          <p:nvSpPr>
            <p:cNvPr id="44" name="Rectangle 44"/>
            <p:cNvSpPr/>
            <p:nvPr/>
          </p:nvSpPr>
          <p:spPr>
            <a:xfrm>
              <a:off x="8001000" y="1219200"/>
              <a:ext cx="3429000" cy="2476500"/>
            </a:xfrm>
            <a:prstGeom prst="roundRect">
              <a:avLst>
                <a:gd name="adj" fmla="val 5385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8001000" y="1219200"/>
              <a:ext cx="3429000" cy="47625"/>
            </a:xfrm>
            <a:prstGeom prst="roundRect">
              <a:avLst>
                <a:gd name="adj" fmla="val 40000"/>
              </a:avLst>
            </a:prstGeom>
            <a:solidFill>
              <a:srgbClr val="3A9E6A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10287000" y="1371600"/>
              <a:ext cx="990600" cy="228600"/>
            </a:xfrm>
            <a:prstGeom prst="roundRect">
              <a:avLst>
                <a:gd name="adj" fmla="val 50000"/>
              </a:avLst>
            </a:prstGeom>
            <a:solidFill>
              <a:srgbClr val="E8F5EE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10494836" y="1426845"/>
              <a:ext cx="57492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3A9E6A"/>
                  </a:solidFill>
                  <a:latin typeface="Arial"/>
                  <a:ea typeface="Microsoft YaHei"/>
                  <a:cs typeface="Arial"/>
                </a:rPr>
                <a:t>部署平台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8267700" y="1466850"/>
              <a:ext cx="495300" cy="495300"/>
            </a:xfrm>
            <a:prstGeom prst="roundRect">
              <a:avLst>
                <a:gd name="adj" fmla="val 23077"/>
              </a:avLst>
            </a:prstGeom>
            <a:solidFill>
              <a:srgbClr val="3A9E6A">
                <a:alpha val="10000"/>
              </a:srgbClr>
            </a:solidFill>
            <a:ln>
              <a:noFill/>
            </a:ln>
          </p:spPr>
        </p:sp>
        <p:grpSp>
          <p:nvGrpSpPr>
            <p:cNvPr id="58" name="Group 58"/>
            <p:cNvGrpSpPr/>
            <p:nvPr/>
          </p:nvGrpSpPr>
          <p:grpSpPr>
            <a:xfrm>
              <a:off x="8387477" y="1587830"/>
              <a:ext cx="255728" cy="253327"/>
              <a:chOff x="8387477" y="1587830"/>
              <a:chExt cx="255728" cy="253327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8524634" y="1765300"/>
                <a:ext cx="107112" cy="75857"/>
              </a:xfrm>
              <a:custGeom>
                <a:avLst/>
                <a:gdLst/>
                <a:ahLst/>
                <a:cxnLst/>
                <a:rect l="l" t="t" r="r" b="b"/>
                <a:pathLst>
                  <a:path w="107112" h="75857">
                    <a:moveTo>
                      <a:pt x="107112" y="0"/>
                    </a:moveTo>
                    <a:cubicBezTo>
                      <a:pt x="88254" y="43206"/>
                      <a:pt x="47016" y="72411"/>
                      <a:pt x="0" y="75857"/>
                    </a:cubicBezTo>
                    <a:cubicBezTo>
                      <a:pt x="3252" y="75082"/>
                      <a:pt x="6068" y="73056"/>
                      <a:pt x="7836" y="70218"/>
                    </a:cubicBezTo>
                    <a:cubicBezTo>
                      <a:pt x="21335" y="48595"/>
                      <a:pt x="31122" y="24865"/>
                      <a:pt x="36792" y="13"/>
                    </a:cubicBezTo>
                    <a:close/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8398954" y="1765300"/>
                <a:ext cx="107099" cy="75857"/>
              </a:xfrm>
              <a:custGeom>
                <a:avLst/>
                <a:gdLst/>
                <a:ahLst/>
                <a:cxnLst/>
                <a:rect l="l" t="t" r="r" b="b"/>
                <a:pathLst>
                  <a:path w="107099" h="75857">
                    <a:moveTo>
                      <a:pt x="70320" y="0"/>
                    </a:moveTo>
                    <a:cubicBezTo>
                      <a:pt x="75987" y="24861"/>
                      <a:pt x="85774" y="48599"/>
                      <a:pt x="99276" y="70231"/>
                    </a:cubicBezTo>
                    <a:cubicBezTo>
                      <a:pt x="101043" y="73061"/>
                      <a:pt x="103854" y="75082"/>
                      <a:pt x="107099" y="75857"/>
                    </a:cubicBezTo>
                    <a:cubicBezTo>
                      <a:pt x="60088" y="72406"/>
                      <a:pt x="18856" y="43202"/>
                      <a:pt x="0" y="0"/>
                    </a:cubicBezTo>
                    <a:close/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8495411" y="1765300"/>
                <a:ext cx="39878" cy="49327"/>
              </a:xfrm>
              <a:custGeom>
                <a:avLst/>
                <a:gdLst/>
                <a:ahLst/>
                <a:cxnLst/>
                <a:rect l="l" t="t" r="r" b="b"/>
                <a:pathLst>
                  <a:path w="39878" h="49327">
                    <a:moveTo>
                      <a:pt x="39878" y="0"/>
                    </a:moveTo>
                    <a:cubicBezTo>
                      <a:pt x="35422" y="17245"/>
                      <a:pt x="28718" y="33829"/>
                      <a:pt x="19939" y="49327"/>
                    </a:cubicBezTo>
                    <a:cubicBezTo>
                      <a:pt x="11160" y="33829"/>
                      <a:pt x="4456" y="17245"/>
                      <a:pt x="0" y="0"/>
                    </a:cubicBezTo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8387477" y="1689100"/>
                <a:ext cx="77505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77505" h="50800">
                    <a:moveTo>
                      <a:pt x="77505" y="0"/>
                    </a:moveTo>
                    <a:cubicBezTo>
                      <a:pt x="75617" y="16881"/>
                      <a:pt x="75617" y="33919"/>
                      <a:pt x="77505" y="50800"/>
                    </a:cubicBezTo>
                    <a:lnTo>
                      <a:pt x="3438" y="50800"/>
                    </a:lnTo>
                    <a:cubicBezTo>
                      <a:pt x="9" y="34041"/>
                      <a:pt x="0" y="16762"/>
                      <a:pt x="3413" y="0"/>
                    </a:cubicBezTo>
                    <a:close/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8488435" y="1689100"/>
                <a:ext cx="53831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53831" h="50800">
                    <a:moveTo>
                      <a:pt x="51706" y="0"/>
                    </a:moveTo>
                    <a:cubicBezTo>
                      <a:pt x="53831" y="16867"/>
                      <a:pt x="53831" y="33933"/>
                      <a:pt x="51706" y="50800"/>
                    </a:cubicBezTo>
                    <a:lnTo>
                      <a:pt x="2125" y="50800"/>
                    </a:lnTo>
                    <a:cubicBezTo>
                      <a:pt x="0" y="33933"/>
                      <a:pt x="0" y="16867"/>
                      <a:pt x="2125" y="0"/>
                    </a:cubicBezTo>
                    <a:close/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</p:sp>
          <p:sp>
            <p:nvSpPr>
              <p:cNvPr id="54" name="Freeform 54"/>
              <p:cNvSpPr/>
              <p:nvPr/>
            </p:nvSpPr>
            <p:spPr>
              <a:xfrm>
                <a:off x="8565718" y="1689100"/>
                <a:ext cx="77487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77487" h="50800">
                    <a:moveTo>
                      <a:pt x="74092" y="0"/>
                    </a:moveTo>
                    <a:cubicBezTo>
                      <a:pt x="77487" y="16764"/>
                      <a:pt x="77479" y="34039"/>
                      <a:pt x="74066" y="50800"/>
                    </a:cubicBezTo>
                    <a:lnTo>
                      <a:pt x="0" y="50800"/>
                    </a:lnTo>
                    <a:cubicBezTo>
                      <a:pt x="1892" y="33922"/>
                      <a:pt x="1892" y="16891"/>
                      <a:pt x="0" y="0"/>
                    </a:cubicBezTo>
                    <a:close/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8398916" y="1587843"/>
                <a:ext cx="107125" cy="75857"/>
              </a:xfrm>
              <a:custGeom>
                <a:avLst/>
                <a:gdLst/>
                <a:ahLst/>
                <a:cxnLst/>
                <a:rect l="l" t="t" r="r" b="b"/>
                <a:pathLst>
                  <a:path w="107125" h="75857">
                    <a:moveTo>
                      <a:pt x="107125" y="0"/>
                    </a:moveTo>
                    <a:cubicBezTo>
                      <a:pt x="103882" y="781"/>
                      <a:pt x="101076" y="2806"/>
                      <a:pt x="99314" y="5639"/>
                    </a:cubicBezTo>
                    <a:cubicBezTo>
                      <a:pt x="85814" y="27266"/>
                      <a:pt x="76027" y="51000"/>
                      <a:pt x="70358" y="75857"/>
                    </a:cubicBezTo>
                    <a:lnTo>
                      <a:pt x="0" y="75857"/>
                    </a:lnTo>
                    <a:cubicBezTo>
                      <a:pt x="18691" y="33080"/>
                      <a:pt x="59323" y="3987"/>
                      <a:pt x="105842" y="76"/>
                    </a:cubicBezTo>
                    <a:close/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8495411" y="1614373"/>
                <a:ext cx="39878" cy="49340"/>
              </a:xfrm>
              <a:custGeom>
                <a:avLst/>
                <a:gdLst/>
                <a:ahLst/>
                <a:cxnLst/>
                <a:rect l="l" t="t" r="r" b="b"/>
                <a:pathLst>
                  <a:path w="39878" h="49340">
                    <a:moveTo>
                      <a:pt x="19939" y="0"/>
                    </a:moveTo>
                    <a:cubicBezTo>
                      <a:pt x="28719" y="15501"/>
                      <a:pt x="35423" y="32090"/>
                      <a:pt x="39878" y="49340"/>
                    </a:cubicBezTo>
                    <a:lnTo>
                      <a:pt x="0" y="49340"/>
                    </a:lnTo>
                    <a:cubicBezTo>
                      <a:pt x="4318" y="32614"/>
                      <a:pt x="10795" y="16320"/>
                      <a:pt x="19431" y="864"/>
                    </a:cubicBezTo>
                    <a:close/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8524659" y="1587830"/>
                <a:ext cx="107125" cy="75870"/>
              </a:xfrm>
              <a:custGeom>
                <a:avLst/>
                <a:gdLst/>
                <a:ahLst/>
                <a:cxnLst/>
                <a:rect l="l" t="t" r="r" b="b"/>
                <a:pathLst>
                  <a:path w="107125" h="75870">
                    <a:moveTo>
                      <a:pt x="0" y="0"/>
                    </a:moveTo>
                    <a:cubicBezTo>
                      <a:pt x="47013" y="3472"/>
                      <a:pt x="88245" y="32674"/>
                      <a:pt x="107125" y="75870"/>
                    </a:cubicBezTo>
                    <a:lnTo>
                      <a:pt x="36767" y="75870"/>
                    </a:lnTo>
                    <a:cubicBezTo>
                      <a:pt x="31099" y="51008"/>
                      <a:pt x="21312" y="27270"/>
                      <a:pt x="7810" y="5639"/>
                    </a:cubicBezTo>
                    <a:cubicBezTo>
                      <a:pt x="6283" y="3191"/>
                      <a:pt x="3967" y="1337"/>
                      <a:pt x="1245" y="381"/>
                    </a:cubicBezTo>
                    <a:close/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</p:sp>
        </p:grpSp>
        <p:sp>
          <p:nvSpPr>
            <p:cNvPr id="59" name="TextBox 59"/>
            <p:cNvSpPr txBox="1"/>
            <p:nvPr/>
          </p:nvSpPr>
          <p:spPr>
            <a:xfrm>
              <a:off x="8877300" y="1504950"/>
              <a:ext cx="739688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Vercel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883968" y="1771174"/>
              <a:ext cx="1163955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免费静态网站托管</a:t>
              </a:r>
            </a:p>
          </p:txBody>
        </p:sp>
        <p:sp>
          <p:nvSpPr>
            <p:cNvPr id="61" name="Line 61"/>
            <p:cNvSpPr/>
            <p:nvPr/>
          </p:nvSpPr>
          <p:spPr>
            <a:xfrm>
              <a:off x="8191500" y="2114550"/>
              <a:ext cx="3086100" cy="9525"/>
            </a:xfrm>
            <a:custGeom>
              <a:avLst/>
              <a:gdLst/>
              <a:ahLst/>
              <a:cxnLst/>
              <a:rect l="l" t="t" r="r" b="b"/>
              <a:pathLst>
                <a:path w="3086100" h="9525">
                  <a:moveTo>
                    <a:pt x="0" y="0"/>
                  </a:moveTo>
                  <a:lnTo>
                    <a:pt x="3086100" y="0"/>
                  </a:lnTo>
                </a:path>
              </a:pathLst>
            </a:custGeom>
            <a:noFill/>
            <a:ln w="9525">
              <a:solidFill>
                <a:srgbClr val="E8F5EE"/>
              </a:solidFill>
            </a:ln>
          </p:spPr>
        </p:sp>
        <p:sp>
          <p:nvSpPr>
            <p:cNvPr id="62" name="Rectangle 62"/>
            <p:cNvSpPr/>
            <p:nvPr/>
          </p:nvSpPr>
          <p:spPr>
            <a:xfrm>
              <a:off x="8191500" y="2228850"/>
              <a:ext cx="3048000" cy="304800"/>
            </a:xfrm>
            <a:prstGeom prst="roundRect">
              <a:avLst>
                <a:gd name="adj" fmla="val 25000"/>
              </a:avLst>
            </a:prstGeom>
            <a:solidFill>
              <a:srgbClr val="E8F5EE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9231091" y="2307431"/>
              <a:ext cx="96881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3A9E6A"/>
                  </a:solidFill>
                  <a:latin typeface="Consolas"/>
                  <a:ea typeface="Microsoft YaHei"/>
                  <a:cs typeface="Consolas"/>
                </a:rPr>
                <a:t>vercel.com</a:t>
              </a:r>
            </a:p>
          </p:txBody>
        </p:sp>
        <p:sp>
          <p:nvSpPr>
            <p:cNvPr id="64" name="Ellipse 64"/>
            <p:cNvSpPr/>
            <p:nvPr/>
          </p:nvSpPr>
          <p:spPr>
            <a:xfrm>
              <a:off x="8258175" y="2714625"/>
              <a:ext cx="57150" cy="57150"/>
            </a:xfrm>
            <a:prstGeom prst="ellipse">
              <a:avLst/>
            </a:prstGeom>
            <a:solidFill>
              <a:srgbClr val="3A9E6A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8387715" y="2667952"/>
              <a:ext cx="159086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免费托管 · 自动 HTTPS</a:t>
              </a:r>
            </a:p>
          </p:txBody>
        </p:sp>
        <p:sp>
          <p:nvSpPr>
            <p:cNvPr id="66" name="Ellipse 66"/>
            <p:cNvSpPr/>
            <p:nvPr/>
          </p:nvSpPr>
          <p:spPr>
            <a:xfrm>
              <a:off x="8258175" y="2981325"/>
              <a:ext cx="57150" cy="57150"/>
            </a:xfrm>
            <a:prstGeom prst="ellipse">
              <a:avLst/>
            </a:prstGeom>
            <a:solidFill>
              <a:srgbClr val="3A9E6A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8387715" y="2934652"/>
              <a:ext cx="171354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npx vercel · 5 分钟上线</a:t>
              </a:r>
            </a:p>
          </p:txBody>
        </p:sp>
        <p:sp>
          <p:nvSpPr>
            <p:cNvPr id="68" name="Ellipse 68"/>
            <p:cNvSpPr/>
            <p:nvPr/>
          </p:nvSpPr>
          <p:spPr>
            <a:xfrm>
              <a:off x="8258175" y="3248025"/>
              <a:ext cx="57150" cy="57150"/>
            </a:xfrm>
            <a:prstGeom prst="ellipse">
              <a:avLst/>
            </a:prstGeom>
            <a:solidFill>
              <a:srgbClr val="3A9E6A"/>
            </a:solidFill>
            <a:ln>
              <a:noFill/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8387715" y="3201352"/>
              <a:ext cx="192824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自定义域名 · 全球 CDN 加速</a:t>
              </a:r>
            </a:p>
          </p:txBody>
        </p:sp>
      </p:grpSp>
      <p:grpSp>
        <p:nvGrpSpPr>
          <p:cNvPr id="88" name="Group 88"/>
          <p:cNvGrpSpPr/>
          <p:nvPr/>
        </p:nvGrpSpPr>
        <p:grpSpPr>
          <a:xfrm>
            <a:off x="762000" y="3886200"/>
            <a:ext cx="3429000" cy="2400300"/>
            <a:chOff x="762000" y="3886200"/>
            <a:chExt cx="3429000" cy="2400300"/>
          </a:xfrm>
        </p:grpSpPr>
        <p:sp>
          <p:nvSpPr>
            <p:cNvPr id="71" name="Rectangle 71"/>
            <p:cNvSpPr/>
            <p:nvPr/>
          </p:nvSpPr>
          <p:spPr>
            <a:xfrm>
              <a:off x="762000" y="3886200"/>
              <a:ext cx="3429000" cy="24003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72" name="Rectangle 72"/>
            <p:cNvSpPr/>
            <p:nvPr/>
          </p:nvSpPr>
          <p:spPr>
            <a:xfrm>
              <a:off x="762000" y="3886200"/>
              <a:ext cx="3429000" cy="47625"/>
            </a:xfrm>
            <a:prstGeom prst="roundRect">
              <a:avLst>
                <a:gd name="adj" fmla="val 40000"/>
              </a:avLst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73" name="Rectangle 73"/>
            <p:cNvSpPr/>
            <p:nvPr/>
          </p:nvSpPr>
          <p:spPr>
            <a:xfrm>
              <a:off x="2857500" y="4038600"/>
              <a:ext cx="1181100" cy="228600"/>
            </a:xfrm>
            <a:prstGeom prst="roundRect">
              <a:avLst>
                <a:gd name="adj" fmla="val 50000"/>
              </a:avLst>
            </a:prstGeom>
            <a:solidFill>
              <a:srgbClr val="F0EDE8"/>
            </a:solidFill>
            <a:ln>
              <a:noFill/>
            </a:ln>
          </p:spPr>
        </p:sp>
        <p:sp>
          <p:nvSpPr>
            <p:cNvPr id="74" name="TextBox 74"/>
            <p:cNvSpPr txBox="1"/>
            <p:nvPr/>
          </p:nvSpPr>
          <p:spPr>
            <a:xfrm>
              <a:off x="3160586" y="4093845"/>
              <a:ext cx="57492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C96133"/>
                  </a:solidFill>
                  <a:latin typeface="Arial"/>
                  <a:ea typeface="Microsoft YaHei"/>
                  <a:cs typeface="Arial"/>
                </a:rPr>
                <a:t>官方文档</a:t>
              </a:r>
            </a:p>
          </p:txBody>
        </p:sp>
        <p:sp>
          <p:nvSpPr>
            <p:cNvPr id="75" name="Rectangle 75"/>
            <p:cNvSpPr/>
            <p:nvPr/>
          </p:nvSpPr>
          <p:spPr>
            <a:xfrm>
              <a:off x="1028700" y="4133850"/>
              <a:ext cx="495300" cy="495300"/>
            </a:xfrm>
            <a:prstGeom prst="roundRect">
              <a:avLst>
                <a:gd name="adj" fmla="val 23077"/>
              </a:avLst>
            </a:prstGeom>
            <a:solidFill>
              <a:srgbClr val="C96133">
                <a:alpha val="10000"/>
              </a:srgbClr>
            </a:solidFill>
            <a:ln>
              <a:noFill/>
            </a:ln>
          </p:spPr>
        </p:sp>
        <p:sp>
          <p:nvSpPr>
            <p:cNvPr id="76" name="Freeform 76"/>
            <p:cNvSpPr/>
            <p:nvPr/>
          </p:nvSpPr>
          <p:spPr>
            <a:xfrm>
              <a:off x="1149350" y="4272042"/>
              <a:ext cx="254000" cy="211625"/>
            </a:xfrm>
            <a:custGeom>
              <a:avLst/>
              <a:gdLst/>
              <a:ahLst/>
              <a:cxnLst/>
              <a:rect l="l" t="t" r="r" b="b"/>
              <a:pathLst>
                <a:path w="254000" h="211625">
                  <a:moveTo>
                    <a:pt x="247650" y="22260"/>
                  </a:moveTo>
                  <a:cubicBezTo>
                    <a:pt x="251118" y="24262"/>
                    <a:pt x="253438" y="27783"/>
                    <a:pt x="253911" y="31760"/>
                  </a:cubicBezTo>
                  <a:lnTo>
                    <a:pt x="254000" y="33258"/>
                  </a:lnTo>
                  <a:lnTo>
                    <a:pt x="254000" y="198358"/>
                  </a:lnTo>
                  <a:cubicBezTo>
                    <a:pt x="254000" y="202895"/>
                    <a:pt x="251579" y="207088"/>
                    <a:pt x="247650" y="209357"/>
                  </a:cubicBezTo>
                  <a:cubicBezTo>
                    <a:pt x="243720" y="211625"/>
                    <a:pt x="238879" y="211625"/>
                    <a:pt x="234950" y="209356"/>
                  </a:cubicBezTo>
                  <a:cubicBezTo>
                    <a:pt x="205731" y="192484"/>
                    <a:pt x="170041" y="191218"/>
                    <a:pt x="139700" y="205978"/>
                  </a:cubicBezTo>
                  <a:lnTo>
                    <a:pt x="139700" y="13268"/>
                  </a:lnTo>
                  <a:cubicBezTo>
                    <a:pt x="175221" y="0"/>
                    <a:pt x="214813" y="3298"/>
                    <a:pt x="247650" y="22260"/>
                  </a:cubicBezTo>
                  <a:moveTo>
                    <a:pt x="114300" y="13281"/>
                  </a:moveTo>
                  <a:lnTo>
                    <a:pt x="114313" y="205991"/>
                  </a:lnTo>
                  <a:cubicBezTo>
                    <a:pt x="85201" y="191819"/>
                    <a:pt x="51079" y="192371"/>
                    <a:pt x="22441" y="207477"/>
                  </a:cubicBezTo>
                  <a:lnTo>
                    <a:pt x="18288" y="209763"/>
                  </a:lnTo>
                  <a:lnTo>
                    <a:pt x="16980" y="210322"/>
                  </a:lnTo>
                  <a:lnTo>
                    <a:pt x="16358" y="210525"/>
                  </a:lnTo>
                  <a:lnTo>
                    <a:pt x="14961" y="210855"/>
                  </a:lnTo>
                  <a:lnTo>
                    <a:pt x="14186" y="210982"/>
                  </a:lnTo>
                  <a:lnTo>
                    <a:pt x="12700" y="211058"/>
                  </a:lnTo>
                  <a:lnTo>
                    <a:pt x="12167" y="211058"/>
                  </a:lnTo>
                  <a:lnTo>
                    <a:pt x="10770" y="210906"/>
                  </a:lnTo>
                  <a:lnTo>
                    <a:pt x="9792" y="210728"/>
                  </a:lnTo>
                  <a:lnTo>
                    <a:pt x="8420" y="210322"/>
                  </a:lnTo>
                  <a:lnTo>
                    <a:pt x="6820" y="209610"/>
                  </a:lnTo>
                  <a:lnTo>
                    <a:pt x="5613" y="208899"/>
                  </a:lnTo>
                  <a:lnTo>
                    <a:pt x="4483" y="208048"/>
                  </a:lnTo>
                  <a:lnTo>
                    <a:pt x="3721" y="207337"/>
                  </a:lnTo>
                  <a:lnTo>
                    <a:pt x="2794" y="206296"/>
                  </a:lnTo>
                  <a:lnTo>
                    <a:pt x="1981" y="205165"/>
                  </a:lnTo>
                  <a:lnTo>
                    <a:pt x="1702" y="204708"/>
                  </a:lnTo>
                  <a:lnTo>
                    <a:pt x="1295" y="203946"/>
                  </a:lnTo>
                  <a:lnTo>
                    <a:pt x="737" y="202638"/>
                  </a:lnTo>
                  <a:lnTo>
                    <a:pt x="533" y="202016"/>
                  </a:lnTo>
                  <a:lnTo>
                    <a:pt x="203" y="200619"/>
                  </a:lnTo>
                  <a:lnTo>
                    <a:pt x="76" y="199844"/>
                  </a:lnTo>
                  <a:lnTo>
                    <a:pt x="25" y="199222"/>
                  </a:lnTo>
                  <a:lnTo>
                    <a:pt x="0" y="33258"/>
                  </a:lnTo>
                  <a:cubicBezTo>
                    <a:pt x="0" y="28721"/>
                    <a:pt x="2421" y="24529"/>
                    <a:pt x="6350" y="22260"/>
                  </a:cubicBezTo>
                  <a:cubicBezTo>
                    <a:pt x="39189" y="3302"/>
                    <a:pt x="78781" y="9"/>
                    <a:pt x="114300" y="13281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  <p:sp>
          <p:nvSpPr>
            <p:cNvPr id="77" name="TextBox 77"/>
            <p:cNvSpPr txBox="1"/>
            <p:nvPr/>
          </p:nvSpPr>
          <p:spPr>
            <a:xfrm>
              <a:off x="1640205" y="4188142"/>
              <a:ext cx="210454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Anthropic 开发者文档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1644968" y="4438174"/>
              <a:ext cx="207530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Claude Code · API · CLAUDE.md</a:t>
              </a:r>
            </a:p>
          </p:txBody>
        </p:sp>
        <p:sp>
          <p:nvSpPr>
            <p:cNvPr id="79" name="Line 79"/>
            <p:cNvSpPr/>
            <p:nvPr/>
          </p:nvSpPr>
          <p:spPr>
            <a:xfrm>
              <a:off x="952500" y="4762500"/>
              <a:ext cx="3086100" cy="9525"/>
            </a:xfrm>
            <a:custGeom>
              <a:avLst/>
              <a:gdLst/>
              <a:ahLst/>
              <a:cxnLst/>
              <a:rect l="l" t="t" r="r" b="b"/>
              <a:pathLst>
                <a:path w="3086100" h="9525">
                  <a:moveTo>
                    <a:pt x="0" y="0"/>
                  </a:moveTo>
                  <a:lnTo>
                    <a:pt x="3086100" y="0"/>
                  </a:lnTo>
                </a:path>
              </a:pathLst>
            </a:custGeom>
            <a:noFill/>
            <a:ln w="9525">
              <a:solidFill>
                <a:srgbClr val="F0EDE8"/>
              </a:solidFill>
            </a:ln>
          </p:spPr>
        </p:sp>
        <p:sp>
          <p:nvSpPr>
            <p:cNvPr id="80" name="Rectangle 80"/>
            <p:cNvSpPr/>
            <p:nvPr/>
          </p:nvSpPr>
          <p:spPr>
            <a:xfrm>
              <a:off x="952500" y="4876800"/>
              <a:ext cx="3048000" cy="304800"/>
            </a:xfrm>
            <a:prstGeom prst="roundRect">
              <a:avLst>
                <a:gd name="adj" fmla="val 25000"/>
              </a:avLst>
            </a:prstGeom>
            <a:solidFill>
              <a:srgbClr val="F0EDE8"/>
            </a:solidFill>
            <a:ln>
              <a:noFill/>
            </a:ln>
          </p:spPr>
        </p:sp>
        <p:sp>
          <p:nvSpPr>
            <p:cNvPr id="81" name="TextBox 81"/>
            <p:cNvSpPr txBox="1"/>
            <p:nvPr/>
          </p:nvSpPr>
          <p:spPr>
            <a:xfrm>
              <a:off x="1727738" y="4971574"/>
              <a:ext cx="149752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C96133"/>
                  </a:solidFill>
                  <a:latin typeface="Consolas"/>
                  <a:ea typeface="Microsoft YaHei"/>
                  <a:cs typeface="Consolas"/>
                </a:rPr>
                <a:t>docs.anthropic.com</a:t>
              </a:r>
            </a:p>
          </p:txBody>
        </p:sp>
        <p:sp>
          <p:nvSpPr>
            <p:cNvPr id="82" name="Ellipse 82"/>
            <p:cNvSpPr/>
            <p:nvPr/>
          </p:nvSpPr>
          <p:spPr>
            <a:xfrm>
              <a:off x="1019175" y="5362575"/>
              <a:ext cx="57150" cy="57150"/>
            </a:xfrm>
            <a:prstGeom prst="ellipse">
              <a:avLst/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83" name="TextBox 83"/>
            <p:cNvSpPr txBox="1"/>
            <p:nvPr/>
          </p:nvSpPr>
          <p:spPr>
            <a:xfrm>
              <a:off x="1148715" y="5315902"/>
              <a:ext cx="184389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Claude Code 完整参数手册</a:t>
              </a:r>
            </a:p>
          </p:txBody>
        </p:sp>
        <p:sp>
          <p:nvSpPr>
            <p:cNvPr id="84" name="Ellipse 84"/>
            <p:cNvSpPr/>
            <p:nvPr/>
          </p:nvSpPr>
          <p:spPr>
            <a:xfrm>
              <a:off x="1019175" y="5629275"/>
              <a:ext cx="57150" cy="57150"/>
            </a:xfrm>
            <a:prstGeom prst="ellipse">
              <a:avLst/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85" name="TextBox 85"/>
            <p:cNvSpPr txBox="1"/>
            <p:nvPr/>
          </p:nvSpPr>
          <p:spPr>
            <a:xfrm>
              <a:off x="1148715" y="5582602"/>
              <a:ext cx="178255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CLAUDE.md 官方格式说明</a:t>
              </a:r>
            </a:p>
          </p:txBody>
        </p:sp>
        <p:sp>
          <p:nvSpPr>
            <p:cNvPr id="86" name="Ellipse 86"/>
            <p:cNvSpPr/>
            <p:nvPr/>
          </p:nvSpPr>
          <p:spPr>
            <a:xfrm>
              <a:off x="1019175" y="5895975"/>
              <a:ext cx="57150" cy="57150"/>
            </a:xfrm>
            <a:prstGeom prst="ellipse">
              <a:avLst/>
            </a:prstGeom>
            <a:solidFill>
              <a:srgbClr val="C96133"/>
            </a:solidFill>
            <a:ln>
              <a:noFill/>
            </a:ln>
          </p:spPr>
        </p:sp>
        <p:sp>
          <p:nvSpPr>
            <p:cNvPr id="87" name="TextBox 87"/>
            <p:cNvSpPr txBox="1"/>
            <p:nvPr/>
          </p:nvSpPr>
          <p:spPr>
            <a:xfrm>
              <a:off x="1148715" y="5849302"/>
              <a:ext cx="169054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API 密钥申请 · 模型文档</a:t>
              </a:r>
            </a:p>
          </p:txBody>
        </p:sp>
      </p:grpSp>
      <p:grpSp>
        <p:nvGrpSpPr>
          <p:cNvPr id="106" name="Group 106"/>
          <p:cNvGrpSpPr/>
          <p:nvPr/>
        </p:nvGrpSpPr>
        <p:grpSpPr>
          <a:xfrm>
            <a:off x="4381500" y="3886200"/>
            <a:ext cx="3429000" cy="2400300"/>
            <a:chOff x="4381500" y="3886200"/>
            <a:chExt cx="3429000" cy="2400300"/>
          </a:xfrm>
        </p:grpSpPr>
        <p:sp>
          <p:nvSpPr>
            <p:cNvPr id="89" name="Rectangle 89"/>
            <p:cNvSpPr/>
            <p:nvPr/>
          </p:nvSpPr>
          <p:spPr>
            <a:xfrm>
              <a:off x="4381500" y="3886200"/>
              <a:ext cx="3429000" cy="24003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90" name="Rectangle 90"/>
            <p:cNvSpPr/>
            <p:nvPr/>
          </p:nvSpPr>
          <p:spPr>
            <a:xfrm>
              <a:off x="4381500" y="3886200"/>
              <a:ext cx="3429000" cy="47625"/>
            </a:xfrm>
            <a:prstGeom prst="roundRect">
              <a:avLst>
                <a:gd name="adj" fmla="val 40000"/>
              </a:avLst>
            </a:prstGeom>
            <a:solidFill>
              <a:srgbClr val="3D7DE4"/>
            </a:solidFill>
            <a:ln>
              <a:noFill/>
            </a:ln>
          </p:spPr>
        </p:sp>
        <p:sp>
          <p:nvSpPr>
            <p:cNvPr id="91" name="Rectangle 91"/>
            <p:cNvSpPr/>
            <p:nvPr/>
          </p:nvSpPr>
          <p:spPr>
            <a:xfrm>
              <a:off x="6477000" y="4038600"/>
              <a:ext cx="1181100" cy="228600"/>
            </a:xfrm>
            <a:prstGeom prst="roundRect">
              <a:avLst>
                <a:gd name="adj" fmla="val 50000"/>
              </a:avLst>
            </a:prstGeom>
            <a:solidFill>
              <a:srgbClr val="EBF0FA"/>
            </a:solidFill>
            <a:ln>
              <a:noFill/>
            </a:ln>
          </p:spPr>
        </p:sp>
        <p:sp>
          <p:nvSpPr>
            <p:cNvPr id="92" name="TextBox 92"/>
            <p:cNvSpPr txBox="1"/>
            <p:nvPr/>
          </p:nvSpPr>
          <p:spPr>
            <a:xfrm>
              <a:off x="6780085" y="4093845"/>
              <a:ext cx="57492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3D7DE4"/>
                  </a:solidFill>
                  <a:latin typeface="Arial"/>
                  <a:ea typeface="Microsoft YaHei"/>
                  <a:cs typeface="Arial"/>
                </a:rPr>
                <a:t>课程资源</a:t>
              </a:r>
            </a:p>
          </p:txBody>
        </p:sp>
        <p:sp>
          <p:nvSpPr>
            <p:cNvPr id="93" name="Rectangle 93"/>
            <p:cNvSpPr/>
            <p:nvPr/>
          </p:nvSpPr>
          <p:spPr>
            <a:xfrm>
              <a:off x="4648200" y="4133850"/>
              <a:ext cx="495300" cy="495300"/>
            </a:xfrm>
            <a:prstGeom prst="roundRect">
              <a:avLst>
                <a:gd name="adj" fmla="val 23077"/>
              </a:avLst>
            </a:prstGeom>
            <a:solidFill>
              <a:srgbClr val="3D7DE4">
                <a:alpha val="10000"/>
              </a:srgbClr>
            </a:solidFill>
            <a:ln>
              <a:noFill/>
            </a:ln>
          </p:spPr>
        </p:sp>
        <p:sp>
          <p:nvSpPr>
            <p:cNvPr id="94" name="Freeform 94"/>
            <p:cNvSpPr/>
            <p:nvPr/>
          </p:nvSpPr>
          <p:spPr>
            <a:xfrm>
              <a:off x="4753483" y="4279900"/>
              <a:ext cx="282067" cy="203200"/>
            </a:xfrm>
            <a:custGeom>
              <a:avLst/>
              <a:gdLst/>
              <a:ahLst/>
              <a:cxnLst/>
              <a:rect l="l" t="t" r="r" b="b"/>
              <a:pathLst>
                <a:path w="282067" h="203200">
                  <a:moveTo>
                    <a:pt x="231267" y="119774"/>
                  </a:moveTo>
                  <a:lnTo>
                    <a:pt x="231267" y="152400"/>
                  </a:lnTo>
                  <a:cubicBezTo>
                    <a:pt x="231267" y="182855"/>
                    <a:pt x="190563" y="203200"/>
                    <a:pt x="142367" y="203200"/>
                  </a:cubicBezTo>
                  <a:cubicBezTo>
                    <a:pt x="94170" y="203200"/>
                    <a:pt x="53467" y="182855"/>
                    <a:pt x="53467" y="152400"/>
                  </a:cubicBezTo>
                  <a:lnTo>
                    <a:pt x="53467" y="119774"/>
                  </a:lnTo>
                  <a:lnTo>
                    <a:pt x="128219" y="149670"/>
                  </a:lnTo>
                  <a:cubicBezTo>
                    <a:pt x="136364" y="152931"/>
                    <a:pt x="145386" y="153280"/>
                    <a:pt x="153759" y="150660"/>
                  </a:cubicBezTo>
                  <a:lnTo>
                    <a:pt x="156515" y="149670"/>
                  </a:lnTo>
                  <a:close/>
                  <a:moveTo>
                    <a:pt x="256667" y="82245"/>
                  </a:moveTo>
                  <a:lnTo>
                    <a:pt x="147079" y="126086"/>
                  </a:lnTo>
                  <a:cubicBezTo>
                    <a:pt x="144054" y="127294"/>
                    <a:pt x="140680" y="127294"/>
                    <a:pt x="137655" y="126086"/>
                  </a:cubicBezTo>
                  <a:lnTo>
                    <a:pt x="10655" y="75286"/>
                  </a:lnTo>
                  <a:cubicBezTo>
                    <a:pt x="0" y="71031"/>
                    <a:pt x="0" y="55969"/>
                    <a:pt x="10655" y="51714"/>
                  </a:cubicBezTo>
                  <a:lnTo>
                    <a:pt x="137655" y="914"/>
                  </a:lnTo>
                  <a:cubicBezTo>
                    <a:pt x="138654" y="513"/>
                    <a:pt x="139699" y="240"/>
                    <a:pt x="140767" y="102"/>
                  </a:cubicBezTo>
                  <a:lnTo>
                    <a:pt x="142367" y="0"/>
                  </a:lnTo>
                  <a:lnTo>
                    <a:pt x="143967" y="102"/>
                  </a:lnTo>
                  <a:cubicBezTo>
                    <a:pt x="145035" y="240"/>
                    <a:pt x="146080" y="513"/>
                    <a:pt x="147079" y="914"/>
                  </a:cubicBezTo>
                  <a:lnTo>
                    <a:pt x="274485" y="51879"/>
                  </a:lnTo>
                  <a:lnTo>
                    <a:pt x="275857" y="52578"/>
                  </a:lnTo>
                  <a:lnTo>
                    <a:pt x="277114" y="53442"/>
                  </a:lnTo>
                  <a:lnTo>
                    <a:pt x="278232" y="54407"/>
                  </a:lnTo>
                  <a:lnTo>
                    <a:pt x="279184" y="55448"/>
                  </a:lnTo>
                  <a:lnTo>
                    <a:pt x="279629" y="56007"/>
                  </a:lnTo>
                  <a:lnTo>
                    <a:pt x="280556" y="57468"/>
                  </a:lnTo>
                  <a:lnTo>
                    <a:pt x="281216" y="58928"/>
                  </a:lnTo>
                  <a:lnTo>
                    <a:pt x="281648" y="60223"/>
                  </a:lnTo>
                  <a:lnTo>
                    <a:pt x="281965" y="61938"/>
                  </a:lnTo>
                  <a:lnTo>
                    <a:pt x="282042" y="62675"/>
                  </a:lnTo>
                  <a:lnTo>
                    <a:pt x="282067" y="139700"/>
                  </a:lnTo>
                  <a:cubicBezTo>
                    <a:pt x="282067" y="146714"/>
                    <a:pt x="276381" y="152400"/>
                    <a:pt x="269367" y="152400"/>
                  </a:cubicBezTo>
                  <a:cubicBezTo>
                    <a:pt x="262353" y="152400"/>
                    <a:pt x="256667" y="146714"/>
                    <a:pt x="256667" y="139700"/>
                  </a:cubicBezTo>
                  <a:close/>
                </a:path>
              </a:pathLst>
            </a:custGeom>
            <a:solidFill>
              <a:srgbClr val="3D7DE4"/>
            </a:solidFill>
            <a:ln>
              <a:noFill/>
            </a:ln>
          </p:spPr>
        </p:sp>
        <p:sp>
          <p:nvSpPr>
            <p:cNvPr id="95" name="TextBox 95"/>
            <p:cNvSpPr txBox="1"/>
            <p:nvPr/>
          </p:nvSpPr>
          <p:spPr>
            <a:xfrm>
              <a:off x="5259705" y="4188142"/>
              <a:ext cx="86239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课程门户</a:t>
              </a:r>
            </a:p>
          </p:txBody>
        </p:sp>
        <p:sp>
          <p:nvSpPr>
            <p:cNvPr id="96" name="TextBox 96"/>
            <p:cNvSpPr txBox="1"/>
            <p:nvPr/>
          </p:nvSpPr>
          <p:spPr>
            <a:xfrm>
              <a:off x="5264468" y="4438174"/>
              <a:ext cx="151283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课件 · 录播 · 学员 Q&amp;A</a:t>
              </a:r>
            </a:p>
          </p:txBody>
        </p:sp>
        <p:sp>
          <p:nvSpPr>
            <p:cNvPr id="97" name="Line 97"/>
            <p:cNvSpPr/>
            <p:nvPr/>
          </p:nvSpPr>
          <p:spPr>
            <a:xfrm>
              <a:off x="4572000" y="4762500"/>
              <a:ext cx="3086100" cy="9525"/>
            </a:xfrm>
            <a:custGeom>
              <a:avLst/>
              <a:gdLst/>
              <a:ahLst/>
              <a:cxnLst/>
              <a:rect l="l" t="t" r="r" b="b"/>
              <a:pathLst>
                <a:path w="3086100" h="9525">
                  <a:moveTo>
                    <a:pt x="0" y="0"/>
                  </a:moveTo>
                  <a:lnTo>
                    <a:pt x="3086100" y="0"/>
                  </a:lnTo>
                </a:path>
              </a:pathLst>
            </a:custGeom>
            <a:noFill/>
            <a:ln w="9525">
              <a:solidFill>
                <a:srgbClr val="EBF0FA"/>
              </a:solidFill>
            </a:ln>
          </p:spPr>
        </p:sp>
        <p:sp>
          <p:nvSpPr>
            <p:cNvPr id="98" name="Rectangle 98"/>
            <p:cNvSpPr/>
            <p:nvPr/>
          </p:nvSpPr>
          <p:spPr>
            <a:xfrm>
              <a:off x="4572000" y="4876800"/>
              <a:ext cx="3048000" cy="304800"/>
            </a:xfrm>
            <a:prstGeom prst="roundRect">
              <a:avLst>
                <a:gd name="adj" fmla="val 25000"/>
              </a:avLst>
            </a:prstGeom>
            <a:solidFill>
              <a:srgbClr val="EBF0FA"/>
            </a:solidFill>
            <a:ln>
              <a:noFill/>
            </a:ln>
          </p:spPr>
        </p:sp>
        <p:sp>
          <p:nvSpPr>
            <p:cNvPr id="99" name="TextBox 99"/>
            <p:cNvSpPr txBox="1"/>
            <p:nvPr/>
          </p:nvSpPr>
          <p:spPr>
            <a:xfrm>
              <a:off x="4863117" y="4979670"/>
              <a:ext cx="246576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3D7DE4"/>
                  </a:solidFill>
                  <a:latin typeface="Consolas"/>
                  <a:ea typeface="Microsoft YaHei"/>
                  <a:cs typeface="Consolas"/>
                </a:rPr>
                <a:t>austinxyz.github.io/course-portal/</a:t>
              </a:r>
            </a:p>
          </p:txBody>
        </p:sp>
        <p:sp>
          <p:nvSpPr>
            <p:cNvPr id="100" name="Ellipse 100"/>
            <p:cNvSpPr/>
            <p:nvPr/>
          </p:nvSpPr>
          <p:spPr>
            <a:xfrm>
              <a:off x="4638675" y="5362575"/>
              <a:ext cx="57150" cy="57150"/>
            </a:xfrm>
            <a:prstGeom prst="ellipse">
              <a:avLst/>
            </a:prstGeom>
            <a:solidFill>
              <a:srgbClr val="3D7DE4"/>
            </a:solidFill>
            <a:ln>
              <a:noFill/>
            </a:ln>
          </p:spPr>
        </p:sp>
        <p:sp>
          <p:nvSpPr>
            <p:cNvPr id="101" name="TextBox 101"/>
            <p:cNvSpPr txBox="1"/>
            <p:nvPr/>
          </p:nvSpPr>
          <p:spPr>
            <a:xfrm>
              <a:off x="4768215" y="5315902"/>
              <a:ext cx="142217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PPT 下载 · 录播回看</a:t>
              </a:r>
            </a:p>
          </p:txBody>
        </p:sp>
        <p:sp>
          <p:nvSpPr>
            <p:cNvPr id="102" name="Ellipse 102"/>
            <p:cNvSpPr/>
            <p:nvPr/>
          </p:nvSpPr>
          <p:spPr>
            <a:xfrm>
              <a:off x="4638675" y="5629275"/>
              <a:ext cx="57150" cy="57150"/>
            </a:xfrm>
            <a:prstGeom prst="ellipse">
              <a:avLst/>
            </a:prstGeom>
            <a:solidFill>
              <a:srgbClr val="3D7DE4"/>
            </a:solidFill>
            <a:ln>
              <a:noFill/>
            </a:ln>
          </p:spPr>
        </p:sp>
        <p:sp>
          <p:nvSpPr>
            <p:cNvPr id="103" name="TextBox 103"/>
            <p:cNvSpPr txBox="1"/>
            <p:nvPr/>
          </p:nvSpPr>
          <p:spPr>
            <a:xfrm>
              <a:off x="4768215" y="5582602"/>
              <a:ext cx="147585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CLAUDE.md 模板下载</a:t>
              </a:r>
            </a:p>
          </p:txBody>
        </p:sp>
        <p:sp>
          <p:nvSpPr>
            <p:cNvPr id="104" name="Ellipse 104"/>
            <p:cNvSpPr/>
            <p:nvPr/>
          </p:nvSpPr>
          <p:spPr>
            <a:xfrm>
              <a:off x="4638675" y="5895975"/>
              <a:ext cx="57150" cy="57150"/>
            </a:xfrm>
            <a:prstGeom prst="ellipse">
              <a:avLst/>
            </a:prstGeom>
            <a:solidFill>
              <a:srgbClr val="3D7DE4"/>
            </a:solidFill>
            <a:ln>
              <a:noFill/>
            </a:ln>
          </p:spPr>
        </p:sp>
        <p:sp>
          <p:nvSpPr>
            <p:cNvPr id="105" name="TextBox 105"/>
            <p:cNvSpPr txBox="1"/>
            <p:nvPr/>
          </p:nvSpPr>
          <p:spPr>
            <a:xfrm>
              <a:off x="4768215" y="5849302"/>
              <a:ext cx="171354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历届学员作品 Demo 展示</a:t>
              </a:r>
            </a:p>
          </p:txBody>
        </p:sp>
      </p:grpSp>
      <p:grpSp>
        <p:nvGrpSpPr>
          <p:cNvPr id="126" name="Group 126"/>
          <p:cNvGrpSpPr/>
          <p:nvPr/>
        </p:nvGrpSpPr>
        <p:grpSpPr>
          <a:xfrm>
            <a:off x="8001000" y="3886200"/>
            <a:ext cx="3429000" cy="2400300"/>
            <a:chOff x="8001000" y="3886200"/>
            <a:chExt cx="3429000" cy="2400300"/>
          </a:xfrm>
        </p:grpSpPr>
        <p:sp>
          <p:nvSpPr>
            <p:cNvPr id="107" name="Rectangle 107"/>
            <p:cNvSpPr/>
            <p:nvPr/>
          </p:nvSpPr>
          <p:spPr>
            <a:xfrm>
              <a:off x="8001000" y="3886200"/>
              <a:ext cx="3429000" cy="24003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14288">
              <a:solidFill>
                <a:srgbClr val="E0D8D0"/>
              </a:solidFill>
            </a:ln>
          </p:spPr>
        </p:sp>
        <p:sp>
          <p:nvSpPr>
            <p:cNvPr id="108" name="Rectangle 108"/>
            <p:cNvSpPr/>
            <p:nvPr/>
          </p:nvSpPr>
          <p:spPr>
            <a:xfrm>
              <a:off x="8001000" y="3886200"/>
              <a:ext cx="3429000" cy="47625"/>
            </a:xfrm>
            <a:prstGeom prst="roundRect">
              <a:avLst>
                <a:gd name="adj" fmla="val 40000"/>
              </a:avLst>
            </a:prstGeom>
            <a:solidFill>
              <a:srgbClr val="3A9E6A"/>
            </a:solidFill>
            <a:ln>
              <a:noFill/>
            </a:ln>
          </p:spPr>
        </p:sp>
        <p:sp>
          <p:nvSpPr>
            <p:cNvPr id="109" name="Rectangle 109"/>
            <p:cNvSpPr/>
            <p:nvPr/>
          </p:nvSpPr>
          <p:spPr>
            <a:xfrm>
              <a:off x="10096500" y="4038600"/>
              <a:ext cx="1181100" cy="228600"/>
            </a:xfrm>
            <a:prstGeom prst="roundRect">
              <a:avLst>
                <a:gd name="adj" fmla="val 50000"/>
              </a:avLst>
            </a:prstGeom>
            <a:solidFill>
              <a:srgbClr val="E8F5EE"/>
            </a:solidFill>
            <a:ln>
              <a:noFill/>
            </a:ln>
          </p:spPr>
        </p:sp>
        <p:sp>
          <p:nvSpPr>
            <p:cNvPr id="110" name="TextBox 110"/>
            <p:cNvSpPr txBox="1"/>
            <p:nvPr/>
          </p:nvSpPr>
          <p:spPr>
            <a:xfrm>
              <a:off x="10320226" y="4093845"/>
              <a:ext cx="73364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3A9E6A"/>
                  </a:solidFill>
                  <a:latin typeface="Arial"/>
                  <a:ea typeface="Microsoft YaHei"/>
                  <a:cs typeface="Arial"/>
                </a:rPr>
                <a:t>报名 &amp; 社群</a:t>
              </a:r>
            </a:p>
          </p:txBody>
        </p:sp>
        <p:sp>
          <p:nvSpPr>
            <p:cNvPr id="111" name="Rectangle 111"/>
            <p:cNvSpPr/>
            <p:nvPr/>
          </p:nvSpPr>
          <p:spPr>
            <a:xfrm>
              <a:off x="8267700" y="4133850"/>
              <a:ext cx="495300" cy="495300"/>
            </a:xfrm>
            <a:prstGeom prst="roundRect">
              <a:avLst>
                <a:gd name="adj" fmla="val 23077"/>
              </a:avLst>
            </a:prstGeom>
            <a:solidFill>
              <a:srgbClr val="3A9E6A">
                <a:alpha val="10000"/>
              </a:srgbClr>
            </a:solidFill>
            <a:ln>
              <a:noFill/>
            </a:ln>
          </p:spPr>
        </p:sp>
        <p:grpSp>
          <p:nvGrpSpPr>
            <p:cNvPr id="114" name="Group 114"/>
            <p:cNvGrpSpPr/>
            <p:nvPr/>
          </p:nvGrpSpPr>
          <p:grpSpPr>
            <a:xfrm>
              <a:off x="8426450" y="4254500"/>
              <a:ext cx="177800" cy="254000"/>
              <a:chOff x="8426450" y="4254500"/>
              <a:chExt cx="177800" cy="254000"/>
            </a:xfrm>
          </p:grpSpPr>
          <p:sp>
            <p:nvSpPr>
              <p:cNvPr id="112" name="Freeform 112"/>
              <p:cNvSpPr/>
              <p:nvPr/>
            </p:nvSpPr>
            <p:spPr>
              <a:xfrm>
                <a:off x="8451850" y="4254500"/>
                <a:ext cx="127000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127000">
                    <a:moveTo>
                      <a:pt x="63500" y="0"/>
                    </a:moveTo>
                    <a:cubicBezTo>
                      <a:pt x="98570" y="0"/>
                      <a:pt x="127000" y="28430"/>
                      <a:pt x="127000" y="63500"/>
                    </a:cubicBezTo>
                    <a:cubicBezTo>
                      <a:pt x="127000" y="98570"/>
                      <a:pt x="98570" y="127000"/>
                      <a:pt x="63500" y="127000"/>
                    </a:cubicBezTo>
                    <a:cubicBezTo>
                      <a:pt x="28430" y="127000"/>
                      <a:pt x="0" y="98570"/>
                      <a:pt x="0" y="63500"/>
                    </a:cubicBezTo>
                    <a:lnTo>
                      <a:pt x="63" y="60744"/>
                    </a:lnTo>
                    <a:cubicBezTo>
                      <a:pt x="1539" y="26779"/>
                      <a:pt x="29503" y="2"/>
                      <a:pt x="63500" y="0"/>
                    </a:cubicBezTo>
                    <a:close/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</p:sp>
          <p:sp>
            <p:nvSpPr>
              <p:cNvPr id="113" name="Freeform 113"/>
              <p:cNvSpPr/>
              <p:nvPr/>
            </p:nvSpPr>
            <p:spPr>
              <a:xfrm>
                <a:off x="8426450" y="4406900"/>
                <a:ext cx="177800" cy="101600"/>
              </a:xfrm>
              <a:custGeom>
                <a:avLst/>
                <a:gdLst/>
                <a:ahLst/>
                <a:cxnLst/>
                <a:rect l="l" t="t" r="r" b="b"/>
                <a:pathLst>
                  <a:path w="177800" h="101600">
                    <a:moveTo>
                      <a:pt x="114300" y="0"/>
                    </a:moveTo>
                    <a:cubicBezTo>
                      <a:pt x="149370" y="0"/>
                      <a:pt x="177800" y="28430"/>
                      <a:pt x="177800" y="63500"/>
                    </a:cubicBezTo>
                    <a:lnTo>
                      <a:pt x="177800" y="76200"/>
                    </a:lnTo>
                    <a:cubicBezTo>
                      <a:pt x="177800" y="90228"/>
                      <a:pt x="166428" y="101600"/>
                      <a:pt x="152400" y="101600"/>
                    </a:cubicBezTo>
                    <a:lnTo>
                      <a:pt x="25400" y="101600"/>
                    </a:lnTo>
                    <a:cubicBezTo>
                      <a:pt x="11372" y="101600"/>
                      <a:pt x="0" y="90228"/>
                      <a:pt x="0" y="762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lnTo>
                      <a:pt x="114300" y="0"/>
                    </a:lnTo>
                    <a:close/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</p:sp>
        </p:grpSp>
        <p:sp>
          <p:nvSpPr>
            <p:cNvPr id="115" name="TextBox 115"/>
            <p:cNvSpPr txBox="1"/>
            <p:nvPr/>
          </p:nvSpPr>
          <p:spPr>
            <a:xfrm>
              <a:off x="8879205" y="4188142"/>
              <a:ext cx="130749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E1E1E"/>
                  </a:solidFill>
                  <a:latin typeface="Arial"/>
                  <a:ea typeface="Microsoft YaHei"/>
                  <a:cs typeface="Arial"/>
                </a:rPr>
                <a:t>讲武堂 &amp; 社群</a:t>
              </a:r>
            </a:p>
          </p:txBody>
        </p:sp>
        <p:sp>
          <p:nvSpPr>
            <p:cNvPr id="116" name="TextBox 116"/>
            <p:cNvSpPr txBox="1"/>
            <p:nvPr/>
          </p:nvSpPr>
          <p:spPr>
            <a:xfrm>
              <a:off x="8883968" y="4438174"/>
              <a:ext cx="1349073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9E9E9E"/>
                  </a:solidFill>
                  <a:latin typeface="Arial"/>
                  <a:ea typeface="Microsoft YaHei"/>
                  <a:cs typeface="Arial"/>
                </a:rPr>
                <a:t>报名 · 微信群 · 讲师</a:t>
              </a:r>
            </a:p>
          </p:txBody>
        </p:sp>
        <p:sp>
          <p:nvSpPr>
            <p:cNvPr id="117" name="Line 117"/>
            <p:cNvSpPr/>
            <p:nvPr/>
          </p:nvSpPr>
          <p:spPr>
            <a:xfrm>
              <a:off x="8191500" y="4762500"/>
              <a:ext cx="3086100" cy="9525"/>
            </a:xfrm>
            <a:custGeom>
              <a:avLst/>
              <a:gdLst/>
              <a:ahLst/>
              <a:cxnLst/>
              <a:rect l="l" t="t" r="r" b="b"/>
              <a:pathLst>
                <a:path w="3086100" h="9525">
                  <a:moveTo>
                    <a:pt x="0" y="0"/>
                  </a:moveTo>
                  <a:lnTo>
                    <a:pt x="3086100" y="0"/>
                  </a:lnTo>
                </a:path>
              </a:pathLst>
            </a:custGeom>
            <a:noFill/>
            <a:ln w="9525">
              <a:solidFill>
                <a:srgbClr val="E8F5EE"/>
              </a:solidFill>
            </a:ln>
          </p:spPr>
        </p:sp>
        <p:sp>
          <p:nvSpPr>
            <p:cNvPr id="118" name="Rectangle 118"/>
            <p:cNvSpPr/>
            <p:nvPr/>
          </p:nvSpPr>
          <p:spPr>
            <a:xfrm>
              <a:off x="8191500" y="4876800"/>
              <a:ext cx="3048000" cy="304800"/>
            </a:xfrm>
            <a:prstGeom prst="roundRect">
              <a:avLst>
                <a:gd name="adj" fmla="val 25000"/>
              </a:avLst>
            </a:prstGeom>
            <a:solidFill>
              <a:srgbClr val="E8F5EE"/>
            </a:solidFill>
            <a:ln>
              <a:noFill/>
            </a:ln>
          </p:spPr>
        </p:sp>
        <p:sp>
          <p:nvSpPr>
            <p:cNvPr id="119" name="TextBox 119"/>
            <p:cNvSpPr txBox="1"/>
            <p:nvPr/>
          </p:nvSpPr>
          <p:spPr>
            <a:xfrm>
              <a:off x="9063925" y="4971574"/>
              <a:ext cx="130315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3A9E6A"/>
                  </a:solidFill>
                  <a:latin typeface="Consolas"/>
                  <a:ea typeface="Microsoft YaHei"/>
                  <a:cs typeface="Consolas"/>
                </a:rPr>
                <a:t>elitecoach101.com</a:t>
              </a:r>
            </a:p>
          </p:txBody>
        </p:sp>
        <p:sp>
          <p:nvSpPr>
            <p:cNvPr id="120" name="Ellipse 120"/>
            <p:cNvSpPr/>
            <p:nvPr/>
          </p:nvSpPr>
          <p:spPr>
            <a:xfrm>
              <a:off x="8258175" y="5362575"/>
              <a:ext cx="57150" cy="57150"/>
            </a:xfrm>
            <a:prstGeom prst="ellipse">
              <a:avLst/>
            </a:prstGeom>
            <a:solidFill>
              <a:srgbClr val="3A9E6A"/>
            </a:solidFill>
            <a:ln>
              <a:noFill/>
            </a:ln>
          </p:spPr>
        </p:sp>
        <p:sp>
          <p:nvSpPr>
            <p:cNvPr id="121" name="TextBox 121"/>
            <p:cNvSpPr txBox="1"/>
            <p:nvPr/>
          </p:nvSpPr>
          <p:spPr>
            <a:xfrm>
              <a:off x="8387715" y="5315902"/>
              <a:ext cx="142984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课程报名 · 下期预告</a:t>
              </a:r>
            </a:p>
          </p:txBody>
        </p:sp>
        <p:sp>
          <p:nvSpPr>
            <p:cNvPr id="122" name="Ellipse 122"/>
            <p:cNvSpPr/>
            <p:nvPr/>
          </p:nvSpPr>
          <p:spPr>
            <a:xfrm>
              <a:off x="8258175" y="5629275"/>
              <a:ext cx="57150" cy="57150"/>
            </a:xfrm>
            <a:prstGeom prst="ellipse">
              <a:avLst/>
            </a:prstGeom>
            <a:solidFill>
              <a:srgbClr val="3A9E6A"/>
            </a:solidFill>
            <a:ln>
              <a:noFill/>
            </a:ln>
          </p:spPr>
        </p:sp>
        <p:sp>
          <p:nvSpPr>
            <p:cNvPr id="123" name="TextBox 123"/>
            <p:cNvSpPr txBox="1"/>
            <p:nvPr/>
          </p:nvSpPr>
          <p:spPr>
            <a:xfrm>
              <a:off x="8387715" y="5582602"/>
              <a:ext cx="197424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微信 austin_xyz · 作业提交</a:t>
              </a:r>
            </a:p>
          </p:txBody>
        </p:sp>
        <p:sp>
          <p:nvSpPr>
            <p:cNvPr id="124" name="Ellipse 124"/>
            <p:cNvSpPr/>
            <p:nvPr/>
          </p:nvSpPr>
          <p:spPr>
            <a:xfrm>
              <a:off x="8258175" y="5895975"/>
              <a:ext cx="57150" cy="57150"/>
            </a:xfrm>
            <a:prstGeom prst="ellipse">
              <a:avLst/>
            </a:prstGeom>
            <a:solidFill>
              <a:srgbClr val="3A9E6A"/>
            </a:solidFill>
            <a:ln>
              <a:noFill/>
            </a:ln>
          </p:spPr>
        </p:sp>
        <p:sp>
          <p:nvSpPr>
            <p:cNvPr id="125" name="TextBox 125"/>
            <p:cNvSpPr txBox="1"/>
            <p:nvPr/>
          </p:nvSpPr>
          <p:spPr>
            <a:xfrm>
              <a:off x="8387715" y="5849302"/>
              <a:ext cx="239596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邮件 austin.aicourse@gmail.com</a:t>
              </a:r>
            </a:p>
          </p:txBody>
        </p:sp>
      </p:grpSp>
      <p:sp>
        <p:nvSpPr>
          <p:cNvPr id="127" name="TextBox 127"/>
          <p:cNvSpPr txBox="1"/>
          <p:nvPr/>
        </p:nvSpPr>
        <p:spPr>
          <a:xfrm>
            <a:off x="11093434" y="6554152"/>
            <a:ext cx="54040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22 / 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4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19" dur="4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14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3" dur="4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4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7" dur="4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43" grpId="0"/>
      <p:bldP spid="70" grpId="0"/>
      <p:bldP spid="88" grpId="0"/>
      <p:bldP spid="106" grpId="0"/>
      <p:bldP spid="126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