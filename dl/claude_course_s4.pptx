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07dd9f9d0_2_7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7" name="Google Shape;127;g3f07dd9f9d0_2_7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今天我们要做一件很酷的事——把炒股分析这件事，变成一套可以重复使用的 AI 工具。我叫 Austin，这是我们 AI 超能力课程的第三节。今天的主角是这四个 Skill：/ticker-scan、/stock-analyze、/stock-entry、/stock-exit——从找股票到离场，全流程 AI 辅助。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f07dd9f9d0_2_10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9" name="Google Shape;159;g3f07dd9f9d0_2_10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先给大家看一下今天的时间安排。我们会用 10 分钟做一个热身演示，然后用大约 45 分钟讲理论，核心是三个框架。接下来最重头的是 30 分钟的 Skill 工程——我会当场把 /ticker-scan 从零写出来，让大家看清楚每一行 prompt 的用意。最后 30 分钟 Q&amp;A。节奏会比较紧，但内容很实用。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f07dd9f9d0_2_16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4" name="Google Shape;214;g3f07dd9f9d0_2_16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炒股这件事，痛点其实很明显。你每天要看多少信息？财报、新闻、技术图形、行业报告——光是收集数据就要几个小时。更大的问题是，就算你有方法论，执行的时候情绪会干扰你。今天我们要解决的就是这个问题：让 AI 帮你做信息收集和初步筛选，你只需要做最后的决策。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f07dd9f9d0_2_20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7" name="Google Shape;257;g3f07dd9f9d0_2_20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一页是开场演示的架构总览：先看结果再讲原理。演示时按顺序跑完四个Skill，让学员看到完整的从找股到离场全流程，再倒回去解释背后逻辑。/ticker-scan：扫七大热门赛道，输出候选股清单。/stock-analyze：对候选股做BAIT基本面评分+SEPA技术确认，输出个股研究报告。/stock-entry：Moneyball R/R计算+入场区间+仓位建议+止损位。/stock-exit：止损触发检查+止盈节奏+Stage 3/4清仓信号。四个Skill输入输出清晰，可单独用也可串联。数据来源用yfinance，零配置，现场直接跑。演示金句：10分钟看完，这就是今天要教大家做出来的系统。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f07dd9f9d0_2_27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5" name="Google Shape;325;g3f07dd9f9d0_2_27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一句话定位：热门赛道选股方法论是一套「基金经理视角」的选股体系——解决的是「去哪里找股票」。它不是随机选股，而是先锁定七大结构性赛道，再在赛道里找翻倍股候选。核心逻辑：赛道景气 × 基本面拐点 × 催化剂共振，三者同时出现才是真正的机会。完整框架在 wiki/frameworks/hot-sector-method.md。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3f07dd9f9d0_2_34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7" name="Google Shape;397;g3f07dd9f9d0_2_34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七大赛道是「2026+」的结构性机会窗口，不是短期炒作：存储记忆体（MU/MRVL/GSIT）、AI光电互连（COHR/CRDO/AAOI）、卫星通讯（RKBL/ASTS）、AI功率半导体/电网（NVTS/WOLF）、半导体封装测试（AMKR/COHU）、矿产资源（UUUU/ABAT）、房地产（OPEN/COMP）。/ticker-scan会扫描所有七大赛道，帮学员找到处于上升期的候选股。记住：选对赛道=把自己放在顺风位置，是第一步也是最重要的一步。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3f07dd9f9d0_2_4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7" name="Google Shape;477;g3f07dd9f9d0_2_4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光选对赛道还不够，同一赛道里也分好股坏股。热门赛道选股方法论总结了九大翻倍股共同特征：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g3f07dd9f9d0_2_5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1" name="Google Shape;581;g3f07dd9f9d0_2_5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A0A0A"/>
                </a:solidFill>
                <a:highlight>
                  <a:srgbClr val="FDFDFC"/>
                </a:highlight>
                <a:latin typeface="Roboto"/>
                <a:ea typeface="Roboto"/>
                <a:cs typeface="Roboto"/>
                <a:sym typeface="Roboto"/>
              </a:rPr>
              <a:t>这一页是多倍股六大类型 × 五大公式筛选框架（2B层），用来判断候选股是否具备多倍潜力，是继翻倍股九大特征粗筛后的量化分类步骤。</a:t>
            </a:r>
            <a:endParaRPr sz="1050">
              <a:solidFill>
                <a:srgbClr val="0A0A0A"/>
              </a:solidFill>
              <a:highlight>
                <a:srgbClr val="FDFDFC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A0A0A"/>
                </a:solidFill>
                <a:highlight>
                  <a:srgbClr val="FDFDFC"/>
                </a:highlight>
                <a:latin typeface="Roboto"/>
                <a:ea typeface="Roboto"/>
                <a:cs typeface="Roboto"/>
                <a:sym typeface="Roboto"/>
              </a:rPr>
              <a:t>六大类型（符合越多越好）：① 行业赛道足够大（TAM是否多年期结构性需求？）② 营收进入爆发期（YoY&gt;50%或环比加速？）③ 订单储备超过当年营收（Backlog/TTM Revenue&gt;1？）④ 技术壁垒高，护城河阔（专利/独家合同/工艺门槛？）⑤ 机构开始建仓（13F或成交量异常增加？）⑥ 市值小，上涨空间大（必须主板上市，非OTC）</a:t>
            </a:r>
            <a:endParaRPr sz="1050">
              <a:solidFill>
                <a:srgbClr val="0A0A0A"/>
              </a:solidFill>
              <a:highlight>
                <a:srgbClr val="FDFDFC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A0A0A"/>
                </a:solidFill>
                <a:highlight>
                  <a:srgbClr val="FDFDFC"/>
                </a:highlight>
                <a:latin typeface="Roboto"/>
                <a:ea typeface="Roboto"/>
                <a:cs typeface="Roboto"/>
                <a:sym typeface="Roboto"/>
              </a:rPr>
              <a:t>五大公式（必要条件，缺一不可）：大赛道 / 营收高增长 / 订单大且多 / 技术壁垒高 / 市值小（主板，非OTC）</a:t>
            </a:r>
            <a:endParaRPr sz="1050">
              <a:solidFill>
                <a:srgbClr val="0A0A0A"/>
              </a:solidFill>
              <a:highlight>
                <a:srgbClr val="FDFDFC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A0A0A"/>
                </a:solidFill>
                <a:highlight>
                  <a:srgbClr val="FDFDFC"/>
                </a:highlight>
                <a:latin typeface="Roboto"/>
                <a:ea typeface="Roboto"/>
                <a:cs typeface="Roboto"/>
                <a:sym typeface="Roboto"/>
              </a:rPr>
              <a:t>什么是13F？美国SEC要求管理资金超$1亿的机构投资者每季度（45天内）申报的持仓文件（Form 13-F），在SEC的EDGAR系统可免费查询。大机构买入同一只股往往是强烈的基本面信号，是判断"机构是否开始建仓"的权威数据来源。</a:t>
            </a:r>
            <a:endParaRPr sz="1050">
              <a:solidFill>
                <a:srgbClr val="0A0A0A"/>
              </a:solidFill>
              <a:highlight>
                <a:srgbClr val="FDFDFC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A0A0A"/>
                </a:solidFill>
                <a:highlight>
                  <a:srgbClr val="FDFDFC"/>
                </a:highlight>
                <a:latin typeface="Roboto"/>
                <a:ea typeface="Roboto"/>
                <a:cs typeface="Roboto"/>
                <a:sym typeface="Roboto"/>
              </a:rPr>
              <a:t>判断标准：六大类型满足≥3/6，且五大公式满足≥3/5，才进入下一步2C个股确定性核查。</a:t>
            </a:r>
            <a:endParaRPr sz="1050">
              <a:solidFill>
                <a:srgbClr val="0A0A0A"/>
              </a:solidFill>
              <a:highlight>
                <a:srgbClr val="FDFDFC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f07dd9f9d0_2_60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61" name="Google Shape;661;g3f07dd9f9d0_2_60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2C是进场前的最后把关。五大标准：①营收/盈利高速增长（YoY&gt;20%或亏损收窄&gt;50%）；②订单积压覆盖≥2个季度；③至少3个季度连续正向增长；④中小盘重点看盈利拐点（亏→盈那一季）；⑤财报验证后技术面周/月K同步确认。建仓用金字塔加仓：试仓5-10%→趋势确认加仓→满仓持有。核心风险纪律：无杠杆铁律、免费股策略（涨100%卖一半收回成本）、排除OTC股票、全球动荡期多看少动手。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3f07dd9f9d0_2_69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47" name="Google Shape;747;g3f07dd9f9d0_2_69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一页帮学员在没有单股信心时用ETF替代赛道暴露。各赛道对应：存储→SMH；AI半导体→SOXX；清洁能源/电网→ICLN/XLE；矿产→GDX/XME；房地产→VNQ/IYR。注意：并非每个赛道都有纯ETF对应，部分赛道（如低轨卫星、光电互连）需用个股代替。ETF适合对赛道有信心但对个股分析没把握的学员，流动性好、波动低于单股，但上行空间也更有限。/ticker-scan输出的候选股可与ETF对比，判断个股是否跑赢赛道。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6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f07dd9f9d0_0_6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48" name="Google Shape;848;g3f07dd9f9d0_0_6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SEPA是Mark Minervini的趋势模板框架，解决「什么时候买」的问题。核心理念：只在Stage 2上升期买入，其他阶段持币观望。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三个关键术语：ATR（Average True Range）= 14天平均真实波动幅度（每日High-Low均值），衡量个股正常波动区间，止损用ATR的1-2倍设置，避免在正常波动内被洗出。RS（Relative Strength）= 个股相对大盘的强度百分位，Minervini要求&gt;70分位，即该股表现跑赢70%的股票才考虑买入。MA150 = 150日移动均线，中期趋势参考线，价格必须在MA150上方才符合趋势模板。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Stage划分：Stage 1底部蓄势（观望不买）→ Stage 2上升期（唯一买入窗口）→ Stage 3顶部震荡（开始减仓）→ Stage 4下跌期（持币远离）。8大条件需全部通过才可入场，详见下一页。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3f07dd9f9d0_0_15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40" name="Google Shape;940;g3f07dd9f9d0_0_15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这一页是SEPA 5步入场流程，承接上一页的Stage/ATR/RS框架，聚焦于「确认后怎么操作」。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两个关键术语：EPS（Earnings Per Share）= 每股盈利，SEPA要求最近2-3季度同比加速增长，这是最强的基本面入场信号。R/R（Risk/Reward）= 风险收益比，SEPA要求≥2:1，即潜在上涨空间至少是止损距离的2倍，不满足则不入场。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5步入场逻辑：① Stage 2确认（均线排列MA50&gt;MA150&gt;MA200）→ ② EPS加速验证（近季加速&gt;上季）→ ③ 趋势模板打分（≥5项入场，≥7项强信号）→ ④ 识别轴心点（VCP缩量/杯柄/平台突破）→ ⑤ 突破确认（成交量≥1.5×均量，轴心点上方0-3%入场，R/R≥2:1）。所有条件同时满足才执行，缺一不可。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2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g3f07dd9f9d0_2_96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24" name="Google Shape;1024;g3f07dd9f9d0_2_96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Moneyball框架的核心是期望值（EV）定价。公式：EV = (牛市价格 × 牛市概率) + (基准价格 × 基准概率) + (熊市价格 × 熊市概率)。EV = 对股票未来价值的概率加权估算。比单纯看PE/PS更科学，因为它显式考虑了不同情景的概率。实操举例：假设牛市目标$100（概率40%）+ 基准$70（概率40%）+ 熊市$30（概率20%）= EV = $40+$28+$6 = $74。如果当前价$55，距EV有35%折让，超过15-25%安全边际，符合入场条件。EV越高于当前价，意味着上行空间越大、安全边际越足。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0" name="Shape 1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Google Shape;1091;g3f07dd9f9d0_0_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92" name="Google Shape;1092;g3f07dd9f9d0_0_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Moneyball的第二要素是非对称风险（Asymmetry）。R/R ≥ 2:1 是铁律——潜在收益必须至少是潜在损失的2倍。两类股票的参数差异（重要！）：标准股（市值≥$2B，ATR%≤4%）：止损收紧到7-8%，目标15-25%，适合应税账户、追求稳定。小盘高波动股（市值&lt;$2B，ATR%&gt;4%）：止损放宽到10-15%，目标30-50%，适合Roth IRA账户。区别的本质：小盘股正常日内波动就可能&gt;4%，用标准股的止损会被频繁洗出。非对称比（Asymmetry Ratio）= 牛市概率/熊市概率，比值越高说明市场定价越保守。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9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Google Shape;1150;g3f07dd9f9d0_2_109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51" name="Google Shape;1151;g3f07dd9f9d0_2_109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BAIT是用来识别市场定价错误的框架，对应/stock-analyze Skill。核心逻辑：市场并不总是理性的，当你发现至少2-3种错误定价原因叠加时，胜算大幅提升。B=行为错误（典型案例：财报超预期但股价下跌，是恐惧导致的过度反应，是买入机会）；A=分析错误（共识模型没算进回购导致EPS复利增长）；I=信息错误（关键数据在SEC 10-K或电话会里，但分析师覆盖不足）；T=技术错误（指数调仓强制卖出，和基本面无关）。判断规则：1因子弱，2因子可关注，3+因子高确信度入场。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5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g3f07dd9f9d0_2_11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87" name="Google Shape;1187;g3f07dd9f9d0_2_11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在开始写Skill之前，先花2分钟了解我们的工具——Claude Code。类比理解：Claude网页版=聊天顾问，Claude Code=有文件系统权限的AI工程师。关键区别：Claude Code能读写项目文件、运行Python脚本、执行命令行——在本地项目目录里工作。我们今天用它的两个能力：①运行 /ticker-scan 等Skill命令；②现场写和修改Skill文件。不需要会写代码——Skill文件是Markdown，用自然语言写分析逻辑，Claude Code帮你把自然语言转成操作。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6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g3f07dd9f9d0_2_119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58" name="Google Shape;1258;g3f07dd9f9d0_2_119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这张表是今天课程的「全局视图」，让大家看清楚每个Skill背后的方法论。/ticker-scan → 热门赛道选股方法论（七大赛道+翻倍股特征）/stock-analyze → BAIT基本面评分（四维错误定价识别）/stock-entry → SEPA技术确认 + Moneyball R/R计算/stock-exit → 免费股策略 + Stage 3/4清仓信号Synthesis系统还整合了15+个专业Skill：每日市场简报(morning-check/market-daily)、赛道分析(sector-analyze)、PPT生成(stock-ppt)等。不是AI在猜——是把专家方法系统化后交给AI执行。框架是灵魂，Skill是外壳。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4" name="Shape 1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Google Shape;1325;g3f07dd9f9d0_0_23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26" name="Google Shape;1326;g3f07dd9f9d0_0_23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在开始写Skill之前，有一件事很重要：Python数据层已经给大家预装好了，不需要自己写代码。预装的脚本包括：ticker_scan.py（拉取价格+技术指标）。你需要做的只有一件事：用自然语言在.claude/commands/下面写Skill的Markdown文件，描述分析框架和输出格式。Claude Code会调用Python脚本获取数据，然后按你的框架分析。这就是「你只需要描述逻辑」的含义——把专家知识写成Markdown，Python层自动取数。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7" name="Shape 1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Google Shape;1388;g3f07dd9f9d0_2_13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89" name="Google Shape;1389;g3f07dd9f9d0_2_13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两层分离架构是今天最重要的工程原则，背后有三个原因：①稳定性：Python层取数稳定可测试，不依赖AI；LLM层灵活，自然语言定义分析逻辑。②可维护性：想换分析框架？只改Markdown文件，不动Python代码；想加新数据源？只改Python，不改prompt。③可信性：数据从真实API来，AI负责分析，分开后容易排查问题——是数据错了还是分析逻辑错了？类比：Python层是食材供应商（稳定可靠），LLM层是厨师（灵活多变）。好菜需要两者都好。三类文件：req-python.md（需求文档）、数据脚本.py（Python层）、Skill命令.md（LLM层）。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3" name="Shape 1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g3f07dd9f9d0_2_139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55" name="Google Shape;1455;g3f07dd9f9d0_2_139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是今天课程含金量最高的18分钟。我会把/ticker-scan清空，当场从零重新写一个。五步流程：①分层设计（把热赛道方法论分成req-python/llm/websearch三类文件）→②对照req-python.md验证Python脚本字段覆盖→③写LLM层（把七大赛道+翻倍股特征写进prompt）→④加Web Search层（补充实时新闻+机构动向）→⑤两步测试（Claude对照需求文件验证+运行/ticker-scan确认格式和打分）。大家跟着看，观察：为什么要先分层？prompt是怎么嵌入框架知识的？这套方法能复用到任何专业领域。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6" name="Shape 1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Google Shape;1527;g3f07dd9f9d0_2_146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28" name="Google Shape;1528;g3f07dd9f9d0_2_146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五个核心原则是今天工程部分的精华总结：①先需求后实现：写req-python.md把需求说清楚，分清Python/LLM/WebSearch三层再动手。②数据层与分析层分离：Python取数，Markdown定义逻辑，互不耦合。③两步验证：先用Claude对照需求文件审查脚本，再运行Skill看端到端结果。④Prompt当代码管理：.claude/commands/下的md文件用git版本控制，每次改动可追溯。⑤框架可移植性：今天的炒股Skill架构，同样适用于法律研究、医疗分析、营销洞察。金句：任何你信任的专家方法，都可以照这个路径变成你自己的AI工具。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0" name="Shape 1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oogle Shape;1571;g3f07dd9f9d0_2_150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72" name="Google Shape;1572;g3f07dd9f9d0_2_150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一页展示的是stock-analysis-lite的完整系统。四条流水线层层递进：LAYER01扫描层：/ticker-scan扫七大赛道→输出候选股清单。LAYER02分析层：/stock-analyze做BAIT评分和SEPA确认→输出个股分析报告。LAYER03决策层：/stock-entry算入场点和止损位（Moneyball R/R）→/stock-exit监控退出信号。这套系统把手动需要3-5小时的工作压缩到20分钟内。下载Lite-Kit就有四个Skill的完整模板和ticker_scan.py数据脚本，可以直接用或基于它扩展。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1" name="Shape 1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Google Shape;1652;g3f07dd9f9d0_2_158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53" name="Google Shape;1653;g3f07dd9f9d0_2_158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彩蛋部分先别剧透——但可以预告："今天的4个Skill只是起点"。synthesis.md是六框架协作决策总纲，覆盖BAIT+Moneyball识别量化、SEPA技术确认、热赛道漏斗三大框架，再分三类持仓（蓝筹长持/翻倍候选/热赛道动量）。有兴趣深研的同学课后看wiki/frameworks/synthesis.md。课程彩蛋展示额外Skill：/stock-ppt一键生成个股分析PPT、/sector-ppt生成赛道PPT、/etf-ppt生成ETF分析PPT。掌握Skill写法后这些都能自己做出来。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9" name="Shape 1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" name="Google Shape;1710;g3f07dd9f9d0_2_164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11" name="Google Shape;1711;g3f07dd9f9d0_2_164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作业分三步：STEP01用跟我做-提示词.md把老师课堂演示重现一遍，建立自己的/ticker-scan。STEP02在.claude/commands/market-daily.md写Skill（角色定义+上下文+执行指令+输出格式），加分项用Python写数据抓取脚本。STEP03运行/market-daily，截图，写200字以</a:t>
            </a:r>
            <a:r>
              <a:rPr lang="en" sz="1800"/>
              <a:t>上</a:t>
            </a:r>
            <a:r>
              <a:rPr lang="en" sz="1800"/>
              <a:t>心得（学了什么/遇到什么问题），发邮件。邮件：austin.aicourse@gmail.com，主题【S3作业】+姓名。暂无截止时间，公布后另行通知。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4" name="Shape 1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5" name="Google Shape;1775;g3f07dd9f9d0_2_170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6" name="Google Shape;1776;g3f07dd9f9d0_2_170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课程材料在Course Portal的S3学员资料区。代码库stock-analysis-lite在GitHub供参考。方法论出处：SEPA来自Mark Minervini，minervini.com有官方资源；Moneyball R/R原则来自William O'Neil，investors.com（IBD）有相关内容。推荐延伸：《Momentum Masters》四人访谈、yfinance免费数据API、Anthropic Prompt Engineering Guide官方文档。免责声明：所有内容仅供学习AI工程方法，不构成投资建议。股市有风险，入市须谨慎。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4" name="Shape 1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5" name="Google Shape;1845;g3f07dd9f9d0_2_177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46" name="Google Shape;1846;g3f07dd9f9d0_2_177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Q&amp;A时间。常见问题预备："Skill的prompt写多长？"够用就好，50-200字，重点是逻辑清晰而非字数。"Python我不会，能用吗？"跑现有Skill不需要，改Skill需要一点点，可以让Claude帮写。"能接真实API吗？"yfinance免费实时数据（15分钟延迟），够分析用。"怎么把这套方法用到其他领域？"换方法论文件+换数据源，架构完全通用。课后联系：微信群置顶有资料包，课程门户learn.austinxyz.ai。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541735" y="3305175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>
            <a:off x="34290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77" name="Google Shape;77;p17"/>
          <p:cNvSpPr txBox="1"/>
          <p:nvPr>
            <p:ph idx="2" type="body"/>
          </p:nvPr>
        </p:nvSpPr>
        <p:spPr>
          <a:xfrm>
            <a:off x="348615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78" name="Google Shape;78;p1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5" name="Google Shape;85;p18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7" name="Google Shape;87;p1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00" y="204788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00" y="1076325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1764" y="-188714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49253" y="1628775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003" y="142875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25"/>
          <p:cNvSpPr/>
          <p:nvPr/>
        </p:nvSpPr>
        <p:spPr>
          <a:xfrm>
            <a:off x="0" y="0"/>
            <a:ext cx="3429000" cy="5143500"/>
          </a:xfrm>
          <a:prstGeom prst="rect">
            <a:avLst/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25"/>
          <p:cNvSpPr/>
          <p:nvPr/>
        </p:nvSpPr>
        <p:spPr>
          <a:xfrm>
            <a:off x="0" y="0"/>
            <a:ext cx="3429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25"/>
          <p:cNvSpPr/>
          <p:nvPr/>
        </p:nvSpPr>
        <p:spPr>
          <a:xfrm>
            <a:off x="3257550" y="0"/>
            <a:ext cx="28575" cy="5143500"/>
          </a:xfrm>
          <a:prstGeom prst="rect">
            <a:avLst/>
          </a:prstGeom>
          <a:solidFill>
            <a:srgbClr val="E0D8D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25"/>
          <p:cNvSpPr/>
          <p:nvPr/>
        </p:nvSpPr>
        <p:spPr>
          <a:xfrm>
            <a:off x="142875" y="1000125"/>
            <a:ext cx="3143250" cy="3143250"/>
          </a:xfrm>
          <a:prstGeom prst="ellipse">
            <a:avLst/>
          </a:prstGeom>
          <a:solidFill>
            <a:srgbClr val="C96133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5"/>
          <p:cNvSpPr/>
          <p:nvPr/>
        </p:nvSpPr>
        <p:spPr>
          <a:xfrm>
            <a:off x="571500" y="1428750"/>
            <a:ext cx="2286000" cy="2286000"/>
          </a:xfrm>
          <a:prstGeom prst="ellipse">
            <a:avLst/>
          </a:prstGeom>
          <a:solidFill>
            <a:srgbClr val="C96133">
              <a:alpha val="705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5"/>
          <p:cNvSpPr/>
          <p:nvPr/>
        </p:nvSpPr>
        <p:spPr>
          <a:xfrm>
            <a:off x="1000125" y="1857375"/>
            <a:ext cx="1428750" cy="1428750"/>
          </a:xfrm>
          <a:prstGeom prst="ellipse">
            <a:avLst/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5"/>
          <p:cNvSpPr txBox="1"/>
          <p:nvPr/>
        </p:nvSpPr>
        <p:spPr>
          <a:xfrm>
            <a:off x="1423720" y="1629489"/>
            <a:ext cx="58156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SESSION 3</a:t>
            </a:r>
            <a:endParaRPr sz="1100"/>
          </a:p>
        </p:txBody>
      </p:sp>
      <p:sp>
        <p:nvSpPr>
          <p:cNvPr id="137" name="Google Shape;137;p25"/>
          <p:cNvSpPr txBox="1"/>
          <p:nvPr/>
        </p:nvSpPr>
        <p:spPr>
          <a:xfrm>
            <a:off x="954326" y="2045970"/>
            <a:ext cx="152034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Claude Code 超能力课程</a:t>
            </a:r>
            <a:endParaRPr sz="1100"/>
          </a:p>
        </p:txBody>
      </p:sp>
      <p:sp>
        <p:nvSpPr>
          <p:cNvPr id="138" name="Google Shape;138;p25"/>
          <p:cNvSpPr/>
          <p:nvPr/>
        </p:nvSpPr>
        <p:spPr>
          <a:xfrm>
            <a:off x="1628775" y="2071688"/>
            <a:ext cx="285750" cy="571500"/>
          </a:xfrm>
          <a:custGeom>
            <a:rect b="b" l="l" r="r" t="t"/>
            <a:pathLst>
              <a:path extrusionOk="0" h="762000" w="381000">
                <a:moveTo>
                  <a:pt x="228600" y="0"/>
                </a:moveTo>
                <a:lnTo>
                  <a:pt x="0" y="381000"/>
                </a:lnTo>
                <a:lnTo>
                  <a:pt x="190500" y="381000"/>
                </a:lnTo>
                <a:lnTo>
                  <a:pt x="152400" y="762000"/>
                </a:lnTo>
                <a:lnTo>
                  <a:pt x="381000" y="381000"/>
                </a:lnTo>
                <a:lnTo>
                  <a:pt x="190500" y="381000"/>
                </a:lnTo>
                <a:close/>
              </a:path>
            </a:pathLst>
          </a:custGeom>
          <a:solidFill>
            <a:srgbClr val="C96133">
              <a:alpha val="60000"/>
            </a:srgbClr>
          </a:solidFill>
          <a:ln>
            <a:noFill/>
          </a:ln>
        </p:spPr>
      </p:sp>
      <p:sp>
        <p:nvSpPr>
          <p:cNvPr id="139" name="Google Shape;139;p25"/>
          <p:cNvSpPr/>
          <p:nvPr/>
        </p:nvSpPr>
        <p:spPr>
          <a:xfrm>
            <a:off x="1143000" y="3000375"/>
            <a:ext cx="1143000" cy="2571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25"/>
          <p:cNvSpPr txBox="1"/>
          <p:nvPr/>
        </p:nvSpPr>
        <p:spPr>
          <a:xfrm>
            <a:off x="1509698" y="3080742"/>
            <a:ext cx="40960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第三节</a:t>
            </a:r>
            <a:endParaRPr sz="1100"/>
          </a:p>
        </p:txBody>
      </p:sp>
      <p:sp>
        <p:nvSpPr>
          <p:cNvPr id="141" name="Google Shape;141;p25"/>
          <p:cNvSpPr txBox="1"/>
          <p:nvPr/>
        </p:nvSpPr>
        <p:spPr>
          <a:xfrm>
            <a:off x="1069151" y="3552230"/>
            <a:ext cx="1290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Austin Xu </a:t>
            </a:r>
            <a:endParaRPr sz="1100"/>
          </a:p>
        </p:txBody>
      </p:sp>
      <p:sp>
        <p:nvSpPr>
          <p:cNvPr id="142" name="Google Shape;142;p25"/>
          <p:cNvSpPr txBox="1"/>
          <p:nvPr/>
        </p:nvSpPr>
        <p:spPr>
          <a:xfrm>
            <a:off x="1587734" y="3764399"/>
            <a:ext cx="25353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sz="1100"/>
          </a:p>
        </p:txBody>
      </p:sp>
      <p:sp>
        <p:nvSpPr>
          <p:cNvPr id="143" name="Google Shape;143;p25"/>
          <p:cNvSpPr txBox="1"/>
          <p:nvPr/>
        </p:nvSpPr>
        <p:spPr>
          <a:xfrm>
            <a:off x="3984784" y="1438037"/>
            <a:ext cx="1739396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用 AI 把专家方法变成</a:t>
            </a:r>
            <a:endParaRPr sz="1100"/>
          </a:p>
        </p:txBody>
      </p:sp>
      <p:sp>
        <p:nvSpPr>
          <p:cNvPr id="144" name="Google Shape;144;p25"/>
          <p:cNvSpPr txBox="1"/>
          <p:nvPr/>
        </p:nvSpPr>
        <p:spPr>
          <a:xfrm>
            <a:off x="3960504" y="1731649"/>
            <a:ext cx="28875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AI 金融理财</a:t>
            </a:r>
            <a:endParaRPr sz="1100"/>
          </a:p>
        </p:txBody>
      </p:sp>
      <p:sp>
        <p:nvSpPr>
          <p:cNvPr id="145" name="Google Shape;145;p25"/>
          <p:cNvSpPr txBox="1"/>
          <p:nvPr/>
        </p:nvSpPr>
        <p:spPr>
          <a:xfrm>
            <a:off x="3960495" y="2303145"/>
            <a:ext cx="20122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分析系统</a:t>
            </a:r>
            <a:endParaRPr sz="1100"/>
          </a:p>
        </p:txBody>
      </p:sp>
      <p:sp>
        <p:nvSpPr>
          <p:cNvPr id="146" name="Google Shape;146;p25"/>
          <p:cNvSpPr/>
          <p:nvPr/>
        </p:nvSpPr>
        <p:spPr>
          <a:xfrm>
            <a:off x="4000500" y="2857500"/>
            <a:ext cx="571500" cy="285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5"/>
          <p:cNvSpPr txBox="1"/>
          <p:nvPr/>
        </p:nvSpPr>
        <p:spPr>
          <a:xfrm>
            <a:off x="3984784" y="3081099"/>
            <a:ext cx="3185291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专家方法 → AI Skill → 你的日常买卖工具</a:t>
            </a:r>
            <a:endParaRPr sz="1100"/>
          </a:p>
        </p:txBody>
      </p:sp>
      <p:sp>
        <p:nvSpPr>
          <p:cNvPr id="148" name="Google Shape;148;p25"/>
          <p:cNvSpPr txBox="1"/>
          <p:nvPr/>
        </p:nvSpPr>
        <p:spPr>
          <a:xfrm>
            <a:off x="3990499" y="3629739"/>
            <a:ext cx="78484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/ ticker-scan</a:t>
            </a:r>
            <a:endParaRPr sz="1100"/>
          </a:p>
        </p:txBody>
      </p:sp>
      <p:sp>
        <p:nvSpPr>
          <p:cNvPr id="149" name="Google Shape;149;p25"/>
          <p:cNvSpPr txBox="1"/>
          <p:nvPr/>
        </p:nvSpPr>
        <p:spPr>
          <a:xfrm>
            <a:off x="4847749" y="3629739"/>
            <a:ext cx="91136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/ stock-analyze</a:t>
            </a:r>
            <a:endParaRPr sz="1100"/>
          </a:p>
        </p:txBody>
      </p:sp>
      <p:sp>
        <p:nvSpPr>
          <p:cNvPr id="150" name="Google Shape;150;p25"/>
          <p:cNvSpPr txBox="1"/>
          <p:nvPr/>
        </p:nvSpPr>
        <p:spPr>
          <a:xfrm>
            <a:off x="5919311" y="3629739"/>
            <a:ext cx="81360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/ stock-entry</a:t>
            </a:r>
            <a:endParaRPr sz="1100"/>
          </a:p>
        </p:txBody>
      </p:sp>
      <p:sp>
        <p:nvSpPr>
          <p:cNvPr id="151" name="Google Shape;151;p25"/>
          <p:cNvSpPr txBox="1"/>
          <p:nvPr/>
        </p:nvSpPr>
        <p:spPr>
          <a:xfrm>
            <a:off x="6847999" y="3629739"/>
            <a:ext cx="72159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/ stock-exit</a:t>
            </a:r>
            <a:endParaRPr sz="1100"/>
          </a:p>
        </p:txBody>
      </p:sp>
      <p:sp>
        <p:nvSpPr>
          <p:cNvPr id="152" name="Google Shape;152;p25"/>
          <p:cNvSpPr/>
          <p:nvPr/>
        </p:nvSpPr>
        <p:spPr>
          <a:xfrm>
            <a:off x="4000500" y="3914775"/>
            <a:ext cx="4857750" cy="428625"/>
          </a:xfrm>
          <a:prstGeom prst="roundRect">
            <a:avLst>
              <a:gd fmla="val 13333" name="adj"/>
            </a:avLst>
          </a:prstGeom>
          <a:solidFill>
            <a:srgbClr val="F5F5F0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25"/>
          <p:cNvSpPr txBox="1"/>
          <p:nvPr/>
        </p:nvSpPr>
        <p:spPr>
          <a:xfrm>
            <a:off x="4135517" y="3990856"/>
            <a:ext cx="47591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⚠ 免责声明</a:t>
            </a:r>
            <a:endParaRPr sz="1100"/>
          </a:p>
        </p:txBody>
      </p:sp>
      <p:sp>
        <p:nvSpPr>
          <p:cNvPr id="154" name="Google Shape;154;p25"/>
          <p:cNvSpPr txBox="1"/>
          <p:nvPr/>
        </p:nvSpPr>
        <p:spPr>
          <a:xfrm>
            <a:off x="4135527" y="4105151"/>
            <a:ext cx="3910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</a:rPr>
              <a:t>本课程将炒股理论与 AI 分析结合，提升研究效率。所有分析仅为辅助参考，</a:t>
            </a:r>
            <a:endParaRPr b="1" sz="1300"/>
          </a:p>
        </p:txBody>
      </p:sp>
      <p:sp>
        <p:nvSpPr>
          <p:cNvPr id="155" name="Google Shape;155;p25"/>
          <p:cNvSpPr txBox="1"/>
          <p:nvPr/>
        </p:nvSpPr>
        <p:spPr>
          <a:xfrm>
            <a:off x="4135527" y="4212302"/>
            <a:ext cx="3834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</a:rPr>
              <a:t>不构成具体操作指导。投资有风险，入市须谨慎，请结合自身情况独立判断</a:t>
            </a: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。</a:t>
            </a:r>
            <a:endParaRPr sz="1100"/>
          </a:p>
        </p:txBody>
      </p:sp>
      <p:sp>
        <p:nvSpPr>
          <p:cNvPr id="156" name="Google Shape;156;p25"/>
          <p:cNvSpPr/>
          <p:nvPr/>
        </p:nvSpPr>
        <p:spPr>
          <a:xfrm>
            <a:off x="3429000" y="5114925"/>
            <a:ext cx="5715000" cy="285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6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26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6"/>
          <p:cNvSpPr txBox="1"/>
          <p:nvPr/>
        </p:nvSpPr>
        <p:spPr>
          <a:xfrm>
            <a:off x="560070" y="252889"/>
            <a:ext cx="191466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今天的路线图</a:t>
            </a:r>
            <a:endParaRPr sz="1100"/>
          </a:p>
        </p:txBody>
      </p:sp>
      <p:sp>
        <p:nvSpPr>
          <p:cNvPr id="165" name="Google Shape;165;p26"/>
          <p:cNvSpPr txBox="1"/>
          <p:nvPr/>
        </p:nvSpPr>
        <p:spPr>
          <a:xfrm>
            <a:off x="574357" y="574358"/>
            <a:ext cx="25005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SESSION 3 · 约 150 分钟 · 含10分钟休息</a:t>
            </a:r>
            <a:endParaRPr sz="1100"/>
          </a:p>
        </p:txBody>
      </p:sp>
      <p:sp>
        <p:nvSpPr>
          <p:cNvPr id="166" name="Google Shape;166;p26"/>
          <p:cNvSpPr/>
          <p:nvPr/>
        </p:nvSpPr>
        <p:spPr>
          <a:xfrm>
            <a:off x="800100" y="928688"/>
            <a:ext cx="7144" cy="3786188"/>
          </a:xfrm>
          <a:custGeom>
            <a:rect b="b" l="l" r="r" t="t"/>
            <a:pathLst>
              <a:path extrusionOk="0" h="5048250" w="9525">
                <a:moveTo>
                  <a:pt x="0" y="0"/>
                </a:moveTo>
                <a:lnTo>
                  <a:pt x="0" y="5048250"/>
                </a:lnTo>
              </a:path>
            </a:pathLst>
          </a:custGeom>
          <a:noFill/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26"/>
          <p:cNvSpPr/>
          <p:nvPr/>
        </p:nvSpPr>
        <p:spPr>
          <a:xfrm>
            <a:off x="7429500" y="928688"/>
            <a:ext cx="1428750" cy="1428750"/>
          </a:xfrm>
          <a:prstGeom prst="roundRect">
            <a:avLst>
              <a:gd fmla="val 8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26"/>
          <p:cNvSpPr txBox="1"/>
          <p:nvPr/>
        </p:nvSpPr>
        <p:spPr>
          <a:xfrm>
            <a:off x="7672570" y="1165150"/>
            <a:ext cx="9426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sz="1100"/>
          </a:p>
        </p:txBody>
      </p:sp>
      <p:sp>
        <p:nvSpPr>
          <p:cNvPr id="169" name="Google Shape;169;p26"/>
          <p:cNvSpPr txBox="1"/>
          <p:nvPr/>
        </p:nvSpPr>
        <p:spPr>
          <a:xfrm>
            <a:off x="7983141" y="1676639"/>
            <a:ext cx="32146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分钟</a:t>
            </a:r>
            <a:endParaRPr sz="1100"/>
          </a:p>
        </p:txBody>
      </p:sp>
      <p:sp>
        <p:nvSpPr>
          <p:cNvPr id="170" name="Google Shape;170;p26"/>
          <p:cNvSpPr txBox="1"/>
          <p:nvPr/>
        </p:nvSpPr>
        <p:spPr>
          <a:xfrm>
            <a:off x="7964228" y="1950959"/>
            <a:ext cx="35929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  <a:endParaRPr sz="1100"/>
          </a:p>
        </p:txBody>
      </p:sp>
      <p:sp>
        <p:nvSpPr>
          <p:cNvPr id="171" name="Google Shape;171;p26"/>
          <p:cNvSpPr/>
          <p:nvPr/>
        </p:nvSpPr>
        <p:spPr>
          <a:xfrm>
            <a:off x="657225" y="985838"/>
            <a:ext cx="285750" cy="2857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26"/>
          <p:cNvSpPr txBox="1"/>
          <p:nvPr/>
        </p:nvSpPr>
        <p:spPr>
          <a:xfrm>
            <a:off x="734393" y="1087636"/>
            <a:ext cx="13141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173" name="Google Shape;173;p26"/>
          <p:cNvSpPr/>
          <p:nvPr/>
        </p:nvSpPr>
        <p:spPr>
          <a:xfrm>
            <a:off x="1057275" y="914400"/>
            <a:ext cx="6143625" cy="414338"/>
          </a:xfrm>
          <a:prstGeom prst="roundRect">
            <a:avLst>
              <a:gd fmla="val 1724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26"/>
          <p:cNvSpPr/>
          <p:nvPr/>
        </p:nvSpPr>
        <p:spPr>
          <a:xfrm>
            <a:off x="1057275" y="914400"/>
            <a:ext cx="42863" cy="414338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26"/>
          <p:cNvSpPr txBox="1"/>
          <p:nvPr/>
        </p:nvSpPr>
        <p:spPr>
          <a:xfrm>
            <a:off x="1187291" y="990839"/>
            <a:ext cx="64679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现场演示</a:t>
            </a:r>
            <a:endParaRPr sz="1100"/>
          </a:p>
        </p:txBody>
      </p:sp>
      <p:sp>
        <p:nvSpPr>
          <p:cNvPr id="176" name="Google Shape;176;p26"/>
          <p:cNvSpPr txBox="1"/>
          <p:nvPr/>
        </p:nvSpPr>
        <p:spPr>
          <a:xfrm>
            <a:off x="1190149" y="1165146"/>
            <a:ext cx="312539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先看结果：4 Skill 跑完整炒股分析，开场20分钟看懂整个系统</a:t>
            </a:r>
            <a:endParaRPr sz="1100"/>
          </a:p>
        </p:txBody>
      </p:sp>
      <p:sp>
        <p:nvSpPr>
          <p:cNvPr id="177" name="Google Shape;177;p26"/>
          <p:cNvSpPr/>
          <p:nvPr/>
        </p:nvSpPr>
        <p:spPr>
          <a:xfrm>
            <a:off x="6572250" y="985838"/>
            <a:ext cx="542925" cy="214313"/>
          </a:xfrm>
          <a:prstGeom prst="roundRect">
            <a:avLst>
              <a:gd fmla="val 50000" name="adj"/>
            </a:avLst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26"/>
          <p:cNvSpPr txBox="1"/>
          <p:nvPr/>
        </p:nvSpPr>
        <p:spPr>
          <a:xfrm>
            <a:off x="6667659" y="1043702"/>
            <a:ext cx="3521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20 min</a:t>
            </a:r>
            <a:endParaRPr sz="1100"/>
          </a:p>
        </p:txBody>
      </p:sp>
      <p:sp>
        <p:nvSpPr>
          <p:cNvPr id="179" name="Google Shape;179;p26"/>
          <p:cNvSpPr/>
          <p:nvPr/>
        </p:nvSpPr>
        <p:spPr>
          <a:xfrm>
            <a:off x="657225" y="1700213"/>
            <a:ext cx="285750" cy="28575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6"/>
          <p:cNvSpPr txBox="1"/>
          <p:nvPr/>
        </p:nvSpPr>
        <p:spPr>
          <a:xfrm>
            <a:off x="718220" y="1802011"/>
            <a:ext cx="16376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181" name="Google Shape;181;p26"/>
          <p:cNvSpPr/>
          <p:nvPr/>
        </p:nvSpPr>
        <p:spPr>
          <a:xfrm>
            <a:off x="1057275" y="1628775"/>
            <a:ext cx="6143625" cy="485775"/>
          </a:xfrm>
          <a:prstGeom prst="roundRect">
            <a:avLst>
              <a:gd fmla="val 14706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26"/>
          <p:cNvSpPr/>
          <p:nvPr/>
        </p:nvSpPr>
        <p:spPr>
          <a:xfrm>
            <a:off x="1057275" y="1628775"/>
            <a:ext cx="42863" cy="4857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26"/>
          <p:cNvSpPr txBox="1"/>
          <p:nvPr/>
        </p:nvSpPr>
        <p:spPr>
          <a:xfrm>
            <a:off x="1187291" y="1719501"/>
            <a:ext cx="111260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第一幕：方法论</a:t>
            </a:r>
            <a:endParaRPr sz="1100"/>
          </a:p>
        </p:txBody>
      </p:sp>
      <p:sp>
        <p:nvSpPr>
          <p:cNvPr id="184" name="Google Shape;184;p26"/>
          <p:cNvSpPr txBox="1"/>
          <p:nvPr/>
        </p:nvSpPr>
        <p:spPr>
          <a:xfrm>
            <a:off x="1190149" y="1900952"/>
            <a:ext cx="418352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热门赛道选股核心体系 + SEPA / BAIT / Moneyball 三大框架——4个Skill背后的逻辑</a:t>
            </a:r>
            <a:endParaRPr sz="1100"/>
          </a:p>
        </p:txBody>
      </p:sp>
      <p:sp>
        <p:nvSpPr>
          <p:cNvPr id="185" name="Google Shape;185;p26"/>
          <p:cNvSpPr/>
          <p:nvPr/>
        </p:nvSpPr>
        <p:spPr>
          <a:xfrm>
            <a:off x="6572250" y="1700213"/>
            <a:ext cx="542925" cy="214313"/>
          </a:xfrm>
          <a:prstGeom prst="roundRect">
            <a:avLst>
              <a:gd fmla="val 50000" name="adj"/>
            </a:avLst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26"/>
          <p:cNvSpPr txBox="1"/>
          <p:nvPr/>
        </p:nvSpPr>
        <p:spPr>
          <a:xfrm>
            <a:off x="6652564" y="1758077"/>
            <a:ext cx="38229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45 min</a:t>
            </a:r>
            <a:endParaRPr sz="1100"/>
          </a:p>
        </p:txBody>
      </p:sp>
      <p:sp>
        <p:nvSpPr>
          <p:cNvPr id="187" name="Google Shape;187;p26"/>
          <p:cNvSpPr/>
          <p:nvPr/>
        </p:nvSpPr>
        <p:spPr>
          <a:xfrm>
            <a:off x="657225" y="2486025"/>
            <a:ext cx="285750" cy="28575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26"/>
          <p:cNvSpPr txBox="1"/>
          <p:nvPr/>
        </p:nvSpPr>
        <p:spPr>
          <a:xfrm>
            <a:off x="718220" y="2587823"/>
            <a:ext cx="16376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189" name="Google Shape;189;p26"/>
          <p:cNvSpPr/>
          <p:nvPr/>
        </p:nvSpPr>
        <p:spPr>
          <a:xfrm>
            <a:off x="1057275" y="2414588"/>
            <a:ext cx="6143625" cy="485775"/>
          </a:xfrm>
          <a:prstGeom prst="roundRect">
            <a:avLst>
              <a:gd fmla="val 14706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26"/>
          <p:cNvSpPr/>
          <p:nvPr/>
        </p:nvSpPr>
        <p:spPr>
          <a:xfrm>
            <a:off x="1057275" y="2414588"/>
            <a:ext cx="42863" cy="4857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26"/>
          <p:cNvSpPr txBox="1"/>
          <p:nvPr/>
        </p:nvSpPr>
        <p:spPr>
          <a:xfrm>
            <a:off x="1187291" y="2505314"/>
            <a:ext cx="131445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第二幕：Skill 工程</a:t>
            </a:r>
            <a:endParaRPr sz="1100"/>
          </a:p>
        </p:txBody>
      </p:sp>
      <p:sp>
        <p:nvSpPr>
          <p:cNvPr id="192" name="Google Shape;192;p26"/>
          <p:cNvSpPr txBox="1"/>
          <p:nvPr/>
        </p:nvSpPr>
        <p:spPr>
          <a:xfrm>
            <a:off x="1190149" y="2686764"/>
            <a:ext cx="376372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Python 数据层 + LLM 分析层架构；现场从零写 /ticker-scan</a:t>
            </a:r>
            <a:endParaRPr sz="1100"/>
          </a:p>
        </p:txBody>
      </p:sp>
      <p:sp>
        <p:nvSpPr>
          <p:cNvPr id="193" name="Google Shape;193;p26"/>
          <p:cNvSpPr/>
          <p:nvPr/>
        </p:nvSpPr>
        <p:spPr>
          <a:xfrm>
            <a:off x="6572250" y="2486025"/>
            <a:ext cx="542925" cy="214313"/>
          </a:xfrm>
          <a:prstGeom prst="roundRect">
            <a:avLst>
              <a:gd fmla="val 50000" name="adj"/>
            </a:avLst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26"/>
          <p:cNvSpPr txBox="1"/>
          <p:nvPr/>
        </p:nvSpPr>
        <p:spPr>
          <a:xfrm>
            <a:off x="6652564" y="2543889"/>
            <a:ext cx="38229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45 min</a:t>
            </a:r>
            <a:endParaRPr sz="1100"/>
          </a:p>
        </p:txBody>
      </p:sp>
      <p:sp>
        <p:nvSpPr>
          <p:cNvPr id="195" name="Google Shape;195;p26"/>
          <p:cNvSpPr/>
          <p:nvPr/>
        </p:nvSpPr>
        <p:spPr>
          <a:xfrm>
            <a:off x="657225" y="3271838"/>
            <a:ext cx="285750" cy="2857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26"/>
          <p:cNvSpPr txBox="1"/>
          <p:nvPr/>
        </p:nvSpPr>
        <p:spPr>
          <a:xfrm>
            <a:off x="718220" y="3373636"/>
            <a:ext cx="16376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197" name="Google Shape;197;p26"/>
          <p:cNvSpPr/>
          <p:nvPr/>
        </p:nvSpPr>
        <p:spPr>
          <a:xfrm>
            <a:off x="1057275" y="3200400"/>
            <a:ext cx="6143625" cy="414338"/>
          </a:xfrm>
          <a:prstGeom prst="roundRect">
            <a:avLst>
              <a:gd fmla="val 1724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6"/>
          <p:cNvSpPr/>
          <p:nvPr/>
        </p:nvSpPr>
        <p:spPr>
          <a:xfrm>
            <a:off x="1057275" y="3200400"/>
            <a:ext cx="42863" cy="414338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26"/>
          <p:cNvSpPr txBox="1"/>
          <p:nvPr/>
        </p:nvSpPr>
        <p:spPr>
          <a:xfrm>
            <a:off x="1187291" y="3276838"/>
            <a:ext cx="113589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系统预览 + 作业</a:t>
            </a:r>
            <a:endParaRPr sz="1100"/>
          </a:p>
        </p:txBody>
      </p:sp>
      <p:sp>
        <p:nvSpPr>
          <p:cNvPr id="200" name="Google Shape;200;p26"/>
          <p:cNvSpPr txBox="1"/>
          <p:nvPr/>
        </p:nvSpPr>
        <p:spPr>
          <a:xfrm>
            <a:off x="1190149" y="3451146"/>
            <a:ext cx="289536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加餐：参照改出 /etf-analyze；发布作业：写 /market-daily</a:t>
            </a:r>
            <a:endParaRPr sz="1100"/>
          </a:p>
        </p:txBody>
      </p:sp>
      <p:sp>
        <p:nvSpPr>
          <p:cNvPr id="201" name="Google Shape;201;p26"/>
          <p:cNvSpPr/>
          <p:nvPr/>
        </p:nvSpPr>
        <p:spPr>
          <a:xfrm>
            <a:off x="6572250" y="3271838"/>
            <a:ext cx="542925" cy="214313"/>
          </a:xfrm>
          <a:prstGeom prst="roundRect">
            <a:avLst>
              <a:gd fmla="val 50000" name="adj"/>
            </a:avLst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6"/>
          <p:cNvSpPr txBox="1"/>
          <p:nvPr/>
        </p:nvSpPr>
        <p:spPr>
          <a:xfrm>
            <a:off x="6667659" y="3329702"/>
            <a:ext cx="3521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10 min</a:t>
            </a:r>
            <a:endParaRPr sz="1100"/>
          </a:p>
        </p:txBody>
      </p:sp>
      <p:sp>
        <p:nvSpPr>
          <p:cNvPr id="203" name="Google Shape;203;p26"/>
          <p:cNvSpPr/>
          <p:nvPr/>
        </p:nvSpPr>
        <p:spPr>
          <a:xfrm>
            <a:off x="657225" y="3986213"/>
            <a:ext cx="285750" cy="285750"/>
          </a:xfrm>
          <a:prstGeom prst="ellipse">
            <a:avLst/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6"/>
          <p:cNvSpPr txBox="1"/>
          <p:nvPr/>
        </p:nvSpPr>
        <p:spPr>
          <a:xfrm>
            <a:off x="718220" y="4088011"/>
            <a:ext cx="16376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1100"/>
          </a:p>
        </p:txBody>
      </p:sp>
      <p:sp>
        <p:nvSpPr>
          <p:cNvPr id="205" name="Google Shape;205;p26"/>
          <p:cNvSpPr/>
          <p:nvPr/>
        </p:nvSpPr>
        <p:spPr>
          <a:xfrm>
            <a:off x="1057275" y="3914775"/>
            <a:ext cx="6143625" cy="414338"/>
          </a:xfrm>
          <a:prstGeom prst="roundRect">
            <a:avLst>
              <a:gd fmla="val 17241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26"/>
          <p:cNvSpPr/>
          <p:nvPr/>
        </p:nvSpPr>
        <p:spPr>
          <a:xfrm>
            <a:off x="1057275" y="3914775"/>
            <a:ext cx="42863" cy="414338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26"/>
          <p:cNvSpPr txBox="1"/>
          <p:nvPr/>
        </p:nvSpPr>
        <p:spPr>
          <a:xfrm>
            <a:off x="1187291" y="3991213"/>
            <a:ext cx="40612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Q &amp; A</a:t>
            </a:r>
            <a:endParaRPr sz="1100"/>
          </a:p>
        </p:txBody>
      </p:sp>
      <p:sp>
        <p:nvSpPr>
          <p:cNvPr id="208" name="Google Shape;208;p26"/>
          <p:cNvSpPr txBox="1"/>
          <p:nvPr/>
        </p:nvSpPr>
        <p:spPr>
          <a:xfrm>
            <a:off x="1190149" y="4165521"/>
            <a:ext cx="48006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答疑时间</a:t>
            </a:r>
            <a:endParaRPr sz="1100"/>
          </a:p>
        </p:txBody>
      </p:sp>
      <p:sp>
        <p:nvSpPr>
          <p:cNvPr id="209" name="Google Shape;209;p26"/>
          <p:cNvSpPr/>
          <p:nvPr/>
        </p:nvSpPr>
        <p:spPr>
          <a:xfrm>
            <a:off x="6572250" y="3986213"/>
            <a:ext cx="542925" cy="214313"/>
          </a:xfrm>
          <a:prstGeom prst="roundRect">
            <a:avLst>
              <a:gd fmla="val 50000" name="adj"/>
            </a:avLst>
          </a:prstGeom>
          <a:solidFill>
            <a:srgbClr val="9E9E9E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6"/>
          <p:cNvSpPr txBox="1"/>
          <p:nvPr/>
        </p:nvSpPr>
        <p:spPr>
          <a:xfrm>
            <a:off x="6667659" y="4044077"/>
            <a:ext cx="3521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30 min</a:t>
            </a:r>
            <a:endParaRPr sz="1100"/>
          </a:p>
        </p:txBody>
      </p:sp>
      <p:sp>
        <p:nvSpPr>
          <p:cNvPr id="211" name="Google Shape;211;p26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02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27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27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27"/>
          <p:cNvSpPr txBox="1"/>
          <p:nvPr/>
        </p:nvSpPr>
        <p:spPr>
          <a:xfrm>
            <a:off x="560070" y="252889"/>
            <a:ext cx="360710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为什么炒股需要 AI 系统？</a:t>
            </a:r>
            <a:endParaRPr sz="1100"/>
          </a:p>
        </p:txBody>
      </p:sp>
      <p:sp>
        <p:nvSpPr>
          <p:cNvPr id="220" name="Google Shape;220;p27"/>
          <p:cNvSpPr txBox="1"/>
          <p:nvPr/>
        </p:nvSpPr>
        <p:spPr>
          <a:xfrm>
            <a:off x="574358" y="588645"/>
            <a:ext cx="323011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上了炒股课，但还是不知道 "什么时候买、什么时候卖"</a:t>
            </a:r>
            <a:endParaRPr sz="1100"/>
          </a:p>
        </p:txBody>
      </p:sp>
      <p:sp>
        <p:nvSpPr>
          <p:cNvPr id="221" name="Google Shape;221;p27"/>
          <p:cNvSpPr/>
          <p:nvPr/>
        </p:nvSpPr>
        <p:spPr>
          <a:xfrm>
            <a:off x="428625" y="928688"/>
            <a:ext cx="2586038" cy="2428875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27"/>
          <p:cNvSpPr/>
          <p:nvPr/>
        </p:nvSpPr>
        <p:spPr>
          <a:xfrm>
            <a:off x="428625" y="928688"/>
            <a:ext cx="2586038" cy="42863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27"/>
          <p:cNvSpPr/>
          <p:nvPr/>
        </p:nvSpPr>
        <p:spPr>
          <a:xfrm>
            <a:off x="1364456" y="1214438"/>
            <a:ext cx="714375" cy="714375"/>
          </a:xfrm>
          <a:prstGeom prst="ellipse">
            <a:avLst/>
          </a:prstGeom>
          <a:solidFill>
            <a:srgbClr val="D44545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7"/>
          <p:cNvSpPr txBox="1"/>
          <p:nvPr/>
        </p:nvSpPr>
        <p:spPr>
          <a:xfrm>
            <a:off x="1578912" y="1380172"/>
            <a:ext cx="28546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sz="1100"/>
          </a:p>
        </p:txBody>
      </p:sp>
      <p:sp>
        <p:nvSpPr>
          <p:cNvPr id="225" name="Google Shape;225;p27"/>
          <p:cNvSpPr txBox="1"/>
          <p:nvPr/>
        </p:nvSpPr>
        <p:spPr>
          <a:xfrm>
            <a:off x="946833" y="2152412"/>
            <a:ext cx="154962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方法知道，判断难</a:t>
            </a:r>
            <a:endParaRPr sz="1100"/>
          </a:p>
        </p:txBody>
      </p:sp>
      <p:sp>
        <p:nvSpPr>
          <p:cNvPr id="226" name="Google Shape;226;p27"/>
          <p:cNvSpPr txBox="1"/>
          <p:nvPr/>
        </p:nvSpPr>
        <p:spPr>
          <a:xfrm>
            <a:off x="1156394" y="2423517"/>
            <a:ext cx="113049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有框架，但每次都要</a:t>
            </a:r>
            <a:endParaRPr sz="1100"/>
          </a:p>
        </p:txBody>
      </p:sp>
      <p:sp>
        <p:nvSpPr>
          <p:cNvPr id="227" name="Google Shape;227;p27"/>
          <p:cNvSpPr txBox="1"/>
          <p:nvPr/>
        </p:nvSpPr>
        <p:spPr>
          <a:xfrm>
            <a:off x="1218009" y="2580680"/>
            <a:ext cx="10072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花几小时手动分析</a:t>
            </a:r>
            <a:endParaRPr sz="1100"/>
          </a:p>
        </p:txBody>
      </p:sp>
      <p:sp>
        <p:nvSpPr>
          <p:cNvPr id="228" name="Google Shape;228;p27"/>
          <p:cNvSpPr txBox="1"/>
          <p:nvPr/>
        </p:nvSpPr>
        <p:spPr>
          <a:xfrm>
            <a:off x="1279625" y="2737842"/>
            <a:ext cx="88403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还容易看漏细节</a:t>
            </a:r>
            <a:endParaRPr sz="1100"/>
          </a:p>
        </p:txBody>
      </p:sp>
      <p:sp>
        <p:nvSpPr>
          <p:cNvPr id="229" name="Google Shape;229;p27"/>
          <p:cNvSpPr/>
          <p:nvPr/>
        </p:nvSpPr>
        <p:spPr>
          <a:xfrm>
            <a:off x="3278981" y="928688"/>
            <a:ext cx="2586038" cy="2428875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7"/>
          <p:cNvSpPr/>
          <p:nvPr/>
        </p:nvSpPr>
        <p:spPr>
          <a:xfrm>
            <a:off x="3278981" y="928688"/>
            <a:ext cx="2586038" cy="42863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27"/>
          <p:cNvSpPr/>
          <p:nvPr/>
        </p:nvSpPr>
        <p:spPr>
          <a:xfrm>
            <a:off x="4214813" y="1214438"/>
            <a:ext cx="714375" cy="714375"/>
          </a:xfrm>
          <a:prstGeom prst="ellipse">
            <a:avLst/>
          </a:prstGeom>
          <a:solidFill>
            <a:srgbClr val="D44545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27"/>
          <p:cNvSpPr/>
          <p:nvPr/>
        </p:nvSpPr>
        <p:spPr>
          <a:xfrm>
            <a:off x="4386263" y="1643063"/>
            <a:ext cx="114300" cy="214313"/>
          </a:xfrm>
          <a:prstGeom prst="roundRect">
            <a:avLst>
              <a:gd fmla="val 18750" name="adj"/>
            </a:avLst>
          </a:prstGeom>
          <a:solidFill>
            <a:srgbClr val="D44545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27"/>
          <p:cNvSpPr/>
          <p:nvPr/>
        </p:nvSpPr>
        <p:spPr>
          <a:xfrm>
            <a:off x="4529138" y="1500188"/>
            <a:ext cx="114300" cy="357188"/>
          </a:xfrm>
          <a:prstGeom prst="roundRect">
            <a:avLst>
              <a:gd fmla="val 18750" name="adj"/>
            </a:avLst>
          </a:prstGeom>
          <a:solidFill>
            <a:srgbClr val="D44545">
              <a:alpha val="7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27"/>
          <p:cNvSpPr/>
          <p:nvPr/>
        </p:nvSpPr>
        <p:spPr>
          <a:xfrm>
            <a:off x="4672013" y="1571625"/>
            <a:ext cx="114300" cy="285750"/>
          </a:xfrm>
          <a:prstGeom prst="roundRect">
            <a:avLst>
              <a:gd fmla="val 1875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27"/>
          <p:cNvSpPr txBox="1"/>
          <p:nvPr/>
        </p:nvSpPr>
        <p:spPr>
          <a:xfrm>
            <a:off x="3797189" y="2152412"/>
            <a:ext cx="154962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信息太多，筛选累</a:t>
            </a:r>
            <a:endParaRPr sz="1100"/>
          </a:p>
        </p:txBody>
      </p:sp>
      <p:sp>
        <p:nvSpPr>
          <p:cNvPr id="236" name="Google Shape;236;p27"/>
          <p:cNvSpPr txBox="1"/>
          <p:nvPr/>
        </p:nvSpPr>
        <p:spPr>
          <a:xfrm>
            <a:off x="3809583" y="2423517"/>
            <a:ext cx="152483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美股数万只</a:t>
            </a:r>
            <a:endParaRPr sz="1100"/>
          </a:p>
        </p:txBody>
      </p:sp>
      <p:sp>
        <p:nvSpPr>
          <p:cNvPr id="237" name="Google Shape;237;p27"/>
          <p:cNvSpPr txBox="1"/>
          <p:nvPr/>
        </p:nvSpPr>
        <p:spPr>
          <a:xfrm>
            <a:off x="3821906" y="2580680"/>
            <a:ext cx="150018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每天新闻、财报、技术信号</a:t>
            </a:r>
            <a:endParaRPr sz="1100"/>
          </a:p>
        </p:txBody>
      </p:sp>
      <p:sp>
        <p:nvSpPr>
          <p:cNvPr id="238" name="Google Shape;238;p27"/>
          <p:cNvSpPr txBox="1"/>
          <p:nvPr/>
        </p:nvSpPr>
        <p:spPr>
          <a:xfrm>
            <a:off x="4191596" y="2737842"/>
            <a:ext cx="76080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根本看不过来</a:t>
            </a:r>
            <a:endParaRPr sz="1100"/>
          </a:p>
        </p:txBody>
      </p:sp>
      <p:sp>
        <p:nvSpPr>
          <p:cNvPr id="239" name="Google Shape;239;p27"/>
          <p:cNvSpPr/>
          <p:nvPr/>
        </p:nvSpPr>
        <p:spPr>
          <a:xfrm>
            <a:off x="6129338" y="928688"/>
            <a:ext cx="2586038" cy="2428875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27"/>
          <p:cNvSpPr/>
          <p:nvPr/>
        </p:nvSpPr>
        <p:spPr>
          <a:xfrm>
            <a:off x="6129338" y="928688"/>
            <a:ext cx="2586038" cy="42863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27"/>
          <p:cNvSpPr/>
          <p:nvPr/>
        </p:nvSpPr>
        <p:spPr>
          <a:xfrm>
            <a:off x="7065169" y="1214438"/>
            <a:ext cx="714375" cy="714375"/>
          </a:xfrm>
          <a:prstGeom prst="ellipse">
            <a:avLst/>
          </a:prstGeom>
          <a:solidFill>
            <a:srgbClr val="D44545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27"/>
          <p:cNvSpPr/>
          <p:nvPr/>
        </p:nvSpPr>
        <p:spPr>
          <a:xfrm>
            <a:off x="7422356" y="1321594"/>
            <a:ext cx="7144" cy="500063"/>
          </a:xfrm>
          <a:custGeom>
            <a:rect b="b" l="l" r="r" t="t"/>
            <a:pathLst>
              <a:path extrusionOk="0" h="666750" w="9525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 cap="rnd" cmpd="sng" w="2857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3" name="Google Shape;243;p27"/>
          <p:cNvSpPr/>
          <p:nvPr/>
        </p:nvSpPr>
        <p:spPr>
          <a:xfrm>
            <a:off x="7215188" y="1464469"/>
            <a:ext cx="414338" cy="7144"/>
          </a:xfrm>
          <a:custGeom>
            <a:rect b="b" l="l" r="r" t="t"/>
            <a:pathLst>
              <a:path extrusionOk="0" h="9525" w="552450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cap="rnd" cmpd="sng" w="2857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p27"/>
          <p:cNvSpPr/>
          <p:nvPr/>
        </p:nvSpPr>
        <p:spPr>
          <a:xfrm>
            <a:off x="7129463" y="1557338"/>
            <a:ext cx="171450" cy="171450"/>
          </a:xfrm>
          <a:prstGeom prst="ellipse">
            <a:avLst/>
          </a:prstGeom>
          <a:noFill/>
          <a:ln cap="flat" cmpd="sng" w="23800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7"/>
          <p:cNvSpPr/>
          <p:nvPr/>
        </p:nvSpPr>
        <p:spPr>
          <a:xfrm>
            <a:off x="7543800" y="1500188"/>
            <a:ext cx="171450" cy="171450"/>
          </a:xfrm>
          <a:prstGeom prst="ellipse">
            <a:avLst/>
          </a:prstGeom>
          <a:noFill/>
          <a:ln cap="flat" cmpd="sng" w="23800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7"/>
          <p:cNvSpPr txBox="1"/>
          <p:nvPr/>
        </p:nvSpPr>
        <p:spPr>
          <a:xfrm>
            <a:off x="6647546" y="2152412"/>
            <a:ext cx="154962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情绪干扰，纪律差</a:t>
            </a:r>
            <a:endParaRPr sz="1100"/>
          </a:p>
        </p:txBody>
      </p:sp>
      <p:sp>
        <p:nvSpPr>
          <p:cNvPr id="247" name="Google Shape;247;p27"/>
          <p:cNvSpPr txBox="1"/>
          <p:nvPr/>
        </p:nvSpPr>
        <p:spPr>
          <a:xfrm>
            <a:off x="6733877" y="2423517"/>
            <a:ext cx="137695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贪心时追高，恐惧时割肉</a:t>
            </a:r>
            <a:endParaRPr sz="1100"/>
          </a:p>
        </p:txBody>
      </p:sp>
      <p:sp>
        <p:nvSpPr>
          <p:cNvPr id="248" name="Google Shape;248;p27"/>
          <p:cNvSpPr txBox="1"/>
          <p:nvPr/>
        </p:nvSpPr>
        <p:spPr>
          <a:xfrm>
            <a:off x="6733877" y="2580680"/>
            <a:ext cx="137695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止损是规则，但总忍不住</a:t>
            </a:r>
            <a:endParaRPr sz="1100"/>
          </a:p>
        </p:txBody>
      </p:sp>
      <p:sp>
        <p:nvSpPr>
          <p:cNvPr id="249" name="Google Shape;249;p27"/>
          <p:cNvSpPr txBox="1"/>
          <p:nvPr/>
        </p:nvSpPr>
        <p:spPr>
          <a:xfrm>
            <a:off x="6709232" y="2737842"/>
            <a:ext cx="142624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"再等一下" 往往代价惨重</a:t>
            </a:r>
            <a:endParaRPr sz="1100"/>
          </a:p>
        </p:txBody>
      </p:sp>
      <p:sp>
        <p:nvSpPr>
          <p:cNvPr id="250" name="Google Shape;250;p27"/>
          <p:cNvSpPr txBox="1"/>
          <p:nvPr/>
        </p:nvSpPr>
        <p:spPr>
          <a:xfrm>
            <a:off x="4488740" y="3473291"/>
            <a:ext cx="16652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251" name="Google Shape;251;p27"/>
          <p:cNvSpPr/>
          <p:nvPr/>
        </p:nvSpPr>
        <p:spPr>
          <a:xfrm>
            <a:off x="428625" y="3714750"/>
            <a:ext cx="8286750" cy="571500"/>
          </a:xfrm>
          <a:prstGeom prst="roundRect">
            <a:avLst>
              <a:gd fmla="val 15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7"/>
          <p:cNvSpPr txBox="1"/>
          <p:nvPr/>
        </p:nvSpPr>
        <p:spPr>
          <a:xfrm>
            <a:off x="4429125" y="3846195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解法</a:t>
            </a:r>
            <a:endParaRPr sz="1100"/>
          </a:p>
        </p:txBody>
      </p:sp>
      <p:sp>
        <p:nvSpPr>
          <p:cNvPr id="253" name="Google Shape;253;p27"/>
          <p:cNvSpPr txBox="1"/>
          <p:nvPr/>
        </p:nvSpPr>
        <p:spPr>
          <a:xfrm>
            <a:off x="1937407" y="4038362"/>
            <a:ext cx="5269187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把专家方法封装进 AI Skill — 系统化判断、自动筛选、规则执行</a:t>
            </a:r>
            <a:endParaRPr sz="1100"/>
          </a:p>
        </p:txBody>
      </p:sp>
      <p:sp>
        <p:nvSpPr>
          <p:cNvPr id="254" name="Google Shape;254;p27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03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28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28"/>
          <p:cNvSpPr txBox="1"/>
          <p:nvPr/>
        </p:nvSpPr>
        <p:spPr>
          <a:xfrm>
            <a:off x="3652599" y="380762"/>
            <a:ext cx="1838801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先看结果，再理解原理</a:t>
            </a:r>
            <a:endParaRPr sz="1100"/>
          </a:p>
        </p:txBody>
      </p:sp>
      <p:sp>
        <p:nvSpPr>
          <p:cNvPr id="262" name="Google Shape;262;p28"/>
          <p:cNvSpPr txBox="1"/>
          <p:nvPr/>
        </p:nvSpPr>
        <p:spPr>
          <a:xfrm>
            <a:off x="2931481" y="624364"/>
            <a:ext cx="328103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4-Skill 完整买卖流水线</a:t>
            </a:r>
            <a:endParaRPr sz="1100"/>
          </a:p>
        </p:txBody>
      </p:sp>
      <p:sp>
        <p:nvSpPr>
          <p:cNvPr id="263" name="Google Shape;263;p28"/>
          <p:cNvSpPr/>
          <p:nvPr/>
        </p:nvSpPr>
        <p:spPr>
          <a:xfrm>
            <a:off x="385763" y="1428750"/>
            <a:ext cx="1828800" cy="2428875"/>
          </a:xfrm>
          <a:prstGeom prst="roundRect">
            <a:avLst>
              <a:gd fmla="val 546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28"/>
          <p:cNvSpPr/>
          <p:nvPr/>
        </p:nvSpPr>
        <p:spPr>
          <a:xfrm>
            <a:off x="385763" y="1428750"/>
            <a:ext cx="1828800" cy="400050"/>
          </a:xfrm>
          <a:prstGeom prst="roundRect">
            <a:avLst>
              <a:gd fmla="val 25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8"/>
          <p:cNvSpPr/>
          <p:nvPr/>
        </p:nvSpPr>
        <p:spPr>
          <a:xfrm>
            <a:off x="385763" y="1657350"/>
            <a:ext cx="1828800" cy="17145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28"/>
          <p:cNvSpPr/>
          <p:nvPr/>
        </p:nvSpPr>
        <p:spPr>
          <a:xfrm>
            <a:off x="514350" y="1500188"/>
            <a:ext cx="257175" cy="257175"/>
          </a:xfrm>
          <a:prstGeom prst="ellipse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28"/>
          <p:cNvSpPr txBox="1"/>
          <p:nvPr/>
        </p:nvSpPr>
        <p:spPr>
          <a:xfrm>
            <a:off x="581611" y="1586626"/>
            <a:ext cx="12265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268" name="Google Shape;268;p28"/>
          <p:cNvSpPr txBox="1"/>
          <p:nvPr/>
        </p:nvSpPr>
        <p:spPr>
          <a:xfrm>
            <a:off x="822425" y="1568411"/>
            <a:ext cx="955474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269" name="Google Shape;269;p28"/>
          <p:cNvSpPr txBox="1"/>
          <p:nvPr/>
        </p:nvSpPr>
        <p:spPr>
          <a:xfrm>
            <a:off x="1030664" y="1994892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赛道扫描</a:t>
            </a:r>
            <a:endParaRPr sz="1100"/>
          </a:p>
        </p:txBody>
      </p:sp>
      <p:sp>
        <p:nvSpPr>
          <p:cNvPr id="270" name="Google Shape;270;p28"/>
          <p:cNvSpPr/>
          <p:nvPr/>
        </p:nvSpPr>
        <p:spPr>
          <a:xfrm>
            <a:off x="614363" y="2214563"/>
            <a:ext cx="1371600" cy="7144"/>
          </a:xfrm>
          <a:custGeom>
            <a:rect b="b" l="l" r="r" t="t"/>
            <a:pathLst>
              <a:path extrusionOk="0" h="9525" w="1828800">
                <a:moveTo>
                  <a:pt x="0" y="0"/>
                </a:moveTo>
                <a:lnTo>
                  <a:pt x="18288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" name="Google Shape;271;p28"/>
          <p:cNvSpPr txBox="1"/>
          <p:nvPr/>
        </p:nvSpPr>
        <p:spPr>
          <a:xfrm>
            <a:off x="604361" y="2329577"/>
            <a:ext cx="95737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扫 七大热门赛道</a:t>
            </a:r>
            <a:endParaRPr sz="1100"/>
          </a:p>
        </p:txBody>
      </p:sp>
      <p:sp>
        <p:nvSpPr>
          <p:cNvPr id="272" name="Google Shape;272;p28"/>
          <p:cNvSpPr txBox="1"/>
          <p:nvPr/>
        </p:nvSpPr>
        <p:spPr>
          <a:xfrm>
            <a:off x="604361" y="2501027"/>
            <a:ext cx="10551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价格 / 成交量筛选</a:t>
            </a:r>
            <a:endParaRPr sz="1100"/>
          </a:p>
        </p:txBody>
      </p:sp>
      <p:sp>
        <p:nvSpPr>
          <p:cNvPr id="273" name="Google Shape;273;p28"/>
          <p:cNvSpPr txBox="1"/>
          <p:nvPr/>
        </p:nvSpPr>
        <p:spPr>
          <a:xfrm>
            <a:off x="604361" y="2672477"/>
            <a:ext cx="92286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输出候选股清单</a:t>
            </a:r>
            <a:endParaRPr sz="1100"/>
          </a:p>
        </p:txBody>
      </p:sp>
      <p:sp>
        <p:nvSpPr>
          <p:cNvPr id="274" name="Google Shape;274;p28"/>
          <p:cNvSpPr/>
          <p:nvPr/>
        </p:nvSpPr>
        <p:spPr>
          <a:xfrm>
            <a:off x="500063" y="3271838"/>
            <a:ext cx="1600200" cy="457200"/>
          </a:xfrm>
          <a:prstGeom prst="roundRect">
            <a:avLst>
              <a:gd fmla="val 12500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28"/>
          <p:cNvSpPr txBox="1"/>
          <p:nvPr/>
        </p:nvSpPr>
        <p:spPr>
          <a:xfrm>
            <a:off x="613876" y="3544014"/>
            <a:ext cx="137257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候选股清单</a:t>
            </a:r>
            <a:endParaRPr sz="1100"/>
          </a:p>
        </p:txBody>
      </p:sp>
      <p:sp>
        <p:nvSpPr>
          <p:cNvPr id="276" name="Google Shape;276;p28"/>
          <p:cNvSpPr/>
          <p:nvPr/>
        </p:nvSpPr>
        <p:spPr>
          <a:xfrm>
            <a:off x="2357438" y="2557463"/>
            <a:ext cx="171450" cy="171450"/>
          </a:xfrm>
          <a:custGeom>
            <a:rect b="b" l="l" r="r" t="t"/>
            <a:pathLst>
              <a:path extrusionOk="0" h="228600" w="228600">
                <a:moveTo>
                  <a:pt x="0" y="114300"/>
                </a:moveTo>
                <a:lnTo>
                  <a:pt x="228600" y="0"/>
                </a:lnTo>
                <a:lnTo>
                  <a:pt x="228600" y="22860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277" name="Google Shape;277;p28"/>
          <p:cNvSpPr/>
          <p:nvPr/>
        </p:nvSpPr>
        <p:spPr>
          <a:xfrm>
            <a:off x="2214563" y="2643188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2380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8" name="Google Shape;278;p28"/>
          <p:cNvSpPr/>
          <p:nvPr/>
        </p:nvSpPr>
        <p:spPr>
          <a:xfrm>
            <a:off x="2543175" y="1428750"/>
            <a:ext cx="1828800" cy="2428875"/>
          </a:xfrm>
          <a:prstGeom prst="roundRect">
            <a:avLst>
              <a:gd fmla="val 546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28"/>
          <p:cNvSpPr/>
          <p:nvPr/>
        </p:nvSpPr>
        <p:spPr>
          <a:xfrm>
            <a:off x="2543175" y="1428750"/>
            <a:ext cx="1828800" cy="400050"/>
          </a:xfrm>
          <a:prstGeom prst="roundRect">
            <a:avLst>
              <a:gd fmla="val 25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28"/>
          <p:cNvSpPr/>
          <p:nvPr/>
        </p:nvSpPr>
        <p:spPr>
          <a:xfrm>
            <a:off x="2543175" y="1657350"/>
            <a:ext cx="1828800" cy="171450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28"/>
          <p:cNvSpPr/>
          <p:nvPr/>
        </p:nvSpPr>
        <p:spPr>
          <a:xfrm>
            <a:off x="2671763" y="1500188"/>
            <a:ext cx="257175" cy="257175"/>
          </a:xfrm>
          <a:prstGeom prst="ellipse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8"/>
          <p:cNvSpPr txBox="1"/>
          <p:nvPr/>
        </p:nvSpPr>
        <p:spPr>
          <a:xfrm>
            <a:off x="2723928" y="1586626"/>
            <a:ext cx="15284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283" name="Google Shape;283;p28"/>
          <p:cNvSpPr txBox="1"/>
          <p:nvPr/>
        </p:nvSpPr>
        <p:spPr>
          <a:xfrm>
            <a:off x="2899184" y="1568411"/>
            <a:ext cx="111678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/stock-analyze</a:t>
            </a:r>
            <a:endParaRPr sz="1100"/>
          </a:p>
        </p:txBody>
      </p:sp>
      <p:sp>
        <p:nvSpPr>
          <p:cNvPr id="284" name="Google Shape;284;p28"/>
          <p:cNvSpPr txBox="1"/>
          <p:nvPr/>
        </p:nvSpPr>
        <p:spPr>
          <a:xfrm>
            <a:off x="3188077" y="1994892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深度分析</a:t>
            </a:r>
            <a:endParaRPr sz="1100"/>
          </a:p>
        </p:txBody>
      </p:sp>
      <p:sp>
        <p:nvSpPr>
          <p:cNvPr id="285" name="Google Shape;285;p28"/>
          <p:cNvSpPr/>
          <p:nvPr/>
        </p:nvSpPr>
        <p:spPr>
          <a:xfrm>
            <a:off x="2686050" y="2214563"/>
            <a:ext cx="1557338" cy="7144"/>
          </a:xfrm>
          <a:custGeom>
            <a:rect b="b" l="l" r="r" t="t"/>
            <a:pathLst>
              <a:path extrusionOk="0" h="9525" w="2076450">
                <a:moveTo>
                  <a:pt x="0" y="0"/>
                </a:moveTo>
                <a:lnTo>
                  <a:pt x="20764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" name="Google Shape;286;p28"/>
          <p:cNvSpPr txBox="1"/>
          <p:nvPr/>
        </p:nvSpPr>
        <p:spPr>
          <a:xfrm>
            <a:off x="2676049" y="2329577"/>
            <a:ext cx="95161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BAIT 基本面评分</a:t>
            </a:r>
            <a:endParaRPr sz="1100"/>
          </a:p>
        </p:txBody>
      </p:sp>
      <p:sp>
        <p:nvSpPr>
          <p:cNvPr id="287" name="Google Shape;287;p28"/>
          <p:cNvSpPr txBox="1"/>
          <p:nvPr/>
        </p:nvSpPr>
        <p:spPr>
          <a:xfrm>
            <a:off x="2676049" y="2501027"/>
            <a:ext cx="98037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SEPA 技术面确认</a:t>
            </a:r>
            <a:endParaRPr sz="1100"/>
          </a:p>
        </p:txBody>
      </p:sp>
      <p:sp>
        <p:nvSpPr>
          <p:cNvPr id="288" name="Google Shape;288;p28"/>
          <p:cNvSpPr txBox="1"/>
          <p:nvPr/>
        </p:nvSpPr>
        <p:spPr>
          <a:xfrm>
            <a:off x="2676049" y="2672477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综合研究报告</a:t>
            </a:r>
            <a:endParaRPr sz="1100"/>
          </a:p>
        </p:txBody>
      </p:sp>
      <p:sp>
        <p:nvSpPr>
          <p:cNvPr id="289" name="Google Shape;289;p28"/>
          <p:cNvSpPr/>
          <p:nvPr/>
        </p:nvSpPr>
        <p:spPr>
          <a:xfrm>
            <a:off x="2657475" y="3271838"/>
            <a:ext cx="1600200" cy="457200"/>
          </a:xfrm>
          <a:prstGeom prst="roundRect">
            <a:avLst>
              <a:gd fmla="val 12500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28"/>
          <p:cNvSpPr txBox="1"/>
          <p:nvPr/>
        </p:nvSpPr>
        <p:spPr>
          <a:xfrm>
            <a:off x="2710907" y="3544014"/>
            <a:ext cx="14933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个股分析报告</a:t>
            </a:r>
            <a:endParaRPr sz="1100"/>
          </a:p>
        </p:txBody>
      </p:sp>
      <p:sp>
        <p:nvSpPr>
          <p:cNvPr id="291" name="Google Shape;291;p28"/>
          <p:cNvSpPr/>
          <p:nvPr/>
        </p:nvSpPr>
        <p:spPr>
          <a:xfrm>
            <a:off x="4514850" y="2557463"/>
            <a:ext cx="171450" cy="171450"/>
          </a:xfrm>
          <a:custGeom>
            <a:rect b="b" l="l" r="r" t="t"/>
            <a:pathLst>
              <a:path extrusionOk="0" h="228600" w="228600">
                <a:moveTo>
                  <a:pt x="0" y="114300"/>
                </a:moveTo>
                <a:lnTo>
                  <a:pt x="228600" y="0"/>
                </a:lnTo>
                <a:lnTo>
                  <a:pt x="228600" y="2286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292" name="Google Shape;292;p28"/>
          <p:cNvSpPr/>
          <p:nvPr/>
        </p:nvSpPr>
        <p:spPr>
          <a:xfrm>
            <a:off x="4371975" y="2643188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2380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3" name="Google Shape;293;p28"/>
          <p:cNvSpPr/>
          <p:nvPr/>
        </p:nvSpPr>
        <p:spPr>
          <a:xfrm>
            <a:off x="4700588" y="1428750"/>
            <a:ext cx="1828800" cy="2428875"/>
          </a:xfrm>
          <a:prstGeom prst="roundRect">
            <a:avLst>
              <a:gd fmla="val 546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28"/>
          <p:cNvSpPr/>
          <p:nvPr/>
        </p:nvSpPr>
        <p:spPr>
          <a:xfrm>
            <a:off x="4700588" y="1428750"/>
            <a:ext cx="1828800" cy="400050"/>
          </a:xfrm>
          <a:prstGeom prst="roundRect">
            <a:avLst>
              <a:gd fmla="val 25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28"/>
          <p:cNvSpPr/>
          <p:nvPr/>
        </p:nvSpPr>
        <p:spPr>
          <a:xfrm>
            <a:off x="4700588" y="1657350"/>
            <a:ext cx="1828800" cy="17145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28"/>
          <p:cNvSpPr/>
          <p:nvPr/>
        </p:nvSpPr>
        <p:spPr>
          <a:xfrm>
            <a:off x="4829175" y="1500188"/>
            <a:ext cx="257175" cy="257175"/>
          </a:xfrm>
          <a:prstGeom prst="ellipse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28"/>
          <p:cNvSpPr txBox="1"/>
          <p:nvPr/>
        </p:nvSpPr>
        <p:spPr>
          <a:xfrm>
            <a:off x="4881341" y="1586626"/>
            <a:ext cx="15284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298" name="Google Shape;298;p28"/>
          <p:cNvSpPr txBox="1"/>
          <p:nvPr/>
        </p:nvSpPr>
        <p:spPr>
          <a:xfrm>
            <a:off x="5118920" y="1568411"/>
            <a:ext cx="99213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/stock-entry</a:t>
            </a:r>
            <a:endParaRPr sz="1100"/>
          </a:p>
        </p:txBody>
      </p:sp>
      <p:sp>
        <p:nvSpPr>
          <p:cNvPr id="299" name="Google Shape;299;p28"/>
          <p:cNvSpPr txBox="1"/>
          <p:nvPr/>
        </p:nvSpPr>
        <p:spPr>
          <a:xfrm>
            <a:off x="5345489" y="1994892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入场决策</a:t>
            </a:r>
            <a:endParaRPr sz="1100"/>
          </a:p>
        </p:txBody>
      </p:sp>
      <p:sp>
        <p:nvSpPr>
          <p:cNvPr id="300" name="Google Shape;300;p28"/>
          <p:cNvSpPr/>
          <p:nvPr/>
        </p:nvSpPr>
        <p:spPr>
          <a:xfrm>
            <a:off x="4843463" y="2214563"/>
            <a:ext cx="1557338" cy="7144"/>
          </a:xfrm>
          <a:custGeom>
            <a:rect b="b" l="l" r="r" t="t"/>
            <a:pathLst>
              <a:path extrusionOk="0" h="9525" w="2076450">
                <a:moveTo>
                  <a:pt x="0" y="0"/>
                </a:moveTo>
                <a:lnTo>
                  <a:pt x="20764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1" name="Google Shape;301;p28"/>
          <p:cNvSpPr txBox="1"/>
          <p:nvPr/>
        </p:nvSpPr>
        <p:spPr>
          <a:xfrm>
            <a:off x="4833461" y="2329577"/>
            <a:ext cx="109538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SEPA 入场时机确认</a:t>
            </a:r>
            <a:endParaRPr sz="1100"/>
          </a:p>
        </p:txBody>
      </p:sp>
      <p:sp>
        <p:nvSpPr>
          <p:cNvPr id="302" name="Google Shape;302;p28"/>
          <p:cNvSpPr txBox="1"/>
          <p:nvPr/>
        </p:nvSpPr>
        <p:spPr>
          <a:xfrm>
            <a:off x="4833461" y="2501027"/>
            <a:ext cx="114139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Moneyball R/R 计算</a:t>
            </a:r>
            <a:endParaRPr sz="1100"/>
          </a:p>
        </p:txBody>
      </p:sp>
      <p:sp>
        <p:nvSpPr>
          <p:cNvPr id="303" name="Google Shape;303;p28"/>
          <p:cNvSpPr txBox="1"/>
          <p:nvPr/>
        </p:nvSpPr>
        <p:spPr>
          <a:xfrm>
            <a:off x="4833461" y="2672477"/>
            <a:ext cx="10551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仓位 + 止损位建议</a:t>
            </a:r>
            <a:endParaRPr sz="1100"/>
          </a:p>
        </p:txBody>
      </p:sp>
      <p:sp>
        <p:nvSpPr>
          <p:cNvPr id="304" name="Google Shape;304;p28"/>
          <p:cNvSpPr/>
          <p:nvPr/>
        </p:nvSpPr>
        <p:spPr>
          <a:xfrm>
            <a:off x="4814888" y="3271838"/>
            <a:ext cx="1600200" cy="457200"/>
          </a:xfrm>
          <a:prstGeom prst="roundRect">
            <a:avLst>
              <a:gd fmla="val 12500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28"/>
          <p:cNvSpPr txBox="1"/>
          <p:nvPr/>
        </p:nvSpPr>
        <p:spPr>
          <a:xfrm>
            <a:off x="4989084" y="3544014"/>
            <a:ext cx="12518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入场方案</a:t>
            </a:r>
            <a:endParaRPr sz="1100"/>
          </a:p>
        </p:txBody>
      </p:sp>
      <p:sp>
        <p:nvSpPr>
          <p:cNvPr id="306" name="Google Shape;306;p28"/>
          <p:cNvSpPr/>
          <p:nvPr/>
        </p:nvSpPr>
        <p:spPr>
          <a:xfrm>
            <a:off x="6672263" y="2557463"/>
            <a:ext cx="171450" cy="171450"/>
          </a:xfrm>
          <a:custGeom>
            <a:rect b="b" l="l" r="r" t="t"/>
            <a:pathLst>
              <a:path extrusionOk="0" h="228600" w="228600">
                <a:moveTo>
                  <a:pt x="0" y="114300"/>
                </a:moveTo>
                <a:lnTo>
                  <a:pt x="228600" y="0"/>
                </a:lnTo>
                <a:lnTo>
                  <a:pt x="228600" y="228600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307" name="Google Shape;307;p28"/>
          <p:cNvSpPr/>
          <p:nvPr/>
        </p:nvSpPr>
        <p:spPr>
          <a:xfrm>
            <a:off x="6529388" y="2643188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p28"/>
          <p:cNvSpPr/>
          <p:nvPr/>
        </p:nvSpPr>
        <p:spPr>
          <a:xfrm>
            <a:off x="6858000" y="1428750"/>
            <a:ext cx="1828800" cy="2428875"/>
          </a:xfrm>
          <a:prstGeom prst="roundRect">
            <a:avLst>
              <a:gd fmla="val 546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28"/>
          <p:cNvSpPr/>
          <p:nvPr/>
        </p:nvSpPr>
        <p:spPr>
          <a:xfrm>
            <a:off x="6858000" y="1428750"/>
            <a:ext cx="1828800" cy="400050"/>
          </a:xfrm>
          <a:prstGeom prst="roundRect">
            <a:avLst>
              <a:gd fmla="val 25000" name="adj"/>
            </a:avLst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28"/>
          <p:cNvSpPr/>
          <p:nvPr/>
        </p:nvSpPr>
        <p:spPr>
          <a:xfrm>
            <a:off x="6858000" y="1657350"/>
            <a:ext cx="1828800" cy="171450"/>
          </a:xfrm>
          <a:prstGeom prst="rect">
            <a:avLst/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28"/>
          <p:cNvSpPr/>
          <p:nvPr/>
        </p:nvSpPr>
        <p:spPr>
          <a:xfrm>
            <a:off x="6986588" y="1500188"/>
            <a:ext cx="257175" cy="257175"/>
          </a:xfrm>
          <a:prstGeom prst="ellipse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8"/>
          <p:cNvSpPr txBox="1"/>
          <p:nvPr/>
        </p:nvSpPr>
        <p:spPr>
          <a:xfrm>
            <a:off x="7038753" y="1586626"/>
            <a:ext cx="15284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313" name="Google Shape;313;p28"/>
          <p:cNvSpPr txBox="1"/>
          <p:nvPr/>
        </p:nvSpPr>
        <p:spPr>
          <a:xfrm>
            <a:off x="7334990" y="1568411"/>
            <a:ext cx="874820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/stock-exit</a:t>
            </a:r>
            <a:endParaRPr sz="1100"/>
          </a:p>
        </p:txBody>
      </p:sp>
      <p:sp>
        <p:nvSpPr>
          <p:cNvPr id="314" name="Google Shape;314;p28"/>
          <p:cNvSpPr txBox="1"/>
          <p:nvPr/>
        </p:nvSpPr>
        <p:spPr>
          <a:xfrm>
            <a:off x="7502902" y="1994892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退出管理</a:t>
            </a:r>
            <a:endParaRPr sz="1100"/>
          </a:p>
        </p:txBody>
      </p:sp>
      <p:sp>
        <p:nvSpPr>
          <p:cNvPr id="315" name="Google Shape;315;p28"/>
          <p:cNvSpPr/>
          <p:nvPr/>
        </p:nvSpPr>
        <p:spPr>
          <a:xfrm>
            <a:off x="7000875" y="2214563"/>
            <a:ext cx="1557338" cy="7144"/>
          </a:xfrm>
          <a:custGeom>
            <a:rect b="b" l="l" r="r" t="t"/>
            <a:pathLst>
              <a:path extrusionOk="0" h="9525" w="2076450">
                <a:moveTo>
                  <a:pt x="0" y="0"/>
                </a:moveTo>
                <a:lnTo>
                  <a:pt x="20764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p28"/>
          <p:cNvSpPr txBox="1"/>
          <p:nvPr/>
        </p:nvSpPr>
        <p:spPr>
          <a:xfrm>
            <a:off x="6990874" y="2329577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止损触发检查</a:t>
            </a:r>
            <a:endParaRPr sz="1100"/>
          </a:p>
        </p:txBody>
      </p:sp>
      <p:sp>
        <p:nvSpPr>
          <p:cNvPr id="317" name="Google Shape;317;p28"/>
          <p:cNvSpPr txBox="1"/>
          <p:nvPr/>
        </p:nvSpPr>
        <p:spPr>
          <a:xfrm>
            <a:off x="6990874" y="2501027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止盈节奏计划</a:t>
            </a:r>
            <a:endParaRPr sz="1100"/>
          </a:p>
        </p:txBody>
      </p:sp>
      <p:sp>
        <p:nvSpPr>
          <p:cNvPr id="318" name="Google Shape;318;p28"/>
          <p:cNvSpPr txBox="1"/>
          <p:nvPr/>
        </p:nvSpPr>
        <p:spPr>
          <a:xfrm>
            <a:off x="6990874" y="2672477"/>
            <a:ext cx="115289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Stage 3/4 清仓信号</a:t>
            </a:r>
            <a:endParaRPr sz="1100"/>
          </a:p>
        </p:txBody>
      </p:sp>
      <p:sp>
        <p:nvSpPr>
          <p:cNvPr id="319" name="Google Shape;319;p28"/>
          <p:cNvSpPr/>
          <p:nvPr/>
        </p:nvSpPr>
        <p:spPr>
          <a:xfrm>
            <a:off x="6972300" y="3271838"/>
            <a:ext cx="1600200" cy="457200"/>
          </a:xfrm>
          <a:prstGeom prst="roundRect">
            <a:avLst>
              <a:gd fmla="val 12500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28"/>
          <p:cNvSpPr txBox="1"/>
          <p:nvPr/>
        </p:nvSpPr>
        <p:spPr>
          <a:xfrm>
            <a:off x="7025732" y="3544014"/>
            <a:ext cx="14933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退出分析报告</a:t>
            </a:r>
            <a:endParaRPr sz="1100"/>
          </a:p>
        </p:txBody>
      </p:sp>
      <p:sp>
        <p:nvSpPr>
          <p:cNvPr id="321" name="Google Shape;321;p28"/>
          <p:cNvSpPr txBox="1"/>
          <p:nvPr/>
        </p:nvSpPr>
        <p:spPr>
          <a:xfrm>
            <a:off x="3347990" y="4531995"/>
            <a:ext cx="24480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数据来源：yfinance · 无需配置复杂 MCP</a:t>
            </a:r>
            <a:endParaRPr sz="1100"/>
          </a:p>
        </p:txBody>
      </p:sp>
      <p:sp>
        <p:nvSpPr>
          <p:cNvPr id="322" name="Google Shape;322;p28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04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2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29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29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9"/>
          <p:cNvSpPr txBox="1"/>
          <p:nvPr/>
        </p:nvSpPr>
        <p:spPr>
          <a:xfrm>
            <a:off x="560070" y="252889"/>
            <a:ext cx="31568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热门赛道选股体系总览</a:t>
            </a:r>
            <a:endParaRPr sz="1100"/>
          </a:p>
        </p:txBody>
      </p:sp>
      <p:sp>
        <p:nvSpPr>
          <p:cNvPr id="331" name="Google Shape;331;p29"/>
          <p:cNvSpPr txBox="1"/>
          <p:nvPr/>
        </p:nvSpPr>
        <p:spPr>
          <a:xfrm>
            <a:off x="574357" y="588645"/>
            <a:ext cx="276348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基金经理视角 · 解决 "在哪里找股" 的系统方法</a:t>
            </a:r>
            <a:endParaRPr sz="1100"/>
          </a:p>
        </p:txBody>
      </p:sp>
      <p:sp>
        <p:nvSpPr>
          <p:cNvPr id="332" name="Google Shape;332;p29"/>
          <p:cNvSpPr/>
          <p:nvPr/>
        </p:nvSpPr>
        <p:spPr>
          <a:xfrm>
            <a:off x="428625" y="928688"/>
            <a:ext cx="1985963" cy="3857625"/>
          </a:xfrm>
          <a:prstGeom prst="roundRect">
            <a:avLst>
              <a:gd fmla="val 503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29"/>
          <p:cNvSpPr/>
          <p:nvPr/>
        </p:nvSpPr>
        <p:spPr>
          <a:xfrm>
            <a:off x="428625" y="928688"/>
            <a:ext cx="1985963" cy="571500"/>
          </a:xfrm>
          <a:prstGeom prst="roundRect">
            <a:avLst>
              <a:gd fmla="val 175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29"/>
          <p:cNvSpPr/>
          <p:nvPr/>
        </p:nvSpPr>
        <p:spPr>
          <a:xfrm>
            <a:off x="428625" y="1271588"/>
            <a:ext cx="1985963" cy="2286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29"/>
          <p:cNvSpPr txBox="1"/>
          <p:nvPr/>
        </p:nvSpPr>
        <p:spPr>
          <a:xfrm>
            <a:off x="1193822" y="984409"/>
            <a:ext cx="455568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336" name="Google Shape;336;p29"/>
          <p:cNvSpPr txBox="1"/>
          <p:nvPr/>
        </p:nvSpPr>
        <p:spPr>
          <a:xfrm>
            <a:off x="969532" y="1325523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基金经理思维</a:t>
            </a:r>
            <a:endParaRPr sz="1100"/>
          </a:p>
        </p:txBody>
      </p:sp>
      <p:sp>
        <p:nvSpPr>
          <p:cNvPr id="337" name="Google Shape;337;p29"/>
          <p:cNvSpPr/>
          <p:nvPr/>
        </p:nvSpPr>
        <p:spPr>
          <a:xfrm>
            <a:off x="542925" y="1628775"/>
            <a:ext cx="1757363" cy="571500"/>
          </a:xfrm>
          <a:prstGeom prst="roundRect">
            <a:avLst>
              <a:gd fmla="val 1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29"/>
          <p:cNvSpPr txBox="1"/>
          <p:nvPr/>
        </p:nvSpPr>
        <p:spPr>
          <a:xfrm>
            <a:off x="1188041" y="1728431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核心原则</a:t>
            </a:r>
            <a:endParaRPr sz="1100"/>
          </a:p>
        </p:txBody>
      </p:sp>
      <p:sp>
        <p:nvSpPr>
          <p:cNvPr id="339" name="Google Shape;339;p29"/>
          <p:cNvSpPr txBox="1"/>
          <p:nvPr/>
        </p:nvSpPr>
        <p:spPr>
          <a:xfrm>
            <a:off x="1124069" y="1872377"/>
            <a:ext cx="5950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基本面为主</a:t>
            </a:r>
            <a:endParaRPr sz="1100"/>
          </a:p>
        </p:txBody>
      </p:sp>
      <p:sp>
        <p:nvSpPr>
          <p:cNvPr id="340" name="Google Shape;340;p29"/>
          <p:cNvSpPr txBox="1"/>
          <p:nvPr/>
        </p:nvSpPr>
        <p:spPr>
          <a:xfrm>
            <a:off x="1009054" y="2029539"/>
            <a:ext cx="82510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技术面辅助确认</a:t>
            </a:r>
            <a:endParaRPr sz="1100"/>
          </a:p>
        </p:txBody>
      </p:sp>
      <p:sp>
        <p:nvSpPr>
          <p:cNvPr id="341" name="Google Shape;341;p29"/>
          <p:cNvSpPr txBox="1"/>
          <p:nvPr/>
        </p:nvSpPr>
        <p:spPr>
          <a:xfrm>
            <a:off x="561499" y="2372439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先看公司质地</a:t>
            </a:r>
            <a:endParaRPr sz="1100"/>
          </a:p>
        </p:txBody>
      </p:sp>
      <p:sp>
        <p:nvSpPr>
          <p:cNvPr id="342" name="Google Shape;342;p29"/>
          <p:cNvSpPr txBox="1"/>
          <p:nvPr/>
        </p:nvSpPr>
        <p:spPr>
          <a:xfrm>
            <a:off x="561499" y="2558177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再看技术时机</a:t>
            </a:r>
            <a:endParaRPr sz="1100"/>
          </a:p>
        </p:txBody>
      </p:sp>
      <p:sp>
        <p:nvSpPr>
          <p:cNvPr id="343" name="Google Shape;343;p29"/>
          <p:cNvSpPr txBox="1"/>
          <p:nvPr/>
        </p:nvSpPr>
        <p:spPr>
          <a:xfrm>
            <a:off x="561499" y="2743914"/>
            <a:ext cx="6928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不炒消息股</a:t>
            </a:r>
            <a:endParaRPr sz="1100"/>
          </a:p>
        </p:txBody>
      </p:sp>
      <p:sp>
        <p:nvSpPr>
          <p:cNvPr id="344" name="Google Shape;344;p29"/>
          <p:cNvSpPr txBox="1"/>
          <p:nvPr/>
        </p:nvSpPr>
        <p:spPr>
          <a:xfrm>
            <a:off x="561499" y="2929652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不追热点题材</a:t>
            </a:r>
            <a:endParaRPr sz="1100"/>
          </a:p>
        </p:txBody>
      </p:sp>
      <p:sp>
        <p:nvSpPr>
          <p:cNvPr id="345" name="Google Shape;345;p29"/>
          <p:cNvSpPr txBox="1"/>
          <p:nvPr/>
        </p:nvSpPr>
        <p:spPr>
          <a:xfrm>
            <a:off x="561499" y="3115389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仓位管理严格</a:t>
            </a:r>
            <a:endParaRPr sz="1100"/>
          </a:p>
        </p:txBody>
      </p:sp>
      <p:sp>
        <p:nvSpPr>
          <p:cNvPr id="346" name="Google Shape;346;p29"/>
          <p:cNvSpPr/>
          <p:nvPr/>
        </p:nvSpPr>
        <p:spPr>
          <a:xfrm>
            <a:off x="542925" y="4357688"/>
            <a:ext cx="1757363" cy="328613"/>
          </a:xfrm>
          <a:prstGeom prst="roundRect">
            <a:avLst>
              <a:gd fmla="val 17391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29"/>
          <p:cNvSpPr txBox="1"/>
          <p:nvPr/>
        </p:nvSpPr>
        <p:spPr>
          <a:xfrm>
            <a:off x="1049310" y="4472702"/>
            <a:ext cx="74459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思维框架基础</a:t>
            </a:r>
            <a:endParaRPr sz="1100"/>
          </a:p>
        </p:txBody>
      </p:sp>
      <p:sp>
        <p:nvSpPr>
          <p:cNvPr id="348" name="Google Shape;348;p29"/>
          <p:cNvSpPr/>
          <p:nvPr/>
        </p:nvSpPr>
        <p:spPr>
          <a:xfrm>
            <a:off x="2628900" y="928688"/>
            <a:ext cx="1985963" cy="3857625"/>
          </a:xfrm>
          <a:prstGeom prst="roundRect">
            <a:avLst>
              <a:gd fmla="val 503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29"/>
          <p:cNvSpPr/>
          <p:nvPr/>
        </p:nvSpPr>
        <p:spPr>
          <a:xfrm>
            <a:off x="2628900" y="928688"/>
            <a:ext cx="1985963" cy="571500"/>
          </a:xfrm>
          <a:prstGeom prst="roundRect">
            <a:avLst>
              <a:gd fmla="val 175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29"/>
          <p:cNvSpPr/>
          <p:nvPr/>
        </p:nvSpPr>
        <p:spPr>
          <a:xfrm>
            <a:off x="2628900" y="1271588"/>
            <a:ext cx="1985963" cy="228600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29"/>
          <p:cNvSpPr txBox="1"/>
          <p:nvPr/>
        </p:nvSpPr>
        <p:spPr>
          <a:xfrm>
            <a:off x="3338028" y="984409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352" name="Google Shape;352;p29"/>
          <p:cNvSpPr txBox="1"/>
          <p:nvPr/>
        </p:nvSpPr>
        <p:spPr>
          <a:xfrm>
            <a:off x="3096485" y="1325523"/>
            <a:ext cx="1050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七大结构性赛道</a:t>
            </a:r>
            <a:endParaRPr sz="1100"/>
          </a:p>
        </p:txBody>
      </p:sp>
      <p:sp>
        <p:nvSpPr>
          <p:cNvPr id="353" name="Google Shape;353;p29"/>
          <p:cNvSpPr/>
          <p:nvPr/>
        </p:nvSpPr>
        <p:spPr>
          <a:xfrm>
            <a:off x="2743200" y="1628775"/>
            <a:ext cx="1757363" cy="571500"/>
          </a:xfrm>
          <a:prstGeom prst="roundRect">
            <a:avLst>
              <a:gd fmla="val 1000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29"/>
          <p:cNvSpPr txBox="1"/>
          <p:nvPr/>
        </p:nvSpPr>
        <p:spPr>
          <a:xfrm>
            <a:off x="3332247" y="1728431"/>
            <a:ext cx="5792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结构性机会</a:t>
            </a:r>
            <a:endParaRPr sz="1100"/>
          </a:p>
        </p:txBody>
      </p:sp>
      <p:sp>
        <p:nvSpPr>
          <p:cNvPr id="355" name="Google Shape;355;p29"/>
          <p:cNvSpPr txBox="1"/>
          <p:nvPr/>
        </p:nvSpPr>
        <p:spPr>
          <a:xfrm>
            <a:off x="3209329" y="1872377"/>
            <a:ext cx="82510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长周期主题驱动</a:t>
            </a:r>
            <a:endParaRPr sz="1100"/>
          </a:p>
        </p:txBody>
      </p:sp>
      <p:sp>
        <p:nvSpPr>
          <p:cNvPr id="356" name="Google Shape;356;p29"/>
          <p:cNvSpPr txBox="1"/>
          <p:nvPr/>
        </p:nvSpPr>
        <p:spPr>
          <a:xfrm>
            <a:off x="3324344" y="2029539"/>
            <a:ext cx="5950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非短期炒作</a:t>
            </a:r>
            <a:endParaRPr sz="1100"/>
          </a:p>
        </p:txBody>
      </p:sp>
      <p:sp>
        <p:nvSpPr>
          <p:cNvPr id="357" name="Google Shape;357;p29"/>
          <p:cNvSpPr txBox="1"/>
          <p:nvPr/>
        </p:nvSpPr>
        <p:spPr>
          <a:xfrm>
            <a:off x="2761774" y="2372439"/>
            <a:ext cx="93436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存储 HBM/DRAM</a:t>
            </a:r>
            <a:endParaRPr sz="1100"/>
          </a:p>
        </p:txBody>
      </p:sp>
      <p:sp>
        <p:nvSpPr>
          <p:cNvPr id="358" name="Google Shape;358;p29"/>
          <p:cNvSpPr txBox="1"/>
          <p:nvPr/>
        </p:nvSpPr>
        <p:spPr>
          <a:xfrm>
            <a:off x="2761774" y="2558177"/>
            <a:ext cx="46280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光互连</a:t>
            </a:r>
            <a:endParaRPr sz="1100"/>
          </a:p>
        </p:txBody>
      </p:sp>
      <p:sp>
        <p:nvSpPr>
          <p:cNvPr id="359" name="Google Shape;359;p29"/>
          <p:cNvSpPr txBox="1"/>
          <p:nvPr/>
        </p:nvSpPr>
        <p:spPr>
          <a:xfrm>
            <a:off x="2761774" y="2743914"/>
            <a:ext cx="57782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卫星通信</a:t>
            </a:r>
            <a:endParaRPr sz="1100"/>
          </a:p>
        </p:txBody>
      </p:sp>
      <p:sp>
        <p:nvSpPr>
          <p:cNvPr id="360" name="Google Shape;360;p29"/>
          <p:cNvSpPr txBox="1"/>
          <p:nvPr/>
        </p:nvSpPr>
        <p:spPr>
          <a:xfrm>
            <a:off x="2761774" y="2929652"/>
            <a:ext cx="57782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电网升级</a:t>
            </a:r>
            <a:endParaRPr sz="1100"/>
          </a:p>
        </p:txBody>
      </p:sp>
      <p:sp>
        <p:nvSpPr>
          <p:cNvPr id="361" name="Google Shape;361;p29"/>
          <p:cNvSpPr txBox="1"/>
          <p:nvPr/>
        </p:nvSpPr>
        <p:spPr>
          <a:xfrm>
            <a:off x="2761774" y="3115389"/>
            <a:ext cx="118739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封测 · 矿产 · 房地产</a:t>
            </a:r>
            <a:endParaRPr sz="1100"/>
          </a:p>
        </p:txBody>
      </p:sp>
      <p:sp>
        <p:nvSpPr>
          <p:cNvPr id="362" name="Google Shape;362;p29"/>
          <p:cNvSpPr/>
          <p:nvPr/>
        </p:nvSpPr>
        <p:spPr>
          <a:xfrm>
            <a:off x="2743200" y="4357688"/>
            <a:ext cx="1757363" cy="328613"/>
          </a:xfrm>
          <a:prstGeom prst="roundRect">
            <a:avLst>
              <a:gd fmla="val 17391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29"/>
          <p:cNvSpPr txBox="1"/>
          <p:nvPr/>
        </p:nvSpPr>
        <p:spPr>
          <a:xfrm>
            <a:off x="3309968" y="4472702"/>
            <a:ext cx="62382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在哪里找股</a:t>
            </a:r>
            <a:endParaRPr sz="1100"/>
          </a:p>
        </p:txBody>
      </p:sp>
      <p:sp>
        <p:nvSpPr>
          <p:cNvPr id="364" name="Google Shape;364;p29"/>
          <p:cNvSpPr/>
          <p:nvPr/>
        </p:nvSpPr>
        <p:spPr>
          <a:xfrm>
            <a:off x="4829175" y="928688"/>
            <a:ext cx="1985963" cy="3857625"/>
          </a:xfrm>
          <a:prstGeom prst="roundRect">
            <a:avLst>
              <a:gd fmla="val 503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29"/>
          <p:cNvSpPr/>
          <p:nvPr/>
        </p:nvSpPr>
        <p:spPr>
          <a:xfrm>
            <a:off x="4829175" y="928688"/>
            <a:ext cx="1985963" cy="571500"/>
          </a:xfrm>
          <a:prstGeom prst="roundRect">
            <a:avLst>
              <a:gd fmla="val 175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29"/>
          <p:cNvSpPr/>
          <p:nvPr/>
        </p:nvSpPr>
        <p:spPr>
          <a:xfrm>
            <a:off x="4829175" y="1271588"/>
            <a:ext cx="1985963" cy="22860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29"/>
          <p:cNvSpPr txBox="1"/>
          <p:nvPr/>
        </p:nvSpPr>
        <p:spPr>
          <a:xfrm>
            <a:off x="5538303" y="984409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368" name="Google Shape;368;p29"/>
          <p:cNvSpPr txBox="1"/>
          <p:nvPr/>
        </p:nvSpPr>
        <p:spPr>
          <a:xfrm>
            <a:off x="5296760" y="1325523"/>
            <a:ext cx="1050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九大翻倍股特征</a:t>
            </a:r>
            <a:endParaRPr sz="1100"/>
          </a:p>
        </p:txBody>
      </p:sp>
      <p:sp>
        <p:nvSpPr>
          <p:cNvPr id="369" name="Google Shape;369;p29"/>
          <p:cNvSpPr/>
          <p:nvPr/>
        </p:nvSpPr>
        <p:spPr>
          <a:xfrm>
            <a:off x="4943475" y="1628775"/>
            <a:ext cx="1757363" cy="571500"/>
          </a:xfrm>
          <a:prstGeom prst="roundRect">
            <a:avLst>
              <a:gd fmla="val 10000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29"/>
          <p:cNvSpPr txBox="1"/>
          <p:nvPr/>
        </p:nvSpPr>
        <p:spPr>
          <a:xfrm>
            <a:off x="5588591" y="1728431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特征组合</a:t>
            </a:r>
            <a:endParaRPr sz="1100"/>
          </a:p>
        </p:txBody>
      </p:sp>
      <p:sp>
        <p:nvSpPr>
          <p:cNvPr id="371" name="Google Shape;371;p29"/>
          <p:cNvSpPr txBox="1"/>
          <p:nvPr/>
        </p:nvSpPr>
        <p:spPr>
          <a:xfrm>
            <a:off x="5435483" y="1872377"/>
            <a:ext cx="7733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基本面+催化剂</a:t>
            </a:r>
            <a:endParaRPr sz="1100"/>
          </a:p>
        </p:txBody>
      </p:sp>
      <p:sp>
        <p:nvSpPr>
          <p:cNvPr id="372" name="Google Shape;372;p29"/>
          <p:cNvSpPr txBox="1"/>
          <p:nvPr/>
        </p:nvSpPr>
        <p:spPr>
          <a:xfrm>
            <a:off x="5467112" y="2029539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赛道底层逻辑</a:t>
            </a:r>
            <a:endParaRPr sz="1100"/>
          </a:p>
        </p:txBody>
      </p:sp>
      <p:sp>
        <p:nvSpPr>
          <p:cNvPr id="373" name="Google Shape;373;p29"/>
          <p:cNvSpPr txBox="1"/>
          <p:nvPr/>
        </p:nvSpPr>
        <p:spPr>
          <a:xfrm>
            <a:off x="4962049" y="2372439"/>
            <a:ext cx="110113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基本面高增长/拐点</a:t>
            </a:r>
            <a:endParaRPr sz="1100"/>
          </a:p>
        </p:txBody>
      </p:sp>
      <p:sp>
        <p:nvSpPr>
          <p:cNvPr id="374" name="Google Shape;374;p29"/>
          <p:cNvSpPr txBox="1"/>
          <p:nvPr/>
        </p:nvSpPr>
        <p:spPr>
          <a:xfrm>
            <a:off x="4962049" y="2558177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大量订单储备</a:t>
            </a:r>
            <a:endParaRPr sz="1100"/>
          </a:p>
        </p:txBody>
      </p:sp>
      <p:sp>
        <p:nvSpPr>
          <p:cNvPr id="375" name="Google Shape;375;p29"/>
          <p:cNvSpPr txBox="1"/>
          <p:nvPr/>
        </p:nvSpPr>
        <p:spPr>
          <a:xfrm>
            <a:off x="4962049" y="2743914"/>
            <a:ext cx="8078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热门赛道底层</a:t>
            </a:r>
            <a:endParaRPr sz="1100"/>
          </a:p>
        </p:txBody>
      </p:sp>
      <p:sp>
        <p:nvSpPr>
          <p:cNvPr id="376" name="Google Shape;376;p29"/>
          <p:cNvSpPr txBox="1"/>
          <p:nvPr/>
        </p:nvSpPr>
        <p:spPr>
          <a:xfrm>
            <a:off x="4962049" y="2929652"/>
            <a:ext cx="92286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供应链回流美国</a:t>
            </a:r>
            <a:endParaRPr sz="1100"/>
          </a:p>
        </p:txBody>
      </p:sp>
      <p:sp>
        <p:nvSpPr>
          <p:cNvPr id="377" name="Google Shape;377;p29"/>
          <p:cNvSpPr txBox="1"/>
          <p:nvPr/>
        </p:nvSpPr>
        <p:spPr>
          <a:xfrm>
            <a:off x="4962049" y="3115389"/>
            <a:ext cx="9918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• 财报断层 Gap-Up</a:t>
            </a:r>
            <a:endParaRPr sz="1100"/>
          </a:p>
        </p:txBody>
      </p:sp>
      <p:sp>
        <p:nvSpPr>
          <p:cNvPr id="378" name="Google Shape;378;p29"/>
          <p:cNvSpPr/>
          <p:nvPr/>
        </p:nvSpPr>
        <p:spPr>
          <a:xfrm>
            <a:off x="4943475" y="4357688"/>
            <a:ext cx="1757363" cy="328613"/>
          </a:xfrm>
          <a:prstGeom prst="roundRect">
            <a:avLst>
              <a:gd fmla="val 17391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29"/>
          <p:cNvSpPr txBox="1"/>
          <p:nvPr/>
        </p:nvSpPr>
        <p:spPr>
          <a:xfrm>
            <a:off x="5570625" y="4472702"/>
            <a:ext cx="50306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选哪只股</a:t>
            </a:r>
            <a:endParaRPr sz="1100"/>
          </a:p>
        </p:txBody>
      </p:sp>
      <p:sp>
        <p:nvSpPr>
          <p:cNvPr id="380" name="Google Shape;380;p29"/>
          <p:cNvSpPr/>
          <p:nvPr/>
        </p:nvSpPr>
        <p:spPr>
          <a:xfrm>
            <a:off x="7029450" y="928688"/>
            <a:ext cx="1828800" cy="3857700"/>
          </a:xfrm>
          <a:prstGeom prst="roundRect">
            <a:avLst>
              <a:gd fmla="val 546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29"/>
          <p:cNvSpPr/>
          <p:nvPr/>
        </p:nvSpPr>
        <p:spPr>
          <a:xfrm>
            <a:off x="7029450" y="928688"/>
            <a:ext cx="1828800" cy="571500"/>
          </a:xfrm>
          <a:prstGeom prst="roundRect">
            <a:avLst>
              <a:gd fmla="val 175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29"/>
          <p:cNvSpPr/>
          <p:nvPr/>
        </p:nvSpPr>
        <p:spPr>
          <a:xfrm>
            <a:off x="7029450" y="1271588"/>
            <a:ext cx="1828800" cy="2286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29"/>
          <p:cNvSpPr txBox="1"/>
          <p:nvPr/>
        </p:nvSpPr>
        <p:spPr>
          <a:xfrm>
            <a:off x="7659997" y="984409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384" name="Google Shape;384;p29"/>
          <p:cNvSpPr txBox="1"/>
          <p:nvPr/>
        </p:nvSpPr>
        <p:spPr>
          <a:xfrm>
            <a:off x="7565097" y="1325523"/>
            <a:ext cx="75750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一句话定位</a:t>
            </a:r>
            <a:endParaRPr sz="1100"/>
          </a:p>
        </p:txBody>
      </p:sp>
      <p:sp>
        <p:nvSpPr>
          <p:cNvPr id="385" name="Google Shape;385;p29"/>
          <p:cNvSpPr/>
          <p:nvPr/>
        </p:nvSpPr>
        <p:spPr>
          <a:xfrm>
            <a:off x="7143750" y="1628775"/>
            <a:ext cx="1600200" cy="594300"/>
          </a:xfrm>
          <a:prstGeom prst="roundRect">
            <a:avLst>
              <a:gd fmla="val 6667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29"/>
          <p:cNvSpPr txBox="1"/>
          <p:nvPr/>
        </p:nvSpPr>
        <p:spPr>
          <a:xfrm>
            <a:off x="7465183" y="1759063"/>
            <a:ext cx="9573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在正确的赛道</a:t>
            </a:r>
            <a:endParaRPr sz="1100"/>
          </a:p>
        </p:txBody>
      </p:sp>
      <p:sp>
        <p:nvSpPr>
          <p:cNvPr id="387" name="Google Shape;387;p29"/>
          <p:cNvSpPr txBox="1"/>
          <p:nvPr/>
        </p:nvSpPr>
        <p:spPr>
          <a:xfrm>
            <a:off x="7542818" y="1977113"/>
            <a:ext cx="802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找对的股票</a:t>
            </a:r>
            <a:endParaRPr sz="1100"/>
          </a:p>
        </p:txBody>
      </p:sp>
      <p:sp>
        <p:nvSpPr>
          <p:cNvPr id="388" name="Google Shape;388;p29"/>
          <p:cNvSpPr txBox="1"/>
          <p:nvPr/>
        </p:nvSpPr>
        <p:spPr>
          <a:xfrm>
            <a:off x="7133749" y="2367488"/>
            <a:ext cx="1055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热门赛道方法论解决</a:t>
            </a:r>
            <a:endParaRPr sz="1100"/>
          </a:p>
        </p:txBody>
      </p:sp>
      <p:sp>
        <p:nvSpPr>
          <p:cNvPr id="389" name="Google Shape;389;p29"/>
          <p:cNvSpPr txBox="1"/>
          <p:nvPr/>
        </p:nvSpPr>
        <p:spPr>
          <a:xfrm>
            <a:off x="7133749" y="2538938"/>
            <a:ext cx="951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"在哪里找"的问题</a:t>
            </a:r>
            <a:endParaRPr sz="1100"/>
          </a:p>
        </p:txBody>
      </p:sp>
      <p:sp>
        <p:nvSpPr>
          <p:cNvPr id="390" name="Google Shape;390;p29"/>
          <p:cNvSpPr txBox="1"/>
          <p:nvPr/>
        </p:nvSpPr>
        <p:spPr>
          <a:xfrm>
            <a:off x="7133749" y="2796113"/>
            <a:ext cx="940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三大工具辅助决策</a:t>
            </a:r>
            <a:endParaRPr sz="1100"/>
          </a:p>
        </p:txBody>
      </p:sp>
      <p:sp>
        <p:nvSpPr>
          <p:cNvPr id="391" name="Google Shape;391;p29"/>
          <p:cNvSpPr txBox="1"/>
          <p:nvPr/>
        </p:nvSpPr>
        <p:spPr>
          <a:xfrm>
            <a:off x="7133749" y="2967563"/>
            <a:ext cx="825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进出场时机判断</a:t>
            </a:r>
            <a:endParaRPr sz="1100"/>
          </a:p>
        </p:txBody>
      </p:sp>
      <p:sp>
        <p:nvSpPr>
          <p:cNvPr id="392" name="Google Shape;392;p29"/>
          <p:cNvSpPr/>
          <p:nvPr/>
        </p:nvSpPr>
        <p:spPr>
          <a:xfrm>
            <a:off x="7143750" y="4357688"/>
            <a:ext cx="1600200" cy="328613"/>
          </a:xfrm>
          <a:prstGeom prst="roundRect">
            <a:avLst>
              <a:gd fmla="val 17391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29"/>
          <p:cNvSpPr txBox="1"/>
          <p:nvPr/>
        </p:nvSpPr>
        <p:spPr>
          <a:xfrm>
            <a:off x="7692319" y="4472702"/>
            <a:ext cx="50306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系统定位</a:t>
            </a:r>
            <a:endParaRPr sz="1100"/>
          </a:p>
        </p:txBody>
      </p:sp>
      <p:sp>
        <p:nvSpPr>
          <p:cNvPr id="394" name="Google Shape;394;p29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05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30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30"/>
          <p:cNvSpPr/>
          <p:nvPr/>
        </p:nvSpPr>
        <p:spPr>
          <a:xfrm>
            <a:off x="428625" y="214313"/>
            <a:ext cx="42863" cy="2571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30"/>
          <p:cNvSpPr txBox="1"/>
          <p:nvPr/>
        </p:nvSpPr>
        <p:spPr>
          <a:xfrm>
            <a:off x="562928" y="220027"/>
            <a:ext cx="197796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七大结构性赛道</a:t>
            </a:r>
            <a:endParaRPr sz="1100"/>
          </a:p>
        </p:txBody>
      </p:sp>
      <p:sp>
        <p:nvSpPr>
          <p:cNvPr id="403" name="Google Shape;403;p30"/>
          <p:cNvSpPr txBox="1"/>
          <p:nvPr/>
        </p:nvSpPr>
        <p:spPr>
          <a:xfrm>
            <a:off x="575071" y="523280"/>
            <a:ext cx="3342471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长周期主题驱动 · 非短期炒作 · /ticker-scan 覆盖所有赛道</a:t>
            </a:r>
            <a:endParaRPr sz="1100"/>
          </a:p>
        </p:txBody>
      </p:sp>
      <p:sp>
        <p:nvSpPr>
          <p:cNvPr id="404" name="Google Shape;404;p30"/>
          <p:cNvSpPr/>
          <p:nvPr/>
        </p:nvSpPr>
        <p:spPr>
          <a:xfrm>
            <a:off x="428625" y="785813"/>
            <a:ext cx="1985963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30"/>
          <p:cNvSpPr/>
          <p:nvPr/>
        </p:nvSpPr>
        <p:spPr>
          <a:xfrm>
            <a:off x="428625" y="785813"/>
            <a:ext cx="1985963" cy="428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30"/>
          <p:cNvSpPr/>
          <p:nvPr/>
        </p:nvSpPr>
        <p:spPr>
          <a:xfrm>
            <a:off x="1064419" y="98583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30"/>
          <p:cNvSpPr/>
          <p:nvPr/>
        </p:nvSpPr>
        <p:spPr>
          <a:xfrm>
            <a:off x="1178719" y="1085850"/>
            <a:ext cx="485775" cy="371475"/>
          </a:xfrm>
          <a:prstGeom prst="roundRect">
            <a:avLst>
              <a:gd fmla="val 7692" name="adj"/>
            </a:avLst>
          </a:prstGeom>
          <a:solidFill>
            <a:srgbClr val="C96133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30"/>
          <p:cNvSpPr/>
          <p:nvPr/>
        </p:nvSpPr>
        <p:spPr>
          <a:xfrm>
            <a:off x="964406" y="1157288"/>
            <a:ext cx="100013" cy="7144"/>
          </a:xfrm>
          <a:custGeom>
            <a:rect b="b" l="l" r="r" t="t"/>
            <a:pathLst>
              <a:path extrusionOk="0" h="9525" w="133350">
                <a:moveTo>
                  <a:pt x="133350" y="0"/>
                </a:moveTo>
                <a:lnTo>
                  <a:pt x="0" y="0"/>
                </a:lnTo>
              </a:path>
            </a:pathLst>
          </a:custGeom>
          <a:noFill/>
          <a:ln cap="rnd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9" name="Google Shape;409;p30"/>
          <p:cNvSpPr/>
          <p:nvPr/>
        </p:nvSpPr>
        <p:spPr>
          <a:xfrm>
            <a:off x="964406" y="1243013"/>
            <a:ext cx="100013" cy="7144"/>
          </a:xfrm>
          <a:custGeom>
            <a:rect b="b" l="l" r="r" t="t"/>
            <a:pathLst>
              <a:path extrusionOk="0" h="9525" w="133350">
                <a:moveTo>
                  <a:pt x="133350" y="0"/>
                </a:moveTo>
                <a:lnTo>
                  <a:pt x="0" y="0"/>
                </a:lnTo>
              </a:path>
            </a:pathLst>
          </a:custGeom>
          <a:noFill/>
          <a:ln cap="rnd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30"/>
          <p:cNvSpPr/>
          <p:nvPr/>
        </p:nvSpPr>
        <p:spPr>
          <a:xfrm>
            <a:off x="1621631" y="1157288"/>
            <a:ext cx="100013" cy="7144"/>
          </a:xfrm>
          <a:custGeom>
            <a:rect b="b" l="l" r="r" t="t"/>
            <a:pathLst>
              <a:path extrusionOk="0" h="9525" w="133350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cap="rnd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1" name="Google Shape;411;p30"/>
          <p:cNvSpPr/>
          <p:nvPr/>
        </p:nvSpPr>
        <p:spPr>
          <a:xfrm>
            <a:off x="1621631" y="1243013"/>
            <a:ext cx="100013" cy="7144"/>
          </a:xfrm>
          <a:custGeom>
            <a:rect b="b" l="l" r="r" t="t"/>
            <a:pathLst>
              <a:path extrusionOk="0" h="9525" w="133350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cap="rnd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2" name="Google Shape;412;p30"/>
          <p:cNvSpPr txBox="1"/>
          <p:nvPr/>
        </p:nvSpPr>
        <p:spPr>
          <a:xfrm>
            <a:off x="1317284" y="1327309"/>
            <a:ext cx="20864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HBM</a:t>
            </a:r>
            <a:endParaRPr sz="1100"/>
          </a:p>
        </p:txBody>
      </p:sp>
      <p:sp>
        <p:nvSpPr>
          <p:cNvPr id="413" name="Google Shape;413;p30"/>
          <p:cNvSpPr txBox="1"/>
          <p:nvPr/>
        </p:nvSpPr>
        <p:spPr>
          <a:xfrm>
            <a:off x="1065134" y="1631632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存储记忆体</a:t>
            </a:r>
            <a:endParaRPr sz="1100"/>
          </a:p>
        </p:txBody>
      </p:sp>
      <p:sp>
        <p:nvSpPr>
          <p:cNvPr id="414" name="Google Shape;414;p30"/>
          <p:cNvSpPr txBox="1"/>
          <p:nvPr/>
        </p:nvSpPr>
        <p:spPr>
          <a:xfrm>
            <a:off x="763490" y="1813084"/>
            <a:ext cx="131623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AI 驱动 DRAM/HBM 需求周期</a:t>
            </a:r>
            <a:endParaRPr sz="1100"/>
          </a:p>
        </p:txBody>
      </p:sp>
      <p:sp>
        <p:nvSpPr>
          <p:cNvPr id="415" name="Google Shape;415;p30"/>
          <p:cNvSpPr txBox="1"/>
          <p:nvPr/>
        </p:nvSpPr>
        <p:spPr>
          <a:xfrm>
            <a:off x="826460" y="1970246"/>
            <a:ext cx="119029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MU · MRVL · QMCO · GSIT</a:t>
            </a:r>
            <a:endParaRPr sz="1100"/>
          </a:p>
        </p:txBody>
      </p:sp>
      <p:sp>
        <p:nvSpPr>
          <p:cNvPr id="416" name="Google Shape;416;p30"/>
          <p:cNvSpPr txBox="1"/>
          <p:nvPr/>
        </p:nvSpPr>
        <p:spPr>
          <a:xfrm>
            <a:off x="1085243" y="2127409"/>
            <a:ext cx="67272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SOXX ETF 覆盖</a:t>
            </a:r>
            <a:endParaRPr sz="1100"/>
          </a:p>
        </p:txBody>
      </p:sp>
      <p:sp>
        <p:nvSpPr>
          <p:cNvPr id="417" name="Google Shape;417;p30"/>
          <p:cNvSpPr/>
          <p:nvPr/>
        </p:nvSpPr>
        <p:spPr>
          <a:xfrm>
            <a:off x="2557463" y="785813"/>
            <a:ext cx="1985963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30"/>
          <p:cNvSpPr/>
          <p:nvPr/>
        </p:nvSpPr>
        <p:spPr>
          <a:xfrm>
            <a:off x="2557463" y="785813"/>
            <a:ext cx="1985963" cy="428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30"/>
          <p:cNvSpPr/>
          <p:nvPr/>
        </p:nvSpPr>
        <p:spPr>
          <a:xfrm>
            <a:off x="3193256" y="98583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30"/>
          <p:cNvSpPr/>
          <p:nvPr/>
        </p:nvSpPr>
        <p:spPr>
          <a:xfrm>
            <a:off x="3286125" y="1085850"/>
            <a:ext cx="571500" cy="257175"/>
          </a:xfrm>
          <a:custGeom>
            <a:rect b="b" l="l" r="r" t="t"/>
            <a:pathLst>
              <a:path extrusionOk="0" h="342900" w="762000">
                <a:moveTo>
                  <a:pt x="0" y="342900"/>
                </a:moveTo>
                <a:lnTo>
                  <a:pt x="190500" y="0"/>
                </a:lnTo>
                <a:lnTo>
                  <a:pt x="381000" y="247650"/>
                </a:lnTo>
                <a:lnTo>
                  <a:pt x="571500" y="0"/>
                </a:lnTo>
                <a:lnTo>
                  <a:pt x="762000" y="247650"/>
                </a:lnTo>
              </a:path>
            </a:pathLst>
          </a:custGeom>
          <a:noFill/>
          <a:ln cap="rnd" cmpd="sng" w="2857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1" name="Google Shape;421;p30"/>
          <p:cNvSpPr txBox="1"/>
          <p:nvPr/>
        </p:nvSpPr>
        <p:spPr>
          <a:xfrm>
            <a:off x="3183620" y="1631632"/>
            <a:ext cx="73364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AI 光电互连</a:t>
            </a:r>
            <a:endParaRPr sz="1100"/>
          </a:p>
        </p:txBody>
      </p:sp>
      <p:sp>
        <p:nvSpPr>
          <p:cNvPr id="422" name="Google Shape;422;p30"/>
          <p:cNvSpPr txBox="1"/>
          <p:nvPr/>
        </p:nvSpPr>
        <p:spPr>
          <a:xfrm>
            <a:off x="2853510" y="1813084"/>
            <a:ext cx="139386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AI 数据中心带宽瓶颈 = 光子学</a:t>
            </a:r>
            <a:endParaRPr sz="1100"/>
          </a:p>
        </p:txBody>
      </p:sp>
      <p:sp>
        <p:nvSpPr>
          <p:cNvPr id="423" name="Google Shape;423;p30"/>
          <p:cNvSpPr txBox="1"/>
          <p:nvPr/>
        </p:nvSpPr>
        <p:spPr>
          <a:xfrm>
            <a:off x="2933117" y="1970246"/>
            <a:ext cx="123465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COHR · CRDO · AAOI · AXTI</a:t>
            </a:r>
            <a:endParaRPr sz="1100"/>
          </a:p>
        </p:txBody>
      </p:sp>
      <p:sp>
        <p:nvSpPr>
          <p:cNvPr id="424" name="Google Shape;424;p30"/>
          <p:cNvSpPr txBox="1"/>
          <p:nvPr/>
        </p:nvSpPr>
        <p:spPr>
          <a:xfrm>
            <a:off x="3100709" y="2127409"/>
            <a:ext cx="89947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无纯 ETF，个股策略</a:t>
            </a:r>
            <a:endParaRPr sz="1100"/>
          </a:p>
        </p:txBody>
      </p:sp>
      <p:sp>
        <p:nvSpPr>
          <p:cNvPr id="425" name="Google Shape;425;p30"/>
          <p:cNvSpPr/>
          <p:nvPr/>
        </p:nvSpPr>
        <p:spPr>
          <a:xfrm>
            <a:off x="4686300" y="785813"/>
            <a:ext cx="1985963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30"/>
          <p:cNvSpPr/>
          <p:nvPr/>
        </p:nvSpPr>
        <p:spPr>
          <a:xfrm>
            <a:off x="4686300" y="785813"/>
            <a:ext cx="1985963" cy="428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30"/>
          <p:cNvSpPr/>
          <p:nvPr/>
        </p:nvSpPr>
        <p:spPr>
          <a:xfrm>
            <a:off x="5322094" y="98583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30"/>
          <p:cNvSpPr/>
          <p:nvPr/>
        </p:nvSpPr>
        <p:spPr>
          <a:xfrm>
            <a:off x="5536406" y="1057275"/>
            <a:ext cx="285750" cy="285750"/>
          </a:xfrm>
          <a:prstGeom prst="ellipse">
            <a:avLst/>
          </a:prstGeom>
          <a:noFill/>
          <a:ln cap="flat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30"/>
          <p:cNvSpPr/>
          <p:nvPr/>
        </p:nvSpPr>
        <p:spPr>
          <a:xfrm>
            <a:off x="5593556" y="1114425"/>
            <a:ext cx="171450" cy="171450"/>
          </a:xfrm>
          <a:prstGeom prst="ellipse">
            <a:avLst/>
          </a:prstGeom>
          <a:noFill/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30"/>
          <p:cNvSpPr/>
          <p:nvPr/>
        </p:nvSpPr>
        <p:spPr>
          <a:xfrm>
            <a:off x="5679281" y="1343025"/>
            <a:ext cx="7144" cy="157163"/>
          </a:xfrm>
          <a:custGeom>
            <a:rect b="b" l="l" r="r" t="t"/>
            <a:pathLst>
              <a:path extrusionOk="0" h="209550" w="9525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cap="rnd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1" name="Google Shape;431;p30"/>
          <p:cNvSpPr txBox="1"/>
          <p:nvPr/>
        </p:nvSpPr>
        <p:spPr>
          <a:xfrm>
            <a:off x="5253799" y="1631632"/>
            <a:ext cx="85096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低轨卫星通讯</a:t>
            </a:r>
            <a:endParaRPr sz="1100"/>
          </a:p>
        </p:txBody>
      </p:sp>
      <p:sp>
        <p:nvSpPr>
          <p:cNvPr id="432" name="Google Shape;432;p30"/>
          <p:cNvSpPr txBox="1"/>
          <p:nvPr/>
        </p:nvSpPr>
        <p:spPr>
          <a:xfrm>
            <a:off x="4961645" y="1813084"/>
            <a:ext cx="14352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星链经济 + 国防/商业双轮驱动</a:t>
            </a:r>
            <a:endParaRPr sz="1100"/>
          </a:p>
        </p:txBody>
      </p:sp>
      <p:sp>
        <p:nvSpPr>
          <p:cNvPr id="433" name="Google Shape;433;p30"/>
          <p:cNvSpPr txBox="1"/>
          <p:nvPr/>
        </p:nvSpPr>
        <p:spPr>
          <a:xfrm>
            <a:off x="5148215" y="1970246"/>
            <a:ext cx="106213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RKBL · YSS · PL · ASTS</a:t>
            </a:r>
            <a:endParaRPr sz="1100"/>
          </a:p>
        </p:txBody>
      </p:sp>
      <p:sp>
        <p:nvSpPr>
          <p:cNvPr id="434" name="Google Shape;434;p30"/>
          <p:cNvSpPr txBox="1"/>
          <p:nvPr/>
        </p:nvSpPr>
        <p:spPr>
          <a:xfrm>
            <a:off x="5320736" y="2127409"/>
            <a:ext cx="71709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UFO ETF 可配置</a:t>
            </a:r>
            <a:endParaRPr sz="1100"/>
          </a:p>
        </p:txBody>
      </p:sp>
      <p:sp>
        <p:nvSpPr>
          <p:cNvPr id="435" name="Google Shape;435;p30"/>
          <p:cNvSpPr/>
          <p:nvPr/>
        </p:nvSpPr>
        <p:spPr>
          <a:xfrm>
            <a:off x="6815138" y="785813"/>
            <a:ext cx="1985963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30"/>
          <p:cNvSpPr/>
          <p:nvPr/>
        </p:nvSpPr>
        <p:spPr>
          <a:xfrm>
            <a:off x="6815138" y="785813"/>
            <a:ext cx="1985963" cy="428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30"/>
          <p:cNvSpPr/>
          <p:nvPr/>
        </p:nvSpPr>
        <p:spPr>
          <a:xfrm>
            <a:off x="7450931" y="98583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p30"/>
          <p:cNvSpPr/>
          <p:nvPr/>
        </p:nvSpPr>
        <p:spPr>
          <a:xfrm>
            <a:off x="7750969" y="1057275"/>
            <a:ext cx="214313" cy="500063"/>
          </a:xfrm>
          <a:custGeom>
            <a:rect b="b" l="l" r="r" t="t"/>
            <a:pathLst>
              <a:path extrusionOk="0" h="666750" w="285750">
                <a:moveTo>
                  <a:pt x="219075" y="0"/>
                </a:moveTo>
                <a:lnTo>
                  <a:pt x="0" y="333375"/>
                </a:lnTo>
                <a:lnTo>
                  <a:pt x="123825" y="333375"/>
                </a:lnTo>
                <a:lnTo>
                  <a:pt x="28575" y="666750"/>
                </a:lnTo>
                <a:lnTo>
                  <a:pt x="285750" y="285750"/>
                </a:lnTo>
                <a:lnTo>
                  <a:pt x="142875" y="285750"/>
                </a:lnTo>
                <a:close/>
              </a:path>
            </a:pathLst>
          </a:custGeom>
          <a:solidFill>
            <a:srgbClr val="C96133">
              <a:alpha val="70196"/>
            </a:srgbClr>
          </a:solidFill>
          <a:ln>
            <a:noFill/>
          </a:ln>
        </p:spPr>
      </p:sp>
      <p:sp>
        <p:nvSpPr>
          <p:cNvPr id="439" name="Google Shape;439;p30"/>
          <p:cNvSpPr txBox="1"/>
          <p:nvPr/>
        </p:nvSpPr>
        <p:spPr>
          <a:xfrm>
            <a:off x="7179560" y="1637705"/>
            <a:ext cx="125711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功率半导体/电网储能</a:t>
            </a:r>
            <a:endParaRPr sz="1100"/>
          </a:p>
        </p:txBody>
      </p:sp>
      <p:sp>
        <p:nvSpPr>
          <p:cNvPr id="440" name="Google Shape;440;p30"/>
          <p:cNvSpPr txBox="1"/>
          <p:nvPr/>
        </p:nvSpPr>
        <p:spPr>
          <a:xfrm>
            <a:off x="7085307" y="1813084"/>
            <a:ext cx="14456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SiC/超导/储能 = AI 耗电物理层</a:t>
            </a:r>
            <a:endParaRPr sz="1100"/>
          </a:p>
        </p:txBody>
      </p:sp>
      <p:sp>
        <p:nvSpPr>
          <p:cNvPr id="441" name="Google Shape;441;p30"/>
          <p:cNvSpPr txBox="1"/>
          <p:nvPr/>
        </p:nvSpPr>
        <p:spPr>
          <a:xfrm>
            <a:off x="7193256" y="1970246"/>
            <a:ext cx="122972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NVTS · WOLF · VSH · AMSC</a:t>
            </a:r>
            <a:endParaRPr sz="1100"/>
          </a:p>
        </p:txBody>
      </p:sp>
      <p:sp>
        <p:nvSpPr>
          <p:cNvPr id="442" name="Google Shape;442;p30"/>
          <p:cNvSpPr txBox="1"/>
          <p:nvPr/>
        </p:nvSpPr>
        <p:spPr>
          <a:xfrm>
            <a:off x="7444645" y="2127409"/>
            <a:ext cx="7269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GRID ETF 最贴合</a:t>
            </a:r>
            <a:endParaRPr sz="1100"/>
          </a:p>
        </p:txBody>
      </p:sp>
      <p:sp>
        <p:nvSpPr>
          <p:cNvPr id="443" name="Google Shape;443;p30"/>
          <p:cNvSpPr/>
          <p:nvPr/>
        </p:nvSpPr>
        <p:spPr>
          <a:xfrm>
            <a:off x="1135856" y="2786063"/>
            <a:ext cx="2128838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30"/>
          <p:cNvSpPr/>
          <p:nvPr/>
        </p:nvSpPr>
        <p:spPr>
          <a:xfrm>
            <a:off x="1135856" y="2786063"/>
            <a:ext cx="2128838" cy="428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30"/>
          <p:cNvSpPr/>
          <p:nvPr/>
        </p:nvSpPr>
        <p:spPr>
          <a:xfrm>
            <a:off x="1771650" y="298608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30"/>
          <p:cNvSpPr/>
          <p:nvPr/>
        </p:nvSpPr>
        <p:spPr>
          <a:xfrm>
            <a:off x="1885950" y="3086100"/>
            <a:ext cx="485775" cy="371475"/>
          </a:xfrm>
          <a:prstGeom prst="roundRect">
            <a:avLst>
              <a:gd fmla="val 7692" name="adj"/>
            </a:avLst>
          </a:pr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30"/>
          <p:cNvSpPr/>
          <p:nvPr/>
        </p:nvSpPr>
        <p:spPr>
          <a:xfrm>
            <a:off x="1943100" y="3186113"/>
            <a:ext cx="114300" cy="7144"/>
          </a:xfrm>
          <a:custGeom>
            <a:rect b="b" l="l" r="r" t="t"/>
            <a:pathLst>
              <a:path extrusionOk="0" h="9525" w="152400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8" name="Google Shape;448;p30"/>
          <p:cNvSpPr/>
          <p:nvPr/>
        </p:nvSpPr>
        <p:spPr>
          <a:xfrm>
            <a:off x="1943100" y="3271838"/>
            <a:ext cx="114300" cy="7144"/>
          </a:xfrm>
          <a:custGeom>
            <a:rect b="b" l="l" r="r" t="t"/>
            <a:pathLst>
              <a:path extrusionOk="0" h="9525" w="152400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9" name="Google Shape;449;p30"/>
          <p:cNvSpPr/>
          <p:nvPr/>
        </p:nvSpPr>
        <p:spPr>
          <a:xfrm>
            <a:off x="1943100" y="3357563"/>
            <a:ext cx="114300" cy="7144"/>
          </a:xfrm>
          <a:custGeom>
            <a:rect b="b" l="l" r="r" t="t"/>
            <a:pathLst>
              <a:path extrusionOk="0" h="9525" w="152400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0" name="Google Shape;450;p30"/>
          <p:cNvSpPr txBox="1"/>
          <p:nvPr/>
        </p:nvSpPr>
        <p:spPr>
          <a:xfrm>
            <a:off x="1736690" y="3637955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半导体封装测试</a:t>
            </a:r>
            <a:endParaRPr sz="1100"/>
          </a:p>
        </p:txBody>
      </p:sp>
      <p:sp>
        <p:nvSpPr>
          <p:cNvPr id="451" name="Google Shape;451;p30"/>
          <p:cNvSpPr txBox="1"/>
          <p:nvPr/>
        </p:nvSpPr>
        <p:spPr>
          <a:xfrm>
            <a:off x="1526632" y="3813334"/>
            <a:ext cx="13472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先进封装+测试 = AI 算力瓶颈</a:t>
            </a:r>
            <a:endParaRPr sz="1100"/>
          </a:p>
        </p:txBody>
      </p:sp>
      <p:sp>
        <p:nvSpPr>
          <p:cNvPr id="452" name="Google Shape;452;p30"/>
          <p:cNvSpPr txBox="1"/>
          <p:nvPr/>
        </p:nvSpPr>
        <p:spPr>
          <a:xfrm>
            <a:off x="1580483" y="3970496"/>
            <a:ext cx="123958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AMKR · COHU · AEHR · INTC</a:t>
            </a:r>
            <a:endParaRPr sz="1100"/>
          </a:p>
        </p:txBody>
      </p:sp>
      <p:sp>
        <p:nvSpPr>
          <p:cNvPr id="453" name="Google Shape;453;p30"/>
          <p:cNvSpPr txBox="1"/>
          <p:nvPr/>
        </p:nvSpPr>
        <p:spPr>
          <a:xfrm>
            <a:off x="1649492" y="4127659"/>
            <a:ext cx="110156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华为「韬定律」驱动需求</a:t>
            </a:r>
            <a:endParaRPr sz="1100"/>
          </a:p>
        </p:txBody>
      </p:sp>
      <p:sp>
        <p:nvSpPr>
          <p:cNvPr id="454" name="Google Shape;454;p30"/>
          <p:cNvSpPr/>
          <p:nvPr/>
        </p:nvSpPr>
        <p:spPr>
          <a:xfrm>
            <a:off x="3507581" y="2786063"/>
            <a:ext cx="2128838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30"/>
          <p:cNvSpPr/>
          <p:nvPr/>
        </p:nvSpPr>
        <p:spPr>
          <a:xfrm>
            <a:off x="3507581" y="2786063"/>
            <a:ext cx="2128838" cy="428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30"/>
          <p:cNvSpPr/>
          <p:nvPr/>
        </p:nvSpPr>
        <p:spPr>
          <a:xfrm>
            <a:off x="4143375" y="298608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7" name="Google Shape;457;p30"/>
          <p:cNvSpPr/>
          <p:nvPr/>
        </p:nvSpPr>
        <p:spPr>
          <a:xfrm>
            <a:off x="4357688" y="3057525"/>
            <a:ext cx="285750" cy="285750"/>
          </a:xfrm>
          <a:custGeom>
            <a:rect b="b" l="l" r="r" t="t"/>
            <a:pathLst>
              <a:path extrusionOk="0" h="381000" w="381000">
                <a:moveTo>
                  <a:pt x="190500" y="0"/>
                </a:moveTo>
                <a:lnTo>
                  <a:pt x="381000" y="257175"/>
                </a:lnTo>
                <a:lnTo>
                  <a:pt x="190500" y="381000"/>
                </a:lnTo>
                <a:lnTo>
                  <a:pt x="0" y="257175"/>
                </a:lnTo>
                <a:close/>
              </a:path>
            </a:pathLst>
          </a:custGeom>
          <a:noFill/>
          <a:ln cap="flat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8" name="Google Shape;458;p30"/>
          <p:cNvSpPr/>
          <p:nvPr/>
        </p:nvSpPr>
        <p:spPr>
          <a:xfrm>
            <a:off x="4393406" y="3143250"/>
            <a:ext cx="214313" cy="214313"/>
          </a:xfrm>
          <a:custGeom>
            <a:rect b="b" l="l" r="r" t="t"/>
            <a:pathLst>
              <a:path extrusionOk="0" h="285750" w="285750">
                <a:moveTo>
                  <a:pt x="142875" y="0"/>
                </a:moveTo>
                <a:lnTo>
                  <a:pt x="285750" y="190500"/>
                </a:lnTo>
                <a:lnTo>
                  <a:pt x="142875" y="285750"/>
                </a:lnTo>
                <a:lnTo>
                  <a:pt x="0" y="190500"/>
                </a:lnTo>
                <a:close/>
              </a:path>
            </a:pathLst>
          </a:custGeom>
          <a:solidFill>
            <a:srgbClr val="3A9E6A">
              <a:alpha val="30196"/>
            </a:srgbClr>
          </a:solidFill>
          <a:ln>
            <a:noFill/>
          </a:ln>
        </p:spPr>
      </p:sp>
      <p:sp>
        <p:nvSpPr>
          <p:cNvPr id="459" name="Google Shape;459;p30"/>
          <p:cNvSpPr txBox="1"/>
          <p:nvPr/>
        </p:nvSpPr>
        <p:spPr>
          <a:xfrm>
            <a:off x="4248602" y="3619738"/>
            <a:ext cx="64679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矿产资源</a:t>
            </a:r>
            <a:endParaRPr sz="1100"/>
          </a:p>
        </p:txBody>
      </p:sp>
      <p:sp>
        <p:nvSpPr>
          <p:cNvPr id="460" name="Google Shape;460;p30"/>
          <p:cNvSpPr txBox="1"/>
          <p:nvPr/>
        </p:nvSpPr>
        <p:spPr>
          <a:xfrm>
            <a:off x="3833661" y="3813334"/>
            <a:ext cx="147667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关键矿产/稀土/铀（去中国化）</a:t>
            </a:r>
            <a:endParaRPr sz="1100"/>
          </a:p>
        </p:txBody>
      </p:sp>
      <p:sp>
        <p:nvSpPr>
          <p:cNvPr id="461" name="Google Shape;461;p30"/>
          <p:cNvSpPr txBox="1"/>
          <p:nvPr/>
        </p:nvSpPr>
        <p:spPr>
          <a:xfrm>
            <a:off x="3966996" y="3970496"/>
            <a:ext cx="121000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ALOY · UUUU · ABAT · ALM</a:t>
            </a:r>
            <a:endParaRPr sz="1100"/>
          </a:p>
        </p:txBody>
      </p:sp>
      <p:sp>
        <p:nvSpPr>
          <p:cNvPr id="462" name="Google Shape;462;p30"/>
          <p:cNvSpPr txBox="1"/>
          <p:nvPr/>
        </p:nvSpPr>
        <p:spPr>
          <a:xfrm>
            <a:off x="4060650" y="4127659"/>
            <a:ext cx="102269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REMX ETF 覆盖稀土/锂</a:t>
            </a:r>
            <a:endParaRPr sz="1100"/>
          </a:p>
        </p:txBody>
      </p:sp>
      <p:sp>
        <p:nvSpPr>
          <p:cNvPr id="463" name="Google Shape;463;p30"/>
          <p:cNvSpPr/>
          <p:nvPr/>
        </p:nvSpPr>
        <p:spPr>
          <a:xfrm>
            <a:off x="5879306" y="2786063"/>
            <a:ext cx="2128838" cy="1857375"/>
          </a:xfrm>
          <a:prstGeom prst="roundRect">
            <a:avLst>
              <a:gd fmla="val 4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30"/>
          <p:cNvSpPr/>
          <p:nvPr/>
        </p:nvSpPr>
        <p:spPr>
          <a:xfrm>
            <a:off x="5879306" y="2786063"/>
            <a:ext cx="2128838" cy="42863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30"/>
          <p:cNvSpPr/>
          <p:nvPr/>
        </p:nvSpPr>
        <p:spPr>
          <a:xfrm>
            <a:off x="6515100" y="2986088"/>
            <a:ext cx="714375" cy="571500"/>
          </a:xfrm>
          <a:prstGeom prst="roundRect">
            <a:avLst>
              <a:gd fmla="val 10000" name="adj"/>
            </a:avLst>
          </a:prstGeom>
          <a:solidFill>
            <a:srgbClr val="9E9E9E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30"/>
          <p:cNvSpPr/>
          <p:nvPr/>
        </p:nvSpPr>
        <p:spPr>
          <a:xfrm>
            <a:off x="6657975" y="3128963"/>
            <a:ext cx="428625" cy="357188"/>
          </a:xfrm>
          <a:prstGeom prst="roundRect">
            <a:avLst>
              <a:gd fmla="val 6000" name="adj"/>
            </a:avLst>
          </a:prstGeom>
          <a:noFill/>
          <a:ln cap="flat" cmpd="sng" w="23800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30"/>
          <p:cNvSpPr/>
          <p:nvPr/>
        </p:nvSpPr>
        <p:spPr>
          <a:xfrm>
            <a:off x="6707981" y="3171825"/>
            <a:ext cx="71438" cy="85725"/>
          </a:xfrm>
          <a:prstGeom prst="roundRect">
            <a:avLst>
              <a:gd fmla="val 10000" name="adj"/>
            </a:avLst>
          </a:prstGeom>
          <a:solidFill>
            <a:srgbClr val="9E9E9E">
              <a:alpha val="6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30"/>
          <p:cNvSpPr/>
          <p:nvPr/>
        </p:nvSpPr>
        <p:spPr>
          <a:xfrm>
            <a:off x="6836569" y="3171825"/>
            <a:ext cx="71438" cy="85725"/>
          </a:xfrm>
          <a:prstGeom prst="roundRect">
            <a:avLst>
              <a:gd fmla="val 10000" name="adj"/>
            </a:avLst>
          </a:prstGeom>
          <a:solidFill>
            <a:srgbClr val="9E9E9E">
              <a:alpha val="6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" name="Google Shape;469;p30"/>
          <p:cNvSpPr/>
          <p:nvPr/>
        </p:nvSpPr>
        <p:spPr>
          <a:xfrm>
            <a:off x="6772275" y="3343275"/>
            <a:ext cx="85725" cy="128588"/>
          </a:xfrm>
          <a:prstGeom prst="roundRect">
            <a:avLst>
              <a:gd fmla="val 8333" name="adj"/>
            </a:avLst>
          </a:prstGeom>
          <a:solidFill>
            <a:srgbClr val="9E9E9E">
              <a:alpha val="8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30"/>
          <p:cNvSpPr txBox="1"/>
          <p:nvPr/>
        </p:nvSpPr>
        <p:spPr>
          <a:xfrm>
            <a:off x="6725269" y="3631882"/>
            <a:ext cx="4369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房地产</a:t>
            </a:r>
            <a:endParaRPr sz="1100"/>
          </a:p>
        </p:txBody>
      </p:sp>
      <p:sp>
        <p:nvSpPr>
          <p:cNvPr id="471" name="Google Shape;471;p30"/>
          <p:cNvSpPr txBox="1"/>
          <p:nvPr/>
        </p:nvSpPr>
        <p:spPr>
          <a:xfrm>
            <a:off x="6495223" y="3813334"/>
            <a:ext cx="89700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Chen 新增价值赛道</a:t>
            </a:r>
            <a:endParaRPr sz="1100"/>
          </a:p>
        </p:txBody>
      </p:sp>
      <p:sp>
        <p:nvSpPr>
          <p:cNvPr id="472" name="Google Shape;472;p30"/>
          <p:cNvSpPr txBox="1"/>
          <p:nvPr/>
        </p:nvSpPr>
        <p:spPr>
          <a:xfrm>
            <a:off x="6518636" y="3970496"/>
            <a:ext cx="85017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OPEN · COMP 个股</a:t>
            </a:r>
            <a:endParaRPr sz="1100"/>
          </a:p>
        </p:txBody>
      </p:sp>
      <p:sp>
        <p:nvSpPr>
          <p:cNvPr id="473" name="Google Shape;473;p30"/>
          <p:cNvSpPr txBox="1"/>
          <p:nvPr/>
        </p:nvSpPr>
        <p:spPr>
          <a:xfrm>
            <a:off x="6392941" y="4127659"/>
            <a:ext cx="110156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降息扭亏 PropTech 逻辑</a:t>
            </a:r>
            <a:endParaRPr sz="1100"/>
          </a:p>
        </p:txBody>
      </p:sp>
      <p:sp>
        <p:nvSpPr>
          <p:cNvPr id="474" name="Google Shape;474;p30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06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3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31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31"/>
          <p:cNvSpPr/>
          <p:nvPr/>
        </p:nvSpPr>
        <p:spPr>
          <a:xfrm>
            <a:off x="428625" y="214313"/>
            <a:ext cx="42863" cy="2571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31"/>
          <p:cNvSpPr txBox="1"/>
          <p:nvPr/>
        </p:nvSpPr>
        <p:spPr>
          <a:xfrm>
            <a:off x="562928" y="220027"/>
            <a:ext cx="197796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九大翻倍股特征</a:t>
            </a:r>
            <a:endParaRPr sz="1100"/>
          </a:p>
        </p:txBody>
      </p:sp>
      <p:sp>
        <p:nvSpPr>
          <p:cNvPr id="483" name="Google Shape;483;p31"/>
          <p:cNvSpPr txBox="1"/>
          <p:nvPr/>
        </p:nvSpPr>
        <p:spPr>
          <a:xfrm>
            <a:off x="575071" y="508992"/>
            <a:ext cx="328085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赛道景气 × 基本面拐点 × 催化剂 — 识别翻倍候选股九大信号</a:t>
            </a:r>
            <a:endParaRPr sz="1100"/>
          </a:p>
        </p:txBody>
      </p:sp>
      <p:sp>
        <p:nvSpPr>
          <p:cNvPr id="484" name="Google Shape;484;p31"/>
          <p:cNvSpPr/>
          <p:nvPr/>
        </p:nvSpPr>
        <p:spPr>
          <a:xfrm>
            <a:off x="428625" y="757238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31"/>
          <p:cNvSpPr/>
          <p:nvPr/>
        </p:nvSpPr>
        <p:spPr>
          <a:xfrm>
            <a:off x="428625" y="757238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31"/>
          <p:cNvSpPr/>
          <p:nvPr/>
        </p:nvSpPr>
        <p:spPr>
          <a:xfrm>
            <a:off x="571500" y="971550"/>
            <a:ext cx="400050" cy="4000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7" name="Google Shape;487;p31"/>
          <p:cNvSpPr txBox="1"/>
          <p:nvPr/>
        </p:nvSpPr>
        <p:spPr>
          <a:xfrm>
            <a:off x="703621" y="1087994"/>
            <a:ext cx="135808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▲</a:t>
            </a:r>
            <a:endParaRPr sz="1100"/>
          </a:p>
        </p:txBody>
      </p:sp>
      <p:sp>
        <p:nvSpPr>
          <p:cNvPr id="488" name="Google Shape;488;p31"/>
          <p:cNvSpPr txBox="1"/>
          <p:nvPr/>
        </p:nvSpPr>
        <p:spPr>
          <a:xfrm>
            <a:off x="1188006" y="954048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基本面高增长</a:t>
            </a:r>
            <a:endParaRPr sz="1100"/>
          </a:p>
        </p:txBody>
      </p:sp>
      <p:sp>
        <p:nvSpPr>
          <p:cNvPr id="489" name="Google Shape;489;p31"/>
          <p:cNvSpPr txBox="1"/>
          <p:nvPr/>
        </p:nvSpPr>
        <p:spPr>
          <a:xfrm>
            <a:off x="1190863" y="1135499"/>
            <a:ext cx="8035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营收利润双高速</a:t>
            </a:r>
            <a:endParaRPr sz="1100"/>
          </a:p>
        </p:txBody>
      </p:sp>
      <p:sp>
        <p:nvSpPr>
          <p:cNvPr id="490" name="Google Shape;490;p31"/>
          <p:cNvSpPr txBox="1"/>
          <p:nvPr/>
        </p:nvSpPr>
        <p:spPr>
          <a:xfrm>
            <a:off x="1190864" y="1278374"/>
            <a:ext cx="132152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年增速&gt;50%，主营业务驱动</a:t>
            </a:r>
            <a:endParaRPr sz="1100"/>
          </a:p>
        </p:txBody>
      </p:sp>
      <p:sp>
        <p:nvSpPr>
          <p:cNvPr id="491" name="Google Shape;491;p31"/>
          <p:cNvSpPr/>
          <p:nvPr/>
        </p:nvSpPr>
        <p:spPr>
          <a:xfrm>
            <a:off x="542925" y="1671638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31"/>
          <p:cNvSpPr txBox="1"/>
          <p:nvPr/>
        </p:nvSpPr>
        <p:spPr>
          <a:xfrm>
            <a:off x="1482016" y="1742718"/>
            <a:ext cx="57926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核心硬指标</a:t>
            </a:r>
            <a:endParaRPr sz="1100"/>
          </a:p>
        </p:txBody>
      </p:sp>
      <p:sp>
        <p:nvSpPr>
          <p:cNvPr id="493" name="Google Shape;493;p31"/>
          <p:cNvSpPr/>
          <p:nvPr/>
        </p:nvSpPr>
        <p:spPr>
          <a:xfrm>
            <a:off x="3257550" y="757238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31"/>
          <p:cNvSpPr/>
          <p:nvPr/>
        </p:nvSpPr>
        <p:spPr>
          <a:xfrm>
            <a:off x="3257550" y="757238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31"/>
          <p:cNvSpPr/>
          <p:nvPr/>
        </p:nvSpPr>
        <p:spPr>
          <a:xfrm>
            <a:off x="3400425" y="971550"/>
            <a:ext cx="400050" cy="4000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31"/>
          <p:cNvSpPr/>
          <p:nvPr/>
        </p:nvSpPr>
        <p:spPr>
          <a:xfrm>
            <a:off x="3500438" y="1085850"/>
            <a:ext cx="214313" cy="185738"/>
          </a:xfrm>
          <a:custGeom>
            <a:rect b="b" l="l" r="r" t="t"/>
            <a:pathLst>
              <a:path extrusionOk="0" h="247650" w="285750">
                <a:moveTo>
                  <a:pt x="0" y="247650"/>
                </a:moveTo>
                <a:lnTo>
                  <a:pt x="95250" y="152400"/>
                </a:lnTo>
                <a:lnTo>
                  <a:pt x="190500" y="190500"/>
                </a:lnTo>
                <a:lnTo>
                  <a:pt x="285750" y="0"/>
                </a:lnTo>
              </a:path>
            </a:pathLst>
          </a:custGeom>
          <a:noFill/>
          <a:ln cap="rnd" cmpd="sng" w="2380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7" name="Google Shape;497;p31"/>
          <p:cNvSpPr/>
          <p:nvPr/>
        </p:nvSpPr>
        <p:spPr>
          <a:xfrm>
            <a:off x="3686175" y="1057275"/>
            <a:ext cx="57150" cy="85725"/>
          </a:xfrm>
          <a:custGeom>
            <a:rect b="b" l="l" r="r" t="t"/>
            <a:pathLst>
              <a:path extrusionOk="0" h="114300" w="76200">
                <a:moveTo>
                  <a:pt x="0" y="0"/>
                </a:moveTo>
                <a:lnTo>
                  <a:pt x="76200" y="38100"/>
                </a:lnTo>
                <a:lnTo>
                  <a:pt x="19050" y="1143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498" name="Google Shape;498;p31"/>
          <p:cNvSpPr txBox="1"/>
          <p:nvPr/>
        </p:nvSpPr>
        <p:spPr>
          <a:xfrm>
            <a:off x="4016931" y="954048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扭亏转盈拐点</a:t>
            </a:r>
            <a:endParaRPr sz="1100"/>
          </a:p>
        </p:txBody>
      </p:sp>
      <p:sp>
        <p:nvSpPr>
          <p:cNvPr id="499" name="Google Shape;499;p31"/>
          <p:cNvSpPr txBox="1"/>
          <p:nvPr/>
        </p:nvSpPr>
        <p:spPr>
          <a:xfrm>
            <a:off x="4019789" y="1135499"/>
            <a:ext cx="120164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亏损→盈利的历史性拐点</a:t>
            </a:r>
            <a:endParaRPr sz="1100"/>
          </a:p>
        </p:txBody>
      </p:sp>
      <p:sp>
        <p:nvSpPr>
          <p:cNvPr id="500" name="Google Shape;500;p31"/>
          <p:cNvSpPr txBox="1"/>
          <p:nvPr/>
        </p:nvSpPr>
        <p:spPr>
          <a:xfrm>
            <a:off x="4019789" y="1278374"/>
            <a:ext cx="108656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业绩反转是最强催化剂</a:t>
            </a:r>
            <a:endParaRPr sz="1100"/>
          </a:p>
        </p:txBody>
      </p:sp>
      <p:sp>
        <p:nvSpPr>
          <p:cNvPr id="501" name="Google Shape;501;p31"/>
          <p:cNvSpPr/>
          <p:nvPr/>
        </p:nvSpPr>
        <p:spPr>
          <a:xfrm>
            <a:off x="3371850" y="1671638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" name="Google Shape;502;p31"/>
          <p:cNvSpPr txBox="1"/>
          <p:nvPr/>
        </p:nvSpPr>
        <p:spPr>
          <a:xfrm>
            <a:off x="3966113" y="1742718"/>
            <a:ext cx="126892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机构情绪滞后 = 机会窗口</a:t>
            </a:r>
            <a:endParaRPr sz="1100"/>
          </a:p>
        </p:txBody>
      </p:sp>
      <p:sp>
        <p:nvSpPr>
          <p:cNvPr id="503" name="Google Shape;503;p31"/>
          <p:cNvSpPr/>
          <p:nvPr/>
        </p:nvSpPr>
        <p:spPr>
          <a:xfrm>
            <a:off x="6086475" y="757238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4" name="Google Shape;504;p31"/>
          <p:cNvSpPr/>
          <p:nvPr/>
        </p:nvSpPr>
        <p:spPr>
          <a:xfrm>
            <a:off x="6086475" y="757238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31"/>
          <p:cNvSpPr/>
          <p:nvPr/>
        </p:nvSpPr>
        <p:spPr>
          <a:xfrm>
            <a:off x="6229350" y="971550"/>
            <a:ext cx="400050" cy="400050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6" name="Google Shape;506;p31"/>
          <p:cNvSpPr/>
          <p:nvPr/>
        </p:nvSpPr>
        <p:spPr>
          <a:xfrm>
            <a:off x="6329363" y="1071563"/>
            <a:ext cx="200025" cy="200025"/>
          </a:xfrm>
          <a:custGeom>
            <a:rect b="b" l="l" r="r" t="t"/>
            <a:pathLst>
              <a:path extrusionOk="0" h="266700" w="266700">
                <a:moveTo>
                  <a:pt x="0" y="133350"/>
                </a:moveTo>
                <a:cubicBezTo>
                  <a:pt x="0" y="59703"/>
                  <a:pt x="59703" y="0"/>
                  <a:pt x="133350" y="0"/>
                </a:cubicBezTo>
                <a:cubicBezTo>
                  <a:pt x="206997" y="0"/>
                  <a:pt x="266700" y="59703"/>
                  <a:pt x="266700" y="133350"/>
                </a:cubicBezTo>
                <a:cubicBezTo>
                  <a:pt x="266700" y="206997"/>
                  <a:pt x="206997" y="266700"/>
                  <a:pt x="133350" y="266700"/>
                </a:cubicBezTo>
              </a:path>
            </a:pathLst>
          </a:custGeom>
          <a:noFill/>
          <a:ln cap="rnd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31"/>
          <p:cNvSpPr/>
          <p:nvPr/>
        </p:nvSpPr>
        <p:spPr>
          <a:xfrm>
            <a:off x="6400800" y="1214438"/>
            <a:ext cx="71438" cy="57150"/>
          </a:xfrm>
          <a:custGeom>
            <a:rect b="b" l="l" r="r" t="t"/>
            <a:pathLst>
              <a:path extrusionOk="0" h="76200" w="95250">
                <a:moveTo>
                  <a:pt x="38100" y="762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508" name="Google Shape;508;p31"/>
          <p:cNvSpPr txBox="1"/>
          <p:nvPr/>
        </p:nvSpPr>
        <p:spPr>
          <a:xfrm>
            <a:off x="6845856" y="954048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企业转型</a:t>
            </a:r>
            <a:endParaRPr sz="1100"/>
          </a:p>
        </p:txBody>
      </p:sp>
      <p:sp>
        <p:nvSpPr>
          <p:cNvPr id="509" name="Google Shape;509;p31"/>
          <p:cNvSpPr txBox="1"/>
          <p:nvPr/>
        </p:nvSpPr>
        <p:spPr>
          <a:xfrm>
            <a:off x="6848714" y="1135499"/>
            <a:ext cx="91568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战略方向重大转变</a:t>
            </a:r>
            <a:endParaRPr sz="1100"/>
          </a:p>
        </p:txBody>
      </p:sp>
      <p:sp>
        <p:nvSpPr>
          <p:cNvPr id="510" name="Google Shape;510;p31"/>
          <p:cNvSpPr txBox="1"/>
          <p:nvPr/>
        </p:nvSpPr>
        <p:spPr>
          <a:xfrm>
            <a:off x="6848714" y="1278374"/>
            <a:ext cx="1193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新业务营收占比持续提升</a:t>
            </a:r>
            <a:endParaRPr sz="1100"/>
          </a:p>
        </p:txBody>
      </p:sp>
      <p:sp>
        <p:nvSpPr>
          <p:cNvPr id="511" name="Google Shape;511;p31"/>
          <p:cNvSpPr/>
          <p:nvPr/>
        </p:nvSpPr>
        <p:spPr>
          <a:xfrm>
            <a:off x="6200775" y="1671638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31"/>
          <p:cNvSpPr txBox="1"/>
          <p:nvPr/>
        </p:nvSpPr>
        <p:spPr>
          <a:xfrm>
            <a:off x="6461425" y="1742718"/>
            <a:ext cx="19361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旧业务+新题材（案例：NOK 通信→AI）</a:t>
            </a:r>
            <a:endParaRPr sz="1100"/>
          </a:p>
        </p:txBody>
      </p:sp>
      <p:sp>
        <p:nvSpPr>
          <p:cNvPr id="513" name="Google Shape;513;p31"/>
          <p:cNvSpPr/>
          <p:nvPr/>
        </p:nvSpPr>
        <p:spPr>
          <a:xfrm>
            <a:off x="428625" y="2135981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31"/>
          <p:cNvSpPr/>
          <p:nvPr/>
        </p:nvSpPr>
        <p:spPr>
          <a:xfrm>
            <a:off x="428625" y="2135981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" name="Google Shape;515;p31"/>
          <p:cNvSpPr/>
          <p:nvPr/>
        </p:nvSpPr>
        <p:spPr>
          <a:xfrm>
            <a:off x="571500" y="2350294"/>
            <a:ext cx="400050" cy="4000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6" name="Google Shape;516;p31"/>
          <p:cNvSpPr/>
          <p:nvPr/>
        </p:nvSpPr>
        <p:spPr>
          <a:xfrm>
            <a:off x="664369" y="2450306"/>
            <a:ext cx="157163" cy="200025"/>
          </a:xfrm>
          <a:prstGeom prst="roundRect">
            <a:avLst>
              <a:gd fmla="val 9091" name="adj"/>
            </a:avLst>
          </a:prstGeom>
          <a:noFill/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p31"/>
          <p:cNvSpPr/>
          <p:nvPr/>
        </p:nvSpPr>
        <p:spPr>
          <a:xfrm>
            <a:off x="692944" y="2514600"/>
            <a:ext cx="100013" cy="7144"/>
          </a:xfrm>
          <a:custGeom>
            <a:rect b="b" l="l" r="r" t="t"/>
            <a:pathLst>
              <a:path extrusionOk="0" h="9525" w="133350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8" name="Google Shape;518;p31"/>
          <p:cNvSpPr/>
          <p:nvPr/>
        </p:nvSpPr>
        <p:spPr>
          <a:xfrm>
            <a:off x="692944" y="2557463"/>
            <a:ext cx="100013" cy="7144"/>
          </a:xfrm>
          <a:custGeom>
            <a:rect b="b" l="l" r="r" t="t"/>
            <a:pathLst>
              <a:path extrusionOk="0" h="9525" w="133350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p31"/>
          <p:cNvSpPr/>
          <p:nvPr/>
        </p:nvSpPr>
        <p:spPr>
          <a:xfrm>
            <a:off x="692944" y="2600325"/>
            <a:ext cx="71438" cy="7144"/>
          </a:xfrm>
          <a:custGeom>
            <a:rect b="b" l="l" r="r" t="t"/>
            <a:pathLst>
              <a:path extrusionOk="0" h="9525" w="95250">
                <a:moveTo>
                  <a:pt x="0" y="0"/>
                </a:moveTo>
                <a:lnTo>
                  <a:pt x="95250" y="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0" name="Google Shape;520;p31"/>
          <p:cNvSpPr txBox="1"/>
          <p:nvPr/>
        </p:nvSpPr>
        <p:spPr>
          <a:xfrm>
            <a:off x="1188006" y="2332792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获得大量订单</a:t>
            </a:r>
            <a:endParaRPr sz="1100"/>
          </a:p>
        </p:txBody>
      </p:sp>
      <p:sp>
        <p:nvSpPr>
          <p:cNvPr id="521" name="Google Shape;521;p31"/>
          <p:cNvSpPr txBox="1"/>
          <p:nvPr/>
        </p:nvSpPr>
        <p:spPr>
          <a:xfrm>
            <a:off x="1190864" y="2514243"/>
            <a:ext cx="977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订单储备&gt;当年营收</a:t>
            </a:r>
            <a:endParaRPr sz="1100"/>
          </a:p>
        </p:txBody>
      </p:sp>
      <p:sp>
        <p:nvSpPr>
          <p:cNvPr id="522" name="Google Shape;522;p31"/>
          <p:cNvSpPr txBox="1"/>
          <p:nvPr/>
        </p:nvSpPr>
        <p:spPr>
          <a:xfrm>
            <a:off x="1190864" y="2657118"/>
            <a:ext cx="13001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收入可见度高，业绩有保障</a:t>
            </a:r>
            <a:endParaRPr sz="1100"/>
          </a:p>
        </p:txBody>
      </p:sp>
      <p:sp>
        <p:nvSpPr>
          <p:cNvPr id="523" name="Google Shape;523;p31"/>
          <p:cNvSpPr/>
          <p:nvPr/>
        </p:nvSpPr>
        <p:spPr>
          <a:xfrm>
            <a:off x="542925" y="3050381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p31"/>
          <p:cNvSpPr txBox="1"/>
          <p:nvPr/>
        </p:nvSpPr>
        <p:spPr>
          <a:xfrm>
            <a:off x="1016638" y="3121462"/>
            <a:ext cx="151002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积压订单 &gt; 当年营收 = 强信号</a:t>
            </a:r>
            <a:endParaRPr sz="1100"/>
          </a:p>
        </p:txBody>
      </p:sp>
      <p:sp>
        <p:nvSpPr>
          <p:cNvPr id="525" name="Google Shape;525;p31"/>
          <p:cNvSpPr/>
          <p:nvPr/>
        </p:nvSpPr>
        <p:spPr>
          <a:xfrm>
            <a:off x="3257550" y="2135981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31"/>
          <p:cNvSpPr/>
          <p:nvPr/>
        </p:nvSpPr>
        <p:spPr>
          <a:xfrm>
            <a:off x="3257550" y="2135981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31"/>
          <p:cNvSpPr/>
          <p:nvPr/>
        </p:nvSpPr>
        <p:spPr>
          <a:xfrm>
            <a:off x="3400425" y="2350294"/>
            <a:ext cx="400050" cy="4000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8" name="Google Shape;528;p31"/>
          <p:cNvSpPr/>
          <p:nvPr/>
        </p:nvSpPr>
        <p:spPr>
          <a:xfrm>
            <a:off x="3514725" y="2378869"/>
            <a:ext cx="171450" cy="271463"/>
          </a:xfrm>
          <a:custGeom>
            <a:rect b="b" l="l" r="r" t="t"/>
            <a:pathLst>
              <a:path extrusionOk="0" h="361950" w="228600">
                <a:moveTo>
                  <a:pt x="114300" y="0"/>
                </a:moveTo>
                <a:lnTo>
                  <a:pt x="228600" y="180975"/>
                </a:lnTo>
                <a:lnTo>
                  <a:pt x="114300" y="361950"/>
                </a:lnTo>
                <a:lnTo>
                  <a:pt x="0" y="180975"/>
                </a:lnTo>
                <a:close/>
              </a:path>
            </a:pathLst>
          </a:custGeom>
          <a:noFill/>
          <a:ln cap="flat" cmpd="sng" w="2380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9" name="Google Shape;529;p31"/>
          <p:cNvSpPr txBox="1"/>
          <p:nvPr/>
        </p:nvSpPr>
        <p:spPr>
          <a:xfrm>
            <a:off x="4016931" y="2332792"/>
            <a:ext cx="75750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高端新材料</a:t>
            </a:r>
            <a:endParaRPr sz="1100"/>
          </a:p>
        </p:txBody>
      </p:sp>
      <p:sp>
        <p:nvSpPr>
          <p:cNvPr id="530" name="Google Shape;530;p31"/>
          <p:cNvSpPr txBox="1"/>
          <p:nvPr/>
        </p:nvSpPr>
        <p:spPr>
          <a:xfrm>
            <a:off x="4019789" y="2514243"/>
            <a:ext cx="977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国产替代/全球稀缺</a:t>
            </a:r>
            <a:endParaRPr sz="1100"/>
          </a:p>
        </p:txBody>
      </p:sp>
      <p:sp>
        <p:nvSpPr>
          <p:cNvPr id="531" name="Google Shape;531;p31"/>
          <p:cNvSpPr txBox="1"/>
          <p:nvPr/>
        </p:nvSpPr>
        <p:spPr>
          <a:xfrm>
            <a:off x="4019789" y="2657118"/>
            <a:ext cx="13001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定价权在供给端，护城河深</a:t>
            </a:r>
            <a:endParaRPr sz="1100"/>
          </a:p>
        </p:txBody>
      </p:sp>
      <p:sp>
        <p:nvSpPr>
          <p:cNvPr id="532" name="Google Shape;532;p31"/>
          <p:cNvSpPr/>
          <p:nvPr/>
        </p:nvSpPr>
        <p:spPr>
          <a:xfrm>
            <a:off x="3371850" y="3050381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31"/>
          <p:cNvSpPr txBox="1"/>
          <p:nvPr/>
        </p:nvSpPr>
        <p:spPr>
          <a:xfrm>
            <a:off x="4310941" y="3121462"/>
            <a:ext cx="5792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技术壁垒型</a:t>
            </a:r>
            <a:endParaRPr sz="1100"/>
          </a:p>
        </p:txBody>
      </p:sp>
      <p:sp>
        <p:nvSpPr>
          <p:cNvPr id="534" name="Google Shape;534;p31"/>
          <p:cNvSpPr/>
          <p:nvPr/>
        </p:nvSpPr>
        <p:spPr>
          <a:xfrm>
            <a:off x="6086475" y="2135981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31"/>
          <p:cNvSpPr/>
          <p:nvPr/>
        </p:nvSpPr>
        <p:spPr>
          <a:xfrm>
            <a:off x="6086475" y="2135981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31"/>
          <p:cNvSpPr/>
          <p:nvPr/>
        </p:nvSpPr>
        <p:spPr>
          <a:xfrm>
            <a:off x="6229350" y="2350294"/>
            <a:ext cx="400050" cy="400050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31"/>
          <p:cNvSpPr/>
          <p:nvPr/>
        </p:nvSpPr>
        <p:spPr>
          <a:xfrm>
            <a:off x="6329363" y="2457450"/>
            <a:ext cx="200025" cy="57150"/>
          </a:xfrm>
          <a:prstGeom prst="roundRect">
            <a:avLst>
              <a:gd fmla="val 25000" name="adj"/>
            </a:avLst>
          </a:prstGeom>
          <a:solidFill>
            <a:srgbClr val="3A9E6A">
              <a:alpha val="7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31"/>
          <p:cNvSpPr/>
          <p:nvPr/>
        </p:nvSpPr>
        <p:spPr>
          <a:xfrm>
            <a:off x="6329363" y="2536031"/>
            <a:ext cx="200025" cy="57150"/>
          </a:xfrm>
          <a:prstGeom prst="roundRect">
            <a:avLst>
              <a:gd fmla="val 25000" name="adj"/>
            </a:avLst>
          </a:prstGeom>
          <a:solidFill>
            <a:srgbClr val="3A9E6A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31"/>
          <p:cNvSpPr/>
          <p:nvPr/>
        </p:nvSpPr>
        <p:spPr>
          <a:xfrm>
            <a:off x="6329363" y="2614613"/>
            <a:ext cx="200025" cy="57150"/>
          </a:xfrm>
          <a:prstGeom prst="roundRect">
            <a:avLst>
              <a:gd fmla="val 25000" name="adj"/>
            </a:avLst>
          </a:prstGeom>
          <a:solidFill>
            <a:srgbClr val="3A9E6A">
              <a:alpha val="3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p31"/>
          <p:cNvSpPr txBox="1"/>
          <p:nvPr/>
        </p:nvSpPr>
        <p:spPr>
          <a:xfrm>
            <a:off x="6845856" y="2332792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热门赛道底层</a:t>
            </a:r>
            <a:endParaRPr sz="1100"/>
          </a:p>
        </p:txBody>
      </p:sp>
      <p:sp>
        <p:nvSpPr>
          <p:cNvPr id="541" name="Google Shape;541;p31"/>
          <p:cNvSpPr txBox="1"/>
          <p:nvPr/>
        </p:nvSpPr>
        <p:spPr>
          <a:xfrm>
            <a:off x="6848713" y="2514243"/>
            <a:ext cx="124649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AI/卫星/储能底层供应商</a:t>
            </a:r>
            <a:endParaRPr sz="1100"/>
          </a:p>
        </p:txBody>
      </p:sp>
      <p:sp>
        <p:nvSpPr>
          <p:cNvPr id="542" name="Google Shape;542;p31"/>
          <p:cNvSpPr txBox="1"/>
          <p:nvPr/>
        </p:nvSpPr>
        <p:spPr>
          <a:xfrm>
            <a:off x="6848713" y="2657118"/>
            <a:ext cx="13001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受益赛道爆发，非概念炒作</a:t>
            </a:r>
            <a:endParaRPr sz="1100"/>
          </a:p>
        </p:txBody>
      </p:sp>
      <p:sp>
        <p:nvSpPr>
          <p:cNvPr id="543" name="Google Shape;543;p31"/>
          <p:cNvSpPr/>
          <p:nvPr/>
        </p:nvSpPr>
        <p:spPr>
          <a:xfrm>
            <a:off x="6200775" y="3050381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31"/>
          <p:cNvSpPr txBox="1"/>
          <p:nvPr/>
        </p:nvSpPr>
        <p:spPr>
          <a:xfrm>
            <a:off x="6971657" y="3121462"/>
            <a:ext cx="91568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赛道驱动，非龙头</a:t>
            </a:r>
            <a:endParaRPr sz="1100"/>
          </a:p>
        </p:txBody>
      </p:sp>
      <p:sp>
        <p:nvSpPr>
          <p:cNvPr id="545" name="Google Shape;545;p31"/>
          <p:cNvSpPr/>
          <p:nvPr/>
        </p:nvSpPr>
        <p:spPr>
          <a:xfrm>
            <a:off x="428625" y="3514725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31"/>
          <p:cNvSpPr/>
          <p:nvPr/>
        </p:nvSpPr>
        <p:spPr>
          <a:xfrm>
            <a:off x="428625" y="3514725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p31"/>
          <p:cNvSpPr/>
          <p:nvPr/>
        </p:nvSpPr>
        <p:spPr>
          <a:xfrm>
            <a:off x="571500" y="3729038"/>
            <a:ext cx="400050" cy="400050"/>
          </a:xfrm>
          <a:prstGeom prst="ellipse">
            <a:avLst/>
          </a:prstGeom>
          <a:solidFill>
            <a:srgbClr val="9E9E9E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p31"/>
          <p:cNvSpPr/>
          <p:nvPr/>
        </p:nvSpPr>
        <p:spPr>
          <a:xfrm>
            <a:off x="742950" y="3871913"/>
            <a:ext cx="114300" cy="114300"/>
          </a:xfrm>
          <a:custGeom>
            <a:rect b="b" l="l" r="r" t="t"/>
            <a:pathLst>
              <a:path extrusionOk="0" h="152400" w="152400">
                <a:moveTo>
                  <a:pt x="152400" y="0"/>
                </a:moveTo>
                <a:lnTo>
                  <a:pt x="0" y="0"/>
                </a:lnTo>
                <a:lnTo>
                  <a:pt x="0" y="152400"/>
                </a:lnTo>
              </a:path>
            </a:pathLst>
          </a:custGeom>
          <a:noFill/>
          <a:ln cap="rnd" cmpd="sng" w="23800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9" name="Google Shape;549;p31"/>
          <p:cNvSpPr/>
          <p:nvPr/>
        </p:nvSpPr>
        <p:spPr>
          <a:xfrm>
            <a:off x="714375" y="3786188"/>
            <a:ext cx="114300" cy="57150"/>
          </a:xfrm>
          <a:custGeom>
            <a:rect b="b" l="l" r="r" t="t"/>
            <a:pathLst>
              <a:path extrusionOk="0" h="76200" w="152400">
                <a:moveTo>
                  <a:pt x="0" y="76200"/>
                </a:moveTo>
                <a:lnTo>
                  <a:pt x="76200" y="0"/>
                </a:lnTo>
                <a:lnTo>
                  <a:pt x="152400" y="76200"/>
                </a:lnTo>
                <a:close/>
              </a:path>
            </a:pathLst>
          </a:custGeom>
          <a:solidFill>
            <a:srgbClr val="9E9E9E"/>
          </a:solidFill>
          <a:ln>
            <a:noFill/>
          </a:ln>
        </p:spPr>
      </p:sp>
      <p:sp>
        <p:nvSpPr>
          <p:cNvPr id="550" name="Google Shape;550;p31"/>
          <p:cNvSpPr txBox="1"/>
          <p:nvPr/>
        </p:nvSpPr>
        <p:spPr>
          <a:xfrm>
            <a:off x="1188006" y="3711535"/>
            <a:ext cx="1050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供应链回归美国</a:t>
            </a:r>
            <a:endParaRPr sz="1100"/>
          </a:p>
        </p:txBody>
      </p:sp>
      <p:sp>
        <p:nvSpPr>
          <p:cNvPr id="551" name="Google Shape;551;p31"/>
          <p:cNvSpPr txBox="1"/>
          <p:nvPr/>
        </p:nvSpPr>
        <p:spPr>
          <a:xfrm>
            <a:off x="1190864" y="3892987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Reshoring 政策受益</a:t>
            </a:r>
            <a:endParaRPr sz="1100"/>
          </a:p>
        </p:txBody>
      </p:sp>
      <p:sp>
        <p:nvSpPr>
          <p:cNvPr id="552" name="Google Shape;552;p31"/>
          <p:cNvSpPr txBox="1"/>
          <p:nvPr/>
        </p:nvSpPr>
        <p:spPr>
          <a:xfrm>
            <a:off x="1190863" y="4035862"/>
            <a:ext cx="1193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本土供应商直接获得订单</a:t>
            </a:r>
            <a:endParaRPr sz="1100"/>
          </a:p>
        </p:txBody>
      </p:sp>
      <p:sp>
        <p:nvSpPr>
          <p:cNvPr id="553" name="Google Shape;553;p31"/>
          <p:cNvSpPr/>
          <p:nvPr/>
        </p:nvSpPr>
        <p:spPr>
          <a:xfrm>
            <a:off x="542925" y="4429125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F5F5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31"/>
          <p:cNvSpPr txBox="1"/>
          <p:nvPr/>
        </p:nvSpPr>
        <p:spPr>
          <a:xfrm>
            <a:off x="1538085" y="4500205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政策催化</a:t>
            </a:r>
            <a:endParaRPr sz="1100"/>
          </a:p>
        </p:txBody>
      </p:sp>
      <p:sp>
        <p:nvSpPr>
          <p:cNvPr id="555" name="Google Shape;555;p31"/>
          <p:cNvSpPr/>
          <p:nvPr/>
        </p:nvSpPr>
        <p:spPr>
          <a:xfrm>
            <a:off x="3257550" y="3514725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31"/>
          <p:cNvSpPr/>
          <p:nvPr/>
        </p:nvSpPr>
        <p:spPr>
          <a:xfrm>
            <a:off x="3257550" y="3514725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p31"/>
          <p:cNvSpPr/>
          <p:nvPr/>
        </p:nvSpPr>
        <p:spPr>
          <a:xfrm>
            <a:off x="3400425" y="3729038"/>
            <a:ext cx="400050" cy="4000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31"/>
          <p:cNvSpPr/>
          <p:nvPr/>
        </p:nvSpPr>
        <p:spPr>
          <a:xfrm>
            <a:off x="3500438" y="3836194"/>
            <a:ext cx="85725" cy="85725"/>
          </a:xfrm>
          <a:prstGeom prst="roundRect">
            <a:avLst>
              <a:gd fmla="val 16667" name="adj"/>
            </a:avLst>
          </a:pr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31"/>
          <p:cNvSpPr/>
          <p:nvPr/>
        </p:nvSpPr>
        <p:spPr>
          <a:xfrm>
            <a:off x="3614738" y="3836194"/>
            <a:ext cx="85725" cy="85725"/>
          </a:xfrm>
          <a:prstGeom prst="roundRect">
            <a:avLst>
              <a:gd fmla="val 16667" name="adj"/>
            </a:avLst>
          </a:pr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p31"/>
          <p:cNvSpPr/>
          <p:nvPr/>
        </p:nvSpPr>
        <p:spPr>
          <a:xfrm>
            <a:off x="3500438" y="3950494"/>
            <a:ext cx="85725" cy="85725"/>
          </a:xfrm>
          <a:prstGeom prst="roundRect">
            <a:avLst>
              <a:gd fmla="val 16667" name="adj"/>
            </a:avLst>
          </a:pr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" name="Google Shape;561;p31"/>
          <p:cNvSpPr/>
          <p:nvPr/>
        </p:nvSpPr>
        <p:spPr>
          <a:xfrm>
            <a:off x="3614738" y="3950494"/>
            <a:ext cx="85725" cy="85725"/>
          </a:xfrm>
          <a:prstGeom prst="roundRect">
            <a:avLst>
              <a:gd fmla="val 16667" name="adj"/>
            </a:avLst>
          </a:pr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31"/>
          <p:cNvSpPr txBox="1"/>
          <p:nvPr/>
        </p:nvSpPr>
        <p:spPr>
          <a:xfrm>
            <a:off x="4016931" y="3711535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早期验证</a:t>
            </a:r>
            <a:endParaRPr sz="1100"/>
          </a:p>
        </p:txBody>
      </p:sp>
      <p:sp>
        <p:nvSpPr>
          <p:cNvPr id="563" name="Google Shape;563;p31"/>
          <p:cNvSpPr txBox="1"/>
          <p:nvPr/>
        </p:nvSpPr>
        <p:spPr>
          <a:xfrm>
            <a:off x="4019789" y="3892987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头部客户已认可采购</a:t>
            </a:r>
            <a:endParaRPr sz="1100"/>
          </a:p>
        </p:txBody>
      </p:sp>
      <p:sp>
        <p:nvSpPr>
          <p:cNvPr id="564" name="Google Shape;564;p31"/>
          <p:cNvSpPr txBox="1"/>
          <p:nvPr/>
        </p:nvSpPr>
        <p:spPr>
          <a:xfrm>
            <a:off x="4019789" y="4035862"/>
            <a:ext cx="125210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半导体/芯片进供应链极难</a:t>
            </a:r>
            <a:endParaRPr sz="1100"/>
          </a:p>
        </p:txBody>
      </p:sp>
      <p:sp>
        <p:nvSpPr>
          <p:cNvPr id="565" name="Google Shape;565;p31"/>
          <p:cNvSpPr/>
          <p:nvPr/>
        </p:nvSpPr>
        <p:spPr>
          <a:xfrm>
            <a:off x="3371850" y="4429125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31"/>
          <p:cNvSpPr txBox="1"/>
          <p:nvPr/>
        </p:nvSpPr>
        <p:spPr>
          <a:xfrm>
            <a:off x="3999755" y="4500205"/>
            <a:ext cx="120164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产品进入测试/采购阶段</a:t>
            </a:r>
            <a:endParaRPr sz="1100"/>
          </a:p>
        </p:txBody>
      </p:sp>
      <p:sp>
        <p:nvSpPr>
          <p:cNvPr id="567" name="Google Shape;567;p31"/>
          <p:cNvSpPr/>
          <p:nvPr/>
        </p:nvSpPr>
        <p:spPr>
          <a:xfrm>
            <a:off x="6086475" y="3514725"/>
            <a:ext cx="2686050" cy="1250156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31"/>
          <p:cNvSpPr/>
          <p:nvPr/>
        </p:nvSpPr>
        <p:spPr>
          <a:xfrm>
            <a:off x="6086475" y="3514725"/>
            <a:ext cx="2686050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9" name="Google Shape;569;p31"/>
          <p:cNvSpPr/>
          <p:nvPr/>
        </p:nvSpPr>
        <p:spPr>
          <a:xfrm>
            <a:off x="6229350" y="3729038"/>
            <a:ext cx="400050" cy="4000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p31"/>
          <p:cNvSpPr/>
          <p:nvPr/>
        </p:nvSpPr>
        <p:spPr>
          <a:xfrm>
            <a:off x="6307931" y="4014788"/>
            <a:ext cx="57150" cy="114300"/>
          </a:xfrm>
          <a:prstGeom prst="roundRect">
            <a:avLst>
              <a:gd fmla="val 12500" name="adj"/>
            </a:avLst>
          </a:prstGeom>
          <a:solidFill>
            <a:srgbClr val="3D7DE4">
              <a:alpha val="4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31"/>
          <p:cNvSpPr/>
          <p:nvPr/>
        </p:nvSpPr>
        <p:spPr>
          <a:xfrm>
            <a:off x="6400800" y="3914775"/>
            <a:ext cx="57150" cy="214313"/>
          </a:xfrm>
          <a:prstGeom prst="roundRect">
            <a:avLst>
              <a:gd fmla="val 12500" name="adj"/>
            </a:avLst>
          </a:prstGeom>
          <a:solidFill>
            <a:srgbClr val="3D7DE4">
              <a:alpha val="6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Google Shape;572;p31"/>
          <p:cNvSpPr/>
          <p:nvPr/>
        </p:nvSpPr>
        <p:spPr>
          <a:xfrm>
            <a:off x="6493669" y="3821906"/>
            <a:ext cx="57150" cy="307181"/>
          </a:xfrm>
          <a:prstGeom prst="roundRect">
            <a:avLst>
              <a:gd fmla="val 125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3" name="Google Shape;573;p31"/>
          <p:cNvSpPr txBox="1"/>
          <p:nvPr/>
        </p:nvSpPr>
        <p:spPr>
          <a:xfrm>
            <a:off x="6845856" y="3711535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财报断层</a:t>
            </a:r>
            <a:endParaRPr sz="1100"/>
          </a:p>
        </p:txBody>
      </p:sp>
      <p:sp>
        <p:nvSpPr>
          <p:cNvPr id="574" name="Google Shape;574;p31"/>
          <p:cNvSpPr txBox="1"/>
          <p:nvPr/>
        </p:nvSpPr>
        <p:spPr>
          <a:xfrm>
            <a:off x="6848714" y="3892987"/>
            <a:ext cx="8876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Earnings Gap-Up</a:t>
            </a:r>
            <a:endParaRPr sz="1100"/>
          </a:p>
        </p:txBody>
      </p:sp>
      <p:sp>
        <p:nvSpPr>
          <p:cNvPr id="575" name="Google Shape;575;p31"/>
          <p:cNvSpPr txBox="1"/>
          <p:nvPr/>
        </p:nvSpPr>
        <p:spPr>
          <a:xfrm>
            <a:off x="6848713" y="4035862"/>
            <a:ext cx="125210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超预期财报→股价跳空上涨</a:t>
            </a:r>
            <a:endParaRPr sz="1100"/>
          </a:p>
        </p:txBody>
      </p:sp>
      <p:sp>
        <p:nvSpPr>
          <p:cNvPr id="576" name="Google Shape;576;p31"/>
          <p:cNvSpPr/>
          <p:nvPr/>
        </p:nvSpPr>
        <p:spPr>
          <a:xfrm>
            <a:off x="6200775" y="4429125"/>
            <a:ext cx="2457450" cy="228600"/>
          </a:xfrm>
          <a:prstGeom prst="roundRect">
            <a:avLst>
              <a:gd fmla="val 1875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7" name="Google Shape;577;p31"/>
          <p:cNvSpPr txBox="1"/>
          <p:nvPr/>
        </p:nvSpPr>
        <p:spPr>
          <a:xfrm>
            <a:off x="6915587" y="4500205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价格行为确认基本面</a:t>
            </a:r>
            <a:endParaRPr sz="1100"/>
          </a:p>
        </p:txBody>
      </p:sp>
      <p:sp>
        <p:nvSpPr>
          <p:cNvPr id="578" name="Google Shape;578;p31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07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3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32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32"/>
          <p:cNvSpPr/>
          <p:nvPr/>
        </p:nvSpPr>
        <p:spPr>
          <a:xfrm>
            <a:off x="428625" y="185738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32"/>
          <p:cNvSpPr txBox="1"/>
          <p:nvPr/>
        </p:nvSpPr>
        <p:spPr>
          <a:xfrm>
            <a:off x="562927" y="205740"/>
            <a:ext cx="1425893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多倍股筛选</a:t>
            </a:r>
            <a:endParaRPr sz="1100"/>
          </a:p>
        </p:txBody>
      </p:sp>
      <p:sp>
        <p:nvSpPr>
          <p:cNvPr id="587" name="Google Shape;587;p32"/>
          <p:cNvSpPr txBox="1"/>
          <p:nvPr/>
        </p:nvSpPr>
        <p:spPr>
          <a:xfrm>
            <a:off x="575071" y="494705"/>
            <a:ext cx="438992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六大类型识别潜在多倍股 — 六大类型 ≥3/6 且 五大公式 ≥3/5，方可晋级 2C 核查</a:t>
            </a:r>
            <a:endParaRPr sz="1100"/>
          </a:p>
        </p:txBody>
      </p:sp>
      <p:sp>
        <p:nvSpPr>
          <p:cNvPr id="588" name="Google Shape;588;p32"/>
          <p:cNvSpPr txBox="1"/>
          <p:nvPr/>
        </p:nvSpPr>
        <p:spPr>
          <a:xfrm>
            <a:off x="419339" y="678299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六大类型</a:t>
            </a:r>
            <a:endParaRPr sz="1100"/>
          </a:p>
        </p:txBody>
      </p:sp>
      <p:sp>
        <p:nvSpPr>
          <p:cNvPr id="589" name="Google Shape;589;p32"/>
          <p:cNvSpPr/>
          <p:nvPr/>
        </p:nvSpPr>
        <p:spPr>
          <a:xfrm>
            <a:off x="428625" y="828675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0" name="Google Shape;590;p32"/>
          <p:cNvSpPr/>
          <p:nvPr/>
        </p:nvSpPr>
        <p:spPr>
          <a:xfrm>
            <a:off x="428625" y="828675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1" name="Google Shape;591;p32"/>
          <p:cNvSpPr/>
          <p:nvPr/>
        </p:nvSpPr>
        <p:spPr>
          <a:xfrm>
            <a:off x="571500" y="1064419"/>
            <a:ext cx="285750" cy="2857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2" name="Google Shape;592;p32"/>
          <p:cNvSpPr txBox="1"/>
          <p:nvPr/>
        </p:nvSpPr>
        <p:spPr>
          <a:xfrm>
            <a:off x="682243" y="1153001"/>
            <a:ext cx="6426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593" name="Google Shape;593;p32"/>
          <p:cNvSpPr txBox="1"/>
          <p:nvPr/>
        </p:nvSpPr>
        <p:spPr>
          <a:xfrm>
            <a:off x="945119" y="996911"/>
            <a:ext cx="1050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行业赛道足够大</a:t>
            </a:r>
            <a:endParaRPr sz="1100"/>
          </a:p>
        </p:txBody>
      </p:sp>
      <p:sp>
        <p:nvSpPr>
          <p:cNvPr id="594" name="Google Shape;594;p32"/>
          <p:cNvSpPr txBox="1"/>
          <p:nvPr/>
        </p:nvSpPr>
        <p:spPr>
          <a:xfrm>
            <a:off x="947976" y="1164074"/>
            <a:ext cx="178609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总市场空间&gt;百亿美元，增长趋势明确</a:t>
            </a:r>
            <a:endParaRPr sz="1100"/>
          </a:p>
        </p:txBody>
      </p:sp>
      <p:sp>
        <p:nvSpPr>
          <p:cNvPr id="595" name="Google Shape;595;p32"/>
          <p:cNvSpPr/>
          <p:nvPr/>
        </p:nvSpPr>
        <p:spPr>
          <a:xfrm>
            <a:off x="957263" y="1328738"/>
            <a:ext cx="1314450" cy="185738"/>
          </a:xfrm>
          <a:prstGeom prst="roundRect">
            <a:avLst>
              <a:gd fmla="val 19231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" name="Google Shape;596;p32"/>
          <p:cNvSpPr txBox="1"/>
          <p:nvPr/>
        </p:nvSpPr>
        <p:spPr>
          <a:xfrm>
            <a:off x="925318" y="1377315"/>
            <a:ext cx="137834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TAM 是否多年期结构性需求？</a:t>
            </a:r>
            <a:endParaRPr sz="1100"/>
          </a:p>
        </p:txBody>
      </p:sp>
      <p:sp>
        <p:nvSpPr>
          <p:cNvPr id="597" name="Google Shape;597;p32"/>
          <p:cNvSpPr/>
          <p:nvPr/>
        </p:nvSpPr>
        <p:spPr>
          <a:xfrm>
            <a:off x="4586288" y="828675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" name="Google Shape;598;p32"/>
          <p:cNvSpPr/>
          <p:nvPr/>
        </p:nvSpPr>
        <p:spPr>
          <a:xfrm>
            <a:off x="4586288" y="828675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9" name="Google Shape;599;p32"/>
          <p:cNvSpPr/>
          <p:nvPr/>
        </p:nvSpPr>
        <p:spPr>
          <a:xfrm>
            <a:off x="4729163" y="1064419"/>
            <a:ext cx="285750" cy="2857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0" name="Google Shape;600;p32"/>
          <p:cNvSpPr txBox="1"/>
          <p:nvPr/>
        </p:nvSpPr>
        <p:spPr>
          <a:xfrm>
            <a:off x="4822653" y="1153001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601" name="Google Shape;601;p32"/>
          <p:cNvSpPr txBox="1"/>
          <p:nvPr/>
        </p:nvSpPr>
        <p:spPr>
          <a:xfrm>
            <a:off x="5102781" y="996911"/>
            <a:ext cx="1050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营收进入爆发期</a:t>
            </a:r>
            <a:endParaRPr sz="1100"/>
          </a:p>
        </p:txBody>
      </p:sp>
      <p:sp>
        <p:nvSpPr>
          <p:cNvPr id="602" name="Google Shape;602;p32"/>
          <p:cNvSpPr txBox="1"/>
          <p:nvPr/>
        </p:nvSpPr>
        <p:spPr>
          <a:xfrm>
            <a:off x="5105638" y="1164074"/>
            <a:ext cx="160454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YoY&gt;50%，持续两季以上且在加速</a:t>
            </a:r>
            <a:endParaRPr sz="1100"/>
          </a:p>
        </p:txBody>
      </p:sp>
      <p:sp>
        <p:nvSpPr>
          <p:cNvPr id="603" name="Google Shape;603;p32"/>
          <p:cNvSpPr/>
          <p:nvPr/>
        </p:nvSpPr>
        <p:spPr>
          <a:xfrm>
            <a:off x="5114925" y="1328738"/>
            <a:ext cx="1200150" cy="185738"/>
          </a:xfrm>
          <a:prstGeom prst="roundRect">
            <a:avLst>
              <a:gd fmla="val 1923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" name="Google Shape;604;p32"/>
          <p:cNvSpPr txBox="1"/>
          <p:nvPr/>
        </p:nvSpPr>
        <p:spPr>
          <a:xfrm>
            <a:off x="5165573" y="1377315"/>
            <a:ext cx="109885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YoY &gt;50% 或环比加速？</a:t>
            </a:r>
            <a:endParaRPr sz="1100"/>
          </a:p>
        </p:txBody>
      </p:sp>
      <p:sp>
        <p:nvSpPr>
          <p:cNvPr id="605" name="Google Shape;605;p32"/>
          <p:cNvSpPr/>
          <p:nvPr/>
        </p:nvSpPr>
        <p:spPr>
          <a:xfrm>
            <a:off x="428625" y="1671638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6" name="Google Shape;606;p32"/>
          <p:cNvSpPr/>
          <p:nvPr/>
        </p:nvSpPr>
        <p:spPr>
          <a:xfrm>
            <a:off x="428625" y="1671638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7" name="Google Shape;607;p32"/>
          <p:cNvSpPr/>
          <p:nvPr/>
        </p:nvSpPr>
        <p:spPr>
          <a:xfrm>
            <a:off x="571500" y="1907381"/>
            <a:ext cx="285750" cy="285750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8" name="Google Shape;608;p32"/>
          <p:cNvSpPr txBox="1"/>
          <p:nvPr/>
        </p:nvSpPr>
        <p:spPr>
          <a:xfrm>
            <a:off x="664991" y="1995964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609" name="Google Shape;609;p32"/>
          <p:cNvSpPr txBox="1"/>
          <p:nvPr/>
        </p:nvSpPr>
        <p:spPr>
          <a:xfrm>
            <a:off x="945119" y="1839873"/>
            <a:ext cx="134407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订单储备超当年营收</a:t>
            </a:r>
            <a:endParaRPr sz="1100"/>
          </a:p>
        </p:txBody>
      </p:sp>
      <p:sp>
        <p:nvSpPr>
          <p:cNvPr id="610" name="Google Shape;610;p32"/>
          <p:cNvSpPr txBox="1"/>
          <p:nvPr/>
        </p:nvSpPr>
        <p:spPr>
          <a:xfrm>
            <a:off x="947976" y="2007037"/>
            <a:ext cx="125210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在手订单金额&gt;当年年营收</a:t>
            </a:r>
            <a:endParaRPr sz="1100"/>
          </a:p>
        </p:txBody>
      </p:sp>
      <p:sp>
        <p:nvSpPr>
          <p:cNvPr id="611" name="Google Shape;611;p32"/>
          <p:cNvSpPr/>
          <p:nvPr/>
        </p:nvSpPr>
        <p:spPr>
          <a:xfrm>
            <a:off x="957263" y="2171700"/>
            <a:ext cx="1371600" cy="185738"/>
          </a:xfrm>
          <a:prstGeom prst="roundRect">
            <a:avLst>
              <a:gd fmla="val 19231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" name="Google Shape;612;p32"/>
          <p:cNvSpPr txBox="1"/>
          <p:nvPr/>
        </p:nvSpPr>
        <p:spPr>
          <a:xfrm>
            <a:off x="997886" y="2220278"/>
            <a:ext cx="129035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Backlog/TTM Revenue &gt;1？</a:t>
            </a:r>
            <a:endParaRPr sz="1100"/>
          </a:p>
        </p:txBody>
      </p:sp>
      <p:sp>
        <p:nvSpPr>
          <p:cNvPr id="613" name="Google Shape;613;p32"/>
          <p:cNvSpPr/>
          <p:nvPr/>
        </p:nvSpPr>
        <p:spPr>
          <a:xfrm>
            <a:off x="4586288" y="1671638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4" name="Google Shape;614;p32"/>
          <p:cNvSpPr/>
          <p:nvPr/>
        </p:nvSpPr>
        <p:spPr>
          <a:xfrm>
            <a:off x="4586288" y="1671638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5" name="Google Shape;615;p32"/>
          <p:cNvSpPr/>
          <p:nvPr/>
        </p:nvSpPr>
        <p:spPr>
          <a:xfrm>
            <a:off x="4729163" y="1907381"/>
            <a:ext cx="285750" cy="2857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32"/>
          <p:cNvSpPr txBox="1"/>
          <p:nvPr/>
        </p:nvSpPr>
        <p:spPr>
          <a:xfrm>
            <a:off x="4822653" y="1995964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617" name="Google Shape;617;p32"/>
          <p:cNvSpPr txBox="1"/>
          <p:nvPr/>
        </p:nvSpPr>
        <p:spPr>
          <a:xfrm>
            <a:off x="5102781" y="1839873"/>
            <a:ext cx="134407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技术壁垒高护城河阔</a:t>
            </a:r>
            <a:endParaRPr sz="1100"/>
          </a:p>
        </p:txBody>
      </p:sp>
      <p:sp>
        <p:nvSpPr>
          <p:cNvPr id="618" name="Google Shape;618;p32"/>
          <p:cNvSpPr txBox="1"/>
          <p:nvPr/>
        </p:nvSpPr>
        <p:spPr>
          <a:xfrm>
            <a:off x="5105638" y="2007037"/>
            <a:ext cx="152444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专利/认证/客户锁定，难以复制</a:t>
            </a:r>
            <a:endParaRPr sz="1100"/>
          </a:p>
        </p:txBody>
      </p:sp>
      <p:sp>
        <p:nvSpPr>
          <p:cNvPr id="619" name="Google Shape;619;p32"/>
          <p:cNvSpPr/>
          <p:nvPr/>
        </p:nvSpPr>
        <p:spPr>
          <a:xfrm>
            <a:off x="5114925" y="2171700"/>
            <a:ext cx="1428750" cy="185738"/>
          </a:xfrm>
          <a:prstGeom prst="roundRect">
            <a:avLst>
              <a:gd fmla="val 19231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0" name="Google Shape;620;p32"/>
          <p:cNvSpPr txBox="1"/>
          <p:nvPr/>
        </p:nvSpPr>
        <p:spPr>
          <a:xfrm>
            <a:off x="5194475" y="2220278"/>
            <a:ext cx="126965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专利/独家合同/工艺门槛？</a:t>
            </a:r>
            <a:endParaRPr sz="1100"/>
          </a:p>
        </p:txBody>
      </p:sp>
      <p:sp>
        <p:nvSpPr>
          <p:cNvPr id="621" name="Google Shape;621;p32"/>
          <p:cNvSpPr/>
          <p:nvPr/>
        </p:nvSpPr>
        <p:spPr>
          <a:xfrm>
            <a:off x="428625" y="2514600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2" name="Google Shape;622;p32"/>
          <p:cNvSpPr/>
          <p:nvPr/>
        </p:nvSpPr>
        <p:spPr>
          <a:xfrm>
            <a:off x="428625" y="2514600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32"/>
          <p:cNvSpPr/>
          <p:nvPr/>
        </p:nvSpPr>
        <p:spPr>
          <a:xfrm>
            <a:off x="571500" y="2750344"/>
            <a:ext cx="285750" cy="2857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4" name="Google Shape;624;p32"/>
          <p:cNvSpPr txBox="1"/>
          <p:nvPr/>
        </p:nvSpPr>
        <p:spPr>
          <a:xfrm>
            <a:off x="664991" y="2838926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  <p:sp>
        <p:nvSpPr>
          <p:cNvPr id="625" name="Google Shape;625;p32"/>
          <p:cNvSpPr txBox="1"/>
          <p:nvPr/>
        </p:nvSpPr>
        <p:spPr>
          <a:xfrm>
            <a:off x="945119" y="2682836"/>
            <a:ext cx="90414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机构开始建仓</a:t>
            </a:r>
            <a:endParaRPr sz="1100"/>
          </a:p>
        </p:txBody>
      </p:sp>
      <p:sp>
        <p:nvSpPr>
          <p:cNvPr id="626" name="Google Shape;626;p32"/>
          <p:cNvSpPr txBox="1"/>
          <p:nvPr/>
        </p:nvSpPr>
        <p:spPr>
          <a:xfrm>
            <a:off x="947976" y="2849999"/>
            <a:ext cx="172735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持股比例季度环比上升，大单净流入</a:t>
            </a:r>
            <a:endParaRPr sz="1100"/>
          </a:p>
        </p:txBody>
      </p:sp>
      <p:sp>
        <p:nvSpPr>
          <p:cNvPr id="627" name="Google Shape;627;p32"/>
          <p:cNvSpPr/>
          <p:nvPr/>
        </p:nvSpPr>
        <p:spPr>
          <a:xfrm>
            <a:off x="957263" y="3014663"/>
            <a:ext cx="1371600" cy="185738"/>
          </a:xfrm>
          <a:prstGeom prst="roundRect">
            <a:avLst>
              <a:gd fmla="val 1923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8" name="Google Shape;628;p32"/>
          <p:cNvSpPr txBox="1"/>
          <p:nvPr/>
        </p:nvSpPr>
        <p:spPr>
          <a:xfrm>
            <a:off x="1080696" y="3063240"/>
            <a:ext cx="112473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13F 或成交量异常增加？</a:t>
            </a:r>
            <a:endParaRPr sz="1100"/>
          </a:p>
        </p:txBody>
      </p:sp>
      <p:sp>
        <p:nvSpPr>
          <p:cNvPr id="629" name="Google Shape;629;p32"/>
          <p:cNvSpPr/>
          <p:nvPr/>
        </p:nvSpPr>
        <p:spPr>
          <a:xfrm>
            <a:off x="4586288" y="2514600"/>
            <a:ext cx="4129088" cy="757238"/>
          </a:xfrm>
          <a:prstGeom prst="roundRect">
            <a:avLst>
              <a:gd fmla="val 94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0" name="Google Shape;630;p32"/>
          <p:cNvSpPr/>
          <p:nvPr/>
        </p:nvSpPr>
        <p:spPr>
          <a:xfrm>
            <a:off x="4586288" y="2514600"/>
            <a:ext cx="4129088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1" name="Google Shape;631;p32"/>
          <p:cNvSpPr/>
          <p:nvPr/>
        </p:nvSpPr>
        <p:spPr>
          <a:xfrm>
            <a:off x="4729163" y="2750344"/>
            <a:ext cx="285750" cy="285750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2" name="Google Shape;632;p32"/>
          <p:cNvSpPr txBox="1"/>
          <p:nvPr/>
        </p:nvSpPr>
        <p:spPr>
          <a:xfrm>
            <a:off x="4822653" y="2838926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100"/>
          </a:p>
        </p:txBody>
      </p:sp>
      <p:sp>
        <p:nvSpPr>
          <p:cNvPr id="633" name="Google Shape;633;p32"/>
          <p:cNvSpPr txBox="1"/>
          <p:nvPr/>
        </p:nvSpPr>
        <p:spPr>
          <a:xfrm>
            <a:off x="5102781" y="2682836"/>
            <a:ext cx="134407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市值小，上涨空间大</a:t>
            </a:r>
            <a:endParaRPr sz="1100"/>
          </a:p>
        </p:txBody>
      </p:sp>
      <p:sp>
        <p:nvSpPr>
          <p:cNvPr id="634" name="Google Shape;634;p32"/>
          <p:cNvSpPr txBox="1"/>
          <p:nvPr/>
        </p:nvSpPr>
        <p:spPr>
          <a:xfrm>
            <a:off x="5105638" y="2849999"/>
            <a:ext cx="210115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主板上市（必须），非OTC，&lt;20亿美元优先</a:t>
            </a:r>
            <a:endParaRPr sz="1100"/>
          </a:p>
        </p:txBody>
      </p:sp>
      <p:sp>
        <p:nvSpPr>
          <p:cNvPr id="635" name="Google Shape;635;p32"/>
          <p:cNvSpPr/>
          <p:nvPr/>
        </p:nvSpPr>
        <p:spPr>
          <a:xfrm>
            <a:off x="5114925" y="3014663"/>
            <a:ext cx="1257300" cy="185738"/>
          </a:xfrm>
          <a:prstGeom prst="roundRect">
            <a:avLst>
              <a:gd fmla="val 19231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32"/>
          <p:cNvSpPr txBox="1"/>
          <p:nvPr/>
        </p:nvSpPr>
        <p:spPr>
          <a:xfrm>
            <a:off x="5209674" y="3063240"/>
            <a:ext cx="106780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必须主板上市，非 OTC</a:t>
            </a:r>
            <a:endParaRPr sz="1100"/>
          </a:p>
        </p:txBody>
      </p:sp>
      <p:sp>
        <p:nvSpPr>
          <p:cNvPr id="637" name="Google Shape;637;p32"/>
          <p:cNvSpPr/>
          <p:nvPr/>
        </p:nvSpPr>
        <p:spPr>
          <a:xfrm>
            <a:off x="428625" y="3386138"/>
            <a:ext cx="8286750" cy="14288"/>
          </a:xfrm>
          <a:prstGeom prst="rect">
            <a:avLst/>
          </a:prstGeom>
          <a:solidFill>
            <a:srgbClr val="E0D8D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8" name="Google Shape;638;p32"/>
          <p:cNvSpPr txBox="1"/>
          <p:nvPr/>
        </p:nvSpPr>
        <p:spPr>
          <a:xfrm>
            <a:off x="417195" y="3474720"/>
            <a:ext cx="140303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五大公式（必要条件）</a:t>
            </a:r>
            <a:endParaRPr sz="1100"/>
          </a:p>
        </p:txBody>
      </p:sp>
      <p:sp>
        <p:nvSpPr>
          <p:cNvPr id="639" name="Google Shape;639;p32"/>
          <p:cNvSpPr txBox="1"/>
          <p:nvPr/>
        </p:nvSpPr>
        <p:spPr>
          <a:xfrm>
            <a:off x="2433876" y="3492937"/>
            <a:ext cx="53654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— 缺一不可</a:t>
            </a:r>
            <a:endParaRPr sz="1100"/>
          </a:p>
        </p:txBody>
      </p:sp>
      <p:sp>
        <p:nvSpPr>
          <p:cNvPr id="640" name="Google Shape;640;p32"/>
          <p:cNvSpPr/>
          <p:nvPr/>
        </p:nvSpPr>
        <p:spPr>
          <a:xfrm>
            <a:off x="428625" y="3671888"/>
            <a:ext cx="1485900" cy="385763"/>
          </a:xfrm>
          <a:prstGeom prst="roundRect">
            <a:avLst>
              <a:gd fmla="val 18519" name="adj"/>
            </a:avLst>
          </a:prstGeom>
          <a:solidFill>
            <a:srgbClr val="C96133">
              <a:alpha val="10196"/>
            </a:srgbClr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1" name="Google Shape;641;p32"/>
          <p:cNvSpPr txBox="1"/>
          <p:nvPr/>
        </p:nvSpPr>
        <p:spPr>
          <a:xfrm>
            <a:off x="925812" y="3726894"/>
            <a:ext cx="49152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大赛道</a:t>
            </a:r>
            <a:endParaRPr sz="1100"/>
          </a:p>
        </p:txBody>
      </p:sp>
      <p:sp>
        <p:nvSpPr>
          <p:cNvPr id="642" name="Google Shape;642;p32"/>
          <p:cNvSpPr txBox="1"/>
          <p:nvPr/>
        </p:nvSpPr>
        <p:spPr>
          <a:xfrm>
            <a:off x="847535" y="3906202"/>
            <a:ext cx="64808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TAM&gt;百亿美元</a:t>
            </a:r>
            <a:endParaRPr sz="1100"/>
          </a:p>
        </p:txBody>
      </p:sp>
      <p:sp>
        <p:nvSpPr>
          <p:cNvPr id="643" name="Google Shape;643;p32"/>
          <p:cNvSpPr/>
          <p:nvPr/>
        </p:nvSpPr>
        <p:spPr>
          <a:xfrm>
            <a:off x="2028825" y="3671888"/>
            <a:ext cx="1485900" cy="385763"/>
          </a:xfrm>
          <a:prstGeom prst="roundRect">
            <a:avLst>
              <a:gd fmla="val 18519" name="adj"/>
            </a:avLst>
          </a:prstGeom>
          <a:solidFill>
            <a:srgbClr val="3D7DE4">
              <a:alpha val="10196"/>
            </a:srgbClr>
          </a:solidFill>
          <a:ln cap="flat" cmpd="sng" w="1427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4" name="Google Shape;644;p32"/>
          <p:cNvSpPr txBox="1"/>
          <p:nvPr/>
        </p:nvSpPr>
        <p:spPr>
          <a:xfrm>
            <a:off x="2370743" y="3726894"/>
            <a:ext cx="80206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营收高增长</a:t>
            </a:r>
            <a:endParaRPr sz="1100"/>
          </a:p>
        </p:txBody>
      </p:sp>
      <p:sp>
        <p:nvSpPr>
          <p:cNvPr id="645" name="Google Shape;645;p32"/>
          <p:cNvSpPr txBox="1"/>
          <p:nvPr/>
        </p:nvSpPr>
        <p:spPr>
          <a:xfrm>
            <a:off x="2573428" y="3906202"/>
            <a:ext cx="39669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YoY&gt;50%</a:t>
            </a:r>
            <a:endParaRPr sz="1100"/>
          </a:p>
        </p:txBody>
      </p:sp>
      <p:sp>
        <p:nvSpPr>
          <p:cNvPr id="646" name="Google Shape;646;p32"/>
          <p:cNvSpPr/>
          <p:nvPr/>
        </p:nvSpPr>
        <p:spPr>
          <a:xfrm>
            <a:off x="3629025" y="3671888"/>
            <a:ext cx="1485900" cy="385763"/>
          </a:xfrm>
          <a:prstGeom prst="roundRect">
            <a:avLst>
              <a:gd fmla="val 18519" name="adj"/>
            </a:avLst>
          </a:prstGeom>
          <a:solidFill>
            <a:srgbClr val="3A9E6A">
              <a:alpha val="10196"/>
            </a:srgbClr>
          </a:solidFill>
          <a:ln cap="flat" cmpd="sng" w="142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7" name="Google Shape;647;p32"/>
          <p:cNvSpPr txBox="1"/>
          <p:nvPr/>
        </p:nvSpPr>
        <p:spPr>
          <a:xfrm>
            <a:off x="3908390" y="3723680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订单大、订单多</a:t>
            </a:r>
            <a:endParaRPr sz="1100"/>
          </a:p>
        </p:txBody>
      </p:sp>
      <p:sp>
        <p:nvSpPr>
          <p:cNvPr id="648" name="Google Shape;648;p32"/>
          <p:cNvSpPr txBox="1"/>
          <p:nvPr/>
        </p:nvSpPr>
        <p:spPr>
          <a:xfrm>
            <a:off x="4109549" y="3906202"/>
            <a:ext cx="52485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案例：SMCI</a:t>
            </a:r>
            <a:endParaRPr sz="1100"/>
          </a:p>
        </p:txBody>
      </p:sp>
      <p:sp>
        <p:nvSpPr>
          <p:cNvPr id="649" name="Google Shape;649;p32"/>
          <p:cNvSpPr/>
          <p:nvPr/>
        </p:nvSpPr>
        <p:spPr>
          <a:xfrm>
            <a:off x="5229225" y="3671888"/>
            <a:ext cx="1485900" cy="385763"/>
          </a:xfrm>
          <a:prstGeom prst="roundRect">
            <a:avLst>
              <a:gd fmla="val 18519" name="adj"/>
            </a:avLst>
          </a:prstGeom>
          <a:solidFill>
            <a:srgbClr val="C96133">
              <a:alpha val="10196"/>
            </a:srgbClr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32"/>
          <p:cNvSpPr txBox="1"/>
          <p:nvPr/>
        </p:nvSpPr>
        <p:spPr>
          <a:xfrm>
            <a:off x="5571142" y="3726894"/>
            <a:ext cx="80206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技术壁垒高</a:t>
            </a:r>
            <a:endParaRPr sz="1100"/>
          </a:p>
        </p:txBody>
      </p:sp>
      <p:sp>
        <p:nvSpPr>
          <p:cNvPr id="651" name="Google Shape;651;p32"/>
          <p:cNvSpPr txBox="1"/>
          <p:nvPr/>
        </p:nvSpPr>
        <p:spPr>
          <a:xfrm>
            <a:off x="5717144" y="3906202"/>
            <a:ext cx="5100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护城河宽阔</a:t>
            </a:r>
            <a:endParaRPr sz="1100"/>
          </a:p>
        </p:txBody>
      </p:sp>
      <p:sp>
        <p:nvSpPr>
          <p:cNvPr id="652" name="Google Shape;652;p32"/>
          <p:cNvSpPr/>
          <p:nvPr/>
        </p:nvSpPr>
        <p:spPr>
          <a:xfrm>
            <a:off x="6829425" y="3671888"/>
            <a:ext cx="1885950" cy="385763"/>
          </a:xfrm>
          <a:prstGeom prst="roundRect">
            <a:avLst>
              <a:gd fmla="val 18519" name="adj"/>
            </a:avLst>
          </a:prstGeom>
          <a:solidFill>
            <a:srgbClr val="3D7DE4">
              <a:alpha val="10196"/>
            </a:srgbClr>
          </a:solidFill>
          <a:ln cap="flat" cmpd="sng" w="1427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3" name="Google Shape;653;p32"/>
          <p:cNvSpPr txBox="1"/>
          <p:nvPr/>
        </p:nvSpPr>
        <p:spPr>
          <a:xfrm>
            <a:off x="7219980" y="3726894"/>
            <a:ext cx="11048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市值小(非OTC)</a:t>
            </a:r>
            <a:endParaRPr sz="1100"/>
          </a:p>
        </p:txBody>
      </p:sp>
      <p:sp>
        <p:nvSpPr>
          <p:cNvPr id="654" name="Google Shape;654;p32"/>
          <p:cNvSpPr txBox="1"/>
          <p:nvPr/>
        </p:nvSpPr>
        <p:spPr>
          <a:xfrm>
            <a:off x="7436036" y="3906202"/>
            <a:ext cx="67272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主板&lt;20亿美元</a:t>
            </a:r>
            <a:endParaRPr sz="1100"/>
          </a:p>
        </p:txBody>
      </p:sp>
      <p:sp>
        <p:nvSpPr>
          <p:cNvPr id="655" name="Google Shape;655;p32"/>
          <p:cNvSpPr/>
          <p:nvPr/>
        </p:nvSpPr>
        <p:spPr>
          <a:xfrm>
            <a:off x="428625" y="4171950"/>
            <a:ext cx="8286750" cy="342900"/>
          </a:xfrm>
          <a:prstGeom prst="roundRect">
            <a:avLst>
              <a:gd fmla="val 16667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p32"/>
          <p:cNvSpPr txBox="1"/>
          <p:nvPr/>
        </p:nvSpPr>
        <p:spPr>
          <a:xfrm>
            <a:off x="4338435" y="4235887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重要提醒</a:t>
            </a:r>
            <a:endParaRPr sz="1100"/>
          </a:p>
        </p:txBody>
      </p:sp>
      <p:sp>
        <p:nvSpPr>
          <p:cNvPr id="657" name="Google Shape;657;p32"/>
          <p:cNvSpPr txBox="1"/>
          <p:nvPr/>
        </p:nvSpPr>
        <p:spPr>
          <a:xfrm>
            <a:off x="2632320" y="4364474"/>
            <a:ext cx="387936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五大公式均为必要条件，不满足任一条则排除 — 六大类型是加分项，满足越多越优</a:t>
            </a:r>
            <a:endParaRPr sz="1100"/>
          </a:p>
        </p:txBody>
      </p:sp>
      <p:sp>
        <p:nvSpPr>
          <p:cNvPr id="658" name="Google Shape;658;p32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08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3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33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33"/>
          <p:cNvSpPr/>
          <p:nvPr/>
        </p:nvSpPr>
        <p:spPr>
          <a:xfrm>
            <a:off x="428625" y="185738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33"/>
          <p:cNvSpPr txBox="1"/>
          <p:nvPr/>
        </p:nvSpPr>
        <p:spPr>
          <a:xfrm>
            <a:off x="565785" y="230029"/>
            <a:ext cx="40737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个股确定性 · 建仓风格 · 风险纪律</a:t>
            </a:r>
            <a:endParaRPr sz="1100"/>
          </a:p>
        </p:txBody>
      </p:sp>
      <p:sp>
        <p:nvSpPr>
          <p:cNvPr id="667" name="Google Shape;667;p33"/>
          <p:cNvSpPr txBox="1"/>
          <p:nvPr/>
        </p:nvSpPr>
        <p:spPr>
          <a:xfrm>
            <a:off x="575786" y="486489"/>
            <a:ext cx="3930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满足 五公式后进 </a:t>
            </a:r>
            <a:r>
              <a:rPr lang="en" sz="800">
                <a:solidFill>
                  <a:srgbClr val="9E9E9E"/>
                </a:solidFill>
              </a:rPr>
              <a:t>个股</a:t>
            </a: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核查 — 配合 /stock-entry · /stock-exit skill 使用</a:t>
            </a:r>
            <a:endParaRPr sz="1100"/>
          </a:p>
        </p:txBody>
      </p:sp>
      <p:sp>
        <p:nvSpPr>
          <p:cNvPr id="668" name="Google Shape;668;p33"/>
          <p:cNvSpPr/>
          <p:nvPr/>
        </p:nvSpPr>
        <p:spPr>
          <a:xfrm>
            <a:off x="4529138" y="657225"/>
            <a:ext cx="7144" cy="4343400"/>
          </a:xfrm>
          <a:custGeom>
            <a:rect b="b" l="l" r="r" t="t"/>
            <a:pathLst>
              <a:path extrusionOk="0" h="5791200" w="9525">
                <a:moveTo>
                  <a:pt x="0" y="0"/>
                </a:moveTo>
                <a:lnTo>
                  <a:pt x="0" y="57912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9" name="Google Shape;669;p33"/>
          <p:cNvSpPr txBox="1"/>
          <p:nvPr/>
        </p:nvSpPr>
        <p:spPr>
          <a:xfrm>
            <a:off x="420052" y="641509"/>
            <a:ext cx="109367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2C 个股确定性五大标准</a:t>
            </a:r>
            <a:endParaRPr sz="1100"/>
          </a:p>
        </p:txBody>
      </p:sp>
      <p:sp>
        <p:nvSpPr>
          <p:cNvPr id="670" name="Google Shape;670;p33"/>
          <p:cNvSpPr/>
          <p:nvPr/>
        </p:nvSpPr>
        <p:spPr>
          <a:xfrm>
            <a:off x="428625" y="757238"/>
            <a:ext cx="4000500" cy="728663"/>
          </a:xfrm>
          <a:prstGeom prst="roundRect">
            <a:avLst>
              <a:gd fmla="val 784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33"/>
          <p:cNvSpPr/>
          <p:nvPr/>
        </p:nvSpPr>
        <p:spPr>
          <a:xfrm>
            <a:off x="428625" y="757238"/>
            <a:ext cx="4000500" cy="285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33"/>
          <p:cNvSpPr/>
          <p:nvPr/>
        </p:nvSpPr>
        <p:spPr>
          <a:xfrm>
            <a:off x="542925" y="1021556"/>
            <a:ext cx="228600" cy="228600"/>
          </a:xfrm>
          <a:prstGeom prst="ellipse">
            <a:avLst/>
          </a:prstGeom>
          <a:solidFill>
            <a:srgbClr val="C96133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3" name="Google Shape;673;p33"/>
          <p:cNvSpPr txBox="1"/>
          <p:nvPr/>
        </p:nvSpPr>
        <p:spPr>
          <a:xfrm>
            <a:off x="629109" y="1086564"/>
            <a:ext cx="562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674" name="Google Shape;674;p33"/>
          <p:cNvSpPr txBox="1"/>
          <p:nvPr/>
        </p:nvSpPr>
        <p:spPr>
          <a:xfrm>
            <a:off x="847963" y="949762"/>
            <a:ext cx="977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营收/盈利高速增长</a:t>
            </a:r>
            <a:endParaRPr sz="1100"/>
          </a:p>
        </p:txBody>
      </p:sp>
      <p:sp>
        <p:nvSpPr>
          <p:cNvPr id="675" name="Google Shape;675;p33"/>
          <p:cNvSpPr txBox="1"/>
          <p:nvPr/>
        </p:nvSpPr>
        <p:spPr>
          <a:xfrm>
            <a:off x="847964" y="1064062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（或亏损大幅收窄）</a:t>
            </a:r>
            <a:endParaRPr sz="1100"/>
          </a:p>
        </p:txBody>
      </p:sp>
      <p:sp>
        <p:nvSpPr>
          <p:cNvPr id="676" name="Google Shape;676;p33"/>
          <p:cNvSpPr txBox="1"/>
          <p:nvPr/>
        </p:nvSpPr>
        <p:spPr>
          <a:xfrm>
            <a:off x="848678" y="1213009"/>
            <a:ext cx="16979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YoY增速&gt;20%？或亏损同比收窄&gt;50%？</a:t>
            </a:r>
            <a:endParaRPr sz="1100"/>
          </a:p>
        </p:txBody>
      </p:sp>
      <p:sp>
        <p:nvSpPr>
          <p:cNvPr id="677" name="Google Shape;677;p33"/>
          <p:cNvSpPr/>
          <p:nvPr/>
        </p:nvSpPr>
        <p:spPr>
          <a:xfrm>
            <a:off x="428625" y="1500188"/>
            <a:ext cx="4000500" cy="728663"/>
          </a:xfrm>
          <a:prstGeom prst="roundRect">
            <a:avLst>
              <a:gd fmla="val 784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8" name="Google Shape;678;p33"/>
          <p:cNvSpPr/>
          <p:nvPr/>
        </p:nvSpPr>
        <p:spPr>
          <a:xfrm>
            <a:off x="428625" y="1500188"/>
            <a:ext cx="4000500" cy="285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9" name="Google Shape;679;p33"/>
          <p:cNvSpPr/>
          <p:nvPr/>
        </p:nvSpPr>
        <p:spPr>
          <a:xfrm>
            <a:off x="542925" y="1764506"/>
            <a:ext cx="228600" cy="228600"/>
          </a:xfrm>
          <a:prstGeom prst="ellipse">
            <a:avLst/>
          </a:prstGeom>
          <a:solidFill>
            <a:srgbClr val="3D7DE4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33"/>
          <p:cNvSpPr txBox="1"/>
          <p:nvPr/>
        </p:nvSpPr>
        <p:spPr>
          <a:xfrm>
            <a:off x="614013" y="1829514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681" name="Google Shape;681;p33"/>
          <p:cNvSpPr txBox="1"/>
          <p:nvPr/>
        </p:nvSpPr>
        <p:spPr>
          <a:xfrm>
            <a:off x="847964" y="1749862"/>
            <a:ext cx="91568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订单积压可见性高</a:t>
            </a:r>
            <a:endParaRPr sz="1100"/>
          </a:p>
        </p:txBody>
      </p:sp>
      <p:sp>
        <p:nvSpPr>
          <p:cNvPr id="682" name="Google Shape;682;p33"/>
          <p:cNvSpPr txBox="1"/>
          <p:nvPr/>
        </p:nvSpPr>
        <p:spPr>
          <a:xfrm>
            <a:off x="848678" y="1913096"/>
            <a:ext cx="130859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积压订单覆盖≥2个季度收入？</a:t>
            </a:r>
            <a:endParaRPr sz="1100"/>
          </a:p>
        </p:txBody>
      </p:sp>
      <p:sp>
        <p:nvSpPr>
          <p:cNvPr id="683" name="Google Shape;683;p33"/>
          <p:cNvSpPr/>
          <p:nvPr/>
        </p:nvSpPr>
        <p:spPr>
          <a:xfrm>
            <a:off x="428625" y="2243138"/>
            <a:ext cx="4000500" cy="728663"/>
          </a:xfrm>
          <a:prstGeom prst="roundRect">
            <a:avLst>
              <a:gd fmla="val 784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4" name="Google Shape;684;p33"/>
          <p:cNvSpPr/>
          <p:nvPr/>
        </p:nvSpPr>
        <p:spPr>
          <a:xfrm>
            <a:off x="428625" y="2243138"/>
            <a:ext cx="4000500" cy="28575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33"/>
          <p:cNvSpPr/>
          <p:nvPr/>
        </p:nvSpPr>
        <p:spPr>
          <a:xfrm>
            <a:off x="542925" y="2507456"/>
            <a:ext cx="228600" cy="228600"/>
          </a:xfrm>
          <a:prstGeom prst="ellipse">
            <a:avLst/>
          </a:prstGeom>
          <a:solidFill>
            <a:srgbClr val="3A9E6A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6" name="Google Shape;686;p33"/>
          <p:cNvSpPr txBox="1"/>
          <p:nvPr/>
        </p:nvSpPr>
        <p:spPr>
          <a:xfrm>
            <a:off x="614013" y="2572464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687" name="Google Shape;687;p33"/>
          <p:cNvSpPr txBox="1"/>
          <p:nvPr/>
        </p:nvSpPr>
        <p:spPr>
          <a:xfrm>
            <a:off x="847963" y="2492812"/>
            <a:ext cx="8035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连续多季度增长</a:t>
            </a:r>
            <a:endParaRPr sz="1100"/>
          </a:p>
        </p:txBody>
      </p:sp>
      <p:sp>
        <p:nvSpPr>
          <p:cNvPr id="688" name="Google Shape;688;p33"/>
          <p:cNvSpPr txBox="1"/>
          <p:nvPr/>
        </p:nvSpPr>
        <p:spPr>
          <a:xfrm>
            <a:off x="848678" y="2656046"/>
            <a:ext cx="174729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至少3个季度连续正向？加速还是减速？</a:t>
            </a:r>
            <a:endParaRPr sz="1100"/>
          </a:p>
        </p:txBody>
      </p:sp>
      <p:sp>
        <p:nvSpPr>
          <p:cNvPr id="689" name="Google Shape;689;p33"/>
          <p:cNvSpPr/>
          <p:nvPr/>
        </p:nvSpPr>
        <p:spPr>
          <a:xfrm>
            <a:off x="428625" y="2986088"/>
            <a:ext cx="4000500" cy="728663"/>
          </a:xfrm>
          <a:prstGeom prst="roundRect">
            <a:avLst>
              <a:gd fmla="val 784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0" name="Google Shape;690;p33"/>
          <p:cNvSpPr/>
          <p:nvPr/>
        </p:nvSpPr>
        <p:spPr>
          <a:xfrm>
            <a:off x="428625" y="2986088"/>
            <a:ext cx="4000500" cy="285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1" name="Google Shape;691;p33"/>
          <p:cNvSpPr/>
          <p:nvPr/>
        </p:nvSpPr>
        <p:spPr>
          <a:xfrm>
            <a:off x="542925" y="3250406"/>
            <a:ext cx="228600" cy="228600"/>
          </a:xfrm>
          <a:prstGeom prst="ellipse">
            <a:avLst/>
          </a:prstGeom>
          <a:solidFill>
            <a:srgbClr val="C96133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2" name="Google Shape;692;p33"/>
          <p:cNvSpPr txBox="1"/>
          <p:nvPr/>
        </p:nvSpPr>
        <p:spPr>
          <a:xfrm>
            <a:off x="614013" y="3315414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693" name="Google Shape;693;p33"/>
          <p:cNvSpPr txBox="1"/>
          <p:nvPr/>
        </p:nvSpPr>
        <p:spPr>
          <a:xfrm>
            <a:off x="847963" y="3235762"/>
            <a:ext cx="125210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盈利拐点（中小盘重点）</a:t>
            </a:r>
            <a:endParaRPr sz="1100"/>
          </a:p>
        </p:txBody>
      </p:sp>
      <p:sp>
        <p:nvSpPr>
          <p:cNvPr id="694" name="Google Shape;694;p33"/>
          <p:cNvSpPr txBox="1"/>
          <p:nvPr/>
        </p:nvSpPr>
        <p:spPr>
          <a:xfrm>
            <a:off x="848678" y="3398996"/>
            <a:ext cx="145153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从亏损→盈利的季度是否已出现？</a:t>
            </a:r>
            <a:endParaRPr sz="1100"/>
          </a:p>
        </p:txBody>
      </p:sp>
      <p:sp>
        <p:nvSpPr>
          <p:cNvPr id="695" name="Google Shape;695;p33"/>
          <p:cNvSpPr/>
          <p:nvPr/>
        </p:nvSpPr>
        <p:spPr>
          <a:xfrm>
            <a:off x="428625" y="3729038"/>
            <a:ext cx="4000500" cy="728663"/>
          </a:xfrm>
          <a:prstGeom prst="roundRect">
            <a:avLst>
              <a:gd fmla="val 784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6" name="Google Shape;696;p33"/>
          <p:cNvSpPr/>
          <p:nvPr/>
        </p:nvSpPr>
        <p:spPr>
          <a:xfrm>
            <a:off x="428625" y="3729038"/>
            <a:ext cx="4000500" cy="285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7" name="Google Shape;697;p33"/>
          <p:cNvSpPr/>
          <p:nvPr/>
        </p:nvSpPr>
        <p:spPr>
          <a:xfrm>
            <a:off x="542925" y="3993356"/>
            <a:ext cx="228600" cy="228600"/>
          </a:xfrm>
          <a:prstGeom prst="ellipse">
            <a:avLst/>
          </a:prstGeom>
          <a:solidFill>
            <a:srgbClr val="3D7DE4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8" name="Google Shape;698;p33"/>
          <p:cNvSpPr txBox="1"/>
          <p:nvPr/>
        </p:nvSpPr>
        <p:spPr>
          <a:xfrm>
            <a:off x="614013" y="4058364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  <p:sp>
        <p:nvSpPr>
          <p:cNvPr id="699" name="Google Shape;699;p33"/>
          <p:cNvSpPr txBox="1"/>
          <p:nvPr/>
        </p:nvSpPr>
        <p:spPr>
          <a:xfrm>
            <a:off x="847963" y="3978712"/>
            <a:ext cx="977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基本面+技术面配合</a:t>
            </a:r>
            <a:endParaRPr sz="1100"/>
          </a:p>
        </p:txBody>
      </p:sp>
      <p:sp>
        <p:nvSpPr>
          <p:cNvPr id="700" name="Google Shape;700;p33"/>
          <p:cNvSpPr txBox="1"/>
          <p:nvPr/>
        </p:nvSpPr>
        <p:spPr>
          <a:xfrm>
            <a:off x="848678" y="4141946"/>
            <a:ext cx="219584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财报验证后，价格结构（周/月K）是否同步确认？</a:t>
            </a:r>
            <a:endParaRPr sz="1100"/>
          </a:p>
        </p:txBody>
      </p:sp>
      <p:sp>
        <p:nvSpPr>
          <p:cNvPr id="701" name="Google Shape;701;p33"/>
          <p:cNvSpPr txBox="1"/>
          <p:nvPr/>
        </p:nvSpPr>
        <p:spPr>
          <a:xfrm>
            <a:off x="4620577" y="641509"/>
            <a:ext cx="170440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建仓风格（Section 3）— 金字塔加仓</a:t>
            </a:r>
            <a:endParaRPr sz="1100"/>
          </a:p>
        </p:txBody>
      </p:sp>
      <p:sp>
        <p:nvSpPr>
          <p:cNvPr id="702" name="Google Shape;702;p33"/>
          <p:cNvSpPr/>
          <p:nvPr/>
        </p:nvSpPr>
        <p:spPr>
          <a:xfrm>
            <a:off x="6029325" y="757238"/>
            <a:ext cx="1285875" cy="328613"/>
          </a:xfrm>
          <a:prstGeom prst="roundRect">
            <a:avLst>
              <a:gd fmla="val 13043" name="adj"/>
            </a:avLst>
          </a:prstGeom>
          <a:solidFill>
            <a:srgbClr val="C96133">
              <a:alpha val="12156"/>
            </a:srgbClr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3" name="Google Shape;703;p33"/>
          <p:cNvSpPr txBox="1"/>
          <p:nvPr/>
        </p:nvSpPr>
        <p:spPr>
          <a:xfrm>
            <a:off x="6541496" y="829389"/>
            <a:ext cx="2615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试仓</a:t>
            </a:r>
            <a:endParaRPr sz="1100"/>
          </a:p>
        </p:txBody>
      </p:sp>
      <p:sp>
        <p:nvSpPr>
          <p:cNvPr id="704" name="Google Shape;704;p33"/>
          <p:cNvSpPr txBox="1"/>
          <p:nvPr/>
        </p:nvSpPr>
        <p:spPr>
          <a:xfrm>
            <a:off x="6447521" y="969050"/>
            <a:ext cx="449485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5–10% 仓位</a:t>
            </a:r>
            <a:endParaRPr sz="1100"/>
          </a:p>
        </p:txBody>
      </p:sp>
      <p:sp>
        <p:nvSpPr>
          <p:cNvPr id="705" name="Google Shape;705;p33"/>
          <p:cNvSpPr/>
          <p:nvPr/>
        </p:nvSpPr>
        <p:spPr>
          <a:xfrm>
            <a:off x="6672263" y="1085850"/>
            <a:ext cx="7144" cy="57150"/>
          </a:xfrm>
          <a:custGeom>
            <a:rect b="b" l="l" r="r" t="t"/>
            <a:pathLst>
              <a:path extrusionOk="0" h="76200" w="9525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6" name="Google Shape;706;p33"/>
          <p:cNvSpPr/>
          <p:nvPr/>
        </p:nvSpPr>
        <p:spPr>
          <a:xfrm>
            <a:off x="6643688" y="1128713"/>
            <a:ext cx="57150" cy="42863"/>
          </a:xfrm>
          <a:custGeom>
            <a:rect b="b" l="l" r="r" t="t"/>
            <a:pathLst>
              <a:path extrusionOk="0" h="57150" w="76200">
                <a:moveTo>
                  <a:pt x="0" y="0"/>
                </a:moveTo>
                <a:lnTo>
                  <a:pt x="38100" y="57150"/>
                </a:lnTo>
                <a:lnTo>
                  <a:pt x="76200" y="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707" name="Google Shape;707;p33"/>
          <p:cNvSpPr txBox="1"/>
          <p:nvPr/>
        </p:nvSpPr>
        <p:spPr>
          <a:xfrm>
            <a:off x="6765131" y="1082279"/>
            <a:ext cx="5072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价格确认上涨</a:t>
            </a:r>
            <a:endParaRPr sz="1100"/>
          </a:p>
        </p:txBody>
      </p:sp>
      <p:sp>
        <p:nvSpPr>
          <p:cNvPr id="708" name="Google Shape;708;p33"/>
          <p:cNvSpPr/>
          <p:nvPr/>
        </p:nvSpPr>
        <p:spPr>
          <a:xfrm>
            <a:off x="5600700" y="1171575"/>
            <a:ext cx="2143125" cy="328613"/>
          </a:xfrm>
          <a:prstGeom prst="roundRect">
            <a:avLst>
              <a:gd fmla="val 13043" name="adj"/>
            </a:avLst>
          </a:prstGeom>
          <a:solidFill>
            <a:srgbClr val="C96133">
              <a:alpha val="21960"/>
            </a:srgbClr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9" name="Google Shape;709;p33"/>
          <p:cNvSpPr txBox="1"/>
          <p:nvPr/>
        </p:nvSpPr>
        <p:spPr>
          <a:xfrm>
            <a:off x="6541496" y="1243727"/>
            <a:ext cx="2615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加仓</a:t>
            </a:r>
            <a:endParaRPr sz="1100"/>
          </a:p>
        </p:txBody>
      </p:sp>
      <p:sp>
        <p:nvSpPr>
          <p:cNvPr id="710" name="Google Shape;710;p33"/>
          <p:cNvSpPr txBox="1"/>
          <p:nvPr/>
        </p:nvSpPr>
        <p:spPr>
          <a:xfrm>
            <a:off x="6257747" y="1383387"/>
            <a:ext cx="829032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趋势确认，扩大仓位</a:t>
            </a:r>
            <a:endParaRPr sz="1100"/>
          </a:p>
        </p:txBody>
      </p:sp>
      <p:sp>
        <p:nvSpPr>
          <p:cNvPr id="711" name="Google Shape;711;p33"/>
          <p:cNvSpPr/>
          <p:nvPr/>
        </p:nvSpPr>
        <p:spPr>
          <a:xfrm>
            <a:off x="6672263" y="1500188"/>
            <a:ext cx="7144" cy="57150"/>
          </a:xfrm>
          <a:custGeom>
            <a:rect b="b" l="l" r="r" t="t"/>
            <a:pathLst>
              <a:path extrusionOk="0" h="76200" w="9525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2" name="Google Shape;712;p33"/>
          <p:cNvSpPr/>
          <p:nvPr/>
        </p:nvSpPr>
        <p:spPr>
          <a:xfrm>
            <a:off x="6643688" y="1543050"/>
            <a:ext cx="57150" cy="42863"/>
          </a:xfrm>
          <a:custGeom>
            <a:rect b="b" l="l" r="r" t="t"/>
            <a:pathLst>
              <a:path extrusionOk="0" h="57150" w="76200">
                <a:moveTo>
                  <a:pt x="0" y="0"/>
                </a:moveTo>
                <a:lnTo>
                  <a:pt x="38100" y="57150"/>
                </a:lnTo>
                <a:lnTo>
                  <a:pt x="76200" y="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713" name="Google Shape;713;p33"/>
          <p:cNvSpPr txBox="1"/>
          <p:nvPr/>
        </p:nvSpPr>
        <p:spPr>
          <a:xfrm>
            <a:off x="6765131" y="1496616"/>
            <a:ext cx="3429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再次确认</a:t>
            </a:r>
            <a:endParaRPr sz="1100"/>
          </a:p>
        </p:txBody>
      </p:sp>
      <p:sp>
        <p:nvSpPr>
          <p:cNvPr id="714" name="Google Shape;714;p33"/>
          <p:cNvSpPr/>
          <p:nvPr/>
        </p:nvSpPr>
        <p:spPr>
          <a:xfrm>
            <a:off x="5172075" y="1585913"/>
            <a:ext cx="3000375" cy="328613"/>
          </a:xfrm>
          <a:prstGeom prst="roundRect">
            <a:avLst>
              <a:gd fmla="val 13043" name="adj"/>
            </a:avLst>
          </a:prstGeom>
          <a:solidFill>
            <a:srgbClr val="C96133">
              <a:alpha val="34901"/>
            </a:srgbClr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5" name="Google Shape;715;p33"/>
          <p:cNvSpPr txBox="1"/>
          <p:nvPr/>
        </p:nvSpPr>
        <p:spPr>
          <a:xfrm>
            <a:off x="6541496" y="1658064"/>
            <a:ext cx="2615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加码</a:t>
            </a:r>
            <a:endParaRPr sz="1100"/>
          </a:p>
        </p:txBody>
      </p:sp>
      <p:sp>
        <p:nvSpPr>
          <p:cNvPr id="716" name="Google Shape;716;p33"/>
          <p:cNvSpPr txBox="1"/>
          <p:nvPr/>
        </p:nvSpPr>
        <p:spPr>
          <a:xfrm>
            <a:off x="6257747" y="1797725"/>
            <a:ext cx="829032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满仓持有，趋势主升</a:t>
            </a:r>
            <a:endParaRPr sz="1100"/>
          </a:p>
        </p:txBody>
      </p:sp>
      <p:sp>
        <p:nvSpPr>
          <p:cNvPr id="717" name="Google Shape;717;p33"/>
          <p:cNvSpPr/>
          <p:nvPr/>
        </p:nvSpPr>
        <p:spPr>
          <a:xfrm>
            <a:off x="4629150" y="1985963"/>
            <a:ext cx="4086225" cy="342900"/>
          </a:xfrm>
          <a:prstGeom prst="roundRect">
            <a:avLst>
              <a:gd fmla="val 125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33"/>
          <p:cNvSpPr txBox="1"/>
          <p:nvPr/>
        </p:nvSpPr>
        <p:spPr>
          <a:xfrm>
            <a:off x="5227448" y="2055971"/>
            <a:ext cx="288962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核心原则："不怕追高" — 入场精度低于 SEPA，注重趋势持续性</a:t>
            </a:r>
            <a:endParaRPr sz="1100"/>
          </a:p>
        </p:txBody>
      </p:sp>
      <p:sp>
        <p:nvSpPr>
          <p:cNvPr id="719" name="Google Shape;719;p33"/>
          <p:cNvSpPr txBox="1"/>
          <p:nvPr/>
        </p:nvSpPr>
        <p:spPr>
          <a:xfrm>
            <a:off x="5347285" y="2190631"/>
            <a:ext cx="264995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热赛道方法论：趋势持续优先 | SEPA：精确突破优先 | 小盘需更宽止损</a:t>
            </a:r>
            <a:endParaRPr sz="1100"/>
          </a:p>
        </p:txBody>
      </p:sp>
      <p:sp>
        <p:nvSpPr>
          <p:cNvPr id="720" name="Google Shape;720;p33"/>
          <p:cNvSpPr/>
          <p:nvPr/>
        </p:nvSpPr>
        <p:spPr>
          <a:xfrm>
            <a:off x="4629150" y="2400300"/>
            <a:ext cx="4086225" cy="7144"/>
          </a:xfrm>
          <a:custGeom>
            <a:rect b="b" l="l" r="r" t="t"/>
            <a:pathLst>
              <a:path extrusionOk="0" h="9525" w="5448300">
                <a:moveTo>
                  <a:pt x="0" y="0"/>
                </a:moveTo>
                <a:lnTo>
                  <a:pt x="54483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1" name="Google Shape;721;p33"/>
          <p:cNvSpPr txBox="1"/>
          <p:nvPr/>
        </p:nvSpPr>
        <p:spPr>
          <a:xfrm>
            <a:off x="4620577" y="2441734"/>
            <a:ext cx="160089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风险纪律（Section 4）— 五大铁律</a:t>
            </a:r>
            <a:endParaRPr sz="1100"/>
          </a:p>
        </p:txBody>
      </p:sp>
      <p:sp>
        <p:nvSpPr>
          <p:cNvPr id="722" name="Google Shape;722;p33"/>
          <p:cNvSpPr/>
          <p:nvPr/>
        </p:nvSpPr>
        <p:spPr>
          <a:xfrm>
            <a:off x="4629150" y="2571750"/>
            <a:ext cx="4086225" cy="385763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3" name="Google Shape;723;p33"/>
          <p:cNvSpPr/>
          <p:nvPr/>
        </p:nvSpPr>
        <p:spPr>
          <a:xfrm>
            <a:off x="4629150" y="2571750"/>
            <a:ext cx="28575" cy="3857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4" name="Google Shape;724;p33"/>
          <p:cNvSpPr txBox="1"/>
          <p:nvPr/>
        </p:nvSpPr>
        <p:spPr>
          <a:xfrm>
            <a:off x="4748451" y="2628543"/>
            <a:ext cx="5792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免费股策略</a:t>
            </a:r>
            <a:endParaRPr sz="1100"/>
          </a:p>
        </p:txBody>
      </p:sp>
      <p:sp>
        <p:nvSpPr>
          <p:cNvPr id="725" name="Google Shape;725;p33"/>
          <p:cNvSpPr txBox="1"/>
          <p:nvPr/>
        </p:nvSpPr>
        <p:spPr>
          <a:xfrm>
            <a:off x="4749165" y="2777490"/>
            <a:ext cx="257539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仓位上涨100%后卖出一半，收回成本基础，剩余零成本持有</a:t>
            </a:r>
            <a:endParaRPr sz="1100"/>
          </a:p>
        </p:txBody>
      </p:sp>
      <p:sp>
        <p:nvSpPr>
          <p:cNvPr id="726" name="Google Shape;726;p33"/>
          <p:cNvSpPr/>
          <p:nvPr/>
        </p:nvSpPr>
        <p:spPr>
          <a:xfrm>
            <a:off x="4629150" y="2971800"/>
            <a:ext cx="4086225" cy="385763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7" name="Google Shape;727;p33"/>
          <p:cNvSpPr/>
          <p:nvPr/>
        </p:nvSpPr>
        <p:spPr>
          <a:xfrm>
            <a:off x="4629150" y="2971800"/>
            <a:ext cx="28575" cy="385763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8" name="Google Shape;728;p33"/>
          <p:cNvSpPr txBox="1"/>
          <p:nvPr/>
        </p:nvSpPr>
        <p:spPr>
          <a:xfrm>
            <a:off x="4748451" y="3028593"/>
            <a:ext cx="5792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无杠杆铁律</a:t>
            </a:r>
            <a:endParaRPr sz="1100"/>
          </a:p>
        </p:txBody>
      </p:sp>
      <p:sp>
        <p:nvSpPr>
          <p:cNvPr id="729" name="Google Shape;729;p33"/>
          <p:cNvSpPr txBox="1"/>
          <p:nvPr/>
        </p:nvSpPr>
        <p:spPr>
          <a:xfrm>
            <a:off x="4749165" y="3177540"/>
            <a:ext cx="240780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"股市有风险，切记不要贷款" — 无论多确定不借钱炒股</a:t>
            </a:r>
            <a:endParaRPr sz="1100"/>
          </a:p>
        </p:txBody>
      </p:sp>
      <p:sp>
        <p:nvSpPr>
          <p:cNvPr id="730" name="Google Shape;730;p33"/>
          <p:cNvSpPr/>
          <p:nvPr/>
        </p:nvSpPr>
        <p:spPr>
          <a:xfrm>
            <a:off x="4629150" y="3371850"/>
            <a:ext cx="4086225" cy="385763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1" name="Google Shape;731;p33"/>
          <p:cNvSpPr/>
          <p:nvPr/>
        </p:nvSpPr>
        <p:spPr>
          <a:xfrm>
            <a:off x="4629150" y="3371850"/>
            <a:ext cx="28575" cy="3857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2" name="Google Shape;732;p33"/>
          <p:cNvSpPr txBox="1"/>
          <p:nvPr/>
        </p:nvSpPr>
        <p:spPr>
          <a:xfrm>
            <a:off x="4748451" y="3428643"/>
            <a:ext cx="483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OTC 排除</a:t>
            </a:r>
            <a:endParaRPr sz="1100"/>
          </a:p>
        </p:txBody>
      </p:sp>
      <p:sp>
        <p:nvSpPr>
          <p:cNvPr id="733" name="Google Shape;733;p33"/>
          <p:cNvSpPr txBox="1"/>
          <p:nvPr/>
        </p:nvSpPr>
        <p:spPr>
          <a:xfrm>
            <a:off x="4749165" y="3577590"/>
            <a:ext cx="257539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小市值必须 NYSE/Nasdaq 主板 — OTC 流动性差，直接排除</a:t>
            </a:r>
            <a:endParaRPr sz="1100"/>
          </a:p>
        </p:txBody>
      </p:sp>
      <p:sp>
        <p:nvSpPr>
          <p:cNvPr id="734" name="Google Shape;734;p33"/>
          <p:cNvSpPr/>
          <p:nvPr/>
        </p:nvSpPr>
        <p:spPr>
          <a:xfrm>
            <a:off x="4629150" y="3771900"/>
            <a:ext cx="4086225" cy="385763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5" name="Google Shape;735;p33"/>
          <p:cNvSpPr/>
          <p:nvPr/>
        </p:nvSpPr>
        <p:spPr>
          <a:xfrm>
            <a:off x="4629150" y="3771900"/>
            <a:ext cx="28575" cy="3857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6" name="Google Shape;736;p33"/>
          <p:cNvSpPr txBox="1"/>
          <p:nvPr/>
        </p:nvSpPr>
        <p:spPr>
          <a:xfrm>
            <a:off x="4748451" y="3828693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动态观望</a:t>
            </a:r>
            <a:endParaRPr sz="1100"/>
          </a:p>
        </p:txBody>
      </p:sp>
      <p:sp>
        <p:nvSpPr>
          <p:cNvPr id="737" name="Google Shape;737;p33"/>
          <p:cNvSpPr txBox="1"/>
          <p:nvPr/>
        </p:nvSpPr>
        <p:spPr>
          <a:xfrm>
            <a:off x="4749165" y="3977640"/>
            <a:ext cx="240780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全球动荡期"多看少动手" — 现金也是仓位，不强行入场</a:t>
            </a:r>
            <a:endParaRPr sz="1100"/>
          </a:p>
        </p:txBody>
      </p:sp>
      <p:sp>
        <p:nvSpPr>
          <p:cNvPr id="738" name="Google Shape;738;p33"/>
          <p:cNvSpPr/>
          <p:nvPr/>
        </p:nvSpPr>
        <p:spPr>
          <a:xfrm>
            <a:off x="4629150" y="4171950"/>
            <a:ext cx="4086225" cy="385763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9" name="Google Shape;739;p33"/>
          <p:cNvSpPr/>
          <p:nvPr/>
        </p:nvSpPr>
        <p:spPr>
          <a:xfrm>
            <a:off x="4629150" y="4171950"/>
            <a:ext cx="28575" cy="385763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0" name="Google Shape;740;p33"/>
          <p:cNvSpPr txBox="1"/>
          <p:nvPr/>
        </p:nvSpPr>
        <p:spPr>
          <a:xfrm>
            <a:off x="4748451" y="4228743"/>
            <a:ext cx="69140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忽略跳空补缺</a:t>
            </a:r>
            <a:endParaRPr sz="1100"/>
          </a:p>
        </p:txBody>
      </p:sp>
      <p:sp>
        <p:nvSpPr>
          <p:cNvPr id="741" name="Google Shape;741;p33"/>
          <p:cNvSpPr txBox="1"/>
          <p:nvPr/>
        </p:nvSpPr>
        <p:spPr>
          <a:xfrm>
            <a:off x="4749165" y="4377690"/>
            <a:ext cx="210219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明确不按跳空补缺逻辑操作 — 追势不等缺口回补</a:t>
            </a:r>
            <a:endParaRPr sz="1100"/>
          </a:p>
        </p:txBody>
      </p:sp>
      <p:sp>
        <p:nvSpPr>
          <p:cNvPr id="742" name="Google Shape;742;p33"/>
          <p:cNvSpPr/>
          <p:nvPr/>
        </p:nvSpPr>
        <p:spPr>
          <a:xfrm>
            <a:off x="4629150" y="4629150"/>
            <a:ext cx="4086225" cy="228600"/>
          </a:xfrm>
          <a:prstGeom prst="roundRect">
            <a:avLst>
              <a:gd fmla="val 1875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3" name="Google Shape;743;p33"/>
          <p:cNvSpPr txBox="1"/>
          <p:nvPr/>
        </p:nvSpPr>
        <p:spPr>
          <a:xfrm>
            <a:off x="5051476" y="4706302"/>
            <a:ext cx="324157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与 /stock-entry（入场评估） · /stock-exit（出场纪律）skill 联动</a:t>
            </a:r>
            <a:endParaRPr sz="1100"/>
          </a:p>
        </p:txBody>
      </p:sp>
      <p:sp>
        <p:nvSpPr>
          <p:cNvPr id="744" name="Google Shape;744;p33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09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3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0" name="Google Shape;750;p34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1" name="Google Shape;751;p34"/>
          <p:cNvSpPr/>
          <p:nvPr/>
        </p:nvSpPr>
        <p:spPr>
          <a:xfrm>
            <a:off x="428625" y="185738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2" name="Google Shape;752;p34"/>
          <p:cNvSpPr txBox="1"/>
          <p:nvPr/>
        </p:nvSpPr>
        <p:spPr>
          <a:xfrm>
            <a:off x="562928" y="205740"/>
            <a:ext cx="204697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各赛道 ETF 映射</a:t>
            </a:r>
            <a:endParaRPr sz="1100"/>
          </a:p>
        </p:txBody>
      </p:sp>
      <p:sp>
        <p:nvSpPr>
          <p:cNvPr id="753" name="Google Shape;753;p34"/>
          <p:cNvSpPr txBox="1"/>
          <p:nvPr/>
        </p:nvSpPr>
        <p:spPr>
          <a:xfrm>
            <a:off x="575071" y="494705"/>
            <a:ext cx="372448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热门题材赛道对应的 ETF 及个股替代方案 — 无纯ETF赛道用个股代替</a:t>
            </a:r>
            <a:endParaRPr sz="1100"/>
          </a:p>
        </p:txBody>
      </p:sp>
      <p:sp>
        <p:nvSpPr>
          <p:cNvPr id="754" name="Google Shape;754;p34"/>
          <p:cNvSpPr/>
          <p:nvPr/>
        </p:nvSpPr>
        <p:spPr>
          <a:xfrm>
            <a:off x="428625" y="685800"/>
            <a:ext cx="8286750" cy="2428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5" name="Google Shape;755;p34"/>
          <p:cNvSpPr txBox="1"/>
          <p:nvPr/>
        </p:nvSpPr>
        <p:spPr>
          <a:xfrm>
            <a:off x="562214" y="764024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AFAF8"/>
                </a:solidFill>
                <a:latin typeface="Arial"/>
                <a:ea typeface="Arial"/>
                <a:cs typeface="Arial"/>
                <a:sym typeface="Arial"/>
              </a:rPr>
              <a:t>热门赛道</a:t>
            </a:r>
            <a:endParaRPr sz="1100"/>
          </a:p>
        </p:txBody>
      </p:sp>
      <p:sp>
        <p:nvSpPr>
          <p:cNvPr id="756" name="Google Shape;756;p34"/>
          <p:cNvSpPr txBox="1"/>
          <p:nvPr/>
        </p:nvSpPr>
        <p:spPr>
          <a:xfrm>
            <a:off x="2105264" y="764024"/>
            <a:ext cx="55684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AFAF8"/>
                </a:solidFill>
                <a:latin typeface="Arial"/>
                <a:ea typeface="Arial"/>
                <a:cs typeface="Arial"/>
                <a:sym typeface="Arial"/>
              </a:rPr>
              <a:t>ETF / 标的</a:t>
            </a:r>
            <a:endParaRPr sz="1100"/>
          </a:p>
        </p:txBody>
      </p:sp>
      <p:sp>
        <p:nvSpPr>
          <p:cNvPr id="757" name="Google Shape;757;p34"/>
          <p:cNvSpPr txBox="1"/>
          <p:nvPr/>
        </p:nvSpPr>
        <p:spPr>
          <a:xfrm>
            <a:off x="4977051" y="764024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AFAF8"/>
                </a:solidFill>
                <a:latin typeface="Arial"/>
                <a:ea typeface="Arial"/>
                <a:cs typeface="Arial"/>
                <a:sym typeface="Arial"/>
              </a:rPr>
              <a:t>策略说明</a:t>
            </a:r>
            <a:endParaRPr sz="1100"/>
          </a:p>
        </p:txBody>
      </p:sp>
      <p:sp>
        <p:nvSpPr>
          <p:cNvPr id="758" name="Google Shape;758;p34"/>
          <p:cNvSpPr/>
          <p:nvPr/>
        </p:nvSpPr>
        <p:spPr>
          <a:xfrm>
            <a:off x="2000250" y="685800"/>
            <a:ext cx="7144" cy="242888"/>
          </a:xfrm>
          <a:custGeom>
            <a:rect b="b" l="l" r="r" t="t"/>
            <a:pathLst>
              <a:path extrusionOk="0" h="323850" w="9525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/>
          <a:ln cap="flat" cmpd="sng" w="9525">
            <a:solidFill>
              <a:srgbClr val="FAFAF8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9" name="Google Shape;759;p34"/>
          <p:cNvSpPr/>
          <p:nvPr/>
        </p:nvSpPr>
        <p:spPr>
          <a:xfrm>
            <a:off x="4857750" y="685800"/>
            <a:ext cx="7144" cy="242888"/>
          </a:xfrm>
          <a:custGeom>
            <a:rect b="b" l="l" r="r" t="t"/>
            <a:pathLst>
              <a:path extrusionOk="0" h="323850" w="9525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/>
          <a:ln cap="flat" cmpd="sng" w="9525">
            <a:solidFill>
              <a:srgbClr val="FAFAF8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0" name="Google Shape;760;p34"/>
          <p:cNvSpPr/>
          <p:nvPr/>
        </p:nvSpPr>
        <p:spPr>
          <a:xfrm>
            <a:off x="428625" y="928688"/>
            <a:ext cx="8286750" cy="514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34"/>
          <p:cNvSpPr/>
          <p:nvPr/>
        </p:nvSpPr>
        <p:spPr>
          <a:xfrm>
            <a:off x="428625" y="144303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2" name="Google Shape;762;p34"/>
          <p:cNvSpPr/>
          <p:nvPr/>
        </p:nvSpPr>
        <p:spPr>
          <a:xfrm>
            <a:off x="2000250" y="9286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3" name="Google Shape;763;p34"/>
          <p:cNvSpPr/>
          <p:nvPr/>
        </p:nvSpPr>
        <p:spPr>
          <a:xfrm>
            <a:off x="4857750" y="9286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p34"/>
          <p:cNvSpPr txBox="1"/>
          <p:nvPr/>
        </p:nvSpPr>
        <p:spPr>
          <a:xfrm>
            <a:off x="560070" y="1031558"/>
            <a:ext cx="78885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存储/半导体</a:t>
            </a:r>
            <a:endParaRPr sz="1100"/>
          </a:p>
        </p:txBody>
      </p:sp>
      <p:sp>
        <p:nvSpPr>
          <p:cNvPr id="765" name="Google Shape;765;p34"/>
          <p:cNvSpPr txBox="1"/>
          <p:nvPr/>
        </p:nvSpPr>
        <p:spPr>
          <a:xfrm>
            <a:off x="562213" y="1192649"/>
            <a:ext cx="7501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AI底层存储赛道</a:t>
            </a:r>
            <a:endParaRPr sz="1100"/>
          </a:p>
        </p:txBody>
      </p:sp>
      <p:sp>
        <p:nvSpPr>
          <p:cNvPr id="766" name="Google Shape;766;p34"/>
          <p:cNvSpPr/>
          <p:nvPr/>
        </p:nvSpPr>
        <p:spPr>
          <a:xfrm>
            <a:off x="2114550" y="1143000"/>
            <a:ext cx="85725" cy="857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7" name="Google Shape;767;p34"/>
          <p:cNvSpPr txBox="1"/>
          <p:nvPr/>
        </p:nvSpPr>
        <p:spPr>
          <a:xfrm>
            <a:off x="2259569" y="1025486"/>
            <a:ext cx="37623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SOXX</a:t>
            </a:r>
            <a:endParaRPr sz="1100"/>
          </a:p>
        </p:txBody>
      </p:sp>
      <p:sp>
        <p:nvSpPr>
          <p:cNvPr id="768" name="Google Shape;768;p34"/>
          <p:cNvSpPr txBox="1"/>
          <p:nvPr/>
        </p:nvSpPr>
        <p:spPr>
          <a:xfrm>
            <a:off x="2263140" y="1198721"/>
            <a:ext cx="155505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首选SOXX，更分散不过度集中NVDA</a:t>
            </a:r>
            <a:endParaRPr sz="1100"/>
          </a:p>
        </p:txBody>
      </p:sp>
      <p:sp>
        <p:nvSpPr>
          <p:cNvPr id="769" name="Google Shape;769;p34"/>
          <p:cNvSpPr txBox="1"/>
          <p:nvPr/>
        </p:nvSpPr>
        <p:spPr>
          <a:xfrm>
            <a:off x="4976336" y="1043702"/>
            <a:ext cx="272859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SOXX含50只半导体股，更分散；SMH权重过集中NVDA</a:t>
            </a:r>
            <a:endParaRPr sz="1100"/>
          </a:p>
        </p:txBody>
      </p:sp>
      <p:sp>
        <p:nvSpPr>
          <p:cNvPr id="770" name="Google Shape;770;p34"/>
          <p:cNvSpPr txBox="1"/>
          <p:nvPr/>
        </p:nvSpPr>
        <p:spPr>
          <a:xfrm>
            <a:off x="4977051" y="1192649"/>
            <a:ext cx="190357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首选SOXX参与AI存储/HBM赛道整体上涨</a:t>
            </a:r>
            <a:endParaRPr sz="1100"/>
          </a:p>
        </p:txBody>
      </p:sp>
      <p:sp>
        <p:nvSpPr>
          <p:cNvPr id="771" name="Google Shape;771;p34"/>
          <p:cNvSpPr/>
          <p:nvPr/>
        </p:nvSpPr>
        <p:spPr>
          <a:xfrm>
            <a:off x="428625" y="1443038"/>
            <a:ext cx="8286750" cy="514350"/>
          </a:xfrm>
          <a:prstGeom prst="rect">
            <a:avLst/>
          </a:prstGeom>
          <a:solidFill>
            <a:srgbClr val="F8F6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2" name="Google Shape;772;p34"/>
          <p:cNvSpPr/>
          <p:nvPr/>
        </p:nvSpPr>
        <p:spPr>
          <a:xfrm>
            <a:off x="428625" y="195738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3" name="Google Shape;773;p34"/>
          <p:cNvSpPr/>
          <p:nvPr/>
        </p:nvSpPr>
        <p:spPr>
          <a:xfrm>
            <a:off x="2000250" y="14430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4" name="Google Shape;774;p34"/>
          <p:cNvSpPr/>
          <p:nvPr/>
        </p:nvSpPr>
        <p:spPr>
          <a:xfrm>
            <a:off x="4857750" y="14430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5" name="Google Shape;775;p34"/>
          <p:cNvSpPr txBox="1"/>
          <p:nvPr/>
        </p:nvSpPr>
        <p:spPr>
          <a:xfrm>
            <a:off x="560070" y="1545907"/>
            <a:ext cx="4369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光互连</a:t>
            </a:r>
            <a:endParaRPr sz="1100"/>
          </a:p>
        </p:txBody>
      </p:sp>
      <p:sp>
        <p:nvSpPr>
          <p:cNvPr id="776" name="Google Shape;776;p34"/>
          <p:cNvSpPr txBox="1"/>
          <p:nvPr/>
        </p:nvSpPr>
        <p:spPr>
          <a:xfrm>
            <a:off x="562213" y="1706999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数据中心光传输</a:t>
            </a:r>
            <a:endParaRPr sz="1100"/>
          </a:p>
        </p:txBody>
      </p:sp>
      <p:sp>
        <p:nvSpPr>
          <p:cNvPr id="777" name="Google Shape;777;p34"/>
          <p:cNvSpPr/>
          <p:nvPr/>
        </p:nvSpPr>
        <p:spPr>
          <a:xfrm>
            <a:off x="2114550" y="1657350"/>
            <a:ext cx="85725" cy="8572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8" name="Google Shape;778;p34"/>
          <p:cNvSpPr txBox="1"/>
          <p:nvPr/>
        </p:nvSpPr>
        <p:spPr>
          <a:xfrm>
            <a:off x="2261711" y="1558052"/>
            <a:ext cx="46079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无纯ETF</a:t>
            </a:r>
            <a:endParaRPr sz="1100"/>
          </a:p>
        </p:txBody>
      </p:sp>
      <p:sp>
        <p:nvSpPr>
          <p:cNvPr id="779" name="Google Shape;779;p34"/>
          <p:cNvSpPr/>
          <p:nvPr/>
        </p:nvSpPr>
        <p:spPr>
          <a:xfrm>
            <a:off x="2271713" y="1714500"/>
            <a:ext cx="457200" cy="157163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0" name="Google Shape;780;p34"/>
          <p:cNvSpPr txBox="1"/>
          <p:nvPr/>
        </p:nvSpPr>
        <p:spPr>
          <a:xfrm>
            <a:off x="2336471" y="1748790"/>
            <a:ext cx="3276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用个股</a:t>
            </a:r>
            <a:endParaRPr sz="1100"/>
          </a:p>
        </p:txBody>
      </p:sp>
      <p:sp>
        <p:nvSpPr>
          <p:cNvPr id="781" name="Google Shape;781;p34"/>
          <p:cNvSpPr txBox="1"/>
          <p:nvPr/>
        </p:nvSpPr>
        <p:spPr>
          <a:xfrm>
            <a:off x="4976336" y="1558052"/>
            <a:ext cx="21937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个股篮子：NVTS + COHR — 光互连核心标的</a:t>
            </a:r>
            <a:endParaRPr sz="1100"/>
          </a:p>
        </p:txBody>
      </p:sp>
      <p:sp>
        <p:nvSpPr>
          <p:cNvPr id="782" name="Google Shape;782;p34"/>
          <p:cNvSpPr txBox="1"/>
          <p:nvPr/>
        </p:nvSpPr>
        <p:spPr>
          <a:xfrm>
            <a:off x="4977051" y="1706999"/>
            <a:ext cx="223999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待合适ETF出现；当前NVTS+COHR作为标准篮子</a:t>
            </a:r>
            <a:endParaRPr sz="1100"/>
          </a:p>
        </p:txBody>
      </p:sp>
      <p:sp>
        <p:nvSpPr>
          <p:cNvPr id="783" name="Google Shape;783;p34"/>
          <p:cNvSpPr/>
          <p:nvPr/>
        </p:nvSpPr>
        <p:spPr>
          <a:xfrm>
            <a:off x="428625" y="1957388"/>
            <a:ext cx="8286750" cy="514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4" name="Google Shape;784;p34"/>
          <p:cNvSpPr/>
          <p:nvPr/>
        </p:nvSpPr>
        <p:spPr>
          <a:xfrm>
            <a:off x="428625" y="247173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p34"/>
          <p:cNvSpPr/>
          <p:nvPr/>
        </p:nvSpPr>
        <p:spPr>
          <a:xfrm>
            <a:off x="2000250" y="19573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6" name="Google Shape;786;p34"/>
          <p:cNvSpPr/>
          <p:nvPr/>
        </p:nvSpPr>
        <p:spPr>
          <a:xfrm>
            <a:off x="4857750" y="19573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7" name="Google Shape;787;p34"/>
          <p:cNvSpPr txBox="1"/>
          <p:nvPr/>
        </p:nvSpPr>
        <p:spPr>
          <a:xfrm>
            <a:off x="560070" y="2060257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卫星通信</a:t>
            </a:r>
            <a:endParaRPr sz="1100"/>
          </a:p>
        </p:txBody>
      </p:sp>
      <p:sp>
        <p:nvSpPr>
          <p:cNvPr id="788" name="Google Shape;788;p34"/>
          <p:cNvSpPr txBox="1"/>
          <p:nvPr/>
        </p:nvSpPr>
        <p:spPr>
          <a:xfrm>
            <a:off x="562213" y="2221349"/>
            <a:ext cx="107054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低轨卫星/SpaceX概念</a:t>
            </a:r>
            <a:endParaRPr sz="1100"/>
          </a:p>
        </p:txBody>
      </p:sp>
      <p:sp>
        <p:nvSpPr>
          <p:cNvPr id="789" name="Google Shape;789;p34"/>
          <p:cNvSpPr/>
          <p:nvPr/>
        </p:nvSpPr>
        <p:spPr>
          <a:xfrm>
            <a:off x="2114550" y="2171700"/>
            <a:ext cx="85725" cy="857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34"/>
          <p:cNvSpPr txBox="1"/>
          <p:nvPr/>
        </p:nvSpPr>
        <p:spPr>
          <a:xfrm>
            <a:off x="2259568" y="2054186"/>
            <a:ext cx="29557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UFO</a:t>
            </a:r>
            <a:endParaRPr sz="1100"/>
          </a:p>
        </p:txBody>
      </p:sp>
      <p:sp>
        <p:nvSpPr>
          <p:cNvPr id="791" name="Google Shape;791;p34"/>
          <p:cNvSpPr txBox="1"/>
          <p:nvPr/>
        </p:nvSpPr>
        <p:spPr>
          <a:xfrm>
            <a:off x="2263140" y="2227421"/>
            <a:ext cx="182122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流动性优于ARKX；等SPCX IPO后回调入场</a:t>
            </a:r>
            <a:endParaRPr sz="1100"/>
          </a:p>
        </p:txBody>
      </p:sp>
      <p:sp>
        <p:nvSpPr>
          <p:cNvPr id="792" name="Google Shape;792;p34"/>
          <p:cNvSpPr txBox="1"/>
          <p:nvPr/>
        </p:nvSpPr>
        <p:spPr>
          <a:xfrm>
            <a:off x="4976336" y="2072402"/>
            <a:ext cx="198099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UFO流动性最佳；ARKX为主动管理基金</a:t>
            </a:r>
            <a:endParaRPr sz="1100"/>
          </a:p>
        </p:txBody>
      </p:sp>
      <p:sp>
        <p:nvSpPr>
          <p:cNvPr id="793" name="Google Shape;793;p34"/>
          <p:cNvSpPr txBox="1"/>
          <p:nvPr/>
        </p:nvSpPr>
        <p:spPr>
          <a:xfrm>
            <a:off x="4977051" y="2221349"/>
            <a:ext cx="150842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SPCX IPO后回调入场可替代UFO</a:t>
            </a:r>
            <a:endParaRPr sz="1100"/>
          </a:p>
        </p:txBody>
      </p:sp>
      <p:sp>
        <p:nvSpPr>
          <p:cNvPr id="794" name="Google Shape;794;p34"/>
          <p:cNvSpPr/>
          <p:nvPr/>
        </p:nvSpPr>
        <p:spPr>
          <a:xfrm>
            <a:off x="428625" y="2471738"/>
            <a:ext cx="8286750" cy="514350"/>
          </a:xfrm>
          <a:prstGeom prst="rect">
            <a:avLst/>
          </a:prstGeom>
          <a:solidFill>
            <a:srgbClr val="F8F6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5" name="Google Shape;795;p34"/>
          <p:cNvSpPr/>
          <p:nvPr/>
        </p:nvSpPr>
        <p:spPr>
          <a:xfrm>
            <a:off x="428625" y="298608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6" name="Google Shape;796;p34"/>
          <p:cNvSpPr/>
          <p:nvPr/>
        </p:nvSpPr>
        <p:spPr>
          <a:xfrm>
            <a:off x="2000250" y="24717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7" name="Google Shape;797;p34"/>
          <p:cNvSpPr/>
          <p:nvPr/>
        </p:nvSpPr>
        <p:spPr>
          <a:xfrm>
            <a:off x="4857750" y="24717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8" name="Google Shape;798;p34"/>
          <p:cNvSpPr txBox="1"/>
          <p:nvPr/>
        </p:nvSpPr>
        <p:spPr>
          <a:xfrm>
            <a:off x="560070" y="2574607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电网储能</a:t>
            </a:r>
            <a:endParaRPr sz="1100"/>
          </a:p>
        </p:txBody>
      </p:sp>
      <p:sp>
        <p:nvSpPr>
          <p:cNvPr id="799" name="Google Shape;799;p34"/>
          <p:cNvSpPr txBox="1"/>
          <p:nvPr/>
        </p:nvSpPr>
        <p:spPr>
          <a:xfrm>
            <a:off x="562213" y="2735699"/>
            <a:ext cx="93170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清洁能源/储能基建</a:t>
            </a:r>
            <a:endParaRPr sz="1100"/>
          </a:p>
        </p:txBody>
      </p:sp>
      <p:sp>
        <p:nvSpPr>
          <p:cNvPr id="800" name="Google Shape;800;p34"/>
          <p:cNvSpPr/>
          <p:nvPr/>
        </p:nvSpPr>
        <p:spPr>
          <a:xfrm>
            <a:off x="2114550" y="2686050"/>
            <a:ext cx="85725" cy="857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1" name="Google Shape;801;p34"/>
          <p:cNvSpPr txBox="1"/>
          <p:nvPr/>
        </p:nvSpPr>
        <p:spPr>
          <a:xfrm>
            <a:off x="2259568" y="2568536"/>
            <a:ext cx="310244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GRID</a:t>
            </a:r>
            <a:endParaRPr sz="1100"/>
          </a:p>
        </p:txBody>
      </p:sp>
      <p:sp>
        <p:nvSpPr>
          <p:cNvPr id="802" name="Google Shape;802;p34"/>
          <p:cNvSpPr txBox="1"/>
          <p:nvPr/>
        </p:nvSpPr>
        <p:spPr>
          <a:xfrm>
            <a:off x="2263140" y="2741771"/>
            <a:ext cx="115085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最贴合SiC/储能/电网基建</a:t>
            </a:r>
            <a:endParaRPr sz="1100"/>
          </a:p>
        </p:txBody>
      </p:sp>
      <p:sp>
        <p:nvSpPr>
          <p:cNvPr id="803" name="Google Shape;803;p34"/>
          <p:cNvSpPr txBox="1"/>
          <p:nvPr/>
        </p:nvSpPr>
        <p:spPr>
          <a:xfrm>
            <a:off x="4976336" y="2586752"/>
            <a:ext cx="209026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GRID最贴合SiC/超导/储能/电网基建主题</a:t>
            </a:r>
            <a:endParaRPr sz="1100"/>
          </a:p>
        </p:txBody>
      </p:sp>
      <p:sp>
        <p:nvSpPr>
          <p:cNvPr id="804" name="Google Shape;804;p34"/>
          <p:cNvSpPr txBox="1"/>
          <p:nvPr/>
        </p:nvSpPr>
        <p:spPr>
          <a:xfrm>
            <a:off x="4977051" y="2735699"/>
            <a:ext cx="185017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ICLN/TAN偏清洁能源发电端，方向略偏</a:t>
            </a:r>
            <a:endParaRPr sz="1100"/>
          </a:p>
        </p:txBody>
      </p:sp>
      <p:sp>
        <p:nvSpPr>
          <p:cNvPr id="805" name="Google Shape;805;p34"/>
          <p:cNvSpPr/>
          <p:nvPr/>
        </p:nvSpPr>
        <p:spPr>
          <a:xfrm>
            <a:off x="428625" y="2986088"/>
            <a:ext cx="8286750" cy="514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6" name="Google Shape;806;p34"/>
          <p:cNvSpPr/>
          <p:nvPr/>
        </p:nvSpPr>
        <p:spPr>
          <a:xfrm>
            <a:off x="428625" y="350043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7" name="Google Shape;807;p34"/>
          <p:cNvSpPr/>
          <p:nvPr/>
        </p:nvSpPr>
        <p:spPr>
          <a:xfrm>
            <a:off x="2000250" y="29860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8" name="Google Shape;808;p34"/>
          <p:cNvSpPr/>
          <p:nvPr/>
        </p:nvSpPr>
        <p:spPr>
          <a:xfrm>
            <a:off x="4857750" y="29860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9" name="Google Shape;809;p34"/>
          <p:cNvSpPr txBox="1"/>
          <p:nvPr/>
        </p:nvSpPr>
        <p:spPr>
          <a:xfrm>
            <a:off x="560070" y="3088957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先进封装</a:t>
            </a:r>
            <a:endParaRPr sz="1100"/>
          </a:p>
        </p:txBody>
      </p:sp>
      <p:sp>
        <p:nvSpPr>
          <p:cNvPr id="810" name="Google Shape;810;p34"/>
          <p:cNvSpPr txBox="1"/>
          <p:nvPr/>
        </p:nvSpPr>
        <p:spPr>
          <a:xfrm>
            <a:off x="562214" y="3250049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CoWoS/SoIC封装技术</a:t>
            </a:r>
            <a:endParaRPr sz="1100"/>
          </a:p>
        </p:txBody>
      </p:sp>
      <p:sp>
        <p:nvSpPr>
          <p:cNvPr id="811" name="Google Shape;811;p34"/>
          <p:cNvSpPr/>
          <p:nvPr/>
        </p:nvSpPr>
        <p:spPr>
          <a:xfrm>
            <a:off x="2114550" y="3200400"/>
            <a:ext cx="85725" cy="8572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2" name="Google Shape;812;p34"/>
          <p:cNvSpPr txBox="1"/>
          <p:nvPr/>
        </p:nvSpPr>
        <p:spPr>
          <a:xfrm>
            <a:off x="2261711" y="3101102"/>
            <a:ext cx="46079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无纯ETF</a:t>
            </a:r>
            <a:endParaRPr sz="1100"/>
          </a:p>
        </p:txBody>
      </p:sp>
      <p:sp>
        <p:nvSpPr>
          <p:cNvPr id="813" name="Google Shape;813;p34"/>
          <p:cNvSpPr/>
          <p:nvPr/>
        </p:nvSpPr>
        <p:spPr>
          <a:xfrm>
            <a:off x="2271713" y="3257550"/>
            <a:ext cx="457200" cy="157163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4" name="Google Shape;814;p34"/>
          <p:cNvSpPr txBox="1"/>
          <p:nvPr/>
        </p:nvSpPr>
        <p:spPr>
          <a:xfrm>
            <a:off x="2336471" y="3291840"/>
            <a:ext cx="3276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用个股</a:t>
            </a:r>
            <a:endParaRPr sz="1100"/>
          </a:p>
        </p:txBody>
      </p:sp>
      <p:sp>
        <p:nvSpPr>
          <p:cNvPr id="815" name="Google Shape;815;p34"/>
          <p:cNvSpPr txBox="1"/>
          <p:nvPr/>
        </p:nvSpPr>
        <p:spPr>
          <a:xfrm>
            <a:off x="4976336" y="3101102"/>
            <a:ext cx="289536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AMKR个股或暂缓 — 无纯封装ETF（SOXX/SMH部分重叠）</a:t>
            </a:r>
            <a:endParaRPr sz="1100"/>
          </a:p>
        </p:txBody>
      </p:sp>
      <p:sp>
        <p:nvSpPr>
          <p:cNvPr id="816" name="Google Shape;816;p34"/>
          <p:cNvSpPr txBox="1"/>
          <p:nvPr/>
        </p:nvSpPr>
        <p:spPr>
          <a:xfrm>
            <a:off x="4977051" y="3250049"/>
            <a:ext cx="181813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先进封装为AI算力爆发的关键瓶颈赛道</a:t>
            </a:r>
            <a:endParaRPr sz="1100"/>
          </a:p>
        </p:txBody>
      </p:sp>
      <p:sp>
        <p:nvSpPr>
          <p:cNvPr id="817" name="Google Shape;817;p34"/>
          <p:cNvSpPr/>
          <p:nvPr/>
        </p:nvSpPr>
        <p:spPr>
          <a:xfrm>
            <a:off x="428625" y="3500438"/>
            <a:ext cx="8286750" cy="514350"/>
          </a:xfrm>
          <a:prstGeom prst="rect">
            <a:avLst/>
          </a:prstGeom>
          <a:solidFill>
            <a:srgbClr val="F8F6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8" name="Google Shape;818;p34"/>
          <p:cNvSpPr/>
          <p:nvPr/>
        </p:nvSpPr>
        <p:spPr>
          <a:xfrm>
            <a:off x="428625" y="401478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9" name="Google Shape;819;p34"/>
          <p:cNvSpPr/>
          <p:nvPr/>
        </p:nvSpPr>
        <p:spPr>
          <a:xfrm>
            <a:off x="2000250" y="35004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0" name="Google Shape;820;p34"/>
          <p:cNvSpPr/>
          <p:nvPr/>
        </p:nvSpPr>
        <p:spPr>
          <a:xfrm>
            <a:off x="4857750" y="350043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1" name="Google Shape;821;p34"/>
          <p:cNvSpPr txBox="1"/>
          <p:nvPr/>
        </p:nvSpPr>
        <p:spPr>
          <a:xfrm>
            <a:off x="560070" y="3603307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关键矿产</a:t>
            </a:r>
            <a:endParaRPr sz="1100"/>
          </a:p>
        </p:txBody>
      </p:sp>
      <p:sp>
        <p:nvSpPr>
          <p:cNvPr id="822" name="Google Shape;822;p34"/>
          <p:cNvSpPr txBox="1"/>
          <p:nvPr/>
        </p:nvSpPr>
        <p:spPr>
          <a:xfrm>
            <a:off x="562214" y="3764399"/>
            <a:ext cx="88364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稀土/锂/战略矿产</a:t>
            </a:r>
            <a:endParaRPr sz="1100"/>
          </a:p>
        </p:txBody>
      </p:sp>
      <p:sp>
        <p:nvSpPr>
          <p:cNvPr id="823" name="Google Shape;823;p34"/>
          <p:cNvSpPr/>
          <p:nvPr/>
        </p:nvSpPr>
        <p:spPr>
          <a:xfrm>
            <a:off x="2114550" y="3714750"/>
            <a:ext cx="85725" cy="857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4" name="Google Shape;824;p34"/>
          <p:cNvSpPr txBox="1"/>
          <p:nvPr/>
        </p:nvSpPr>
        <p:spPr>
          <a:xfrm>
            <a:off x="2259569" y="3597235"/>
            <a:ext cx="37623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REMX</a:t>
            </a:r>
            <a:endParaRPr sz="1100"/>
          </a:p>
        </p:txBody>
      </p:sp>
      <p:sp>
        <p:nvSpPr>
          <p:cNvPr id="825" name="Google Shape;825;p34"/>
          <p:cNvSpPr txBox="1"/>
          <p:nvPr/>
        </p:nvSpPr>
        <p:spPr>
          <a:xfrm>
            <a:off x="2263140" y="3770471"/>
            <a:ext cx="119522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首选REMX，稀土/关键矿产</a:t>
            </a:r>
            <a:endParaRPr sz="1100"/>
          </a:p>
        </p:txBody>
      </p:sp>
      <p:sp>
        <p:nvSpPr>
          <p:cNvPr id="826" name="Google Shape;826;p34"/>
          <p:cNvSpPr txBox="1"/>
          <p:nvPr/>
        </p:nvSpPr>
        <p:spPr>
          <a:xfrm>
            <a:off x="4976336" y="3615452"/>
            <a:ext cx="219952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REMX专注稀土/关键矿产（去中国化主题）</a:t>
            </a:r>
            <a:endParaRPr sz="1100"/>
          </a:p>
        </p:txBody>
      </p:sp>
      <p:sp>
        <p:nvSpPr>
          <p:cNvPr id="827" name="Google Shape;827;p34"/>
          <p:cNvSpPr txBox="1"/>
          <p:nvPr/>
        </p:nvSpPr>
        <p:spPr>
          <a:xfrm>
            <a:off x="4977051" y="3764399"/>
            <a:ext cx="180745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LIT偏锂电、PICK过于宽泛，首选REMX</a:t>
            </a:r>
            <a:endParaRPr sz="1100"/>
          </a:p>
        </p:txBody>
      </p:sp>
      <p:sp>
        <p:nvSpPr>
          <p:cNvPr id="828" name="Google Shape;828;p34"/>
          <p:cNvSpPr/>
          <p:nvPr/>
        </p:nvSpPr>
        <p:spPr>
          <a:xfrm>
            <a:off x="428625" y="4014788"/>
            <a:ext cx="8286750" cy="514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9" name="Google Shape;829;p34"/>
          <p:cNvSpPr/>
          <p:nvPr/>
        </p:nvSpPr>
        <p:spPr>
          <a:xfrm>
            <a:off x="428625" y="4529138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0" name="Google Shape;830;p34"/>
          <p:cNvSpPr/>
          <p:nvPr/>
        </p:nvSpPr>
        <p:spPr>
          <a:xfrm>
            <a:off x="2000250" y="40147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1" name="Google Shape;831;p34"/>
          <p:cNvSpPr/>
          <p:nvPr/>
        </p:nvSpPr>
        <p:spPr>
          <a:xfrm>
            <a:off x="4857750" y="4014788"/>
            <a:ext cx="7144" cy="514350"/>
          </a:xfrm>
          <a:custGeom>
            <a:rect b="b" l="l" r="r" t="t"/>
            <a:pathLst>
              <a:path extrusionOk="0" h="685800" w="9525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2" name="Google Shape;832;p34"/>
          <p:cNvSpPr txBox="1"/>
          <p:nvPr/>
        </p:nvSpPr>
        <p:spPr>
          <a:xfrm>
            <a:off x="560070" y="4117658"/>
            <a:ext cx="63013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PropTech</a:t>
            </a:r>
            <a:endParaRPr sz="1100"/>
          </a:p>
        </p:txBody>
      </p:sp>
      <p:sp>
        <p:nvSpPr>
          <p:cNvPr id="833" name="Google Shape;833;p34"/>
          <p:cNvSpPr txBox="1"/>
          <p:nvPr/>
        </p:nvSpPr>
        <p:spPr>
          <a:xfrm>
            <a:off x="562213" y="4278749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房地产科技平台</a:t>
            </a:r>
            <a:endParaRPr sz="1100"/>
          </a:p>
        </p:txBody>
      </p:sp>
      <p:sp>
        <p:nvSpPr>
          <p:cNvPr id="834" name="Google Shape;834;p34"/>
          <p:cNvSpPr/>
          <p:nvPr/>
        </p:nvSpPr>
        <p:spPr>
          <a:xfrm>
            <a:off x="2114550" y="4229100"/>
            <a:ext cx="85725" cy="8572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5" name="Google Shape;835;p34"/>
          <p:cNvSpPr txBox="1"/>
          <p:nvPr/>
        </p:nvSpPr>
        <p:spPr>
          <a:xfrm>
            <a:off x="2261711" y="4129802"/>
            <a:ext cx="46079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无纯ETF</a:t>
            </a:r>
            <a:endParaRPr sz="1100"/>
          </a:p>
        </p:txBody>
      </p:sp>
      <p:sp>
        <p:nvSpPr>
          <p:cNvPr id="836" name="Google Shape;836;p34"/>
          <p:cNvSpPr/>
          <p:nvPr/>
        </p:nvSpPr>
        <p:spPr>
          <a:xfrm>
            <a:off x="2271713" y="4286250"/>
            <a:ext cx="457200" cy="157163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7" name="Google Shape;837;p34"/>
          <p:cNvSpPr txBox="1"/>
          <p:nvPr/>
        </p:nvSpPr>
        <p:spPr>
          <a:xfrm>
            <a:off x="2336471" y="4320540"/>
            <a:ext cx="3276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用个股</a:t>
            </a:r>
            <a:endParaRPr sz="1100"/>
          </a:p>
        </p:txBody>
      </p:sp>
      <p:sp>
        <p:nvSpPr>
          <p:cNvPr id="838" name="Google Shape;838;p34"/>
          <p:cNvSpPr txBox="1"/>
          <p:nvPr/>
        </p:nvSpPr>
        <p:spPr>
          <a:xfrm>
            <a:off x="4976336" y="4129802"/>
            <a:ext cx="232029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OPEN · COMP 个股 — PropTech降息扭亏逻辑</a:t>
            </a:r>
            <a:endParaRPr sz="1100"/>
          </a:p>
        </p:txBody>
      </p:sp>
      <p:sp>
        <p:nvSpPr>
          <p:cNvPr id="839" name="Google Shape;839;p34"/>
          <p:cNvSpPr txBox="1"/>
          <p:nvPr/>
        </p:nvSpPr>
        <p:spPr>
          <a:xfrm>
            <a:off x="4977051" y="4278749"/>
            <a:ext cx="191959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IYR/VNQ偏传统REIT，PropTech无纯ETF</a:t>
            </a:r>
            <a:endParaRPr sz="1100"/>
          </a:p>
        </p:txBody>
      </p:sp>
      <p:sp>
        <p:nvSpPr>
          <p:cNvPr id="840" name="Google Shape;840;p34"/>
          <p:cNvSpPr/>
          <p:nvPr/>
        </p:nvSpPr>
        <p:spPr>
          <a:xfrm>
            <a:off x="428625" y="685800"/>
            <a:ext cx="8286750" cy="3843338"/>
          </a:xfrm>
          <a:prstGeom prst="rect">
            <a:avLst/>
          </a:pr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1" name="Google Shape;841;p34"/>
          <p:cNvSpPr/>
          <p:nvPr/>
        </p:nvSpPr>
        <p:spPr>
          <a:xfrm>
            <a:off x="528638" y="4629150"/>
            <a:ext cx="85725" cy="857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2" name="Google Shape;842;p34"/>
          <p:cNvSpPr txBox="1"/>
          <p:nvPr/>
        </p:nvSpPr>
        <p:spPr>
          <a:xfrm>
            <a:off x="647938" y="4621649"/>
            <a:ext cx="51518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有对应ETF</a:t>
            </a:r>
            <a:endParaRPr sz="1100"/>
          </a:p>
        </p:txBody>
      </p:sp>
      <p:sp>
        <p:nvSpPr>
          <p:cNvPr id="843" name="Google Shape;843;p34"/>
          <p:cNvSpPr/>
          <p:nvPr/>
        </p:nvSpPr>
        <p:spPr>
          <a:xfrm>
            <a:off x="1357313" y="4629150"/>
            <a:ext cx="85725" cy="8572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4" name="Google Shape;844;p34"/>
          <p:cNvSpPr txBox="1"/>
          <p:nvPr/>
        </p:nvSpPr>
        <p:spPr>
          <a:xfrm>
            <a:off x="1476614" y="4621649"/>
            <a:ext cx="104918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无纯ETF，用个股替代</a:t>
            </a:r>
            <a:endParaRPr sz="1100"/>
          </a:p>
        </p:txBody>
      </p:sp>
      <p:sp>
        <p:nvSpPr>
          <p:cNvPr id="845" name="Google Shape;845;p34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10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3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1" name="Google Shape;851;p35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2" name="Google Shape;852;p35"/>
          <p:cNvSpPr/>
          <p:nvPr/>
        </p:nvSpPr>
        <p:spPr>
          <a:xfrm>
            <a:off x="428625" y="185738"/>
            <a:ext cx="42900" cy="2715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3" name="Google Shape;853;p35"/>
          <p:cNvSpPr txBox="1"/>
          <p:nvPr/>
        </p:nvSpPr>
        <p:spPr>
          <a:xfrm>
            <a:off x="564356" y="203597"/>
            <a:ext cx="4066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SEPA 趋势模板 — Stage 2 唯一入场</a:t>
            </a:r>
            <a:endParaRPr sz="1100"/>
          </a:p>
        </p:txBody>
      </p:sp>
      <p:sp>
        <p:nvSpPr>
          <p:cNvPr id="854" name="Google Shape;854;p35"/>
          <p:cNvSpPr txBox="1"/>
          <p:nvPr/>
        </p:nvSpPr>
        <p:spPr>
          <a:xfrm>
            <a:off x="575786" y="472202"/>
            <a:ext cx="3901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Minervini 方法 · 8大条件全通过 · VCP 形态 · ATR 自适应止损 · 翻倍股调整</a:t>
            </a:r>
            <a:endParaRPr sz="1100"/>
          </a:p>
        </p:txBody>
      </p:sp>
      <p:sp>
        <p:nvSpPr>
          <p:cNvPr id="855" name="Google Shape;855;p35"/>
          <p:cNvSpPr/>
          <p:nvPr/>
        </p:nvSpPr>
        <p:spPr>
          <a:xfrm>
            <a:off x="428625" y="614363"/>
            <a:ext cx="2000100" cy="428700"/>
          </a:xfrm>
          <a:prstGeom prst="roundRect">
            <a:avLst>
              <a:gd fmla="val 13333" name="adj"/>
            </a:avLst>
          </a:prstGeom>
          <a:solidFill>
            <a:srgbClr val="F5F4F2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6" name="Google Shape;856;p35"/>
          <p:cNvSpPr txBox="1"/>
          <p:nvPr/>
        </p:nvSpPr>
        <p:spPr>
          <a:xfrm>
            <a:off x="1026263" y="707946"/>
            <a:ext cx="804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Stage 1 · 蓄势</a:t>
            </a:r>
            <a:endParaRPr sz="1100"/>
          </a:p>
        </p:txBody>
      </p:sp>
      <p:sp>
        <p:nvSpPr>
          <p:cNvPr id="857" name="Google Shape;857;p35"/>
          <p:cNvSpPr txBox="1"/>
          <p:nvPr/>
        </p:nvSpPr>
        <p:spPr>
          <a:xfrm>
            <a:off x="976551" y="870109"/>
            <a:ext cx="904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底部整理，观望不买</a:t>
            </a:r>
            <a:endParaRPr sz="1100"/>
          </a:p>
        </p:txBody>
      </p:sp>
      <p:sp>
        <p:nvSpPr>
          <p:cNvPr id="858" name="Google Shape;858;p35"/>
          <p:cNvSpPr/>
          <p:nvPr/>
        </p:nvSpPr>
        <p:spPr>
          <a:xfrm>
            <a:off x="2486025" y="614363"/>
            <a:ext cx="2000100" cy="428700"/>
          </a:xfrm>
          <a:prstGeom prst="roundRect">
            <a:avLst>
              <a:gd fmla="val 13333" name="adj"/>
            </a:avLst>
          </a:prstGeom>
          <a:solidFill>
            <a:srgbClr val="3A9E6A">
              <a:alpha val="12160"/>
            </a:srgbClr>
          </a:solidFill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9" name="Google Shape;859;p35"/>
          <p:cNvSpPr txBox="1"/>
          <p:nvPr/>
        </p:nvSpPr>
        <p:spPr>
          <a:xfrm>
            <a:off x="3068567" y="707946"/>
            <a:ext cx="83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Stage 2 · 上涨</a:t>
            </a:r>
            <a:endParaRPr sz="1100"/>
          </a:p>
        </p:txBody>
      </p:sp>
      <p:sp>
        <p:nvSpPr>
          <p:cNvPr id="860" name="Google Shape;860;p35"/>
          <p:cNvSpPr txBox="1"/>
          <p:nvPr/>
        </p:nvSpPr>
        <p:spPr>
          <a:xfrm>
            <a:off x="3167038" y="870109"/>
            <a:ext cx="638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唯一买入阶段</a:t>
            </a:r>
            <a:endParaRPr sz="1100"/>
          </a:p>
        </p:txBody>
      </p:sp>
      <p:sp>
        <p:nvSpPr>
          <p:cNvPr id="861" name="Google Shape;861;p35"/>
          <p:cNvSpPr/>
          <p:nvPr/>
        </p:nvSpPr>
        <p:spPr>
          <a:xfrm>
            <a:off x="4543425" y="614363"/>
            <a:ext cx="2000100" cy="428700"/>
          </a:xfrm>
          <a:prstGeom prst="roundRect">
            <a:avLst>
              <a:gd fmla="val 13333" name="adj"/>
            </a:avLst>
          </a:prstGeom>
          <a:solidFill>
            <a:srgbClr val="D44545">
              <a:alpha val="7840"/>
            </a:srgbClr>
          </a:solidFill>
          <a:ln cap="flat" cmpd="sng" w="1427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2" name="Google Shape;862;p35"/>
          <p:cNvSpPr txBox="1"/>
          <p:nvPr/>
        </p:nvSpPr>
        <p:spPr>
          <a:xfrm>
            <a:off x="5125967" y="707946"/>
            <a:ext cx="83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Stage 3 · 顶部</a:t>
            </a:r>
            <a:endParaRPr sz="1100"/>
          </a:p>
        </p:txBody>
      </p:sp>
      <p:sp>
        <p:nvSpPr>
          <p:cNvPr id="863" name="Google Shape;863;p35"/>
          <p:cNvSpPr txBox="1"/>
          <p:nvPr/>
        </p:nvSpPr>
        <p:spPr>
          <a:xfrm>
            <a:off x="5091350" y="870109"/>
            <a:ext cx="904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高位震荡，开始减仓</a:t>
            </a:r>
            <a:endParaRPr sz="1100"/>
          </a:p>
        </p:txBody>
      </p:sp>
      <p:sp>
        <p:nvSpPr>
          <p:cNvPr id="864" name="Google Shape;864;p35"/>
          <p:cNvSpPr/>
          <p:nvPr/>
        </p:nvSpPr>
        <p:spPr>
          <a:xfrm>
            <a:off x="6600825" y="614363"/>
            <a:ext cx="2000100" cy="428700"/>
          </a:xfrm>
          <a:prstGeom prst="roundRect">
            <a:avLst>
              <a:gd fmla="val 13333" name="adj"/>
            </a:avLst>
          </a:prstGeom>
          <a:solidFill>
            <a:srgbClr val="1E1E1E">
              <a:alpha val="5880"/>
            </a:srgbClr>
          </a:solidFill>
          <a:ln cap="flat" cmpd="sng" w="14275">
            <a:solidFill>
              <a:srgbClr val="1E1E1E">
                <a:alpha val="3019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5" name="Google Shape;865;p35"/>
          <p:cNvSpPr txBox="1"/>
          <p:nvPr/>
        </p:nvSpPr>
        <p:spPr>
          <a:xfrm>
            <a:off x="7183366" y="707946"/>
            <a:ext cx="83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Stage 4 · 下跌</a:t>
            </a:r>
            <a:endParaRPr sz="1100"/>
          </a:p>
        </p:txBody>
      </p:sp>
      <p:sp>
        <p:nvSpPr>
          <p:cNvPr id="866" name="Google Shape;866;p35"/>
          <p:cNvSpPr txBox="1"/>
          <p:nvPr/>
        </p:nvSpPr>
        <p:spPr>
          <a:xfrm>
            <a:off x="7345919" y="870109"/>
            <a:ext cx="510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持币，远离</a:t>
            </a:r>
            <a:endParaRPr sz="1100"/>
          </a:p>
        </p:txBody>
      </p:sp>
      <p:sp>
        <p:nvSpPr>
          <p:cNvPr id="867" name="Google Shape;867;p35"/>
          <p:cNvSpPr/>
          <p:nvPr/>
        </p:nvSpPr>
        <p:spPr>
          <a:xfrm>
            <a:off x="4529138" y="1100138"/>
            <a:ext cx="7144" cy="3943350"/>
          </a:xfrm>
          <a:custGeom>
            <a:rect b="b" l="l" r="r" t="t"/>
            <a:pathLst>
              <a:path extrusionOk="0" h="5257800" w="9525">
                <a:moveTo>
                  <a:pt x="0" y="0"/>
                </a:moveTo>
                <a:lnTo>
                  <a:pt x="0" y="52578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8" name="Google Shape;868;p35"/>
          <p:cNvSpPr txBox="1"/>
          <p:nvPr/>
        </p:nvSpPr>
        <p:spPr>
          <a:xfrm>
            <a:off x="420052" y="1098709"/>
            <a:ext cx="1864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趋势模板 8大条件（全部通过方可买入）</a:t>
            </a:r>
            <a:endParaRPr sz="1100"/>
          </a:p>
        </p:txBody>
      </p:sp>
      <p:sp>
        <p:nvSpPr>
          <p:cNvPr id="869" name="Google Shape;869;p35"/>
          <p:cNvSpPr/>
          <p:nvPr/>
        </p:nvSpPr>
        <p:spPr>
          <a:xfrm>
            <a:off x="428625" y="1214438"/>
            <a:ext cx="4000500" cy="3771900"/>
          </a:xfrm>
          <a:prstGeom prst="roundRect">
            <a:avLst>
              <a:gd fmla="val 15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0" name="Google Shape;870;p35"/>
          <p:cNvSpPr/>
          <p:nvPr/>
        </p:nvSpPr>
        <p:spPr>
          <a:xfrm>
            <a:off x="428625" y="1685925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1" name="Google Shape;871;p35"/>
          <p:cNvSpPr/>
          <p:nvPr/>
        </p:nvSpPr>
        <p:spPr>
          <a:xfrm>
            <a:off x="428625" y="2157413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2" name="Google Shape;872;p35"/>
          <p:cNvSpPr/>
          <p:nvPr/>
        </p:nvSpPr>
        <p:spPr>
          <a:xfrm>
            <a:off x="428625" y="2628900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3" name="Google Shape;873;p35"/>
          <p:cNvSpPr/>
          <p:nvPr/>
        </p:nvSpPr>
        <p:spPr>
          <a:xfrm>
            <a:off x="428625" y="3100388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4" name="Google Shape;874;p35"/>
          <p:cNvSpPr/>
          <p:nvPr/>
        </p:nvSpPr>
        <p:spPr>
          <a:xfrm>
            <a:off x="428625" y="3571875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5" name="Google Shape;875;p35"/>
          <p:cNvSpPr/>
          <p:nvPr/>
        </p:nvSpPr>
        <p:spPr>
          <a:xfrm>
            <a:off x="428625" y="4043363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6" name="Google Shape;876;p35"/>
          <p:cNvSpPr/>
          <p:nvPr/>
        </p:nvSpPr>
        <p:spPr>
          <a:xfrm>
            <a:off x="428625" y="4514850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7" name="Google Shape;877;p35"/>
          <p:cNvSpPr/>
          <p:nvPr/>
        </p:nvSpPr>
        <p:spPr>
          <a:xfrm>
            <a:off x="542925" y="1364456"/>
            <a:ext cx="171600" cy="171600"/>
          </a:xfrm>
          <a:prstGeom prst="ellipse">
            <a:avLst/>
          </a:prstGeom>
          <a:solidFill>
            <a:srgbClr val="3D7DE4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8" name="Google Shape;878;p35"/>
          <p:cNvSpPr txBox="1"/>
          <p:nvPr/>
        </p:nvSpPr>
        <p:spPr>
          <a:xfrm>
            <a:off x="606559" y="1419106"/>
            <a:ext cx="44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879" name="Google Shape;879;p35"/>
          <p:cNvSpPr txBox="1"/>
          <p:nvPr/>
        </p:nvSpPr>
        <p:spPr>
          <a:xfrm>
            <a:off x="790814" y="1321237"/>
            <a:ext cx="1650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Price &gt; MA150 且 Price &gt; MA200</a:t>
            </a:r>
            <a:endParaRPr sz="1100"/>
          </a:p>
        </p:txBody>
      </p:sp>
      <p:sp>
        <p:nvSpPr>
          <p:cNvPr id="880" name="Google Shape;880;p35"/>
          <p:cNvSpPr txBox="1"/>
          <p:nvPr/>
        </p:nvSpPr>
        <p:spPr>
          <a:xfrm>
            <a:off x="792242" y="1476256"/>
            <a:ext cx="1710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股价在中期和长期均线上方 — MA 阶梯基础</a:t>
            </a:r>
            <a:endParaRPr sz="1100"/>
          </a:p>
        </p:txBody>
      </p:sp>
      <p:sp>
        <p:nvSpPr>
          <p:cNvPr id="881" name="Google Shape;881;p35"/>
          <p:cNvSpPr/>
          <p:nvPr/>
        </p:nvSpPr>
        <p:spPr>
          <a:xfrm>
            <a:off x="542925" y="1835944"/>
            <a:ext cx="171600" cy="171600"/>
          </a:xfrm>
          <a:prstGeom prst="ellipse">
            <a:avLst/>
          </a:prstGeom>
          <a:solidFill>
            <a:srgbClr val="3D7DE4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2" name="Google Shape;882;p35"/>
          <p:cNvSpPr txBox="1"/>
          <p:nvPr/>
        </p:nvSpPr>
        <p:spPr>
          <a:xfrm>
            <a:off x="594698" y="1890593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883" name="Google Shape;883;p35"/>
          <p:cNvSpPr txBox="1"/>
          <p:nvPr/>
        </p:nvSpPr>
        <p:spPr>
          <a:xfrm>
            <a:off x="790813" y="1792724"/>
            <a:ext cx="781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MA150 &gt; MA200</a:t>
            </a:r>
            <a:endParaRPr sz="1100"/>
          </a:p>
        </p:txBody>
      </p:sp>
      <p:sp>
        <p:nvSpPr>
          <p:cNvPr id="884" name="Google Shape;884;p35"/>
          <p:cNvSpPr txBox="1"/>
          <p:nvPr/>
        </p:nvSpPr>
        <p:spPr>
          <a:xfrm>
            <a:off x="792242" y="1947743"/>
            <a:ext cx="1656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中期均线在长期均线上方 — 牛市结构确认</a:t>
            </a:r>
            <a:endParaRPr sz="1100"/>
          </a:p>
        </p:txBody>
      </p:sp>
      <p:sp>
        <p:nvSpPr>
          <p:cNvPr id="885" name="Google Shape;885;p35"/>
          <p:cNvSpPr/>
          <p:nvPr/>
        </p:nvSpPr>
        <p:spPr>
          <a:xfrm>
            <a:off x="542925" y="2307431"/>
            <a:ext cx="171600" cy="171600"/>
          </a:xfrm>
          <a:prstGeom prst="ellipse">
            <a:avLst/>
          </a:prstGeom>
          <a:solidFill>
            <a:srgbClr val="3D7DE4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6" name="Google Shape;886;p35"/>
          <p:cNvSpPr txBox="1"/>
          <p:nvPr/>
        </p:nvSpPr>
        <p:spPr>
          <a:xfrm>
            <a:off x="594698" y="2362081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887" name="Google Shape;887;p35"/>
          <p:cNvSpPr txBox="1"/>
          <p:nvPr/>
        </p:nvSpPr>
        <p:spPr>
          <a:xfrm>
            <a:off x="790813" y="2264212"/>
            <a:ext cx="1218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MA200 上升趋势 ≥ 1个月</a:t>
            </a:r>
            <a:endParaRPr sz="1100"/>
          </a:p>
        </p:txBody>
      </p:sp>
      <p:sp>
        <p:nvSpPr>
          <p:cNvPr id="888" name="Google Shape;888;p35"/>
          <p:cNvSpPr txBox="1"/>
          <p:nvPr/>
        </p:nvSpPr>
        <p:spPr>
          <a:xfrm>
            <a:off x="792242" y="2419231"/>
            <a:ext cx="1407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理想 4-5 个月上升 — 长期方向朝上</a:t>
            </a:r>
            <a:endParaRPr sz="1100"/>
          </a:p>
        </p:txBody>
      </p:sp>
      <p:sp>
        <p:nvSpPr>
          <p:cNvPr id="889" name="Google Shape;889;p35"/>
          <p:cNvSpPr/>
          <p:nvPr/>
        </p:nvSpPr>
        <p:spPr>
          <a:xfrm>
            <a:off x="542925" y="2778919"/>
            <a:ext cx="171600" cy="171600"/>
          </a:xfrm>
          <a:prstGeom prst="ellipse">
            <a:avLst/>
          </a:prstGeom>
          <a:solidFill>
            <a:srgbClr val="3D7DE4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0" name="Google Shape;890;p35"/>
          <p:cNvSpPr txBox="1"/>
          <p:nvPr/>
        </p:nvSpPr>
        <p:spPr>
          <a:xfrm>
            <a:off x="594698" y="2833568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891" name="Google Shape;891;p35"/>
          <p:cNvSpPr txBox="1"/>
          <p:nvPr/>
        </p:nvSpPr>
        <p:spPr>
          <a:xfrm>
            <a:off x="790813" y="2735699"/>
            <a:ext cx="1627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MA50 &gt; MA150 且 MA50 &gt; MA200</a:t>
            </a:r>
            <a:endParaRPr sz="1100"/>
          </a:p>
        </p:txBody>
      </p:sp>
      <p:sp>
        <p:nvSpPr>
          <p:cNvPr id="892" name="Google Shape;892;p35"/>
          <p:cNvSpPr txBox="1"/>
          <p:nvPr/>
        </p:nvSpPr>
        <p:spPr>
          <a:xfrm>
            <a:off x="792242" y="2890718"/>
            <a:ext cx="1009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短中长均线完整牛市排列</a:t>
            </a:r>
            <a:endParaRPr sz="1100"/>
          </a:p>
        </p:txBody>
      </p:sp>
      <p:sp>
        <p:nvSpPr>
          <p:cNvPr id="893" name="Google Shape;893;p35"/>
          <p:cNvSpPr/>
          <p:nvPr/>
        </p:nvSpPr>
        <p:spPr>
          <a:xfrm>
            <a:off x="542925" y="3250406"/>
            <a:ext cx="171600" cy="171600"/>
          </a:xfrm>
          <a:prstGeom prst="ellipse">
            <a:avLst/>
          </a:prstGeom>
          <a:solidFill>
            <a:srgbClr val="3D7DE4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4" name="Google Shape;894;p35"/>
          <p:cNvSpPr txBox="1"/>
          <p:nvPr/>
        </p:nvSpPr>
        <p:spPr>
          <a:xfrm>
            <a:off x="594698" y="3305056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  <p:sp>
        <p:nvSpPr>
          <p:cNvPr id="895" name="Google Shape;895;p35"/>
          <p:cNvSpPr txBox="1"/>
          <p:nvPr/>
        </p:nvSpPr>
        <p:spPr>
          <a:xfrm>
            <a:off x="790814" y="3207187"/>
            <a:ext cx="696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Price &gt; MA50</a:t>
            </a:r>
            <a:endParaRPr sz="1100"/>
          </a:p>
        </p:txBody>
      </p:sp>
      <p:sp>
        <p:nvSpPr>
          <p:cNvPr id="896" name="Google Shape;896;p35"/>
          <p:cNvSpPr txBox="1"/>
          <p:nvPr/>
        </p:nvSpPr>
        <p:spPr>
          <a:xfrm>
            <a:off x="792242" y="3362206"/>
            <a:ext cx="1281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股价在短期均线上方，趋势健康</a:t>
            </a:r>
            <a:endParaRPr sz="1100"/>
          </a:p>
        </p:txBody>
      </p:sp>
      <p:sp>
        <p:nvSpPr>
          <p:cNvPr id="897" name="Google Shape;897;p35"/>
          <p:cNvSpPr/>
          <p:nvPr/>
        </p:nvSpPr>
        <p:spPr>
          <a:xfrm>
            <a:off x="542925" y="3721894"/>
            <a:ext cx="171600" cy="171600"/>
          </a:xfrm>
          <a:prstGeom prst="ellipse">
            <a:avLst/>
          </a:prstGeom>
          <a:solidFill>
            <a:srgbClr val="3A9E6A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8" name="Google Shape;898;p35"/>
          <p:cNvSpPr txBox="1"/>
          <p:nvPr/>
        </p:nvSpPr>
        <p:spPr>
          <a:xfrm>
            <a:off x="594698" y="3776543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100"/>
          </a:p>
        </p:txBody>
      </p:sp>
      <p:sp>
        <p:nvSpPr>
          <p:cNvPr id="899" name="Google Shape;899;p35"/>
          <p:cNvSpPr txBox="1"/>
          <p:nvPr/>
        </p:nvSpPr>
        <p:spPr>
          <a:xfrm>
            <a:off x="790813" y="3678674"/>
            <a:ext cx="1111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价格 ≥ 52周低点 +30%</a:t>
            </a:r>
            <a:endParaRPr sz="1100"/>
          </a:p>
        </p:txBody>
      </p:sp>
      <p:sp>
        <p:nvSpPr>
          <p:cNvPr id="900" name="Google Shape;900;p35"/>
          <p:cNvSpPr txBox="1"/>
          <p:nvPr/>
        </p:nvSpPr>
        <p:spPr>
          <a:xfrm>
            <a:off x="792242" y="3833693"/>
            <a:ext cx="1100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远离低谷，已证明趋势反转</a:t>
            </a:r>
            <a:endParaRPr sz="1100"/>
          </a:p>
        </p:txBody>
      </p:sp>
      <p:sp>
        <p:nvSpPr>
          <p:cNvPr id="901" name="Google Shape;901;p35"/>
          <p:cNvSpPr/>
          <p:nvPr/>
        </p:nvSpPr>
        <p:spPr>
          <a:xfrm>
            <a:off x="542925" y="4193381"/>
            <a:ext cx="171600" cy="171600"/>
          </a:xfrm>
          <a:prstGeom prst="ellipse">
            <a:avLst/>
          </a:prstGeom>
          <a:solidFill>
            <a:srgbClr val="3A9E6A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2" name="Google Shape;902;p35"/>
          <p:cNvSpPr txBox="1"/>
          <p:nvPr/>
        </p:nvSpPr>
        <p:spPr>
          <a:xfrm>
            <a:off x="594698" y="4248031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sz="1100"/>
          </a:p>
        </p:txBody>
      </p:sp>
      <p:sp>
        <p:nvSpPr>
          <p:cNvPr id="903" name="Google Shape;903;p35"/>
          <p:cNvSpPr txBox="1"/>
          <p:nvPr/>
        </p:nvSpPr>
        <p:spPr>
          <a:xfrm>
            <a:off x="790813" y="4150162"/>
            <a:ext cx="1325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价格在 52周高点 25% 以内</a:t>
            </a:r>
            <a:endParaRPr sz="1100"/>
          </a:p>
        </p:txBody>
      </p:sp>
      <p:sp>
        <p:nvSpPr>
          <p:cNvPr id="904" name="Google Shape;904;p35"/>
          <p:cNvSpPr txBox="1"/>
          <p:nvPr/>
        </p:nvSpPr>
        <p:spPr>
          <a:xfrm>
            <a:off x="792242" y="4305181"/>
            <a:ext cx="1009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接近高点，上涨动能充足</a:t>
            </a:r>
            <a:endParaRPr sz="1100"/>
          </a:p>
        </p:txBody>
      </p:sp>
      <p:sp>
        <p:nvSpPr>
          <p:cNvPr id="905" name="Google Shape;905;p35"/>
          <p:cNvSpPr/>
          <p:nvPr/>
        </p:nvSpPr>
        <p:spPr>
          <a:xfrm>
            <a:off x="542925" y="4664869"/>
            <a:ext cx="171600" cy="171600"/>
          </a:xfrm>
          <a:prstGeom prst="ellipse">
            <a:avLst/>
          </a:prstGeom>
          <a:solidFill>
            <a:srgbClr val="C96133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6" name="Google Shape;906;p35"/>
          <p:cNvSpPr txBox="1"/>
          <p:nvPr/>
        </p:nvSpPr>
        <p:spPr>
          <a:xfrm>
            <a:off x="594698" y="4719518"/>
            <a:ext cx="67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sz="1100"/>
          </a:p>
        </p:txBody>
      </p:sp>
      <p:sp>
        <p:nvSpPr>
          <p:cNvPr id="907" name="Google Shape;907;p35"/>
          <p:cNvSpPr txBox="1"/>
          <p:nvPr/>
        </p:nvSpPr>
        <p:spPr>
          <a:xfrm>
            <a:off x="790813" y="4621649"/>
            <a:ext cx="1582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RS &gt; 70百分位（最好 85-90+）</a:t>
            </a:r>
            <a:endParaRPr sz="1100"/>
          </a:p>
        </p:txBody>
      </p:sp>
      <p:sp>
        <p:nvSpPr>
          <p:cNvPr id="908" name="Google Shape;908;p35"/>
          <p:cNvSpPr txBox="1"/>
          <p:nvPr/>
        </p:nvSpPr>
        <p:spPr>
          <a:xfrm>
            <a:off x="792242" y="4776668"/>
            <a:ext cx="11001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相对大盘强势，领涨股特征</a:t>
            </a:r>
            <a:endParaRPr sz="1100"/>
          </a:p>
        </p:txBody>
      </p:sp>
      <p:sp>
        <p:nvSpPr>
          <p:cNvPr id="909" name="Google Shape;909;p35"/>
          <p:cNvSpPr txBox="1"/>
          <p:nvPr/>
        </p:nvSpPr>
        <p:spPr>
          <a:xfrm>
            <a:off x="4620578" y="1098709"/>
            <a:ext cx="1166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VCP 形态 — 核心入场信号</a:t>
            </a:r>
            <a:endParaRPr sz="1100"/>
          </a:p>
        </p:txBody>
      </p:sp>
      <p:sp>
        <p:nvSpPr>
          <p:cNvPr id="910" name="Google Shape;910;p35"/>
          <p:cNvSpPr/>
          <p:nvPr/>
        </p:nvSpPr>
        <p:spPr>
          <a:xfrm>
            <a:off x="4629150" y="1214438"/>
            <a:ext cx="4086300" cy="1014300"/>
          </a:xfrm>
          <a:prstGeom prst="roundRect">
            <a:avLst>
              <a:gd fmla="val 563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1" name="Google Shape;911;p35"/>
          <p:cNvSpPr txBox="1"/>
          <p:nvPr/>
        </p:nvSpPr>
        <p:spPr>
          <a:xfrm>
            <a:off x="4763453" y="1298734"/>
            <a:ext cx="1544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Volatility Contraction Pattern</a:t>
            </a:r>
            <a:endParaRPr sz="1100"/>
          </a:p>
        </p:txBody>
      </p:sp>
      <p:sp>
        <p:nvSpPr>
          <p:cNvPr id="912" name="Google Shape;912;p35"/>
          <p:cNvSpPr txBox="1"/>
          <p:nvPr/>
        </p:nvSpPr>
        <p:spPr>
          <a:xfrm>
            <a:off x="4763453" y="1441609"/>
            <a:ext cx="1762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回调深度依次收窄：20% → 12% → 6% → 3%</a:t>
            </a:r>
            <a:endParaRPr sz="1100"/>
          </a:p>
        </p:txBody>
      </p:sp>
      <p:sp>
        <p:nvSpPr>
          <p:cNvPr id="913" name="Google Shape;913;p35"/>
          <p:cNvSpPr txBox="1"/>
          <p:nvPr/>
        </p:nvSpPr>
        <p:spPr>
          <a:xfrm>
            <a:off x="4763453" y="1584484"/>
            <a:ext cx="1757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量能干涸（VDU）：每次整理成交量递减</a:t>
            </a:r>
            <a:endParaRPr sz="1100"/>
          </a:p>
        </p:txBody>
      </p:sp>
      <p:sp>
        <p:nvSpPr>
          <p:cNvPr id="914" name="Google Shape;914;p35"/>
          <p:cNvSpPr txBox="1"/>
          <p:nvPr/>
        </p:nvSpPr>
        <p:spPr>
          <a:xfrm>
            <a:off x="4763453" y="1727359"/>
            <a:ext cx="1495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更高低点：每次回调底部高于前次</a:t>
            </a:r>
            <a:endParaRPr sz="1100"/>
          </a:p>
        </p:txBody>
      </p:sp>
      <p:sp>
        <p:nvSpPr>
          <p:cNvPr id="915" name="Google Shape;915;p35"/>
          <p:cNvSpPr txBox="1"/>
          <p:nvPr/>
        </p:nvSpPr>
        <p:spPr>
          <a:xfrm>
            <a:off x="4763453" y="1870234"/>
            <a:ext cx="2496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轴心突破买入：突破量 ≥ 1.5× 均量；买入区间 Pivot +5%</a:t>
            </a:r>
            <a:endParaRPr sz="1100"/>
          </a:p>
        </p:txBody>
      </p:sp>
      <p:sp>
        <p:nvSpPr>
          <p:cNvPr id="916" name="Google Shape;916;p35"/>
          <p:cNvSpPr txBox="1"/>
          <p:nvPr/>
        </p:nvSpPr>
        <p:spPr>
          <a:xfrm>
            <a:off x="4764167" y="2076331"/>
            <a:ext cx="1619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财报前2周不入场 · 超过 Pivot +5% 不追</a:t>
            </a:r>
            <a:endParaRPr sz="1100"/>
          </a:p>
        </p:txBody>
      </p:sp>
      <p:sp>
        <p:nvSpPr>
          <p:cNvPr id="917" name="Google Shape;917;p35"/>
          <p:cNvSpPr txBox="1"/>
          <p:nvPr/>
        </p:nvSpPr>
        <p:spPr>
          <a:xfrm>
            <a:off x="4620578" y="2284571"/>
            <a:ext cx="1983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止损规则（铁律：止损只上移，永不下移）</a:t>
            </a:r>
            <a:endParaRPr sz="1100"/>
          </a:p>
        </p:txBody>
      </p:sp>
      <p:sp>
        <p:nvSpPr>
          <p:cNvPr id="918" name="Google Shape;918;p35"/>
          <p:cNvSpPr/>
          <p:nvPr/>
        </p:nvSpPr>
        <p:spPr>
          <a:xfrm>
            <a:off x="4629150" y="2414588"/>
            <a:ext cx="4086300" cy="400200"/>
          </a:xfrm>
          <a:prstGeom prst="roundRect">
            <a:avLst>
              <a:gd fmla="val 10714" name="adj"/>
            </a:avLst>
          </a:prstGeom>
          <a:solidFill>
            <a:srgbClr val="FFFFFF"/>
          </a:solidFill>
          <a:ln cap="flat" cmpd="sng" w="952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9" name="Google Shape;919;p35"/>
          <p:cNvSpPr/>
          <p:nvPr/>
        </p:nvSpPr>
        <p:spPr>
          <a:xfrm>
            <a:off x="4629150" y="2414588"/>
            <a:ext cx="28500" cy="400200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0" name="Google Shape;920;p35"/>
          <p:cNvSpPr txBox="1"/>
          <p:nvPr/>
        </p:nvSpPr>
        <p:spPr>
          <a:xfrm>
            <a:off x="4749165" y="2484596"/>
            <a:ext cx="1150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初始止损（ATR 自适应）</a:t>
            </a:r>
            <a:endParaRPr sz="1100"/>
          </a:p>
        </p:txBody>
      </p:sp>
      <p:sp>
        <p:nvSpPr>
          <p:cNvPr id="921" name="Google Shape;921;p35"/>
          <p:cNvSpPr txBox="1"/>
          <p:nvPr/>
        </p:nvSpPr>
        <p:spPr>
          <a:xfrm>
            <a:off x="4749165" y="2627471"/>
            <a:ext cx="3028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max(2xATR14, 入场价x10%)，上限20% | ATR适应波动，避免噪音止损</a:t>
            </a:r>
            <a:endParaRPr sz="1100"/>
          </a:p>
        </p:txBody>
      </p:sp>
      <p:sp>
        <p:nvSpPr>
          <p:cNvPr id="922" name="Google Shape;922;p35"/>
          <p:cNvSpPr/>
          <p:nvPr/>
        </p:nvSpPr>
        <p:spPr>
          <a:xfrm>
            <a:off x="4629150" y="2828925"/>
            <a:ext cx="4086300" cy="400200"/>
          </a:xfrm>
          <a:prstGeom prst="roundRect">
            <a:avLst>
              <a:gd fmla="val 10714" name="adj"/>
            </a:avLst>
          </a:prstGeom>
          <a:solidFill>
            <a:srgbClr val="FFFFFF"/>
          </a:solidFill>
          <a:ln cap="flat" cmpd="sng" w="952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3" name="Google Shape;923;p35"/>
          <p:cNvSpPr/>
          <p:nvPr/>
        </p:nvSpPr>
        <p:spPr>
          <a:xfrm>
            <a:off x="4629150" y="2828925"/>
            <a:ext cx="28500" cy="400200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4" name="Google Shape;924;p35"/>
          <p:cNvSpPr txBox="1"/>
          <p:nvPr/>
        </p:nvSpPr>
        <p:spPr>
          <a:xfrm>
            <a:off x="4749165" y="2898934"/>
            <a:ext cx="431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价格止损</a:t>
            </a:r>
            <a:endParaRPr sz="1100"/>
          </a:p>
        </p:txBody>
      </p:sp>
      <p:sp>
        <p:nvSpPr>
          <p:cNvPr id="925" name="Google Shape;925;p35"/>
          <p:cNvSpPr txBox="1"/>
          <p:nvPr/>
        </p:nvSpPr>
        <p:spPr>
          <a:xfrm>
            <a:off x="4749165" y="3041809"/>
            <a:ext cx="2294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连续2日收盘低于止损位→出场（单日不算，防噪音）</a:t>
            </a:r>
            <a:endParaRPr sz="1100"/>
          </a:p>
        </p:txBody>
      </p:sp>
      <p:sp>
        <p:nvSpPr>
          <p:cNvPr id="926" name="Google Shape;926;p35"/>
          <p:cNvSpPr/>
          <p:nvPr/>
        </p:nvSpPr>
        <p:spPr>
          <a:xfrm>
            <a:off x="4629150" y="3243263"/>
            <a:ext cx="4086300" cy="400200"/>
          </a:xfrm>
          <a:prstGeom prst="roundRect">
            <a:avLst>
              <a:gd fmla="val 10714" name="adj"/>
            </a:avLst>
          </a:prstGeom>
          <a:solidFill>
            <a:srgbClr val="FFFFFF"/>
          </a:solidFill>
          <a:ln cap="flat" cmpd="sng" w="952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7" name="Google Shape;927;p35"/>
          <p:cNvSpPr/>
          <p:nvPr/>
        </p:nvSpPr>
        <p:spPr>
          <a:xfrm>
            <a:off x="4629150" y="3243263"/>
            <a:ext cx="28500" cy="4002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8" name="Google Shape;928;p35"/>
          <p:cNvSpPr txBox="1"/>
          <p:nvPr/>
        </p:nvSpPr>
        <p:spPr>
          <a:xfrm>
            <a:off x="4749165" y="3313271"/>
            <a:ext cx="89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MA止损 / 跳空缺口</a:t>
            </a:r>
            <a:endParaRPr sz="1100"/>
          </a:p>
        </p:txBody>
      </p:sp>
      <p:sp>
        <p:nvSpPr>
          <p:cNvPr id="929" name="Google Shape;929;p35"/>
          <p:cNvSpPr txBox="1"/>
          <p:nvPr/>
        </p:nvSpPr>
        <p:spPr>
          <a:xfrm>
            <a:off x="4749165" y="3456146"/>
            <a:ext cx="2673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连续3日跌破MA150→出场；gap-down触发止损→当日收盘价出</a:t>
            </a:r>
            <a:endParaRPr sz="1100"/>
          </a:p>
        </p:txBody>
      </p:sp>
      <p:sp>
        <p:nvSpPr>
          <p:cNvPr id="930" name="Google Shape;930;p35"/>
          <p:cNvSpPr txBox="1"/>
          <p:nvPr/>
        </p:nvSpPr>
        <p:spPr>
          <a:xfrm>
            <a:off x="4620578" y="3713321"/>
            <a:ext cx="741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翻倍股入场调整</a:t>
            </a:r>
            <a:endParaRPr sz="1100"/>
          </a:p>
        </p:txBody>
      </p:sp>
      <p:sp>
        <p:nvSpPr>
          <p:cNvPr id="931" name="Google Shape;931;p35"/>
          <p:cNvSpPr/>
          <p:nvPr/>
        </p:nvSpPr>
        <p:spPr>
          <a:xfrm>
            <a:off x="4629150" y="3843338"/>
            <a:ext cx="4086300" cy="914400"/>
          </a:xfrm>
          <a:prstGeom prst="roundRect">
            <a:avLst>
              <a:gd fmla="val 625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2" name="Google Shape;932;p35"/>
          <p:cNvSpPr txBox="1"/>
          <p:nvPr/>
        </p:nvSpPr>
        <p:spPr>
          <a:xfrm>
            <a:off x="4763453" y="3927634"/>
            <a:ext cx="1466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精度要求略低，趋势持续性优先</a:t>
            </a:r>
            <a:endParaRPr sz="1100"/>
          </a:p>
        </p:txBody>
      </p:sp>
      <p:sp>
        <p:nvSpPr>
          <p:cNvPr id="933" name="Google Shape;933;p35"/>
          <p:cNvSpPr txBox="1"/>
          <p:nvPr/>
        </p:nvSpPr>
        <p:spPr>
          <a:xfrm>
            <a:off x="4763453" y="4070509"/>
            <a:ext cx="2195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入场不强求完美 Pivot 突破，允许趋势中回调买入</a:t>
            </a:r>
            <a:endParaRPr sz="1100"/>
          </a:p>
        </p:txBody>
      </p:sp>
      <p:sp>
        <p:nvSpPr>
          <p:cNvPr id="934" name="Google Shape;934;p35"/>
          <p:cNvSpPr txBox="1"/>
          <p:nvPr/>
        </p:nvSpPr>
        <p:spPr>
          <a:xfrm>
            <a:off x="4763453" y="4213384"/>
            <a:ext cx="2151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小盘股止损宽度 -10~15%（避免被日内噪音止损）</a:t>
            </a:r>
            <a:endParaRPr sz="1100"/>
          </a:p>
        </p:txBody>
      </p:sp>
      <p:sp>
        <p:nvSpPr>
          <p:cNvPr id="935" name="Google Shape;935;p35"/>
          <p:cNvSpPr txBox="1"/>
          <p:nvPr/>
        </p:nvSpPr>
        <p:spPr>
          <a:xfrm>
            <a:off x="4763453" y="4356259"/>
            <a:ext cx="2186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仓位公式：(账户×单笔风险%) / (入场价-止损价)</a:t>
            </a:r>
            <a:endParaRPr sz="1100"/>
          </a:p>
        </p:txBody>
      </p:sp>
      <p:sp>
        <p:nvSpPr>
          <p:cNvPr id="936" name="Google Shape;936;p35"/>
          <p:cNvSpPr txBox="1"/>
          <p:nvPr/>
        </p:nvSpPr>
        <p:spPr>
          <a:xfrm>
            <a:off x="4764166" y="4590931"/>
            <a:ext cx="24648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翻倍候选：RS&gt;85+，Base 1-2，VCP 量能干涸，8/8 趋势模板</a:t>
            </a:r>
            <a:endParaRPr sz="1100"/>
          </a:p>
        </p:txBody>
      </p:sp>
      <p:sp>
        <p:nvSpPr>
          <p:cNvPr id="937" name="Google Shape;937;p35"/>
          <p:cNvSpPr txBox="1"/>
          <p:nvPr/>
        </p:nvSpPr>
        <p:spPr>
          <a:xfrm>
            <a:off x="8520458" y="4915614"/>
            <a:ext cx="347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11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3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36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4" name="Google Shape;944;p36"/>
          <p:cNvSpPr/>
          <p:nvPr/>
        </p:nvSpPr>
        <p:spPr>
          <a:xfrm>
            <a:off x="428625" y="257175"/>
            <a:ext cx="42900" cy="2859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5" name="Google Shape;945;p36"/>
          <p:cNvSpPr txBox="1"/>
          <p:nvPr/>
        </p:nvSpPr>
        <p:spPr>
          <a:xfrm>
            <a:off x="560070" y="252889"/>
            <a:ext cx="4197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SEPA — 技术面：什么时候买？</a:t>
            </a:r>
            <a:endParaRPr sz="1100"/>
          </a:p>
        </p:txBody>
      </p:sp>
      <p:sp>
        <p:nvSpPr>
          <p:cNvPr id="946" name="Google Shape;946;p36"/>
          <p:cNvSpPr txBox="1"/>
          <p:nvPr/>
        </p:nvSpPr>
        <p:spPr>
          <a:xfrm>
            <a:off x="574358" y="588645"/>
            <a:ext cx="5366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Stage Analysis / EPS Acceleration / Price Action / Accumulation · /stock-entry 依据</a:t>
            </a:r>
            <a:endParaRPr sz="1100"/>
          </a:p>
        </p:txBody>
      </p:sp>
      <p:sp>
        <p:nvSpPr>
          <p:cNvPr id="947" name="Google Shape;947;p36"/>
          <p:cNvSpPr/>
          <p:nvPr/>
        </p:nvSpPr>
        <p:spPr>
          <a:xfrm>
            <a:off x="1000125" y="1271588"/>
            <a:ext cx="7286625" cy="7144"/>
          </a:xfrm>
          <a:custGeom>
            <a:rect b="b" l="l" r="r" t="t"/>
            <a:pathLst>
              <a:path extrusionOk="0" h="9525" w="9715500">
                <a:moveTo>
                  <a:pt x="0" y="0"/>
                </a:moveTo>
                <a:lnTo>
                  <a:pt x="9715500" y="0"/>
                </a:lnTo>
              </a:path>
            </a:pathLst>
          </a:custGeom>
          <a:noFill/>
          <a:ln cap="flat" cmpd="sng" w="19050">
            <a:solidFill>
              <a:srgbClr val="E0D8D0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48" name="Google Shape;948;p36"/>
          <p:cNvSpPr/>
          <p:nvPr/>
        </p:nvSpPr>
        <p:spPr>
          <a:xfrm>
            <a:off x="1042988" y="1028700"/>
            <a:ext cx="485700" cy="485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9" name="Google Shape;949;p36"/>
          <p:cNvSpPr txBox="1"/>
          <p:nvPr/>
        </p:nvSpPr>
        <p:spPr>
          <a:xfrm>
            <a:off x="1189505" y="1195149"/>
            <a:ext cx="192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950" name="Google Shape;950;p36"/>
          <p:cNvSpPr/>
          <p:nvPr/>
        </p:nvSpPr>
        <p:spPr>
          <a:xfrm>
            <a:off x="1285875" y="1514475"/>
            <a:ext cx="7144" cy="185738"/>
          </a:xfrm>
          <a:custGeom>
            <a:rect b="b" l="l" r="r" t="t"/>
            <a:pathLst>
              <a:path extrusionOk="0" h="247650" w="9525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51" name="Google Shape;951;p36"/>
          <p:cNvSpPr/>
          <p:nvPr/>
        </p:nvSpPr>
        <p:spPr>
          <a:xfrm>
            <a:off x="428625" y="1700213"/>
            <a:ext cx="1714500" cy="2857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2" name="Google Shape;952;p36"/>
          <p:cNvSpPr/>
          <p:nvPr/>
        </p:nvSpPr>
        <p:spPr>
          <a:xfrm>
            <a:off x="428625" y="1700213"/>
            <a:ext cx="1714500" cy="357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3" name="Google Shape;953;p36"/>
          <p:cNvSpPr txBox="1"/>
          <p:nvPr/>
        </p:nvSpPr>
        <p:spPr>
          <a:xfrm>
            <a:off x="841133" y="1925598"/>
            <a:ext cx="889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Stage 2 确认</a:t>
            </a:r>
            <a:endParaRPr sz="1100"/>
          </a:p>
        </p:txBody>
      </p:sp>
      <p:sp>
        <p:nvSpPr>
          <p:cNvPr id="954" name="Google Shape;954;p36"/>
          <p:cNvSpPr/>
          <p:nvPr/>
        </p:nvSpPr>
        <p:spPr>
          <a:xfrm>
            <a:off x="542925" y="2128838"/>
            <a:ext cx="1485900" cy="7144"/>
          </a:xfrm>
          <a:custGeom>
            <a:rect b="b" l="l" r="r" t="t"/>
            <a:pathLst>
              <a:path extrusionOk="0" h="9525" w="1981200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5" name="Google Shape;955;p36"/>
          <p:cNvSpPr txBox="1"/>
          <p:nvPr/>
        </p:nvSpPr>
        <p:spPr>
          <a:xfrm>
            <a:off x="532924" y="2258139"/>
            <a:ext cx="825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上升趋势确立：</a:t>
            </a:r>
            <a:endParaRPr sz="1100"/>
          </a:p>
        </p:txBody>
      </p:sp>
      <p:sp>
        <p:nvSpPr>
          <p:cNvPr id="956" name="Google Shape;956;p36"/>
          <p:cNvSpPr txBox="1"/>
          <p:nvPr/>
        </p:nvSpPr>
        <p:spPr>
          <a:xfrm>
            <a:off x="532924" y="2443877"/>
            <a:ext cx="738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50MA &gt; 150MA</a:t>
            </a:r>
            <a:endParaRPr sz="1100"/>
          </a:p>
        </p:txBody>
      </p:sp>
      <p:sp>
        <p:nvSpPr>
          <p:cNvPr id="957" name="Google Shape;957;p36"/>
          <p:cNvSpPr txBox="1"/>
          <p:nvPr/>
        </p:nvSpPr>
        <p:spPr>
          <a:xfrm>
            <a:off x="532924" y="2615327"/>
            <a:ext cx="80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150MA &gt; 200MA</a:t>
            </a:r>
            <a:endParaRPr sz="1100"/>
          </a:p>
        </p:txBody>
      </p:sp>
      <p:sp>
        <p:nvSpPr>
          <p:cNvPr id="958" name="Google Shape;958;p36"/>
          <p:cNvSpPr txBox="1"/>
          <p:nvPr/>
        </p:nvSpPr>
        <p:spPr>
          <a:xfrm>
            <a:off x="532924" y="2786777"/>
            <a:ext cx="940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价格在 50MA 上方</a:t>
            </a:r>
            <a:endParaRPr sz="1100"/>
          </a:p>
        </p:txBody>
      </p:sp>
      <p:sp>
        <p:nvSpPr>
          <p:cNvPr id="959" name="Google Shape;959;p36"/>
          <p:cNvSpPr/>
          <p:nvPr/>
        </p:nvSpPr>
        <p:spPr>
          <a:xfrm>
            <a:off x="542925" y="3000375"/>
            <a:ext cx="1485900" cy="7144"/>
          </a:xfrm>
          <a:custGeom>
            <a:rect b="b" l="l" r="r" t="t"/>
            <a:pathLst>
              <a:path extrusionOk="0" h="9525" w="1981200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60" name="Google Shape;960;p36"/>
          <p:cNvSpPr txBox="1"/>
          <p:nvPr/>
        </p:nvSpPr>
        <p:spPr>
          <a:xfrm>
            <a:off x="534353" y="3141821"/>
            <a:ext cx="879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Stage 1-4 完整条件</a:t>
            </a:r>
            <a:endParaRPr sz="1100"/>
          </a:p>
        </p:txBody>
      </p:sp>
      <p:sp>
        <p:nvSpPr>
          <p:cNvPr id="961" name="Google Shape;961;p36"/>
          <p:cNvSpPr txBox="1"/>
          <p:nvPr/>
        </p:nvSpPr>
        <p:spPr>
          <a:xfrm>
            <a:off x="533638" y="3307199"/>
            <a:ext cx="1449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→ 见前页趋势模板（8大条件）</a:t>
            </a:r>
            <a:endParaRPr sz="1100"/>
          </a:p>
        </p:txBody>
      </p:sp>
      <p:sp>
        <p:nvSpPr>
          <p:cNvPr id="962" name="Google Shape;962;p36"/>
          <p:cNvSpPr/>
          <p:nvPr/>
        </p:nvSpPr>
        <p:spPr>
          <a:xfrm>
            <a:off x="542925" y="4043363"/>
            <a:ext cx="1485900" cy="400200"/>
          </a:xfrm>
          <a:prstGeom prst="roundRect">
            <a:avLst>
              <a:gd fmla="val 14286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3" name="Google Shape;963;p36"/>
          <p:cNvSpPr txBox="1"/>
          <p:nvPr/>
        </p:nvSpPr>
        <p:spPr>
          <a:xfrm>
            <a:off x="1062990" y="4135874"/>
            <a:ext cx="445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关键指标</a:t>
            </a:r>
            <a:endParaRPr sz="1100"/>
          </a:p>
        </p:txBody>
      </p:sp>
      <p:sp>
        <p:nvSpPr>
          <p:cNvPr id="964" name="Google Shape;964;p36"/>
          <p:cNvSpPr txBox="1"/>
          <p:nvPr/>
        </p:nvSpPr>
        <p:spPr>
          <a:xfrm>
            <a:off x="913579" y="4272677"/>
            <a:ext cx="744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趋势方向确认</a:t>
            </a:r>
            <a:endParaRPr sz="1100"/>
          </a:p>
        </p:txBody>
      </p:sp>
      <p:sp>
        <p:nvSpPr>
          <p:cNvPr id="965" name="Google Shape;965;p36"/>
          <p:cNvSpPr/>
          <p:nvPr/>
        </p:nvSpPr>
        <p:spPr>
          <a:xfrm>
            <a:off x="2871788" y="1028700"/>
            <a:ext cx="485700" cy="485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6" name="Google Shape;966;p36"/>
          <p:cNvSpPr txBox="1"/>
          <p:nvPr/>
        </p:nvSpPr>
        <p:spPr>
          <a:xfrm>
            <a:off x="2994584" y="1195149"/>
            <a:ext cx="240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967" name="Google Shape;967;p36"/>
          <p:cNvSpPr/>
          <p:nvPr/>
        </p:nvSpPr>
        <p:spPr>
          <a:xfrm>
            <a:off x="3114675" y="1514475"/>
            <a:ext cx="7144" cy="185738"/>
          </a:xfrm>
          <a:custGeom>
            <a:rect b="b" l="l" r="r" t="t"/>
            <a:pathLst>
              <a:path extrusionOk="0" h="247650" w="9525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68" name="Google Shape;968;p36"/>
          <p:cNvSpPr/>
          <p:nvPr/>
        </p:nvSpPr>
        <p:spPr>
          <a:xfrm>
            <a:off x="2257425" y="1700213"/>
            <a:ext cx="1714500" cy="2857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9" name="Google Shape;969;p36"/>
          <p:cNvSpPr/>
          <p:nvPr/>
        </p:nvSpPr>
        <p:spPr>
          <a:xfrm>
            <a:off x="2257425" y="1700213"/>
            <a:ext cx="1714500" cy="357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0" name="Google Shape;970;p36"/>
          <p:cNvSpPr txBox="1"/>
          <p:nvPr/>
        </p:nvSpPr>
        <p:spPr>
          <a:xfrm>
            <a:off x="2812910" y="1925598"/>
            <a:ext cx="603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EPS 增速</a:t>
            </a:r>
            <a:endParaRPr sz="1100"/>
          </a:p>
        </p:txBody>
      </p:sp>
      <p:sp>
        <p:nvSpPr>
          <p:cNvPr id="971" name="Google Shape;971;p36"/>
          <p:cNvSpPr/>
          <p:nvPr/>
        </p:nvSpPr>
        <p:spPr>
          <a:xfrm>
            <a:off x="2371725" y="2128838"/>
            <a:ext cx="1485900" cy="7144"/>
          </a:xfrm>
          <a:custGeom>
            <a:rect b="b" l="l" r="r" t="t"/>
            <a:pathLst>
              <a:path extrusionOk="0" h="9525" w="1981200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2" name="Google Shape;972;p36"/>
          <p:cNvSpPr txBox="1"/>
          <p:nvPr/>
        </p:nvSpPr>
        <p:spPr>
          <a:xfrm>
            <a:off x="2361724" y="2258139"/>
            <a:ext cx="825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盈利加速增长：</a:t>
            </a:r>
            <a:endParaRPr sz="1100"/>
          </a:p>
        </p:txBody>
      </p:sp>
      <p:sp>
        <p:nvSpPr>
          <p:cNvPr id="973" name="Google Shape;973;p36"/>
          <p:cNvSpPr txBox="1"/>
          <p:nvPr/>
        </p:nvSpPr>
        <p:spPr>
          <a:xfrm>
            <a:off x="2361724" y="2443877"/>
            <a:ext cx="531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YoY ≥ 20%</a:t>
            </a:r>
            <a:endParaRPr sz="1100"/>
          </a:p>
        </p:txBody>
      </p:sp>
      <p:sp>
        <p:nvSpPr>
          <p:cNvPr id="974" name="Google Shape;974;p36"/>
          <p:cNvSpPr txBox="1"/>
          <p:nvPr/>
        </p:nvSpPr>
        <p:spPr>
          <a:xfrm>
            <a:off x="2361724" y="2615327"/>
            <a:ext cx="710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连续季度加速</a:t>
            </a:r>
            <a:endParaRPr sz="1100"/>
          </a:p>
        </p:txBody>
      </p:sp>
      <p:sp>
        <p:nvSpPr>
          <p:cNvPr id="975" name="Google Shape;975;p36"/>
          <p:cNvSpPr txBox="1"/>
          <p:nvPr/>
        </p:nvSpPr>
        <p:spPr>
          <a:xfrm>
            <a:off x="2361724" y="2786777"/>
            <a:ext cx="710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机构预期上调</a:t>
            </a:r>
            <a:endParaRPr sz="1100"/>
          </a:p>
        </p:txBody>
      </p:sp>
      <p:sp>
        <p:nvSpPr>
          <p:cNvPr id="976" name="Google Shape;976;p36"/>
          <p:cNvSpPr/>
          <p:nvPr/>
        </p:nvSpPr>
        <p:spPr>
          <a:xfrm>
            <a:off x="2371725" y="4043363"/>
            <a:ext cx="1485900" cy="400200"/>
          </a:xfrm>
          <a:prstGeom prst="roundRect">
            <a:avLst>
              <a:gd fmla="val 14286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7" name="Google Shape;977;p36"/>
          <p:cNvSpPr txBox="1"/>
          <p:nvPr/>
        </p:nvSpPr>
        <p:spPr>
          <a:xfrm>
            <a:off x="2891790" y="4135874"/>
            <a:ext cx="445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关键指标</a:t>
            </a:r>
            <a:endParaRPr sz="1100"/>
          </a:p>
        </p:txBody>
      </p:sp>
      <p:sp>
        <p:nvSpPr>
          <p:cNvPr id="978" name="Google Shape;978;p36"/>
          <p:cNvSpPr txBox="1"/>
          <p:nvPr/>
        </p:nvSpPr>
        <p:spPr>
          <a:xfrm>
            <a:off x="2802761" y="4272677"/>
            <a:ext cx="623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基本面动能</a:t>
            </a:r>
            <a:endParaRPr sz="1100"/>
          </a:p>
        </p:txBody>
      </p:sp>
      <p:sp>
        <p:nvSpPr>
          <p:cNvPr id="979" name="Google Shape;979;p36"/>
          <p:cNvSpPr/>
          <p:nvPr/>
        </p:nvSpPr>
        <p:spPr>
          <a:xfrm>
            <a:off x="4700588" y="1028700"/>
            <a:ext cx="485700" cy="485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0" name="Google Shape;980;p36"/>
          <p:cNvSpPr txBox="1"/>
          <p:nvPr/>
        </p:nvSpPr>
        <p:spPr>
          <a:xfrm>
            <a:off x="4823384" y="1195149"/>
            <a:ext cx="240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981" name="Google Shape;981;p36"/>
          <p:cNvSpPr/>
          <p:nvPr/>
        </p:nvSpPr>
        <p:spPr>
          <a:xfrm>
            <a:off x="4943475" y="1514475"/>
            <a:ext cx="7144" cy="185738"/>
          </a:xfrm>
          <a:custGeom>
            <a:rect b="b" l="l" r="r" t="t"/>
            <a:pathLst>
              <a:path extrusionOk="0" h="247650" w="9525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82" name="Google Shape;982;p36"/>
          <p:cNvSpPr/>
          <p:nvPr/>
        </p:nvSpPr>
        <p:spPr>
          <a:xfrm>
            <a:off x="4086225" y="1700213"/>
            <a:ext cx="1714500" cy="2857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3" name="Google Shape;983;p36"/>
          <p:cNvSpPr/>
          <p:nvPr/>
        </p:nvSpPr>
        <p:spPr>
          <a:xfrm>
            <a:off x="4086225" y="1700213"/>
            <a:ext cx="1714500" cy="357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4" name="Google Shape;984;p36"/>
          <p:cNvSpPr txBox="1"/>
          <p:nvPr/>
        </p:nvSpPr>
        <p:spPr>
          <a:xfrm>
            <a:off x="4638044" y="1925598"/>
            <a:ext cx="610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趋势模板</a:t>
            </a:r>
            <a:endParaRPr sz="1100"/>
          </a:p>
        </p:txBody>
      </p:sp>
      <p:sp>
        <p:nvSpPr>
          <p:cNvPr id="985" name="Google Shape;985;p36"/>
          <p:cNvSpPr/>
          <p:nvPr/>
        </p:nvSpPr>
        <p:spPr>
          <a:xfrm>
            <a:off x="4200525" y="2128838"/>
            <a:ext cx="1485900" cy="7144"/>
          </a:xfrm>
          <a:custGeom>
            <a:rect b="b" l="l" r="r" t="t"/>
            <a:pathLst>
              <a:path extrusionOk="0" h="9525" w="1981200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6" name="Google Shape;986;p36"/>
          <p:cNvSpPr txBox="1"/>
          <p:nvPr/>
        </p:nvSpPr>
        <p:spPr>
          <a:xfrm>
            <a:off x="4190524" y="2258139"/>
            <a:ext cx="807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8 项清单打分：</a:t>
            </a:r>
            <a:endParaRPr sz="1100"/>
          </a:p>
        </p:txBody>
      </p:sp>
      <p:sp>
        <p:nvSpPr>
          <p:cNvPr id="987" name="Google Shape;987;p36"/>
          <p:cNvSpPr txBox="1"/>
          <p:nvPr/>
        </p:nvSpPr>
        <p:spPr>
          <a:xfrm>
            <a:off x="4190524" y="2443877"/>
            <a:ext cx="790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≥ 5 项通过入场</a:t>
            </a:r>
            <a:endParaRPr sz="1100"/>
          </a:p>
        </p:txBody>
      </p:sp>
      <p:sp>
        <p:nvSpPr>
          <p:cNvPr id="988" name="Google Shape;988;p36"/>
          <p:cNvSpPr txBox="1"/>
          <p:nvPr/>
        </p:nvSpPr>
        <p:spPr>
          <a:xfrm>
            <a:off x="4190524" y="2615327"/>
            <a:ext cx="790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≥ 7 项强烈信号</a:t>
            </a:r>
            <a:endParaRPr sz="1100"/>
          </a:p>
        </p:txBody>
      </p:sp>
      <p:sp>
        <p:nvSpPr>
          <p:cNvPr id="989" name="Google Shape;989;p36"/>
          <p:cNvSpPr txBox="1"/>
          <p:nvPr/>
        </p:nvSpPr>
        <p:spPr>
          <a:xfrm>
            <a:off x="4190524" y="2786777"/>
            <a:ext cx="790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&lt; 5 项继续等待</a:t>
            </a:r>
            <a:endParaRPr sz="1100"/>
          </a:p>
        </p:txBody>
      </p:sp>
      <p:sp>
        <p:nvSpPr>
          <p:cNvPr id="990" name="Google Shape;990;p36"/>
          <p:cNvSpPr/>
          <p:nvPr/>
        </p:nvSpPr>
        <p:spPr>
          <a:xfrm>
            <a:off x="4200525" y="4043363"/>
            <a:ext cx="1485900" cy="400200"/>
          </a:xfrm>
          <a:prstGeom prst="roundRect">
            <a:avLst>
              <a:gd fmla="val 14286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1" name="Google Shape;991;p36"/>
          <p:cNvSpPr txBox="1"/>
          <p:nvPr/>
        </p:nvSpPr>
        <p:spPr>
          <a:xfrm>
            <a:off x="4720590" y="4135874"/>
            <a:ext cx="445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关键指标</a:t>
            </a:r>
            <a:endParaRPr sz="1100"/>
          </a:p>
        </p:txBody>
      </p:sp>
      <p:sp>
        <p:nvSpPr>
          <p:cNvPr id="992" name="Google Shape;992;p36"/>
          <p:cNvSpPr txBox="1"/>
          <p:nvPr/>
        </p:nvSpPr>
        <p:spPr>
          <a:xfrm>
            <a:off x="4631561" y="4272677"/>
            <a:ext cx="623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综合健康度</a:t>
            </a:r>
            <a:endParaRPr sz="1100"/>
          </a:p>
        </p:txBody>
      </p:sp>
      <p:sp>
        <p:nvSpPr>
          <p:cNvPr id="993" name="Google Shape;993;p36"/>
          <p:cNvSpPr/>
          <p:nvPr/>
        </p:nvSpPr>
        <p:spPr>
          <a:xfrm>
            <a:off x="6529388" y="1028700"/>
            <a:ext cx="485700" cy="485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4" name="Google Shape;994;p36"/>
          <p:cNvSpPr txBox="1"/>
          <p:nvPr/>
        </p:nvSpPr>
        <p:spPr>
          <a:xfrm>
            <a:off x="6652184" y="1195149"/>
            <a:ext cx="240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995" name="Google Shape;995;p36"/>
          <p:cNvSpPr/>
          <p:nvPr/>
        </p:nvSpPr>
        <p:spPr>
          <a:xfrm>
            <a:off x="6772275" y="1514475"/>
            <a:ext cx="7144" cy="185738"/>
          </a:xfrm>
          <a:custGeom>
            <a:rect b="b" l="l" r="r" t="t"/>
            <a:pathLst>
              <a:path extrusionOk="0" h="247650" w="9525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996" name="Google Shape;996;p36"/>
          <p:cNvSpPr/>
          <p:nvPr/>
        </p:nvSpPr>
        <p:spPr>
          <a:xfrm>
            <a:off x="5915025" y="1700213"/>
            <a:ext cx="1714500" cy="28575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7" name="Google Shape;997;p36"/>
          <p:cNvSpPr/>
          <p:nvPr/>
        </p:nvSpPr>
        <p:spPr>
          <a:xfrm>
            <a:off x="5915025" y="1700213"/>
            <a:ext cx="1714500" cy="357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8" name="Google Shape;998;p36"/>
          <p:cNvSpPr txBox="1"/>
          <p:nvPr/>
        </p:nvSpPr>
        <p:spPr>
          <a:xfrm>
            <a:off x="6393522" y="1925598"/>
            <a:ext cx="757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轴心点识别</a:t>
            </a:r>
            <a:endParaRPr sz="1100"/>
          </a:p>
        </p:txBody>
      </p:sp>
      <p:sp>
        <p:nvSpPr>
          <p:cNvPr id="999" name="Google Shape;999;p36"/>
          <p:cNvSpPr/>
          <p:nvPr/>
        </p:nvSpPr>
        <p:spPr>
          <a:xfrm>
            <a:off x="6029325" y="2128838"/>
            <a:ext cx="1485900" cy="7144"/>
          </a:xfrm>
          <a:custGeom>
            <a:rect b="b" l="l" r="r" t="t"/>
            <a:pathLst>
              <a:path extrusionOk="0" h="9525" w="1981200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0" name="Google Shape;1000;p36"/>
          <p:cNvSpPr txBox="1"/>
          <p:nvPr/>
        </p:nvSpPr>
        <p:spPr>
          <a:xfrm>
            <a:off x="6019324" y="2258139"/>
            <a:ext cx="59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形态选择：</a:t>
            </a:r>
            <a:endParaRPr sz="1100"/>
          </a:p>
        </p:txBody>
      </p:sp>
      <p:sp>
        <p:nvSpPr>
          <p:cNvPr id="1001" name="Google Shape;1001;p36"/>
          <p:cNvSpPr txBox="1"/>
          <p:nvPr/>
        </p:nvSpPr>
        <p:spPr>
          <a:xfrm>
            <a:off x="6019324" y="2443877"/>
            <a:ext cx="704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VCP 缩量整理</a:t>
            </a:r>
            <a:endParaRPr sz="1100"/>
          </a:p>
        </p:txBody>
      </p:sp>
      <p:sp>
        <p:nvSpPr>
          <p:cNvPr id="1002" name="Google Shape;1002;p36"/>
          <p:cNvSpPr txBox="1"/>
          <p:nvPr/>
        </p:nvSpPr>
        <p:spPr>
          <a:xfrm>
            <a:off x="6019324" y="2615327"/>
            <a:ext cx="59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杯柄突破点</a:t>
            </a:r>
            <a:endParaRPr sz="1100"/>
          </a:p>
        </p:txBody>
      </p:sp>
      <p:sp>
        <p:nvSpPr>
          <p:cNvPr id="1003" name="Google Shape;1003;p36"/>
          <p:cNvSpPr txBox="1"/>
          <p:nvPr/>
        </p:nvSpPr>
        <p:spPr>
          <a:xfrm>
            <a:off x="6019324" y="2786777"/>
            <a:ext cx="825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平台整理后突破</a:t>
            </a:r>
            <a:endParaRPr sz="1100"/>
          </a:p>
        </p:txBody>
      </p:sp>
      <p:sp>
        <p:nvSpPr>
          <p:cNvPr id="1004" name="Google Shape;1004;p36"/>
          <p:cNvSpPr/>
          <p:nvPr/>
        </p:nvSpPr>
        <p:spPr>
          <a:xfrm>
            <a:off x="6029325" y="4043363"/>
            <a:ext cx="1485900" cy="400200"/>
          </a:xfrm>
          <a:prstGeom prst="roundRect">
            <a:avLst>
              <a:gd fmla="val 14286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5" name="Google Shape;1005;p36"/>
          <p:cNvSpPr txBox="1"/>
          <p:nvPr/>
        </p:nvSpPr>
        <p:spPr>
          <a:xfrm>
            <a:off x="6549390" y="4135874"/>
            <a:ext cx="445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关键指标</a:t>
            </a:r>
            <a:endParaRPr sz="1100"/>
          </a:p>
        </p:txBody>
      </p:sp>
      <p:sp>
        <p:nvSpPr>
          <p:cNvPr id="1006" name="Google Shape;1006;p36"/>
          <p:cNvSpPr txBox="1"/>
          <p:nvPr/>
        </p:nvSpPr>
        <p:spPr>
          <a:xfrm>
            <a:off x="6460361" y="4272677"/>
            <a:ext cx="623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精确入场点</a:t>
            </a:r>
            <a:endParaRPr sz="1100"/>
          </a:p>
        </p:txBody>
      </p:sp>
      <p:sp>
        <p:nvSpPr>
          <p:cNvPr id="1007" name="Google Shape;1007;p36"/>
          <p:cNvSpPr/>
          <p:nvPr/>
        </p:nvSpPr>
        <p:spPr>
          <a:xfrm>
            <a:off x="8043863" y="1028700"/>
            <a:ext cx="485700" cy="4857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8" name="Google Shape;1008;p36"/>
          <p:cNvSpPr txBox="1"/>
          <p:nvPr/>
        </p:nvSpPr>
        <p:spPr>
          <a:xfrm>
            <a:off x="8166659" y="1195149"/>
            <a:ext cx="240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1100"/>
          </a:p>
        </p:txBody>
      </p:sp>
      <p:sp>
        <p:nvSpPr>
          <p:cNvPr id="1009" name="Google Shape;1009;p36"/>
          <p:cNvSpPr/>
          <p:nvPr/>
        </p:nvSpPr>
        <p:spPr>
          <a:xfrm>
            <a:off x="8286750" y="1514475"/>
            <a:ext cx="7144" cy="185738"/>
          </a:xfrm>
          <a:custGeom>
            <a:rect b="b" l="l" r="r" t="t"/>
            <a:pathLst>
              <a:path extrusionOk="0" h="247650" w="9525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cap="flat" cmpd="sng" w="19050">
            <a:solidFill>
              <a:srgbClr val="C96133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010" name="Google Shape;1010;p36"/>
          <p:cNvSpPr/>
          <p:nvPr/>
        </p:nvSpPr>
        <p:spPr>
          <a:xfrm>
            <a:off x="7458075" y="1700213"/>
            <a:ext cx="1428900" cy="2857500"/>
          </a:xfrm>
          <a:prstGeom prst="roundRect">
            <a:avLst>
              <a:gd fmla="val 6000" name="adj"/>
            </a:avLst>
          </a:prstGeom>
          <a:solidFill>
            <a:srgbClr val="FFF8F5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1" name="Google Shape;1011;p36"/>
          <p:cNvSpPr/>
          <p:nvPr/>
        </p:nvSpPr>
        <p:spPr>
          <a:xfrm>
            <a:off x="7458075" y="1700213"/>
            <a:ext cx="1428900" cy="357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2" name="Google Shape;1012;p36"/>
          <p:cNvSpPr txBox="1"/>
          <p:nvPr/>
        </p:nvSpPr>
        <p:spPr>
          <a:xfrm>
            <a:off x="7867019" y="1925598"/>
            <a:ext cx="610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突破确认</a:t>
            </a:r>
            <a:endParaRPr sz="1100"/>
          </a:p>
        </p:txBody>
      </p:sp>
      <p:sp>
        <p:nvSpPr>
          <p:cNvPr id="1013" name="Google Shape;1013;p36"/>
          <p:cNvSpPr/>
          <p:nvPr/>
        </p:nvSpPr>
        <p:spPr>
          <a:xfrm>
            <a:off x="7572375" y="2128838"/>
            <a:ext cx="1200150" cy="7144"/>
          </a:xfrm>
          <a:custGeom>
            <a:rect b="b" l="l" r="r" t="t"/>
            <a:pathLst>
              <a:path extrusionOk="0" h="9525" w="1600200">
                <a:moveTo>
                  <a:pt x="0" y="0"/>
                </a:moveTo>
                <a:lnTo>
                  <a:pt x="1600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4" name="Google Shape;1014;p36"/>
          <p:cNvSpPr txBox="1"/>
          <p:nvPr/>
        </p:nvSpPr>
        <p:spPr>
          <a:xfrm>
            <a:off x="7562374" y="2258139"/>
            <a:ext cx="595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入场触发：</a:t>
            </a:r>
            <a:endParaRPr sz="1100"/>
          </a:p>
        </p:txBody>
      </p:sp>
      <p:sp>
        <p:nvSpPr>
          <p:cNvPr id="1015" name="Google Shape;1015;p36"/>
          <p:cNvSpPr txBox="1"/>
          <p:nvPr/>
        </p:nvSpPr>
        <p:spPr>
          <a:xfrm>
            <a:off x="7562374" y="2443877"/>
            <a:ext cx="756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量 ≥ 1.5× 均量</a:t>
            </a:r>
            <a:endParaRPr sz="1100"/>
          </a:p>
        </p:txBody>
      </p:sp>
      <p:sp>
        <p:nvSpPr>
          <p:cNvPr id="1016" name="Google Shape;1016;p36"/>
          <p:cNvSpPr txBox="1"/>
          <p:nvPr/>
        </p:nvSpPr>
        <p:spPr>
          <a:xfrm>
            <a:off x="7562374" y="2615327"/>
            <a:ext cx="882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轴心点上方 0-3%</a:t>
            </a:r>
            <a:endParaRPr sz="1100"/>
          </a:p>
        </p:txBody>
      </p:sp>
      <p:sp>
        <p:nvSpPr>
          <p:cNvPr id="1017" name="Google Shape;1017;p36"/>
          <p:cNvSpPr txBox="1"/>
          <p:nvPr/>
        </p:nvSpPr>
        <p:spPr>
          <a:xfrm>
            <a:off x="7562374" y="2786777"/>
            <a:ext cx="527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R/R ≥ 2:1</a:t>
            </a:r>
            <a:endParaRPr sz="1100"/>
          </a:p>
        </p:txBody>
      </p:sp>
      <p:sp>
        <p:nvSpPr>
          <p:cNvPr id="1018" name="Google Shape;1018;p36"/>
          <p:cNvSpPr/>
          <p:nvPr/>
        </p:nvSpPr>
        <p:spPr>
          <a:xfrm>
            <a:off x="7572375" y="4043363"/>
            <a:ext cx="1200300" cy="400200"/>
          </a:xfrm>
          <a:prstGeom prst="roundRect">
            <a:avLst>
              <a:gd fmla="val 14286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9" name="Google Shape;1019;p36"/>
          <p:cNvSpPr txBox="1"/>
          <p:nvPr/>
        </p:nvSpPr>
        <p:spPr>
          <a:xfrm>
            <a:off x="8056364" y="4135874"/>
            <a:ext cx="232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触发</a:t>
            </a:r>
            <a:endParaRPr sz="1100"/>
          </a:p>
        </p:txBody>
      </p:sp>
      <p:sp>
        <p:nvSpPr>
          <p:cNvPr id="1020" name="Google Shape;1020;p36"/>
          <p:cNvSpPr txBox="1"/>
          <p:nvPr/>
        </p:nvSpPr>
        <p:spPr>
          <a:xfrm>
            <a:off x="7920919" y="4272677"/>
            <a:ext cx="503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买入执行</a:t>
            </a:r>
            <a:endParaRPr sz="1100"/>
          </a:p>
        </p:txBody>
      </p:sp>
      <p:sp>
        <p:nvSpPr>
          <p:cNvPr id="1021" name="Google Shape;1021;p36"/>
          <p:cNvSpPr txBox="1"/>
          <p:nvPr/>
        </p:nvSpPr>
        <p:spPr>
          <a:xfrm>
            <a:off x="8491704" y="4915614"/>
            <a:ext cx="37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12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5" name="Shape 10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Google Shape;1026;p3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7" name="Google Shape;1027;p37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8" name="Google Shape;1028;p37"/>
          <p:cNvSpPr/>
          <p:nvPr/>
        </p:nvSpPr>
        <p:spPr>
          <a:xfrm>
            <a:off x="428625" y="185738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37"/>
          <p:cNvSpPr txBox="1"/>
          <p:nvPr/>
        </p:nvSpPr>
        <p:spPr>
          <a:xfrm>
            <a:off x="562928" y="205740"/>
            <a:ext cx="357896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Moneyball — 期望值定价框架</a:t>
            </a:r>
            <a:endParaRPr sz="1100"/>
          </a:p>
        </p:txBody>
      </p:sp>
      <p:sp>
        <p:nvSpPr>
          <p:cNvPr id="1030" name="Google Shape;1030;p37"/>
          <p:cNvSpPr txBox="1"/>
          <p:nvPr/>
        </p:nvSpPr>
        <p:spPr>
          <a:xfrm>
            <a:off x="575071" y="494705"/>
            <a:ext cx="273864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三情景加权 EV · 非对称比评估 · 安全边际 15-25%</a:t>
            </a:r>
            <a:endParaRPr sz="1100"/>
          </a:p>
        </p:txBody>
      </p:sp>
      <p:sp>
        <p:nvSpPr>
          <p:cNvPr id="1031" name="Google Shape;1031;p37"/>
          <p:cNvSpPr/>
          <p:nvPr/>
        </p:nvSpPr>
        <p:spPr>
          <a:xfrm>
            <a:off x="428625" y="714375"/>
            <a:ext cx="4214813" cy="857250"/>
          </a:xfrm>
          <a:prstGeom prst="roundRect">
            <a:avLst>
              <a:gd fmla="val 6667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37"/>
          <p:cNvSpPr txBox="1"/>
          <p:nvPr/>
        </p:nvSpPr>
        <p:spPr>
          <a:xfrm>
            <a:off x="562927" y="812959"/>
            <a:ext cx="43119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核心公式</a:t>
            </a:r>
            <a:endParaRPr sz="1100"/>
          </a:p>
        </p:txBody>
      </p:sp>
      <p:sp>
        <p:nvSpPr>
          <p:cNvPr id="1033" name="Google Shape;1033;p37"/>
          <p:cNvSpPr txBox="1"/>
          <p:nvPr/>
        </p:nvSpPr>
        <p:spPr>
          <a:xfrm>
            <a:off x="562214" y="992624"/>
            <a:ext cx="283887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EV = (Bull × Bull%) + (Base × Base%) + (Bear × Bear%)</a:t>
            </a:r>
            <a:endParaRPr sz="1100"/>
          </a:p>
        </p:txBody>
      </p:sp>
      <p:sp>
        <p:nvSpPr>
          <p:cNvPr id="1034" name="Google Shape;1034;p37"/>
          <p:cNvSpPr txBox="1"/>
          <p:nvPr/>
        </p:nvSpPr>
        <p:spPr>
          <a:xfrm>
            <a:off x="562928" y="1170146"/>
            <a:ext cx="2979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Expected Return = (EV − Current Price) / Current Price × 100%</a:t>
            </a:r>
            <a:endParaRPr sz="1100"/>
          </a:p>
        </p:txBody>
      </p:sp>
      <p:sp>
        <p:nvSpPr>
          <p:cNvPr id="1035" name="Google Shape;1035;p37"/>
          <p:cNvSpPr txBox="1"/>
          <p:nvPr/>
        </p:nvSpPr>
        <p:spPr>
          <a:xfrm>
            <a:off x="562927" y="1327309"/>
            <a:ext cx="232893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Asymmetry Ratio = Bull Upside% / Bear Downside%</a:t>
            </a:r>
            <a:endParaRPr sz="1100"/>
          </a:p>
        </p:txBody>
      </p:sp>
      <p:sp>
        <p:nvSpPr>
          <p:cNvPr id="1036" name="Google Shape;1036;p37"/>
          <p:cNvSpPr/>
          <p:nvPr/>
        </p:nvSpPr>
        <p:spPr>
          <a:xfrm>
            <a:off x="428625" y="1671638"/>
            <a:ext cx="1285875" cy="685800"/>
          </a:xfrm>
          <a:prstGeom prst="roundRect">
            <a:avLst>
              <a:gd fmla="val 8333" name="adj"/>
            </a:avLst>
          </a:prstGeom>
          <a:solidFill>
            <a:srgbClr val="FFFFFF"/>
          </a:solidFill>
          <a:ln cap="flat" cmpd="sng" w="142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7" name="Google Shape;1037;p37"/>
          <p:cNvSpPr/>
          <p:nvPr/>
        </p:nvSpPr>
        <p:spPr>
          <a:xfrm>
            <a:off x="428625" y="1671638"/>
            <a:ext cx="1285875" cy="428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8" name="Google Shape;1038;p37"/>
          <p:cNvSpPr txBox="1"/>
          <p:nvPr/>
        </p:nvSpPr>
        <p:spPr>
          <a:xfrm>
            <a:off x="826783" y="1778437"/>
            <a:ext cx="48955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Bull Case</a:t>
            </a:r>
            <a:endParaRPr sz="1100"/>
          </a:p>
        </p:txBody>
      </p:sp>
      <p:sp>
        <p:nvSpPr>
          <p:cNvPr id="1039" name="Google Shape;1039;p37"/>
          <p:cNvSpPr txBox="1"/>
          <p:nvPr/>
        </p:nvSpPr>
        <p:spPr>
          <a:xfrm>
            <a:off x="581680" y="1978462"/>
            <a:ext cx="97976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估算概率（依案例）</a:t>
            </a:r>
            <a:endParaRPr sz="1100"/>
          </a:p>
        </p:txBody>
      </p:sp>
      <p:sp>
        <p:nvSpPr>
          <p:cNvPr id="1040" name="Google Shape;1040;p37"/>
          <p:cNvSpPr txBox="1"/>
          <p:nvPr/>
        </p:nvSpPr>
        <p:spPr>
          <a:xfrm>
            <a:off x="607344" y="2147768"/>
            <a:ext cx="92843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增速+利润率+估值扩张</a:t>
            </a:r>
            <a:endParaRPr sz="1100"/>
          </a:p>
        </p:txBody>
      </p:sp>
      <p:sp>
        <p:nvSpPr>
          <p:cNvPr id="1041" name="Google Shape;1041;p37"/>
          <p:cNvSpPr txBox="1"/>
          <p:nvPr/>
        </p:nvSpPr>
        <p:spPr>
          <a:xfrm>
            <a:off x="900113" y="2253854"/>
            <a:ext cx="3429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一切顺利</a:t>
            </a:r>
            <a:endParaRPr sz="1100"/>
          </a:p>
        </p:txBody>
      </p:sp>
      <p:sp>
        <p:nvSpPr>
          <p:cNvPr id="1042" name="Google Shape;1042;p37"/>
          <p:cNvSpPr/>
          <p:nvPr/>
        </p:nvSpPr>
        <p:spPr>
          <a:xfrm>
            <a:off x="1821656" y="1671638"/>
            <a:ext cx="1357313" cy="685800"/>
          </a:xfrm>
          <a:prstGeom prst="roundRect">
            <a:avLst>
              <a:gd fmla="val 8333" name="adj"/>
            </a:avLst>
          </a:prstGeom>
          <a:solidFill>
            <a:srgbClr val="FFFFFF"/>
          </a:solidFill>
          <a:ln cap="flat" cmpd="sng" w="1427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3" name="Google Shape;1043;p37"/>
          <p:cNvSpPr/>
          <p:nvPr/>
        </p:nvSpPr>
        <p:spPr>
          <a:xfrm>
            <a:off x="1821656" y="1671638"/>
            <a:ext cx="1357313" cy="428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4" name="Google Shape;1044;p37"/>
          <p:cNvSpPr txBox="1"/>
          <p:nvPr/>
        </p:nvSpPr>
        <p:spPr>
          <a:xfrm>
            <a:off x="2227499" y="1778437"/>
            <a:ext cx="54562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Base Case</a:t>
            </a:r>
            <a:endParaRPr sz="1100"/>
          </a:p>
        </p:txBody>
      </p:sp>
      <p:sp>
        <p:nvSpPr>
          <p:cNvPr id="1045" name="Google Shape;1045;p37"/>
          <p:cNvSpPr txBox="1"/>
          <p:nvPr/>
        </p:nvSpPr>
        <p:spPr>
          <a:xfrm>
            <a:off x="2010430" y="1978462"/>
            <a:ext cx="97976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估算概率（依案例）</a:t>
            </a:r>
            <a:endParaRPr sz="1100"/>
          </a:p>
        </p:txBody>
      </p:sp>
      <p:sp>
        <p:nvSpPr>
          <p:cNvPr id="1046" name="Google Shape;1046;p37"/>
          <p:cNvSpPr txBox="1"/>
          <p:nvPr/>
        </p:nvSpPr>
        <p:spPr>
          <a:xfrm>
            <a:off x="2221349" y="2147768"/>
            <a:ext cx="55792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延续当前轨迹</a:t>
            </a:r>
            <a:endParaRPr sz="1100"/>
          </a:p>
        </p:txBody>
      </p:sp>
      <p:sp>
        <p:nvSpPr>
          <p:cNvPr id="1047" name="Google Shape;1047;p37"/>
          <p:cNvSpPr txBox="1"/>
          <p:nvPr/>
        </p:nvSpPr>
        <p:spPr>
          <a:xfrm>
            <a:off x="2082404" y="2253854"/>
            <a:ext cx="835819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一致预期或小幅超预期</a:t>
            </a:r>
            <a:endParaRPr sz="1100"/>
          </a:p>
        </p:txBody>
      </p:sp>
      <p:sp>
        <p:nvSpPr>
          <p:cNvPr id="1048" name="Google Shape;1048;p37"/>
          <p:cNvSpPr/>
          <p:nvPr/>
        </p:nvSpPr>
        <p:spPr>
          <a:xfrm>
            <a:off x="3286125" y="1671638"/>
            <a:ext cx="1357313" cy="685800"/>
          </a:xfrm>
          <a:prstGeom prst="roundRect">
            <a:avLst>
              <a:gd fmla="val 8333" name="adj"/>
            </a:avLst>
          </a:prstGeom>
          <a:solidFill>
            <a:srgbClr val="FFFFFF"/>
          </a:solidFill>
          <a:ln cap="flat" cmpd="sng" w="1427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9" name="Google Shape;1049;p37"/>
          <p:cNvSpPr/>
          <p:nvPr/>
        </p:nvSpPr>
        <p:spPr>
          <a:xfrm>
            <a:off x="3286125" y="1671638"/>
            <a:ext cx="1357313" cy="42863"/>
          </a:xfrm>
          <a:prstGeom prst="roundRect">
            <a:avLst>
              <a:gd fmla="val 50000" name="adj"/>
            </a:avLst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0" name="Google Shape;1050;p37"/>
          <p:cNvSpPr txBox="1"/>
          <p:nvPr/>
        </p:nvSpPr>
        <p:spPr>
          <a:xfrm>
            <a:off x="3691968" y="1778437"/>
            <a:ext cx="54562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Bear Case</a:t>
            </a:r>
            <a:endParaRPr sz="1100"/>
          </a:p>
        </p:txBody>
      </p:sp>
      <p:sp>
        <p:nvSpPr>
          <p:cNvPr id="1051" name="Google Shape;1051;p37"/>
          <p:cNvSpPr txBox="1"/>
          <p:nvPr/>
        </p:nvSpPr>
        <p:spPr>
          <a:xfrm>
            <a:off x="3474899" y="1978462"/>
            <a:ext cx="97976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估算概率（依案例）</a:t>
            </a:r>
            <a:endParaRPr sz="1100"/>
          </a:p>
        </p:txBody>
      </p:sp>
      <p:sp>
        <p:nvSpPr>
          <p:cNvPr id="1052" name="Google Shape;1052;p37"/>
          <p:cNvSpPr txBox="1"/>
          <p:nvPr/>
        </p:nvSpPr>
        <p:spPr>
          <a:xfrm>
            <a:off x="3685818" y="2147768"/>
            <a:ext cx="55792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论点失效底线</a:t>
            </a:r>
            <a:endParaRPr sz="1100"/>
          </a:p>
        </p:txBody>
      </p:sp>
      <p:sp>
        <p:nvSpPr>
          <p:cNvPr id="1053" name="Google Shape;1053;p37"/>
          <p:cNvSpPr txBox="1"/>
          <p:nvPr/>
        </p:nvSpPr>
        <p:spPr>
          <a:xfrm>
            <a:off x="3587948" y="2253854"/>
            <a:ext cx="753665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须命名具体失效机制</a:t>
            </a:r>
            <a:endParaRPr sz="1100"/>
          </a:p>
        </p:txBody>
      </p:sp>
      <p:sp>
        <p:nvSpPr>
          <p:cNvPr id="1054" name="Google Shape;1054;p37"/>
          <p:cNvSpPr/>
          <p:nvPr/>
        </p:nvSpPr>
        <p:spPr>
          <a:xfrm>
            <a:off x="428625" y="2457450"/>
            <a:ext cx="4214813" cy="1143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5" name="Google Shape;1055;p37"/>
          <p:cNvSpPr/>
          <p:nvPr/>
        </p:nvSpPr>
        <p:spPr>
          <a:xfrm>
            <a:off x="428625" y="2457450"/>
            <a:ext cx="4214813" cy="242888"/>
          </a:xfrm>
          <a:prstGeom prst="roundRect">
            <a:avLst>
              <a:gd fmla="val 17647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6" name="Google Shape;1056;p37"/>
          <p:cNvSpPr/>
          <p:nvPr/>
        </p:nvSpPr>
        <p:spPr>
          <a:xfrm>
            <a:off x="428625" y="2586038"/>
            <a:ext cx="4214813" cy="114300"/>
          </a:xfrm>
          <a:prstGeom prst="rect">
            <a:avLst/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37"/>
          <p:cNvSpPr txBox="1"/>
          <p:nvPr/>
        </p:nvSpPr>
        <p:spPr>
          <a:xfrm>
            <a:off x="562214" y="2549962"/>
            <a:ext cx="172869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案例: BKNG @ $3,800 (Mar 2026)</a:t>
            </a:r>
            <a:endParaRPr sz="1100"/>
          </a:p>
        </p:txBody>
      </p:sp>
      <p:sp>
        <p:nvSpPr>
          <p:cNvPr id="1058" name="Google Shape;1058;p37"/>
          <p:cNvSpPr/>
          <p:nvPr/>
        </p:nvSpPr>
        <p:spPr>
          <a:xfrm>
            <a:off x="428625" y="2700338"/>
            <a:ext cx="4214813" cy="7144"/>
          </a:xfrm>
          <a:custGeom>
            <a:rect b="b" l="l" r="r" t="t"/>
            <a:pathLst>
              <a:path extrusionOk="0" h="9525" w="5619750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9" name="Google Shape;1059;p37"/>
          <p:cNvSpPr txBox="1"/>
          <p:nvPr/>
        </p:nvSpPr>
        <p:spPr>
          <a:xfrm>
            <a:off x="562928" y="2784634"/>
            <a:ext cx="19311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Bull</a:t>
            </a:r>
            <a:endParaRPr sz="1100"/>
          </a:p>
        </p:txBody>
      </p:sp>
      <p:sp>
        <p:nvSpPr>
          <p:cNvPr id="1060" name="Google Shape;1060;p37"/>
          <p:cNvSpPr txBox="1"/>
          <p:nvPr/>
        </p:nvSpPr>
        <p:spPr>
          <a:xfrm>
            <a:off x="962978" y="2784634"/>
            <a:ext cx="103255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$6,200 × 30% = $1,860</a:t>
            </a:r>
            <a:endParaRPr sz="1100"/>
          </a:p>
        </p:txBody>
      </p:sp>
      <p:sp>
        <p:nvSpPr>
          <p:cNvPr id="1061" name="Google Shape;1061;p37"/>
          <p:cNvSpPr/>
          <p:nvPr/>
        </p:nvSpPr>
        <p:spPr>
          <a:xfrm>
            <a:off x="428625" y="2943225"/>
            <a:ext cx="4214813" cy="7144"/>
          </a:xfrm>
          <a:custGeom>
            <a:rect b="b" l="l" r="r" t="t"/>
            <a:pathLst>
              <a:path extrusionOk="0" h="9525" w="5619750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2" name="Google Shape;1062;p37"/>
          <p:cNvSpPr txBox="1"/>
          <p:nvPr/>
        </p:nvSpPr>
        <p:spPr>
          <a:xfrm>
            <a:off x="562928" y="3027521"/>
            <a:ext cx="24487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  <a:endParaRPr sz="1100"/>
          </a:p>
        </p:txBody>
      </p:sp>
      <p:sp>
        <p:nvSpPr>
          <p:cNvPr id="1063" name="Google Shape;1063;p37"/>
          <p:cNvSpPr txBox="1"/>
          <p:nvPr/>
        </p:nvSpPr>
        <p:spPr>
          <a:xfrm>
            <a:off x="962978" y="3027521"/>
            <a:ext cx="105720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$5,000 × 50% = $2,500</a:t>
            </a:r>
            <a:endParaRPr sz="1100"/>
          </a:p>
        </p:txBody>
      </p:sp>
      <p:sp>
        <p:nvSpPr>
          <p:cNvPr id="1064" name="Google Shape;1064;p37"/>
          <p:cNvSpPr/>
          <p:nvPr/>
        </p:nvSpPr>
        <p:spPr>
          <a:xfrm>
            <a:off x="428625" y="3186113"/>
            <a:ext cx="4214813" cy="7144"/>
          </a:xfrm>
          <a:custGeom>
            <a:rect b="b" l="l" r="r" t="t"/>
            <a:pathLst>
              <a:path extrusionOk="0" h="9525" w="5619750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5" name="Google Shape;1065;p37"/>
          <p:cNvSpPr txBox="1"/>
          <p:nvPr/>
        </p:nvSpPr>
        <p:spPr>
          <a:xfrm>
            <a:off x="562928" y="3270409"/>
            <a:ext cx="24487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Bear</a:t>
            </a:r>
            <a:endParaRPr sz="1100"/>
          </a:p>
        </p:txBody>
      </p:sp>
      <p:sp>
        <p:nvSpPr>
          <p:cNvPr id="1066" name="Google Shape;1066;p37"/>
          <p:cNvSpPr txBox="1"/>
          <p:nvPr/>
        </p:nvSpPr>
        <p:spPr>
          <a:xfrm>
            <a:off x="962978" y="3270409"/>
            <a:ext cx="94876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$3,200 × 20% = $640</a:t>
            </a:r>
            <a:endParaRPr sz="1100"/>
          </a:p>
        </p:txBody>
      </p:sp>
      <p:sp>
        <p:nvSpPr>
          <p:cNvPr id="1067" name="Google Shape;1067;p37"/>
          <p:cNvSpPr/>
          <p:nvPr/>
        </p:nvSpPr>
        <p:spPr>
          <a:xfrm>
            <a:off x="428625" y="3429000"/>
            <a:ext cx="4214813" cy="7144"/>
          </a:xfrm>
          <a:custGeom>
            <a:rect b="b" l="l" r="r" t="t"/>
            <a:pathLst>
              <a:path extrusionOk="0" h="9525" w="5619750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8" name="Google Shape;1068;p37"/>
          <p:cNvSpPr txBox="1"/>
          <p:nvPr/>
        </p:nvSpPr>
        <p:spPr>
          <a:xfrm>
            <a:off x="560784" y="3452217"/>
            <a:ext cx="73955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EV = $4,900</a:t>
            </a:r>
            <a:endParaRPr sz="1100"/>
          </a:p>
        </p:txBody>
      </p:sp>
      <p:sp>
        <p:nvSpPr>
          <p:cNvPr id="1069" name="Google Shape;1069;p37"/>
          <p:cNvSpPr txBox="1"/>
          <p:nvPr/>
        </p:nvSpPr>
        <p:spPr>
          <a:xfrm>
            <a:off x="1848089" y="3464362"/>
            <a:ext cx="101714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Asymmetry = 3.1 : 1</a:t>
            </a:r>
            <a:endParaRPr sz="1100"/>
          </a:p>
        </p:txBody>
      </p:sp>
      <p:sp>
        <p:nvSpPr>
          <p:cNvPr id="1070" name="Google Shape;1070;p37"/>
          <p:cNvSpPr/>
          <p:nvPr/>
        </p:nvSpPr>
        <p:spPr>
          <a:xfrm>
            <a:off x="4786313" y="714375"/>
            <a:ext cx="3929063" cy="571500"/>
          </a:xfrm>
          <a:prstGeom prst="roundRect">
            <a:avLst>
              <a:gd fmla="val 10000" name="adj"/>
            </a:avLst>
          </a:prstGeom>
          <a:solidFill>
            <a:srgbClr val="3D7DE4">
              <a:alpha val="7843"/>
            </a:srgbClr>
          </a:solidFill>
          <a:ln cap="flat" cmpd="sng" w="1427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1" name="Google Shape;1071;p37"/>
          <p:cNvSpPr txBox="1"/>
          <p:nvPr/>
        </p:nvSpPr>
        <p:spPr>
          <a:xfrm>
            <a:off x="5989080" y="843676"/>
            <a:ext cx="152352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Asymmetry Ratio 非对称比</a:t>
            </a:r>
            <a:endParaRPr sz="1100"/>
          </a:p>
        </p:txBody>
      </p:sp>
      <p:sp>
        <p:nvSpPr>
          <p:cNvPr id="1072" name="Google Shape;1072;p37"/>
          <p:cNvSpPr txBox="1"/>
          <p:nvPr/>
        </p:nvSpPr>
        <p:spPr>
          <a:xfrm>
            <a:off x="5441486" y="1019414"/>
            <a:ext cx="261871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Bull Upside% / Bear Downside% ≥ 2:1</a:t>
            </a:r>
            <a:endParaRPr sz="1100"/>
          </a:p>
        </p:txBody>
      </p:sp>
      <p:sp>
        <p:nvSpPr>
          <p:cNvPr id="1073" name="Google Shape;1073;p37"/>
          <p:cNvSpPr txBox="1"/>
          <p:nvPr/>
        </p:nvSpPr>
        <p:spPr>
          <a:xfrm>
            <a:off x="4776311" y="1458039"/>
            <a:ext cx="13484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非对称评估三问（必答）</a:t>
            </a:r>
            <a:endParaRPr sz="1100"/>
          </a:p>
        </p:txBody>
      </p:sp>
      <p:sp>
        <p:nvSpPr>
          <p:cNvPr id="1074" name="Google Shape;1074;p37"/>
          <p:cNvSpPr/>
          <p:nvPr/>
        </p:nvSpPr>
        <p:spPr>
          <a:xfrm>
            <a:off x="4786313" y="1600200"/>
            <a:ext cx="3929063" cy="4572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5" name="Google Shape;1075;p37"/>
          <p:cNvSpPr/>
          <p:nvPr/>
        </p:nvSpPr>
        <p:spPr>
          <a:xfrm>
            <a:off x="4786313" y="1600200"/>
            <a:ext cx="28575" cy="4572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6" name="Google Shape;1076;p37"/>
          <p:cNvSpPr txBox="1"/>
          <p:nvPr/>
        </p:nvSpPr>
        <p:spPr>
          <a:xfrm>
            <a:off x="4892040" y="1698784"/>
            <a:ext cx="12583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sz="1100"/>
          </a:p>
        </p:txBody>
      </p:sp>
      <p:sp>
        <p:nvSpPr>
          <p:cNvPr id="1077" name="Google Shape;1077;p37"/>
          <p:cNvSpPr txBox="1"/>
          <p:nvPr/>
        </p:nvSpPr>
        <p:spPr>
          <a:xfrm>
            <a:off x="5063490" y="1698784"/>
            <a:ext cx="179165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熊市如何发生？当前数据是否支持熊市？</a:t>
            </a:r>
            <a:endParaRPr sz="1100"/>
          </a:p>
        </p:txBody>
      </p:sp>
      <p:sp>
        <p:nvSpPr>
          <p:cNvPr id="1078" name="Google Shape;1078;p37"/>
          <p:cNvSpPr txBox="1"/>
          <p:nvPr/>
        </p:nvSpPr>
        <p:spPr>
          <a:xfrm>
            <a:off x="5064204" y="1904881"/>
            <a:ext cx="156101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须命名具体失效机制，而非"宏观变差"</a:t>
            </a:r>
            <a:endParaRPr sz="1100"/>
          </a:p>
        </p:txBody>
      </p:sp>
      <p:sp>
        <p:nvSpPr>
          <p:cNvPr id="1079" name="Google Shape;1079;p37"/>
          <p:cNvSpPr/>
          <p:nvPr/>
        </p:nvSpPr>
        <p:spPr>
          <a:xfrm>
            <a:off x="4786313" y="2128838"/>
            <a:ext cx="3929063" cy="4572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0" name="Google Shape;1080;p37"/>
          <p:cNvSpPr/>
          <p:nvPr/>
        </p:nvSpPr>
        <p:spPr>
          <a:xfrm>
            <a:off x="4786313" y="2128838"/>
            <a:ext cx="28575" cy="4572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1" name="Google Shape;1081;p37"/>
          <p:cNvSpPr txBox="1"/>
          <p:nvPr/>
        </p:nvSpPr>
        <p:spPr>
          <a:xfrm>
            <a:off x="4892040" y="2227421"/>
            <a:ext cx="15171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sz="1100"/>
          </a:p>
        </p:txBody>
      </p:sp>
      <p:sp>
        <p:nvSpPr>
          <p:cNvPr id="1082" name="Google Shape;1082;p37"/>
          <p:cNvSpPr txBox="1"/>
          <p:nvPr/>
        </p:nvSpPr>
        <p:spPr>
          <a:xfrm>
            <a:off x="5063490" y="2227421"/>
            <a:ext cx="205289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熊市是否已被定价？（跌30%后熊市数学变了）</a:t>
            </a:r>
            <a:endParaRPr sz="1100"/>
          </a:p>
        </p:txBody>
      </p:sp>
      <p:sp>
        <p:nvSpPr>
          <p:cNvPr id="1083" name="Google Shape;1083;p37"/>
          <p:cNvSpPr txBox="1"/>
          <p:nvPr/>
        </p:nvSpPr>
        <p:spPr>
          <a:xfrm>
            <a:off x="5064204" y="2433518"/>
            <a:ext cx="164234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若已大幅下跌，当前价本身就是安全边际</a:t>
            </a:r>
            <a:endParaRPr sz="1100"/>
          </a:p>
        </p:txBody>
      </p:sp>
      <p:sp>
        <p:nvSpPr>
          <p:cNvPr id="1084" name="Google Shape;1084;p37"/>
          <p:cNvSpPr/>
          <p:nvPr/>
        </p:nvSpPr>
        <p:spPr>
          <a:xfrm>
            <a:off x="4786313" y="2657475"/>
            <a:ext cx="3929063" cy="4572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5" name="Google Shape;1085;p37"/>
          <p:cNvSpPr/>
          <p:nvPr/>
        </p:nvSpPr>
        <p:spPr>
          <a:xfrm>
            <a:off x="4786313" y="2657475"/>
            <a:ext cx="28575" cy="457200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6" name="Google Shape;1086;p37"/>
          <p:cNvSpPr txBox="1"/>
          <p:nvPr/>
        </p:nvSpPr>
        <p:spPr>
          <a:xfrm>
            <a:off x="4892040" y="2756059"/>
            <a:ext cx="15171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sz="1100"/>
          </a:p>
        </p:txBody>
      </p:sp>
      <p:sp>
        <p:nvSpPr>
          <p:cNvPr id="1087" name="Google Shape;1087;p37"/>
          <p:cNvSpPr txBox="1"/>
          <p:nvPr/>
        </p:nvSpPr>
        <p:spPr>
          <a:xfrm>
            <a:off x="5063490" y="2756059"/>
            <a:ext cx="149590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什么具体催化剂能解决不确定性？</a:t>
            </a:r>
            <a:endParaRPr sz="1100"/>
          </a:p>
        </p:txBody>
      </p:sp>
      <p:sp>
        <p:nvSpPr>
          <p:cNvPr id="1088" name="Google Shape;1088;p37"/>
          <p:cNvSpPr txBox="1"/>
          <p:nvPr/>
        </p:nvSpPr>
        <p:spPr>
          <a:xfrm>
            <a:off x="5064204" y="2962156"/>
            <a:ext cx="1741754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财报 / FDA决定 / 合同落地 — 须有时间节点</a:t>
            </a:r>
            <a:endParaRPr sz="1100"/>
          </a:p>
        </p:txBody>
      </p:sp>
      <p:sp>
        <p:nvSpPr>
          <p:cNvPr id="1089" name="Google Shape;1089;p37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13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3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p3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5" name="Google Shape;1095;p38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6" name="Google Shape;1096;p38"/>
          <p:cNvSpPr/>
          <p:nvPr/>
        </p:nvSpPr>
        <p:spPr>
          <a:xfrm>
            <a:off x="428625" y="200025"/>
            <a:ext cx="42900" cy="2571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7" name="Google Shape;1097;p38"/>
          <p:cNvSpPr txBox="1"/>
          <p:nvPr/>
        </p:nvSpPr>
        <p:spPr>
          <a:xfrm>
            <a:off x="562928" y="191453"/>
            <a:ext cx="44484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Moneyball — 非对称风险 · 两类参数</a:t>
            </a:r>
            <a:endParaRPr sz="1100"/>
          </a:p>
        </p:txBody>
      </p:sp>
      <p:sp>
        <p:nvSpPr>
          <p:cNvPr id="1098" name="Google Shape;1098;p38"/>
          <p:cNvSpPr txBox="1"/>
          <p:nvPr/>
        </p:nvSpPr>
        <p:spPr>
          <a:xfrm>
            <a:off x="575072" y="466130"/>
            <a:ext cx="3305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R/R ≥ 2:1 是铁律 — 股票类型不同，止损宽度和目标区间不同</a:t>
            </a:r>
            <a:endParaRPr sz="1100"/>
          </a:p>
        </p:txBody>
      </p:sp>
      <p:sp>
        <p:nvSpPr>
          <p:cNvPr id="1099" name="Google Shape;1099;p38"/>
          <p:cNvSpPr/>
          <p:nvPr/>
        </p:nvSpPr>
        <p:spPr>
          <a:xfrm>
            <a:off x="428625" y="685800"/>
            <a:ext cx="4114800" cy="342900"/>
          </a:xfrm>
          <a:prstGeom prst="roundRect">
            <a:avLst>
              <a:gd fmla="val 20833" name="adj"/>
            </a:avLst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0" name="Google Shape;1100;p38"/>
          <p:cNvSpPr txBox="1"/>
          <p:nvPr/>
        </p:nvSpPr>
        <p:spPr>
          <a:xfrm>
            <a:off x="2240262" y="790814"/>
            <a:ext cx="491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标准股</a:t>
            </a:r>
            <a:endParaRPr sz="1100"/>
          </a:p>
        </p:txBody>
      </p:sp>
      <p:sp>
        <p:nvSpPr>
          <p:cNvPr id="1101" name="Google Shape;1101;p38"/>
          <p:cNvSpPr txBox="1"/>
          <p:nvPr/>
        </p:nvSpPr>
        <p:spPr>
          <a:xfrm>
            <a:off x="1617309" y="698659"/>
            <a:ext cx="1737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市值 ≥$2B · ATR% ≤4% · 趋势模板 ≥5/8</a:t>
            </a:r>
            <a:endParaRPr sz="1100"/>
          </a:p>
        </p:txBody>
      </p:sp>
      <p:sp>
        <p:nvSpPr>
          <p:cNvPr id="1102" name="Google Shape;1102;p38"/>
          <p:cNvSpPr/>
          <p:nvPr/>
        </p:nvSpPr>
        <p:spPr>
          <a:xfrm>
            <a:off x="4714875" y="685800"/>
            <a:ext cx="4000500" cy="342900"/>
          </a:xfrm>
          <a:prstGeom prst="roundRect">
            <a:avLst>
              <a:gd fmla="val 20833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3" name="Google Shape;1103;p38"/>
          <p:cNvSpPr txBox="1"/>
          <p:nvPr/>
        </p:nvSpPr>
        <p:spPr>
          <a:xfrm>
            <a:off x="6147178" y="790814"/>
            <a:ext cx="1135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小盘 / 高波动股</a:t>
            </a:r>
            <a:endParaRPr sz="1100"/>
          </a:p>
        </p:txBody>
      </p:sp>
      <p:sp>
        <p:nvSpPr>
          <p:cNvPr id="1104" name="Google Shape;1104;p38"/>
          <p:cNvSpPr txBox="1"/>
          <p:nvPr/>
        </p:nvSpPr>
        <p:spPr>
          <a:xfrm>
            <a:off x="5802047" y="698659"/>
            <a:ext cx="1826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市值 &lt;$2B 或 ATR% &gt;4% 或 趋势模板 &lt;5/8</a:t>
            </a:r>
            <a:endParaRPr sz="1100"/>
          </a:p>
        </p:txBody>
      </p:sp>
      <p:sp>
        <p:nvSpPr>
          <p:cNvPr id="1105" name="Google Shape;1105;p38"/>
          <p:cNvSpPr/>
          <p:nvPr/>
        </p:nvSpPr>
        <p:spPr>
          <a:xfrm>
            <a:off x="428625" y="1128713"/>
            <a:ext cx="41148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6" name="Google Shape;1106;p38"/>
          <p:cNvSpPr/>
          <p:nvPr/>
        </p:nvSpPr>
        <p:spPr>
          <a:xfrm>
            <a:off x="4714875" y="1128713"/>
            <a:ext cx="40005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7" name="Google Shape;1107;p38"/>
          <p:cNvSpPr/>
          <p:nvPr/>
        </p:nvSpPr>
        <p:spPr>
          <a:xfrm>
            <a:off x="428625" y="1257300"/>
            <a:ext cx="28500" cy="485700"/>
          </a:xfrm>
          <a:prstGeom prst="rect">
            <a:avLst/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8" name="Google Shape;1108;p38"/>
          <p:cNvSpPr txBox="1"/>
          <p:nvPr/>
        </p:nvSpPr>
        <p:spPr>
          <a:xfrm>
            <a:off x="575786" y="1358027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止损位</a:t>
            </a:r>
            <a:endParaRPr sz="1100"/>
          </a:p>
        </p:txBody>
      </p:sp>
      <p:sp>
        <p:nvSpPr>
          <p:cNvPr id="1109" name="Google Shape;1109;p38"/>
          <p:cNvSpPr txBox="1"/>
          <p:nvPr/>
        </p:nvSpPr>
        <p:spPr>
          <a:xfrm>
            <a:off x="570071" y="1452324"/>
            <a:ext cx="1701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2×ATR ≈ 7~8%</a:t>
            </a:r>
            <a:endParaRPr sz="1100"/>
          </a:p>
        </p:txBody>
      </p:sp>
      <p:sp>
        <p:nvSpPr>
          <p:cNvPr id="1110" name="Google Shape;1110;p38"/>
          <p:cNvSpPr txBox="1"/>
          <p:nvPr/>
        </p:nvSpPr>
        <p:spPr>
          <a:xfrm>
            <a:off x="576501" y="1664137"/>
            <a:ext cx="1727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ATR 自适应：max(2×ATR14, 10%)，大盘 ATR 低自然收紧</a:t>
            </a:r>
            <a:endParaRPr sz="1100"/>
          </a:p>
        </p:txBody>
      </p:sp>
      <p:sp>
        <p:nvSpPr>
          <p:cNvPr id="1111" name="Google Shape;1111;p38"/>
          <p:cNvSpPr/>
          <p:nvPr/>
        </p:nvSpPr>
        <p:spPr>
          <a:xfrm>
            <a:off x="4714875" y="1257300"/>
            <a:ext cx="28500" cy="485700"/>
          </a:xfrm>
          <a:prstGeom prst="rect">
            <a:avLst/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2" name="Google Shape;1112;p38"/>
          <p:cNvSpPr txBox="1"/>
          <p:nvPr/>
        </p:nvSpPr>
        <p:spPr>
          <a:xfrm>
            <a:off x="4862036" y="1358027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止损位</a:t>
            </a:r>
            <a:endParaRPr sz="1100"/>
          </a:p>
        </p:txBody>
      </p:sp>
      <p:sp>
        <p:nvSpPr>
          <p:cNvPr id="1113" name="Google Shape;1113;p38"/>
          <p:cNvSpPr txBox="1"/>
          <p:nvPr/>
        </p:nvSpPr>
        <p:spPr>
          <a:xfrm>
            <a:off x="4856321" y="1452324"/>
            <a:ext cx="1644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2×ATR ≈ 10~20%</a:t>
            </a:r>
            <a:endParaRPr sz="1100"/>
          </a:p>
        </p:txBody>
      </p:sp>
      <p:sp>
        <p:nvSpPr>
          <p:cNvPr id="1114" name="Google Shape;1114;p38"/>
          <p:cNvSpPr txBox="1"/>
          <p:nvPr/>
        </p:nvSpPr>
        <p:spPr>
          <a:xfrm>
            <a:off x="4862751" y="1664137"/>
            <a:ext cx="1994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同一公式，ATR 高自然放宽 · 上限 20%，适合 Roth IRA</a:t>
            </a:r>
            <a:endParaRPr sz="1100"/>
          </a:p>
        </p:txBody>
      </p:sp>
      <p:sp>
        <p:nvSpPr>
          <p:cNvPr id="1115" name="Google Shape;1115;p38"/>
          <p:cNvSpPr/>
          <p:nvPr/>
        </p:nvSpPr>
        <p:spPr>
          <a:xfrm>
            <a:off x="428625" y="1957388"/>
            <a:ext cx="41148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6" name="Google Shape;1116;p38"/>
          <p:cNvSpPr/>
          <p:nvPr/>
        </p:nvSpPr>
        <p:spPr>
          <a:xfrm>
            <a:off x="4714875" y="1957388"/>
            <a:ext cx="40005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7" name="Google Shape;1117;p38"/>
          <p:cNvSpPr/>
          <p:nvPr/>
        </p:nvSpPr>
        <p:spPr>
          <a:xfrm>
            <a:off x="428625" y="2085975"/>
            <a:ext cx="28500" cy="48570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8" name="Google Shape;1118;p38"/>
          <p:cNvSpPr txBox="1"/>
          <p:nvPr/>
        </p:nvSpPr>
        <p:spPr>
          <a:xfrm>
            <a:off x="575786" y="2172414"/>
            <a:ext cx="780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目标1（减仓）</a:t>
            </a:r>
            <a:endParaRPr sz="1100"/>
          </a:p>
        </p:txBody>
      </p:sp>
      <p:sp>
        <p:nvSpPr>
          <p:cNvPr id="1119" name="Google Shape;1119;p38"/>
          <p:cNvSpPr txBox="1"/>
          <p:nvPr/>
        </p:nvSpPr>
        <p:spPr>
          <a:xfrm>
            <a:off x="570071" y="2266712"/>
            <a:ext cx="876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+15 ~ 25%</a:t>
            </a:r>
            <a:endParaRPr sz="1100"/>
          </a:p>
        </p:txBody>
      </p:sp>
      <p:sp>
        <p:nvSpPr>
          <p:cNvPr id="1120" name="Google Shape;1120;p38"/>
          <p:cNvSpPr txBox="1"/>
          <p:nvPr/>
        </p:nvSpPr>
        <p:spPr>
          <a:xfrm>
            <a:off x="576501" y="2478524"/>
            <a:ext cx="1684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到达后卖出 25-30%，锁定部分利润</a:t>
            </a:r>
            <a:endParaRPr sz="1100"/>
          </a:p>
        </p:txBody>
      </p:sp>
      <p:sp>
        <p:nvSpPr>
          <p:cNvPr id="1121" name="Google Shape;1121;p38"/>
          <p:cNvSpPr/>
          <p:nvPr/>
        </p:nvSpPr>
        <p:spPr>
          <a:xfrm>
            <a:off x="4714875" y="2085975"/>
            <a:ext cx="28500" cy="48570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2" name="Google Shape;1122;p38"/>
          <p:cNvSpPr txBox="1"/>
          <p:nvPr/>
        </p:nvSpPr>
        <p:spPr>
          <a:xfrm>
            <a:off x="4862036" y="2172414"/>
            <a:ext cx="102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目标1（仅减一点）</a:t>
            </a:r>
            <a:endParaRPr sz="1100"/>
          </a:p>
        </p:txBody>
      </p:sp>
      <p:sp>
        <p:nvSpPr>
          <p:cNvPr id="1123" name="Google Shape;1123;p38"/>
          <p:cNvSpPr txBox="1"/>
          <p:nvPr/>
        </p:nvSpPr>
        <p:spPr>
          <a:xfrm>
            <a:off x="4856321" y="2266712"/>
            <a:ext cx="876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+30 ~ 50%</a:t>
            </a:r>
            <a:endParaRPr sz="1100"/>
          </a:p>
        </p:txBody>
      </p:sp>
      <p:sp>
        <p:nvSpPr>
          <p:cNvPr id="1124" name="Google Shape;1124;p38"/>
          <p:cNvSpPr txBox="1"/>
          <p:nvPr/>
        </p:nvSpPr>
        <p:spPr>
          <a:xfrm>
            <a:off x="4862751" y="2478524"/>
            <a:ext cx="1364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只减 25–30%，留大仓继续跑</a:t>
            </a:r>
            <a:endParaRPr sz="1100"/>
          </a:p>
        </p:txBody>
      </p:sp>
      <p:sp>
        <p:nvSpPr>
          <p:cNvPr id="1125" name="Google Shape;1125;p38"/>
          <p:cNvSpPr/>
          <p:nvPr/>
        </p:nvSpPr>
        <p:spPr>
          <a:xfrm>
            <a:off x="428625" y="2786063"/>
            <a:ext cx="41148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6" name="Google Shape;1126;p38"/>
          <p:cNvSpPr/>
          <p:nvPr/>
        </p:nvSpPr>
        <p:spPr>
          <a:xfrm>
            <a:off x="4714875" y="2786063"/>
            <a:ext cx="4000500" cy="7431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7" name="Google Shape;1127;p38"/>
          <p:cNvSpPr/>
          <p:nvPr/>
        </p:nvSpPr>
        <p:spPr>
          <a:xfrm>
            <a:off x="428625" y="2914650"/>
            <a:ext cx="28500" cy="48570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8" name="Google Shape;1128;p38"/>
          <p:cNvSpPr txBox="1"/>
          <p:nvPr/>
        </p:nvSpPr>
        <p:spPr>
          <a:xfrm>
            <a:off x="575786" y="2986802"/>
            <a:ext cx="11733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目标2（剩余跟趋势）</a:t>
            </a:r>
            <a:endParaRPr sz="1100"/>
          </a:p>
        </p:txBody>
      </p:sp>
      <p:sp>
        <p:nvSpPr>
          <p:cNvPr id="1129" name="Google Shape;1129;p38"/>
          <p:cNvSpPr txBox="1"/>
          <p:nvPr/>
        </p:nvSpPr>
        <p:spPr>
          <a:xfrm>
            <a:off x="570071" y="3095387"/>
            <a:ext cx="933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+80 ~ 100%</a:t>
            </a:r>
            <a:endParaRPr sz="1100"/>
          </a:p>
        </p:txBody>
      </p:sp>
      <p:sp>
        <p:nvSpPr>
          <p:cNvPr id="1130" name="Google Shape;1130;p38"/>
          <p:cNvSpPr txBox="1"/>
          <p:nvPr/>
        </p:nvSpPr>
        <p:spPr>
          <a:xfrm>
            <a:off x="576501" y="3307199"/>
            <a:ext cx="1519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再卖出 25%，进入"自由股"状态</a:t>
            </a:r>
            <a:endParaRPr sz="1100"/>
          </a:p>
        </p:txBody>
      </p:sp>
      <p:sp>
        <p:nvSpPr>
          <p:cNvPr id="1131" name="Google Shape;1131;p38"/>
          <p:cNvSpPr/>
          <p:nvPr/>
        </p:nvSpPr>
        <p:spPr>
          <a:xfrm>
            <a:off x="4714875" y="2914650"/>
            <a:ext cx="28500" cy="485700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2" name="Google Shape;1132;p38"/>
          <p:cNvSpPr txBox="1"/>
          <p:nvPr/>
        </p:nvSpPr>
        <p:spPr>
          <a:xfrm>
            <a:off x="4862036" y="2986802"/>
            <a:ext cx="105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目标2（翻倍区间）</a:t>
            </a:r>
            <a:endParaRPr sz="1100"/>
          </a:p>
        </p:txBody>
      </p:sp>
      <p:sp>
        <p:nvSpPr>
          <p:cNvPr id="1133" name="Google Shape;1133;p38"/>
          <p:cNvSpPr txBox="1"/>
          <p:nvPr/>
        </p:nvSpPr>
        <p:spPr>
          <a:xfrm>
            <a:off x="4856321" y="3095387"/>
            <a:ext cx="933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+80 ~ 150%</a:t>
            </a:r>
            <a:endParaRPr sz="1100"/>
          </a:p>
        </p:txBody>
      </p:sp>
      <p:sp>
        <p:nvSpPr>
          <p:cNvPr id="1134" name="Google Shape;1134;p38"/>
          <p:cNvSpPr txBox="1"/>
          <p:nvPr/>
        </p:nvSpPr>
        <p:spPr>
          <a:xfrm>
            <a:off x="4862751" y="3307199"/>
            <a:ext cx="1946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再卖出 25%，进入"自由股"状态（同上）</a:t>
            </a:r>
            <a:endParaRPr sz="1100"/>
          </a:p>
        </p:txBody>
      </p:sp>
      <p:sp>
        <p:nvSpPr>
          <p:cNvPr id="1135" name="Google Shape;1135;p38"/>
          <p:cNvSpPr/>
          <p:nvPr/>
        </p:nvSpPr>
        <p:spPr>
          <a:xfrm>
            <a:off x="428625" y="3614738"/>
            <a:ext cx="4114800" cy="571500"/>
          </a:xfrm>
          <a:prstGeom prst="roundRect">
            <a:avLst>
              <a:gd fmla="val 12500" name="adj"/>
            </a:avLst>
          </a:prstGeom>
          <a:solidFill>
            <a:srgbClr val="FFF0F0"/>
          </a:solidFill>
          <a:ln cap="flat" cmpd="sng" w="14275">
            <a:solidFill>
              <a:srgbClr val="D445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6" name="Google Shape;1136;p38"/>
          <p:cNvSpPr/>
          <p:nvPr/>
        </p:nvSpPr>
        <p:spPr>
          <a:xfrm>
            <a:off x="4714875" y="3614738"/>
            <a:ext cx="4000500" cy="571500"/>
          </a:xfrm>
          <a:prstGeom prst="roundRect">
            <a:avLst>
              <a:gd fmla="val 12500" name="adj"/>
            </a:avLst>
          </a:prstGeom>
          <a:solidFill>
            <a:srgbClr val="FFF0F0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7" name="Google Shape;1137;p38"/>
          <p:cNvSpPr txBox="1"/>
          <p:nvPr/>
        </p:nvSpPr>
        <p:spPr>
          <a:xfrm>
            <a:off x="1744250" y="3752255"/>
            <a:ext cx="1483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单笔最大亏损 = 总资金 1%</a:t>
            </a:r>
            <a:endParaRPr sz="1100"/>
          </a:p>
        </p:txBody>
      </p:sp>
      <p:sp>
        <p:nvSpPr>
          <p:cNvPr id="1138" name="Google Shape;1138;p38"/>
          <p:cNvSpPr txBox="1"/>
          <p:nvPr/>
        </p:nvSpPr>
        <p:spPr>
          <a:xfrm>
            <a:off x="1544916" y="3921562"/>
            <a:ext cx="1882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股数 = (总资金x1%) / (入场价-止损价)</a:t>
            </a:r>
            <a:endParaRPr sz="1100"/>
          </a:p>
        </p:txBody>
      </p:sp>
      <p:sp>
        <p:nvSpPr>
          <p:cNvPr id="1139" name="Google Shape;1139;p38"/>
          <p:cNvSpPr txBox="1"/>
          <p:nvPr/>
        </p:nvSpPr>
        <p:spPr>
          <a:xfrm>
            <a:off x="5973349" y="3752255"/>
            <a:ext cx="1483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单笔最大亏损 = 总资金 1%</a:t>
            </a:r>
            <a:endParaRPr sz="1100"/>
          </a:p>
        </p:txBody>
      </p:sp>
      <p:sp>
        <p:nvSpPr>
          <p:cNvPr id="1140" name="Google Shape;1140;p38"/>
          <p:cNvSpPr txBox="1"/>
          <p:nvPr/>
        </p:nvSpPr>
        <p:spPr>
          <a:xfrm>
            <a:off x="5822076" y="3921562"/>
            <a:ext cx="1786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止损更宽+缺口风险高，仓位自动变轻</a:t>
            </a:r>
            <a:endParaRPr sz="1100"/>
          </a:p>
        </p:txBody>
      </p:sp>
      <p:sp>
        <p:nvSpPr>
          <p:cNvPr id="1141" name="Google Shape;1141;p38"/>
          <p:cNvSpPr/>
          <p:nvPr/>
        </p:nvSpPr>
        <p:spPr>
          <a:xfrm>
            <a:off x="428625" y="4300538"/>
            <a:ext cx="8286900" cy="685800"/>
          </a:xfrm>
          <a:prstGeom prst="roundRect">
            <a:avLst>
              <a:gd fmla="val 125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2" name="Google Shape;1142;p38"/>
          <p:cNvSpPr/>
          <p:nvPr/>
        </p:nvSpPr>
        <p:spPr>
          <a:xfrm>
            <a:off x="771525" y="4400550"/>
            <a:ext cx="314400" cy="314400"/>
          </a:xfrm>
          <a:prstGeom prst="ellipse">
            <a:avLst/>
          </a:prstGeom>
          <a:noFill/>
          <a:ln cap="flat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3" name="Google Shape;1143;p38"/>
          <p:cNvSpPr/>
          <p:nvPr/>
        </p:nvSpPr>
        <p:spPr>
          <a:xfrm>
            <a:off x="835819" y="4464844"/>
            <a:ext cx="185700" cy="185700"/>
          </a:xfrm>
          <a:prstGeom prst="ellipse">
            <a:avLst/>
          </a:prstGeom>
          <a:noFill/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4" name="Google Shape;1144;p38"/>
          <p:cNvSpPr/>
          <p:nvPr/>
        </p:nvSpPr>
        <p:spPr>
          <a:xfrm>
            <a:off x="900113" y="4529138"/>
            <a:ext cx="57000" cy="570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5" name="Google Shape;1145;p38"/>
          <p:cNvSpPr txBox="1"/>
          <p:nvPr/>
        </p:nvSpPr>
        <p:spPr>
          <a:xfrm>
            <a:off x="1188006" y="4397336"/>
            <a:ext cx="198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R/R ≥ 2:1 — 两类股票共同铁律</a:t>
            </a:r>
            <a:endParaRPr sz="1100"/>
          </a:p>
        </p:txBody>
      </p:sp>
      <p:sp>
        <p:nvSpPr>
          <p:cNvPr id="1146" name="Google Shape;1146;p38"/>
          <p:cNvSpPr txBox="1"/>
          <p:nvPr/>
        </p:nvSpPr>
        <p:spPr>
          <a:xfrm>
            <a:off x="1190149" y="4572714"/>
            <a:ext cx="3252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计算：(目标1 - 入场价) / (入场价 - 止损位) ← 低于 2:1 不入场</a:t>
            </a:r>
            <a:endParaRPr sz="1100"/>
          </a:p>
        </p:txBody>
      </p:sp>
      <p:sp>
        <p:nvSpPr>
          <p:cNvPr id="1147" name="Google Shape;1147;p38"/>
          <p:cNvSpPr txBox="1"/>
          <p:nvPr/>
        </p:nvSpPr>
        <p:spPr>
          <a:xfrm>
            <a:off x="1190864" y="4807387"/>
            <a:ext cx="3404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赢家多赚（慢慢减仓）· 输家少亏（快速止损）· 几笔大赢弥补多次小亏</a:t>
            </a:r>
            <a:endParaRPr sz="1100"/>
          </a:p>
        </p:txBody>
      </p:sp>
      <p:sp>
        <p:nvSpPr>
          <p:cNvPr id="1148" name="Google Shape;1148;p38"/>
          <p:cNvSpPr txBox="1"/>
          <p:nvPr/>
        </p:nvSpPr>
        <p:spPr>
          <a:xfrm>
            <a:off x="8491704" y="4915614"/>
            <a:ext cx="37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14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2" name="Shape 1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Google Shape;1153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4" name="Google Shape;1154;p39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5" name="Google Shape;1155;p39"/>
          <p:cNvSpPr/>
          <p:nvPr/>
        </p:nvSpPr>
        <p:spPr>
          <a:xfrm>
            <a:off x="428625" y="200025"/>
            <a:ext cx="42863" cy="2571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6" name="Google Shape;1156;p39"/>
          <p:cNvSpPr txBox="1"/>
          <p:nvPr/>
        </p:nvSpPr>
        <p:spPr>
          <a:xfrm>
            <a:off x="562928" y="191452"/>
            <a:ext cx="750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BAIT — 四维错误定价框架</a:t>
            </a:r>
            <a:endParaRPr sz="1100"/>
          </a:p>
        </p:txBody>
      </p:sp>
      <p:sp>
        <p:nvSpPr>
          <p:cNvPr id="1157" name="Google Shape;1157;p39"/>
          <p:cNvSpPr txBox="1"/>
          <p:nvPr/>
        </p:nvSpPr>
        <p:spPr>
          <a:xfrm>
            <a:off x="575071" y="466130"/>
            <a:ext cx="7500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核心问题：市场为什么错了？— 每维 0–3 分，总分 /12，信号越多信念越强</a:t>
            </a:r>
            <a:endParaRPr sz="1100"/>
          </a:p>
        </p:txBody>
      </p:sp>
      <p:sp>
        <p:nvSpPr>
          <p:cNvPr id="1158" name="Google Shape;1158;p39"/>
          <p:cNvSpPr/>
          <p:nvPr/>
        </p:nvSpPr>
        <p:spPr>
          <a:xfrm>
            <a:off x="428625" y="685800"/>
            <a:ext cx="4114800" cy="342900"/>
          </a:xfrm>
          <a:prstGeom prst="roundRect">
            <a:avLst>
              <a:gd fmla="val 20833" name="adj"/>
            </a:avLst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9" name="Google Shape;1159;p39"/>
          <p:cNvSpPr txBox="1"/>
          <p:nvPr/>
        </p:nvSpPr>
        <p:spPr>
          <a:xfrm>
            <a:off x="562500" y="790814"/>
            <a:ext cx="38250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 — Behavioral</a:t>
            </a:r>
            <a:endParaRPr sz="1100"/>
          </a:p>
        </p:txBody>
      </p:sp>
      <p:sp>
        <p:nvSpPr>
          <p:cNvPr id="1160" name="Google Shape;1160;p39"/>
          <p:cNvSpPr/>
          <p:nvPr/>
        </p:nvSpPr>
        <p:spPr>
          <a:xfrm>
            <a:off x="428625" y="1028700"/>
            <a:ext cx="4114800" cy="12573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1" name="Google Shape;1161;p39"/>
          <p:cNvSpPr/>
          <p:nvPr/>
        </p:nvSpPr>
        <p:spPr>
          <a:xfrm>
            <a:off x="428625" y="1147500"/>
            <a:ext cx="28575" cy="342900"/>
          </a:xfrm>
          <a:prstGeom prst="rect">
            <a:avLst/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2" name="Google Shape;1162;p39"/>
          <p:cNvSpPr txBox="1"/>
          <p:nvPr/>
        </p:nvSpPr>
        <p:spPr>
          <a:xfrm>
            <a:off x="570000" y="1072500"/>
            <a:ext cx="3937500" cy="11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行为性错杀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情绪过度反应 · 叙事驱动抛售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恐惧与财报数据矛盾 = 强信号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空头占比 &gt;10% 偏高 · &gt;20% 极端</a:t>
            </a:r>
            <a:endParaRPr sz="1100"/>
          </a:p>
        </p:txBody>
      </p:sp>
      <p:sp>
        <p:nvSpPr>
          <p:cNvPr id="1163" name="Google Shape;1163;p39"/>
          <p:cNvSpPr/>
          <p:nvPr/>
        </p:nvSpPr>
        <p:spPr>
          <a:xfrm>
            <a:off x="4714875" y="685800"/>
            <a:ext cx="4000500" cy="342900"/>
          </a:xfrm>
          <a:prstGeom prst="roundRect">
            <a:avLst>
              <a:gd fmla="val 20833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4" name="Google Shape;1164;p39"/>
          <p:cNvSpPr txBox="1"/>
          <p:nvPr/>
        </p:nvSpPr>
        <p:spPr>
          <a:xfrm>
            <a:off x="4837500" y="790814"/>
            <a:ext cx="38250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— Analytical</a:t>
            </a:r>
            <a:endParaRPr sz="1100"/>
          </a:p>
        </p:txBody>
      </p:sp>
      <p:sp>
        <p:nvSpPr>
          <p:cNvPr id="1165" name="Google Shape;1165;p39"/>
          <p:cNvSpPr/>
          <p:nvPr/>
        </p:nvSpPr>
        <p:spPr>
          <a:xfrm>
            <a:off x="4714875" y="1028700"/>
            <a:ext cx="4000500" cy="12573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6" name="Google Shape;1166;p39"/>
          <p:cNvSpPr/>
          <p:nvPr/>
        </p:nvSpPr>
        <p:spPr>
          <a:xfrm>
            <a:off x="4714875" y="1147500"/>
            <a:ext cx="28575" cy="3429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7" name="Google Shape;1167;p39"/>
          <p:cNvSpPr txBox="1"/>
          <p:nvPr/>
        </p:nvSpPr>
        <p:spPr>
          <a:xfrm>
            <a:off x="4856250" y="1072500"/>
            <a:ext cx="3825000" cy="11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分析性盲区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共识模型漏了什么？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回购推动 EPS 复利被低估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分析师覆盖少 · 财务数字被误读</a:t>
            </a:r>
            <a:endParaRPr sz="1100"/>
          </a:p>
        </p:txBody>
      </p:sp>
      <p:sp>
        <p:nvSpPr>
          <p:cNvPr id="1168" name="Google Shape;1168;p39"/>
          <p:cNvSpPr/>
          <p:nvPr/>
        </p:nvSpPr>
        <p:spPr>
          <a:xfrm>
            <a:off x="428625" y="2400300"/>
            <a:ext cx="4114800" cy="342900"/>
          </a:xfrm>
          <a:prstGeom prst="roundRect">
            <a:avLst>
              <a:gd fmla="val 20833" name="adj"/>
            </a:avLst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9" name="Google Shape;1169;p39"/>
          <p:cNvSpPr txBox="1"/>
          <p:nvPr/>
        </p:nvSpPr>
        <p:spPr>
          <a:xfrm>
            <a:off x="562500" y="2505314"/>
            <a:ext cx="38250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 — Informational</a:t>
            </a:r>
            <a:endParaRPr sz="1100"/>
          </a:p>
        </p:txBody>
      </p:sp>
      <p:sp>
        <p:nvSpPr>
          <p:cNvPr id="1170" name="Google Shape;1170;p39"/>
          <p:cNvSpPr/>
          <p:nvPr/>
        </p:nvSpPr>
        <p:spPr>
          <a:xfrm>
            <a:off x="428625" y="2743200"/>
            <a:ext cx="4114800" cy="12573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1" name="Google Shape;1171;p39"/>
          <p:cNvSpPr/>
          <p:nvPr/>
        </p:nvSpPr>
        <p:spPr>
          <a:xfrm>
            <a:off x="428625" y="2857500"/>
            <a:ext cx="28575" cy="342900"/>
          </a:xfrm>
          <a:prstGeom prst="rect">
            <a:avLst/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2" name="Google Shape;1172;p39"/>
          <p:cNvSpPr txBox="1"/>
          <p:nvPr/>
        </p:nvSpPr>
        <p:spPr>
          <a:xfrm>
            <a:off x="570000" y="2785500"/>
            <a:ext cx="3937500" cy="11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信息性时滞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10-Q / 财报注脚里的隐藏信息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一手资料领先市场认知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公开但市场尚未定价的信息</a:t>
            </a:r>
            <a:endParaRPr sz="1100"/>
          </a:p>
        </p:txBody>
      </p:sp>
      <p:sp>
        <p:nvSpPr>
          <p:cNvPr id="1173" name="Google Shape;1173;p39"/>
          <p:cNvSpPr/>
          <p:nvPr/>
        </p:nvSpPr>
        <p:spPr>
          <a:xfrm>
            <a:off x="4714875" y="2400300"/>
            <a:ext cx="4000500" cy="342900"/>
          </a:xfrm>
          <a:prstGeom prst="roundRect">
            <a:avLst>
              <a:gd fmla="val 20833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4" name="Google Shape;1174;p39"/>
          <p:cNvSpPr txBox="1"/>
          <p:nvPr/>
        </p:nvSpPr>
        <p:spPr>
          <a:xfrm>
            <a:off x="4837500" y="2505314"/>
            <a:ext cx="38250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 — Technical</a:t>
            </a:r>
            <a:endParaRPr sz="1100"/>
          </a:p>
        </p:txBody>
      </p:sp>
      <p:sp>
        <p:nvSpPr>
          <p:cNvPr id="1175" name="Google Shape;1175;p39"/>
          <p:cNvSpPr/>
          <p:nvPr/>
        </p:nvSpPr>
        <p:spPr>
          <a:xfrm>
            <a:off x="4714875" y="2743200"/>
            <a:ext cx="4000500" cy="1257300"/>
          </a:xfrm>
          <a:prstGeom prst="roundRect">
            <a:avLst>
              <a:gd fmla="val 9615" name="adj"/>
            </a:avLst>
          </a:prstGeom>
          <a:solidFill>
            <a:srgbClr val="FFFFFF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6" name="Google Shape;1176;p39"/>
          <p:cNvSpPr/>
          <p:nvPr/>
        </p:nvSpPr>
        <p:spPr>
          <a:xfrm>
            <a:off x="4714875" y="2857500"/>
            <a:ext cx="28575" cy="3429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7" name="Google Shape;1177;p39"/>
          <p:cNvSpPr txBox="1"/>
          <p:nvPr/>
        </p:nvSpPr>
        <p:spPr>
          <a:xfrm>
            <a:off x="4856250" y="2785500"/>
            <a:ext cx="3825000" cy="11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技术性抛压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非基本面的强制卖出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指数剔除 · 基金清仓 · 税损卖出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抛压结束 = 价格自然修复</a:t>
            </a:r>
            <a:endParaRPr sz="1100"/>
          </a:p>
        </p:txBody>
      </p:sp>
      <p:sp>
        <p:nvSpPr>
          <p:cNvPr id="1178" name="Google Shape;1178;p39"/>
          <p:cNvSpPr/>
          <p:nvPr/>
        </p:nvSpPr>
        <p:spPr>
          <a:xfrm>
            <a:off x="428625" y="4125038"/>
            <a:ext cx="8286750" cy="685800"/>
          </a:xfrm>
          <a:prstGeom prst="roundRect">
            <a:avLst>
              <a:gd fmla="val 125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9" name="Google Shape;1179;p39"/>
          <p:cNvSpPr/>
          <p:nvPr/>
        </p:nvSpPr>
        <p:spPr>
          <a:xfrm>
            <a:off x="771525" y="4225050"/>
            <a:ext cx="314325" cy="314325"/>
          </a:xfrm>
          <a:prstGeom prst="ellipse">
            <a:avLst/>
          </a:prstGeom>
          <a:noFill/>
          <a:ln cap="flat" cmpd="sng" w="2380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0" name="Google Shape;1180;p39"/>
          <p:cNvSpPr/>
          <p:nvPr/>
        </p:nvSpPr>
        <p:spPr>
          <a:xfrm>
            <a:off x="835819" y="4289344"/>
            <a:ext cx="185738" cy="185738"/>
          </a:xfrm>
          <a:prstGeom prst="ellipse">
            <a:avLst/>
          </a:prstGeom>
          <a:noFill/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1" name="Google Shape;1181;p39"/>
          <p:cNvSpPr/>
          <p:nvPr/>
        </p:nvSpPr>
        <p:spPr>
          <a:xfrm>
            <a:off x="900113" y="4353638"/>
            <a:ext cx="57150" cy="5715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2" name="Google Shape;1182;p39"/>
          <p:cNvSpPr txBox="1"/>
          <p:nvPr/>
        </p:nvSpPr>
        <p:spPr>
          <a:xfrm>
            <a:off x="1188006" y="4221836"/>
            <a:ext cx="6750000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评分规则：每维 0–3 分（3=明显 · 0=无）— 多维信号叠加 = 强错误定价</a:t>
            </a:r>
            <a:endParaRPr sz="1100"/>
          </a:p>
        </p:txBody>
      </p:sp>
      <p:sp>
        <p:nvSpPr>
          <p:cNvPr id="1183" name="Google Shape;1183;p39"/>
          <p:cNvSpPr txBox="1"/>
          <p:nvPr/>
        </p:nvSpPr>
        <p:spPr>
          <a:xfrm>
            <a:off x="1190149" y="4396989"/>
            <a:ext cx="525000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对应 Skill：/stock-analyze 错误定价评分层（🔥强烈关注 / ⭐关注 / 👀观察 / ❌回避）</a:t>
            </a:r>
            <a:endParaRPr sz="1100"/>
          </a:p>
        </p:txBody>
      </p:sp>
      <p:sp>
        <p:nvSpPr>
          <p:cNvPr id="1184" name="Google Shape;1184;p39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15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8" name="Shape 1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Google Shape;1189;p4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0" name="Google Shape;1190;p40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1" name="Google Shape;1191;p40"/>
          <p:cNvSpPr/>
          <p:nvPr/>
        </p:nvSpPr>
        <p:spPr>
          <a:xfrm>
            <a:off x="428625" y="257175"/>
            <a:ext cx="42863" cy="3143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2" name="Google Shape;1192;p40"/>
          <p:cNvSpPr txBox="1"/>
          <p:nvPr/>
        </p:nvSpPr>
        <p:spPr>
          <a:xfrm>
            <a:off x="560070" y="281464"/>
            <a:ext cx="3110243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Code 是什么？</a:t>
            </a:r>
            <a:endParaRPr sz="1100"/>
          </a:p>
        </p:txBody>
      </p:sp>
      <p:sp>
        <p:nvSpPr>
          <p:cNvPr id="1193" name="Google Shape;1193;p40"/>
          <p:cNvSpPr txBox="1"/>
          <p:nvPr/>
        </p:nvSpPr>
        <p:spPr>
          <a:xfrm>
            <a:off x="574358" y="617220"/>
            <a:ext cx="267147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今天的工具 — 了解它做什么，不需要会写代码</a:t>
            </a:r>
            <a:endParaRPr sz="1100"/>
          </a:p>
        </p:txBody>
      </p:sp>
      <p:sp>
        <p:nvSpPr>
          <p:cNvPr id="1194" name="Google Shape;1194;p40"/>
          <p:cNvSpPr/>
          <p:nvPr/>
        </p:nvSpPr>
        <p:spPr>
          <a:xfrm>
            <a:off x="428625" y="857250"/>
            <a:ext cx="4143375" cy="3857625"/>
          </a:xfrm>
          <a:prstGeom prst="roundRect">
            <a:avLst>
              <a:gd fmla="val 296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5" name="Google Shape;1195;p40"/>
          <p:cNvSpPr/>
          <p:nvPr/>
        </p:nvSpPr>
        <p:spPr>
          <a:xfrm>
            <a:off x="428625" y="857250"/>
            <a:ext cx="4143375" cy="571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6" name="Google Shape;1196;p40"/>
          <p:cNvSpPr/>
          <p:nvPr/>
        </p:nvSpPr>
        <p:spPr>
          <a:xfrm>
            <a:off x="571500" y="1085850"/>
            <a:ext cx="3857625" cy="785813"/>
          </a:xfrm>
          <a:prstGeom prst="roundRect">
            <a:avLst>
              <a:gd fmla="val 9091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7" name="Google Shape;1197;p40"/>
          <p:cNvSpPr txBox="1"/>
          <p:nvPr/>
        </p:nvSpPr>
        <p:spPr>
          <a:xfrm>
            <a:off x="2248781" y="1222296"/>
            <a:ext cx="50306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类比理解</a:t>
            </a:r>
            <a:endParaRPr sz="1100"/>
          </a:p>
        </p:txBody>
      </p:sp>
      <p:sp>
        <p:nvSpPr>
          <p:cNvPr id="1198" name="Google Shape;1198;p40"/>
          <p:cNvSpPr txBox="1"/>
          <p:nvPr/>
        </p:nvSpPr>
        <p:spPr>
          <a:xfrm>
            <a:off x="1485966" y="1390889"/>
            <a:ext cx="202869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Claude（网页版）= 智能对话</a:t>
            </a:r>
            <a:endParaRPr sz="1100"/>
          </a:p>
        </p:txBody>
      </p:sp>
      <p:sp>
        <p:nvSpPr>
          <p:cNvPr id="1199" name="Google Shape;1199;p40"/>
          <p:cNvSpPr txBox="1"/>
          <p:nvPr/>
        </p:nvSpPr>
        <p:spPr>
          <a:xfrm>
            <a:off x="1241417" y="1576626"/>
            <a:ext cx="2517791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Claude Code = 能动你电脑的 Claude</a:t>
            </a:r>
            <a:endParaRPr sz="1100"/>
          </a:p>
        </p:txBody>
      </p:sp>
      <p:sp>
        <p:nvSpPr>
          <p:cNvPr id="1200" name="Google Shape;1200;p40"/>
          <p:cNvSpPr txBox="1"/>
          <p:nvPr/>
        </p:nvSpPr>
        <p:spPr>
          <a:xfrm>
            <a:off x="1380422" y="1758077"/>
            <a:ext cx="223978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能读写文件 · 能执行命令 · 能记住你的项目</a:t>
            </a:r>
            <a:endParaRPr sz="1100"/>
          </a:p>
        </p:txBody>
      </p:sp>
      <p:sp>
        <p:nvSpPr>
          <p:cNvPr id="1201" name="Google Shape;1201;p40"/>
          <p:cNvSpPr txBox="1"/>
          <p:nvPr/>
        </p:nvSpPr>
        <p:spPr>
          <a:xfrm>
            <a:off x="560784" y="2066330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核心能力</a:t>
            </a:r>
            <a:endParaRPr sz="1100"/>
          </a:p>
        </p:txBody>
      </p:sp>
      <p:sp>
        <p:nvSpPr>
          <p:cNvPr id="1202" name="Google Shape;1202;p40"/>
          <p:cNvSpPr/>
          <p:nvPr/>
        </p:nvSpPr>
        <p:spPr>
          <a:xfrm>
            <a:off x="585788" y="2243138"/>
            <a:ext cx="257175" cy="257175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3" name="Google Shape;1203;p40"/>
          <p:cNvSpPr txBox="1"/>
          <p:nvPr/>
        </p:nvSpPr>
        <p:spPr>
          <a:xfrm>
            <a:off x="686259" y="2329577"/>
            <a:ext cx="562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1204" name="Google Shape;1204;p40"/>
          <p:cNvSpPr txBox="1"/>
          <p:nvPr/>
        </p:nvSpPr>
        <p:spPr>
          <a:xfrm>
            <a:off x="917972" y="2259211"/>
            <a:ext cx="79777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读写你的文件</a:t>
            </a:r>
            <a:endParaRPr sz="1100"/>
          </a:p>
        </p:txBody>
      </p:sp>
      <p:sp>
        <p:nvSpPr>
          <p:cNvPr id="1205" name="Google Shape;1205;p40"/>
          <p:cNvSpPr txBox="1"/>
          <p:nvPr/>
        </p:nvSpPr>
        <p:spPr>
          <a:xfrm>
            <a:off x="919401" y="2407087"/>
            <a:ext cx="236815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自动读取项目代码，修改文件，不需要你手动操作</a:t>
            </a:r>
            <a:endParaRPr sz="1100"/>
          </a:p>
        </p:txBody>
      </p:sp>
      <p:sp>
        <p:nvSpPr>
          <p:cNvPr id="1206" name="Google Shape;1206;p40"/>
          <p:cNvSpPr/>
          <p:nvPr/>
        </p:nvSpPr>
        <p:spPr>
          <a:xfrm>
            <a:off x="585788" y="2657475"/>
            <a:ext cx="257175" cy="257175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7" name="Google Shape;1207;p40"/>
          <p:cNvSpPr txBox="1"/>
          <p:nvPr/>
        </p:nvSpPr>
        <p:spPr>
          <a:xfrm>
            <a:off x="671163" y="2743914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1208" name="Google Shape;1208;p40"/>
          <p:cNvSpPr txBox="1"/>
          <p:nvPr/>
        </p:nvSpPr>
        <p:spPr>
          <a:xfrm>
            <a:off x="917972" y="2673548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执行命令</a:t>
            </a:r>
            <a:endParaRPr sz="1100"/>
          </a:p>
        </p:txBody>
      </p:sp>
      <p:sp>
        <p:nvSpPr>
          <p:cNvPr id="1209" name="Google Shape;1209;p40"/>
          <p:cNvSpPr txBox="1"/>
          <p:nvPr/>
        </p:nvSpPr>
        <p:spPr>
          <a:xfrm>
            <a:off x="919401" y="2821424"/>
            <a:ext cx="217057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运行脚本、安装工具、操作终端 — 你说，它做</a:t>
            </a:r>
            <a:endParaRPr sz="1100"/>
          </a:p>
        </p:txBody>
      </p:sp>
      <p:sp>
        <p:nvSpPr>
          <p:cNvPr id="1210" name="Google Shape;1210;p40"/>
          <p:cNvSpPr/>
          <p:nvPr/>
        </p:nvSpPr>
        <p:spPr>
          <a:xfrm>
            <a:off x="585788" y="3071813"/>
            <a:ext cx="257175" cy="257175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1" name="Google Shape;1211;p40"/>
          <p:cNvSpPr txBox="1"/>
          <p:nvPr/>
        </p:nvSpPr>
        <p:spPr>
          <a:xfrm>
            <a:off x="671163" y="3158252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1212" name="Google Shape;1212;p40"/>
          <p:cNvSpPr txBox="1"/>
          <p:nvPr/>
        </p:nvSpPr>
        <p:spPr>
          <a:xfrm>
            <a:off x="917972" y="3087886"/>
            <a:ext cx="8365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记住你的 Skill</a:t>
            </a:r>
            <a:endParaRPr sz="1100"/>
          </a:p>
        </p:txBody>
      </p:sp>
      <p:sp>
        <p:nvSpPr>
          <p:cNvPr id="1213" name="Google Shape;1213;p40"/>
          <p:cNvSpPr txBox="1"/>
          <p:nvPr/>
        </p:nvSpPr>
        <p:spPr>
          <a:xfrm>
            <a:off x="919401" y="3235762"/>
            <a:ext cx="32332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/ticker-scan、/stock-analyze 等自定义命令，一次写好永久可用</a:t>
            </a:r>
            <a:endParaRPr sz="1100"/>
          </a:p>
        </p:txBody>
      </p:sp>
      <p:sp>
        <p:nvSpPr>
          <p:cNvPr id="1214" name="Google Shape;1214;p40"/>
          <p:cNvSpPr/>
          <p:nvPr/>
        </p:nvSpPr>
        <p:spPr>
          <a:xfrm>
            <a:off x="585788" y="3486150"/>
            <a:ext cx="257175" cy="257175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5" name="Google Shape;1215;p40"/>
          <p:cNvSpPr txBox="1"/>
          <p:nvPr/>
        </p:nvSpPr>
        <p:spPr>
          <a:xfrm>
            <a:off x="671163" y="3572589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1216" name="Google Shape;1216;p40"/>
          <p:cNvSpPr txBox="1"/>
          <p:nvPr/>
        </p:nvSpPr>
        <p:spPr>
          <a:xfrm>
            <a:off x="917972" y="3502223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理解项目上下文</a:t>
            </a:r>
            <a:endParaRPr sz="1100"/>
          </a:p>
        </p:txBody>
      </p:sp>
      <p:sp>
        <p:nvSpPr>
          <p:cNvPr id="1217" name="Google Shape;1217;p40"/>
          <p:cNvSpPr txBox="1"/>
          <p:nvPr/>
        </p:nvSpPr>
        <p:spPr>
          <a:xfrm>
            <a:off x="919401" y="3650099"/>
            <a:ext cx="183415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了解整个项目结构，跨文件一致地工作</a:t>
            </a:r>
            <a:endParaRPr sz="1100"/>
          </a:p>
        </p:txBody>
      </p:sp>
      <p:sp>
        <p:nvSpPr>
          <p:cNvPr id="1218" name="Google Shape;1218;p40"/>
          <p:cNvSpPr/>
          <p:nvPr/>
        </p:nvSpPr>
        <p:spPr>
          <a:xfrm>
            <a:off x="571500" y="3971925"/>
            <a:ext cx="3857625" cy="571500"/>
          </a:xfrm>
          <a:prstGeom prst="roundRect">
            <a:avLst>
              <a:gd fmla="val 125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9" name="Google Shape;1219;p40"/>
          <p:cNvSpPr txBox="1"/>
          <p:nvPr/>
        </p:nvSpPr>
        <p:spPr>
          <a:xfrm>
            <a:off x="1826103" y="4079796"/>
            <a:ext cx="13484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今天你只需要记住一件事</a:t>
            </a:r>
            <a:endParaRPr sz="1100"/>
          </a:p>
        </p:txBody>
      </p:sp>
      <p:sp>
        <p:nvSpPr>
          <p:cNvPr id="1220" name="Google Shape;1220;p40"/>
          <p:cNvSpPr txBox="1"/>
          <p:nvPr/>
        </p:nvSpPr>
        <p:spPr>
          <a:xfrm>
            <a:off x="1523988" y="4240173"/>
            <a:ext cx="195264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用自然语言告诉它 → 它帮你做</a:t>
            </a:r>
            <a:endParaRPr sz="1100"/>
          </a:p>
        </p:txBody>
      </p:sp>
      <p:sp>
        <p:nvSpPr>
          <p:cNvPr id="1221" name="Google Shape;1221;p40"/>
          <p:cNvSpPr txBox="1"/>
          <p:nvPr/>
        </p:nvSpPr>
        <p:spPr>
          <a:xfrm>
            <a:off x="1583234" y="4407337"/>
            <a:ext cx="183415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不需要懂代码，只需要说清楚你要什么</a:t>
            </a:r>
            <a:endParaRPr sz="1100"/>
          </a:p>
        </p:txBody>
      </p:sp>
      <p:sp>
        <p:nvSpPr>
          <p:cNvPr id="1222" name="Google Shape;1222;p40"/>
          <p:cNvSpPr/>
          <p:nvPr/>
        </p:nvSpPr>
        <p:spPr>
          <a:xfrm>
            <a:off x="4857750" y="857250"/>
            <a:ext cx="4000500" cy="3857625"/>
          </a:xfrm>
          <a:prstGeom prst="roundRect">
            <a:avLst>
              <a:gd fmla="val 296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3" name="Google Shape;1223;p40"/>
          <p:cNvSpPr/>
          <p:nvPr/>
        </p:nvSpPr>
        <p:spPr>
          <a:xfrm>
            <a:off x="4857750" y="857250"/>
            <a:ext cx="4000500" cy="5715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4" name="Google Shape;1224;p40"/>
          <p:cNvSpPr txBox="1"/>
          <p:nvPr/>
        </p:nvSpPr>
        <p:spPr>
          <a:xfrm>
            <a:off x="6394415" y="1066205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今天的使用方式</a:t>
            </a:r>
            <a:endParaRPr sz="1100"/>
          </a:p>
        </p:txBody>
      </p:sp>
      <p:sp>
        <p:nvSpPr>
          <p:cNvPr id="1225" name="Google Shape;1225;p40"/>
          <p:cNvSpPr/>
          <p:nvPr/>
        </p:nvSpPr>
        <p:spPr>
          <a:xfrm>
            <a:off x="5000625" y="1271588"/>
            <a:ext cx="3714750" cy="457200"/>
          </a:xfrm>
          <a:prstGeom prst="roundRect">
            <a:avLst>
              <a:gd fmla="val 15625" name="adj"/>
            </a:avLst>
          </a:prstGeom>
          <a:solidFill>
            <a:srgbClr val="F8F6F4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6" name="Google Shape;1226;p40"/>
          <p:cNvSpPr/>
          <p:nvPr/>
        </p:nvSpPr>
        <p:spPr>
          <a:xfrm>
            <a:off x="5100638" y="1385888"/>
            <a:ext cx="228600" cy="228600"/>
          </a:xfrm>
          <a:prstGeom prst="ellipse">
            <a:avLst/>
          </a:prstGeom>
          <a:solidFill>
            <a:srgbClr val="3D7DE4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7" name="Google Shape;1227;p40"/>
          <p:cNvSpPr txBox="1"/>
          <p:nvPr/>
        </p:nvSpPr>
        <p:spPr>
          <a:xfrm>
            <a:off x="5174813" y="1456968"/>
            <a:ext cx="8025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100"/>
          </a:p>
        </p:txBody>
      </p:sp>
      <p:sp>
        <p:nvSpPr>
          <p:cNvPr id="1228" name="Google Shape;1228;p40"/>
          <p:cNvSpPr txBox="1"/>
          <p:nvPr/>
        </p:nvSpPr>
        <p:spPr>
          <a:xfrm>
            <a:off x="5419249" y="1365171"/>
            <a:ext cx="124576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打开 Claude Code 终端</a:t>
            </a:r>
            <a:endParaRPr sz="1100"/>
          </a:p>
        </p:txBody>
      </p:sp>
      <p:sp>
        <p:nvSpPr>
          <p:cNvPr id="1229" name="Google Shape;1229;p40"/>
          <p:cNvSpPr txBox="1"/>
          <p:nvPr/>
        </p:nvSpPr>
        <p:spPr>
          <a:xfrm>
            <a:off x="5419963" y="1514118"/>
            <a:ext cx="140696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讲师提前配置好，学员直接用</a:t>
            </a:r>
            <a:endParaRPr sz="1100"/>
          </a:p>
        </p:txBody>
      </p:sp>
      <p:sp>
        <p:nvSpPr>
          <p:cNvPr id="1230" name="Google Shape;1230;p40"/>
          <p:cNvSpPr/>
          <p:nvPr/>
        </p:nvSpPr>
        <p:spPr>
          <a:xfrm>
            <a:off x="6858000" y="1728788"/>
            <a:ext cx="7144" cy="100013"/>
          </a:xfrm>
          <a:custGeom>
            <a:rect b="b" l="l" r="r" t="t"/>
            <a:pathLst>
              <a:path extrusionOk="0" h="133350" w="9525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/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1" name="Google Shape;1231;p40"/>
          <p:cNvSpPr/>
          <p:nvPr/>
        </p:nvSpPr>
        <p:spPr>
          <a:xfrm>
            <a:off x="6822281" y="1814513"/>
            <a:ext cx="71438" cy="57150"/>
          </a:xfrm>
          <a:custGeom>
            <a:rect b="b" l="l" r="r" t="t"/>
            <a:pathLst>
              <a:path extrusionOk="0" h="76200" w="95250">
                <a:moveTo>
                  <a:pt x="0" y="0"/>
                </a:moveTo>
                <a:lnTo>
                  <a:pt x="47625" y="76200"/>
                </a:lnTo>
                <a:lnTo>
                  <a:pt x="95250" y="0"/>
                </a:lnTo>
                <a:close/>
              </a:path>
            </a:pathLst>
          </a:custGeom>
          <a:solidFill>
            <a:srgbClr val="E0D8D0"/>
          </a:solidFill>
          <a:ln>
            <a:noFill/>
          </a:ln>
        </p:spPr>
      </p:sp>
      <p:sp>
        <p:nvSpPr>
          <p:cNvPr id="1232" name="Google Shape;1232;p40"/>
          <p:cNvSpPr/>
          <p:nvPr/>
        </p:nvSpPr>
        <p:spPr>
          <a:xfrm>
            <a:off x="5000625" y="1871663"/>
            <a:ext cx="3714750" cy="714375"/>
          </a:xfrm>
          <a:prstGeom prst="roundRect">
            <a:avLst>
              <a:gd fmla="val 100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3" name="Google Shape;1233;p40"/>
          <p:cNvSpPr txBox="1"/>
          <p:nvPr/>
        </p:nvSpPr>
        <p:spPr>
          <a:xfrm>
            <a:off x="5134213" y="1978462"/>
            <a:ext cx="122540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$ claude (在项目目录下)</a:t>
            </a:r>
            <a:endParaRPr sz="1100"/>
          </a:p>
        </p:txBody>
      </p:sp>
      <p:sp>
        <p:nvSpPr>
          <p:cNvPr id="1234" name="Google Shape;1234;p40"/>
          <p:cNvSpPr txBox="1"/>
          <p:nvPr/>
        </p:nvSpPr>
        <p:spPr>
          <a:xfrm>
            <a:off x="5132784" y="2152055"/>
            <a:ext cx="84306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1235" name="Google Shape;1235;p40"/>
          <p:cNvSpPr txBox="1"/>
          <p:nvPr/>
        </p:nvSpPr>
        <p:spPr>
          <a:xfrm>
            <a:off x="5134213" y="2321362"/>
            <a:ext cx="141764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# 或者 /stock-analyze SPCX</a:t>
            </a:r>
            <a:endParaRPr sz="1100"/>
          </a:p>
        </p:txBody>
      </p:sp>
      <p:sp>
        <p:nvSpPr>
          <p:cNvPr id="1236" name="Google Shape;1236;p40"/>
          <p:cNvSpPr/>
          <p:nvPr/>
        </p:nvSpPr>
        <p:spPr>
          <a:xfrm>
            <a:off x="6858000" y="2586038"/>
            <a:ext cx="7144" cy="100013"/>
          </a:xfrm>
          <a:custGeom>
            <a:rect b="b" l="l" r="r" t="t"/>
            <a:pathLst>
              <a:path extrusionOk="0" h="133350" w="9525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/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7" name="Google Shape;1237;p40"/>
          <p:cNvSpPr/>
          <p:nvPr/>
        </p:nvSpPr>
        <p:spPr>
          <a:xfrm>
            <a:off x="6822281" y="2671763"/>
            <a:ext cx="71438" cy="57150"/>
          </a:xfrm>
          <a:custGeom>
            <a:rect b="b" l="l" r="r" t="t"/>
            <a:pathLst>
              <a:path extrusionOk="0" h="76200" w="95250">
                <a:moveTo>
                  <a:pt x="0" y="0"/>
                </a:moveTo>
                <a:lnTo>
                  <a:pt x="47625" y="76200"/>
                </a:lnTo>
                <a:lnTo>
                  <a:pt x="95250" y="0"/>
                </a:lnTo>
                <a:close/>
              </a:path>
            </a:pathLst>
          </a:custGeom>
          <a:solidFill>
            <a:srgbClr val="E0D8D0"/>
          </a:solidFill>
          <a:ln>
            <a:noFill/>
          </a:ln>
        </p:spPr>
      </p:sp>
      <p:sp>
        <p:nvSpPr>
          <p:cNvPr id="1238" name="Google Shape;1238;p40"/>
          <p:cNvSpPr/>
          <p:nvPr/>
        </p:nvSpPr>
        <p:spPr>
          <a:xfrm>
            <a:off x="5000625" y="2728913"/>
            <a:ext cx="3714750" cy="571500"/>
          </a:xfrm>
          <a:prstGeom prst="roundRect">
            <a:avLst>
              <a:gd fmla="val 12500" name="adj"/>
            </a:avLst>
          </a:prstGeom>
          <a:solidFill>
            <a:srgbClr val="EBF7F1"/>
          </a:solidFill>
          <a:ln cap="flat" cmpd="sng" w="142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9" name="Google Shape;1239;p40"/>
          <p:cNvSpPr/>
          <p:nvPr/>
        </p:nvSpPr>
        <p:spPr>
          <a:xfrm>
            <a:off x="5100638" y="2900363"/>
            <a:ext cx="228600" cy="228600"/>
          </a:xfrm>
          <a:prstGeom prst="ellipse">
            <a:avLst/>
          </a:prstGeom>
          <a:solidFill>
            <a:srgbClr val="3A9E6A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0" name="Google Shape;1240;p40"/>
          <p:cNvSpPr txBox="1"/>
          <p:nvPr/>
        </p:nvSpPr>
        <p:spPr>
          <a:xfrm>
            <a:off x="5171726" y="2965371"/>
            <a:ext cx="864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sz="1100"/>
          </a:p>
        </p:txBody>
      </p:sp>
      <p:sp>
        <p:nvSpPr>
          <p:cNvPr id="1241" name="Google Shape;1241;p40"/>
          <p:cNvSpPr txBox="1"/>
          <p:nvPr/>
        </p:nvSpPr>
        <p:spPr>
          <a:xfrm>
            <a:off x="5419249" y="2879646"/>
            <a:ext cx="151145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完成分析，输出结果</a:t>
            </a:r>
            <a:endParaRPr sz="1100"/>
          </a:p>
        </p:txBody>
      </p:sp>
      <p:sp>
        <p:nvSpPr>
          <p:cNvPr id="1242" name="Google Shape;1242;p40"/>
          <p:cNvSpPr txBox="1"/>
          <p:nvPr/>
        </p:nvSpPr>
        <p:spPr>
          <a:xfrm>
            <a:off x="5419964" y="3028593"/>
            <a:ext cx="161521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候选股列表 / 评分 / 入场区间...</a:t>
            </a:r>
            <a:endParaRPr sz="1100"/>
          </a:p>
        </p:txBody>
      </p:sp>
      <p:sp>
        <p:nvSpPr>
          <p:cNvPr id="1243" name="Google Shape;1243;p40"/>
          <p:cNvSpPr txBox="1"/>
          <p:nvPr/>
        </p:nvSpPr>
        <p:spPr>
          <a:xfrm>
            <a:off x="5419963" y="3157181"/>
            <a:ext cx="108656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全程不需要写一行代码</a:t>
            </a:r>
            <a:endParaRPr sz="1100"/>
          </a:p>
        </p:txBody>
      </p:sp>
      <p:sp>
        <p:nvSpPr>
          <p:cNvPr id="1244" name="Google Shape;1244;p40"/>
          <p:cNvSpPr txBox="1"/>
          <p:nvPr/>
        </p:nvSpPr>
        <p:spPr>
          <a:xfrm>
            <a:off x="6364938" y="3486864"/>
            <a:ext cx="9861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今天会用到的命令</a:t>
            </a:r>
            <a:endParaRPr sz="1100"/>
          </a:p>
        </p:txBody>
      </p:sp>
      <p:sp>
        <p:nvSpPr>
          <p:cNvPr id="1245" name="Google Shape;1245;p40"/>
          <p:cNvSpPr/>
          <p:nvPr/>
        </p:nvSpPr>
        <p:spPr>
          <a:xfrm>
            <a:off x="5000625" y="3657600"/>
            <a:ext cx="1685925" cy="257175"/>
          </a:xfrm>
          <a:prstGeom prst="roundRect">
            <a:avLst>
              <a:gd fmla="val 2222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6" name="Google Shape;1246;p40"/>
          <p:cNvSpPr txBox="1"/>
          <p:nvPr/>
        </p:nvSpPr>
        <p:spPr>
          <a:xfrm>
            <a:off x="5450157" y="3736896"/>
            <a:ext cx="78686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1247" name="Google Shape;1247;p40"/>
          <p:cNvSpPr/>
          <p:nvPr/>
        </p:nvSpPr>
        <p:spPr>
          <a:xfrm>
            <a:off x="6772275" y="3657600"/>
            <a:ext cx="1943100" cy="257175"/>
          </a:xfrm>
          <a:prstGeom prst="roundRect">
            <a:avLst>
              <a:gd fmla="val 22222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8" name="Google Shape;1248;p40"/>
          <p:cNvSpPr txBox="1"/>
          <p:nvPr/>
        </p:nvSpPr>
        <p:spPr>
          <a:xfrm>
            <a:off x="7015271" y="3736896"/>
            <a:ext cx="145710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/stock-analyze &lt;ticker&gt;</a:t>
            </a:r>
            <a:endParaRPr sz="1100"/>
          </a:p>
        </p:txBody>
      </p:sp>
      <p:sp>
        <p:nvSpPr>
          <p:cNvPr id="1249" name="Google Shape;1249;p40"/>
          <p:cNvSpPr/>
          <p:nvPr/>
        </p:nvSpPr>
        <p:spPr>
          <a:xfrm>
            <a:off x="5000625" y="3971925"/>
            <a:ext cx="1685925" cy="257175"/>
          </a:xfrm>
          <a:prstGeom prst="roundRect">
            <a:avLst>
              <a:gd fmla="val 22222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0" name="Google Shape;1250;p40"/>
          <p:cNvSpPr txBox="1"/>
          <p:nvPr/>
        </p:nvSpPr>
        <p:spPr>
          <a:xfrm>
            <a:off x="5166359" y="4051221"/>
            <a:ext cx="135445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/stock-entry &lt;ticker&gt;</a:t>
            </a:r>
            <a:endParaRPr sz="1100"/>
          </a:p>
        </p:txBody>
      </p:sp>
      <p:sp>
        <p:nvSpPr>
          <p:cNvPr id="1251" name="Google Shape;1251;p40"/>
          <p:cNvSpPr/>
          <p:nvPr/>
        </p:nvSpPr>
        <p:spPr>
          <a:xfrm>
            <a:off x="6772275" y="3971925"/>
            <a:ext cx="1943100" cy="257175"/>
          </a:xfrm>
          <a:prstGeom prst="roundRect">
            <a:avLst>
              <a:gd fmla="val 22222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2" name="Google Shape;1252;p40"/>
          <p:cNvSpPr txBox="1"/>
          <p:nvPr/>
        </p:nvSpPr>
        <p:spPr>
          <a:xfrm>
            <a:off x="7114903" y="4051221"/>
            <a:ext cx="125784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/stock-exit &lt;ticker&gt;</a:t>
            </a:r>
            <a:endParaRPr sz="1100"/>
          </a:p>
        </p:txBody>
      </p:sp>
      <p:sp>
        <p:nvSpPr>
          <p:cNvPr id="1253" name="Google Shape;1253;p40"/>
          <p:cNvSpPr/>
          <p:nvPr/>
        </p:nvSpPr>
        <p:spPr>
          <a:xfrm>
            <a:off x="5000625" y="4343400"/>
            <a:ext cx="3714750" cy="285750"/>
          </a:xfrm>
          <a:prstGeom prst="roundRect">
            <a:avLst>
              <a:gd fmla="val 2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4" name="Google Shape;1254;p40"/>
          <p:cNvSpPr txBox="1"/>
          <p:nvPr/>
        </p:nvSpPr>
        <p:spPr>
          <a:xfrm>
            <a:off x="5691673" y="4436984"/>
            <a:ext cx="233265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这些命令都已经预装好 — 你只需要输入文字</a:t>
            </a:r>
            <a:endParaRPr sz="1100"/>
          </a:p>
        </p:txBody>
      </p:sp>
      <p:sp>
        <p:nvSpPr>
          <p:cNvPr id="1255" name="Google Shape;1255;p40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15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9" name="Shape 1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Google Shape;1260;p4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1" name="Google Shape;1261;p41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2" name="Google Shape;1262;p41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3" name="Google Shape;1263;p41"/>
          <p:cNvSpPr txBox="1"/>
          <p:nvPr/>
        </p:nvSpPr>
        <p:spPr>
          <a:xfrm>
            <a:off x="560070" y="252889"/>
            <a:ext cx="267548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框架 × Skill 对应表</a:t>
            </a:r>
            <a:endParaRPr sz="1100"/>
          </a:p>
        </p:txBody>
      </p:sp>
      <p:sp>
        <p:nvSpPr>
          <p:cNvPr id="1264" name="Google Shape;1264;p41"/>
          <p:cNvSpPr txBox="1"/>
          <p:nvPr/>
        </p:nvSpPr>
        <p:spPr>
          <a:xfrm>
            <a:off x="574357" y="588645"/>
            <a:ext cx="307238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每个 Skill 背后有明确的方法论依据 — 不是 AI 在乱猜</a:t>
            </a:r>
            <a:endParaRPr sz="1100"/>
          </a:p>
        </p:txBody>
      </p:sp>
      <p:sp>
        <p:nvSpPr>
          <p:cNvPr id="1265" name="Google Shape;1265;p41"/>
          <p:cNvSpPr/>
          <p:nvPr/>
        </p:nvSpPr>
        <p:spPr>
          <a:xfrm>
            <a:off x="428625" y="857250"/>
            <a:ext cx="8286750" cy="3214688"/>
          </a:xfrm>
          <a:prstGeom prst="roundRect">
            <a:avLst>
              <a:gd fmla="val 889" name="adj"/>
            </a:avLst>
          </a:prstGeom>
          <a:noFill/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6" name="Google Shape;1266;p41"/>
          <p:cNvSpPr/>
          <p:nvPr/>
        </p:nvSpPr>
        <p:spPr>
          <a:xfrm>
            <a:off x="428625" y="857250"/>
            <a:ext cx="8286750" cy="400050"/>
          </a:xfrm>
          <a:prstGeom prst="roundRect">
            <a:avLst>
              <a:gd fmla="val 7143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7" name="Google Shape;1267;p41"/>
          <p:cNvSpPr/>
          <p:nvPr/>
        </p:nvSpPr>
        <p:spPr>
          <a:xfrm>
            <a:off x="428625" y="1085850"/>
            <a:ext cx="8286750" cy="17145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8" name="Google Shape;1268;p41"/>
          <p:cNvSpPr txBox="1"/>
          <p:nvPr/>
        </p:nvSpPr>
        <p:spPr>
          <a:xfrm>
            <a:off x="1002893" y="1009055"/>
            <a:ext cx="28021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框架</a:t>
            </a:r>
            <a:endParaRPr sz="1100"/>
          </a:p>
        </p:txBody>
      </p:sp>
      <p:sp>
        <p:nvSpPr>
          <p:cNvPr id="1269" name="Google Shape;1269;p41"/>
          <p:cNvSpPr txBox="1"/>
          <p:nvPr/>
        </p:nvSpPr>
        <p:spPr>
          <a:xfrm>
            <a:off x="2393915" y="1009055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解决的核心问题</a:t>
            </a:r>
            <a:endParaRPr sz="1100"/>
          </a:p>
        </p:txBody>
      </p:sp>
      <p:sp>
        <p:nvSpPr>
          <p:cNvPr id="1270" name="Google Shape;1270;p41"/>
          <p:cNvSpPr txBox="1"/>
          <p:nvPr/>
        </p:nvSpPr>
        <p:spPr>
          <a:xfrm>
            <a:off x="4568843" y="1009055"/>
            <a:ext cx="57781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对应 Skill</a:t>
            </a:r>
            <a:endParaRPr sz="1100"/>
          </a:p>
        </p:txBody>
      </p:sp>
      <p:sp>
        <p:nvSpPr>
          <p:cNvPr id="1271" name="Google Shape;1271;p41"/>
          <p:cNvSpPr txBox="1"/>
          <p:nvPr/>
        </p:nvSpPr>
        <p:spPr>
          <a:xfrm>
            <a:off x="6517064" y="1009055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使用时机</a:t>
            </a:r>
            <a:endParaRPr sz="1100"/>
          </a:p>
        </p:txBody>
      </p:sp>
      <p:sp>
        <p:nvSpPr>
          <p:cNvPr id="1272" name="Google Shape;1272;p41"/>
          <p:cNvSpPr txBox="1"/>
          <p:nvPr/>
        </p:nvSpPr>
        <p:spPr>
          <a:xfrm>
            <a:off x="8146643" y="1009055"/>
            <a:ext cx="28021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课上</a:t>
            </a:r>
            <a:endParaRPr sz="1100"/>
          </a:p>
        </p:txBody>
      </p:sp>
      <p:sp>
        <p:nvSpPr>
          <p:cNvPr id="1273" name="Google Shape;1273;p41"/>
          <p:cNvSpPr/>
          <p:nvPr/>
        </p:nvSpPr>
        <p:spPr>
          <a:xfrm>
            <a:off x="1857375" y="857250"/>
            <a:ext cx="7144" cy="3214688"/>
          </a:xfrm>
          <a:custGeom>
            <a:rect b="b" l="l" r="r" t="t"/>
            <a:pathLst>
              <a:path extrusionOk="0" h="4286250" w="9525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4" name="Google Shape;1274;p41"/>
          <p:cNvSpPr/>
          <p:nvPr/>
        </p:nvSpPr>
        <p:spPr>
          <a:xfrm>
            <a:off x="3857625" y="857250"/>
            <a:ext cx="7144" cy="3214688"/>
          </a:xfrm>
          <a:custGeom>
            <a:rect b="b" l="l" r="r" t="t"/>
            <a:pathLst>
              <a:path extrusionOk="0" h="4286250" w="9525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5" name="Google Shape;1275;p41"/>
          <p:cNvSpPr/>
          <p:nvPr/>
        </p:nvSpPr>
        <p:spPr>
          <a:xfrm>
            <a:off x="5857875" y="857250"/>
            <a:ext cx="7144" cy="3214688"/>
          </a:xfrm>
          <a:custGeom>
            <a:rect b="b" l="l" r="r" t="t"/>
            <a:pathLst>
              <a:path extrusionOk="0" h="4286250" w="9525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6" name="Google Shape;1276;p41"/>
          <p:cNvSpPr/>
          <p:nvPr/>
        </p:nvSpPr>
        <p:spPr>
          <a:xfrm>
            <a:off x="7715250" y="857250"/>
            <a:ext cx="7144" cy="3214688"/>
          </a:xfrm>
          <a:custGeom>
            <a:rect b="b" l="l" r="r" t="t"/>
            <a:pathLst>
              <a:path extrusionOk="0" h="4286250" w="9525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7" name="Google Shape;1277;p41"/>
          <p:cNvSpPr/>
          <p:nvPr/>
        </p:nvSpPr>
        <p:spPr>
          <a:xfrm>
            <a:off x="428625" y="1685925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8" name="Google Shape;1278;p41"/>
          <p:cNvSpPr/>
          <p:nvPr/>
        </p:nvSpPr>
        <p:spPr>
          <a:xfrm>
            <a:off x="435769" y="1264444"/>
            <a:ext cx="8272463" cy="414338"/>
          </a:xfrm>
          <a:prstGeom prst="rect">
            <a:avLst/>
          </a:prstGeom>
          <a:solidFill>
            <a:srgbClr val="FFF8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9" name="Google Shape;1279;p41"/>
          <p:cNvSpPr/>
          <p:nvPr/>
        </p:nvSpPr>
        <p:spPr>
          <a:xfrm>
            <a:off x="435769" y="1264444"/>
            <a:ext cx="28575" cy="414338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0" name="Google Shape;1280;p41"/>
          <p:cNvSpPr txBox="1"/>
          <p:nvPr/>
        </p:nvSpPr>
        <p:spPr>
          <a:xfrm>
            <a:off x="488633" y="1317307"/>
            <a:ext cx="98898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热门赛道方法论</a:t>
            </a:r>
            <a:endParaRPr sz="1100"/>
          </a:p>
        </p:txBody>
      </p:sp>
      <p:sp>
        <p:nvSpPr>
          <p:cNvPr id="1281" name="Google Shape;1281;p41"/>
          <p:cNvSpPr txBox="1"/>
          <p:nvPr/>
        </p:nvSpPr>
        <p:spPr>
          <a:xfrm>
            <a:off x="490776" y="1492687"/>
            <a:ext cx="87296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热门赛道选股方法</a:t>
            </a:r>
            <a:endParaRPr sz="1100"/>
          </a:p>
        </p:txBody>
      </p:sp>
      <p:sp>
        <p:nvSpPr>
          <p:cNvPr id="1282" name="Google Shape;1282;p41"/>
          <p:cNvSpPr txBox="1"/>
          <p:nvPr/>
        </p:nvSpPr>
        <p:spPr>
          <a:xfrm>
            <a:off x="1917382" y="1424464"/>
            <a:ext cx="85096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在哪里找股？</a:t>
            </a:r>
            <a:endParaRPr sz="1100"/>
          </a:p>
        </p:txBody>
      </p:sp>
      <p:sp>
        <p:nvSpPr>
          <p:cNvPr id="1283" name="Google Shape;1283;p41"/>
          <p:cNvSpPr txBox="1"/>
          <p:nvPr/>
        </p:nvSpPr>
        <p:spPr>
          <a:xfrm>
            <a:off x="3918347" y="1380530"/>
            <a:ext cx="84306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1284" name="Google Shape;1284;p41"/>
          <p:cNvSpPr txBox="1"/>
          <p:nvPr/>
        </p:nvSpPr>
        <p:spPr>
          <a:xfrm>
            <a:off x="3919776" y="1535549"/>
            <a:ext cx="11933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扫七大赛道，输出候选股</a:t>
            </a:r>
            <a:endParaRPr sz="1100"/>
          </a:p>
        </p:txBody>
      </p:sp>
      <p:sp>
        <p:nvSpPr>
          <p:cNvPr id="1285" name="Google Shape;1285;p41"/>
          <p:cNvSpPr txBox="1"/>
          <p:nvPr/>
        </p:nvSpPr>
        <p:spPr>
          <a:xfrm>
            <a:off x="5919311" y="1436609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每周定期扫描</a:t>
            </a:r>
            <a:endParaRPr sz="1100"/>
          </a:p>
        </p:txBody>
      </p:sp>
      <p:sp>
        <p:nvSpPr>
          <p:cNvPr id="1286" name="Google Shape;1286;p41"/>
          <p:cNvSpPr txBox="1"/>
          <p:nvPr/>
        </p:nvSpPr>
        <p:spPr>
          <a:xfrm>
            <a:off x="7591589" y="1430536"/>
            <a:ext cx="3901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主讲</a:t>
            </a:r>
            <a:endParaRPr sz="1100"/>
          </a:p>
        </p:txBody>
      </p:sp>
      <p:sp>
        <p:nvSpPr>
          <p:cNvPr id="1287" name="Google Shape;1287;p41"/>
          <p:cNvSpPr/>
          <p:nvPr/>
        </p:nvSpPr>
        <p:spPr>
          <a:xfrm>
            <a:off x="428625" y="2228850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8" name="Google Shape;1288;p41"/>
          <p:cNvSpPr/>
          <p:nvPr/>
        </p:nvSpPr>
        <p:spPr>
          <a:xfrm>
            <a:off x="435769" y="1693069"/>
            <a:ext cx="8272463" cy="52863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9" name="Google Shape;1289;p41"/>
          <p:cNvSpPr txBox="1"/>
          <p:nvPr/>
        </p:nvSpPr>
        <p:spPr>
          <a:xfrm>
            <a:off x="488633" y="1760220"/>
            <a:ext cx="3264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SEPA</a:t>
            </a:r>
            <a:endParaRPr sz="1100"/>
          </a:p>
        </p:txBody>
      </p:sp>
      <p:sp>
        <p:nvSpPr>
          <p:cNvPr id="1290" name="Google Shape;1290;p41"/>
          <p:cNvSpPr txBox="1"/>
          <p:nvPr/>
        </p:nvSpPr>
        <p:spPr>
          <a:xfrm>
            <a:off x="490776" y="1921312"/>
            <a:ext cx="135890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Stage + EPS + Price + Acc.</a:t>
            </a:r>
            <a:endParaRPr sz="1100"/>
          </a:p>
        </p:txBody>
      </p:sp>
      <p:sp>
        <p:nvSpPr>
          <p:cNvPr id="1291" name="Google Shape;1291;p41"/>
          <p:cNvSpPr txBox="1"/>
          <p:nvPr/>
        </p:nvSpPr>
        <p:spPr>
          <a:xfrm>
            <a:off x="1917382" y="1860232"/>
            <a:ext cx="85096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什么时候买？</a:t>
            </a:r>
            <a:endParaRPr sz="1100"/>
          </a:p>
        </p:txBody>
      </p:sp>
      <p:sp>
        <p:nvSpPr>
          <p:cNvPr id="1292" name="Google Shape;1292;p41"/>
          <p:cNvSpPr txBox="1"/>
          <p:nvPr/>
        </p:nvSpPr>
        <p:spPr>
          <a:xfrm>
            <a:off x="3918347" y="1816298"/>
            <a:ext cx="87541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/stock-entry</a:t>
            </a:r>
            <a:endParaRPr sz="1100"/>
          </a:p>
        </p:txBody>
      </p:sp>
      <p:sp>
        <p:nvSpPr>
          <p:cNvPr id="1293" name="Google Shape;1293;p41"/>
          <p:cNvSpPr txBox="1"/>
          <p:nvPr/>
        </p:nvSpPr>
        <p:spPr>
          <a:xfrm>
            <a:off x="3919776" y="1971318"/>
            <a:ext cx="110258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入场区间 · 轴心点确认</a:t>
            </a:r>
            <a:endParaRPr sz="1100"/>
          </a:p>
        </p:txBody>
      </p:sp>
      <p:sp>
        <p:nvSpPr>
          <p:cNvPr id="1294" name="Google Shape;1294;p41"/>
          <p:cNvSpPr txBox="1"/>
          <p:nvPr/>
        </p:nvSpPr>
        <p:spPr>
          <a:xfrm>
            <a:off x="5919311" y="1872377"/>
            <a:ext cx="5950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准备入场前</a:t>
            </a:r>
            <a:endParaRPr sz="1100"/>
          </a:p>
        </p:txBody>
      </p:sp>
      <p:sp>
        <p:nvSpPr>
          <p:cNvPr id="1295" name="Google Shape;1295;p41"/>
          <p:cNvSpPr txBox="1"/>
          <p:nvPr/>
        </p:nvSpPr>
        <p:spPr>
          <a:xfrm>
            <a:off x="7591589" y="1866305"/>
            <a:ext cx="3901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介绍</a:t>
            </a:r>
            <a:endParaRPr sz="1100"/>
          </a:p>
        </p:txBody>
      </p:sp>
      <p:sp>
        <p:nvSpPr>
          <p:cNvPr id="1296" name="Google Shape;1296;p41"/>
          <p:cNvSpPr/>
          <p:nvPr/>
        </p:nvSpPr>
        <p:spPr>
          <a:xfrm>
            <a:off x="428625" y="2771775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7" name="Google Shape;1297;p41"/>
          <p:cNvSpPr/>
          <p:nvPr/>
        </p:nvSpPr>
        <p:spPr>
          <a:xfrm>
            <a:off x="435769" y="2235994"/>
            <a:ext cx="8272463" cy="528638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8" name="Google Shape;1298;p41"/>
          <p:cNvSpPr txBox="1"/>
          <p:nvPr/>
        </p:nvSpPr>
        <p:spPr>
          <a:xfrm>
            <a:off x="488633" y="2303145"/>
            <a:ext cx="29199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BAIT</a:t>
            </a:r>
            <a:endParaRPr sz="1100"/>
          </a:p>
        </p:txBody>
      </p:sp>
      <p:sp>
        <p:nvSpPr>
          <p:cNvPr id="1299" name="Google Shape;1299;p41"/>
          <p:cNvSpPr txBox="1"/>
          <p:nvPr/>
        </p:nvSpPr>
        <p:spPr>
          <a:xfrm>
            <a:off x="490776" y="2464237"/>
            <a:ext cx="182881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Behavioral · Analytical · Info · Tech</a:t>
            </a:r>
            <a:endParaRPr sz="1100"/>
          </a:p>
        </p:txBody>
      </p:sp>
      <p:sp>
        <p:nvSpPr>
          <p:cNvPr id="1300" name="Google Shape;1300;p41"/>
          <p:cNvSpPr txBox="1"/>
          <p:nvPr/>
        </p:nvSpPr>
        <p:spPr>
          <a:xfrm>
            <a:off x="1917382" y="2403157"/>
            <a:ext cx="11269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市场为什么错了？</a:t>
            </a:r>
            <a:endParaRPr sz="1100"/>
          </a:p>
        </p:txBody>
      </p:sp>
      <p:sp>
        <p:nvSpPr>
          <p:cNvPr id="1301" name="Google Shape;1301;p41"/>
          <p:cNvSpPr txBox="1"/>
          <p:nvPr/>
        </p:nvSpPr>
        <p:spPr>
          <a:xfrm>
            <a:off x="3918347" y="2359223"/>
            <a:ext cx="9853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/stock-analyze</a:t>
            </a:r>
            <a:endParaRPr sz="1100"/>
          </a:p>
        </p:txBody>
      </p:sp>
      <p:sp>
        <p:nvSpPr>
          <p:cNvPr id="1302" name="Google Shape;1302;p41"/>
          <p:cNvSpPr txBox="1"/>
          <p:nvPr/>
        </p:nvSpPr>
        <p:spPr>
          <a:xfrm>
            <a:off x="3919776" y="2514243"/>
            <a:ext cx="120938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综合评分 + 深度分析报告</a:t>
            </a:r>
            <a:endParaRPr sz="1100"/>
          </a:p>
        </p:txBody>
      </p:sp>
      <p:sp>
        <p:nvSpPr>
          <p:cNvPr id="1303" name="Google Shape;1303;p41"/>
          <p:cNvSpPr txBox="1"/>
          <p:nvPr/>
        </p:nvSpPr>
        <p:spPr>
          <a:xfrm>
            <a:off x="5919311" y="2415302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选出候选股后</a:t>
            </a:r>
            <a:endParaRPr sz="1100"/>
          </a:p>
        </p:txBody>
      </p:sp>
      <p:sp>
        <p:nvSpPr>
          <p:cNvPr id="1304" name="Google Shape;1304;p41"/>
          <p:cNvSpPr txBox="1"/>
          <p:nvPr/>
        </p:nvSpPr>
        <p:spPr>
          <a:xfrm>
            <a:off x="7591589" y="2409230"/>
            <a:ext cx="3901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介绍</a:t>
            </a:r>
            <a:endParaRPr sz="1100"/>
          </a:p>
        </p:txBody>
      </p:sp>
      <p:sp>
        <p:nvSpPr>
          <p:cNvPr id="1305" name="Google Shape;1305;p41"/>
          <p:cNvSpPr/>
          <p:nvPr/>
        </p:nvSpPr>
        <p:spPr>
          <a:xfrm>
            <a:off x="428625" y="3314700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6" name="Google Shape;1306;p41"/>
          <p:cNvSpPr/>
          <p:nvPr/>
        </p:nvSpPr>
        <p:spPr>
          <a:xfrm>
            <a:off x="435769" y="2778919"/>
            <a:ext cx="8272463" cy="52863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7" name="Google Shape;1307;p41"/>
          <p:cNvSpPr txBox="1"/>
          <p:nvPr/>
        </p:nvSpPr>
        <p:spPr>
          <a:xfrm>
            <a:off x="488633" y="2846070"/>
            <a:ext cx="66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Moneyball</a:t>
            </a:r>
            <a:endParaRPr sz="1100"/>
          </a:p>
        </p:txBody>
      </p:sp>
      <p:sp>
        <p:nvSpPr>
          <p:cNvPr id="1308" name="Google Shape;1308;p41"/>
          <p:cNvSpPr txBox="1"/>
          <p:nvPr/>
        </p:nvSpPr>
        <p:spPr>
          <a:xfrm>
            <a:off x="490776" y="3007162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非对称风险评估</a:t>
            </a:r>
            <a:endParaRPr sz="1100"/>
          </a:p>
        </p:txBody>
      </p:sp>
      <p:sp>
        <p:nvSpPr>
          <p:cNvPr id="1309" name="Google Shape;1309;p41"/>
          <p:cNvSpPr txBox="1"/>
          <p:nvPr/>
        </p:nvSpPr>
        <p:spPr>
          <a:xfrm>
            <a:off x="1917382" y="2946082"/>
            <a:ext cx="1299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上涨 vs 下跌 ≥ 2:1？</a:t>
            </a:r>
            <a:endParaRPr sz="1100"/>
          </a:p>
        </p:txBody>
      </p:sp>
      <p:sp>
        <p:nvSpPr>
          <p:cNvPr id="1310" name="Google Shape;1310;p41"/>
          <p:cNvSpPr txBox="1"/>
          <p:nvPr/>
        </p:nvSpPr>
        <p:spPr>
          <a:xfrm>
            <a:off x="3918347" y="2873573"/>
            <a:ext cx="87541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/stock-entry</a:t>
            </a:r>
            <a:endParaRPr sz="1100"/>
          </a:p>
        </p:txBody>
      </p:sp>
      <p:sp>
        <p:nvSpPr>
          <p:cNvPr id="1311" name="Google Shape;1311;p41"/>
          <p:cNvSpPr txBox="1"/>
          <p:nvPr/>
        </p:nvSpPr>
        <p:spPr>
          <a:xfrm>
            <a:off x="3918347" y="3016448"/>
            <a:ext cx="88188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+ /stock-exit</a:t>
            </a:r>
            <a:endParaRPr sz="1100"/>
          </a:p>
        </p:txBody>
      </p:sp>
      <p:sp>
        <p:nvSpPr>
          <p:cNvPr id="1312" name="Google Shape;1312;p41"/>
          <p:cNvSpPr txBox="1"/>
          <p:nvPr/>
        </p:nvSpPr>
        <p:spPr>
          <a:xfrm>
            <a:off x="5919311" y="2958227"/>
            <a:ext cx="84235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入场前 + 持仓中</a:t>
            </a:r>
            <a:endParaRPr sz="1100"/>
          </a:p>
        </p:txBody>
      </p:sp>
      <p:sp>
        <p:nvSpPr>
          <p:cNvPr id="1313" name="Google Shape;1313;p41"/>
          <p:cNvSpPr txBox="1"/>
          <p:nvPr/>
        </p:nvSpPr>
        <p:spPr>
          <a:xfrm>
            <a:off x="7591589" y="2952155"/>
            <a:ext cx="3901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介绍</a:t>
            </a:r>
            <a:endParaRPr sz="1100"/>
          </a:p>
        </p:txBody>
      </p:sp>
      <p:sp>
        <p:nvSpPr>
          <p:cNvPr id="1314" name="Google Shape;1314;p41"/>
          <p:cNvSpPr/>
          <p:nvPr/>
        </p:nvSpPr>
        <p:spPr>
          <a:xfrm>
            <a:off x="435769" y="3321844"/>
            <a:ext cx="8272463" cy="742950"/>
          </a:xfrm>
          <a:prstGeom prst="rect">
            <a:avLst/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5" name="Google Shape;1315;p41"/>
          <p:cNvSpPr txBox="1"/>
          <p:nvPr/>
        </p:nvSpPr>
        <p:spPr>
          <a:xfrm>
            <a:off x="488633" y="3403282"/>
            <a:ext cx="6715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Synthesis</a:t>
            </a:r>
            <a:endParaRPr sz="1100"/>
          </a:p>
        </p:txBody>
      </p:sp>
      <p:sp>
        <p:nvSpPr>
          <p:cNvPr id="1316" name="Google Shape;1316;p41"/>
          <p:cNvSpPr txBox="1"/>
          <p:nvPr/>
        </p:nvSpPr>
        <p:spPr>
          <a:xfrm>
            <a:off x="490776" y="3564374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六框架协作总览</a:t>
            </a:r>
            <a:endParaRPr sz="1100"/>
          </a:p>
        </p:txBody>
      </p:sp>
      <p:sp>
        <p:nvSpPr>
          <p:cNvPr id="1317" name="Google Shape;1317;p41"/>
          <p:cNvSpPr txBox="1"/>
          <p:nvPr/>
        </p:nvSpPr>
        <p:spPr>
          <a:xfrm>
            <a:off x="1917382" y="3489007"/>
            <a:ext cx="12650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系统如何协作运转？</a:t>
            </a:r>
            <a:endParaRPr sz="1100"/>
          </a:p>
        </p:txBody>
      </p:sp>
      <p:sp>
        <p:nvSpPr>
          <p:cNvPr id="1318" name="Google Shape;1318;p41"/>
          <p:cNvSpPr txBox="1"/>
          <p:nvPr/>
        </p:nvSpPr>
        <p:spPr>
          <a:xfrm>
            <a:off x="3918347" y="3445073"/>
            <a:ext cx="1062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全套流水线</a:t>
            </a:r>
            <a:endParaRPr sz="1100"/>
          </a:p>
        </p:txBody>
      </p:sp>
      <p:sp>
        <p:nvSpPr>
          <p:cNvPr id="1319" name="Google Shape;1319;p41"/>
          <p:cNvSpPr txBox="1"/>
          <p:nvPr/>
        </p:nvSpPr>
        <p:spPr>
          <a:xfrm>
            <a:off x="3919061" y="3601164"/>
            <a:ext cx="162445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scan → analyze → entry → exit</a:t>
            </a:r>
            <a:endParaRPr sz="1100"/>
          </a:p>
        </p:txBody>
      </p:sp>
      <p:sp>
        <p:nvSpPr>
          <p:cNvPr id="1320" name="Google Shape;1320;p41"/>
          <p:cNvSpPr txBox="1"/>
          <p:nvPr/>
        </p:nvSpPr>
        <p:spPr>
          <a:xfrm>
            <a:off x="5919311" y="3501152"/>
            <a:ext cx="94011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收尾时一张图展示</a:t>
            </a:r>
            <a:endParaRPr sz="1100"/>
          </a:p>
        </p:txBody>
      </p:sp>
      <p:sp>
        <p:nvSpPr>
          <p:cNvPr id="1321" name="Google Shape;1321;p41"/>
          <p:cNvSpPr txBox="1"/>
          <p:nvPr/>
        </p:nvSpPr>
        <p:spPr>
          <a:xfrm>
            <a:off x="7652742" y="3495080"/>
            <a:ext cx="267891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预告</a:t>
            </a:r>
            <a:endParaRPr sz="1100"/>
          </a:p>
        </p:txBody>
      </p:sp>
      <p:sp>
        <p:nvSpPr>
          <p:cNvPr id="1322" name="Google Shape;1322;p41"/>
          <p:cNvSpPr txBox="1"/>
          <p:nvPr/>
        </p:nvSpPr>
        <p:spPr>
          <a:xfrm>
            <a:off x="2077917" y="4240173"/>
            <a:ext cx="498816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→ 4 个 Skill 背后各自依赖不同框架——不是 AI 在乱猜，是把专家逻辑系统化了</a:t>
            </a:r>
            <a:endParaRPr sz="1100"/>
          </a:p>
        </p:txBody>
      </p:sp>
      <p:sp>
        <p:nvSpPr>
          <p:cNvPr id="1323" name="Google Shape;1323;p41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16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7" name="Shape 1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Google Shape;1328;p4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9" name="Google Shape;1329;p42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0" name="Google Shape;1330;p42"/>
          <p:cNvSpPr/>
          <p:nvPr/>
        </p:nvSpPr>
        <p:spPr>
          <a:xfrm>
            <a:off x="428625" y="214313"/>
            <a:ext cx="42900" cy="31440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1" name="Google Shape;1331;p42"/>
          <p:cNvSpPr txBox="1"/>
          <p:nvPr/>
        </p:nvSpPr>
        <p:spPr>
          <a:xfrm>
            <a:off x="561499" y="236459"/>
            <a:ext cx="4198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一切已就绪 — 你只需要描述逻辑</a:t>
            </a:r>
            <a:endParaRPr sz="1100"/>
          </a:p>
        </p:txBody>
      </p:sp>
      <p:sp>
        <p:nvSpPr>
          <p:cNvPr id="1332" name="Google Shape;1332;p42"/>
          <p:cNvSpPr txBox="1"/>
          <p:nvPr/>
        </p:nvSpPr>
        <p:spPr>
          <a:xfrm>
            <a:off x="574358" y="545783"/>
            <a:ext cx="3709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Python 脚本预装好，Skill 文件你来写 — 用自然语言，不用代码</a:t>
            </a:r>
            <a:endParaRPr sz="1100"/>
          </a:p>
        </p:txBody>
      </p:sp>
      <p:sp>
        <p:nvSpPr>
          <p:cNvPr id="1333" name="Google Shape;1333;p42"/>
          <p:cNvSpPr/>
          <p:nvPr/>
        </p:nvSpPr>
        <p:spPr>
          <a:xfrm>
            <a:off x="428625" y="800100"/>
            <a:ext cx="3857700" cy="3714900"/>
          </a:xfrm>
          <a:prstGeom prst="roundRect">
            <a:avLst>
              <a:gd fmla="val 3077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4" name="Google Shape;1334;p42"/>
          <p:cNvSpPr/>
          <p:nvPr/>
        </p:nvSpPr>
        <p:spPr>
          <a:xfrm>
            <a:off x="428625" y="800100"/>
            <a:ext cx="3857700" cy="57000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5" name="Google Shape;1335;p42"/>
          <p:cNvSpPr/>
          <p:nvPr/>
        </p:nvSpPr>
        <p:spPr>
          <a:xfrm>
            <a:off x="571500" y="985838"/>
            <a:ext cx="3571800" cy="314400"/>
          </a:xfrm>
          <a:prstGeom prst="roundRect">
            <a:avLst>
              <a:gd fmla="val 18182" name="adj"/>
            </a:avLst>
          </a:prstGeom>
          <a:solidFill>
            <a:srgbClr val="F5F5F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6" name="Google Shape;1336;p42"/>
          <p:cNvSpPr txBox="1"/>
          <p:nvPr/>
        </p:nvSpPr>
        <p:spPr>
          <a:xfrm>
            <a:off x="1867555" y="1042631"/>
            <a:ext cx="979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已预装，你不需要碰</a:t>
            </a:r>
            <a:endParaRPr sz="1100"/>
          </a:p>
        </p:txBody>
      </p:sp>
      <p:sp>
        <p:nvSpPr>
          <p:cNvPr id="1337" name="Google Shape;1337;p42"/>
          <p:cNvSpPr txBox="1"/>
          <p:nvPr/>
        </p:nvSpPr>
        <p:spPr>
          <a:xfrm>
            <a:off x="1890551" y="1145858"/>
            <a:ext cx="9339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Python 数据层</a:t>
            </a:r>
            <a:endParaRPr sz="1100"/>
          </a:p>
        </p:txBody>
      </p:sp>
      <p:sp>
        <p:nvSpPr>
          <p:cNvPr id="1338" name="Google Shape;1338;p42"/>
          <p:cNvSpPr/>
          <p:nvPr/>
        </p:nvSpPr>
        <p:spPr>
          <a:xfrm>
            <a:off x="571500" y="1400175"/>
            <a:ext cx="3571800" cy="743100"/>
          </a:xfrm>
          <a:prstGeom prst="roundRect">
            <a:avLst>
              <a:gd fmla="val 9615" name="adj"/>
            </a:avLst>
          </a:prstGeom>
          <a:solidFill>
            <a:srgbClr val="F8F6F4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9" name="Google Shape;1339;p42"/>
          <p:cNvSpPr/>
          <p:nvPr/>
        </p:nvSpPr>
        <p:spPr>
          <a:xfrm>
            <a:off x="685800" y="1671638"/>
            <a:ext cx="200100" cy="200100"/>
          </a:xfrm>
          <a:prstGeom prst="ellipse">
            <a:avLst/>
          </a:prstGeom>
          <a:solidFill>
            <a:srgbClr val="9E9E9E">
              <a:alpha val="149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0" name="Google Shape;1340;p42"/>
          <p:cNvSpPr/>
          <p:nvPr/>
        </p:nvSpPr>
        <p:spPr>
          <a:xfrm>
            <a:off x="735806" y="1721644"/>
            <a:ext cx="107156" cy="92869"/>
          </a:xfrm>
          <a:custGeom>
            <a:rect b="b" l="l" r="r" t="t"/>
            <a:pathLst>
              <a:path extrusionOk="0" h="123825" w="142875">
                <a:moveTo>
                  <a:pt x="0" y="66675"/>
                </a:moveTo>
                <a:lnTo>
                  <a:pt x="57150" y="123825"/>
                </a:lnTo>
                <a:lnTo>
                  <a:pt x="142875" y="0"/>
                </a:lnTo>
              </a:path>
            </a:pathLst>
          </a:custGeom>
          <a:noFill/>
          <a:ln cap="rnd" cmpd="sng" w="23800">
            <a:solidFill>
              <a:srgbClr val="9E9E9E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1" name="Google Shape;1341;p42"/>
          <p:cNvSpPr txBox="1"/>
          <p:nvPr/>
        </p:nvSpPr>
        <p:spPr>
          <a:xfrm>
            <a:off x="960834" y="1566267"/>
            <a:ext cx="985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ticker_scan.py</a:t>
            </a:r>
            <a:endParaRPr sz="1100"/>
          </a:p>
        </p:txBody>
      </p:sp>
      <p:sp>
        <p:nvSpPr>
          <p:cNvPr id="1342" name="Google Shape;1342;p42"/>
          <p:cNvSpPr txBox="1"/>
          <p:nvPr/>
        </p:nvSpPr>
        <p:spPr>
          <a:xfrm>
            <a:off x="962264" y="1735574"/>
            <a:ext cx="2266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拉取价格 · 计算8大SEPA条件 · 批量筛选候选股</a:t>
            </a:r>
            <a:endParaRPr sz="1100"/>
          </a:p>
        </p:txBody>
      </p:sp>
      <p:sp>
        <p:nvSpPr>
          <p:cNvPr id="1343" name="Google Shape;1343;p42"/>
          <p:cNvSpPr txBox="1"/>
          <p:nvPr/>
        </p:nvSpPr>
        <p:spPr>
          <a:xfrm>
            <a:off x="962978" y="1898809"/>
            <a:ext cx="2905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输出结构化 JSON（ticker, stage, score, MA50/150/200, RS）</a:t>
            </a:r>
            <a:endParaRPr sz="1100"/>
          </a:p>
        </p:txBody>
      </p:sp>
      <p:sp>
        <p:nvSpPr>
          <p:cNvPr id="1344" name="Google Shape;1344;p42"/>
          <p:cNvSpPr/>
          <p:nvPr/>
        </p:nvSpPr>
        <p:spPr>
          <a:xfrm>
            <a:off x="571500" y="2257425"/>
            <a:ext cx="3571800" cy="600000"/>
          </a:xfrm>
          <a:prstGeom prst="roundRect">
            <a:avLst>
              <a:gd fmla="val 11905" name="adj"/>
            </a:avLst>
          </a:prstGeom>
          <a:solidFill>
            <a:srgbClr val="EBF2FF"/>
          </a:solidFill>
          <a:ln cap="flat" cmpd="sng" w="952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5" name="Google Shape;1345;p42"/>
          <p:cNvSpPr txBox="1"/>
          <p:nvPr/>
        </p:nvSpPr>
        <p:spPr>
          <a:xfrm>
            <a:off x="775097" y="2380655"/>
            <a:ext cx="648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📄 作业指南</a:t>
            </a:r>
            <a:endParaRPr sz="1100"/>
          </a:p>
        </p:txBody>
      </p:sp>
      <p:sp>
        <p:nvSpPr>
          <p:cNvPr id="1346" name="Google Shape;1346;p42"/>
          <p:cNvSpPr txBox="1"/>
          <p:nvPr/>
        </p:nvSpPr>
        <p:spPr>
          <a:xfrm>
            <a:off x="776526" y="2564249"/>
            <a:ext cx="2106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跟我做-提示词.md — 每步操作都有导读说明</a:t>
            </a:r>
            <a:endParaRPr sz="1100"/>
          </a:p>
        </p:txBody>
      </p:sp>
      <p:sp>
        <p:nvSpPr>
          <p:cNvPr id="1347" name="Google Shape;1347;p42"/>
          <p:cNvSpPr txBox="1"/>
          <p:nvPr/>
        </p:nvSpPr>
        <p:spPr>
          <a:xfrm>
            <a:off x="777240" y="2713196"/>
            <a:ext cx="1693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不知道下一步怎么做？打开它按步骤走</a:t>
            </a:r>
            <a:endParaRPr sz="1100"/>
          </a:p>
        </p:txBody>
      </p:sp>
      <p:sp>
        <p:nvSpPr>
          <p:cNvPr id="1348" name="Google Shape;1348;p42"/>
          <p:cNvSpPr/>
          <p:nvPr/>
        </p:nvSpPr>
        <p:spPr>
          <a:xfrm>
            <a:off x="571500" y="2971800"/>
            <a:ext cx="3571800" cy="457200"/>
          </a:xfrm>
          <a:prstGeom prst="roundRect">
            <a:avLst>
              <a:gd fmla="val 15625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9" name="Google Shape;1349;p42"/>
          <p:cNvSpPr txBox="1"/>
          <p:nvPr/>
        </p:nvSpPr>
        <p:spPr>
          <a:xfrm>
            <a:off x="1707381" y="3058239"/>
            <a:ext cx="1300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你不需要写任何 Python</a:t>
            </a:r>
            <a:endParaRPr sz="1100"/>
          </a:p>
        </p:txBody>
      </p:sp>
      <p:sp>
        <p:nvSpPr>
          <p:cNvPr id="1350" name="Google Shape;1350;p42"/>
          <p:cNvSpPr txBox="1"/>
          <p:nvPr/>
        </p:nvSpPr>
        <p:spPr>
          <a:xfrm>
            <a:off x="1280160" y="3221474"/>
            <a:ext cx="2154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pip install yfinance pandas — 装好后直接用</a:t>
            </a:r>
            <a:endParaRPr sz="1100"/>
          </a:p>
        </p:txBody>
      </p:sp>
      <p:sp>
        <p:nvSpPr>
          <p:cNvPr id="1351" name="Google Shape;1351;p42"/>
          <p:cNvSpPr txBox="1"/>
          <p:nvPr/>
        </p:nvSpPr>
        <p:spPr>
          <a:xfrm>
            <a:off x="1944886" y="3758327"/>
            <a:ext cx="825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输出 JSON 数据</a:t>
            </a:r>
            <a:endParaRPr sz="1100"/>
          </a:p>
        </p:txBody>
      </p:sp>
      <p:sp>
        <p:nvSpPr>
          <p:cNvPr id="1352" name="Google Shape;1352;p42"/>
          <p:cNvSpPr/>
          <p:nvPr/>
        </p:nvSpPr>
        <p:spPr>
          <a:xfrm>
            <a:off x="1857375" y="3914775"/>
            <a:ext cx="1000125" cy="7144"/>
          </a:xfrm>
          <a:custGeom>
            <a:rect b="b" l="l" r="r" t="t"/>
            <a:pathLst>
              <a:path extrusionOk="0" h="9525" w="1333500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3" name="Google Shape;1353;p42"/>
          <p:cNvSpPr/>
          <p:nvPr/>
        </p:nvSpPr>
        <p:spPr>
          <a:xfrm>
            <a:off x="2857500" y="3886200"/>
            <a:ext cx="57150" cy="57150"/>
          </a:xfrm>
          <a:custGeom>
            <a:rect b="b" l="l" r="r" t="t"/>
            <a:pathLst>
              <a:path extrusionOk="0" h="76200" w="76200">
                <a:moveTo>
                  <a:pt x="0" y="0"/>
                </a:moveTo>
                <a:lnTo>
                  <a:pt x="76200" y="38100"/>
                </a:lnTo>
                <a:lnTo>
                  <a:pt x="0" y="76200"/>
                </a:lnTo>
                <a:close/>
              </a:path>
            </a:pathLst>
          </a:custGeom>
          <a:solidFill>
            <a:srgbClr val="9E9E9E">
              <a:alpha val="50199"/>
            </a:srgbClr>
          </a:solidFill>
          <a:ln>
            <a:noFill/>
          </a:ln>
        </p:spPr>
      </p:sp>
      <p:sp>
        <p:nvSpPr>
          <p:cNvPr id="1354" name="Google Shape;1354;p42"/>
          <p:cNvSpPr txBox="1"/>
          <p:nvPr/>
        </p:nvSpPr>
        <p:spPr>
          <a:xfrm>
            <a:off x="1867555" y="4007287"/>
            <a:ext cx="979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结果稳定，无随机性</a:t>
            </a:r>
            <a:endParaRPr sz="1100"/>
          </a:p>
        </p:txBody>
      </p:sp>
      <p:sp>
        <p:nvSpPr>
          <p:cNvPr id="1355" name="Google Shape;1355;p42"/>
          <p:cNvSpPr/>
          <p:nvPr/>
        </p:nvSpPr>
        <p:spPr>
          <a:xfrm>
            <a:off x="4857750" y="800100"/>
            <a:ext cx="3857700" cy="3714900"/>
          </a:xfrm>
          <a:prstGeom prst="roundRect">
            <a:avLst>
              <a:gd fmla="val 3077" name="adj"/>
            </a:avLst>
          </a:prstGeom>
          <a:solidFill>
            <a:srgbClr val="FFFFFF"/>
          </a:solidFill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6" name="Google Shape;1356;p42"/>
          <p:cNvSpPr/>
          <p:nvPr/>
        </p:nvSpPr>
        <p:spPr>
          <a:xfrm>
            <a:off x="4857750" y="800100"/>
            <a:ext cx="3857700" cy="5700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7" name="Google Shape;1357;p42"/>
          <p:cNvSpPr/>
          <p:nvPr/>
        </p:nvSpPr>
        <p:spPr>
          <a:xfrm>
            <a:off x="5000625" y="985838"/>
            <a:ext cx="3571800" cy="314400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8" name="Google Shape;1358;p42"/>
          <p:cNvSpPr txBox="1"/>
          <p:nvPr/>
        </p:nvSpPr>
        <p:spPr>
          <a:xfrm>
            <a:off x="6440858" y="1042631"/>
            <a:ext cx="691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你来做的部分</a:t>
            </a:r>
            <a:endParaRPr sz="1100"/>
          </a:p>
        </p:txBody>
      </p:sp>
      <p:sp>
        <p:nvSpPr>
          <p:cNvPr id="1359" name="Google Shape;1359;p42"/>
          <p:cNvSpPr txBox="1"/>
          <p:nvPr/>
        </p:nvSpPr>
        <p:spPr>
          <a:xfrm>
            <a:off x="6212712" y="1145858"/>
            <a:ext cx="1147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Skill 文件（.md）</a:t>
            </a:r>
            <a:endParaRPr sz="1100"/>
          </a:p>
        </p:txBody>
      </p:sp>
      <p:sp>
        <p:nvSpPr>
          <p:cNvPr id="1360" name="Google Shape;1360;p42"/>
          <p:cNvSpPr/>
          <p:nvPr/>
        </p:nvSpPr>
        <p:spPr>
          <a:xfrm>
            <a:off x="5000625" y="1400175"/>
            <a:ext cx="3571800" cy="2214600"/>
          </a:xfrm>
          <a:prstGeom prst="roundRect">
            <a:avLst>
              <a:gd fmla="val 3226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1" name="Google Shape;1361;p42"/>
          <p:cNvSpPr/>
          <p:nvPr/>
        </p:nvSpPr>
        <p:spPr>
          <a:xfrm>
            <a:off x="5000625" y="1400175"/>
            <a:ext cx="3571800" cy="228600"/>
          </a:xfrm>
          <a:prstGeom prst="roundRect">
            <a:avLst>
              <a:gd fmla="val 31250" name="adj"/>
            </a:avLst>
          </a:prstGeom>
          <a:solidFill>
            <a:srgbClr val="2A2A2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2" name="Google Shape;1362;p42"/>
          <p:cNvSpPr/>
          <p:nvPr/>
        </p:nvSpPr>
        <p:spPr>
          <a:xfrm>
            <a:off x="5129213" y="1471613"/>
            <a:ext cx="85800" cy="85800"/>
          </a:xfrm>
          <a:prstGeom prst="ellipse">
            <a:avLst/>
          </a:prstGeom>
          <a:solidFill>
            <a:srgbClr val="D44545">
              <a:alpha val="702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3" name="Google Shape;1363;p42"/>
          <p:cNvSpPr/>
          <p:nvPr/>
        </p:nvSpPr>
        <p:spPr>
          <a:xfrm>
            <a:off x="5272088" y="1471613"/>
            <a:ext cx="85800" cy="85800"/>
          </a:xfrm>
          <a:prstGeom prst="ellipse">
            <a:avLst/>
          </a:prstGeom>
          <a:solidFill>
            <a:srgbClr val="D4A045">
              <a:alpha val="702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4" name="Google Shape;1364;p42"/>
          <p:cNvSpPr/>
          <p:nvPr/>
        </p:nvSpPr>
        <p:spPr>
          <a:xfrm>
            <a:off x="5414963" y="1471613"/>
            <a:ext cx="85800" cy="85800"/>
          </a:xfrm>
          <a:prstGeom prst="ellipse">
            <a:avLst/>
          </a:prstGeom>
          <a:solidFill>
            <a:srgbClr val="3A9E6A">
              <a:alpha val="702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5" name="Google Shape;1365;p42"/>
          <p:cNvSpPr txBox="1"/>
          <p:nvPr/>
        </p:nvSpPr>
        <p:spPr>
          <a:xfrm>
            <a:off x="6400907" y="1463040"/>
            <a:ext cx="771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ticker-scan.md</a:t>
            </a:r>
            <a:endParaRPr sz="1100"/>
          </a:p>
        </p:txBody>
      </p:sp>
      <p:sp>
        <p:nvSpPr>
          <p:cNvPr id="1366" name="Google Shape;1366;p42"/>
          <p:cNvSpPr txBox="1"/>
          <p:nvPr/>
        </p:nvSpPr>
        <p:spPr>
          <a:xfrm>
            <a:off x="5134214" y="1692712"/>
            <a:ext cx="323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# 角色</a:t>
            </a:r>
            <a:endParaRPr sz="1100"/>
          </a:p>
        </p:txBody>
      </p:sp>
      <p:sp>
        <p:nvSpPr>
          <p:cNvPr id="1367" name="Google Shape;1367;p42"/>
          <p:cNvSpPr txBox="1"/>
          <p:nvPr/>
        </p:nvSpPr>
        <p:spPr>
          <a:xfrm>
            <a:off x="5134928" y="1841659"/>
            <a:ext cx="1638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你是量化分析师，擅长 SEPA 框架...</a:t>
            </a:r>
            <a:endParaRPr sz="1100"/>
          </a:p>
        </p:txBody>
      </p:sp>
      <p:sp>
        <p:nvSpPr>
          <p:cNvPr id="1368" name="Google Shape;1368;p42"/>
          <p:cNvSpPr txBox="1"/>
          <p:nvPr/>
        </p:nvSpPr>
        <p:spPr>
          <a:xfrm>
            <a:off x="5134214" y="2064187"/>
            <a:ext cx="1177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# 分析逻辑（你的框架）</a:t>
            </a:r>
            <a:endParaRPr sz="1100"/>
          </a:p>
        </p:txBody>
      </p:sp>
      <p:sp>
        <p:nvSpPr>
          <p:cNvPr id="1369" name="Google Shape;1369;p42"/>
          <p:cNvSpPr txBox="1"/>
          <p:nvPr/>
        </p:nvSpPr>
        <p:spPr>
          <a:xfrm>
            <a:off x="5134928" y="2213134"/>
            <a:ext cx="1042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## 九大翻倍股特征筛选</a:t>
            </a:r>
            <a:endParaRPr sz="1100"/>
          </a:p>
        </p:txBody>
      </p:sp>
      <p:sp>
        <p:nvSpPr>
          <p:cNvPr id="1370" name="Google Shape;1370;p42"/>
          <p:cNvSpPr txBox="1"/>
          <p:nvPr/>
        </p:nvSpPr>
        <p:spPr>
          <a:xfrm>
            <a:off x="5134928" y="2356009"/>
            <a:ext cx="1412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1. 基本面高增长 EPS/营收 &gt;20%</a:t>
            </a:r>
            <a:endParaRPr sz="1100"/>
          </a:p>
        </p:txBody>
      </p:sp>
      <p:sp>
        <p:nvSpPr>
          <p:cNvPr id="1371" name="Google Shape;1371;p42"/>
          <p:cNvSpPr txBox="1"/>
          <p:nvPr/>
        </p:nvSpPr>
        <p:spPr>
          <a:xfrm>
            <a:off x="5134928" y="2484596"/>
            <a:ext cx="1106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2. 扭亏转盈拐点信号...</a:t>
            </a:r>
            <a:endParaRPr sz="1100"/>
          </a:p>
        </p:txBody>
      </p:sp>
      <p:sp>
        <p:nvSpPr>
          <p:cNvPr id="1372" name="Google Shape;1372;p42"/>
          <p:cNvSpPr txBox="1"/>
          <p:nvPr/>
        </p:nvSpPr>
        <p:spPr>
          <a:xfrm>
            <a:off x="5134928" y="2613184"/>
            <a:ext cx="1205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3. 热门赛道底层供应商...</a:t>
            </a:r>
            <a:endParaRPr sz="1100"/>
          </a:p>
        </p:txBody>
      </p:sp>
      <p:sp>
        <p:nvSpPr>
          <p:cNvPr id="1373" name="Google Shape;1373;p42"/>
          <p:cNvSpPr txBox="1"/>
          <p:nvPr/>
        </p:nvSpPr>
        <p:spPr>
          <a:xfrm>
            <a:off x="5134214" y="2821424"/>
            <a:ext cx="536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# 输出格式</a:t>
            </a:r>
            <a:endParaRPr sz="1100"/>
          </a:p>
        </p:txBody>
      </p:sp>
      <p:sp>
        <p:nvSpPr>
          <p:cNvPr id="1374" name="Google Shape;1374;p42"/>
          <p:cNvSpPr txBox="1"/>
          <p:nvPr/>
        </p:nvSpPr>
        <p:spPr>
          <a:xfrm>
            <a:off x="5134928" y="2970371"/>
            <a:ext cx="1155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按 BAIT 评分从高到低排列</a:t>
            </a:r>
            <a:endParaRPr sz="1100"/>
          </a:p>
        </p:txBody>
      </p:sp>
      <p:sp>
        <p:nvSpPr>
          <p:cNvPr id="1375" name="Google Shape;1375;p42"/>
          <p:cNvSpPr txBox="1"/>
          <p:nvPr/>
        </p:nvSpPr>
        <p:spPr>
          <a:xfrm>
            <a:off x="5134928" y="3098959"/>
            <a:ext cx="1165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每股给出入场区间建议...</a:t>
            </a:r>
            <a:endParaRPr sz="1100"/>
          </a:p>
        </p:txBody>
      </p:sp>
      <p:sp>
        <p:nvSpPr>
          <p:cNvPr id="1376" name="Google Shape;1376;p42"/>
          <p:cNvSpPr txBox="1"/>
          <p:nvPr/>
        </p:nvSpPr>
        <p:spPr>
          <a:xfrm>
            <a:off x="5134928" y="3284696"/>
            <a:ext cx="71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█</a:t>
            </a:r>
            <a:endParaRPr sz="1100"/>
          </a:p>
        </p:txBody>
      </p:sp>
      <p:sp>
        <p:nvSpPr>
          <p:cNvPr id="1377" name="Google Shape;1377;p42"/>
          <p:cNvSpPr/>
          <p:nvPr/>
        </p:nvSpPr>
        <p:spPr>
          <a:xfrm>
            <a:off x="5000625" y="3729038"/>
            <a:ext cx="3571800" cy="457200"/>
          </a:xfrm>
          <a:prstGeom prst="roundRect">
            <a:avLst>
              <a:gd fmla="val 15625" name="adj"/>
            </a:avLst>
          </a:prstGeom>
          <a:solidFill>
            <a:srgbClr val="F0EDE8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8" name="Google Shape;1378;p42"/>
          <p:cNvSpPr txBox="1"/>
          <p:nvPr/>
        </p:nvSpPr>
        <p:spPr>
          <a:xfrm>
            <a:off x="5831291" y="3809405"/>
            <a:ext cx="1910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你的知识 → 自然语言 → Skill 文件</a:t>
            </a:r>
            <a:endParaRPr sz="1100"/>
          </a:p>
        </p:txBody>
      </p:sp>
      <p:sp>
        <p:nvSpPr>
          <p:cNvPr id="1379" name="Google Shape;1379;p42"/>
          <p:cNvSpPr txBox="1"/>
          <p:nvPr/>
        </p:nvSpPr>
        <p:spPr>
          <a:xfrm>
            <a:off x="5468987" y="3978712"/>
            <a:ext cx="2635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把 hot-sector-method 逻辑写进去，Claude 照着分析</a:t>
            </a:r>
            <a:endParaRPr sz="1100"/>
          </a:p>
        </p:txBody>
      </p:sp>
      <p:sp>
        <p:nvSpPr>
          <p:cNvPr id="1380" name="Google Shape;1380;p42"/>
          <p:cNvSpPr/>
          <p:nvPr/>
        </p:nvSpPr>
        <p:spPr>
          <a:xfrm>
            <a:off x="4286250" y="4086225"/>
            <a:ext cx="571500" cy="7144"/>
          </a:xfrm>
          <a:custGeom>
            <a:rect b="b" l="l" r="r" t="t"/>
            <a:pathLst>
              <a:path extrusionOk="0" h="9525" w="762000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381" name="Google Shape;1381;p42"/>
          <p:cNvSpPr/>
          <p:nvPr/>
        </p:nvSpPr>
        <p:spPr>
          <a:xfrm>
            <a:off x="428625" y="4614863"/>
            <a:ext cx="8286900" cy="371400"/>
          </a:xfrm>
          <a:prstGeom prst="roundRect">
            <a:avLst>
              <a:gd fmla="val 19231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2" name="Google Shape;1382;p42"/>
          <p:cNvSpPr txBox="1"/>
          <p:nvPr/>
        </p:nvSpPr>
        <p:spPr>
          <a:xfrm>
            <a:off x="1131570" y="4674870"/>
            <a:ext cx="899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1383" name="Google Shape;1383;p42"/>
          <p:cNvSpPr txBox="1"/>
          <p:nvPr/>
        </p:nvSpPr>
        <p:spPr>
          <a:xfrm>
            <a:off x="2275999" y="4687014"/>
            <a:ext cx="18891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Claude 读 Skill，调 Python，输出：</a:t>
            </a:r>
            <a:endParaRPr sz="1100"/>
          </a:p>
        </p:txBody>
      </p:sp>
      <p:sp>
        <p:nvSpPr>
          <p:cNvPr id="1384" name="Google Shape;1384;p42"/>
          <p:cNvSpPr txBox="1"/>
          <p:nvPr/>
        </p:nvSpPr>
        <p:spPr>
          <a:xfrm>
            <a:off x="4347686" y="4687014"/>
            <a:ext cx="1897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候选股列表 + BAIT 评分 + 入场区间</a:t>
            </a:r>
            <a:endParaRPr sz="1100"/>
          </a:p>
        </p:txBody>
      </p:sp>
      <p:sp>
        <p:nvSpPr>
          <p:cNvPr id="1385" name="Google Shape;1385;p42"/>
          <p:cNvSpPr txBox="1"/>
          <p:nvPr/>
        </p:nvSpPr>
        <p:spPr>
          <a:xfrm>
            <a:off x="1134428" y="4842034"/>
            <a:ext cx="1722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一行命令 · 不写代码 · 用你的框架分析</a:t>
            </a:r>
            <a:endParaRPr sz="1100"/>
          </a:p>
        </p:txBody>
      </p:sp>
      <p:sp>
        <p:nvSpPr>
          <p:cNvPr id="1386" name="Google Shape;1386;p42"/>
          <p:cNvSpPr txBox="1"/>
          <p:nvPr/>
        </p:nvSpPr>
        <p:spPr>
          <a:xfrm>
            <a:off x="8491704" y="4958477"/>
            <a:ext cx="37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17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0" name="Shape 1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Google Shape;1391;p4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2" name="Google Shape;1392;p43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3" name="Google Shape;1393;p43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4" name="Google Shape;1394;p43"/>
          <p:cNvSpPr txBox="1"/>
          <p:nvPr/>
        </p:nvSpPr>
        <p:spPr>
          <a:xfrm>
            <a:off x="560070" y="252889"/>
            <a:ext cx="253574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为什么要分两层？</a:t>
            </a:r>
            <a:endParaRPr sz="1100"/>
          </a:p>
        </p:txBody>
      </p:sp>
      <p:sp>
        <p:nvSpPr>
          <p:cNvPr id="1395" name="Google Shape;1395;p43"/>
          <p:cNvSpPr txBox="1"/>
          <p:nvPr/>
        </p:nvSpPr>
        <p:spPr>
          <a:xfrm>
            <a:off x="574357" y="588645"/>
            <a:ext cx="275691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数据层 vs 分析层分离——造工具的核心架构原则</a:t>
            </a:r>
            <a:endParaRPr sz="1100"/>
          </a:p>
        </p:txBody>
      </p:sp>
      <p:sp>
        <p:nvSpPr>
          <p:cNvPr id="1396" name="Google Shape;1396;p43"/>
          <p:cNvSpPr/>
          <p:nvPr/>
        </p:nvSpPr>
        <p:spPr>
          <a:xfrm>
            <a:off x="428625" y="842963"/>
            <a:ext cx="3857625" cy="3071813"/>
          </a:xfrm>
          <a:prstGeom prst="roundRect">
            <a:avLst>
              <a:gd fmla="val 325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7" name="Google Shape;1397;p43"/>
          <p:cNvSpPr/>
          <p:nvPr/>
        </p:nvSpPr>
        <p:spPr>
          <a:xfrm>
            <a:off x="428625" y="842963"/>
            <a:ext cx="3857625" cy="457200"/>
          </a:xfrm>
          <a:prstGeom prst="roundRect">
            <a:avLst>
              <a:gd fmla="val 21875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8" name="Google Shape;1398;p43"/>
          <p:cNvSpPr/>
          <p:nvPr/>
        </p:nvSpPr>
        <p:spPr>
          <a:xfrm>
            <a:off x="428625" y="1157288"/>
            <a:ext cx="3857625" cy="142875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9" name="Google Shape;1399;p43"/>
          <p:cNvSpPr txBox="1"/>
          <p:nvPr/>
        </p:nvSpPr>
        <p:spPr>
          <a:xfrm>
            <a:off x="910257" y="910114"/>
            <a:ext cx="465487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 }</a:t>
            </a:r>
            <a:endParaRPr sz="1100"/>
          </a:p>
        </p:txBody>
      </p:sp>
      <p:sp>
        <p:nvSpPr>
          <p:cNvPr id="1400" name="Google Shape;1400;p43"/>
          <p:cNvSpPr txBox="1"/>
          <p:nvPr/>
        </p:nvSpPr>
        <p:spPr>
          <a:xfrm>
            <a:off x="1559516" y="1021556"/>
            <a:ext cx="116721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Python 数据层</a:t>
            </a:r>
            <a:endParaRPr sz="1100"/>
          </a:p>
        </p:txBody>
      </p:sp>
      <p:sp>
        <p:nvSpPr>
          <p:cNvPr id="1401" name="Google Shape;1401;p43"/>
          <p:cNvSpPr txBox="1"/>
          <p:nvPr/>
        </p:nvSpPr>
        <p:spPr>
          <a:xfrm>
            <a:off x="1522414" y="1185506"/>
            <a:ext cx="124142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稳定 · 可测试 · 不依赖 AI</a:t>
            </a:r>
            <a:endParaRPr sz="1100"/>
          </a:p>
        </p:txBody>
      </p:sp>
      <p:sp>
        <p:nvSpPr>
          <p:cNvPr id="1402" name="Google Shape;1402;p43"/>
          <p:cNvSpPr/>
          <p:nvPr/>
        </p:nvSpPr>
        <p:spPr>
          <a:xfrm>
            <a:off x="571500" y="1457325"/>
            <a:ext cx="3571875" cy="571500"/>
          </a:xfrm>
          <a:prstGeom prst="roundRect">
            <a:avLst>
              <a:gd fmla="val 12500" name="adj"/>
            </a:avLst>
          </a:prstGeom>
          <a:solidFill>
            <a:srgbClr val="FFF8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3" name="Google Shape;1403;p43"/>
          <p:cNvSpPr/>
          <p:nvPr/>
        </p:nvSpPr>
        <p:spPr>
          <a:xfrm>
            <a:off x="685800" y="1600200"/>
            <a:ext cx="285750" cy="285750"/>
          </a:xfrm>
          <a:prstGeom prst="ellipse">
            <a:avLst/>
          </a:prstGeom>
          <a:solidFill>
            <a:srgbClr val="C96133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4" name="Google Shape;1404;p43"/>
          <p:cNvSpPr txBox="1"/>
          <p:nvPr/>
        </p:nvSpPr>
        <p:spPr>
          <a:xfrm>
            <a:off x="788510" y="1664494"/>
            <a:ext cx="8033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1405" name="Google Shape;1405;p43"/>
          <p:cNvSpPr txBox="1"/>
          <p:nvPr/>
        </p:nvSpPr>
        <p:spPr>
          <a:xfrm>
            <a:off x="1074420" y="1560195"/>
            <a:ext cx="12650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结果稳定，无随机性</a:t>
            </a:r>
            <a:endParaRPr sz="1100"/>
          </a:p>
        </p:txBody>
      </p:sp>
      <p:sp>
        <p:nvSpPr>
          <p:cNvPr id="1406" name="Google Shape;1406;p43"/>
          <p:cNvSpPr txBox="1"/>
          <p:nvPr/>
        </p:nvSpPr>
        <p:spPr>
          <a:xfrm>
            <a:off x="1075849" y="1743789"/>
            <a:ext cx="16302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同样的输入永远得到同样的数据</a:t>
            </a:r>
            <a:endParaRPr sz="1100"/>
          </a:p>
        </p:txBody>
      </p:sp>
      <p:sp>
        <p:nvSpPr>
          <p:cNvPr id="1407" name="Google Shape;1407;p43"/>
          <p:cNvSpPr/>
          <p:nvPr/>
        </p:nvSpPr>
        <p:spPr>
          <a:xfrm>
            <a:off x="571500" y="2128838"/>
            <a:ext cx="3571875" cy="571500"/>
          </a:xfrm>
          <a:prstGeom prst="roundRect">
            <a:avLst>
              <a:gd fmla="val 12500" name="adj"/>
            </a:avLst>
          </a:prstGeom>
          <a:solidFill>
            <a:srgbClr val="FFF8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8" name="Google Shape;1408;p43"/>
          <p:cNvSpPr/>
          <p:nvPr/>
        </p:nvSpPr>
        <p:spPr>
          <a:xfrm>
            <a:off x="685800" y="2271713"/>
            <a:ext cx="285750" cy="285750"/>
          </a:xfrm>
          <a:prstGeom prst="ellipse">
            <a:avLst/>
          </a:prstGeom>
          <a:solidFill>
            <a:srgbClr val="C96133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9" name="Google Shape;1409;p43"/>
          <p:cNvSpPr txBox="1"/>
          <p:nvPr/>
        </p:nvSpPr>
        <p:spPr>
          <a:xfrm>
            <a:off x="766944" y="2336006"/>
            <a:ext cx="12346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1410" name="Google Shape;1410;p43"/>
          <p:cNvSpPr txBox="1"/>
          <p:nvPr/>
        </p:nvSpPr>
        <p:spPr>
          <a:xfrm>
            <a:off x="1074420" y="2231707"/>
            <a:ext cx="12650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独立测试，先验数据</a:t>
            </a:r>
            <a:endParaRPr sz="1100"/>
          </a:p>
        </p:txBody>
      </p:sp>
      <p:sp>
        <p:nvSpPr>
          <p:cNvPr id="1411" name="Google Shape;1411;p43"/>
          <p:cNvSpPr txBox="1"/>
          <p:nvPr/>
        </p:nvSpPr>
        <p:spPr>
          <a:xfrm>
            <a:off x="1075849" y="2415302"/>
            <a:ext cx="236054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python ticker_scan.py 先跑，确认数据正确</a:t>
            </a:r>
            <a:endParaRPr sz="1100"/>
          </a:p>
        </p:txBody>
      </p:sp>
      <p:sp>
        <p:nvSpPr>
          <p:cNvPr id="1412" name="Google Shape;1412;p43"/>
          <p:cNvSpPr/>
          <p:nvPr/>
        </p:nvSpPr>
        <p:spPr>
          <a:xfrm>
            <a:off x="571500" y="2800350"/>
            <a:ext cx="3571875" cy="571500"/>
          </a:xfrm>
          <a:prstGeom prst="roundRect">
            <a:avLst>
              <a:gd fmla="val 12500" name="adj"/>
            </a:avLst>
          </a:prstGeom>
          <a:solidFill>
            <a:srgbClr val="FFF8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3" name="Google Shape;1413;p43"/>
          <p:cNvSpPr/>
          <p:nvPr/>
        </p:nvSpPr>
        <p:spPr>
          <a:xfrm>
            <a:off x="685800" y="2943225"/>
            <a:ext cx="285750" cy="285750"/>
          </a:xfrm>
          <a:prstGeom prst="ellipse">
            <a:avLst/>
          </a:prstGeom>
          <a:solidFill>
            <a:srgbClr val="C96133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4" name="Google Shape;1414;p43"/>
          <p:cNvSpPr txBox="1"/>
          <p:nvPr/>
        </p:nvSpPr>
        <p:spPr>
          <a:xfrm>
            <a:off x="766944" y="3007519"/>
            <a:ext cx="12346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1415" name="Google Shape;1415;p43"/>
          <p:cNvSpPr txBox="1"/>
          <p:nvPr/>
        </p:nvSpPr>
        <p:spPr>
          <a:xfrm>
            <a:off x="1074420" y="2903220"/>
            <a:ext cx="11269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加数据源只改这里</a:t>
            </a:r>
            <a:endParaRPr sz="1100"/>
          </a:p>
        </p:txBody>
      </p:sp>
      <p:sp>
        <p:nvSpPr>
          <p:cNvPr id="1416" name="Google Shape;1416;p43"/>
          <p:cNvSpPr txBox="1"/>
          <p:nvPr/>
        </p:nvSpPr>
        <p:spPr>
          <a:xfrm>
            <a:off x="1075849" y="3086814"/>
            <a:ext cx="198674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接新 API？只改 Python，prompt 不动</a:t>
            </a:r>
            <a:endParaRPr sz="1100"/>
          </a:p>
        </p:txBody>
      </p:sp>
      <p:sp>
        <p:nvSpPr>
          <p:cNvPr id="1417" name="Google Shape;1417;p43"/>
          <p:cNvSpPr/>
          <p:nvPr/>
        </p:nvSpPr>
        <p:spPr>
          <a:xfrm>
            <a:off x="571500" y="3471863"/>
            <a:ext cx="3571875" cy="328613"/>
          </a:xfrm>
          <a:prstGeom prst="roundRect">
            <a:avLst>
              <a:gd fmla="val 21739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8" name="Google Shape;1418;p43"/>
          <p:cNvSpPr txBox="1"/>
          <p:nvPr/>
        </p:nvSpPr>
        <p:spPr>
          <a:xfrm>
            <a:off x="1170022" y="3586877"/>
            <a:ext cx="19462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✓ 数据层负责"取数"，答案唯一确定</a:t>
            </a:r>
            <a:endParaRPr sz="1100"/>
          </a:p>
        </p:txBody>
      </p:sp>
      <p:sp>
        <p:nvSpPr>
          <p:cNvPr id="1419" name="Google Shape;1419;p43"/>
          <p:cNvSpPr/>
          <p:nvPr/>
        </p:nvSpPr>
        <p:spPr>
          <a:xfrm>
            <a:off x="4314825" y="2121694"/>
            <a:ext cx="514350" cy="514350"/>
          </a:xfrm>
          <a:prstGeom prst="ellipse">
            <a:avLst/>
          </a:prstGeom>
          <a:solidFill>
            <a:srgbClr val="FFFFFF"/>
          </a:solidFill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0" name="Google Shape;1420;p43"/>
          <p:cNvSpPr txBox="1"/>
          <p:nvPr/>
        </p:nvSpPr>
        <p:spPr>
          <a:xfrm>
            <a:off x="4506644" y="2264212"/>
            <a:ext cx="13071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分</a:t>
            </a:r>
            <a:endParaRPr sz="1100"/>
          </a:p>
        </p:txBody>
      </p:sp>
      <p:sp>
        <p:nvSpPr>
          <p:cNvPr id="1421" name="Google Shape;1421;p43"/>
          <p:cNvSpPr txBox="1"/>
          <p:nvPr/>
        </p:nvSpPr>
        <p:spPr>
          <a:xfrm>
            <a:off x="4506644" y="2407087"/>
            <a:ext cx="13071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离</a:t>
            </a:r>
            <a:endParaRPr sz="1100"/>
          </a:p>
        </p:txBody>
      </p:sp>
      <p:sp>
        <p:nvSpPr>
          <p:cNvPr id="1422" name="Google Shape;1422;p43"/>
          <p:cNvSpPr/>
          <p:nvPr/>
        </p:nvSpPr>
        <p:spPr>
          <a:xfrm>
            <a:off x="3986213" y="2378869"/>
            <a:ext cx="300038" cy="7144"/>
          </a:xfrm>
          <a:custGeom>
            <a:rect b="b" l="l" r="r" t="t"/>
            <a:pathLst>
              <a:path extrusionOk="0" h="9525" w="400050">
                <a:moveTo>
                  <a:pt x="400050" y="0"/>
                </a:moveTo>
                <a:lnTo>
                  <a:pt x="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423" name="Google Shape;1423;p43"/>
          <p:cNvSpPr/>
          <p:nvPr/>
        </p:nvSpPr>
        <p:spPr>
          <a:xfrm>
            <a:off x="4857750" y="2378869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424" name="Google Shape;1424;p43"/>
          <p:cNvSpPr/>
          <p:nvPr/>
        </p:nvSpPr>
        <p:spPr>
          <a:xfrm>
            <a:off x="5157788" y="842963"/>
            <a:ext cx="3557588" cy="3071813"/>
          </a:xfrm>
          <a:prstGeom prst="roundRect">
            <a:avLst>
              <a:gd fmla="val 325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5" name="Google Shape;1425;p43"/>
          <p:cNvSpPr/>
          <p:nvPr/>
        </p:nvSpPr>
        <p:spPr>
          <a:xfrm>
            <a:off x="5157788" y="842963"/>
            <a:ext cx="3557588" cy="457200"/>
          </a:xfrm>
          <a:prstGeom prst="roundRect">
            <a:avLst>
              <a:gd fmla="val 21875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6" name="Google Shape;1426;p43"/>
          <p:cNvSpPr/>
          <p:nvPr/>
        </p:nvSpPr>
        <p:spPr>
          <a:xfrm>
            <a:off x="5157788" y="1157288"/>
            <a:ext cx="3557588" cy="142875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7" name="Google Shape;1427;p43"/>
          <p:cNvSpPr txBox="1"/>
          <p:nvPr/>
        </p:nvSpPr>
        <p:spPr>
          <a:xfrm>
            <a:off x="5792188" y="910114"/>
            <a:ext cx="3028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AI</a:t>
            </a:r>
            <a:endParaRPr sz="1100"/>
          </a:p>
        </p:txBody>
      </p:sp>
      <p:sp>
        <p:nvSpPr>
          <p:cNvPr id="1428" name="Google Shape;1428;p43"/>
          <p:cNvSpPr txBox="1"/>
          <p:nvPr/>
        </p:nvSpPr>
        <p:spPr>
          <a:xfrm>
            <a:off x="6470907" y="1021556"/>
            <a:ext cx="91706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LLM 分析层</a:t>
            </a:r>
            <a:endParaRPr sz="1100"/>
          </a:p>
        </p:txBody>
      </p:sp>
      <p:sp>
        <p:nvSpPr>
          <p:cNvPr id="1429" name="Google Shape;1429;p43"/>
          <p:cNvSpPr txBox="1"/>
          <p:nvPr/>
        </p:nvSpPr>
        <p:spPr>
          <a:xfrm>
            <a:off x="6103138" y="1185506"/>
            <a:ext cx="165259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灵活 · 可调整 · 自然语言定义逻辑</a:t>
            </a:r>
            <a:endParaRPr sz="1100"/>
          </a:p>
        </p:txBody>
      </p:sp>
      <p:sp>
        <p:nvSpPr>
          <p:cNvPr id="1430" name="Google Shape;1430;p43"/>
          <p:cNvSpPr/>
          <p:nvPr/>
        </p:nvSpPr>
        <p:spPr>
          <a:xfrm>
            <a:off x="5300663" y="1457325"/>
            <a:ext cx="3271838" cy="571500"/>
          </a:xfrm>
          <a:prstGeom prst="roundRect">
            <a:avLst>
              <a:gd fmla="val 1250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1" name="Google Shape;1431;p43"/>
          <p:cNvSpPr/>
          <p:nvPr/>
        </p:nvSpPr>
        <p:spPr>
          <a:xfrm>
            <a:off x="5414963" y="1600200"/>
            <a:ext cx="285750" cy="285750"/>
          </a:xfrm>
          <a:prstGeom prst="ellipse">
            <a:avLst/>
          </a:prstGeom>
          <a:solidFill>
            <a:srgbClr val="3D7DE4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2" name="Google Shape;1432;p43"/>
          <p:cNvSpPr txBox="1"/>
          <p:nvPr/>
        </p:nvSpPr>
        <p:spPr>
          <a:xfrm>
            <a:off x="5517672" y="1664494"/>
            <a:ext cx="8033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1433" name="Google Shape;1433;p43"/>
          <p:cNvSpPr txBox="1"/>
          <p:nvPr/>
        </p:nvSpPr>
        <p:spPr>
          <a:xfrm>
            <a:off x="5803583" y="1560195"/>
            <a:ext cx="98898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改框架只改这里</a:t>
            </a:r>
            <a:endParaRPr sz="1100"/>
          </a:p>
        </p:txBody>
      </p:sp>
      <p:sp>
        <p:nvSpPr>
          <p:cNvPr id="1434" name="Google Shape;1434;p43"/>
          <p:cNvSpPr txBox="1"/>
          <p:nvPr/>
        </p:nvSpPr>
        <p:spPr>
          <a:xfrm>
            <a:off x="5805011" y="1743789"/>
            <a:ext cx="196949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换框架？只改 .md prompt，不动代码</a:t>
            </a:r>
            <a:endParaRPr sz="1100"/>
          </a:p>
        </p:txBody>
      </p:sp>
      <p:sp>
        <p:nvSpPr>
          <p:cNvPr id="1435" name="Google Shape;1435;p43"/>
          <p:cNvSpPr/>
          <p:nvPr/>
        </p:nvSpPr>
        <p:spPr>
          <a:xfrm>
            <a:off x="5300663" y="2128838"/>
            <a:ext cx="3271838" cy="571500"/>
          </a:xfrm>
          <a:prstGeom prst="roundRect">
            <a:avLst>
              <a:gd fmla="val 1250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6" name="Google Shape;1436;p43"/>
          <p:cNvSpPr/>
          <p:nvPr/>
        </p:nvSpPr>
        <p:spPr>
          <a:xfrm>
            <a:off x="5414963" y="2271713"/>
            <a:ext cx="285750" cy="285750"/>
          </a:xfrm>
          <a:prstGeom prst="ellipse">
            <a:avLst/>
          </a:prstGeom>
          <a:solidFill>
            <a:srgbClr val="3D7DE4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7" name="Google Shape;1437;p43"/>
          <p:cNvSpPr txBox="1"/>
          <p:nvPr/>
        </p:nvSpPr>
        <p:spPr>
          <a:xfrm>
            <a:off x="5496107" y="2336006"/>
            <a:ext cx="12346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1438" name="Google Shape;1438;p43"/>
          <p:cNvSpPr txBox="1"/>
          <p:nvPr/>
        </p:nvSpPr>
        <p:spPr>
          <a:xfrm>
            <a:off x="5803583" y="2231707"/>
            <a:ext cx="140303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自然语言描述判断逻辑</a:t>
            </a:r>
            <a:endParaRPr sz="1100"/>
          </a:p>
        </p:txBody>
      </p:sp>
      <p:sp>
        <p:nvSpPr>
          <p:cNvPr id="1439" name="Google Shape;1439;p43"/>
          <p:cNvSpPr txBox="1"/>
          <p:nvPr/>
        </p:nvSpPr>
        <p:spPr>
          <a:xfrm>
            <a:off x="5805011" y="2415302"/>
            <a:ext cx="15151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不需要写代码，说清标准即可</a:t>
            </a:r>
            <a:endParaRPr sz="1100"/>
          </a:p>
        </p:txBody>
      </p:sp>
      <p:sp>
        <p:nvSpPr>
          <p:cNvPr id="1440" name="Google Shape;1440;p43"/>
          <p:cNvSpPr/>
          <p:nvPr/>
        </p:nvSpPr>
        <p:spPr>
          <a:xfrm>
            <a:off x="5300663" y="2800350"/>
            <a:ext cx="3271838" cy="571500"/>
          </a:xfrm>
          <a:prstGeom prst="roundRect">
            <a:avLst>
              <a:gd fmla="val 12500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1" name="Google Shape;1441;p43"/>
          <p:cNvSpPr/>
          <p:nvPr/>
        </p:nvSpPr>
        <p:spPr>
          <a:xfrm>
            <a:off x="5414963" y="2943225"/>
            <a:ext cx="285750" cy="285750"/>
          </a:xfrm>
          <a:prstGeom prst="ellipse">
            <a:avLst/>
          </a:prstGeom>
          <a:solidFill>
            <a:srgbClr val="3D7DE4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2" name="Google Shape;1442;p43"/>
          <p:cNvSpPr txBox="1"/>
          <p:nvPr/>
        </p:nvSpPr>
        <p:spPr>
          <a:xfrm>
            <a:off x="5496107" y="3007519"/>
            <a:ext cx="12346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1443" name="Google Shape;1443;p43"/>
          <p:cNvSpPr txBox="1"/>
          <p:nvPr/>
        </p:nvSpPr>
        <p:spPr>
          <a:xfrm>
            <a:off x="5803583" y="2903220"/>
            <a:ext cx="98898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框架可快速迭代</a:t>
            </a:r>
            <a:endParaRPr sz="1100"/>
          </a:p>
        </p:txBody>
      </p:sp>
      <p:sp>
        <p:nvSpPr>
          <p:cNvPr id="1444" name="Google Shape;1444;p43"/>
          <p:cNvSpPr txBox="1"/>
          <p:nvPr/>
        </p:nvSpPr>
        <p:spPr>
          <a:xfrm>
            <a:off x="5805011" y="3086814"/>
            <a:ext cx="187173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发现新方法论？改 prompt 即可测试</a:t>
            </a:r>
            <a:endParaRPr sz="1100"/>
          </a:p>
        </p:txBody>
      </p:sp>
      <p:sp>
        <p:nvSpPr>
          <p:cNvPr id="1445" name="Google Shape;1445;p43"/>
          <p:cNvSpPr/>
          <p:nvPr/>
        </p:nvSpPr>
        <p:spPr>
          <a:xfrm>
            <a:off x="5300663" y="3471863"/>
            <a:ext cx="3271838" cy="328613"/>
          </a:xfrm>
          <a:prstGeom prst="roundRect">
            <a:avLst>
              <a:gd fmla="val 21739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6" name="Google Shape;1446;p43"/>
          <p:cNvSpPr txBox="1"/>
          <p:nvPr/>
        </p:nvSpPr>
        <p:spPr>
          <a:xfrm>
            <a:off x="6016717" y="3586877"/>
            <a:ext cx="182544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✓ 分析层负责"判断"，灵活可调整</a:t>
            </a:r>
            <a:endParaRPr sz="1100"/>
          </a:p>
        </p:txBody>
      </p:sp>
      <p:sp>
        <p:nvSpPr>
          <p:cNvPr id="1447" name="Google Shape;1447;p43"/>
          <p:cNvSpPr/>
          <p:nvPr/>
        </p:nvSpPr>
        <p:spPr>
          <a:xfrm>
            <a:off x="428625" y="4086225"/>
            <a:ext cx="8286750" cy="571500"/>
          </a:xfrm>
          <a:prstGeom prst="roundRect">
            <a:avLst>
              <a:gd fmla="val 150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8" name="Google Shape;1448;p43"/>
          <p:cNvSpPr/>
          <p:nvPr/>
        </p:nvSpPr>
        <p:spPr>
          <a:xfrm>
            <a:off x="628650" y="4214813"/>
            <a:ext cx="314325" cy="314325"/>
          </a:xfrm>
          <a:prstGeom prst="ellipse">
            <a:avLst/>
          </a:prstGeom>
          <a:solidFill>
            <a:srgbClr val="C96133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9" name="Google Shape;1449;p43"/>
          <p:cNvSpPr txBox="1"/>
          <p:nvPr/>
        </p:nvSpPr>
        <p:spPr>
          <a:xfrm>
            <a:off x="720394" y="4295537"/>
            <a:ext cx="130838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⚡</a:t>
            </a:r>
            <a:endParaRPr sz="1100"/>
          </a:p>
        </p:txBody>
      </p:sp>
      <p:sp>
        <p:nvSpPr>
          <p:cNvPr id="1450" name="Google Shape;1450;p43"/>
          <p:cNvSpPr txBox="1"/>
          <p:nvPr/>
        </p:nvSpPr>
        <p:spPr>
          <a:xfrm>
            <a:off x="1060133" y="4231958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核心洞见</a:t>
            </a:r>
            <a:endParaRPr sz="1100"/>
          </a:p>
        </p:txBody>
      </p:sp>
      <p:sp>
        <p:nvSpPr>
          <p:cNvPr id="1451" name="Google Shape;1451;p43"/>
          <p:cNvSpPr txBox="1"/>
          <p:nvPr/>
        </p:nvSpPr>
        <p:spPr>
          <a:xfrm>
            <a:off x="1060846" y="4423767"/>
            <a:ext cx="489516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任何专家方法都能照这个路径转化为 Skill：数据层 + 分析层分离，是"造工具"的通用架构</a:t>
            </a:r>
            <a:endParaRPr sz="1100"/>
          </a:p>
        </p:txBody>
      </p:sp>
      <p:sp>
        <p:nvSpPr>
          <p:cNvPr id="1452" name="Google Shape;1452;p43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18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p4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8" name="Google Shape;1458;p44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9" name="Google Shape;1459;p44"/>
          <p:cNvSpPr/>
          <p:nvPr/>
        </p:nvSpPr>
        <p:spPr>
          <a:xfrm>
            <a:off x="428625" y="285750"/>
            <a:ext cx="42863" cy="3143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0" name="Google Shape;1460;p44"/>
          <p:cNvSpPr txBox="1"/>
          <p:nvPr/>
        </p:nvSpPr>
        <p:spPr>
          <a:xfrm>
            <a:off x="574357" y="295751"/>
            <a:ext cx="460082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现场演示：从零写 /ticker-scan</a:t>
            </a:r>
            <a:endParaRPr sz="1100"/>
          </a:p>
        </p:txBody>
      </p:sp>
      <p:sp>
        <p:nvSpPr>
          <p:cNvPr id="1461" name="Google Shape;1461;p44"/>
          <p:cNvSpPr txBox="1"/>
          <p:nvPr/>
        </p:nvSpPr>
        <p:spPr>
          <a:xfrm>
            <a:off x="587931" y="611148"/>
            <a:ext cx="457721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方法论分层 → 验证脚本 → 写LLM层 → 对账检查 → 加Web Search → 测试 — 三层 Skill 工程实践全程直播</a:t>
            </a:r>
            <a:endParaRPr sz="1100"/>
          </a:p>
        </p:txBody>
      </p:sp>
      <p:sp>
        <p:nvSpPr>
          <p:cNvPr id="1462" name="Google Shape;1462;p44"/>
          <p:cNvSpPr/>
          <p:nvPr/>
        </p:nvSpPr>
        <p:spPr>
          <a:xfrm>
            <a:off x="7929563" y="314325"/>
            <a:ext cx="785813" cy="342900"/>
          </a:xfrm>
          <a:prstGeom prst="roundRect">
            <a:avLst>
              <a:gd fmla="val 20833" name="adj"/>
            </a:avLst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3" name="Google Shape;1463;p44"/>
          <p:cNvSpPr txBox="1"/>
          <p:nvPr/>
        </p:nvSpPr>
        <p:spPr>
          <a:xfrm>
            <a:off x="8041245" y="371118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⏱ 演示时长</a:t>
            </a:r>
            <a:endParaRPr sz="1100"/>
          </a:p>
        </p:txBody>
      </p:sp>
      <p:sp>
        <p:nvSpPr>
          <p:cNvPr id="1464" name="Google Shape;1464;p44"/>
          <p:cNvSpPr txBox="1"/>
          <p:nvPr/>
        </p:nvSpPr>
        <p:spPr>
          <a:xfrm>
            <a:off x="8076706" y="476489"/>
            <a:ext cx="49152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20 min</a:t>
            </a:r>
            <a:endParaRPr sz="1100"/>
          </a:p>
        </p:txBody>
      </p:sp>
      <p:sp>
        <p:nvSpPr>
          <p:cNvPr id="1465" name="Google Shape;1465;p44"/>
          <p:cNvSpPr/>
          <p:nvPr/>
        </p:nvSpPr>
        <p:spPr>
          <a:xfrm>
            <a:off x="1085850" y="2214563"/>
            <a:ext cx="6972300" cy="7144"/>
          </a:xfrm>
          <a:custGeom>
            <a:rect b="b" l="l" r="r" t="t"/>
            <a:pathLst>
              <a:path extrusionOk="0" h="9525" w="9296400">
                <a:moveTo>
                  <a:pt x="0" y="0"/>
                </a:moveTo>
                <a:lnTo>
                  <a:pt x="9296400" y="0"/>
                </a:lnTo>
              </a:path>
            </a:pathLst>
          </a:custGeom>
          <a:noFill/>
          <a:ln cap="flat" cmpd="sng" w="1905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6" name="Google Shape;1466;p44"/>
          <p:cNvSpPr/>
          <p:nvPr/>
        </p:nvSpPr>
        <p:spPr>
          <a:xfrm>
            <a:off x="1200150" y="1985963"/>
            <a:ext cx="457200" cy="457200"/>
          </a:xfrm>
          <a:prstGeom prst="ellipse">
            <a:avLst/>
          </a:prstGeom>
          <a:solidFill>
            <a:srgbClr val="FFFFFF"/>
          </a:solidFill>
          <a:ln cap="flat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7" name="Google Shape;1467;p44"/>
          <p:cNvSpPr txBox="1"/>
          <p:nvPr/>
        </p:nvSpPr>
        <p:spPr>
          <a:xfrm>
            <a:off x="1332380" y="2052399"/>
            <a:ext cx="19274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1468" name="Google Shape;1468;p44"/>
          <p:cNvSpPr txBox="1"/>
          <p:nvPr/>
        </p:nvSpPr>
        <p:spPr>
          <a:xfrm>
            <a:off x="1296635" y="2233493"/>
            <a:ext cx="26423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START</a:t>
            </a:r>
            <a:endParaRPr sz="1100"/>
          </a:p>
        </p:txBody>
      </p:sp>
      <p:sp>
        <p:nvSpPr>
          <p:cNvPr id="1469" name="Google Shape;1469;p44"/>
          <p:cNvSpPr/>
          <p:nvPr/>
        </p:nvSpPr>
        <p:spPr>
          <a:xfrm>
            <a:off x="857250" y="2571750"/>
            <a:ext cx="1143000" cy="714375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0" name="Google Shape;1470;p44"/>
          <p:cNvSpPr txBox="1"/>
          <p:nvPr/>
        </p:nvSpPr>
        <p:spPr>
          <a:xfrm>
            <a:off x="1159252" y="2666405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需求分析</a:t>
            </a:r>
            <a:endParaRPr sz="1100"/>
          </a:p>
        </p:txBody>
      </p:sp>
      <p:sp>
        <p:nvSpPr>
          <p:cNvPr id="1471" name="Google Shape;1471;p44"/>
          <p:cNvSpPr txBox="1"/>
          <p:nvPr/>
        </p:nvSpPr>
        <p:spPr>
          <a:xfrm>
            <a:off x="1099066" y="2835712"/>
            <a:ext cx="6593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方法论分层</a:t>
            </a:r>
            <a:endParaRPr sz="1100"/>
          </a:p>
        </p:txBody>
      </p:sp>
      <p:sp>
        <p:nvSpPr>
          <p:cNvPr id="1472" name="Google Shape;1472;p44"/>
          <p:cNvSpPr txBox="1"/>
          <p:nvPr/>
        </p:nvSpPr>
        <p:spPr>
          <a:xfrm>
            <a:off x="965567" y="2964299"/>
            <a:ext cx="92636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保存三文件</a:t>
            </a:r>
            <a:endParaRPr sz="1100"/>
          </a:p>
        </p:txBody>
      </p:sp>
      <p:sp>
        <p:nvSpPr>
          <p:cNvPr id="1473" name="Google Shape;1473;p44"/>
          <p:cNvSpPr txBox="1"/>
          <p:nvPr/>
        </p:nvSpPr>
        <p:spPr>
          <a:xfrm>
            <a:off x="1272302" y="3127534"/>
            <a:ext cx="31289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 sz="1100"/>
          </a:p>
        </p:txBody>
      </p:sp>
      <p:sp>
        <p:nvSpPr>
          <p:cNvPr id="1474" name="Google Shape;1474;p44"/>
          <p:cNvSpPr/>
          <p:nvPr/>
        </p:nvSpPr>
        <p:spPr>
          <a:xfrm>
            <a:off x="2914650" y="1985963"/>
            <a:ext cx="457200" cy="457200"/>
          </a:xfrm>
          <a:prstGeom prst="ellipse">
            <a:avLst/>
          </a:prstGeom>
          <a:solidFill>
            <a:srgbClr val="FFFFFF"/>
          </a:solidFill>
          <a:ln cap="flat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5" name="Google Shape;1475;p44"/>
          <p:cNvSpPr txBox="1"/>
          <p:nvPr/>
        </p:nvSpPr>
        <p:spPr>
          <a:xfrm>
            <a:off x="3023159" y="2052399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1476" name="Google Shape;1476;p44"/>
          <p:cNvSpPr txBox="1"/>
          <p:nvPr/>
        </p:nvSpPr>
        <p:spPr>
          <a:xfrm>
            <a:off x="3060838" y="2233493"/>
            <a:ext cx="164824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RUN</a:t>
            </a:r>
            <a:endParaRPr sz="1100"/>
          </a:p>
        </p:txBody>
      </p:sp>
      <p:sp>
        <p:nvSpPr>
          <p:cNvPr id="1477" name="Google Shape;1477;p44"/>
          <p:cNvSpPr/>
          <p:nvPr/>
        </p:nvSpPr>
        <p:spPr>
          <a:xfrm>
            <a:off x="2571750" y="2571750"/>
            <a:ext cx="1143000" cy="714375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8" name="Google Shape;1478;p44"/>
          <p:cNvSpPr txBox="1"/>
          <p:nvPr/>
        </p:nvSpPr>
        <p:spPr>
          <a:xfrm>
            <a:off x="2809057" y="2666405"/>
            <a:ext cx="66838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验证脚本覆盖</a:t>
            </a:r>
            <a:endParaRPr sz="1100"/>
          </a:p>
        </p:txBody>
      </p:sp>
      <p:sp>
        <p:nvSpPr>
          <p:cNvPr id="1479" name="Google Shape;1479;p44"/>
          <p:cNvSpPr txBox="1"/>
          <p:nvPr/>
        </p:nvSpPr>
        <p:spPr>
          <a:xfrm>
            <a:off x="2813566" y="2835712"/>
            <a:ext cx="6593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Claude 读代码</a:t>
            </a:r>
            <a:endParaRPr sz="1100"/>
          </a:p>
        </p:txBody>
      </p:sp>
      <p:sp>
        <p:nvSpPr>
          <p:cNvPr id="1480" name="Google Shape;1480;p44"/>
          <p:cNvSpPr txBox="1"/>
          <p:nvPr/>
        </p:nvSpPr>
        <p:spPr>
          <a:xfrm>
            <a:off x="2866966" y="2964299"/>
            <a:ext cx="55256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对比需求文件</a:t>
            </a:r>
            <a:endParaRPr sz="1100"/>
          </a:p>
        </p:txBody>
      </p:sp>
      <p:sp>
        <p:nvSpPr>
          <p:cNvPr id="1481" name="Google Shape;1481;p44"/>
          <p:cNvSpPr txBox="1"/>
          <p:nvPr/>
        </p:nvSpPr>
        <p:spPr>
          <a:xfrm>
            <a:off x="2999125" y="3127534"/>
            <a:ext cx="28825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~2 min</a:t>
            </a:r>
            <a:endParaRPr sz="1100"/>
          </a:p>
        </p:txBody>
      </p:sp>
      <p:sp>
        <p:nvSpPr>
          <p:cNvPr id="1482" name="Google Shape;1482;p44"/>
          <p:cNvSpPr/>
          <p:nvPr/>
        </p:nvSpPr>
        <p:spPr>
          <a:xfrm>
            <a:off x="4600575" y="1957388"/>
            <a:ext cx="514350" cy="5143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3" name="Google Shape;1483;p44"/>
          <p:cNvSpPr txBox="1"/>
          <p:nvPr/>
        </p:nvSpPr>
        <p:spPr>
          <a:xfrm>
            <a:off x="4737658" y="2052399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1484" name="Google Shape;1484;p44"/>
          <p:cNvSpPr txBox="1"/>
          <p:nvPr/>
        </p:nvSpPr>
        <p:spPr>
          <a:xfrm>
            <a:off x="4727894" y="2240637"/>
            <a:ext cx="259711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WRITE</a:t>
            </a:r>
            <a:endParaRPr sz="1100"/>
          </a:p>
        </p:txBody>
      </p:sp>
      <p:sp>
        <p:nvSpPr>
          <p:cNvPr id="1485" name="Google Shape;1485;p44"/>
          <p:cNvSpPr/>
          <p:nvPr/>
        </p:nvSpPr>
        <p:spPr>
          <a:xfrm>
            <a:off x="4214813" y="2571750"/>
            <a:ext cx="1285875" cy="714375"/>
          </a:xfrm>
          <a:prstGeom prst="roundRect">
            <a:avLst>
              <a:gd fmla="val 10000" name="adj"/>
            </a:avLst>
          </a:prstGeom>
          <a:solidFill>
            <a:srgbClr val="FFF8F5"/>
          </a:solidFill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6" name="Google Shape;1486;p44"/>
          <p:cNvSpPr txBox="1"/>
          <p:nvPr/>
        </p:nvSpPr>
        <p:spPr>
          <a:xfrm>
            <a:off x="4633539" y="2666405"/>
            <a:ext cx="44842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写 Skill</a:t>
            </a:r>
            <a:endParaRPr sz="1100"/>
          </a:p>
        </p:txBody>
      </p:sp>
      <p:sp>
        <p:nvSpPr>
          <p:cNvPr id="1487" name="Google Shape;1487;p44"/>
          <p:cNvSpPr txBox="1"/>
          <p:nvPr/>
        </p:nvSpPr>
        <p:spPr>
          <a:xfrm>
            <a:off x="4493357" y="2835712"/>
            <a:ext cx="72878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让 Claude 生成</a:t>
            </a:r>
            <a:endParaRPr sz="1100"/>
          </a:p>
        </p:txBody>
      </p:sp>
      <p:sp>
        <p:nvSpPr>
          <p:cNvPr id="1488" name="Google Shape;1488;p44"/>
          <p:cNvSpPr txBox="1"/>
          <p:nvPr/>
        </p:nvSpPr>
        <p:spPr>
          <a:xfrm>
            <a:off x="4573456" y="2964299"/>
            <a:ext cx="56858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LLM 层 + 对账补缺</a:t>
            </a:r>
            <a:endParaRPr sz="1100"/>
          </a:p>
        </p:txBody>
      </p:sp>
      <p:sp>
        <p:nvSpPr>
          <p:cNvPr id="1489" name="Google Shape;1489;p44"/>
          <p:cNvSpPr txBox="1"/>
          <p:nvPr/>
        </p:nvSpPr>
        <p:spPr>
          <a:xfrm>
            <a:off x="4649915" y="3127534"/>
            <a:ext cx="41566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~10 min ★</a:t>
            </a:r>
            <a:endParaRPr sz="1100"/>
          </a:p>
        </p:txBody>
      </p:sp>
      <p:sp>
        <p:nvSpPr>
          <p:cNvPr id="1490" name="Google Shape;1490;p44"/>
          <p:cNvSpPr/>
          <p:nvPr/>
        </p:nvSpPr>
        <p:spPr>
          <a:xfrm>
            <a:off x="6343650" y="1985963"/>
            <a:ext cx="457200" cy="457200"/>
          </a:xfrm>
          <a:prstGeom prst="ellipse">
            <a:avLst/>
          </a:prstGeom>
          <a:solidFill>
            <a:srgbClr val="FFFFFF"/>
          </a:solidFill>
          <a:ln cap="flat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1" name="Google Shape;1491;p44"/>
          <p:cNvSpPr txBox="1"/>
          <p:nvPr/>
        </p:nvSpPr>
        <p:spPr>
          <a:xfrm>
            <a:off x="6452159" y="2052399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1492" name="Google Shape;1492;p44"/>
          <p:cNvSpPr txBox="1"/>
          <p:nvPr/>
        </p:nvSpPr>
        <p:spPr>
          <a:xfrm>
            <a:off x="6464987" y="2233493"/>
            <a:ext cx="214527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TEST</a:t>
            </a:r>
            <a:endParaRPr sz="1100"/>
          </a:p>
        </p:txBody>
      </p:sp>
      <p:sp>
        <p:nvSpPr>
          <p:cNvPr id="1493" name="Google Shape;1493;p44"/>
          <p:cNvSpPr/>
          <p:nvPr/>
        </p:nvSpPr>
        <p:spPr>
          <a:xfrm>
            <a:off x="6000750" y="2571750"/>
            <a:ext cx="1143000" cy="714375"/>
          </a:xfrm>
          <a:prstGeom prst="roundRect">
            <a:avLst>
              <a:gd fmla="val 10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4" name="Google Shape;1494;p44"/>
          <p:cNvSpPr txBox="1"/>
          <p:nvPr/>
        </p:nvSpPr>
        <p:spPr>
          <a:xfrm>
            <a:off x="6228352" y="2666405"/>
            <a:ext cx="6877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测试 &amp; 验证</a:t>
            </a:r>
            <a:endParaRPr sz="1100"/>
          </a:p>
        </p:txBody>
      </p:sp>
      <p:sp>
        <p:nvSpPr>
          <p:cNvPr id="1495" name="Google Shape;1495;p44"/>
          <p:cNvSpPr txBox="1"/>
          <p:nvPr/>
        </p:nvSpPr>
        <p:spPr>
          <a:xfrm>
            <a:off x="6295966" y="2835712"/>
            <a:ext cx="55256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两步验证</a:t>
            </a:r>
            <a:endParaRPr sz="1100"/>
          </a:p>
        </p:txBody>
      </p:sp>
      <p:sp>
        <p:nvSpPr>
          <p:cNvPr id="1496" name="Google Shape;1496;p44"/>
          <p:cNvSpPr txBox="1"/>
          <p:nvPr/>
        </p:nvSpPr>
        <p:spPr>
          <a:xfrm>
            <a:off x="6183827" y="2964299"/>
            <a:ext cx="7768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输出/边界</a:t>
            </a:r>
            <a:endParaRPr sz="1100"/>
          </a:p>
        </p:txBody>
      </p:sp>
      <p:sp>
        <p:nvSpPr>
          <p:cNvPr id="1497" name="Google Shape;1497;p44"/>
          <p:cNvSpPr txBox="1"/>
          <p:nvPr/>
        </p:nvSpPr>
        <p:spPr>
          <a:xfrm>
            <a:off x="6415802" y="3127534"/>
            <a:ext cx="31289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 sz="1100"/>
          </a:p>
        </p:txBody>
      </p:sp>
      <p:sp>
        <p:nvSpPr>
          <p:cNvPr id="1498" name="Google Shape;1498;p44"/>
          <p:cNvSpPr/>
          <p:nvPr/>
        </p:nvSpPr>
        <p:spPr>
          <a:xfrm>
            <a:off x="7843838" y="1985963"/>
            <a:ext cx="457200" cy="457200"/>
          </a:xfrm>
          <a:prstGeom prst="ellipse">
            <a:avLst/>
          </a:prstGeom>
          <a:solidFill>
            <a:srgbClr val="FFFFFF"/>
          </a:solidFill>
          <a:ln cap="flat" cmpd="sng" w="285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9" name="Google Shape;1499;p44"/>
          <p:cNvSpPr txBox="1"/>
          <p:nvPr/>
        </p:nvSpPr>
        <p:spPr>
          <a:xfrm>
            <a:off x="7952346" y="2052399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1100"/>
          </a:p>
        </p:txBody>
      </p:sp>
      <p:sp>
        <p:nvSpPr>
          <p:cNvPr id="1500" name="Google Shape;1500;p44"/>
          <p:cNvSpPr txBox="1"/>
          <p:nvPr/>
        </p:nvSpPr>
        <p:spPr>
          <a:xfrm>
            <a:off x="7956137" y="2233493"/>
            <a:ext cx="232601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DONE</a:t>
            </a:r>
            <a:endParaRPr sz="1100"/>
          </a:p>
        </p:txBody>
      </p:sp>
      <p:sp>
        <p:nvSpPr>
          <p:cNvPr id="1501" name="Google Shape;1501;p44"/>
          <p:cNvSpPr/>
          <p:nvPr/>
        </p:nvSpPr>
        <p:spPr>
          <a:xfrm>
            <a:off x="7500938" y="2571750"/>
            <a:ext cx="1143000" cy="714375"/>
          </a:xfrm>
          <a:prstGeom prst="roundRect">
            <a:avLst>
              <a:gd fmla="val 10000" name="adj"/>
            </a:avLst>
          </a:prstGeom>
          <a:solidFill>
            <a:srgbClr val="EBF7F1"/>
          </a:solidFill>
          <a:ln cap="flat" cmpd="sng" w="142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2" name="Google Shape;1502;p44"/>
          <p:cNvSpPr txBox="1"/>
          <p:nvPr/>
        </p:nvSpPr>
        <p:spPr>
          <a:xfrm>
            <a:off x="7718835" y="2666405"/>
            <a:ext cx="70720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可运行 Skill</a:t>
            </a:r>
            <a:endParaRPr sz="1100"/>
          </a:p>
        </p:txBody>
      </p:sp>
      <p:sp>
        <p:nvSpPr>
          <p:cNvPr id="1503" name="Google Shape;1503;p44"/>
          <p:cNvSpPr txBox="1"/>
          <p:nvPr/>
        </p:nvSpPr>
        <p:spPr>
          <a:xfrm>
            <a:off x="7494446" y="2835712"/>
            <a:ext cx="115598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一个完整 /ticker-scan</a:t>
            </a:r>
            <a:endParaRPr sz="1100"/>
          </a:p>
        </p:txBody>
      </p:sp>
      <p:sp>
        <p:nvSpPr>
          <p:cNvPr id="1504" name="Google Shape;1504;p44"/>
          <p:cNvSpPr txBox="1"/>
          <p:nvPr/>
        </p:nvSpPr>
        <p:spPr>
          <a:xfrm>
            <a:off x="7689354" y="2964299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从无到有产生了</a:t>
            </a:r>
            <a:endParaRPr sz="1100"/>
          </a:p>
        </p:txBody>
      </p:sp>
      <p:sp>
        <p:nvSpPr>
          <p:cNvPr id="1505" name="Google Shape;1505;p44"/>
          <p:cNvSpPr txBox="1"/>
          <p:nvPr/>
        </p:nvSpPr>
        <p:spPr>
          <a:xfrm>
            <a:off x="7921535" y="3127534"/>
            <a:ext cx="30180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~1 min</a:t>
            </a:r>
            <a:endParaRPr sz="1100"/>
          </a:p>
        </p:txBody>
      </p:sp>
      <p:sp>
        <p:nvSpPr>
          <p:cNvPr id="1506" name="Google Shape;1506;p44"/>
          <p:cNvSpPr/>
          <p:nvPr/>
        </p:nvSpPr>
        <p:spPr>
          <a:xfrm>
            <a:off x="428625" y="928688"/>
            <a:ext cx="8286750" cy="885825"/>
          </a:xfrm>
          <a:prstGeom prst="roundRect">
            <a:avLst>
              <a:gd fmla="val 1129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7" name="Google Shape;1507;p44"/>
          <p:cNvSpPr txBox="1"/>
          <p:nvPr/>
        </p:nvSpPr>
        <p:spPr>
          <a:xfrm>
            <a:off x="642938" y="978694"/>
            <a:ext cx="370385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4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 sz="1100"/>
          </a:p>
        </p:txBody>
      </p:sp>
      <p:sp>
        <p:nvSpPr>
          <p:cNvPr id="1508" name="Google Shape;1508;p44"/>
          <p:cNvSpPr txBox="1"/>
          <p:nvPr/>
        </p:nvSpPr>
        <p:spPr>
          <a:xfrm>
            <a:off x="2241044" y="1116569"/>
            <a:ext cx="4661911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我现在把 ticker-scan 清空——备份在 .bak，我们一起从头写一个</a:t>
            </a:r>
            <a:endParaRPr sz="1100"/>
          </a:p>
        </p:txBody>
      </p:sp>
      <p:sp>
        <p:nvSpPr>
          <p:cNvPr id="1509" name="Google Shape;1509;p44"/>
          <p:cNvSpPr txBox="1"/>
          <p:nvPr/>
        </p:nvSpPr>
        <p:spPr>
          <a:xfrm>
            <a:off x="2582323" y="1381601"/>
            <a:ext cx="397935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你不用手敲——跟着看，理解每一步为什么这么写，比看成品更有收获</a:t>
            </a:r>
            <a:endParaRPr sz="1100"/>
          </a:p>
        </p:txBody>
      </p:sp>
      <p:sp>
        <p:nvSpPr>
          <p:cNvPr id="1510" name="Google Shape;1510;p44"/>
          <p:cNvSpPr txBox="1"/>
          <p:nvPr/>
        </p:nvSpPr>
        <p:spPr>
          <a:xfrm>
            <a:off x="8130677" y="1335881"/>
            <a:ext cx="370385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4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 sz="1100"/>
          </a:p>
        </p:txBody>
      </p:sp>
      <p:sp>
        <p:nvSpPr>
          <p:cNvPr id="1511" name="Google Shape;1511;p44"/>
          <p:cNvSpPr/>
          <p:nvPr/>
        </p:nvSpPr>
        <p:spPr>
          <a:xfrm>
            <a:off x="428625" y="3486150"/>
            <a:ext cx="4036219" cy="942975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2" name="Google Shape;1512;p44"/>
          <p:cNvSpPr/>
          <p:nvPr/>
        </p:nvSpPr>
        <p:spPr>
          <a:xfrm>
            <a:off x="428625" y="3486150"/>
            <a:ext cx="71438" cy="9429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3" name="Google Shape;1513;p44"/>
          <p:cNvSpPr txBox="1"/>
          <p:nvPr/>
        </p:nvSpPr>
        <p:spPr>
          <a:xfrm>
            <a:off x="632222" y="3580805"/>
            <a:ext cx="5389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观察重点</a:t>
            </a:r>
            <a:endParaRPr sz="1100"/>
          </a:p>
        </p:txBody>
      </p:sp>
      <p:sp>
        <p:nvSpPr>
          <p:cNvPr id="1514" name="Google Shape;1514;p44"/>
          <p:cNvSpPr txBox="1"/>
          <p:nvPr/>
        </p:nvSpPr>
        <p:spPr>
          <a:xfrm>
            <a:off x="632936" y="3772614"/>
            <a:ext cx="14979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▪ 为什么需求要先分三类文件？</a:t>
            </a:r>
            <a:endParaRPr sz="1100"/>
          </a:p>
        </p:txBody>
      </p:sp>
      <p:sp>
        <p:nvSpPr>
          <p:cNvPr id="1515" name="Google Shape;1515;p44"/>
          <p:cNvSpPr txBox="1"/>
          <p:nvPr/>
        </p:nvSpPr>
        <p:spPr>
          <a:xfrm>
            <a:off x="632936" y="3929777"/>
            <a:ext cx="173371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▪ Python 层和 LLM 层如何分工？</a:t>
            </a:r>
            <a:endParaRPr sz="1100"/>
          </a:p>
        </p:txBody>
      </p:sp>
      <p:sp>
        <p:nvSpPr>
          <p:cNvPr id="1516" name="Google Shape;1516;p44"/>
          <p:cNvSpPr txBox="1"/>
          <p:nvPr/>
        </p:nvSpPr>
        <p:spPr>
          <a:xfrm>
            <a:off x="632936" y="4086939"/>
            <a:ext cx="161295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▪ Web search 层解决了什么问题？</a:t>
            </a:r>
            <a:endParaRPr sz="1100"/>
          </a:p>
        </p:txBody>
      </p:sp>
      <p:sp>
        <p:nvSpPr>
          <p:cNvPr id="1517" name="Google Shape;1517;p44"/>
          <p:cNvSpPr txBox="1"/>
          <p:nvPr/>
        </p:nvSpPr>
        <p:spPr>
          <a:xfrm>
            <a:off x="632936" y="4244102"/>
            <a:ext cx="184298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▪ 两步测试分别在验证什么？</a:t>
            </a:r>
            <a:endParaRPr sz="1100"/>
          </a:p>
        </p:txBody>
      </p:sp>
      <p:sp>
        <p:nvSpPr>
          <p:cNvPr id="1518" name="Google Shape;1518;p44"/>
          <p:cNvSpPr/>
          <p:nvPr/>
        </p:nvSpPr>
        <p:spPr>
          <a:xfrm>
            <a:off x="4679156" y="3486150"/>
            <a:ext cx="4036219" cy="942975"/>
          </a:xfrm>
          <a:prstGeom prst="roundRect">
            <a:avLst>
              <a:gd fmla="val 9091" name="adj"/>
            </a:avLst>
          </a:prstGeom>
          <a:solidFill>
            <a:srgbClr val="3D7DE4">
              <a:alpha val="7843"/>
            </a:srgbClr>
          </a:solidFill>
          <a:ln cap="flat" cmpd="sng" w="14275">
            <a:solidFill>
              <a:srgbClr val="3D7DE4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9" name="Google Shape;1519;p44"/>
          <p:cNvSpPr/>
          <p:nvPr/>
        </p:nvSpPr>
        <p:spPr>
          <a:xfrm>
            <a:off x="4679156" y="3486150"/>
            <a:ext cx="71438" cy="9429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0" name="Google Shape;1520;p44"/>
          <p:cNvSpPr txBox="1"/>
          <p:nvPr/>
        </p:nvSpPr>
        <p:spPr>
          <a:xfrm>
            <a:off x="4882754" y="3580805"/>
            <a:ext cx="40960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你来做</a:t>
            </a:r>
            <a:endParaRPr sz="1100"/>
          </a:p>
        </p:txBody>
      </p:sp>
      <p:sp>
        <p:nvSpPr>
          <p:cNvPr id="1521" name="Google Shape;1521;p44"/>
          <p:cNvSpPr txBox="1"/>
          <p:nvPr/>
        </p:nvSpPr>
        <p:spPr>
          <a:xfrm>
            <a:off x="4883468" y="3772614"/>
            <a:ext cx="19752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演示后，跟着作业指南写你自己的版本</a:t>
            </a:r>
            <a:endParaRPr sz="1100"/>
          </a:p>
        </p:txBody>
      </p:sp>
      <p:sp>
        <p:nvSpPr>
          <p:cNvPr id="1522" name="Google Shape;1522;p44"/>
          <p:cNvSpPr txBox="1"/>
          <p:nvPr/>
        </p:nvSpPr>
        <p:spPr>
          <a:xfrm>
            <a:off x="4883467" y="3929777"/>
            <a:ext cx="222252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选一个你感兴趣的赛道，写 /market-daily</a:t>
            </a:r>
            <a:endParaRPr sz="1100"/>
          </a:p>
        </p:txBody>
      </p:sp>
      <p:sp>
        <p:nvSpPr>
          <p:cNvPr id="1523" name="Google Shape;1523;p44"/>
          <p:cNvSpPr txBox="1"/>
          <p:nvPr/>
        </p:nvSpPr>
        <p:spPr>
          <a:xfrm>
            <a:off x="4883468" y="4086939"/>
            <a:ext cx="140017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不需要完美，能跑就算成功</a:t>
            </a:r>
            <a:endParaRPr sz="1100"/>
          </a:p>
        </p:txBody>
      </p:sp>
      <p:sp>
        <p:nvSpPr>
          <p:cNvPr id="1524" name="Google Shape;1524;p44"/>
          <p:cNvSpPr txBox="1"/>
          <p:nvPr/>
        </p:nvSpPr>
        <p:spPr>
          <a:xfrm>
            <a:off x="4883468" y="4258389"/>
            <a:ext cx="96800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→ 作业在最后几页</a:t>
            </a:r>
            <a:endParaRPr sz="1100"/>
          </a:p>
        </p:txBody>
      </p:sp>
      <p:sp>
        <p:nvSpPr>
          <p:cNvPr id="1525" name="Google Shape;1525;p44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19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9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p4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1" name="Google Shape;1531;p45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2" name="Google Shape;1532;p45"/>
          <p:cNvSpPr txBox="1"/>
          <p:nvPr/>
        </p:nvSpPr>
        <p:spPr>
          <a:xfrm rot="-1200000">
            <a:off x="6250958" y="2403253"/>
            <a:ext cx="2759273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SKILL</a:t>
            </a:r>
            <a:endParaRPr sz="1100"/>
          </a:p>
        </p:txBody>
      </p:sp>
      <p:sp>
        <p:nvSpPr>
          <p:cNvPr id="1533" name="Google Shape;1533;p45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4" name="Google Shape;1534;p45"/>
          <p:cNvSpPr txBox="1"/>
          <p:nvPr/>
        </p:nvSpPr>
        <p:spPr>
          <a:xfrm>
            <a:off x="560070" y="252889"/>
            <a:ext cx="35605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Skill 工程：五个核心原则</a:t>
            </a:r>
            <a:endParaRPr sz="1100"/>
          </a:p>
        </p:txBody>
      </p:sp>
      <p:sp>
        <p:nvSpPr>
          <p:cNvPr id="1535" name="Google Shape;1535;p45"/>
          <p:cNvSpPr txBox="1"/>
          <p:nvPr/>
        </p:nvSpPr>
        <p:spPr>
          <a:xfrm>
            <a:off x="574358" y="588645"/>
            <a:ext cx="235600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把任何专家方法变成 AI Skill 的通用路径</a:t>
            </a:r>
            <a:endParaRPr sz="1100"/>
          </a:p>
        </p:txBody>
      </p:sp>
      <p:sp>
        <p:nvSpPr>
          <p:cNvPr id="1536" name="Google Shape;1536;p45"/>
          <p:cNvSpPr/>
          <p:nvPr/>
        </p:nvSpPr>
        <p:spPr>
          <a:xfrm>
            <a:off x="785813" y="942975"/>
            <a:ext cx="7144" cy="3714750"/>
          </a:xfrm>
          <a:custGeom>
            <a:rect b="b" l="l" r="r" t="t"/>
            <a:pathLst>
              <a:path extrusionOk="0" h="4953000" w="9525">
                <a:moveTo>
                  <a:pt x="0" y="0"/>
                </a:moveTo>
                <a:lnTo>
                  <a:pt x="0" y="4953000"/>
                </a:lnTo>
              </a:path>
            </a:pathLst>
          </a:custGeom>
          <a:noFill/>
          <a:ln cap="flat" cmpd="sng" w="285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7" name="Google Shape;1537;p45"/>
          <p:cNvSpPr/>
          <p:nvPr/>
        </p:nvSpPr>
        <p:spPr>
          <a:xfrm>
            <a:off x="628650" y="928688"/>
            <a:ext cx="314325" cy="31432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8" name="Google Shape;1538;p45"/>
          <p:cNvSpPr txBox="1"/>
          <p:nvPr/>
        </p:nvSpPr>
        <p:spPr>
          <a:xfrm>
            <a:off x="753680" y="1031558"/>
            <a:ext cx="6426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1539" name="Google Shape;1539;p45"/>
          <p:cNvSpPr/>
          <p:nvPr/>
        </p:nvSpPr>
        <p:spPr>
          <a:xfrm>
            <a:off x="942975" y="1085850"/>
            <a:ext cx="342900" cy="7144"/>
          </a:xfrm>
          <a:custGeom>
            <a:rect b="b" l="l" r="r" t="t"/>
            <a:pathLst>
              <a:path extrusionOk="0" h="9525" w="457200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cap="flat" cmpd="sng" w="14275">
            <a:solidFill>
              <a:srgbClr val="C96133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40" name="Google Shape;1540;p45"/>
          <p:cNvSpPr/>
          <p:nvPr/>
        </p:nvSpPr>
        <p:spPr>
          <a:xfrm>
            <a:off x="1285875" y="842963"/>
            <a:ext cx="7429500" cy="500063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1" name="Google Shape;1541;p45"/>
          <p:cNvSpPr txBox="1"/>
          <p:nvPr/>
        </p:nvSpPr>
        <p:spPr>
          <a:xfrm>
            <a:off x="1488044" y="946904"/>
            <a:ext cx="294249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先搞清楚"需要解决什么问题"，再写 prompt</a:t>
            </a:r>
            <a:endParaRPr sz="1100"/>
          </a:p>
        </p:txBody>
      </p:sp>
      <p:sp>
        <p:nvSpPr>
          <p:cNvPr id="1542" name="Google Shape;1542;p45"/>
          <p:cNvSpPr txBox="1"/>
          <p:nvPr/>
        </p:nvSpPr>
        <p:spPr>
          <a:xfrm>
            <a:off x="1490186" y="1143714"/>
            <a:ext cx="381547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问三个问题：用户输入什么？期待什么输出？在什么场景下用？答完再动笔</a:t>
            </a:r>
            <a:endParaRPr sz="1100"/>
          </a:p>
        </p:txBody>
      </p:sp>
      <p:sp>
        <p:nvSpPr>
          <p:cNvPr id="1543" name="Google Shape;1543;p45"/>
          <p:cNvSpPr/>
          <p:nvPr/>
        </p:nvSpPr>
        <p:spPr>
          <a:xfrm>
            <a:off x="628650" y="1614488"/>
            <a:ext cx="314325" cy="314325"/>
          </a:xfrm>
          <a:prstGeom prst="ellipse">
            <a:avLst/>
          </a:prstGeom>
          <a:solidFill>
            <a:srgbClr val="D44545">
              <a:alpha val="8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4" name="Google Shape;1544;p45"/>
          <p:cNvSpPr txBox="1"/>
          <p:nvPr/>
        </p:nvSpPr>
        <p:spPr>
          <a:xfrm>
            <a:off x="736428" y="1717357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1545" name="Google Shape;1545;p45"/>
          <p:cNvSpPr/>
          <p:nvPr/>
        </p:nvSpPr>
        <p:spPr>
          <a:xfrm>
            <a:off x="942975" y="1771650"/>
            <a:ext cx="342900" cy="7144"/>
          </a:xfrm>
          <a:custGeom>
            <a:rect b="b" l="l" r="r" t="t"/>
            <a:pathLst>
              <a:path extrusionOk="0" h="9525" w="457200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cap="flat" cmpd="sng" w="14275">
            <a:solidFill>
              <a:srgbClr val="D44545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46" name="Google Shape;1546;p45"/>
          <p:cNvSpPr/>
          <p:nvPr/>
        </p:nvSpPr>
        <p:spPr>
          <a:xfrm>
            <a:off x="1285875" y="1528763"/>
            <a:ext cx="7429500" cy="500063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7" name="Google Shape;1547;p45"/>
          <p:cNvSpPr txBox="1"/>
          <p:nvPr/>
        </p:nvSpPr>
        <p:spPr>
          <a:xfrm>
            <a:off x="1488044" y="1632704"/>
            <a:ext cx="3235777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数据层 Python + 分析层 LLM，永远不要混在一起</a:t>
            </a:r>
            <a:endParaRPr sz="1100"/>
          </a:p>
        </p:txBody>
      </p:sp>
      <p:sp>
        <p:nvSpPr>
          <p:cNvPr id="1548" name="Google Shape;1548;p45"/>
          <p:cNvSpPr txBox="1"/>
          <p:nvPr/>
        </p:nvSpPr>
        <p:spPr>
          <a:xfrm>
            <a:off x="1490186" y="1829514"/>
            <a:ext cx="412026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改框架只改 .md prompt；加数据只改 Python——各自的边界越清晰，迭代越容易</a:t>
            </a:r>
            <a:endParaRPr sz="1100"/>
          </a:p>
        </p:txBody>
      </p:sp>
      <p:sp>
        <p:nvSpPr>
          <p:cNvPr id="1549" name="Google Shape;1549;p45"/>
          <p:cNvSpPr/>
          <p:nvPr/>
        </p:nvSpPr>
        <p:spPr>
          <a:xfrm>
            <a:off x="628650" y="2300288"/>
            <a:ext cx="314325" cy="314325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0" name="Google Shape;1550;p45"/>
          <p:cNvSpPr txBox="1"/>
          <p:nvPr/>
        </p:nvSpPr>
        <p:spPr>
          <a:xfrm>
            <a:off x="736428" y="2403157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1551" name="Google Shape;1551;p45"/>
          <p:cNvSpPr/>
          <p:nvPr/>
        </p:nvSpPr>
        <p:spPr>
          <a:xfrm>
            <a:off x="942975" y="2457450"/>
            <a:ext cx="342900" cy="7144"/>
          </a:xfrm>
          <a:custGeom>
            <a:rect b="b" l="l" r="r" t="t"/>
            <a:pathLst>
              <a:path extrusionOk="0" h="9525" w="457200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cap="flat" cmpd="sng" w="14275">
            <a:solidFill>
              <a:srgbClr val="3D7DE4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52" name="Google Shape;1552;p45"/>
          <p:cNvSpPr/>
          <p:nvPr/>
        </p:nvSpPr>
        <p:spPr>
          <a:xfrm>
            <a:off x="1285875" y="2214563"/>
            <a:ext cx="7429500" cy="500063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3" name="Google Shape;1553;p45"/>
          <p:cNvSpPr txBox="1"/>
          <p:nvPr/>
        </p:nvSpPr>
        <p:spPr>
          <a:xfrm>
            <a:off x="1488044" y="2318504"/>
            <a:ext cx="31477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三步验证：数据正确 → 输出格式对 → 边界不崩溃</a:t>
            </a:r>
            <a:endParaRPr sz="1100"/>
          </a:p>
        </p:txBody>
      </p:sp>
      <p:sp>
        <p:nvSpPr>
          <p:cNvPr id="1554" name="Google Shape;1554;p45"/>
          <p:cNvSpPr txBox="1"/>
          <p:nvPr/>
        </p:nvSpPr>
        <p:spPr>
          <a:xfrm>
            <a:off x="1490186" y="2515314"/>
            <a:ext cx="360270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先 python 独立跑通，再接 LLM，最后喂坏数据——任何一步崩了都要修</a:t>
            </a:r>
            <a:endParaRPr sz="1100"/>
          </a:p>
        </p:txBody>
      </p:sp>
      <p:sp>
        <p:nvSpPr>
          <p:cNvPr id="1555" name="Google Shape;1555;p45"/>
          <p:cNvSpPr/>
          <p:nvPr/>
        </p:nvSpPr>
        <p:spPr>
          <a:xfrm>
            <a:off x="628650" y="2986088"/>
            <a:ext cx="314325" cy="314325"/>
          </a:xfrm>
          <a:prstGeom prst="ellipse">
            <a:avLst/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6" name="Google Shape;1556;p45"/>
          <p:cNvSpPr txBox="1"/>
          <p:nvPr/>
        </p:nvSpPr>
        <p:spPr>
          <a:xfrm>
            <a:off x="736428" y="3088957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1557" name="Google Shape;1557;p45"/>
          <p:cNvSpPr/>
          <p:nvPr/>
        </p:nvSpPr>
        <p:spPr>
          <a:xfrm>
            <a:off x="942975" y="3143250"/>
            <a:ext cx="342900" cy="7144"/>
          </a:xfrm>
          <a:custGeom>
            <a:rect b="b" l="l" r="r" t="t"/>
            <a:pathLst>
              <a:path extrusionOk="0" h="9525" w="457200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cap="flat" cmpd="sng" w="14275">
            <a:solidFill>
              <a:srgbClr val="5A5A5A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58" name="Google Shape;1558;p45"/>
          <p:cNvSpPr/>
          <p:nvPr/>
        </p:nvSpPr>
        <p:spPr>
          <a:xfrm>
            <a:off x="1285875" y="2900363"/>
            <a:ext cx="7429500" cy="500063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9" name="Google Shape;1559;p45"/>
          <p:cNvSpPr txBox="1"/>
          <p:nvPr/>
        </p:nvSpPr>
        <p:spPr>
          <a:xfrm>
            <a:off x="1488044" y="3004304"/>
            <a:ext cx="250256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Prompt 是代码——留下每次改动的理由</a:t>
            </a:r>
            <a:endParaRPr sz="1100"/>
          </a:p>
        </p:txBody>
      </p:sp>
      <p:sp>
        <p:nvSpPr>
          <p:cNvPr id="1560" name="Google Shape;1560;p45"/>
          <p:cNvSpPr txBox="1"/>
          <p:nvPr/>
        </p:nvSpPr>
        <p:spPr>
          <a:xfrm>
            <a:off x="1490186" y="3201114"/>
            <a:ext cx="431003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改了 prompt 要记录原因（注释/日记/便签都行）——出问题时才能找到是哪次改坏的</a:t>
            </a:r>
            <a:endParaRPr sz="1100"/>
          </a:p>
        </p:txBody>
      </p:sp>
      <p:sp>
        <p:nvSpPr>
          <p:cNvPr id="1561" name="Google Shape;1561;p45"/>
          <p:cNvSpPr/>
          <p:nvPr/>
        </p:nvSpPr>
        <p:spPr>
          <a:xfrm>
            <a:off x="628650" y="3671888"/>
            <a:ext cx="314325" cy="3143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2" name="Google Shape;1562;p45"/>
          <p:cNvSpPr txBox="1"/>
          <p:nvPr/>
        </p:nvSpPr>
        <p:spPr>
          <a:xfrm>
            <a:off x="736428" y="3774758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  <p:sp>
        <p:nvSpPr>
          <p:cNvPr id="1563" name="Google Shape;1563;p45"/>
          <p:cNvSpPr/>
          <p:nvPr/>
        </p:nvSpPr>
        <p:spPr>
          <a:xfrm>
            <a:off x="942975" y="3829050"/>
            <a:ext cx="342900" cy="7144"/>
          </a:xfrm>
          <a:custGeom>
            <a:rect b="b" l="l" r="r" t="t"/>
            <a:pathLst>
              <a:path extrusionOk="0" h="9525" w="457200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cap="flat" cmpd="sng" w="14275">
            <a:solidFill>
              <a:srgbClr val="3A9E6A"/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64" name="Google Shape;1564;p45"/>
          <p:cNvSpPr/>
          <p:nvPr/>
        </p:nvSpPr>
        <p:spPr>
          <a:xfrm>
            <a:off x="1285875" y="3586163"/>
            <a:ext cx="7429500" cy="500063"/>
          </a:xfrm>
          <a:prstGeom prst="roundRect">
            <a:avLst>
              <a:gd fmla="val 14286" name="adj"/>
            </a:avLst>
          </a:prstGeom>
          <a:solidFill>
            <a:srgbClr val="EBF7F1"/>
          </a:solidFill>
          <a:ln cap="flat" cmpd="sng" w="1427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5" name="Google Shape;1565;p45"/>
          <p:cNvSpPr txBox="1"/>
          <p:nvPr/>
        </p:nvSpPr>
        <p:spPr>
          <a:xfrm>
            <a:off x="1488044" y="3690104"/>
            <a:ext cx="282517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这套架构适用于任何专家方法——不只是炒股</a:t>
            </a:r>
            <a:endParaRPr sz="1100"/>
          </a:p>
        </p:txBody>
      </p:sp>
      <p:sp>
        <p:nvSpPr>
          <p:cNvPr id="1566" name="Google Shape;1566;p45"/>
          <p:cNvSpPr txBox="1"/>
          <p:nvPr/>
        </p:nvSpPr>
        <p:spPr>
          <a:xfrm>
            <a:off x="1490186" y="3886914"/>
            <a:ext cx="376372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法律合同审查 / 医疗初诊 / 财务分析——数据层 + 分析层，换个领域就能跑</a:t>
            </a:r>
            <a:endParaRPr sz="1100"/>
          </a:p>
        </p:txBody>
      </p:sp>
      <p:sp>
        <p:nvSpPr>
          <p:cNvPr id="1567" name="Google Shape;1567;p45"/>
          <p:cNvSpPr/>
          <p:nvPr/>
        </p:nvSpPr>
        <p:spPr>
          <a:xfrm>
            <a:off x="428625" y="4286250"/>
            <a:ext cx="8286750" cy="471488"/>
          </a:xfrm>
          <a:prstGeom prst="roundRect">
            <a:avLst>
              <a:gd fmla="val 18182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8" name="Google Shape;1568;p45"/>
          <p:cNvSpPr txBox="1"/>
          <p:nvPr/>
        </p:nvSpPr>
        <p:spPr>
          <a:xfrm>
            <a:off x="2228078" y="4446270"/>
            <a:ext cx="468784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你学到的不是"炒股 AI"——你学到的是把任何专业知识系统化为 AI 工具的方法</a:t>
            </a:r>
            <a:endParaRPr sz="1100"/>
          </a:p>
        </p:txBody>
      </p:sp>
      <p:sp>
        <p:nvSpPr>
          <p:cNvPr id="1569" name="Google Shape;1569;p45"/>
          <p:cNvSpPr txBox="1"/>
          <p:nvPr/>
        </p:nvSpPr>
        <p:spPr>
          <a:xfrm>
            <a:off x="8491704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21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3" name="Shape 1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Google Shape;1574;p4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5" name="Google Shape;1575;p46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6" name="Google Shape;1576;p46"/>
          <p:cNvSpPr/>
          <p:nvPr/>
        </p:nvSpPr>
        <p:spPr>
          <a:xfrm>
            <a:off x="428625" y="285750"/>
            <a:ext cx="42863" cy="3143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7" name="Google Shape;1577;p46"/>
          <p:cNvSpPr txBox="1"/>
          <p:nvPr/>
        </p:nvSpPr>
        <p:spPr>
          <a:xfrm>
            <a:off x="574357" y="295751"/>
            <a:ext cx="3513943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完整系统：4 Skill 流水线</a:t>
            </a:r>
            <a:endParaRPr sz="1100"/>
          </a:p>
        </p:txBody>
      </p:sp>
      <p:sp>
        <p:nvSpPr>
          <p:cNvPr id="1578" name="Google Shape;1578;p46"/>
          <p:cNvSpPr txBox="1"/>
          <p:nvPr/>
        </p:nvSpPr>
        <p:spPr>
          <a:xfrm>
            <a:off x="587931" y="611148"/>
            <a:ext cx="329932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从候选股扫描到止盈离场，一条完整的 AI 辅助决策链</a:t>
            </a:r>
            <a:endParaRPr sz="1100"/>
          </a:p>
        </p:txBody>
      </p:sp>
      <p:sp>
        <p:nvSpPr>
          <p:cNvPr id="1579" name="Google Shape;1579;p46"/>
          <p:cNvSpPr/>
          <p:nvPr/>
        </p:nvSpPr>
        <p:spPr>
          <a:xfrm>
            <a:off x="428625" y="871538"/>
            <a:ext cx="8286750" cy="3143250"/>
          </a:xfrm>
          <a:prstGeom prst="roundRect">
            <a:avLst>
              <a:gd fmla="val 3636" name="adj"/>
            </a:avLst>
          </a:prstGeom>
          <a:solidFill>
            <a:srgbClr val="F0EDE8">
              <a:alpha val="50196"/>
            </a:srgbClr>
          </a:solidFill>
          <a:ln cap="flat" cmpd="sng" w="19050">
            <a:solidFill>
              <a:srgbClr val="C96133"/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0" name="Google Shape;1580;p46"/>
          <p:cNvSpPr txBox="1"/>
          <p:nvPr/>
        </p:nvSpPr>
        <p:spPr>
          <a:xfrm>
            <a:off x="3744098" y="978337"/>
            <a:ext cx="165580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stock-analysis-lite · 完整系统</a:t>
            </a:r>
            <a:endParaRPr sz="1100"/>
          </a:p>
        </p:txBody>
      </p:sp>
      <p:sp>
        <p:nvSpPr>
          <p:cNvPr id="1581" name="Google Shape;1581;p46"/>
          <p:cNvSpPr/>
          <p:nvPr/>
        </p:nvSpPr>
        <p:spPr>
          <a:xfrm>
            <a:off x="714375" y="1171575"/>
            <a:ext cx="1928813" cy="2543175"/>
          </a:xfrm>
          <a:prstGeom prst="roundRect">
            <a:avLst>
              <a:gd fmla="val 5185" name="adj"/>
            </a:avLst>
          </a:prstGeom>
          <a:solidFill>
            <a:srgbClr val="FFFFFF"/>
          </a:solidFill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2" name="Google Shape;1582;p46"/>
          <p:cNvSpPr/>
          <p:nvPr/>
        </p:nvSpPr>
        <p:spPr>
          <a:xfrm>
            <a:off x="714375" y="1171575"/>
            <a:ext cx="1928813" cy="414338"/>
          </a:xfrm>
          <a:prstGeom prst="roundRect">
            <a:avLst>
              <a:gd fmla="val 24138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3" name="Google Shape;1583;p46"/>
          <p:cNvSpPr/>
          <p:nvPr/>
        </p:nvSpPr>
        <p:spPr>
          <a:xfrm>
            <a:off x="714375" y="1428750"/>
            <a:ext cx="1928813" cy="1571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4" name="Google Shape;1584;p46"/>
          <p:cNvSpPr txBox="1"/>
          <p:nvPr/>
        </p:nvSpPr>
        <p:spPr>
          <a:xfrm>
            <a:off x="1352375" y="1247656"/>
            <a:ext cx="652814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LAYER 01 · 扫描</a:t>
            </a:r>
            <a:endParaRPr sz="1100"/>
          </a:p>
        </p:txBody>
      </p:sp>
      <p:sp>
        <p:nvSpPr>
          <p:cNvPr id="1585" name="Google Shape;1585;p46"/>
          <p:cNvSpPr txBox="1"/>
          <p:nvPr/>
        </p:nvSpPr>
        <p:spPr>
          <a:xfrm>
            <a:off x="1172942" y="1390889"/>
            <a:ext cx="101167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/ticker-scan</a:t>
            </a:r>
            <a:endParaRPr sz="1100"/>
          </a:p>
        </p:txBody>
      </p:sp>
      <p:sp>
        <p:nvSpPr>
          <p:cNvPr id="1586" name="Google Shape;1586;p46"/>
          <p:cNvSpPr txBox="1"/>
          <p:nvPr/>
        </p:nvSpPr>
        <p:spPr>
          <a:xfrm>
            <a:off x="1185720" y="1715214"/>
            <a:ext cx="9861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七大热门赛道扫描</a:t>
            </a:r>
            <a:endParaRPr sz="1100"/>
          </a:p>
        </p:txBody>
      </p:sp>
      <p:sp>
        <p:nvSpPr>
          <p:cNvPr id="1587" name="Google Shape;1587;p46"/>
          <p:cNvSpPr/>
          <p:nvPr/>
        </p:nvSpPr>
        <p:spPr>
          <a:xfrm>
            <a:off x="857250" y="1914525"/>
            <a:ext cx="1643063" cy="7144"/>
          </a:xfrm>
          <a:custGeom>
            <a:rect b="b" l="l" r="r" t="t"/>
            <a:pathLst>
              <a:path extrusionOk="0" h="9525" w="2190750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8" name="Google Shape;1588;p46"/>
          <p:cNvSpPr txBox="1"/>
          <p:nvPr/>
        </p:nvSpPr>
        <p:spPr>
          <a:xfrm>
            <a:off x="1156859" y="2021324"/>
            <a:ext cx="104384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Python 拉取市场数据</a:t>
            </a:r>
            <a:endParaRPr sz="1100"/>
          </a:p>
        </p:txBody>
      </p:sp>
      <p:sp>
        <p:nvSpPr>
          <p:cNvPr id="1589" name="Google Shape;1589;p46"/>
          <p:cNvSpPr txBox="1"/>
          <p:nvPr/>
        </p:nvSpPr>
        <p:spPr>
          <a:xfrm>
            <a:off x="1287688" y="2178487"/>
            <a:ext cx="78218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LLM 过滤候选股</a:t>
            </a:r>
            <a:endParaRPr sz="1100"/>
          </a:p>
        </p:txBody>
      </p:sp>
      <p:sp>
        <p:nvSpPr>
          <p:cNvPr id="1590" name="Google Shape;1590;p46"/>
          <p:cNvSpPr txBox="1"/>
          <p:nvPr/>
        </p:nvSpPr>
        <p:spPr>
          <a:xfrm>
            <a:off x="1175549" y="2335649"/>
            <a:ext cx="100646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输出：5–10 支候选股</a:t>
            </a:r>
            <a:endParaRPr sz="1100"/>
          </a:p>
        </p:txBody>
      </p:sp>
      <p:sp>
        <p:nvSpPr>
          <p:cNvPr id="1591" name="Google Shape;1591;p46"/>
          <p:cNvSpPr/>
          <p:nvPr/>
        </p:nvSpPr>
        <p:spPr>
          <a:xfrm>
            <a:off x="857250" y="2586038"/>
            <a:ext cx="1643063" cy="328613"/>
          </a:xfrm>
          <a:prstGeom prst="roundRect">
            <a:avLst>
              <a:gd fmla="val 17391" name="adj"/>
            </a:avLst>
          </a:prstGeom>
          <a:solidFill>
            <a:srgbClr val="FFF8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2" name="Google Shape;1592;p46"/>
          <p:cNvSpPr txBox="1"/>
          <p:nvPr/>
        </p:nvSpPr>
        <p:spPr>
          <a:xfrm>
            <a:off x="1566696" y="2648902"/>
            <a:ext cx="22417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输出</a:t>
            </a:r>
            <a:endParaRPr sz="1100"/>
          </a:p>
        </p:txBody>
      </p:sp>
      <p:sp>
        <p:nvSpPr>
          <p:cNvPr id="1593" name="Google Shape;1593;p46"/>
          <p:cNvSpPr txBox="1"/>
          <p:nvPr/>
        </p:nvSpPr>
        <p:spPr>
          <a:xfrm>
            <a:off x="1169897" y="2777490"/>
            <a:ext cx="101777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候选股列表 + 赛道标签</a:t>
            </a:r>
            <a:endParaRPr sz="1100"/>
          </a:p>
        </p:txBody>
      </p:sp>
      <p:sp>
        <p:nvSpPr>
          <p:cNvPr id="1594" name="Google Shape;1594;p46"/>
          <p:cNvSpPr/>
          <p:nvPr/>
        </p:nvSpPr>
        <p:spPr>
          <a:xfrm>
            <a:off x="857250" y="3028950"/>
            <a:ext cx="1643063" cy="571500"/>
          </a:xfrm>
          <a:prstGeom prst="roundRect">
            <a:avLst>
              <a:gd fmla="val 1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5" name="Google Shape;1595;p46"/>
          <p:cNvSpPr txBox="1"/>
          <p:nvPr/>
        </p:nvSpPr>
        <p:spPr>
          <a:xfrm>
            <a:off x="1473041" y="3106102"/>
            <a:ext cx="4114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使用时机</a:t>
            </a:r>
            <a:endParaRPr sz="1100"/>
          </a:p>
        </p:txBody>
      </p:sp>
      <p:sp>
        <p:nvSpPr>
          <p:cNvPr id="1596" name="Google Shape;1596;p46"/>
          <p:cNvSpPr txBox="1"/>
          <p:nvPr/>
        </p:nvSpPr>
        <p:spPr>
          <a:xfrm>
            <a:off x="1349097" y="3235762"/>
            <a:ext cx="6593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每周定期运行</a:t>
            </a:r>
            <a:endParaRPr sz="1100"/>
          </a:p>
        </p:txBody>
      </p:sp>
      <p:sp>
        <p:nvSpPr>
          <p:cNvPr id="1597" name="Google Shape;1597;p46"/>
          <p:cNvSpPr txBox="1"/>
          <p:nvPr/>
        </p:nvSpPr>
        <p:spPr>
          <a:xfrm>
            <a:off x="1295698" y="3378637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市场有新趋势时</a:t>
            </a:r>
            <a:endParaRPr sz="1100"/>
          </a:p>
        </p:txBody>
      </p:sp>
      <p:sp>
        <p:nvSpPr>
          <p:cNvPr id="1598" name="Google Shape;1598;p46"/>
          <p:cNvSpPr/>
          <p:nvPr/>
        </p:nvSpPr>
        <p:spPr>
          <a:xfrm>
            <a:off x="2807494" y="2371725"/>
            <a:ext cx="157163" cy="142875"/>
          </a:xfrm>
          <a:custGeom>
            <a:rect b="b" l="l" r="r" t="t"/>
            <a:pathLst>
              <a:path extrusionOk="0" h="190500" w="209550">
                <a:moveTo>
                  <a:pt x="0" y="95250"/>
                </a:moveTo>
                <a:lnTo>
                  <a:pt x="209550" y="0"/>
                </a:lnTo>
                <a:lnTo>
                  <a:pt x="209550" y="19050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1599" name="Google Shape;1599;p46"/>
          <p:cNvSpPr/>
          <p:nvPr/>
        </p:nvSpPr>
        <p:spPr>
          <a:xfrm>
            <a:off x="2643188" y="2443163"/>
            <a:ext cx="321469" cy="7144"/>
          </a:xfrm>
          <a:custGeom>
            <a:rect b="b" l="l" r="r" t="t"/>
            <a:pathLst>
              <a:path extrusionOk="0" h="9525" w="4286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cap="flat" cmpd="sng" w="2380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0" name="Google Shape;1600;p46"/>
          <p:cNvSpPr/>
          <p:nvPr/>
        </p:nvSpPr>
        <p:spPr>
          <a:xfrm>
            <a:off x="2964656" y="1171575"/>
            <a:ext cx="1928813" cy="2543175"/>
          </a:xfrm>
          <a:prstGeom prst="roundRect">
            <a:avLst>
              <a:gd fmla="val 5185" name="adj"/>
            </a:avLst>
          </a:prstGeom>
          <a:solidFill>
            <a:srgbClr val="FFFFFF"/>
          </a:solidFill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1" name="Google Shape;1601;p46"/>
          <p:cNvSpPr/>
          <p:nvPr/>
        </p:nvSpPr>
        <p:spPr>
          <a:xfrm>
            <a:off x="2964656" y="1171575"/>
            <a:ext cx="1928813" cy="414338"/>
          </a:xfrm>
          <a:prstGeom prst="roundRect">
            <a:avLst>
              <a:gd fmla="val 24138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2" name="Google Shape;1602;p46"/>
          <p:cNvSpPr/>
          <p:nvPr/>
        </p:nvSpPr>
        <p:spPr>
          <a:xfrm>
            <a:off x="2964656" y="1428750"/>
            <a:ext cx="1928813" cy="157163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3" name="Google Shape;1603;p46"/>
          <p:cNvSpPr txBox="1"/>
          <p:nvPr/>
        </p:nvSpPr>
        <p:spPr>
          <a:xfrm>
            <a:off x="3591359" y="1247656"/>
            <a:ext cx="67540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LAYER 02 · 分析</a:t>
            </a:r>
            <a:endParaRPr sz="1100"/>
          </a:p>
        </p:txBody>
      </p:sp>
      <p:sp>
        <p:nvSpPr>
          <p:cNvPr id="1604" name="Google Shape;1604;p46"/>
          <p:cNvSpPr txBox="1"/>
          <p:nvPr/>
        </p:nvSpPr>
        <p:spPr>
          <a:xfrm>
            <a:off x="3337825" y="1390889"/>
            <a:ext cx="118247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/stock-analyze</a:t>
            </a:r>
            <a:endParaRPr sz="1100"/>
          </a:p>
        </p:txBody>
      </p:sp>
      <p:sp>
        <p:nvSpPr>
          <p:cNvPr id="1605" name="Google Shape;1605;p46"/>
          <p:cNvSpPr txBox="1"/>
          <p:nvPr/>
        </p:nvSpPr>
        <p:spPr>
          <a:xfrm>
            <a:off x="3481288" y="1715214"/>
            <a:ext cx="89554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BAIT 基本面评分</a:t>
            </a:r>
            <a:endParaRPr sz="1100"/>
          </a:p>
        </p:txBody>
      </p:sp>
      <p:sp>
        <p:nvSpPr>
          <p:cNvPr id="1606" name="Google Shape;1606;p46"/>
          <p:cNvSpPr/>
          <p:nvPr/>
        </p:nvSpPr>
        <p:spPr>
          <a:xfrm>
            <a:off x="3107531" y="1914525"/>
            <a:ext cx="1643063" cy="7144"/>
          </a:xfrm>
          <a:custGeom>
            <a:rect b="b" l="l" r="r" t="t"/>
            <a:pathLst>
              <a:path extrusionOk="0" h="9525" w="2190750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7" name="Google Shape;1607;p46"/>
          <p:cNvSpPr txBox="1"/>
          <p:nvPr/>
        </p:nvSpPr>
        <p:spPr>
          <a:xfrm>
            <a:off x="3391121" y="2021324"/>
            <a:ext cx="107588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B·A·I·T 错误定价评分</a:t>
            </a:r>
            <a:endParaRPr sz="1100"/>
          </a:p>
        </p:txBody>
      </p:sp>
      <p:sp>
        <p:nvSpPr>
          <p:cNvPr id="1608" name="Google Shape;1608;p46"/>
          <p:cNvSpPr txBox="1"/>
          <p:nvPr/>
        </p:nvSpPr>
        <p:spPr>
          <a:xfrm>
            <a:off x="3487240" y="2178487"/>
            <a:ext cx="88364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总分 ≥8/12 才深研</a:t>
            </a:r>
            <a:endParaRPr sz="1100"/>
          </a:p>
        </p:txBody>
      </p:sp>
      <p:sp>
        <p:nvSpPr>
          <p:cNvPr id="1609" name="Google Shape;1609;p46"/>
          <p:cNvSpPr txBox="1"/>
          <p:nvPr/>
        </p:nvSpPr>
        <p:spPr>
          <a:xfrm>
            <a:off x="3599378" y="2335649"/>
            <a:ext cx="6593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输出分析报告</a:t>
            </a:r>
            <a:endParaRPr sz="1100"/>
          </a:p>
        </p:txBody>
      </p:sp>
      <p:sp>
        <p:nvSpPr>
          <p:cNvPr id="1610" name="Google Shape;1610;p46"/>
          <p:cNvSpPr/>
          <p:nvPr/>
        </p:nvSpPr>
        <p:spPr>
          <a:xfrm>
            <a:off x="3107531" y="2586038"/>
            <a:ext cx="1643063" cy="328613"/>
          </a:xfrm>
          <a:prstGeom prst="roundRect">
            <a:avLst>
              <a:gd fmla="val 1739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1" name="Google Shape;1611;p46"/>
          <p:cNvSpPr txBox="1"/>
          <p:nvPr/>
        </p:nvSpPr>
        <p:spPr>
          <a:xfrm>
            <a:off x="3816977" y="2648902"/>
            <a:ext cx="22417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输出</a:t>
            </a:r>
            <a:endParaRPr sz="1100"/>
          </a:p>
        </p:txBody>
      </p:sp>
      <p:sp>
        <p:nvSpPr>
          <p:cNvPr id="1612" name="Google Shape;1612;p46"/>
          <p:cNvSpPr txBox="1"/>
          <p:nvPr/>
        </p:nvSpPr>
        <p:spPr>
          <a:xfrm>
            <a:off x="3420178" y="2777490"/>
            <a:ext cx="101777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精选股 + 深度分析报告</a:t>
            </a:r>
            <a:endParaRPr sz="1100"/>
          </a:p>
        </p:txBody>
      </p:sp>
      <p:sp>
        <p:nvSpPr>
          <p:cNvPr id="1613" name="Google Shape;1613;p46"/>
          <p:cNvSpPr/>
          <p:nvPr/>
        </p:nvSpPr>
        <p:spPr>
          <a:xfrm>
            <a:off x="3107531" y="3028950"/>
            <a:ext cx="1643063" cy="571500"/>
          </a:xfrm>
          <a:prstGeom prst="roundRect">
            <a:avLst>
              <a:gd fmla="val 10000" name="adj"/>
            </a:avLst>
          </a:prstGeom>
          <a:solidFill>
            <a:srgbClr val="EBF2FF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4" name="Google Shape;1614;p46"/>
          <p:cNvSpPr txBox="1"/>
          <p:nvPr/>
        </p:nvSpPr>
        <p:spPr>
          <a:xfrm>
            <a:off x="3723323" y="3106102"/>
            <a:ext cx="4114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使用时机</a:t>
            </a:r>
            <a:endParaRPr sz="1100"/>
          </a:p>
        </p:txBody>
      </p:sp>
      <p:sp>
        <p:nvSpPr>
          <p:cNvPr id="1615" name="Google Shape;1615;p46"/>
          <p:cNvSpPr txBox="1"/>
          <p:nvPr/>
        </p:nvSpPr>
        <p:spPr>
          <a:xfrm>
            <a:off x="3492579" y="3235762"/>
            <a:ext cx="87296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对候选股逐一分析</a:t>
            </a:r>
            <a:endParaRPr sz="1100"/>
          </a:p>
        </p:txBody>
      </p:sp>
      <p:sp>
        <p:nvSpPr>
          <p:cNvPr id="1616" name="Google Shape;1616;p46"/>
          <p:cNvSpPr txBox="1"/>
          <p:nvPr/>
        </p:nvSpPr>
        <p:spPr>
          <a:xfrm>
            <a:off x="3545979" y="3378637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淘汰基本面差的</a:t>
            </a:r>
            <a:endParaRPr sz="1100"/>
          </a:p>
        </p:txBody>
      </p:sp>
      <p:sp>
        <p:nvSpPr>
          <p:cNvPr id="1617" name="Google Shape;1617;p46"/>
          <p:cNvSpPr/>
          <p:nvPr/>
        </p:nvSpPr>
        <p:spPr>
          <a:xfrm>
            <a:off x="5057775" y="2371725"/>
            <a:ext cx="157163" cy="142875"/>
          </a:xfrm>
          <a:custGeom>
            <a:rect b="b" l="l" r="r" t="t"/>
            <a:pathLst>
              <a:path extrusionOk="0" h="190500" w="209550">
                <a:moveTo>
                  <a:pt x="0" y="95250"/>
                </a:moveTo>
                <a:lnTo>
                  <a:pt x="209550" y="0"/>
                </a:lnTo>
                <a:lnTo>
                  <a:pt x="209550" y="1905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1618" name="Google Shape;1618;p46"/>
          <p:cNvSpPr/>
          <p:nvPr/>
        </p:nvSpPr>
        <p:spPr>
          <a:xfrm>
            <a:off x="4893469" y="2443163"/>
            <a:ext cx="321469" cy="7144"/>
          </a:xfrm>
          <a:custGeom>
            <a:rect b="b" l="l" r="r" t="t"/>
            <a:pathLst>
              <a:path extrusionOk="0" h="9525" w="4286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cap="flat" cmpd="sng" w="2380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9" name="Google Shape;1619;p46"/>
          <p:cNvSpPr/>
          <p:nvPr/>
        </p:nvSpPr>
        <p:spPr>
          <a:xfrm>
            <a:off x="5214938" y="1171575"/>
            <a:ext cx="3214688" cy="2543175"/>
          </a:xfrm>
          <a:prstGeom prst="roundRect">
            <a:avLst>
              <a:gd fmla="val 3933" name="adj"/>
            </a:avLst>
          </a:prstGeom>
          <a:solidFill>
            <a:srgbClr val="FFFFFF"/>
          </a:solidFill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0" name="Google Shape;1620;p46"/>
          <p:cNvSpPr/>
          <p:nvPr/>
        </p:nvSpPr>
        <p:spPr>
          <a:xfrm>
            <a:off x="5214938" y="1171575"/>
            <a:ext cx="3214688" cy="414338"/>
          </a:xfrm>
          <a:prstGeom prst="roundRect">
            <a:avLst>
              <a:gd fmla="val 24138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1" name="Google Shape;1621;p46"/>
          <p:cNvSpPr/>
          <p:nvPr/>
        </p:nvSpPr>
        <p:spPr>
          <a:xfrm>
            <a:off x="5214938" y="1428750"/>
            <a:ext cx="3214688" cy="157163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2" name="Google Shape;1622;p46"/>
          <p:cNvSpPr txBox="1"/>
          <p:nvPr/>
        </p:nvSpPr>
        <p:spPr>
          <a:xfrm>
            <a:off x="6484578" y="1247656"/>
            <a:ext cx="67540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LAYER 03 · 决策</a:t>
            </a:r>
            <a:endParaRPr sz="1100"/>
          </a:p>
        </p:txBody>
      </p:sp>
      <p:sp>
        <p:nvSpPr>
          <p:cNvPr id="1623" name="Google Shape;1623;p46"/>
          <p:cNvSpPr txBox="1"/>
          <p:nvPr/>
        </p:nvSpPr>
        <p:spPr>
          <a:xfrm>
            <a:off x="5757473" y="1390889"/>
            <a:ext cx="21296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/stock-entry + /stock-exit</a:t>
            </a:r>
            <a:endParaRPr sz="1100"/>
          </a:p>
        </p:txBody>
      </p:sp>
      <p:sp>
        <p:nvSpPr>
          <p:cNvPr id="1624" name="Google Shape;1624;p46"/>
          <p:cNvSpPr txBox="1"/>
          <p:nvPr/>
        </p:nvSpPr>
        <p:spPr>
          <a:xfrm>
            <a:off x="6051460" y="1715214"/>
            <a:ext cx="154164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SEPA 入场 + Moneyball 离场</a:t>
            </a:r>
            <a:endParaRPr sz="1100"/>
          </a:p>
        </p:txBody>
      </p:sp>
      <p:sp>
        <p:nvSpPr>
          <p:cNvPr id="1625" name="Google Shape;1625;p46"/>
          <p:cNvSpPr/>
          <p:nvPr/>
        </p:nvSpPr>
        <p:spPr>
          <a:xfrm>
            <a:off x="5357813" y="1914525"/>
            <a:ext cx="2928938" cy="7144"/>
          </a:xfrm>
          <a:custGeom>
            <a:rect b="b" l="l" r="r" t="t"/>
            <a:pathLst>
              <a:path extrusionOk="0" h="9525" w="3905250">
                <a:moveTo>
                  <a:pt x="0" y="0"/>
                </a:moveTo>
                <a:lnTo>
                  <a:pt x="39052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26" name="Google Shape;1626;p46"/>
          <p:cNvSpPr/>
          <p:nvPr/>
        </p:nvSpPr>
        <p:spPr>
          <a:xfrm>
            <a:off x="5357813" y="1985963"/>
            <a:ext cx="1428750" cy="571500"/>
          </a:xfrm>
          <a:prstGeom prst="roundRect">
            <a:avLst>
              <a:gd fmla="val 1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7" name="Google Shape;1627;p46"/>
          <p:cNvSpPr txBox="1"/>
          <p:nvPr/>
        </p:nvSpPr>
        <p:spPr>
          <a:xfrm>
            <a:off x="5692842" y="2057043"/>
            <a:ext cx="75869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/stock-entry</a:t>
            </a:r>
            <a:endParaRPr sz="1100"/>
          </a:p>
        </p:txBody>
      </p:sp>
      <p:sp>
        <p:nvSpPr>
          <p:cNvPr id="1628" name="Google Shape;1628;p46"/>
          <p:cNvSpPr txBox="1"/>
          <p:nvPr/>
        </p:nvSpPr>
        <p:spPr>
          <a:xfrm>
            <a:off x="5817156" y="2205990"/>
            <a:ext cx="5100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轴心点确认</a:t>
            </a:r>
            <a:endParaRPr sz="1100"/>
          </a:p>
        </p:txBody>
      </p:sp>
      <p:sp>
        <p:nvSpPr>
          <p:cNvPr id="1629" name="Google Shape;1629;p46"/>
          <p:cNvSpPr txBox="1"/>
          <p:nvPr/>
        </p:nvSpPr>
        <p:spPr>
          <a:xfrm>
            <a:off x="5615059" y="2334578"/>
            <a:ext cx="91425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入场区间 + R/R 计算</a:t>
            </a:r>
            <a:endParaRPr sz="1100"/>
          </a:p>
        </p:txBody>
      </p:sp>
      <p:sp>
        <p:nvSpPr>
          <p:cNvPr id="1630" name="Google Shape;1630;p46"/>
          <p:cNvSpPr txBox="1"/>
          <p:nvPr/>
        </p:nvSpPr>
        <p:spPr>
          <a:xfrm>
            <a:off x="5555908" y="2441734"/>
            <a:ext cx="103255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基于 SEPA + Moneyball</a:t>
            </a:r>
            <a:endParaRPr sz="1100"/>
          </a:p>
        </p:txBody>
      </p:sp>
      <p:sp>
        <p:nvSpPr>
          <p:cNvPr id="1631" name="Google Shape;1631;p46"/>
          <p:cNvSpPr/>
          <p:nvPr/>
        </p:nvSpPr>
        <p:spPr>
          <a:xfrm>
            <a:off x="6886575" y="1985963"/>
            <a:ext cx="1428750" cy="571500"/>
          </a:xfrm>
          <a:prstGeom prst="roundRect">
            <a:avLst>
              <a:gd fmla="val 10000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2" name="Google Shape;1632;p46"/>
          <p:cNvSpPr txBox="1"/>
          <p:nvPr/>
        </p:nvSpPr>
        <p:spPr>
          <a:xfrm>
            <a:off x="7266460" y="2057043"/>
            <a:ext cx="66898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/stock-exit</a:t>
            </a:r>
            <a:endParaRPr sz="1100"/>
          </a:p>
        </p:txBody>
      </p:sp>
      <p:sp>
        <p:nvSpPr>
          <p:cNvPr id="1633" name="Google Shape;1633;p46"/>
          <p:cNvSpPr txBox="1"/>
          <p:nvPr/>
        </p:nvSpPr>
        <p:spPr>
          <a:xfrm>
            <a:off x="7296626" y="2205990"/>
            <a:ext cx="6086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持仓健康检查</a:t>
            </a:r>
            <a:endParaRPr sz="1100"/>
          </a:p>
        </p:txBody>
      </p:sp>
      <p:sp>
        <p:nvSpPr>
          <p:cNvPr id="1634" name="Google Shape;1634;p46"/>
          <p:cNvSpPr txBox="1"/>
          <p:nvPr/>
        </p:nvSpPr>
        <p:spPr>
          <a:xfrm>
            <a:off x="7269516" y="2334578"/>
            <a:ext cx="66286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止盈/止损时机</a:t>
            </a:r>
            <a:endParaRPr sz="1100"/>
          </a:p>
        </p:txBody>
      </p:sp>
      <p:sp>
        <p:nvSpPr>
          <p:cNvPr id="1635" name="Google Shape;1635;p46"/>
          <p:cNvSpPr txBox="1"/>
          <p:nvPr/>
        </p:nvSpPr>
        <p:spPr>
          <a:xfrm>
            <a:off x="7296626" y="2441734"/>
            <a:ext cx="6086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分批离场策略</a:t>
            </a:r>
            <a:endParaRPr sz="1100"/>
          </a:p>
        </p:txBody>
      </p:sp>
      <p:sp>
        <p:nvSpPr>
          <p:cNvPr id="1636" name="Google Shape;1636;p46"/>
          <p:cNvSpPr/>
          <p:nvPr/>
        </p:nvSpPr>
        <p:spPr>
          <a:xfrm>
            <a:off x="5357813" y="2657475"/>
            <a:ext cx="2957513" cy="328613"/>
          </a:xfrm>
          <a:prstGeom prst="roundRect">
            <a:avLst>
              <a:gd fmla="val 17391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7" name="Google Shape;1637;p46"/>
          <p:cNvSpPr txBox="1"/>
          <p:nvPr/>
        </p:nvSpPr>
        <p:spPr>
          <a:xfrm>
            <a:off x="6724483" y="2720340"/>
            <a:ext cx="22417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输出</a:t>
            </a:r>
            <a:endParaRPr sz="1100"/>
          </a:p>
        </p:txBody>
      </p:sp>
      <p:sp>
        <p:nvSpPr>
          <p:cNvPr id="1638" name="Google Shape;1638;p46"/>
          <p:cNvSpPr txBox="1"/>
          <p:nvPr/>
        </p:nvSpPr>
        <p:spPr>
          <a:xfrm>
            <a:off x="5918561" y="2848927"/>
            <a:ext cx="183601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入场计划 / 止损位 / 目标价 · 或离场建议</a:t>
            </a:r>
            <a:endParaRPr sz="1100"/>
          </a:p>
        </p:txBody>
      </p:sp>
      <p:sp>
        <p:nvSpPr>
          <p:cNvPr id="1639" name="Google Shape;1639;p46"/>
          <p:cNvSpPr/>
          <p:nvPr/>
        </p:nvSpPr>
        <p:spPr>
          <a:xfrm>
            <a:off x="5357813" y="3028950"/>
            <a:ext cx="2957513" cy="571500"/>
          </a:xfrm>
          <a:prstGeom prst="roundRect">
            <a:avLst>
              <a:gd fmla="val 10000" name="adj"/>
            </a:avLst>
          </a:prstGeom>
          <a:solidFill>
            <a:srgbClr val="EBF7F1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0" name="Google Shape;1640;p46"/>
          <p:cNvSpPr txBox="1"/>
          <p:nvPr/>
        </p:nvSpPr>
        <p:spPr>
          <a:xfrm>
            <a:off x="6630829" y="3106102"/>
            <a:ext cx="4114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使用时机</a:t>
            </a:r>
            <a:endParaRPr sz="1100"/>
          </a:p>
        </p:txBody>
      </p:sp>
      <p:sp>
        <p:nvSpPr>
          <p:cNvPr id="1641" name="Google Shape;1641;p46"/>
          <p:cNvSpPr txBox="1"/>
          <p:nvPr/>
        </p:nvSpPr>
        <p:spPr>
          <a:xfrm>
            <a:off x="6071678" y="3235762"/>
            <a:ext cx="152978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准备入场前 · 持仓期间定期复查</a:t>
            </a:r>
            <a:endParaRPr sz="1100"/>
          </a:p>
        </p:txBody>
      </p:sp>
      <p:sp>
        <p:nvSpPr>
          <p:cNvPr id="1642" name="Google Shape;1642;p46"/>
          <p:cNvSpPr txBox="1"/>
          <p:nvPr/>
        </p:nvSpPr>
        <p:spPr>
          <a:xfrm>
            <a:off x="6453485" y="3378637"/>
            <a:ext cx="76616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出现止损信号时</a:t>
            </a:r>
            <a:endParaRPr sz="1100"/>
          </a:p>
        </p:txBody>
      </p:sp>
      <p:sp>
        <p:nvSpPr>
          <p:cNvPr id="1643" name="Google Shape;1643;p46"/>
          <p:cNvSpPr/>
          <p:nvPr/>
        </p:nvSpPr>
        <p:spPr>
          <a:xfrm>
            <a:off x="428625" y="4214813"/>
            <a:ext cx="8286750" cy="457200"/>
          </a:xfrm>
          <a:prstGeom prst="roundRect">
            <a:avLst>
              <a:gd fmla="val 1875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4" name="Google Shape;1644;p46"/>
          <p:cNvSpPr txBox="1"/>
          <p:nvPr/>
        </p:nvSpPr>
        <p:spPr>
          <a:xfrm>
            <a:off x="1389147" y="4293037"/>
            <a:ext cx="57926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候选股列表</a:t>
            </a:r>
            <a:endParaRPr sz="1100"/>
          </a:p>
        </p:txBody>
      </p:sp>
      <p:sp>
        <p:nvSpPr>
          <p:cNvPr id="1645" name="Google Shape;1645;p46"/>
          <p:cNvSpPr txBox="1"/>
          <p:nvPr/>
        </p:nvSpPr>
        <p:spPr>
          <a:xfrm>
            <a:off x="2732538" y="4369832"/>
            <a:ext cx="10704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100"/>
          </a:p>
        </p:txBody>
      </p:sp>
      <p:sp>
        <p:nvSpPr>
          <p:cNvPr id="1646" name="Google Shape;1646;p46"/>
          <p:cNvSpPr txBox="1"/>
          <p:nvPr/>
        </p:nvSpPr>
        <p:spPr>
          <a:xfrm>
            <a:off x="3631018" y="4293037"/>
            <a:ext cx="59608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精选 + 报告</a:t>
            </a:r>
            <a:endParaRPr sz="1100"/>
          </a:p>
        </p:txBody>
      </p:sp>
      <p:sp>
        <p:nvSpPr>
          <p:cNvPr id="1647" name="Google Shape;1647;p46"/>
          <p:cNvSpPr txBox="1"/>
          <p:nvPr/>
        </p:nvSpPr>
        <p:spPr>
          <a:xfrm>
            <a:off x="4947101" y="4369832"/>
            <a:ext cx="10704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100"/>
          </a:p>
        </p:txBody>
      </p:sp>
      <p:sp>
        <p:nvSpPr>
          <p:cNvPr id="1648" name="Google Shape;1648;p46"/>
          <p:cNvSpPr txBox="1"/>
          <p:nvPr/>
        </p:nvSpPr>
        <p:spPr>
          <a:xfrm>
            <a:off x="6335677" y="4293037"/>
            <a:ext cx="104464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入场计划 / 离场建议</a:t>
            </a:r>
            <a:endParaRPr sz="1100"/>
          </a:p>
        </p:txBody>
      </p:sp>
      <p:sp>
        <p:nvSpPr>
          <p:cNvPr id="1649" name="Google Shape;1649;p46"/>
          <p:cNvSpPr txBox="1"/>
          <p:nvPr/>
        </p:nvSpPr>
        <p:spPr>
          <a:xfrm>
            <a:off x="3225055" y="4528780"/>
            <a:ext cx="269389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整个流程不超过 30 分钟——手动做同样的事需要 3–5 小时</a:t>
            </a:r>
            <a:endParaRPr sz="1100"/>
          </a:p>
        </p:txBody>
      </p:sp>
      <p:sp>
        <p:nvSpPr>
          <p:cNvPr id="1650" name="Google Shape;1650;p46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22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4" name="Shape 1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5" name="Google Shape;1655;p4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6" name="Google Shape;1656;p47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7" name="Google Shape;1657;p47"/>
          <p:cNvSpPr/>
          <p:nvPr/>
        </p:nvSpPr>
        <p:spPr>
          <a:xfrm>
            <a:off x="428625" y="214313"/>
            <a:ext cx="42863" cy="3143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8" name="Google Shape;1658;p47"/>
          <p:cNvSpPr txBox="1"/>
          <p:nvPr/>
        </p:nvSpPr>
        <p:spPr>
          <a:xfrm>
            <a:off x="564356" y="260747"/>
            <a:ext cx="2371904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7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🥚 彩蛋 + 更大的框架</a:t>
            </a:r>
            <a:endParaRPr sz="1100"/>
          </a:p>
        </p:txBody>
      </p:sp>
      <p:sp>
        <p:nvSpPr>
          <p:cNvPr id="1659" name="Google Shape;1659;p47"/>
          <p:cNvSpPr txBox="1"/>
          <p:nvPr/>
        </p:nvSpPr>
        <p:spPr>
          <a:xfrm>
            <a:off x="575072" y="551855"/>
            <a:ext cx="393397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今天的 4 个 Skill 打好基础 — synthesis.md 是完整六框架协作决策系统</a:t>
            </a:r>
            <a:endParaRPr sz="1100"/>
          </a:p>
        </p:txBody>
      </p:sp>
      <p:sp>
        <p:nvSpPr>
          <p:cNvPr id="1660" name="Google Shape;1660;p47"/>
          <p:cNvSpPr/>
          <p:nvPr/>
        </p:nvSpPr>
        <p:spPr>
          <a:xfrm>
            <a:off x="428625" y="757238"/>
            <a:ext cx="3964781" cy="3743325"/>
          </a:xfrm>
          <a:prstGeom prst="roundRect">
            <a:avLst>
              <a:gd fmla="val 3053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1" name="Google Shape;1661;p47"/>
          <p:cNvSpPr/>
          <p:nvPr/>
        </p:nvSpPr>
        <p:spPr>
          <a:xfrm>
            <a:off x="428625" y="757238"/>
            <a:ext cx="3964781" cy="571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2" name="Google Shape;1662;p47"/>
          <p:cNvSpPr/>
          <p:nvPr/>
        </p:nvSpPr>
        <p:spPr>
          <a:xfrm>
            <a:off x="571500" y="928688"/>
            <a:ext cx="1271588" cy="228600"/>
          </a:xfrm>
          <a:prstGeom prst="roundRect">
            <a:avLst>
              <a:gd fmla="val 50000" name="adj"/>
            </a:avLst>
          </a:prstGeom>
          <a:solidFill>
            <a:srgbClr val="C96133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3" name="Google Shape;1663;p47"/>
          <p:cNvSpPr txBox="1"/>
          <p:nvPr/>
        </p:nvSpPr>
        <p:spPr>
          <a:xfrm>
            <a:off x="904437" y="993696"/>
            <a:ext cx="60571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🥚 课程彩蛋</a:t>
            </a:r>
            <a:endParaRPr sz="1100"/>
          </a:p>
        </p:txBody>
      </p:sp>
      <p:sp>
        <p:nvSpPr>
          <p:cNvPr id="1664" name="Google Shape;1664;p47"/>
          <p:cNvSpPr txBox="1"/>
          <p:nvPr/>
        </p:nvSpPr>
        <p:spPr>
          <a:xfrm>
            <a:off x="1529807" y="1230511"/>
            <a:ext cx="175527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今天的 4 个 Skill 只是起点...</a:t>
            </a:r>
            <a:endParaRPr sz="1100"/>
          </a:p>
        </p:txBody>
      </p:sp>
      <p:sp>
        <p:nvSpPr>
          <p:cNvPr id="1665" name="Google Shape;1665;p47"/>
          <p:cNvSpPr/>
          <p:nvPr/>
        </p:nvSpPr>
        <p:spPr>
          <a:xfrm>
            <a:off x="571500" y="1414463"/>
            <a:ext cx="3679031" cy="485775"/>
          </a:xfrm>
          <a:prstGeom prst="roundRect">
            <a:avLst>
              <a:gd fmla="val 14706" name="adj"/>
            </a:avLst>
          </a:prstGeom>
          <a:solidFill>
            <a:srgbClr val="2A2A2A"/>
          </a:solidFill>
          <a:ln cap="flat" cmpd="sng" w="1427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6" name="Google Shape;1666;p47"/>
          <p:cNvSpPr txBox="1"/>
          <p:nvPr/>
        </p:nvSpPr>
        <p:spPr>
          <a:xfrm>
            <a:off x="738664" y="1503045"/>
            <a:ext cx="11269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/stock-ppt NVDA</a:t>
            </a:r>
            <a:endParaRPr sz="1100"/>
          </a:p>
        </p:txBody>
      </p:sp>
      <p:sp>
        <p:nvSpPr>
          <p:cNvPr id="1667" name="Google Shape;1667;p47"/>
          <p:cNvSpPr txBox="1"/>
          <p:nvPr/>
        </p:nvSpPr>
        <p:spPr>
          <a:xfrm>
            <a:off x="740807" y="1721287"/>
            <a:ext cx="227203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生成单股完整分析 PPT — 研究报告一键变幻灯片</a:t>
            </a:r>
            <a:endParaRPr sz="1100"/>
          </a:p>
        </p:txBody>
      </p:sp>
      <p:sp>
        <p:nvSpPr>
          <p:cNvPr id="1668" name="Google Shape;1668;p47"/>
          <p:cNvSpPr/>
          <p:nvPr/>
        </p:nvSpPr>
        <p:spPr>
          <a:xfrm>
            <a:off x="571500" y="1985963"/>
            <a:ext cx="3679031" cy="485775"/>
          </a:xfrm>
          <a:prstGeom prst="roundRect">
            <a:avLst>
              <a:gd fmla="val 14706" name="adj"/>
            </a:avLst>
          </a:prstGeom>
          <a:solidFill>
            <a:srgbClr val="2A2A2A"/>
          </a:solidFill>
          <a:ln cap="flat" cmpd="sng" w="9525">
            <a:solidFill>
              <a:srgbClr val="5A5A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9" name="Google Shape;1669;p47"/>
          <p:cNvSpPr txBox="1"/>
          <p:nvPr/>
        </p:nvSpPr>
        <p:spPr>
          <a:xfrm>
            <a:off x="738664" y="2074545"/>
            <a:ext cx="101658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/sector-ppt AI</a:t>
            </a:r>
            <a:endParaRPr sz="1100"/>
          </a:p>
        </p:txBody>
      </p:sp>
      <p:sp>
        <p:nvSpPr>
          <p:cNvPr id="1670" name="Google Shape;1670;p47"/>
          <p:cNvSpPr txBox="1"/>
          <p:nvPr/>
        </p:nvSpPr>
        <p:spPr>
          <a:xfrm>
            <a:off x="740807" y="2292787"/>
            <a:ext cx="225067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生成赛道板块分析 PPT — AI · 能源 · 半导体...</a:t>
            </a:r>
            <a:endParaRPr sz="1100"/>
          </a:p>
        </p:txBody>
      </p:sp>
      <p:sp>
        <p:nvSpPr>
          <p:cNvPr id="1671" name="Google Shape;1671;p47"/>
          <p:cNvSpPr/>
          <p:nvPr/>
        </p:nvSpPr>
        <p:spPr>
          <a:xfrm>
            <a:off x="571500" y="2557463"/>
            <a:ext cx="3679031" cy="485775"/>
          </a:xfrm>
          <a:prstGeom prst="roundRect">
            <a:avLst>
              <a:gd fmla="val 14706" name="adj"/>
            </a:avLst>
          </a:prstGeom>
          <a:solidFill>
            <a:srgbClr val="2A2A2A"/>
          </a:solidFill>
          <a:ln cap="flat" cmpd="sng" w="9525">
            <a:solidFill>
              <a:srgbClr val="5A5A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2" name="Google Shape;1672;p47"/>
          <p:cNvSpPr txBox="1"/>
          <p:nvPr/>
        </p:nvSpPr>
        <p:spPr>
          <a:xfrm>
            <a:off x="738664" y="2646045"/>
            <a:ext cx="98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/etf-ppt QQQ</a:t>
            </a:r>
            <a:endParaRPr sz="1100"/>
          </a:p>
        </p:txBody>
      </p:sp>
      <p:sp>
        <p:nvSpPr>
          <p:cNvPr id="1673" name="Google Shape;1673;p47"/>
          <p:cNvSpPr txBox="1"/>
          <p:nvPr/>
        </p:nvSpPr>
        <p:spPr>
          <a:xfrm>
            <a:off x="740807" y="2864287"/>
            <a:ext cx="142832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生成 ETF 持仓与走势分析 PPT</a:t>
            </a:r>
            <a:endParaRPr sz="1100"/>
          </a:p>
        </p:txBody>
      </p:sp>
      <p:sp>
        <p:nvSpPr>
          <p:cNvPr id="1674" name="Google Shape;1674;p47"/>
          <p:cNvSpPr/>
          <p:nvPr/>
        </p:nvSpPr>
        <p:spPr>
          <a:xfrm>
            <a:off x="571500" y="3178969"/>
            <a:ext cx="3679031" cy="7144"/>
          </a:xfrm>
          <a:custGeom>
            <a:rect b="b" l="l" r="r" t="t"/>
            <a:pathLst>
              <a:path extrusionOk="0" h="9525" w="4905375">
                <a:moveTo>
                  <a:pt x="0" y="0"/>
                </a:moveTo>
                <a:lnTo>
                  <a:pt x="4905375" y="0"/>
                </a:lnTo>
              </a:path>
            </a:pathLst>
          </a:custGeom>
          <a:noFill/>
          <a:ln cap="flat" cmpd="sng" w="9525">
            <a:solidFill>
              <a:srgbClr val="3A3A3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5" name="Google Shape;1675;p47"/>
          <p:cNvSpPr txBox="1"/>
          <p:nvPr/>
        </p:nvSpPr>
        <p:spPr>
          <a:xfrm>
            <a:off x="1458326" y="3242905"/>
            <a:ext cx="189823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掌握 Skill 写法后，这些都能自己写出来</a:t>
            </a:r>
            <a:endParaRPr sz="1100"/>
          </a:p>
        </p:txBody>
      </p:sp>
      <p:sp>
        <p:nvSpPr>
          <p:cNvPr id="1676" name="Google Shape;1676;p47"/>
          <p:cNvSpPr/>
          <p:nvPr/>
        </p:nvSpPr>
        <p:spPr>
          <a:xfrm>
            <a:off x="571500" y="3414713"/>
            <a:ext cx="3679031" cy="571500"/>
          </a:xfrm>
          <a:prstGeom prst="roundRect">
            <a:avLst>
              <a:gd fmla="val 12500" name="adj"/>
            </a:avLst>
          </a:prstGeom>
          <a:solidFill>
            <a:srgbClr val="2A2A2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7" name="Google Shape;1677;p47"/>
          <p:cNvSpPr txBox="1"/>
          <p:nvPr/>
        </p:nvSpPr>
        <p:spPr>
          <a:xfrm>
            <a:off x="740093" y="3501152"/>
            <a:ext cx="136653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🌐 rwh-overlay 完整系统</a:t>
            </a:r>
            <a:endParaRPr sz="1100"/>
          </a:p>
        </p:txBody>
      </p:sp>
      <p:sp>
        <p:nvSpPr>
          <p:cNvPr id="1678" name="Google Shape;1678;p47"/>
          <p:cNvSpPr txBox="1"/>
          <p:nvPr/>
        </p:nvSpPr>
        <p:spPr>
          <a:xfrm>
            <a:off x="740807" y="3664387"/>
            <a:ext cx="26084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15+ Skills | 每日分析 · 选股筛选 · PPT生成 · 收益追踪</a:t>
            </a:r>
            <a:endParaRPr sz="1100"/>
          </a:p>
        </p:txBody>
      </p:sp>
      <p:sp>
        <p:nvSpPr>
          <p:cNvPr id="1679" name="Google Shape;1679;p47"/>
          <p:cNvSpPr txBox="1"/>
          <p:nvPr/>
        </p:nvSpPr>
        <p:spPr>
          <a:xfrm>
            <a:off x="741521" y="3841909"/>
            <a:ext cx="160927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持续更新 — 加炒股技术群获取访问权</a:t>
            </a:r>
            <a:endParaRPr sz="1100"/>
          </a:p>
        </p:txBody>
      </p:sp>
      <p:sp>
        <p:nvSpPr>
          <p:cNvPr id="1680" name="Google Shape;1680;p47"/>
          <p:cNvSpPr/>
          <p:nvPr/>
        </p:nvSpPr>
        <p:spPr>
          <a:xfrm>
            <a:off x="4750594" y="757238"/>
            <a:ext cx="3964781" cy="3743325"/>
          </a:xfrm>
          <a:prstGeom prst="roundRect">
            <a:avLst>
              <a:gd fmla="val 305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1" name="Google Shape;1681;p47"/>
          <p:cNvSpPr/>
          <p:nvPr/>
        </p:nvSpPr>
        <p:spPr>
          <a:xfrm>
            <a:off x="4750594" y="757238"/>
            <a:ext cx="3964781" cy="5715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2" name="Google Shape;1682;p47"/>
          <p:cNvSpPr txBox="1"/>
          <p:nvPr/>
        </p:nvSpPr>
        <p:spPr>
          <a:xfrm>
            <a:off x="6092187" y="923687"/>
            <a:ext cx="127445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synthesis.md</a:t>
            </a:r>
            <a:endParaRPr sz="1100"/>
          </a:p>
        </p:txBody>
      </p:sp>
      <p:sp>
        <p:nvSpPr>
          <p:cNvPr id="1683" name="Google Shape;1683;p47"/>
          <p:cNvSpPr txBox="1"/>
          <p:nvPr/>
        </p:nvSpPr>
        <p:spPr>
          <a:xfrm>
            <a:off x="6136436" y="1137642"/>
            <a:ext cx="118595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六框架协作决策总纲</a:t>
            </a:r>
            <a:endParaRPr sz="1100"/>
          </a:p>
        </p:txBody>
      </p:sp>
      <p:sp>
        <p:nvSpPr>
          <p:cNvPr id="1684" name="Google Shape;1684;p47"/>
          <p:cNvSpPr/>
          <p:nvPr/>
        </p:nvSpPr>
        <p:spPr>
          <a:xfrm>
            <a:off x="4893469" y="1328738"/>
            <a:ext cx="3679031" cy="371475"/>
          </a:xfrm>
          <a:prstGeom prst="roundRect">
            <a:avLst>
              <a:gd fmla="val 15385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5" name="Google Shape;1685;p47"/>
          <p:cNvSpPr txBox="1"/>
          <p:nvPr/>
        </p:nvSpPr>
        <p:spPr>
          <a:xfrm>
            <a:off x="5026343" y="1408034"/>
            <a:ext cx="171675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BAIT + Moneyball · 识别 &amp; 量化</a:t>
            </a:r>
            <a:endParaRPr sz="1100"/>
          </a:p>
        </p:txBody>
      </p:sp>
      <p:sp>
        <p:nvSpPr>
          <p:cNvPr id="1686" name="Google Shape;1686;p47"/>
          <p:cNvSpPr txBox="1"/>
          <p:nvPr/>
        </p:nvSpPr>
        <p:spPr>
          <a:xfrm>
            <a:off x="5027771" y="1570196"/>
            <a:ext cx="319154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Behavioral · Analytical · Informational · Technical 错误定价 · 非对称 R/R≥2:1 筛选</a:t>
            </a:r>
            <a:endParaRPr sz="1100"/>
          </a:p>
        </p:txBody>
      </p:sp>
      <p:sp>
        <p:nvSpPr>
          <p:cNvPr id="1687" name="Google Shape;1687;p47"/>
          <p:cNvSpPr txBox="1"/>
          <p:nvPr/>
        </p:nvSpPr>
        <p:spPr>
          <a:xfrm>
            <a:off x="6687782" y="1715214"/>
            <a:ext cx="8326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C0B8B0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688" name="Google Shape;1688;p47"/>
          <p:cNvSpPr/>
          <p:nvPr/>
        </p:nvSpPr>
        <p:spPr>
          <a:xfrm>
            <a:off x="4893469" y="1843088"/>
            <a:ext cx="3679031" cy="371475"/>
          </a:xfrm>
          <a:prstGeom prst="roundRect">
            <a:avLst>
              <a:gd fmla="val 15385" name="adj"/>
            </a:avLst>
          </a:prstGeom>
          <a:solidFill>
            <a:srgbClr val="EBF2FF"/>
          </a:solidFill>
          <a:ln cap="flat" cmpd="sng" w="952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9" name="Google Shape;1689;p47"/>
          <p:cNvSpPr txBox="1"/>
          <p:nvPr/>
        </p:nvSpPr>
        <p:spPr>
          <a:xfrm>
            <a:off x="5026342" y="1922384"/>
            <a:ext cx="178317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SEPA Stage Analysis · 技术确认</a:t>
            </a:r>
            <a:endParaRPr sz="1100"/>
          </a:p>
        </p:txBody>
      </p:sp>
      <p:sp>
        <p:nvSpPr>
          <p:cNvPr id="1690" name="Google Shape;1690;p47"/>
          <p:cNvSpPr txBox="1"/>
          <p:nvPr/>
        </p:nvSpPr>
        <p:spPr>
          <a:xfrm>
            <a:off x="5027771" y="2084546"/>
            <a:ext cx="224020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Stage 2 确认 · 8大入场条件 · EPS加速 · 趋势模板</a:t>
            </a:r>
            <a:endParaRPr sz="1100"/>
          </a:p>
        </p:txBody>
      </p:sp>
      <p:sp>
        <p:nvSpPr>
          <p:cNvPr id="1691" name="Google Shape;1691;p47"/>
          <p:cNvSpPr txBox="1"/>
          <p:nvPr/>
        </p:nvSpPr>
        <p:spPr>
          <a:xfrm>
            <a:off x="6687782" y="2229564"/>
            <a:ext cx="8326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C0B8B0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692" name="Google Shape;1692;p47"/>
          <p:cNvSpPr/>
          <p:nvPr/>
        </p:nvSpPr>
        <p:spPr>
          <a:xfrm>
            <a:off x="4893469" y="2357438"/>
            <a:ext cx="3679031" cy="371475"/>
          </a:xfrm>
          <a:prstGeom prst="roundRect">
            <a:avLst>
              <a:gd fmla="val 15385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3" name="Google Shape;1693;p47"/>
          <p:cNvSpPr txBox="1"/>
          <p:nvPr/>
        </p:nvSpPr>
        <p:spPr>
          <a:xfrm>
            <a:off x="5026343" y="2436734"/>
            <a:ext cx="166240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热门赛道漏斗</a:t>
            </a:r>
            <a:endParaRPr sz="1100"/>
          </a:p>
        </p:txBody>
      </p:sp>
      <p:sp>
        <p:nvSpPr>
          <p:cNvPr id="1694" name="Google Shape;1694;p47"/>
          <p:cNvSpPr txBox="1"/>
          <p:nvPr/>
        </p:nvSpPr>
        <p:spPr>
          <a:xfrm>
            <a:off x="5027771" y="2598896"/>
            <a:ext cx="221556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七大赛道筛选 · 底层供应商策略</a:t>
            </a:r>
            <a:endParaRPr sz="1100"/>
          </a:p>
        </p:txBody>
      </p:sp>
      <p:sp>
        <p:nvSpPr>
          <p:cNvPr id="1695" name="Google Shape;1695;p47"/>
          <p:cNvSpPr txBox="1"/>
          <p:nvPr/>
        </p:nvSpPr>
        <p:spPr>
          <a:xfrm>
            <a:off x="6687782" y="2743914"/>
            <a:ext cx="8326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C0B8B0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696" name="Google Shape;1696;p47"/>
          <p:cNvSpPr/>
          <p:nvPr/>
        </p:nvSpPr>
        <p:spPr>
          <a:xfrm>
            <a:off x="4893469" y="2871788"/>
            <a:ext cx="3679031" cy="571500"/>
          </a:xfrm>
          <a:prstGeom prst="roundRect">
            <a:avLst>
              <a:gd fmla="val 100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7" name="Google Shape;1697;p47"/>
          <p:cNvSpPr txBox="1"/>
          <p:nvPr/>
        </p:nvSpPr>
        <p:spPr>
          <a:xfrm>
            <a:off x="6296734" y="2943939"/>
            <a:ext cx="86535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三分类决策系统</a:t>
            </a:r>
            <a:endParaRPr sz="1100"/>
          </a:p>
        </p:txBody>
      </p:sp>
      <p:sp>
        <p:nvSpPr>
          <p:cNvPr id="1698" name="Google Shape;1698;p47"/>
          <p:cNvSpPr txBox="1"/>
          <p:nvPr/>
        </p:nvSpPr>
        <p:spPr>
          <a:xfrm>
            <a:off x="4991338" y="3150037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🏦 蓝筹长持</a:t>
            </a:r>
            <a:endParaRPr sz="1100"/>
          </a:p>
        </p:txBody>
      </p:sp>
      <p:sp>
        <p:nvSpPr>
          <p:cNvPr id="1699" name="Google Shape;1699;p47"/>
          <p:cNvSpPr txBox="1"/>
          <p:nvPr/>
        </p:nvSpPr>
        <p:spPr>
          <a:xfrm>
            <a:off x="4992767" y="3290768"/>
            <a:ext cx="707035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$10B+ · 应税账户</a:t>
            </a:r>
            <a:endParaRPr sz="1100"/>
          </a:p>
        </p:txBody>
      </p:sp>
      <p:sp>
        <p:nvSpPr>
          <p:cNvPr id="1700" name="Google Shape;1700;p47"/>
          <p:cNvSpPr txBox="1"/>
          <p:nvPr/>
        </p:nvSpPr>
        <p:spPr>
          <a:xfrm>
            <a:off x="6062901" y="3150037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🚀 翻倍候选</a:t>
            </a:r>
            <a:endParaRPr sz="1100"/>
          </a:p>
        </p:txBody>
      </p:sp>
      <p:sp>
        <p:nvSpPr>
          <p:cNvPr id="1701" name="Google Shape;1701;p47"/>
          <p:cNvSpPr txBox="1"/>
          <p:nvPr/>
        </p:nvSpPr>
        <p:spPr>
          <a:xfrm>
            <a:off x="6064329" y="3290768"/>
            <a:ext cx="761256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$500M-10B · Roth</a:t>
            </a:r>
            <a:endParaRPr sz="1100"/>
          </a:p>
        </p:txBody>
      </p:sp>
      <p:sp>
        <p:nvSpPr>
          <p:cNvPr id="1702" name="Google Shape;1702;p47"/>
          <p:cNvSpPr txBox="1"/>
          <p:nvPr/>
        </p:nvSpPr>
        <p:spPr>
          <a:xfrm>
            <a:off x="7205901" y="3150037"/>
            <a:ext cx="67458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⚡ 热赛道动量</a:t>
            </a:r>
            <a:endParaRPr sz="1100"/>
          </a:p>
        </p:txBody>
      </p:sp>
      <p:sp>
        <p:nvSpPr>
          <p:cNvPr id="1703" name="Google Shape;1703;p47"/>
          <p:cNvSpPr txBox="1"/>
          <p:nvPr/>
        </p:nvSpPr>
        <p:spPr>
          <a:xfrm>
            <a:off x="7207329" y="3290768"/>
            <a:ext cx="517261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&lt;$2B · Roth</a:t>
            </a:r>
            <a:endParaRPr sz="1100"/>
          </a:p>
        </p:txBody>
      </p:sp>
      <p:sp>
        <p:nvSpPr>
          <p:cNvPr id="1704" name="Google Shape;1704;p47"/>
          <p:cNvSpPr/>
          <p:nvPr/>
        </p:nvSpPr>
        <p:spPr>
          <a:xfrm>
            <a:off x="4893469" y="3529013"/>
            <a:ext cx="3679031" cy="314325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5" name="Google Shape;1705;p47"/>
          <p:cNvSpPr txBox="1"/>
          <p:nvPr/>
        </p:nvSpPr>
        <p:spPr>
          <a:xfrm>
            <a:off x="5027057" y="3592949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📁 完整文档</a:t>
            </a:r>
            <a:endParaRPr sz="1100"/>
          </a:p>
        </p:txBody>
      </p:sp>
      <p:sp>
        <p:nvSpPr>
          <p:cNvPr id="1706" name="Google Shape;1706;p47"/>
          <p:cNvSpPr txBox="1"/>
          <p:nvPr/>
        </p:nvSpPr>
        <p:spPr>
          <a:xfrm>
            <a:off x="5027771" y="3727609"/>
            <a:ext cx="15402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wiki/frameworks/synthesis.md</a:t>
            </a:r>
            <a:endParaRPr sz="1100"/>
          </a:p>
        </p:txBody>
      </p:sp>
      <p:sp>
        <p:nvSpPr>
          <p:cNvPr id="1707" name="Google Shape;1707;p47"/>
          <p:cNvSpPr txBox="1"/>
          <p:nvPr/>
        </p:nvSpPr>
        <p:spPr>
          <a:xfrm>
            <a:off x="4884896" y="3913346"/>
            <a:ext cx="288100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Roth IRA 五桶框架 vs 应税账户三桶框架 · 覆盖完整持仓决策逻辑</a:t>
            </a:r>
            <a:endParaRPr sz="1100"/>
          </a:p>
        </p:txBody>
      </p:sp>
      <p:sp>
        <p:nvSpPr>
          <p:cNvPr id="1708" name="Google Shape;1708;p47"/>
          <p:cNvSpPr txBox="1"/>
          <p:nvPr/>
        </p:nvSpPr>
        <p:spPr>
          <a:xfrm>
            <a:off x="8462951" y="495847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23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2" name="Shape 1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3" name="Google Shape;1713;p4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4" name="Google Shape;1714;p48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5" name="Google Shape;1715;p48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6" name="Google Shape;1716;p48"/>
          <p:cNvSpPr txBox="1"/>
          <p:nvPr/>
        </p:nvSpPr>
        <p:spPr>
          <a:xfrm>
            <a:off x="560070" y="252889"/>
            <a:ext cx="48492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作业：写一个 /market-daily Skill</a:t>
            </a:r>
            <a:endParaRPr sz="1100"/>
          </a:p>
        </p:txBody>
      </p:sp>
      <p:sp>
        <p:nvSpPr>
          <p:cNvPr id="1717" name="Google Shape;1717;p48"/>
          <p:cNvSpPr txBox="1"/>
          <p:nvPr/>
        </p:nvSpPr>
        <p:spPr>
          <a:xfrm>
            <a:off x="574358" y="588645"/>
            <a:ext cx="413708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用今天学到的两层架构，给自己选一个赛道，做一个每日市场速报 Skill</a:t>
            </a:r>
            <a:endParaRPr sz="1100"/>
          </a:p>
        </p:txBody>
      </p:sp>
      <p:sp>
        <p:nvSpPr>
          <p:cNvPr id="1718" name="Google Shape;1718;p48"/>
          <p:cNvSpPr/>
          <p:nvPr/>
        </p:nvSpPr>
        <p:spPr>
          <a:xfrm>
            <a:off x="7072313" y="285750"/>
            <a:ext cx="714375" cy="342900"/>
          </a:xfrm>
          <a:prstGeom prst="roundRect">
            <a:avLst>
              <a:gd fmla="val 20833" name="adj"/>
            </a:avLst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9" name="Google Shape;1719;p48"/>
          <p:cNvSpPr txBox="1"/>
          <p:nvPr/>
        </p:nvSpPr>
        <p:spPr>
          <a:xfrm>
            <a:off x="7169908" y="348615"/>
            <a:ext cx="51918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⏱ 预计时长</a:t>
            </a:r>
            <a:endParaRPr sz="1100"/>
          </a:p>
        </p:txBody>
      </p:sp>
      <p:sp>
        <p:nvSpPr>
          <p:cNvPr id="1720" name="Google Shape;1720;p48"/>
          <p:cNvSpPr txBox="1"/>
          <p:nvPr/>
        </p:nvSpPr>
        <p:spPr>
          <a:xfrm>
            <a:off x="7183737" y="462201"/>
            <a:ext cx="49152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60 min</a:t>
            </a:r>
            <a:endParaRPr sz="1100"/>
          </a:p>
        </p:txBody>
      </p:sp>
      <p:sp>
        <p:nvSpPr>
          <p:cNvPr id="1721" name="Google Shape;1721;p48"/>
          <p:cNvSpPr/>
          <p:nvPr/>
        </p:nvSpPr>
        <p:spPr>
          <a:xfrm>
            <a:off x="7886700" y="285750"/>
            <a:ext cx="828675" cy="342900"/>
          </a:xfrm>
          <a:prstGeom prst="roundRect">
            <a:avLst>
              <a:gd fmla="val 20833" name="adj"/>
            </a:avLst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2" name="Google Shape;1722;p48"/>
          <p:cNvSpPr txBox="1"/>
          <p:nvPr/>
        </p:nvSpPr>
        <p:spPr>
          <a:xfrm>
            <a:off x="8144959" y="348615"/>
            <a:ext cx="31215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★ 难度</a:t>
            </a:r>
            <a:endParaRPr sz="1100"/>
          </a:p>
        </p:txBody>
      </p:sp>
      <p:sp>
        <p:nvSpPr>
          <p:cNvPr id="1723" name="Google Shape;1723;p48"/>
          <p:cNvSpPr txBox="1"/>
          <p:nvPr/>
        </p:nvSpPr>
        <p:spPr>
          <a:xfrm>
            <a:off x="8055275" y="462201"/>
            <a:ext cx="49152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入门级</a:t>
            </a:r>
            <a:endParaRPr sz="1100"/>
          </a:p>
        </p:txBody>
      </p:sp>
      <p:sp>
        <p:nvSpPr>
          <p:cNvPr id="1724" name="Google Shape;1724;p48"/>
          <p:cNvSpPr/>
          <p:nvPr/>
        </p:nvSpPr>
        <p:spPr>
          <a:xfrm>
            <a:off x="428625" y="842963"/>
            <a:ext cx="8286750" cy="1057275"/>
          </a:xfrm>
          <a:prstGeom prst="roundRect">
            <a:avLst>
              <a:gd fmla="val 810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5" name="Google Shape;1725;p48"/>
          <p:cNvSpPr/>
          <p:nvPr/>
        </p:nvSpPr>
        <p:spPr>
          <a:xfrm>
            <a:off x="585788" y="1128713"/>
            <a:ext cx="485775" cy="485775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6" name="Google Shape;1726;p48"/>
          <p:cNvSpPr txBox="1"/>
          <p:nvPr/>
        </p:nvSpPr>
        <p:spPr>
          <a:xfrm>
            <a:off x="701909" y="1249799"/>
            <a:ext cx="25353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1727" name="Google Shape;1727;p48"/>
          <p:cNvSpPr txBox="1"/>
          <p:nvPr/>
        </p:nvSpPr>
        <p:spPr>
          <a:xfrm>
            <a:off x="732305" y="1338024"/>
            <a:ext cx="19274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1728" name="Google Shape;1728;p48"/>
          <p:cNvSpPr/>
          <p:nvPr/>
        </p:nvSpPr>
        <p:spPr>
          <a:xfrm>
            <a:off x="1214438" y="842963"/>
            <a:ext cx="28575" cy="1057275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9" name="Google Shape;1729;p48"/>
          <p:cNvSpPr txBox="1"/>
          <p:nvPr/>
        </p:nvSpPr>
        <p:spPr>
          <a:xfrm>
            <a:off x="1315871" y="947975"/>
            <a:ext cx="2953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跟着跟我做·提示词.md把演示做一遍</a:t>
            </a:r>
            <a:endParaRPr sz="1100"/>
          </a:p>
        </p:txBody>
      </p:sp>
      <p:sp>
        <p:nvSpPr>
          <p:cNvPr id="1730" name="Google Shape;1730;p48"/>
          <p:cNvSpPr txBox="1"/>
          <p:nvPr/>
        </p:nvSpPr>
        <p:spPr>
          <a:xfrm>
            <a:off x="1318736" y="1158002"/>
            <a:ext cx="255031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打开跟我做-提示词.md，把老师课堂演示的每个步骤重现一遍，建立自己的 /ticker-scan：</a:t>
            </a:r>
            <a:endParaRPr sz="1100"/>
          </a:p>
        </p:txBody>
      </p:sp>
      <p:sp>
        <p:nvSpPr>
          <p:cNvPr id="1731" name="Google Shape;1731;p48"/>
          <p:cNvSpPr/>
          <p:nvPr/>
        </p:nvSpPr>
        <p:spPr>
          <a:xfrm>
            <a:off x="1335875" y="1429106"/>
            <a:ext cx="2143200" cy="257100"/>
          </a:xfrm>
          <a:prstGeom prst="roundRect">
            <a:avLst>
              <a:gd fmla="val 22222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2" name="Google Shape;1732;p48"/>
          <p:cNvSpPr txBox="1"/>
          <p:nvPr/>
        </p:nvSpPr>
        <p:spPr>
          <a:xfrm>
            <a:off x="1630438" y="1485287"/>
            <a:ext cx="1554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按文件每步操作，自己跑一遍</a:t>
            </a:r>
            <a:endParaRPr sz="1100"/>
          </a:p>
        </p:txBody>
      </p:sp>
      <p:sp>
        <p:nvSpPr>
          <p:cNvPr id="1733" name="Google Shape;1733;p48"/>
          <p:cNvSpPr/>
          <p:nvPr/>
        </p:nvSpPr>
        <p:spPr>
          <a:xfrm>
            <a:off x="3575488" y="1429106"/>
            <a:ext cx="2143200" cy="257100"/>
          </a:xfrm>
          <a:prstGeom prst="roundRect">
            <a:avLst>
              <a:gd fmla="val 22222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4" name="Google Shape;1734;p48"/>
          <p:cNvSpPr txBox="1"/>
          <p:nvPr/>
        </p:nvSpPr>
        <p:spPr>
          <a:xfrm>
            <a:off x="4061977" y="1477689"/>
            <a:ext cx="1170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全部完成后继续 STEP02</a:t>
            </a:r>
            <a:endParaRPr sz="1100"/>
          </a:p>
        </p:txBody>
      </p:sp>
      <p:sp>
        <p:nvSpPr>
          <p:cNvPr id="1735" name="Google Shape;1735;p48"/>
          <p:cNvSpPr txBox="1"/>
          <p:nvPr/>
        </p:nvSpPr>
        <p:spPr>
          <a:xfrm>
            <a:off x="6335435" y="1400889"/>
            <a:ext cx="17452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6" name="Google Shape;1736;p48"/>
          <p:cNvSpPr txBox="1"/>
          <p:nvPr/>
        </p:nvSpPr>
        <p:spPr>
          <a:xfrm>
            <a:off x="1319451" y="1692712"/>
            <a:ext cx="359100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7" name="Google Shape;1737;p48"/>
          <p:cNvSpPr/>
          <p:nvPr/>
        </p:nvSpPr>
        <p:spPr>
          <a:xfrm>
            <a:off x="428625" y="2028825"/>
            <a:ext cx="8286750" cy="1057275"/>
          </a:xfrm>
          <a:prstGeom prst="roundRect">
            <a:avLst>
              <a:gd fmla="val 810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8" name="Google Shape;1738;p48"/>
          <p:cNvSpPr/>
          <p:nvPr/>
        </p:nvSpPr>
        <p:spPr>
          <a:xfrm>
            <a:off x="428625" y="2028825"/>
            <a:ext cx="28575" cy="10572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9" name="Google Shape;1739;p48"/>
          <p:cNvSpPr/>
          <p:nvPr/>
        </p:nvSpPr>
        <p:spPr>
          <a:xfrm>
            <a:off x="585788" y="2314575"/>
            <a:ext cx="485775" cy="48577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0" name="Google Shape;1740;p48"/>
          <p:cNvSpPr txBox="1"/>
          <p:nvPr/>
        </p:nvSpPr>
        <p:spPr>
          <a:xfrm>
            <a:off x="701909" y="2435662"/>
            <a:ext cx="25353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1741" name="Google Shape;1741;p48"/>
          <p:cNvSpPr txBox="1"/>
          <p:nvPr/>
        </p:nvSpPr>
        <p:spPr>
          <a:xfrm>
            <a:off x="708584" y="2523887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1742" name="Google Shape;1742;p48"/>
          <p:cNvSpPr txBox="1"/>
          <p:nvPr/>
        </p:nvSpPr>
        <p:spPr>
          <a:xfrm>
            <a:off x="1315879" y="2133839"/>
            <a:ext cx="89522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做 Skill 文件</a:t>
            </a:r>
            <a:endParaRPr sz="1100"/>
          </a:p>
        </p:txBody>
      </p:sp>
      <p:sp>
        <p:nvSpPr>
          <p:cNvPr id="1743" name="Google Shape;1743;p48"/>
          <p:cNvSpPr txBox="1"/>
          <p:nvPr/>
        </p:nvSpPr>
        <p:spPr>
          <a:xfrm>
            <a:off x="1318736" y="2343864"/>
            <a:ext cx="491961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在 .claude/commands/market-daily.md 写 Skill（对应演示 Step 03 · 写Skill），四段结构：</a:t>
            </a:r>
            <a:endParaRPr sz="1100"/>
          </a:p>
        </p:txBody>
      </p:sp>
      <p:sp>
        <p:nvSpPr>
          <p:cNvPr id="1744" name="Google Shape;1744;p48"/>
          <p:cNvSpPr/>
          <p:nvPr/>
        </p:nvSpPr>
        <p:spPr>
          <a:xfrm>
            <a:off x="1328738" y="2500313"/>
            <a:ext cx="1057275" cy="242888"/>
          </a:xfrm>
          <a:prstGeom prst="roundRect">
            <a:avLst>
              <a:gd fmla="val 23529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5" name="Google Shape;1745;p48"/>
          <p:cNvSpPr txBox="1"/>
          <p:nvPr/>
        </p:nvSpPr>
        <p:spPr>
          <a:xfrm>
            <a:off x="1576151" y="2578537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① 角色定义</a:t>
            </a:r>
            <a:endParaRPr sz="1100"/>
          </a:p>
        </p:txBody>
      </p:sp>
      <p:sp>
        <p:nvSpPr>
          <p:cNvPr id="1746" name="Google Shape;1746;p48"/>
          <p:cNvSpPr/>
          <p:nvPr/>
        </p:nvSpPr>
        <p:spPr>
          <a:xfrm>
            <a:off x="2486025" y="2500313"/>
            <a:ext cx="1057275" cy="242888"/>
          </a:xfrm>
          <a:prstGeom prst="roundRect">
            <a:avLst>
              <a:gd fmla="val 23529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7" name="Google Shape;1747;p48"/>
          <p:cNvSpPr txBox="1"/>
          <p:nvPr/>
        </p:nvSpPr>
        <p:spPr>
          <a:xfrm>
            <a:off x="2677369" y="2578537"/>
            <a:ext cx="67458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② 上下文说明</a:t>
            </a:r>
            <a:endParaRPr sz="1100"/>
          </a:p>
        </p:txBody>
      </p:sp>
      <p:sp>
        <p:nvSpPr>
          <p:cNvPr id="1748" name="Google Shape;1748;p48"/>
          <p:cNvSpPr/>
          <p:nvPr/>
        </p:nvSpPr>
        <p:spPr>
          <a:xfrm>
            <a:off x="3643313" y="2500313"/>
            <a:ext cx="1057275" cy="242888"/>
          </a:xfrm>
          <a:prstGeom prst="roundRect">
            <a:avLst>
              <a:gd fmla="val 23529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9" name="Google Shape;1749;p48"/>
          <p:cNvSpPr txBox="1"/>
          <p:nvPr/>
        </p:nvSpPr>
        <p:spPr>
          <a:xfrm>
            <a:off x="3890726" y="2578537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③ 执行指令</a:t>
            </a:r>
            <a:endParaRPr sz="1100"/>
          </a:p>
        </p:txBody>
      </p:sp>
      <p:sp>
        <p:nvSpPr>
          <p:cNvPr id="1750" name="Google Shape;1750;p48"/>
          <p:cNvSpPr/>
          <p:nvPr/>
        </p:nvSpPr>
        <p:spPr>
          <a:xfrm>
            <a:off x="4800600" y="2500313"/>
            <a:ext cx="1057275" cy="242888"/>
          </a:xfrm>
          <a:prstGeom prst="roundRect">
            <a:avLst>
              <a:gd fmla="val 23529" name="adj"/>
            </a:avLst>
          </a:prstGeom>
          <a:solidFill>
            <a:srgbClr val="FFF8F5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1" name="Google Shape;1751;p48"/>
          <p:cNvSpPr txBox="1"/>
          <p:nvPr/>
        </p:nvSpPr>
        <p:spPr>
          <a:xfrm>
            <a:off x="5048014" y="2578537"/>
            <a:ext cx="56244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④ 输出格式</a:t>
            </a:r>
            <a:endParaRPr sz="1100"/>
          </a:p>
        </p:txBody>
      </p:sp>
      <p:sp>
        <p:nvSpPr>
          <p:cNvPr id="1752" name="Google Shape;1752;p48"/>
          <p:cNvSpPr txBox="1"/>
          <p:nvPr/>
        </p:nvSpPr>
        <p:spPr>
          <a:xfrm>
            <a:off x="1319451" y="2849999"/>
            <a:ext cx="371916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加分项：先用 Python 写数据抓取脚本，Skill 调用脚本而非直接让 LLM 猜数据</a:t>
            </a:r>
            <a:endParaRPr sz="1100"/>
          </a:p>
        </p:txBody>
      </p:sp>
      <p:sp>
        <p:nvSpPr>
          <p:cNvPr id="1753" name="Google Shape;1753;p48"/>
          <p:cNvSpPr/>
          <p:nvPr/>
        </p:nvSpPr>
        <p:spPr>
          <a:xfrm>
            <a:off x="428625" y="3214688"/>
            <a:ext cx="8286750" cy="1057275"/>
          </a:xfrm>
          <a:prstGeom prst="roundRect">
            <a:avLst>
              <a:gd fmla="val 8108" name="adj"/>
            </a:avLst>
          </a:prstGeom>
          <a:solidFill>
            <a:srgbClr val="EBF7F1"/>
          </a:solidFill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4" name="Google Shape;1754;p48"/>
          <p:cNvSpPr/>
          <p:nvPr/>
        </p:nvSpPr>
        <p:spPr>
          <a:xfrm>
            <a:off x="428625" y="3214688"/>
            <a:ext cx="28575" cy="1057275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5" name="Google Shape;1755;p48"/>
          <p:cNvSpPr/>
          <p:nvPr/>
        </p:nvSpPr>
        <p:spPr>
          <a:xfrm>
            <a:off x="585788" y="3500438"/>
            <a:ext cx="485775" cy="48577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6" name="Google Shape;1756;p48"/>
          <p:cNvSpPr txBox="1"/>
          <p:nvPr/>
        </p:nvSpPr>
        <p:spPr>
          <a:xfrm>
            <a:off x="701909" y="3621524"/>
            <a:ext cx="25353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1757" name="Google Shape;1757;p48"/>
          <p:cNvSpPr txBox="1"/>
          <p:nvPr/>
        </p:nvSpPr>
        <p:spPr>
          <a:xfrm>
            <a:off x="708584" y="3709749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1758" name="Google Shape;1758;p48"/>
          <p:cNvSpPr txBox="1"/>
          <p:nvPr/>
        </p:nvSpPr>
        <p:spPr>
          <a:xfrm>
            <a:off x="1315870" y="3319700"/>
            <a:ext cx="2574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运行、截图、写心得、发邮件</a:t>
            </a:r>
            <a:endParaRPr sz="1100"/>
          </a:p>
        </p:txBody>
      </p:sp>
      <p:sp>
        <p:nvSpPr>
          <p:cNvPr id="1759" name="Google Shape;1759;p48"/>
          <p:cNvSpPr txBox="1"/>
          <p:nvPr/>
        </p:nvSpPr>
        <p:spPr>
          <a:xfrm>
            <a:off x="1318736" y="3529727"/>
            <a:ext cx="407426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运行 /market-daily，截图输出结果——哪怕不完美，跑起来就算完成</a:t>
            </a:r>
            <a:endParaRPr sz="1100"/>
          </a:p>
        </p:txBody>
      </p:sp>
      <p:sp>
        <p:nvSpPr>
          <p:cNvPr id="1760" name="Google Shape;1760;p48"/>
          <p:cNvSpPr/>
          <p:nvPr/>
        </p:nvSpPr>
        <p:spPr>
          <a:xfrm>
            <a:off x="1328750" y="3700475"/>
            <a:ext cx="2246700" cy="243000"/>
          </a:xfrm>
          <a:prstGeom prst="roundRect">
            <a:avLst>
              <a:gd fmla="val 20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1" name="Google Shape;1761;p48"/>
          <p:cNvSpPr txBox="1"/>
          <p:nvPr/>
        </p:nvSpPr>
        <p:spPr>
          <a:xfrm>
            <a:off x="1393908" y="3764334"/>
            <a:ext cx="2181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提交物 1：market-daily.md 文件截图</a:t>
            </a:r>
            <a:endParaRPr sz="1100"/>
          </a:p>
        </p:txBody>
      </p:sp>
      <p:sp>
        <p:nvSpPr>
          <p:cNvPr id="1762" name="Google Shape;1762;p48"/>
          <p:cNvSpPr/>
          <p:nvPr/>
        </p:nvSpPr>
        <p:spPr>
          <a:xfrm>
            <a:off x="3755150" y="3725975"/>
            <a:ext cx="2246700" cy="205800"/>
          </a:xfrm>
          <a:prstGeom prst="roundRect">
            <a:avLst>
              <a:gd fmla="val 20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3" name="Google Shape;1763;p48"/>
          <p:cNvSpPr txBox="1"/>
          <p:nvPr/>
        </p:nvSpPr>
        <p:spPr>
          <a:xfrm>
            <a:off x="3730244" y="3767384"/>
            <a:ext cx="2296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提交物 2：/market-daily 运行结果截图</a:t>
            </a:r>
            <a:endParaRPr sz="1100"/>
          </a:p>
        </p:txBody>
      </p:sp>
      <p:sp>
        <p:nvSpPr>
          <p:cNvPr id="1764" name="Google Shape;1764;p48"/>
          <p:cNvSpPr txBox="1"/>
          <p:nvPr/>
        </p:nvSpPr>
        <p:spPr>
          <a:xfrm>
            <a:off x="1319451" y="4078724"/>
            <a:ext cx="594592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作业材料：Course Portal → S3 学员资料区 · Lite-Kit 有 ticker-scan 完整示例 · 跟我做-提示词.md 有逐步导读</a:t>
            </a:r>
            <a:endParaRPr sz="1100"/>
          </a:p>
        </p:txBody>
      </p:sp>
      <p:sp>
        <p:nvSpPr>
          <p:cNvPr id="1765" name="Google Shape;1765;p48"/>
          <p:cNvSpPr/>
          <p:nvPr/>
        </p:nvSpPr>
        <p:spPr>
          <a:xfrm>
            <a:off x="428625" y="4429125"/>
            <a:ext cx="8286750" cy="371475"/>
          </a:xfrm>
          <a:prstGeom prst="roundRect">
            <a:avLst>
              <a:gd fmla="val 19231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6" name="Google Shape;1766;p48"/>
          <p:cNvSpPr txBox="1"/>
          <p:nvPr/>
        </p:nvSpPr>
        <p:spPr>
          <a:xfrm>
            <a:off x="604361" y="4565571"/>
            <a:ext cx="62382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提交时间：</a:t>
            </a:r>
            <a:endParaRPr sz="1100"/>
          </a:p>
        </p:txBody>
      </p:sp>
      <p:sp>
        <p:nvSpPr>
          <p:cNvPr id="1767" name="Google Shape;1767;p48"/>
          <p:cNvSpPr txBox="1"/>
          <p:nvPr/>
        </p:nvSpPr>
        <p:spPr>
          <a:xfrm>
            <a:off x="1318714" y="4565574"/>
            <a:ext cx="1983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暂无截止时间（公布后另行通知）·</a:t>
            </a:r>
            <a:endParaRPr sz="1100"/>
          </a:p>
        </p:txBody>
      </p:sp>
      <p:sp>
        <p:nvSpPr>
          <p:cNvPr id="1768" name="Google Shape;1768;p48"/>
          <p:cNvSpPr txBox="1"/>
          <p:nvPr/>
        </p:nvSpPr>
        <p:spPr>
          <a:xfrm>
            <a:off x="4510461" y="4571646"/>
            <a:ext cx="480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提交到：</a:t>
            </a:r>
            <a:endParaRPr sz="1100"/>
          </a:p>
        </p:txBody>
      </p:sp>
      <p:sp>
        <p:nvSpPr>
          <p:cNvPr id="1769" name="Google Shape;1769;p48"/>
          <p:cNvSpPr txBox="1"/>
          <p:nvPr/>
        </p:nvSpPr>
        <p:spPr>
          <a:xfrm>
            <a:off x="5062776" y="4571643"/>
            <a:ext cx="203707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austin.aicourse@gmail.com ·</a:t>
            </a:r>
            <a:endParaRPr sz="1100"/>
          </a:p>
        </p:txBody>
      </p:sp>
      <p:sp>
        <p:nvSpPr>
          <p:cNvPr id="1770" name="Google Shape;1770;p48"/>
          <p:cNvSpPr txBox="1"/>
          <p:nvPr/>
        </p:nvSpPr>
        <p:spPr>
          <a:xfrm>
            <a:off x="3118024" y="4571662"/>
            <a:ext cx="1215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主题 【S3 作业】+ 姓名</a:t>
            </a:r>
            <a:endParaRPr sz="1100"/>
          </a:p>
        </p:txBody>
      </p:sp>
      <p:sp>
        <p:nvSpPr>
          <p:cNvPr id="1771" name="Google Shape;1771;p48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24 / 26</a:t>
            </a:r>
            <a:endParaRPr sz="1100"/>
          </a:p>
        </p:txBody>
      </p:sp>
      <p:sp>
        <p:nvSpPr>
          <p:cNvPr id="1772" name="Google Shape;1772;p48"/>
          <p:cNvSpPr/>
          <p:nvPr/>
        </p:nvSpPr>
        <p:spPr>
          <a:xfrm>
            <a:off x="6064050" y="3745674"/>
            <a:ext cx="2630700" cy="205800"/>
          </a:xfrm>
          <a:prstGeom prst="roundRect">
            <a:avLst>
              <a:gd fmla="val 20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3" name="Google Shape;1773;p48"/>
          <p:cNvSpPr txBox="1"/>
          <p:nvPr/>
        </p:nvSpPr>
        <p:spPr>
          <a:xfrm>
            <a:off x="6072913" y="3767375"/>
            <a:ext cx="2713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提交物 3：100字以内心得（学了什么/遇到了什么问题）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7" name="Shape 1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8" name="Google Shape;1778;p4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9" name="Google Shape;1779;p49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0" name="Google Shape;1780;p49"/>
          <p:cNvSpPr/>
          <p:nvPr/>
        </p:nvSpPr>
        <p:spPr>
          <a:xfrm>
            <a:off x="428625" y="257175"/>
            <a:ext cx="42863" cy="285750"/>
          </a:xfrm>
          <a:prstGeom prst="roundRect">
            <a:avLst>
              <a:gd fmla="val 50000" name="adj"/>
            </a:avLst>
          </a:prstGeom>
          <a:solidFill>
            <a:srgbClr val="5A5A5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1" name="Google Shape;1781;p49"/>
          <p:cNvSpPr txBox="1"/>
          <p:nvPr/>
        </p:nvSpPr>
        <p:spPr>
          <a:xfrm>
            <a:off x="560070" y="252889"/>
            <a:ext cx="2892866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参考材料 &amp; 延伸阅读</a:t>
            </a:r>
            <a:endParaRPr sz="1100"/>
          </a:p>
        </p:txBody>
      </p:sp>
      <p:sp>
        <p:nvSpPr>
          <p:cNvPr id="1782" name="Google Shape;1782;p49"/>
          <p:cNvSpPr txBox="1"/>
          <p:nvPr/>
        </p:nvSpPr>
        <p:spPr>
          <a:xfrm>
            <a:off x="574358" y="588645"/>
            <a:ext cx="199453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课程资源、方法论出处、推荐书单</a:t>
            </a:r>
            <a:endParaRPr sz="1100"/>
          </a:p>
        </p:txBody>
      </p:sp>
      <p:sp>
        <p:nvSpPr>
          <p:cNvPr id="1783" name="Google Shape;1783;p49"/>
          <p:cNvSpPr/>
          <p:nvPr/>
        </p:nvSpPr>
        <p:spPr>
          <a:xfrm>
            <a:off x="428625" y="828675"/>
            <a:ext cx="2536031" cy="34290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4" name="Google Shape;1784;p49"/>
          <p:cNvSpPr/>
          <p:nvPr/>
        </p:nvSpPr>
        <p:spPr>
          <a:xfrm>
            <a:off x="428625" y="828675"/>
            <a:ext cx="2536031" cy="371475"/>
          </a:xfrm>
          <a:prstGeom prst="roundRect">
            <a:avLst>
              <a:gd fmla="val 23077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5" name="Google Shape;1785;p49"/>
          <p:cNvSpPr/>
          <p:nvPr/>
        </p:nvSpPr>
        <p:spPr>
          <a:xfrm>
            <a:off x="428625" y="1057275"/>
            <a:ext cx="2536031" cy="142875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6" name="Google Shape;1786;p49"/>
          <p:cNvSpPr txBox="1"/>
          <p:nvPr/>
        </p:nvSpPr>
        <p:spPr>
          <a:xfrm>
            <a:off x="670084" y="930831"/>
            <a:ext cx="230243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{}</a:t>
            </a:r>
            <a:endParaRPr sz="1100"/>
          </a:p>
        </p:txBody>
      </p:sp>
      <p:sp>
        <p:nvSpPr>
          <p:cNvPr id="1787" name="Google Shape;1787;p49"/>
          <p:cNvSpPr txBox="1"/>
          <p:nvPr/>
        </p:nvSpPr>
        <p:spPr>
          <a:xfrm>
            <a:off x="1405604" y="967264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课程资源</a:t>
            </a:r>
            <a:endParaRPr sz="1100"/>
          </a:p>
        </p:txBody>
      </p:sp>
      <p:sp>
        <p:nvSpPr>
          <p:cNvPr id="1788" name="Google Shape;1788;p49"/>
          <p:cNvSpPr/>
          <p:nvPr/>
        </p:nvSpPr>
        <p:spPr>
          <a:xfrm>
            <a:off x="571500" y="1314450"/>
            <a:ext cx="2250281" cy="514350"/>
          </a:xfrm>
          <a:prstGeom prst="roundRect">
            <a:avLst>
              <a:gd fmla="val 11111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9" name="Google Shape;1789;p49"/>
          <p:cNvSpPr txBox="1"/>
          <p:nvPr/>
        </p:nvSpPr>
        <p:spPr>
          <a:xfrm>
            <a:off x="704374" y="1386602"/>
            <a:ext cx="78686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GitHub 代码库</a:t>
            </a:r>
            <a:endParaRPr sz="1100"/>
          </a:p>
        </p:txBody>
      </p:sp>
      <p:sp>
        <p:nvSpPr>
          <p:cNvPr id="1790" name="Google Shape;1790;p49"/>
          <p:cNvSpPr txBox="1"/>
          <p:nvPr/>
        </p:nvSpPr>
        <p:spPr>
          <a:xfrm>
            <a:off x="705089" y="1535549"/>
            <a:ext cx="102782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stock-analysis-lite</a:t>
            </a:r>
            <a:endParaRPr sz="1100"/>
          </a:p>
        </p:txBody>
      </p:sp>
      <p:sp>
        <p:nvSpPr>
          <p:cNvPr id="1791" name="Google Shape;1791;p49"/>
          <p:cNvSpPr txBox="1"/>
          <p:nvPr/>
        </p:nvSpPr>
        <p:spPr>
          <a:xfrm>
            <a:off x="705803" y="1684496"/>
            <a:ext cx="205782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sng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github.com/austinxyz/stock-analysis-lite</a:t>
            </a:r>
            <a:endParaRPr sz="1100"/>
          </a:p>
        </p:txBody>
      </p:sp>
      <p:sp>
        <p:nvSpPr>
          <p:cNvPr id="1792" name="Google Shape;1792;p49"/>
          <p:cNvSpPr/>
          <p:nvPr/>
        </p:nvSpPr>
        <p:spPr>
          <a:xfrm>
            <a:off x="571500" y="1914525"/>
            <a:ext cx="2250281" cy="414338"/>
          </a:xfrm>
          <a:prstGeom prst="roundRect">
            <a:avLst>
              <a:gd fmla="val 13793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3" name="Google Shape;1793;p49"/>
          <p:cNvSpPr txBox="1"/>
          <p:nvPr/>
        </p:nvSpPr>
        <p:spPr>
          <a:xfrm>
            <a:off x="704374" y="1986677"/>
            <a:ext cx="7687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课程 Lite-Kit</a:t>
            </a:r>
            <a:endParaRPr sz="1100"/>
          </a:p>
        </p:txBody>
      </p:sp>
      <p:sp>
        <p:nvSpPr>
          <p:cNvPr id="1794" name="Google Shape;1794;p49"/>
          <p:cNvSpPr txBox="1"/>
          <p:nvPr/>
        </p:nvSpPr>
        <p:spPr>
          <a:xfrm>
            <a:off x="705089" y="2149912"/>
            <a:ext cx="208513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4 个 Skill 模板 + ticker_scan.py 数据脚本</a:t>
            </a:r>
            <a:endParaRPr sz="1100"/>
          </a:p>
        </p:txBody>
      </p:sp>
      <p:sp>
        <p:nvSpPr>
          <p:cNvPr id="1795" name="Google Shape;1795;p49"/>
          <p:cNvSpPr/>
          <p:nvPr/>
        </p:nvSpPr>
        <p:spPr>
          <a:xfrm>
            <a:off x="571500" y="2414588"/>
            <a:ext cx="2250281" cy="414338"/>
          </a:xfrm>
          <a:prstGeom prst="roundRect">
            <a:avLst>
              <a:gd fmla="val 13793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6" name="Google Shape;1796;p49"/>
          <p:cNvSpPr txBox="1"/>
          <p:nvPr/>
        </p:nvSpPr>
        <p:spPr>
          <a:xfrm>
            <a:off x="704374" y="2486739"/>
            <a:ext cx="103442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跟我做·提示词.md</a:t>
            </a:r>
            <a:endParaRPr sz="1100"/>
          </a:p>
        </p:txBody>
      </p:sp>
      <p:sp>
        <p:nvSpPr>
          <p:cNvPr id="1797" name="Google Shape;1797;p49"/>
          <p:cNvSpPr txBox="1"/>
          <p:nvPr/>
        </p:nvSpPr>
        <p:spPr>
          <a:xfrm>
            <a:off x="705089" y="2635687"/>
            <a:ext cx="151376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作业逐步导读，每步带操作说明</a:t>
            </a:r>
            <a:endParaRPr sz="1100"/>
          </a:p>
        </p:txBody>
      </p:sp>
      <p:sp>
        <p:nvSpPr>
          <p:cNvPr id="1798" name="Google Shape;1798;p49"/>
          <p:cNvSpPr/>
          <p:nvPr/>
        </p:nvSpPr>
        <p:spPr>
          <a:xfrm>
            <a:off x="571500" y="2914650"/>
            <a:ext cx="2250281" cy="414338"/>
          </a:xfrm>
          <a:prstGeom prst="roundRect">
            <a:avLst>
              <a:gd fmla="val 13793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9" name="Google Shape;1799;p49"/>
          <p:cNvSpPr txBox="1"/>
          <p:nvPr/>
        </p:nvSpPr>
        <p:spPr>
          <a:xfrm>
            <a:off x="704374" y="2986802"/>
            <a:ext cx="96800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demo-script.md</a:t>
            </a:r>
            <a:endParaRPr sz="1100"/>
          </a:p>
        </p:txBody>
      </p:sp>
      <p:sp>
        <p:nvSpPr>
          <p:cNvPr id="1800" name="Google Shape;1800;p49"/>
          <p:cNvSpPr txBox="1"/>
          <p:nvPr/>
        </p:nvSpPr>
        <p:spPr>
          <a:xfrm>
            <a:off x="705089" y="3135749"/>
            <a:ext cx="194095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今日演示完整脚本（包含所有操作步骤）</a:t>
            </a:r>
            <a:endParaRPr sz="1100"/>
          </a:p>
        </p:txBody>
      </p:sp>
      <p:sp>
        <p:nvSpPr>
          <p:cNvPr id="1801" name="Google Shape;1801;p49"/>
          <p:cNvSpPr/>
          <p:nvPr/>
        </p:nvSpPr>
        <p:spPr>
          <a:xfrm>
            <a:off x="3107531" y="828675"/>
            <a:ext cx="2678906" cy="3429000"/>
          </a:xfrm>
          <a:prstGeom prst="roundRect">
            <a:avLst>
              <a:gd fmla="val 32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2" name="Google Shape;1802;p49"/>
          <p:cNvSpPr/>
          <p:nvPr/>
        </p:nvSpPr>
        <p:spPr>
          <a:xfrm>
            <a:off x="3107531" y="828675"/>
            <a:ext cx="2678906" cy="371475"/>
          </a:xfrm>
          <a:prstGeom prst="roundRect">
            <a:avLst>
              <a:gd fmla="val 23077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3" name="Google Shape;1803;p49"/>
          <p:cNvSpPr/>
          <p:nvPr/>
        </p:nvSpPr>
        <p:spPr>
          <a:xfrm>
            <a:off x="3107531" y="1057275"/>
            <a:ext cx="2678906" cy="142875"/>
          </a:xfrm>
          <a:prstGeom prst="rect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4" name="Google Shape;1804;p49"/>
          <p:cNvSpPr txBox="1"/>
          <p:nvPr/>
        </p:nvSpPr>
        <p:spPr>
          <a:xfrm>
            <a:off x="4086939" y="967264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方法论出处</a:t>
            </a:r>
            <a:endParaRPr sz="1100"/>
          </a:p>
        </p:txBody>
      </p:sp>
      <p:sp>
        <p:nvSpPr>
          <p:cNvPr id="1805" name="Google Shape;1805;p49"/>
          <p:cNvSpPr/>
          <p:nvPr/>
        </p:nvSpPr>
        <p:spPr>
          <a:xfrm>
            <a:off x="3250406" y="1314450"/>
            <a:ext cx="2393156" cy="514350"/>
          </a:xfrm>
          <a:prstGeom prst="roundRect">
            <a:avLst>
              <a:gd fmla="val 1111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6" name="Google Shape;1806;p49"/>
          <p:cNvSpPr txBox="1"/>
          <p:nvPr/>
        </p:nvSpPr>
        <p:spPr>
          <a:xfrm>
            <a:off x="3383280" y="1386602"/>
            <a:ext cx="126388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SEPA — Stage Analysis</a:t>
            </a:r>
            <a:endParaRPr sz="1100"/>
          </a:p>
        </p:txBody>
      </p:sp>
      <p:sp>
        <p:nvSpPr>
          <p:cNvPr id="1807" name="Google Shape;1807;p49"/>
          <p:cNvSpPr txBox="1"/>
          <p:nvPr/>
        </p:nvSpPr>
        <p:spPr>
          <a:xfrm>
            <a:off x="3383994" y="1535549"/>
            <a:ext cx="27259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Mark Minervini《Trade Like a Stock Market Wizard》</a:t>
            </a:r>
            <a:endParaRPr sz="1100"/>
          </a:p>
        </p:txBody>
      </p:sp>
      <p:sp>
        <p:nvSpPr>
          <p:cNvPr id="1808" name="Google Shape;1808;p49"/>
          <p:cNvSpPr txBox="1"/>
          <p:nvPr/>
        </p:nvSpPr>
        <p:spPr>
          <a:xfrm>
            <a:off x="3384709" y="1684496"/>
            <a:ext cx="157969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SEPA 框架原著，含 Stage 判断标准 · minervini.com</a:t>
            </a:r>
            <a:endParaRPr sz="1100"/>
          </a:p>
        </p:txBody>
      </p:sp>
      <p:sp>
        <p:nvSpPr>
          <p:cNvPr id="1809" name="Google Shape;1809;p49"/>
          <p:cNvSpPr/>
          <p:nvPr/>
        </p:nvSpPr>
        <p:spPr>
          <a:xfrm>
            <a:off x="3250406" y="1914525"/>
            <a:ext cx="2393156" cy="514350"/>
          </a:xfrm>
          <a:prstGeom prst="roundRect">
            <a:avLst>
              <a:gd fmla="val 1111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0" name="Google Shape;1810;p49"/>
          <p:cNvSpPr txBox="1"/>
          <p:nvPr/>
        </p:nvSpPr>
        <p:spPr>
          <a:xfrm>
            <a:off x="3383280" y="1986677"/>
            <a:ext cx="132426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Moneyball — 非对称风险</a:t>
            </a:r>
            <a:endParaRPr sz="1100"/>
          </a:p>
        </p:txBody>
      </p:sp>
      <p:sp>
        <p:nvSpPr>
          <p:cNvPr id="1811" name="Google Shape;1811;p49"/>
          <p:cNvSpPr txBox="1"/>
          <p:nvPr/>
        </p:nvSpPr>
        <p:spPr>
          <a:xfrm>
            <a:off x="3383994" y="2135624"/>
            <a:ext cx="242155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William O'Neil《How to Make Money in Stocks》</a:t>
            </a:r>
            <a:endParaRPr sz="1100"/>
          </a:p>
        </p:txBody>
      </p:sp>
      <p:sp>
        <p:nvSpPr>
          <p:cNvPr id="1812" name="Google Shape;1812;p49"/>
          <p:cNvSpPr txBox="1"/>
          <p:nvPr/>
        </p:nvSpPr>
        <p:spPr>
          <a:xfrm>
            <a:off x="3384709" y="2284571"/>
            <a:ext cx="127901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R/R 2:1 原则 + 仓位管理出处 · investors.com (IBD)</a:t>
            </a:r>
            <a:endParaRPr sz="1100"/>
          </a:p>
        </p:txBody>
      </p:sp>
      <p:sp>
        <p:nvSpPr>
          <p:cNvPr id="1813" name="Google Shape;1813;p49"/>
          <p:cNvSpPr/>
          <p:nvPr/>
        </p:nvSpPr>
        <p:spPr>
          <a:xfrm>
            <a:off x="3250406" y="2514600"/>
            <a:ext cx="2393156" cy="514350"/>
          </a:xfrm>
          <a:prstGeom prst="roundRect">
            <a:avLst>
              <a:gd fmla="val 11111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4" name="Google Shape;1814;p49"/>
          <p:cNvSpPr txBox="1"/>
          <p:nvPr/>
        </p:nvSpPr>
        <p:spPr>
          <a:xfrm>
            <a:off x="3383280" y="2586752"/>
            <a:ext cx="9861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热门赛道选股方法</a:t>
            </a:r>
            <a:endParaRPr sz="1100"/>
          </a:p>
        </p:txBody>
      </p:sp>
      <p:sp>
        <p:nvSpPr>
          <p:cNvPr id="1815" name="Google Shape;1815;p49"/>
          <p:cNvSpPr txBox="1"/>
          <p:nvPr/>
        </p:nvSpPr>
        <p:spPr>
          <a:xfrm>
            <a:off x="3383994" y="2735699"/>
            <a:ext cx="152978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七大赛道 + 九大翻倍股选股框架</a:t>
            </a:r>
            <a:endParaRPr sz="1100"/>
          </a:p>
        </p:txBody>
      </p:sp>
      <p:sp>
        <p:nvSpPr>
          <p:cNvPr id="1816" name="Google Shape;1816;p49"/>
          <p:cNvSpPr txBox="1"/>
          <p:nvPr/>
        </p:nvSpPr>
        <p:spPr>
          <a:xfrm>
            <a:off x="3384709" y="2884646"/>
            <a:ext cx="260989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课程整理版：wiki/frameworks/hot-sector-method.md</a:t>
            </a:r>
            <a:endParaRPr sz="1100"/>
          </a:p>
        </p:txBody>
      </p:sp>
      <p:sp>
        <p:nvSpPr>
          <p:cNvPr id="1817" name="Google Shape;1817;p49"/>
          <p:cNvSpPr/>
          <p:nvPr/>
        </p:nvSpPr>
        <p:spPr>
          <a:xfrm>
            <a:off x="3250406" y="3114675"/>
            <a:ext cx="2393156" cy="414338"/>
          </a:xfrm>
          <a:prstGeom prst="roundRect">
            <a:avLst>
              <a:gd fmla="val 13793" name="adj"/>
            </a:avLst>
          </a:prstGeom>
          <a:solidFill>
            <a:srgbClr val="EB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8" name="Google Shape;1818;p49"/>
          <p:cNvSpPr txBox="1"/>
          <p:nvPr/>
        </p:nvSpPr>
        <p:spPr>
          <a:xfrm>
            <a:off x="3383280" y="3186827"/>
            <a:ext cx="53325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BAIT 评分</a:t>
            </a:r>
            <a:endParaRPr sz="1100"/>
          </a:p>
        </p:txBody>
      </p:sp>
      <p:sp>
        <p:nvSpPr>
          <p:cNvPr id="1819" name="Google Shape;1819;p49"/>
          <p:cNvSpPr txBox="1"/>
          <p:nvPr/>
        </p:nvSpPr>
        <p:spPr>
          <a:xfrm>
            <a:off x="3383994" y="3335774"/>
            <a:ext cx="181813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合成框架，出处：课程 synthesis.md</a:t>
            </a:r>
            <a:endParaRPr sz="1100"/>
          </a:p>
        </p:txBody>
      </p:sp>
      <p:sp>
        <p:nvSpPr>
          <p:cNvPr id="1820" name="Google Shape;1820;p49"/>
          <p:cNvSpPr/>
          <p:nvPr/>
        </p:nvSpPr>
        <p:spPr>
          <a:xfrm>
            <a:off x="5929313" y="828675"/>
            <a:ext cx="2786063" cy="3429000"/>
          </a:xfrm>
          <a:prstGeom prst="roundRect">
            <a:avLst>
              <a:gd fmla="val 3077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1" name="Google Shape;1821;p49"/>
          <p:cNvSpPr/>
          <p:nvPr/>
        </p:nvSpPr>
        <p:spPr>
          <a:xfrm>
            <a:off x="5929313" y="828675"/>
            <a:ext cx="2786063" cy="371475"/>
          </a:xfrm>
          <a:prstGeom prst="roundRect">
            <a:avLst>
              <a:gd fmla="val 23077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2" name="Google Shape;1822;p49"/>
          <p:cNvSpPr/>
          <p:nvPr/>
        </p:nvSpPr>
        <p:spPr>
          <a:xfrm>
            <a:off x="5929313" y="1057275"/>
            <a:ext cx="2786063" cy="142875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3" name="Google Shape;1823;p49"/>
          <p:cNvSpPr txBox="1"/>
          <p:nvPr/>
        </p:nvSpPr>
        <p:spPr>
          <a:xfrm>
            <a:off x="7034879" y="967264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推荐延伸</a:t>
            </a:r>
            <a:endParaRPr sz="1100"/>
          </a:p>
        </p:txBody>
      </p:sp>
      <p:sp>
        <p:nvSpPr>
          <p:cNvPr id="1824" name="Google Shape;1824;p49"/>
          <p:cNvSpPr/>
          <p:nvPr/>
        </p:nvSpPr>
        <p:spPr>
          <a:xfrm>
            <a:off x="6072188" y="1314450"/>
            <a:ext cx="2500313" cy="414338"/>
          </a:xfrm>
          <a:prstGeom prst="roundRect">
            <a:avLst>
              <a:gd fmla="val 13793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5" name="Google Shape;1825;p49"/>
          <p:cNvSpPr txBox="1"/>
          <p:nvPr/>
        </p:nvSpPr>
        <p:spPr>
          <a:xfrm>
            <a:off x="6205061" y="1386602"/>
            <a:ext cx="60571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📖 进阶书目</a:t>
            </a:r>
            <a:endParaRPr sz="1100"/>
          </a:p>
        </p:txBody>
      </p:sp>
      <p:sp>
        <p:nvSpPr>
          <p:cNvPr id="1826" name="Google Shape;1826;p49"/>
          <p:cNvSpPr txBox="1"/>
          <p:nvPr/>
        </p:nvSpPr>
        <p:spPr>
          <a:xfrm>
            <a:off x="6205776" y="1549837"/>
            <a:ext cx="235747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《Momentum Masters》— Minervini 等四人访谈</a:t>
            </a:r>
            <a:endParaRPr sz="1100"/>
          </a:p>
        </p:txBody>
      </p:sp>
      <p:sp>
        <p:nvSpPr>
          <p:cNvPr id="1827" name="Google Shape;1827;p49"/>
          <p:cNvSpPr/>
          <p:nvPr/>
        </p:nvSpPr>
        <p:spPr>
          <a:xfrm>
            <a:off x="6072188" y="1814513"/>
            <a:ext cx="2500313" cy="414338"/>
          </a:xfrm>
          <a:prstGeom prst="roundRect">
            <a:avLst>
              <a:gd fmla="val 13793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8" name="Google Shape;1828;p49"/>
          <p:cNvSpPr txBox="1"/>
          <p:nvPr/>
        </p:nvSpPr>
        <p:spPr>
          <a:xfrm>
            <a:off x="6205061" y="1886664"/>
            <a:ext cx="56948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📖 数据 API</a:t>
            </a:r>
            <a:endParaRPr sz="1100"/>
          </a:p>
        </p:txBody>
      </p:sp>
      <p:sp>
        <p:nvSpPr>
          <p:cNvPr id="1829" name="Google Shape;1829;p49"/>
          <p:cNvSpPr txBox="1"/>
          <p:nvPr/>
        </p:nvSpPr>
        <p:spPr>
          <a:xfrm>
            <a:off x="6205776" y="2049899"/>
            <a:ext cx="193027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yfinance (免费) · Alpaca · Polygon.io</a:t>
            </a:r>
            <a:endParaRPr sz="1100"/>
          </a:p>
        </p:txBody>
      </p:sp>
      <p:sp>
        <p:nvSpPr>
          <p:cNvPr id="1830" name="Google Shape;1830;p49"/>
          <p:cNvSpPr/>
          <p:nvPr/>
        </p:nvSpPr>
        <p:spPr>
          <a:xfrm>
            <a:off x="6072188" y="2314575"/>
            <a:ext cx="2500313" cy="414338"/>
          </a:xfrm>
          <a:prstGeom prst="roundRect">
            <a:avLst>
              <a:gd fmla="val 13793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1" name="Google Shape;1831;p49"/>
          <p:cNvSpPr txBox="1"/>
          <p:nvPr/>
        </p:nvSpPr>
        <p:spPr>
          <a:xfrm>
            <a:off x="6205061" y="2386727"/>
            <a:ext cx="88347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📖 Skill 工程参考</a:t>
            </a:r>
            <a:endParaRPr sz="1100"/>
          </a:p>
        </p:txBody>
      </p:sp>
      <p:sp>
        <p:nvSpPr>
          <p:cNvPr id="1832" name="Google Shape;1832;p49"/>
          <p:cNvSpPr txBox="1"/>
          <p:nvPr/>
        </p:nvSpPr>
        <p:spPr>
          <a:xfrm>
            <a:off x="6205776" y="2549962"/>
            <a:ext cx="227737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Anthropic Prompt Engineering Guide（官方）</a:t>
            </a:r>
            <a:endParaRPr sz="1100"/>
          </a:p>
        </p:txBody>
      </p:sp>
      <p:sp>
        <p:nvSpPr>
          <p:cNvPr id="1833" name="Google Shape;1833;p49"/>
          <p:cNvSpPr/>
          <p:nvPr/>
        </p:nvSpPr>
        <p:spPr>
          <a:xfrm>
            <a:off x="6072188" y="2814638"/>
            <a:ext cx="2500313" cy="414338"/>
          </a:xfrm>
          <a:prstGeom prst="roundRect">
            <a:avLst>
              <a:gd fmla="val 13793" name="adj"/>
            </a:avLst>
          </a:prstGeom>
          <a:solidFill>
            <a:srgbClr val="EBF7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4" name="Google Shape;1834;p49"/>
          <p:cNvSpPr txBox="1"/>
          <p:nvPr/>
        </p:nvSpPr>
        <p:spPr>
          <a:xfrm>
            <a:off x="6205061" y="2886789"/>
            <a:ext cx="60571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📖 延伸实践</a:t>
            </a:r>
            <a:endParaRPr sz="1100"/>
          </a:p>
        </p:txBody>
      </p:sp>
      <p:sp>
        <p:nvSpPr>
          <p:cNvPr id="1835" name="Google Shape;1835;p49"/>
          <p:cNvSpPr txBox="1"/>
          <p:nvPr/>
        </p:nvSpPr>
        <p:spPr>
          <a:xfrm>
            <a:off x="6205776" y="3050024"/>
            <a:ext cx="189823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将今天的 Skill 移植到你自己的专业领域</a:t>
            </a:r>
            <a:endParaRPr sz="1100"/>
          </a:p>
        </p:txBody>
      </p:sp>
      <p:sp>
        <p:nvSpPr>
          <p:cNvPr id="1836" name="Google Shape;1836;p49"/>
          <p:cNvSpPr/>
          <p:nvPr/>
        </p:nvSpPr>
        <p:spPr>
          <a:xfrm>
            <a:off x="6072188" y="3314700"/>
            <a:ext cx="2500313" cy="814388"/>
          </a:xfrm>
          <a:prstGeom prst="roundRect">
            <a:avLst>
              <a:gd fmla="val 7018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7" name="Google Shape;1837;p49"/>
          <p:cNvSpPr txBox="1"/>
          <p:nvPr/>
        </p:nvSpPr>
        <p:spPr>
          <a:xfrm>
            <a:off x="7099459" y="3421499"/>
            <a:ext cx="44577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免责声明</a:t>
            </a:r>
            <a:endParaRPr sz="1100"/>
          </a:p>
        </p:txBody>
      </p:sp>
      <p:sp>
        <p:nvSpPr>
          <p:cNvPr id="1838" name="Google Shape;1838;p49"/>
          <p:cNvSpPr txBox="1"/>
          <p:nvPr/>
        </p:nvSpPr>
        <p:spPr>
          <a:xfrm>
            <a:off x="6347114" y="3594498"/>
            <a:ext cx="1994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</a:rPr>
              <a:t>本课程所有内容仅供学习 AI 工程方法</a:t>
            </a:r>
            <a:endParaRPr b="1" sz="1200"/>
          </a:p>
        </p:txBody>
      </p:sp>
      <p:sp>
        <p:nvSpPr>
          <p:cNvPr id="1839" name="Google Shape;1839;p49"/>
          <p:cNvSpPr txBox="1"/>
          <p:nvPr/>
        </p:nvSpPr>
        <p:spPr>
          <a:xfrm>
            <a:off x="6525101" y="3741896"/>
            <a:ext cx="1594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</a:rPr>
              <a:t>不构成任何投资建议。股市有风险，</a:t>
            </a:r>
            <a:endParaRPr b="1" sz="1200"/>
          </a:p>
        </p:txBody>
      </p:sp>
      <p:sp>
        <p:nvSpPr>
          <p:cNvPr id="1840" name="Google Shape;1840;p49"/>
          <p:cNvSpPr txBox="1"/>
          <p:nvPr/>
        </p:nvSpPr>
        <p:spPr>
          <a:xfrm>
            <a:off x="6913801" y="3884775"/>
            <a:ext cx="712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</a:rPr>
              <a:t>入市须谨慎。</a:t>
            </a:r>
            <a:endParaRPr b="1" sz="1200"/>
          </a:p>
        </p:txBody>
      </p:sp>
      <p:sp>
        <p:nvSpPr>
          <p:cNvPr id="1841" name="Google Shape;1841;p49"/>
          <p:cNvSpPr/>
          <p:nvPr/>
        </p:nvSpPr>
        <p:spPr>
          <a:xfrm>
            <a:off x="428625" y="4400550"/>
            <a:ext cx="8286750" cy="371475"/>
          </a:xfrm>
          <a:prstGeom prst="roundRect">
            <a:avLst>
              <a:gd fmla="val 19231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2" name="Google Shape;1842;p49"/>
          <p:cNvSpPr txBox="1"/>
          <p:nvPr/>
        </p:nvSpPr>
        <p:spPr>
          <a:xfrm>
            <a:off x="2906926" y="4538067"/>
            <a:ext cx="3330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课程材料在 Course Portal → S3 学员资料区</a:t>
            </a:r>
            <a:endParaRPr sz="1100"/>
          </a:p>
        </p:txBody>
      </p:sp>
      <p:sp>
        <p:nvSpPr>
          <p:cNvPr id="1843" name="Google Shape;1843;p49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25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7" name="Shape 1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8" name="Google Shape;1848;p5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9" name="Google Shape;1849;p50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0" name="Google Shape;1850;p50"/>
          <p:cNvSpPr txBox="1"/>
          <p:nvPr/>
        </p:nvSpPr>
        <p:spPr>
          <a:xfrm>
            <a:off x="5086350" y="1085850"/>
            <a:ext cx="2963084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sz="1100"/>
          </a:p>
        </p:txBody>
      </p:sp>
      <p:sp>
        <p:nvSpPr>
          <p:cNvPr id="1851" name="Google Shape;1851;p50"/>
          <p:cNvSpPr txBox="1"/>
          <p:nvPr/>
        </p:nvSpPr>
        <p:spPr>
          <a:xfrm>
            <a:off x="3488993" y="474345"/>
            <a:ext cx="2166014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4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Q &amp; A</a:t>
            </a:r>
            <a:endParaRPr sz="1100"/>
          </a:p>
        </p:txBody>
      </p:sp>
      <p:sp>
        <p:nvSpPr>
          <p:cNvPr id="1852" name="Google Shape;1852;p50"/>
          <p:cNvSpPr txBox="1"/>
          <p:nvPr/>
        </p:nvSpPr>
        <p:spPr>
          <a:xfrm>
            <a:off x="3381494" y="1295162"/>
            <a:ext cx="238101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有什么问题？现在是你的时间</a:t>
            </a:r>
            <a:endParaRPr sz="1100"/>
          </a:p>
        </p:txBody>
      </p:sp>
      <p:sp>
        <p:nvSpPr>
          <p:cNvPr id="1853" name="Google Shape;1853;p50"/>
          <p:cNvSpPr/>
          <p:nvPr/>
        </p:nvSpPr>
        <p:spPr>
          <a:xfrm>
            <a:off x="2714625" y="1628775"/>
            <a:ext cx="3714750" cy="7144"/>
          </a:xfrm>
          <a:custGeom>
            <a:rect b="b" l="l" r="r" t="t"/>
            <a:pathLst>
              <a:path extrusionOk="0" h="9525" w="4953000">
                <a:moveTo>
                  <a:pt x="0" y="0"/>
                </a:moveTo>
                <a:lnTo>
                  <a:pt x="4953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4" name="Google Shape;1854;p50"/>
          <p:cNvSpPr txBox="1"/>
          <p:nvPr/>
        </p:nvSpPr>
        <p:spPr>
          <a:xfrm>
            <a:off x="1039565" y="1980605"/>
            <a:ext cx="7783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可以问这些 ↓</a:t>
            </a:r>
            <a:endParaRPr sz="1100"/>
          </a:p>
        </p:txBody>
      </p:sp>
      <p:sp>
        <p:nvSpPr>
          <p:cNvPr id="1855" name="Google Shape;1855;p50"/>
          <p:cNvSpPr/>
          <p:nvPr/>
        </p:nvSpPr>
        <p:spPr>
          <a:xfrm>
            <a:off x="428625" y="2185988"/>
            <a:ext cx="3429000" cy="385763"/>
          </a:xfrm>
          <a:prstGeom prst="roundRect">
            <a:avLst>
              <a:gd fmla="val 1851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6" name="Google Shape;1856;p50"/>
          <p:cNvSpPr txBox="1"/>
          <p:nvPr/>
        </p:nvSpPr>
        <p:spPr>
          <a:xfrm>
            <a:off x="814387" y="2200275"/>
            <a:ext cx="11894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 sz="1100"/>
          </a:p>
        </p:txBody>
      </p:sp>
      <p:sp>
        <p:nvSpPr>
          <p:cNvPr id="1857" name="Google Shape;1857;p50"/>
          <p:cNvSpPr txBox="1"/>
          <p:nvPr/>
        </p:nvSpPr>
        <p:spPr>
          <a:xfrm>
            <a:off x="1031558" y="2331720"/>
            <a:ext cx="191566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Skill 的 prompt 写多长最合适？</a:t>
            </a:r>
            <a:endParaRPr sz="1100"/>
          </a:p>
        </p:txBody>
      </p:sp>
      <p:sp>
        <p:nvSpPr>
          <p:cNvPr id="1858" name="Google Shape;1858;p50"/>
          <p:cNvSpPr/>
          <p:nvPr/>
        </p:nvSpPr>
        <p:spPr>
          <a:xfrm>
            <a:off x="428625" y="2671763"/>
            <a:ext cx="3429000" cy="385763"/>
          </a:xfrm>
          <a:prstGeom prst="roundRect">
            <a:avLst>
              <a:gd fmla="val 1851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9" name="Google Shape;1859;p50"/>
          <p:cNvSpPr txBox="1"/>
          <p:nvPr/>
        </p:nvSpPr>
        <p:spPr>
          <a:xfrm>
            <a:off x="814387" y="2686050"/>
            <a:ext cx="11894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 sz="1100"/>
          </a:p>
        </p:txBody>
      </p:sp>
      <p:sp>
        <p:nvSpPr>
          <p:cNvPr id="1860" name="Google Shape;1860;p50"/>
          <p:cNvSpPr txBox="1"/>
          <p:nvPr/>
        </p:nvSpPr>
        <p:spPr>
          <a:xfrm>
            <a:off x="1031558" y="2817495"/>
            <a:ext cx="194195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Python 我不会，这套还能用吗？</a:t>
            </a:r>
            <a:endParaRPr sz="1100"/>
          </a:p>
        </p:txBody>
      </p:sp>
      <p:sp>
        <p:nvSpPr>
          <p:cNvPr id="1861" name="Google Shape;1861;p50"/>
          <p:cNvSpPr/>
          <p:nvPr/>
        </p:nvSpPr>
        <p:spPr>
          <a:xfrm>
            <a:off x="428625" y="3157538"/>
            <a:ext cx="3429000" cy="385763"/>
          </a:xfrm>
          <a:prstGeom prst="roundRect">
            <a:avLst>
              <a:gd fmla="val 1851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2" name="Google Shape;1862;p50"/>
          <p:cNvSpPr txBox="1"/>
          <p:nvPr/>
        </p:nvSpPr>
        <p:spPr>
          <a:xfrm>
            <a:off x="814387" y="3171825"/>
            <a:ext cx="11894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 sz="1100"/>
          </a:p>
        </p:txBody>
      </p:sp>
      <p:sp>
        <p:nvSpPr>
          <p:cNvPr id="1863" name="Google Shape;1863;p50"/>
          <p:cNvSpPr txBox="1"/>
          <p:nvPr/>
        </p:nvSpPr>
        <p:spPr>
          <a:xfrm>
            <a:off x="1031558" y="330327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能接真实美股 API 数据吗？</a:t>
            </a:r>
            <a:endParaRPr sz="1100"/>
          </a:p>
        </p:txBody>
      </p:sp>
      <p:sp>
        <p:nvSpPr>
          <p:cNvPr id="1864" name="Google Shape;1864;p50"/>
          <p:cNvSpPr/>
          <p:nvPr/>
        </p:nvSpPr>
        <p:spPr>
          <a:xfrm>
            <a:off x="428625" y="3643313"/>
            <a:ext cx="3429000" cy="385763"/>
          </a:xfrm>
          <a:prstGeom prst="roundRect">
            <a:avLst>
              <a:gd fmla="val 1851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5" name="Google Shape;1865;p50"/>
          <p:cNvSpPr txBox="1"/>
          <p:nvPr/>
        </p:nvSpPr>
        <p:spPr>
          <a:xfrm>
            <a:off x="814387" y="3657600"/>
            <a:ext cx="11894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●</a:t>
            </a:r>
            <a:endParaRPr sz="1100"/>
          </a:p>
        </p:txBody>
      </p:sp>
      <p:sp>
        <p:nvSpPr>
          <p:cNvPr id="1866" name="Google Shape;1866;p50"/>
          <p:cNvSpPr txBox="1"/>
          <p:nvPr/>
        </p:nvSpPr>
        <p:spPr>
          <a:xfrm>
            <a:off x="1031558" y="3789045"/>
            <a:ext cx="186309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如何把这套方法用到其他领域？</a:t>
            </a:r>
            <a:endParaRPr sz="1100"/>
          </a:p>
        </p:txBody>
      </p:sp>
      <p:sp>
        <p:nvSpPr>
          <p:cNvPr id="1867" name="Google Shape;1867;p50"/>
          <p:cNvSpPr/>
          <p:nvPr/>
        </p:nvSpPr>
        <p:spPr>
          <a:xfrm>
            <a:off x="5286375" y="2000250"/>
            <a:ext cx="3429000" cy="2286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8" name="Google Shape;1868;p50"/>
          <p:cNvSpPr/>
          <p:nvPr/>
        </p:nvSpPr>
        <p:spPr>
          <a:xfrm>
            <a:off x="5286375" y="2000250"/>
            <a:ext cx="3429000" cy="457200"/>
          </a:xfrm>
          <a:prstGeom prst="roundRect">
            <a:avLst>
              <a:gd fmla="val 2500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9" name="Google Shape;1869;p50"/>
          <p:cNvSpPr/>
          <p:nvPr/>
        </p:nvSpPr>
        <p:spPr>
          <a:xfrm>
            <a:off x="5286375" y="2286000"/>
            <a:ext cx="3429000" cy="17145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0" name="Google Shape;1870;p50"/>
          <p:cNvSpPr txBox="1"/>
          <p:nvPr/>
        </p:nvSpPr>
        <p:spPr>
          <a:xfrm>
            <a:off x="6402158" y="2168486"/>
            <a:ext cx="119743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课后怎么找到我们</a:t>
            </a:r>
            <a:endParaRPr sz="1100"/>
          </a:p>
        </p:txBody>
      </p:sp>
      <p:sp>
        <p:nvSpPr>
          <p:cNvPr id="1871" name="Google Shape;1871;p50"/>
          <p:cNvSpPr txBox="1"/>
          <p:nvPr/>
        </p:nvSpPr>
        <p:spPr>
          <a:xfrm>
            <a:off x="5561409" y="2623542"/>
            <a:ext cx="51958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🏆 课程群</a:t>
            </a:r>
            <a:endParaRPr sz="1100"/>
          </a:p>
        </p:txBody>
      </p:sp>
      <p:sp>
        <p:nvSpPr>
          <p:cNvPr id="1872" name="Google Shape;1872;p50"/>
          <p:cNvSpPr txBox="1"/>
          <p:nvPr/>
        </p:nvSpPr>
        <p:spPr>
          <a:xfrm>
            <a:off x="5561409" y="2794992"/>
            <a:ext cx="200543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微信群·置顶有资料包</a:t>
            </a:r>
            <a:endParaRPr sz="1100"/>
          </a:p>
        </p:txBody>
      </p:sp>
      <p:sp>
        <p:nvSpPr>
          <p:cNvPr id="1873" name="Google Shape;1873;p50"/>
          <p:cNvSpPr/>
          <p:nvPr/>
        </p:nvSpPr>
        <p:spPr>
          <a:xfrm>
            <a:off x="5572125" y="2986088"/>
            <a:ext cx="2857500" cy="7144"/>
          </a:xfrm>
          <a:custGeom>
            <a:rect b="b" l="l" r="r" t="t"/>
            <a:pathLst>
              <a:path extrusionOk="0" h="9525" w="3810000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/>
          <a:ln cap="flat" cmpd="sng" w="952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4" name="Google Shape;1874;p50"/>
          <p:cNvSpPr txBox="1"/>
          <p:nvPr/>
        </p:nvSpPr>
        <p:spPr>
          <a:xfrm>
            <a:off x="5561409" y="3109317"/>
            <a:ext cx="64897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🌐 课程门户</a:t>
            </a:r>
            <a:endParaRPr sz="1100"/>
          </a:p>
        </p:txBody>
      </p:sp>
      <p:sp>
        <p:nvSpPr>
          <p:cNvPr id="1875" name="Google Shape;1875;p50"/>
          <p:cNvSpPr txBox="1"/>
          <p:nvPr/>
        </p:nvSpPr>
        <p:spPr>
          <a:xfrm>
            <a:off x="5561409" y="3280767"/>
            <a:ext cx="224049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austinxyz.github.io/course-portal</a:t>
            </a:r>
            <a:endParaRPr sz="1100"/>
          </a:p>
        </p:txBody>
      </p:sp>
      <p:sp>
        <p:nvSpPr>
          <p:cNvPr id="1876" name="Google Shape;1876;p50"/>
          <p:cNvSpPr/>
          <p:nvPr/>
        </p:nvSpPr>
        <p:spPr>
          <a:xfrm>
            <a:off x="428625" y="4286250"/>
            <a:ext cx="8286750" cy="471488"/>
          </a:xfrm>
          <a:prstGeom prst="roundRect">
            <a:avLst>
              <a:gd fmla="val 18182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7" name="Google Shape;1877;p50"/>
          <p:cNvSpPr txBox="1"/>
          <p:nvPr/>
        </p:nvSpPr>
        <p:spPr>
          <a:xfrm>
            <a:off x="3379377" y="4447342"/>
            <a:ext cx="238524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没有蠢问题——问出来才是真的学到了</a:t>
            </a:r>
            <a:endParaRPr sz="1100"/>
          </a:p>
        </p:txBody>
      </p:sp>
      <p:sp>
        <p:nvSpPr>
          <p:cNvPr id="1878" name="Google Shape;1878;p50"/>
          <p:cNvSpPr txBox="1"/>
          <p:nvPr/>
        </p:nvSpPr>
        <p:spPr>
          <a:xfrm>
            <a:off x="8462951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26 / 26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